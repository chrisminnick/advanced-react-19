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min — about 25 min on RR v7, 20 min on Next.js, 15 min on side-by-side and decision-making. Stay disciplined: students will want to deep-dive on one or the other; keep it shaped as a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frame: this module is about how the RR ecosystem and Next.js have converged on similar primitives, and how to think about the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~25 minutes. The framework mode part is where most of the new content lives.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have students still calling it 'Remix', that's now wrong terminology — the product is React Router v7, framework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Library mode in v7 still works exactly like v6. The big news is everything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 names map to URLs. The $ prefix is for params. The _ prefix is for layout/index files. The convention is similar to Next.js but the syntax differs.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Loaders are the data-loading primitive. Highlight: throwing a Response is how you signal HTTP errors — the framework converts it into the right boundary render.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&lt;Form&gt; from react-router is special. It posts to the action, then revalidates the route's loaders. Like a server-rendered form, but client-side enhanced.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Outlet is unchanged from RR v6. The big shift is that layouts are now declared in routes.ts instead of being implicit in the JSX tree.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canonical RR v7 protected-route pattern. Compare to the Next.js middleware pattern coming in a few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~20 minutes. The shape of the conventions is the headline.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students will know this layout. The route group syntax (parens) is the one that surprises people.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template.jsx and default.jsx exist too but they're niche. Mention them only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async function is the headline. Most students see this and ask 'wait, you can do that?'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directive 'use server' is the magic. Without it, this would just be a normal client function with a closure over server bindings — and would fail at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Layouts are the canonical way to share UI across siblings. They DON'T re-render on navigation within the segment — that's a key perf win over rendering the same chrome inside each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Middleware runs at the edge by default — keep it light. Don't try to hit the database from middleware; just check the cookie and redirect.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~15 minutes. The point of this section is the comparison, not the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different patterns, similar outcome. RR v7's loader is per-route. Next's middleware is global with matcher config — better for app-wide auth, awkward for per-page exceptions.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the structural similarity. The Next.js version is shorter because the page itself is async — no separate loader.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Almost identical shape. The 'use server' directive in Next.js maps to the action export in RR v7. Both rely on a regular HTML form posting FormData.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Stress: NEITHER is universally better. The choice depends on the project's deploy story, the team's framework experience, and the size of the ecosystem you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lists are valid. Don't pretend one is objectively better. Your students' employers have made this decision already; this slide is for context, not advocacy.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mention. Don't dwell — this is shape-recognition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both starter projects on screen before breaking. Show students they can run all three things at once (server + RR v7 client + Next.js client). Then break for the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wrap-up before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 this slide AFTER Lab 2 if you can. It's the official Day 1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7744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420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Routing in 2026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Router v7 framework mode and Next.js App Router, side by side.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minutes  ·  Lecture + side-by-side demos  ·  Lab 2 follows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10728655" y="466344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2026 routing landscape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serious choices. We'll teach two and recognize the third.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1005840"/>
          </a:xfrm>
          <a:prstGeom prst="rect">
            <a:avLst/>
          </a:prstGeom>
          <a:solidFill>
            <a:srgbClr val="CBF1F6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202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Router v7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91640" y="2240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mode + framework mode (Remix merged)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0" y="19659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taught in this module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77240" y="2880360"/>
            <a:ext cx="10607040" cy="1005840"/>
          </a:xfrm>
          <a:prstGeom prst="rect">
            <a:avLst/>
          </a:prstGeom>
          <a:solidFill>
            <a:srgbClr val="CBF1F6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10896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017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 15 App Router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691640" y="3429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File-system routing + Server Components + Actions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8686800" y="3154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taught in this module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77240" y="4069080"/>
            <a:ext cx="106070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29768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206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TanStack Router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691640" y="4617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Type-safe, file-based, headless. Newer; growing fast.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77240" y="5486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Router v6 still works, but new projects start with v7. Old code with BrowserRouter / Routes / Route is still v7-compatible — just no longer the default starter.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— Routing in 2026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Router v7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mode for SPAs. Framework mode for the Remix-style stack. One product, two front doors.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400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November 2024 merger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Remix didn't disappear. It became the framework mode of React Router v7.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3492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74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42316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Router and Remix had drifted into overlap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used loaders, actions, nested routes, error boundaries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Remix Run shipped its merge plan in 2024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 v7 = the merged product, released Nov 2024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codemod handles most v6 → v7 changes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1691640"/>
            <a:ext cx="5029200" cy="4206240"/>
          </a:xfrm>
          <a:prstGeom prst="rect">
            <a:avLst/>
          </a:prstGeom>
          <a:solidFill>
            <a:srgbClr val="CBF1F6"/>
          </a:solidFill>
          <a:ln w="12700">
            <a:solidFill>
              <a:srgbClr val="CBF1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modes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7960" y="242316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mode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classic React Router. Routes in JSX or createBrowserRouter. You bring your own bundler, dev server, and SSR.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mode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Remix-style stack. File-based routes, Vite under the hood, server runtime included. Loaders + actions are first-class.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— Routing in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27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Library mode — when it fits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Bring-your-own bundler. Just routing inside an existing app.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Reach for library mode when: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5349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already have a Vite SPA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embedding routing in a non-React shell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rendering doesn't matter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want the smallest dependency surface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554480"/>
            <a:ext cx="5029200" cy="420624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691640"/>
            <a:ext cx="46634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createBrowserRouter,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RouterProvider } from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'react-router'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router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createBrowserRouter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path: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element: &lt;Home /&gt;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path: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'/about'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element: &lt;About /&gt;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RouterProvider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router={router} /&gt;;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— Routing in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27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 mode — getting started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command. File-based routes. Loaders, actions, and SSR built 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146304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create-react-router@latest my-app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get: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10607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routes.ts             </a:t>
            </a:r>
            <a:pPr indent="0" marL="0">
              <a:buNone/>
            </a:pPr>
            <a:r>
              <a:rPr lang="en-US" sz="13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route config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root.jsx              </a:t>
            </a:r>
            <a:pPr indent="0" marL="0">
              <a:buNone/>
            </a:pPr>
            <a:r>
              <a:rPr lang="en-US" sz="13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 shell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routes/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_index.jsx        </a:t>
            </a:r>
            <a:pPr indent="0" marL="0">
              <a:buNone/>
            </a:pPr>
            <a:r>
              <a:rPr lang="en-US" sz="13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about.jsx         </a:t>
            </a:r>
            <a:pPr indent="0" marL="0">
              <a:buNone/>
            </a:pPr>
            <a:r>
              <a:rPr lang="en-US" sz="13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/about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posts.$id.jsx     </a:t>
            </a:r>
            <a:pPr indent="0" marL="0">
              <a:buNone/>
            </a:pPr>
            <a:r>
              <a:rPr lang="en-US" sz="13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/posts/:id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— Routing in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27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Loaders — fetch on the server, render on arrival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route file exports a loader. RR runs it before rendering. Component reads the result with useLoaderData.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420624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app/routes/posts.$id.jsx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async 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loader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params })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post = await db.posts.findById(params.id);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(!post) 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 new Response(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'Not found'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{ status: 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 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post };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post }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useLoaderData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&lt;Article post={post} /&gt;;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58978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Loaders run on the server in framework mode (or in the browser in library mode if you opt in). Their return value is cached per-route and available via useLoaderData.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— Routing in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27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Actions — mutate on the server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Forms POST to the route's action. The route revalidates after success.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420624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app/routes/posts.new.jsx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async 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request })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formData = await request.formData();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post = await db.posts.create({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title: formData.get(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'title'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body:  formData.get(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'body'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redirect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(`/posts/${post.id}`);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NewPost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method=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'post'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... &lt;/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— Routing in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Layouts and nested routes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layout is just a route file with an Outlet. Children render inside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5943600" cy="420624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5577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app/routes.ts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'routes/dashboard.jsx'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'routes/dashboard.home.jsx'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'reports'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'routes/dashboard.reports.jsx'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'settings'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'routes/dashboard.settings.jsx'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49440" y="1554480"/>
            <a:ext cx="4434840" cy="420624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691640"/>
            <a:ext cx="4069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dashboard.jsx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DashLayout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&lt;Sidebar /&gt;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&lt;main&gt;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Outlet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&lt;/main&gt;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— Routing in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27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Protected routes — the loader pattern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check runs in the loader. Redirect from there. The component never renders for unauthenticated users.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420624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app/routes/dashboard.jsx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async 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loader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request })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 = await getUser(request);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(!user)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url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URL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(request.url);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redirect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(`/login?next=${url.pathname}`);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user };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user }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useLoaderData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&lt;h1&gt;Welcome, {user.name}&lt;/h1&gt;;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— Routing in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 App Router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 is API. Server Components by default. Server Actions baked in.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400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Folder is API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folder under app/ is a route segment. Special files have special roles.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10607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layout.jsx              </a:t>
            </a:r>
            <a:pPr indent="0" marL="0">
              <a:buNone/>
            </a:pPr>
            <a:r>
              <a:rPr lang="en-US" sz="13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shared shell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page.jsx                </a:t>
            </a:r>
            <a:pPr indent="0" marL="0">
              <a:buNone/>
            </a:pPr>
            <a:r>
              <a:rPr lang="en-US" sz="13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posts/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page.jsx            </a:t>
            </a:r>
            <a:pPr indent="0" marL="0">
              <a:buNone/>
            </a:pPr>
            <a:r>
              <a:rPr lang="en-US" sz="13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/posts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[id]/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page.jsx        </a:t>
            </a:r>
            <a:pPr indent="0" marL="0">
              <a:buNone/>
            </a:pPr>
            <a:r>
              <a:rPr lang="en-US" sz="13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/posts/:id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(auth)/                 </a:t>
            </a:r>
            <a:pPr indent="0" marL="0">
              <a:buNone/>
            </a:pPr>
            <a:r>
              <a:rPr lang="en-US" sz="13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route group, no URL impact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login/page.jsx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signup/page.jsx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middleware.js           </a:t>
            </a:r>
            <a:pPr indent="0" marL="0">
              <a:buNone/>
            </a:pPr>
            <a:r>
              <a:rPr lang="en-US" sz="13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runs before every request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— Routing in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special files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file in a route segment plays a specific role.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212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page.jsx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2860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route's UI. Required if the segment is reachable as a URL.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212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layout.jsx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09360" y="22860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Wraps the segment and its children. Persists across navigations within the segment.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3154680"/>
            <a:ext cx="5212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291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loading.jsx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37490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Suspense fallback for the segment. Shows while the page streams.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3154680"/>
            <a:ext cx="5212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3291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error.jsx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37490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boundary for the segment. Receives the error and a reset function.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4617720"/>
            <a:ext cx="5212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7548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not-found.jsx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52120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Renders when notFound() is called or no route matches.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4617720"/>
            <a:ext cx="5212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47548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route.js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09360" y="52120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API endpoint instead of a page. Exports GET, POST, etc.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— Routing in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 Components by default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page.jsx is a Server Component unless you opt out with 'use client'.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420624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app/posts/[id]/page.jsx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notFound } from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'next/navigation'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db } from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'@/lib/db'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async 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PostPage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params })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post = await db.posts.findById(params.id);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(!post)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notFound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&lt;article&gt;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&lt;h1&gt;{post.title}&lt;/h1&gt;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&lt;p&gt;{post.body}&lt;/p&gt;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&lt;/article&gt;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58978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the function is async. No useState, no useEffect — this code runs on the server. Module 6 goes deeper.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— Routing in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 Actions in routes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marked 'use server' run on the server when invoked from the client.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420624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app/posts/new/page.jsx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redirect } from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'next/navigation'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createPost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(formData)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'use server'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post = await db.posts.create({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title: formData.get(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'title'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body:  formData.get(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'body'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redirect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(`/posts/${post.id}`);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NewPost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&lt;form action={createPost}&gt; ... &lt;/form&gt;;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— Routing in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Nested layouts in Next.js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layout.jsx in any segment wraps that segment's pages. children prop receives the next layer down.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420624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app/dashboard/layout.jsx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DashboardLayout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children })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className=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'dashboard'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&lt;Sidebar /&gt;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&lt;main&gt;{children}&lt;/main&gt;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/dashboard/reports renders DashboardLayout &gt; ReportsPage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/dashboard/settings renders DashboardLayout &gt; SettingsPage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— Routing in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Protected routes — middleware pattern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middleware runs before any route handler. Redirect there for auth.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10607040" cy="420624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10241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app/middleware.js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NextResponse } from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'next/server'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middleware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(request)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token = request.cookies.get(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'session'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(!token)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url = request.nextUrl.clone();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url.pathname =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'/login'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NextResponse.redirect(url);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 matcher: [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'/dashboard/:path*'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'/account/:path*'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};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— Routing in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548640" cy="7315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Side-by-Side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F1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three tasks in both frameworks. The differences are smaller than you'd think.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6400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task — protected route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Redirect unauthenticated users to /login.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Router v7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5349240" cy="41148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57400"/>
            <a:ext cx="4983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routes/dashboard.jsx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async 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loader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request })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 = await getUser(request);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(!user) 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 redirect(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'/login'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user };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user }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useLoaderData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&lt;h1&gt;Hi, {user.name}&lt;/h1&gt;;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5508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 App Router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029200" cy="41148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057400"/>
            <a:ext cx="4663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middleware.js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middleware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(request)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(!request.cookies.get(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'session'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NextResponse.redirect(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new URL(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'/login'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request.url));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app/dashboard/page.jsx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async 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 = await getUser();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&lt;h1&gt;Hi, {user.name}&lt;/h1&gt;;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— Routing in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27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task — load a post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by id, render, 404 on missing.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Router v7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5349240" cy="41148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57400"/>
            <a:ext cx="4983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routes/posts.$id.jsx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async 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loader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params })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post = await db.posts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.findById(params.id);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(!post) 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 new Response(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'', { status: 404 })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post };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post }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useLoaderData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&lt;Article post={post} /&gt;;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5508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 App Router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029200" cy="41148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057400"/>
            <a:ext cx="4663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app/posts/[id]/page.jsx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notFound } from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'next/navigation'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async 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params })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post = await db.posts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.findById(params.id);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(!post)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notFound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&lt;Article post={post} /&gt;;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— Routing in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task — create a post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submits to the server, redirects on success.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Router v7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5349240" cy="41148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57400"/>
            <a:ext cx="4983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routes/posts.new.jsx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async 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request })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fd = await request.formData();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post = await db.posts.create({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title: fd.get(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'title'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redirect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(`/posts/${post.id}`);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NewPost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&lt;Form method='post'&gt;...&lt;/Form&gt;;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5508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 App Router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029200" cy="411480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057400"/>
            <a:ext cx="4663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app/posts/new/page.jsx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createPost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(fd)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'use server'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post = await db.posts.create({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title: fd.get(</a:t>
            </a:r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'title'</a:t>
            </a:r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redirect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(`/posts/${post.id}`);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NewPost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&lt;form action={createPost}&gt;...&lt;/form&gt;;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— Routing in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27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Ergonomics scorecard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outcomes, different sensibilities.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37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File-based routes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14800" y="1737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(config or convention)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63840" y="1737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(folder convention)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331720"/>
            <a:ext cx="1060704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774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data loading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0" y="2377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loader export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863840" y="23774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page component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2971800"/>
            <a:ext cx="10607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0175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mutations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14800" y="3017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export + &lt;Form&gt;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63840" y="30175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'use server' fn + &lt;form action&gt;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3611880"/>
            <a:ext cx="1060704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657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protection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114800" y="3657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redirect from loader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863840" y="36576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middleware.js + matcher config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4251960"/>
            <a:ext cx="10607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297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114800" y="4297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Outlet + routes config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63840" y="42976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layout.jsx convention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" y="4892040"/>
            <a:ext cx="1060704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937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Components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114800" y="4937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Supported, opt-in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863840" y="49377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Default, opt-out with 'use client'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" y="5532120"/>
            <a:ext cx="10607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577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story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114800" y="5577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Node host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863840" y="55778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Vercel-flavored, runs elsewhere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77240" y="1325880"/>
            <a:ext cx="10607040" cy="365760"/>
          </a:xfrm>
          <a:prstGeom prst="rect">
            <a:avLst/>
          </a:prstGeom>
          <a:solidFill>
            <a:srgbClr val="1E2A47"/>
          </a:solidFill>
          <a:ln w="12700">
            <a:solidFill>
              <a:srgbClr val="1E2A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1325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Dimension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Router v7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86384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 App Router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— Routing in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27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to pick which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factors that actually matter in practice.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3492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74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Reach for RR v7 when…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46888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allergic to Vercel-flavored conventions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deploy to AWS / GCP / your own Node hosts and want a clean self-hosted story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want minimal magic — explicit loaders and actions feel right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already on React Router v6 and the migration is small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want the bridge: library mode for some areas, framework for others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1691640"/>
            <a:ext cx="50292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Reach for Next.js when…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246888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want the largest ecosystem — most examples, most plugins, most StackOverflow answers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runtime, ISR, partial prerendering matter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hiring — Next.js is a more common skill on resumes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already on Vercel and want zero-config deploys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app needs heavy SEO and you want streaming + RSC by default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— Routing in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27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Briefly: TanStack Router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Worth knowing about. Not what we'll teach.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91640"/>
            <a:ext cx="109728" cy="4206240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92024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187452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TanStack Router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51560" y="2743200"/>
            <a:ext cx="10058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Type-safe by default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params, search params, and loader data are all typed end-to-end. The compile catches typo'd route names.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File-based or code-based — your call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as a SPA, an SSR app via TanStack Start, or as a sub-router inside another framework.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don't teach it (yet)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ecosystem, less Server Components support, your team probably hasn't used it. Worth keeping an eye on for 2027.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— Routing in 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27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Coming up: Lab 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the same auth flow in both frameworks.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92024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1920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2: Routing + Auth in Two Frameworks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194560" y="2514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 minutes  ·  Hands-on  ·  Two solution branches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3200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you'll do: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97280" y="361188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/login, /signup, /logout, and a protected /home route in React Router v7 framework mode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the same feature to Next.js App Router with middleware-based auth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clients hit the same Express backend you've used in earlier labs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one-paragraph reflection comparing the two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Stretch: add a protected nested route with a streaming layout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— Routing in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27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3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remember when you're back at your desk.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5623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8308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Router v7 is RR + Remix merged. Library mode = old RR. Framework mode = Remix-style.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77240" y="256032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72491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65176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Loaders fetch on the server. Actions mutate on the server. Both are per-route exports.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77240" y="342900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593592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352044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page.jsx is a Server Component. The function can be async; useState and useEffect aren't allowed.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77240" y="429768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462272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54480" y="438912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 protects routes via loader redirects. Next.js protects routes via middleware.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777240" y="5166360"/>
            <a:ext cx="10607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330952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54480" y="525780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shape of both frameworks is similar — the conventions and deploy story differ.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— Routing in 2026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27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164592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926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 of Day 1 lecture content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2 fills the rest of the afternoon. Day 2 starts with state management.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4206240"/>
          </a:xfrm>
          <a:prstGeom prst="rect">
            <a:avLst/>
          </a:prstGeom>
          <a:solidFill>
            <a:srgbClr val="CBF1F6"/>
          </a:solidFill>
          <a:ln w="12700">
            <a:solidFill>
              <a:srgbClr val="CBF1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920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 covered: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33172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2026 React landscape — what's new in 19, the Compiler, framework picks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 that matter — the rules, the foundational hooks, the four new ones, specialty hooks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— RR v7 framework mode and Next.js App Router, side by side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1: modernized a class-component chat app and reviewed the AI's work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2: implemented the same routing in both frameworks (in progress)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9728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Tomorrow: data and state, server components, the boundary mistakes AI tools make.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React Development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— Routing in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27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WatzThis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React — Module 3: Routing in 2026</dc:title>
  <dc:subject>PptxGenJS Presentation</dc:subject>
  <dc:creator>Chris Minnick</dc:creator>
  <cp:lastModifiedBy>Chris Minnick</cp:lastModifiedBy>
  <cp:revision>1</cp:revision>
  <dcterms:created xsi:type="dcterms:W3CDTF">2026-05-07T01:47:49Z</dcterms:created>
  <dcterms:modified xsi:type="dcterms:W3CDTF">2026-05-07T01:47:49Z</dcterms:modified>
</cp:coreProperties>
</file>