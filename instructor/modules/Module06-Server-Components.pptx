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minutes — the heaviest conceptual module in the course. ~25 min on Server Components, ~20 on Server Actions, ~10 on streaming, ~15 on pitfalls + AI mistakes + lab preview.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foundation of everything that follows. If a student leaves with only one mental model from this module, it's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~25 minutes here. Establish the definition first, then the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three things: async function, direct DB access, zero JS shipped. The third is the hidden win — the rendered HTML is all the user gets.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'opt out, not opt in' framing is critical. Most students from the React-18-SPA world are used to thinking about client components as default.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wins that justify Server Components existing. Query the DB without an API endpoint is the headline.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of these (useState, useEffect, event handlers) are the ones students hit first. The error messages are clearer in 19 than they were in 18-canary.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Critical caveat: 'use client' is per-file. If you import a server-only module into a 'use client' file, you'll get a build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asymmetry is the key: server -&gt; client direction, never client -&gt; server. A client component can RECEIVE a server component as children prop, but can't import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'function passed inline' restriction is the trip-up. Students try to pass an onClick handler from a Server Component to a Client Component — that fails. The fix is to make the handler a Server Action ('use server') or to define it inside the Client Component.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most-misunderstood pattern. The key: AccordionPanel doesn't IMPORT PostsList — it RECEIVES it as children, already rendered on the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~20 minutes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things to highlight: 'use server' inside the function (vs 'use client' at file top), and the form action receives a function reference but executes it on the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progressive enhancement bullet is the sleeper hit. The form works even before JS loads — that's a real accessibility and resilience win.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2 covered useActionState. This slide is the reminder that it's the natural pair for Server Actions — the state argument gives errors and validation a place to live without useState.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 with startTransition to keep the UI responsive. Without it, the click handler awaits and the button feels stuck.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~10 minutes. Less new conceptual content if students already know Suspense.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mental model: the page is a series of nested boundaries, each shipping when ready. No more 'the whole page waits for the slowest query.'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Granularity matters. One boundary around the whole page = no streaming benefit. Boundaries around individual slow components = real win.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minutes. The pitfalls section is where real production code goes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most-common-by-far Server Component mistake in real code. Push the boundary as low as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Sentinel imports — 'server-only' and 'client-only' — turn opaque build errors into clear ones. Strongly recommend including them in starter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'use server' inside the function is what makes it serializable. Without it, React can't ship a reference to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Hydration mismatches are pernicious because they often work locally and fail in production with weird bugs. The four causes here cover most cases.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AI mistake to learn to spot. Every code review of AI-generated server code should ask: was 'use client' here a deliberate choice, or an escape hatch?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Mostly the same primitives, surface differences. The conceptual model travels.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students to take a screenshot of this slide. They'll need it during Lab 5 and any future Server Components code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before lab. The 'render but never import' bullet is the tricky one — worth re-emphasizing.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'document why each 'use client' was necessary' deliverable is the load-bearing part. It forces students to defend each boundary they create.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Day 2 close-out slide. Deliver this only after Lab 5 wraps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5420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 Components &amp; Server Actions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605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code runs is the new mental model. Get the boundary right and the rest follows.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minutes  ·  Lecture + demos  ·  Lab 5 follows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728655" y="466344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mental model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component runs somewhere. The job is knowing where, and what's allowed there.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349240" cy="429768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9202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19202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05840" y="274320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 your Node process (or edge runtime)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access to the database, file system, secrets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Renders to a streamed payload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browser, no DOM, no event handlers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55080" y="1691640"/>
            <a:ext cx="50292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92024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06640" y="19202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 (Browser)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6583680" y="274320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 the user's browser tab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DOM, event handlers, browser APIs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Hydrates from the server's payload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Can't access your DB or your secrets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31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 Components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 that only run on the server. The default in modern frameworks.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a Server Component?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component that runs on the server, returns serializable output, and ships zero JS to the browser.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36576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app/posts/page.jsx — Next.js Server Component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db }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'@/lib/db'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async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PostsPage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posts = await db.posts.findMany();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&lt;main&gt;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{posts.map((p) =&gt; &lt;article key={p.id}&gt;{p.title}&lt;/article&gt;)}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&lt;/main&gt;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5349240"/>
            <a:ext cx="10607040" cy="91440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5532120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91640" y="539496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function is async. Database access at the top of the component. Zero JS in the browser for this code.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31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 first is the new default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Next.js 15 and RR v7 framework mode, every component is a Server Component unless you opt out.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74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shift in defaults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5603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24688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components are server components by default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83464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page.jsx, layout.jsx, and any component they import — server unless marked otherwise.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34747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3832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 in to client with 'use client'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691640" y="374904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line of a file. Everything in that file (and its imports) is now client-side.</a:t>
            </a:r>
            <a:endParaRPr 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38912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91640" y="4297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 components import client components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1691640" y="466344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you cross the boundary into client code, the rest of that subtree is client too.</a:t>
            </a:r>
            <a:endParaRPr lang="en-US" sz="11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530352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691640" y="52120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boundary is per-file, not per-component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1691640" y="557784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can't have a server function and a client function in the same file.</a:t>
            </a:r>
            <a:endParaRPr lang="en-US" sz="1150" dirty="0"/>
          </a:p>
        </p:txBody>
      </p:sp>
      <p:sp>
        <p:nvSpPr>
          <p:cNvPr id="19" name="Text 13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31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Server Components can do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Things you couldn't do in a Client Component without a separate API layer.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116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7830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the database directly — no API endpoint needed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26480" y="169164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03720" y="17830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files from disk, including markdown and config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777240" y="297180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918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54480" y="30632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environment variables and secrets without exposing them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6126480" y="297180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291840"/>
            <a:ext cx="457200" cy="4572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903720" y="30632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private internal services that aren't internet-accessible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777240" y="425196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572000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54480" y="43434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heavy computations without shipping the JS to the browser</a:t>
            </a:r>
            <a:endParaRPr lang="en-US" sz="1250" dirty="0"/>
          </a:p>
        </p:txBody>
      </p:sp>
      <p:sp>
        <p:nvSpPr>
          <p:cNvPr id="20" name="Shape 13"/>
          <p:cNvSpPr/>
          <p:nvPr/>
        </p:nvSpPr>
        <p:spPr>
          <a:xfrm>
            <a:off x="6126480" y="425196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4572000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903720" y="43434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server-only libraries (e.g., Node crypto, fs, ORM clients)</a:t>
            </a:r>
            <a:endParaRPr lang="en-US" sz="1250" dirty="0"/>
          </a:p>
        </p:txBody>
      </p:sp>
      <p:sp>
        <p:nvSpPr>
          <p:cNvPr id="23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31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Server Components can't do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that needs the browser. The list is shorter than you'd think.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116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7830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useState, useEffect, useReducer, or any hook with state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26480" y="169164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03720" y="17830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 event handlers (onClick, onChange, etc.)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777240" y="297180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918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54480" y="30632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browser APIs — window, document, localStorage, fetch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6126480" y="297180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291840"/>
            <a:ext cx="457200" cy="4572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903720" y="30632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refs — useRef won't work without state to back it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777240" y="425196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572000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54480" y="43434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marked 'use client' — that flips the file to client</a:t>
            </a:r>
            <a:endParaRPr lang="en-US" sz="1250" dirty="0"/>
          </a:p>
        </p:txBody>
      </p:sp>
      <p:sp>
        <p:nvSpPr>
          <p:cNvPr id="20" name="Shape 13"/>
          <p:cNvSpPr/>
          <p:nvPr/>
        </p:nvSpPr>
        <p:spPr>
          <a:xfrm>
            <a:off x="6126480" y="425196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4572000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903720" y="43434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re-rendered on the client — they render once, on the server</a:t>
            </a:r>
            <a:endParaRPr lang="en-US" sz="1250" dirty="0"/>
          </a:p>
        </p:txBody>
      </p:sp>
      <p:sp>
        <p:nvSpPr>
          <p:cNvPr id="23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31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'use client' directive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line of a file. Everything in that file is client-side from there.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1148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'use client'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Now we can use hooks, event handlers, browser APIs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useState }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'react'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Counter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[count, setCount]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&lt;button onClick={() =&gt; setCount(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n + 1)}&gt;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Clicked {count} times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&lt;/button&gt;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5806440"/>
            <a:ext cx="10607040" cy="45720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5806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directive is per-FILE. Once present, every export from that file is a Client Component, and every component imported into the file becomes client.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31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client/server boundary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 'cross' from server into client. They never cross back.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349240" cy="438912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 Components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2423160"/>
            <a:ext cx="50292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&lt;Page&gt;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B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&lt;Layout&gt;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B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&lt;PostsList&gt;  </a:t>
            </a:r>
            <a:pPr indent="0" marL="0">
              <a:buNone/>
            </a:pPr>
            <a:r>
              <a:rPr lang="en-US" sz="14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awaits db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B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&lt;Post&gt; &lt;Post&gt; &lt;Post&gt;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352044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852160" y="4023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766560" y="1691640"/>
            <a:ext cx="46177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49440" y="18745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 Components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949440" y="2423160"/>
            <a:ext cx="4297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&lt;LikeButton&gt;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useState, onClick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&lt;CommentBox&gt;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useState, useFormStatus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77240" y="61264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components can render client components as children. Client components cannot import server components.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31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can cross the boundary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Props from a Server Component to a Client Component must be serializable.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Allowed props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3492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Strings, numbers, booleans, null, undefined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objects and arrays of the above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Date, Map, Set, Promise (yes — promises serialize)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Action functions (passed by reference, executed on server)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JSX as a children prop (renders separately)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allowed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55080" y="1920240"/>
            <a:ext cx="5029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 functions defined inline (not Server Actions)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instances with methods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Symbols (other than well-known)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 returned from libraries (e.g., a configured logger)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 elements or refs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Composition: pass Client Components as children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Client Component can render Server Component children — they just need to be passed in, not imported.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1148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AccordionPanel.jsx — Client Component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'use client'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AccordionPanel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children, summary })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[open, setOpen]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&lt;details onClick={() =&gt; setOpen(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!o)}&gt;&lt;summary&gt;{summary}&lt;/summary&gt;{open &amp;&amp; children}&lt;/details&gt;;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page.jsx — Server Component using 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AccordionPanel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'./AccordionPanel'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PostsList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'./PostsList'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</a:t>
            </a:r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also a Server Component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async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&lt;AccordionPanel summary=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'Recent posts'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&lt;PostsList /&gt;     </a:t>
            </a:r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Server Component as a child of a Client Component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&lt;/AccordionPanel&gt;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 Actions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 that run on the server when called from the client. Forms become quiet again.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a Server Action?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function marked 'use server'. Called from the client; runs on the server.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1148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app/posts/new/page.jsx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redirect }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'next/navigation'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db }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'@/lib/db'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createPost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(formData)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'use server'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post = await db.posts.create({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data: { title: formData.get(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'title'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body: formData.get(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'body'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(`/posts/${post.id}`);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NewPost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&lt;form action={createPost}&gt; ... &lt;/form&gt;;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 Actions in forms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the action to &lt;form action&gt;. React handles the rest.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92808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83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FormData is the input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691640" y="21488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receives a FormData object. No JSON parsing, no useState for fields.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77240" y="27889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990088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2880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Submission is intercepted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691640" y="3246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posts to the action; no full page reload. The page revalidates after.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77240" y="388620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087368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3977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Pending state is automatic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1691640" y="43434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useFormStatus inside any descendant of the form sees pending: true while the action runs.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77240" y="49834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184648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0749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 without JS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1691640" y="5440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JS hasn't loaded yet, the browser does a regular form POST. Progressive enhancement built-in.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 with useActionState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useActionState wraps the action and gives you state, the wrapped action, and isPending.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LoginForm.jsx — Client Component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'use client'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useActionState } from 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'react'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login } from 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'@/actions/auth'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LoginForm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[state, action, isPending] =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useActionState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(login, {});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&lt;form action={action}&gt;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&lt;input name=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'email'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defaultValue={state.email} /&gt;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&lt;input name=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'password'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type=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'password'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/&gt;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{state.error &amp;&amp; &lt;p className=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'error'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&gt;{state.error}&lt;/p&gt;}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&lt;button disabled={isPending}&gt;Sign in&lt;/button&gt;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&lt;/form&gt;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 Actions from event handlers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all actions are forms. You can call them from any Client Component handler.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1148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LikeButton.jsx — Client Component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'use client'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useTransition } from 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'react'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likePost } from 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'@/actions/posts'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</a:t>
            </a:r>
            <a:pPr indent="0" marL="0">
              <a:buNone/>
            </a:pPr>
            <a:r>
              <a:rPr lang="en-US" sz="11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'use server' fn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LikeButton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postId, initialLiked })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[isPending, startTransition] =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useTransition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handleClick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startTransition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(async () =&gt;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await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likePost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(postId);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&lt;button onClick={handleClick} disabled={isPending}&gt;♥&lt;/button&gt;;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Streaming on the Server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Suspense boundaries split a page into chunks that stream in independently.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streaming model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shell ships first. Slow data arrives in its own time. The user sees content sooner.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74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flows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51560" y="2560320"/>
            <a:ext cx="457200" cy="45720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91640" y="246888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 request hits the server.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91640" y="28803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framework starts rendering.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051560" y="3474720"/>
            <a:ext cx="457200" cy="45720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91640" y="338328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 parts render immediately.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691640" y="37947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Header, nav, layout chrome — anything that doesn't await something slow.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051560" y="4389120"/>
            <a:ext cx="457200" cy="45720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91640" y="429768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&lt;Suspense&gt; boundaries hold a placeholder.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691640" y="47091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boundary's fallback ships in the initial HTML. The user sees the page load.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51560" y="5303520"/>
            <a:ext cx="457200" cy="45720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91640" y="521208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 data resolves, the chunk streams in.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691640" y="56235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replaces the placeholder with the real content as it arrives.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loading.jsx and granular boundaries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gives each segment a loading.jsx. RR v7 uses defer + Await.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5943600" cy="45720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55778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app/dashboard/page.jsx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Suspense } from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'react'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&lt;main&gt;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&lt;Header /&gt;              </a:t>
            </a:r>
            <a:pPr indent="0" marL="0">
              <a:buNone/>
            </a:pPr>
            <a:r>
              <a:rPr lang="en-US" sz="11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fast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&lt;Suspense fallback={&lt;RevenueSkeleton /&gt;}&gt;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&lt;Revenue /&gt;          </a:t>
            </a:r>
            <a:pPr indent="0" marL="0">
              <a:buNone/>
            </a:pPr>
            <a:r>
              <a:rPr lang="en-US" sz="11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slow query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&lt;/Suspense&gt;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&lt;Suspense fallback={&lt;ChartSkeleton /&gt;}&gt;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&lt;UserChart /&gt;        </a:t>
            </a:r>
            <a:pPr indent="0" marL="0">
              <a:buNone/>
            </a:pPr>
            <a:r>
              <a:rPr lang="en-US" sz="11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even slower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&lt;/Suspense&gt;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&lt;/main&gt;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94944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boundaries, two streams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949440" y="1920240"/>
            <a:ext cx="45720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renders immediately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skeletons appear next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arrives, replaces its skeleton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UserChart arrives later, replaces its skeleton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sees content faster than a single big-query page would deliver.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31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Boundary Pitfalls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teams get this wrong. AI tools especially.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Pitfall: 'use client' too high in the tree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Marking a layout 'use client' opts out the entire subtree. You lose the Server Component benefits.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mistake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349240" cy="36576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05740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app/dashboard/layout.jsx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'use client'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</a:t>
            </a:r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← whole subtree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useState }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'react'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Layout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children })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[collapsed, setCollapsed]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className={collapsed ?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'compact'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&lt;Sidebar /&gt;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&lt;main&gt;{children}&lt;/main&gt;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&lt;/div&gt;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fix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55080" y="1920240"/>
            <a:ext cx="5029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layout server-only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the interactive part (the collapse toggle) into a small Client Component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children through the Client Component back into the server tree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the subtree stays Server Components. Only the toggle ships JS.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Pitfall: importing server-only code into a client file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error is opaque. The cause is usually a transitive import.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36576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utils.js — has no 'use client'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db }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'@/lib/db'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</a:t>
            </a:r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server-only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formatTitle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(post) { return post.title.toUpperCase(); }   </a:t>
            </a:r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pure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LikeButton.jsx — 'use client'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'use client'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formatTitle }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'./utils'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</a:t>
            </a:r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pulls db transitively!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5349240"/>
            <a:ext cx="10607040" cy="91440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5532120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91640" y="539496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server-only files with the 'server-only' package import. Build will refuse to bundle them into client code with a clear error.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Pitfall: non-serializable props across the boundary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Trying to pass a function from a Server Component to a Client Component fails — unless it's a Server Action.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Won't work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349240" cy="36576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05740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page.jsx (server)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handleSomething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'hi'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&lt;ClientButton onClick={handleSomething} /&gt;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→ Error: cannot pass functions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Will work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029200" cy="36576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0574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page.jsx (server)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handleSomething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'use server'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db.something();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&lt;ClientButton onClick={handleSomething} /&gt;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→ Server Action; works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Pitfall: hydration mismatches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renders one thing, client expects another. Often non-deterministic.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83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Date.now() in render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691640" y="2103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time != client time. Use a stable key, or render conditionally on client only.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274320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92608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2834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Math.random() in render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691640" y="3154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on each render. Move to useState with initializer or generate on the server.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77240" y="379476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97764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navigator.* / window.* checks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1691640" y="4206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Undefined on server. Wrap in useEffect or 'use client' boundary.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77240" y="484632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02920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4937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Locale-dependent formatting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691640" y="52578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locale != browser locale. Use a stable formatter or render on client.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31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AI escape-hatch pattern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AI hits a Server/Client boundary, it slaps 'use client' on top until the error goes away.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92024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94560" y="19202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you'll see in AI-generated code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97280" y="283464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AI writes a Server Component that uses useState. Build fails.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AI adds 'use client' to the top of the file. Build passes.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The component is now a Client Component — and so is everything it imports.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The benefits of Server Components are gone. JS bundle grew. Server-only imports break.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right fix is almost always to extract just the interactive part as a small Client Component and leave the parent server-side.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31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Wrap-up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frameworks, same primitives. Then the lab.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Next.js vs RR v7 — same primitives, different syntax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you understand the boundary, both frameworks are mostly bookkeeping.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325880"/>
            <a:ext cx="10607040" cy="41148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325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Primitive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17720" y="13258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Next.js 15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0" y="13258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Router v7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1737360"/>
            <a:ext cx="10607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7830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Component default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617720" y="17830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page.jsx, layout.jsx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0" y="1783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are server by default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2450592"/>
            <a:ext cx="10607040" cy="640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4963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opt-in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617720" y="249631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'use client'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046720" y="249631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'use client'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3163824"/>
            <a:ext cx="10607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20954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Action declaration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617720" y="320954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'use server' inline or in module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46720" y="320954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'use server' inline or in module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3877056"/>
            <a:ext cx="10607040" cy="640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39227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action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617720" y="392277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&lt;form action={fn}&gt;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6720" y="392277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&lt;form action={fn}&gt; or &lt;Form action&gt;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4590288"/>
            <a:ext cx="10607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463600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primitive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617720" y="463600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&lt;Suspense&gt; + loading.jsx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046720" y="463600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&lt;Suspense&gt; + defer/Await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5303520"/>
            <a:ext cx="10607040" cy="640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3492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Actions on event handlers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617720" y="53492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— use directly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046720" y="53492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— call in transition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31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mistakes in Server Components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review checklist for Lab 5 and beyond.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116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7830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'use client' added at the file top to silence a hook-related error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0" y="169164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03720" y="17830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Server-only import (db client, env vars) leaked into a 'use client' file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77240" y="297180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918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54480" y="30632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event handler passed across the boundary as a regular function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126480" y="297180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291840"/>
            <a:ext cx="457200" cy="4572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903720" y="30632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Date.now() or Math.random() in render — hydration mismatch coming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777240" y="425196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572000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54480" y="43434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page wrapped in one Suspense — no streaming benefit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6126480" y="425196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4572000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903720" y="43434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Action without 'use server' directive — runs as a regular client function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31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6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remember when you're back at your desk.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10512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73736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Server-first is the new default. Add 'use client' only where you need state or events.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77240" y="2404872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23744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450592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boundary is per-file. Once a file is 'use client', everything in it (and downstream) is client.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777240" y="3118104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36976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08760" y="3163824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Components can render Client Components. Client Components can receive Server Components as children — never import them.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777240" y="3831336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3950208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508760" y="3877056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Props across the boundary must be serializable. Inline event handlers are the most common violation.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777240" y="4544568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663440"/>
            <a:ext cx="365760" cy="36576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08760" y="459028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Actions = 'use server' functions. Pair with useActionState for forms, useTransition for handlers.</a:t>
            </a:r>
            <a:endParaRPr lang="en-US" sz="1150" dirty="0"/>
          </a:p>
        </p:txBody>
      </p:sp>
      <p:sp>
        <p:nvSpPr>
          <p:cNvPr id="20" name="Shape 13"/>
          <p:cNvSpPr/>
          <p:nvPr/>
        </p:nvSpPr>
        <p:spPr>
          <a:xfrm>
            <a:off x="777240" y="5257800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5376672"/>
            <a:ext cx="365760" cy="36576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508760" y="530352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wins come from MULTIPLE Suspense boundaries. One boundary around everything is no win at all.</a:t>
            </a:r>
            <a:endParaRPr lang="en-US" sz="1150" dirty="0"/>
          </a:p>
        </p:txBody>
      </p:sp>
      <p:sp>
        <p:nvSpPr>
          <p:cNvPr id="23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31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Coming up: Lab 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Server Components dashboard with a Server Action form.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92024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94560" y="19202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5: Server Components Dashboard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21945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minutes  ·  Hands-on  ·  Solution: solutions/lab-05-dashboard/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97280" y="3200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you'll do: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97280" y="361188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small dashboard page with Server Components fetching data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Server Action form using useActionState for state and validation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which components must be 'use client' and document why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Stretch: add streaming with multiple Suspense boundaries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31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 of Day 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5 closes the day. Day 3 covers performance, testing, and AI.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20624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 covered: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2331720"/>
            <a:ext cx="10058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management decision framework + pick-your-tool refactor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data fetching + TanStack Query migration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Components + Server Actions (just finished)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5 — Server Components dashboard (next)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97280" y="51663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Tomorrow: performance in the Compiler era, testing with Vitest + RTL, and a full module on working with AI assistants.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— Server Components &amp; Actions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WatzThis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React — Module 6: Server Components &amp; Actions</dc:title>
  <dc:subject>PptxGenJS Presentation</dc:subject>
  <dc:creator>Chris Minnick</dc:creator>
  <cp:lastModifiedBy>Chris Minnick</cp:lastModifiedBy>
  <cp:revision>1</cp:revision>
  <dcterms:created xsi:type="dcterms:W3CDTF">2026-05-14T16:45:02Z</dcterms:created>
  <dcterms:modified xsi:type="dcterms:W3CDTF">2026-05-14T16:45:02Z</dcterms:modified>
</cp:coreProperties>
</file>