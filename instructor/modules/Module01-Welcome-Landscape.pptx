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module is 45 minutes total. Spend 8-10 minutes on intro/orientation, then ~30 minutes on the React landscape, then ~5 minutes setting up the AI thread. Keep energy high — Day 1 mornings set the tone for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 here. Capture each student's stated goal — ideally on a whiteboard or a shared doc — so you can refer back at the end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each of these in 15-20 seconds. The point isn't to teach the content yet, it's to set the frame: what you knew in 2024 isn't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aspirations — they map directly to the modules and labs. Tell students this list is the rubric for whether the course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daily flow. Note that each day has multiple labs — lab time is more than half of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promise students an answer to every problem they hit in lab. The point is to wrestle with it. You'll circulate and unstick people, but the discomfort is part of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hasn't cloned, give them 2 minutes now. Setup-check script is in the setup-check/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tone-setter for the AI thread. If anyone's worried that the course is going to be 'how to use Cursor' — reassure them. Likewise, if anyone is anti-AI — they still get value because review skills matter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Take a sip of coffee. The next ~25 minutes are the real meat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You can tell the room: if you're comfortable with all four of these, you're ready for what's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timeline is to ground students: yes, much has changed, but it's been gradual. They've probably encountered some of these in canary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hit the highlights — this is the menu, the deep dive comes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deep-dive into the API yet. The point is: the form story has become much simpler. Module 2 is where students write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naming them. Module 2 has the real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those changes that just feels good once you've done it. Worth showing students it's a quick codemod, not a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mental-model shift in React 19. Don't try to teach the whole boundary here — just make sure students know the two kinds of components exist and have different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 these are conveniences, not paradigm shifts. Mention them, then move to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slide. Most of the code on the left is what students wrote yesterday. Ask the room: how many of you have a useMemo in your current project that you're not 100% sure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prevents over-trust. Module 7 (Performance) returns to the Compiler with concrete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Halftime check. Spend the next ~10 minutes on bootstrapping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Most students will already know CRA is gone, but it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have probably used Vite. Just confirm: yes, this is the default. If anyone asks about Webpack, acknowledge it's still around but starting from a CRA-style baseline isn't a thing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pushes back on the assumption that 'modern React = Next.js'. Frameworks are a means,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previous slide. Both are short — together they form a decision-making prompt students will use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menu. Highlight that 'taught' doesn't mean 'best' — the course teaches both because they reflect different sensibilities.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watch-outs. Next.js is great but it isn't free of trade-offs, and pretending otherwise sets students up to be surprised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merge. Some students may still think of Remix as a separate product. It isn't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deep-dive. The point is shape-recognition: students should be able to evaluate whether one of these fits a given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who's seen one of these from an AI tool this week? Always lots of hands. Sets up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hand-off. Take a 5-minute break before Module 2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377440"/>
            <a:ext cx="548640" cy="73152"/>
          </a:xfrm>
          <a:prstGeom prst="rect">
            <a:avLst/>
          </a:prstGeom>
          <a:solidFill>
            <a:srgbClr val="00B8D9"/>
          </a:solidFill>
          <a:ln w="12700">
            <a:solidFill>
              <a:srgbClr val="00B8D9"/>
            </a:solidFill>
            <a:prstDash val="solid"/>
          </a:ln>
        </p:spPr>
      </p:sp>
      <p:sp>
        <p:nvSpPr>
          <p:cNvPr id="3" name="Text 1"/>
          <p:cNvSpPr/>
          <p:nvPr/>
        </p:nvSpPr>
        <p:spPr>
          <a:xfrm>
            <a:off x="640080" y="2560320"/>
            <a:ext cx="10972800" cy="100584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Advanced React Development</a:t>
            </a:r>
            <a:endParaRPr lang="en-US" sz="4800" dirty="0"/>
          </a:p>
        </p:txBody>
      </p:sp>
      <p:sp>
        <p:nvSpPr>
          <p:cNvPr id="4" name="Text 2"/>
          <p:cNvSpPr/>
          <p:nvPr/>
        </p:nvSpPr>
        <p:spPr>
          <a:xfrm>
            <a:off x="640080" y="3657600"/>
            <a:ext cx="10972800" cy="548640"/>
          </a:xfrm>
          <a:prstGeom prst="rect">
            <a:avLst/>
          </a:prstGeom>
          <a:noFill/>
          <a:ln/>
        </p:spPr>
        <p:txBody>
          <a:bodyPr wrap="square" lIns="0" tIns="0" rIns="0" bIns="0" rtlCol="0" anchor="ctr"/>
          <a:lstStyle/>
          <a:p>
            <a:pPr indent="0" marL="0">
              <a:buNone/>
            </a:pPr>
            <a:r>
              <a:rPr lang="en-US" sz="2200" i="1" dirty="0">
                <a:solidFill>
                  <a:srgbClr val="CBF1F6"/>
                </a:solidFill>
                <a:latin typeface="Arial" pitchFamily="34" charset="0"/>
                <a:ea typeface="Arial" pitchFamily="34" charset="-122"/>
                <a:cs typeface="Arial" pitchFamily="34" charset="-120"/>
              </a:rPr>
              <a:t>Modern React for 2026 — and the developers who use it</a:t>
            </a:r>
            <a:endParaRPr lang="en-US" sz="2200" dirty="0"/>
          </a:p>
        </p:txBody>
      </p:sp>
      <p:sp>
        <p:nvSpPr>
          <p:cNvPr id="5" name="Text 3"/>
          <p:cNvSpPr/>
          <p:nvPr/>
        </p:nvSpPr>
        <p:spPr>
          <a:xfrm>
            <a:off x="640080" y="4663440"/>
            <a:ext cx="109728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Module 1: Welcome + The 2026 React Landscape</a:t>
            </a:r>
            <a:endParaRPr lang="en-US" sz="1600" dirty="0"/>
          </a:p>
        </p:txBody>
      </p:sp>
      <p:sp>
        <p:nvSpPr>
          <p:cNvPr id="6" name="Text 4"/>
          <p:cNvSpPr/>
          <p:nvPr/>
        </p:nvSpPr>
        <p:spPr>
          <a:xfrm>
            <a:off x="640080" y="6126480"/>
            <a:ext cx="10972800" cy="365760"/>
          </a:xfrm>
          <a:prstGeom prst="rect">
            <a:avLst/>
          </a:prstGeom>
          <a:noFill/>
          <a:ln/>
        </p:spPr>
        <p:txBody>
          <a:bodyPr wrap="square" lIns="0" tIns="0" rIns="0" bIns="0" rtlCol="0" anchor="ctr"/>
          <a:lstStyle/>
          <a:p>
            <a:pPr indent="0" marL="0">
              <a:buNone/>
            </a:pPr>
            <a:r>
              <a:rPr lang="en-US" sz="1200" dirty="0">
                <a:solidFill>
                  <a:srgbClr val="94A3B8"/>
                </a:solidFill>
                <a:latin typeface="Arial" pitchFamily="34" charset="0"/>
                <a:ea typeface="Arial" pitchFamily="34" charset="-122"/>
                <a:cs typeface="Arial" pitchFamily="34" charset="-120"/>
              </a:rPr>
              <a:t>Chris Minnick  ·  WatzThis  ·  v2.0  ·  May 2026</a:t>
            </a:r>
            <a:endParaRPr lang="en-US" sz="1200" dirty="0"/>
          </a:p>
        </p:txBody>
      </p:sp>
      <p:pic>
        <p:nvPicPr>
          <p:cNvPr id="7" name="Image 0" descr="preencoded.png">    </p:cNvPr>
          <p:cNvPicPr>
            <a:picLocks noChangeAspect="1"/>
          </p:cNvPicPr>
          <p:nvPr/>
        </p:nvPicPr>
        <p:blipFill>
          <a:blip r:embed="rId1">
            <a:alphaModFix amt="75000"/>
          </a:blip>
          <a:stretch>
            <a:fillRect/>
          </a:stretch>
        </p:blipFill>
        <p:spPr>
          <a:xfrm>
            <a:off x="10728655" y="466344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Welcome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Three days. Eight labs. A lot of new React.</a:t>
            </a:r>
            <a:endParaRPr lang="en-US" sz="1400" dirty="0"/>
          </a:p>
        </p:txBody>
      </p:sp>
      <p:sp>
        <p:nvSpPr>
          <p:cNvPr id="5" name="Shape 3"/>
          <p:cNvSpPr/>
          <p:nvPr/>
        </p:nvSpPr>
        <p:spPr>
          <a:xfrm>
            <a:off x="777240" y="1645920"/>
            <a:ext cx="5212080" cy="4297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874520"/>
            <a:ext cx="457200" cy="457200"/>
          </a:xfrm>
          <a:prstGeom prst="rect">
            <a:avLst/>
          </a:prstGeom>
        </p:spPr>
      </p:pic>
      <p:sp>
        <p:nvSpPr>
          <p:cNvPr id="7" name="Text 4"/>
          <p:cNvSpPr/>
          <p:nvPr/>
        </p:nvSpPr>
        <p:spPr>
          <a:xfrm>
            <a:off x="1554480" y="1874520"/>
            <a:ext cx="429768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Your instructor</a:t>
            </a:r>
            <a:endParaRPr lang="en-US" sz="1800" dirty="0"/>
          </a:p>
        </p:txBody>
      </p:sp>
      <p:sp>
        <p:nvSpPr>
          <p:cNvPr id="8" name="Text 5"/>
          <p:cNvSpPr/>
          <p:nvPr/>
        </p:nvSpPr>
        <p:spPr>
          <a:xfrm>
            <a:off x="960120" y="2560320"/>
            <a:ext cx="4937760" cy="3200400"/>
          </a:xfrm>
          <a:prstGeom prst="rect">
            <a:avLst/>
          </a:prstGeom>
          <a:noFill/>
          <a:ln/>
        </p:spPr>
        <p:txBody>
          <a:bodyPr wrap="square" lIns="0" tIns="0" rIns="0" bIns="0" rtlCol="0" anchor="t"/>
          <a:lstStyle/>
          <a:p>
            <a:pPr indent="0" marL="0">
              <a:spcAft>
                <a:spcPts val="600"/>
              </a:spcAft>
              <a:buNone/>
            </a:pPr>
            <a:r>
              <a:rPr lang="en-US" sz="1300" b="1" dirty="0">
                <a:solidFill>
                  <a:srgbClr val="475569"/>
                </a:solidFill>
                <a:latin typeface="Arial" pitchFamily="34" charset="0"/>
                <a:ea typeface="Arial" pitchFamily="34" charset="-122"/>
                <a:cs typeface="Arial" pitchFamily="34" charset="-120"/>
              </a:rPr>
              <a:t>Chris Minnick</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Founder, WatzThis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25+ years building for the web</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Author: JavaScript All-In-One For Dummies, Beginning ReactJS Foundations, others</a:t>
            </a:r>
            <a:endParaRPr lang="en-US" sz="1300" dirty="0"/>
          </a:p>
          <a:p>
            <a:pPr indent="0" marL="0">
              <a:spcAft>
                <a:spcPts val="600"/>
              </a:spcAft>
              <a:buNone/>
            </a:pPr>
            <a:r>
              <a:rPr lang="en-US" sz="1300" dirty="0">
                <a:solidFill>
                  <a:srgbClr val="475569"/>
                </a:solidFill>
                <a:latin typeface="Arial" pitchFamily="34" charset="0"/>
                <a:ea typeface="Arial" pitchFamily="34" charset="-122"/>
                <a:cs typeface="Arial" pitchFamily="34" charset="-120"/>
              </a:rPr>
              <a:t>Teaching React since 2015</a:t>
            </a:r>
            <a:endParaRPr lang="en-US" sz="1300" dirty="0"/>
          </a:p>
        </p:txBody>
      </p:sp>
      <p:sp>
        <p:nvSpPr>
          <p:cNvPr id="9" name="Shape 6"/>
          <p:cNvSpPr/>
          <p:nvPr/>
        </p:nvSpPr>
        <p:spPr>
          <a:xfrm>
            <a:off x="6355080" y="1645920"/>
            <a:ext cx="5212080" cy="4297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6537960" y="1874520"/>
            <a:ext cx="457200" cy="457200"/>
          </a:xfrm>
          <a:prstGeom prst="rect">
            <a:avLst/>
          </a:prstGeom>
        </p:spPr>
      </p:pic>
      <p:sp>
        <p:nvSpPr>
          <p:cNvPr id="11" name="Text 7"/>
          <p:cNvSpPr/>
          <p:nvPr/>
        </p:nvSpPr>
        <p:spPr>
          <a:xfrm>
            <a:off x="7132320" y="1874520"/>
            <a:ext cx="429768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And you?</a:t>
            </a:r>
            <a:endParaRPr lang="en-US" sz="1800" dirty="0"/>
          </a:p>
        </p:txBody>
      </p:sp>
      <p:sp>
        <p:nvSpPr>
          <p:cNvPr id="12" name="Text 8"/>
          <p:cNvSpPr/>
          <p:nvPr/>
        </p:nvSpPr>
        <p:spPr>
          <a:xfrm>
            <a:off x="6537960" y="2560320"/>
            <a:ext cx="4937760" cy="3200400"/>
          </a:xfrm>
          <a:prstGeom prst="rect">
            <a:avLst/>
          </a:prstGeom>
          <a:noFill/>
          <a:ln/>
        </p:spPr>
        <p:txBody>
          <a:bodyPr wrap="square" lIns="0" tIns="0" rIns="0" bIns="0" rtlCol="0" anchor="t"/>
          <a:lstStyle/>
          <a:p>
            <a:pPr indent="0" marL="0">
              <a:spcAft>
                <a:spcPts val="400"/>
              </a:spcAft>
              <a:buNone/>
            </a:pPr>
            <a:r>
              <a:rPr lang="en-US" sz="1300" i="1" dirty="0">
                <a:solidFill>
                  <a:srgbClr val="475569"/>
                </a:solidFill>
                <a:latin typeface="Arial" pitchFamily="34" charset="0"/>
                <a:ea typeface="Arial" pitchFamily="34" charset="-122"/>
                <a:cs typeface="Arial" pitchFamily="34" charset="-120"/>
              </a:rPr>
              <a:t>Quick round of intros — 30 seconds each:</a:t>
            </a:r>
            <a:endParaRPr lang="en-US" sz="1300" dirty="0"/>
          </a:p>
          <a:p>
            <a:pPr indent="0" marL="0">
              <a:spcAft>
                <a:spcPts val="400"/>
              </a:spcAft>
              <a:buNone/>
            </a:pPr>
            <a:r>
              <a:rPr lang="en-US" sz="1300" dirty="0">
                <a:solidFill>
                  <a:srgbClr val="475569"/>
                </a:solidFill>
                <a:latin typeface="Arial" pitchFamily="34" charset="0"/>
                <a:ea typeface="Arial" pitchFamily="34" charset="-122"/>
                <a:cs typeface="Arial" pitchFamily="34" charset="-120"/>
              </a:rPr>
              <a:t> </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Your name and role</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How long you've worked with React</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What you're building right now</a:t>
            </a:r>
            <a:endParaRPr lang="en-US" sz="1300" dirty="0"/>
          </a:p>
          <a:p>
            <a:pPr marL="342900" indent="-342900">
              <a:spcAft>
                <a:spcPts val="400"/>
              </a:spcAft>
              <a:buSzPct val="100000"/>
              <a:buChar char="•"/>
            </a:pPr>
            <a:r>
              <a:rPr lang="en-US" sz="1300" dirty="0">
                <a:solidFill>
                  <a:srgbClr val="475569"/>
                </a:solidFill>
                <a:latin typeface="Arial" pitchFamily="34" charset="0"/>
                <a:ea typeface="Arial" pitchFamily="34" charset="-122"/>
                <a:cs typeface="Arial" pitchFamily="34" charset="-120"/>
              </a:rPr>
              <a:t>One thing you want to leave this class knowing</a:t>
            </a:r>
            <a:endParaRPr lang="en-US" sz="1300" dirty="0"/>
          </a:p>
        </p:txBody>
      </p:sp>
      <p:sp>
        <p:nvSpPr>
          <p:cNvPr id="13"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Why this course was rewritten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The 2024 version is barely two years old, but React has moved a lot.</a:t>
            </a:r>
            <a:endParaRPr lang="en-US" sz="1400" dirty="0"/>
          </a:p>
        </p:txBody>
      </p:sp>
      <p:sp>
        <p:nvSpPr>
          <p:cNvPr id="5" name="Shape 3"/>
          <p:cNvSpPr/>
          <p:nvPr/>
        </p:nvSpPr>
        <p:spPr>
          <a:xfrm>
            <a:off x="777240" y="1554480"/>
            <a:ext cx="10607040" cy="914400"/>
          </a:xfrm>
          <a:prstGeom prst="rect">
            <a:avLst/>
          </a:prstGeom>
          <a:solidFill>
            <a:srgbClr val="FFFFFF"/>
          </a:solidFill>
          <a:ln w="12700">
            <a:solidFill>
              <a:srgbClr val="E2E8F0"/>
            </a:solidFill>
            <a:prstDash val="solid"/>
          </a:ln>
        </p:spPr>
      </p:sp>
      <p:sp>
        <p:nvSpPr>
          <p:cNvPr id="6" name="Shape 4"/>
          <p:cNvSpPr/>
          <p:nvPr/>
        </p:nvSpPr>
        <p:spPr>
          <a:xfrm>
            <a:off x="777240" y="1554480"/>
            <a:ext cx="109728" cy="914400"/>
          </a:xfrm>
          <a:prstGeom prst="rect">
            <a:avLst/>
          </a:prstGeom>
          <a:solidFill>
            <a:srgbClr val="00B8D9"/>
          </a:solidFill>
          <a:ln w="12700">
            <a:solidFill>
              <a:srgbClr val="00B8D9"/>
            </a:solidFill>
            <a:prstDash val="solid"/>
          </a:ln>
        </p:spPr>
      </p:sp>
      <p:sp>
        <p:nvSpPr>
          <p:cNvPr id="7" name="Text 5"/>
          <p:cNvSpPr/>
          <p:nvPr/>
        </p:nvSpPr>
        <p:spPr>
          <a:xfrm>
            <a:off x="1051560" y="166420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React 19 shipped</a:t>
            </a:r>
            <a:endParaRPr lang="en-US" sz="1600" dirty="0"/>
          </a:p>
        </p:txBody>
      </p:sp>
      <p:sp>
        <p:nvSpPr>
          <p:cNvPr id="8" name="Text 6"/>
          <p:cNvSpPr/>
          <p:nvPr/>
        </p:nvSpPr>
        <p:spPr>
          <a:xfrm>
            <a:off x="1051560" y="201168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Server Components production-ready, the Actions story, and a half-dozen new hooks worth knowing.</a:t>
            </a:r>
            <a:endParaRPr lang="en-US" sz="1250" dirty="0"/>
          </a:p>
        </p:txBody>
      </p:sp>
      <p:sp>
        <p:nvSpPr>
          <p:cNvPr id="9" name="Shape 7"/>
          <p:cNvSpPr/>
          <p:nvPr/>
        </p:nvSpPr>
        <p:spPr>
          <a:xfrm>
            <a:off x="777240" y="2651760"/>
            <a:ext cx="10607040" cy="914400"/>
          </a:xfrm>
          <a:prstGeom prst="rect">
            <a:avLst/>
          </a:prstGeom>
          <a:solidFill>
            <a:srgbClr val="FFFFFF"/>
          </a:solidFill>
          <a:ln w="12700">
            <a:solidFill>
              <a:srgbClr val="E2E8F0"/>
            </a:solidFill>
            <a:prstDash val="solid"/>
          </a:ln>
        </p:spPr>
      </p:sp>
      <p:sp>
        <p:nvSpPr>
          <p:cNvPr id="10" name="Shape 8"/>
          <p:cNvSpPr/>
          <p:nvPr/>
        </p:nvSpPr>
        <p:spPr>
          <a:xfrm>
            <a:off x="777240" y="2651760"/>
            <a:ext cx="109728" cy="914400"/>
          </a:xfrm>
          <a:prstGeom prst="rect">
            <a:avLst/>
          </a:prstGeom>
          <a:solidFill>
            <a:srgbClr val="00B8D9"/>
          </a:solidFill>
          <a:ln w="12700">
            <a:solidFill>
              <a:srgbClr val="00B8D9"/>
            </a:solidFill>
            <a:prstDash val="solid"/>
          </a:ln>
        </p:spPr>
      </p:sp>
      <p:sp>
        <p:nvSpPr>
          <p:cNvPr id="11" name="Text 9"/>
          <p:cNvSpPr/>
          <p:nvPr/>
        </p:nvSpPr>
        <p:spPr>
          <a:xfrm>
            <a:off x="1051560" y="276148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The React Compiler is real</a:t>
            </a:r>
            <a:endParaRPr lang="en-US" sz="1600" dirty="0"/>
          </a:p>
        </p:txBody>
      </p:sp>
      <p:sp>
        <p:nvSpPr>
          <p:cNvPr id="12" name="Text 10"/>
          <p:cNvSpPr/>
          <p:nvPr/>
        </p:nvSpPr>
        <p:spPr>
          <a:xfrm>
            <a:off x="1051560" y="310896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Most of the manual useMemo / useCallback / React.memo gymnastics from 2024 is now optional.</a:t>
            </a:r>
            <a:endParaRPr lang="en-US" sz="1250" dirty="0"/>
          </a:p>
        </p:txBody>
      </p:sp>
      <p:sp>
        <p:nvSpPr>
          <p:cNvPr id="13" name="Shape 11"/>
          <p:cNvSpPr/>
          <p:nvPr/>
        </p:nvSpPr>
        <p:spPr>
          <a:xfrm>
            <a:off x="777240" y="3749040"/>
            <a:ext cx="10607040" cy="914400"/>
          </a:xfrm>
          <a:prstGeom prst="rect">
            <a:avLst/>
          </a:prstGeom>
          <a:solidFill>
            <a:srgbClr val="FFFFFF"/>
          </a:solidFill>
          <a:ln w="12700">
            <a:solidFill>
              <a:srgbClr val="E2E8F0"/>
            </a:solidFill>
            <a:prstDash val="solid"/>
          </a:ln>
        </p:spPr>
      </p:sp>
      <p:sp>
        <p:nvSpPr>
          <p:cNvPr id="14" name="Shape 12"/>
          <p:cNvSpPr/>
          <p:nvPr/>
        </p:nvSpPr>
        <p:spPr>
          <a:xfrm>
            <a:off x="777240" y="3749040"/>
            <a:ext cx="109728" cy="914400"/>
          </a:xfrm>
          <a:prstGeom prst="rect">
            <a:avLst/>
          </a:prstGeom>
          <a:solidFill>
            <a:srgbClr val="00B8D9"/>
          </a:solidFill>
          <a:ln w="12700">
            <a:solidFill>
              <a:srgbClr val="00B8D9"/>
            </a:solidFill>
            <a:prstDash val="solid"/>
          </a:ln>
        </p:spPr>
      </p:sp>
      <p:sp>
        <p:nvSpPr>
          <p:cNvPr id="15" name="Text 13"/>
          <p:cNvSpPr/>
          <p:nvPr/>
        </p:nvSpPr>
        <p:spPr>
          <a:xfrm>
            <a:off x="1051560" y="385876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Create React App is gone</a:t>
            </a:r>
            <a:endParaRPr lang="en-US" sz="1600" dirty="0"/>
          </a:p>
        </p:txBody>
      </p:sp>
      <p:sp>
        <p:nvSpPr>
          <p:cNvPr id="16" name="Text 14"/>
          <p:cNvSpPr/>
          <p:nvPr/>
        </p:nvSpPr>
        <p:spPr>
          <a:xfrm>
            <a:off x="1051560" y="420624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Officially deprecated in 2025. Vite is the default; frameworks own the rest.</a:t>
            </a:r>
            <a:endParaRPr lang="en-US" sz="1250" dirty="0"/>
          </a:p>
        </p:txBody>
      </p:sp>
      <p:sp>
        <p:nvSpPr>
          <p:cNvPr id="17" name="Shape 15"/>
          <p:cNvSpPr/>
          <p:nvPr/>
        </p:nvSpPr>
        <p:spPr>
          <a:xfrm>
            <a:off x="777240" y="4846320"/>
            <a:ext cx="10607040" cy="914400"/>
          </a:xfrm>
          <a:prstGeom prst="rect">
            <a:avLst/>
          </a:prstGeom>
          <a:solidFill>
            <a:srgbClr val="FFFFFF"/>
          </a:solidFill>
          <a:ln w="12700">
            <a:solidFill>
              <a:srgbClr val="E2E8F0"/>
            </a:solidFill>
            <a:prstDash val="solid"/>
          </a:ln>
        </p:spPr>
      </p:sp>
      <p:sp>
        <p:nvSpPr>
          <p:cNvPr id="18" name="Shape 16"/>
          <p:cNvSpPr/>
          <p:nvPr/>
        </p:nvSpPr>
        <p:spPr>
          <a:xfrm>
            <a:off x="777240" y="4846320"/>
            <a:ext cx="109728" cy="914400"/>
          </a:xfrm>
          <a:prstGeom prst="rect">
            <a:avLst/>
          </a:prstGeom>
          <a:solidFill>
            <a:srgbClr val="00B8D9"/>
          </a:solidFill>
          <a:ln w="12700">
            <a:solidFill>
              <a:srgbClr val="00B8D9"/>
            </a:solidFill>
            <a:prstDash val="solid"/>
          </a:ln>
        </p:spPr>
      </p:sp>
      <p:sp>
        <p:nvSpPr>
          <p:cNvPr id="19" name="Text 17"/>
          <p:cNvSpPr/>
          <p:nvPr/>
        </p:nvSpPr>
        <p:spPr>
          <a:xfrm>
            <a:off x="1051560" y="4956048"/>
            <a:ext cx="10241280" cy="36576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AI assistants are in every editor</a:t>
            </a:r>
            <a:endParaRPr lang="en-US" sz="1600" dirty="0"/>
          </a:p>
        </p:txBody>
      </p:sp>
      <p:sp>
        <p:nvSpPr>
          <p:cNvPr id="20" name="Text 18"/>
          <p:cNvSpPr/>
          <p:nvPr/>
        </p:nvSpPr>
        <p:spPr>
          <a:xfrm>
            <a:off x="1051560" y="5303520"/>
            <a:ext cx="10241280" cy="4114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The 2024 course didn't mention them. The 2026 course is built around the skills you need to use them well.</a:t>
            </a:r>
            <a:endParaRPr lang="en-US" sz="1250" dirty="0"/>
          </a:p>
        </p:txBody>
      </p:sp>
      <p:sp>
        <p:nvSpPr>
          <p:cNvPr id="21" name="Text 1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2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you'll be able to do by Friday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Ten course-level outcomes. The labs are how you get there.</a:t>
            </a:r>
            <a:endParaRPr lang="en-US" sz="1400" dirty="0"/>
          </a:p>
        </p:txBody>
      </p:sp>
      <p:sp>
        <p:nvSpPr>
          <p:cNvPr id="5" name="Shape 3"/>
          <p:cNvSpPr/>
          <p:nvPr/>
        </p:nvSpPr>
        <p:spPr>
          <a:xfrm>
            <a:off x="777240" y="1554480"/>
            <a:ext cx="411480" cy="411480"/>
          </a:xfrm>
          <a:prstGeom prst="ellipse">
            <a:avLst/>
          </a:prstGeom>
          <a:solidFill>
            <a:srgbClr val="00B8D9"/>
          </a:solidFill>
          <a:ln w="12700">
            <a:solidFill>
              <a:srgbClr val="00B8D9"/>
            </a:solidFill>
            <a:prstDash val="solid"/>
          </a:ln>
        </p:spPr>
      </p:sp>
      <p:sp>
        <p:nvSpPr>
          <p:cNvPr id="6" name="Text 4"/>
          <p:cNvSpPr/>
          <p:nvPr/>
        </p:nvSpPr>
        <p:spPr>
          <a:xfrm>
            <a:off x="777240" y="15544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325880" y="160020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Recognize what's new in React 19 and explain when each piece matters</a:t>
            </a:r>
            <a:endParaRPr lang="en-US" sz="1250" dirty="0"/>
          </a:p>
        </p:txBody>
      </p:sp>
      <p:sp>
        <p:nvSpPr>
          <p:cNvPr id="8" name="Shape 6"/>
          <p:cNvSpPr/>
          <p:nvPr/>
        </p:nvSpPr>
        <p:spPr>
          <a:xfrm>
            <a:off x="777240" y="2331720"/>
            <a:ext cx="411480" cy="411480"/>
          </a:xfrm>
          <a:prstGeom prst="ellipse">
            <a:avLst/>
          </a:prstGeom>
          <a:solidFill>
            <a:srgbClr val="00B8D9"/>
          </a:solidFill>
          <a:ln w="12700">
            <a:solidFill>
              <a:srgbClr val="00B8D9"/>
            </a:solidFill>
            <a:prstDash val="solid"/>
          </a:ln>
        </p:spPr>
      </p:sp>
      <p:sp>
        <p:nvSpPr>
          <p:cNvPr id="9" name="Text 7"/>
          <p:cNvSpPr/>
          <p:nvPr/>
        </p:nvSpPr>
        <p:spPr>
          <a:xfrm>
            <a:off x="77724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325880" y="237744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Choose between Vite, Next.js 15, React Router v7, and the rest based on project needs</a:t>
            </a:r>
            <a:endParaRPr lang="en-US" sz="1250" dirty="0"/>
          </a:p>
        </p:txBody>
      </p:sp>
      <p:sp>
        <p:nvSpPr>
          <p:cNvPr id="11" name="Shape 9"/>
          <p:cNvSpPr/>
          <p:nvPr/>
        </p:nvSpPr>
        <p:spPr>
          <a:xfrm>
            <a:off x="777240" y="3108960"/>
            <a:ext cx="411480" cy="411480"/>
          </a:xfrm>
          <a:prstGeom prst="ellipse">
            <a:avLst/>
          </a:prstGeom>
          <a:solidFill>
            <a:srgbClr val="00B8D9"/>
          </a:solidFill>
          <a:ln w="12700">
            <a:solidFill>
              <a:srgbClr val="00B8D9"/>
            </a:solidFill>
            <a:prstDash val="solid"/>
          </a:ln>
        </p:spPr>
      </p:sp>
      <p:sp>
        <p:nvSpPr>
          <p:cNvPr id="12" name="Text 10"/>
          <p:cNvSpPr/>
          <p:nvPr/>
        </p:nvSpPr>
        <p:spPr>
          <a:xfrm>
            <a:off x="777240" y="3108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3" name="Text 11"/>
          <p:cNvSpPr/>
          <p:nvPr/>
        </p:nvSpPr>
        <p:spPr>
          <a:xfrm>
            <a:off x="1325880" y="315468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Apply the right hook for the job — and spot the hook mistakes AI tools make</a:t>
            </a:r>
            <a:endParaRPr lang="en-US" sz="1250" dirty="0"/>
          </a:p>
        </p:txBody>
      </p:sp>
      <p:sp>
        <p:nvSpPr>
          <p:cNvPr id="14" name="Shape 12"/>
          <p:cNvSpPr/>
          <p:nvPr/>
        </p:nvSpPr>
        <p:spPr>
          <a:xfrm>
            <a:off x="777240" y="3886200"/>
            <a:ext cx="411480" cy="411480"/>
          </a:xfrm>
          <a:prstGeom prst="ellipse">
            <a:avLst/>
          </a:prstGeom>
          <a:solidFill>
            <a:srgbClr val="00B8D9"/>
          </a:solidFill>
          <a:ln w="12700">
            <a:solidFill>
              <a:srgbClr val="00B8D9"/>
            </a:solidFill>
            <a:prstDash val="solid"/>
          </a:ln>
        </p:spPr>
      </p:sp>
      <p:sp>
        <p:nvSpPr>
          <p:cNvPr id="15" name="Text 13"/>
          <p:cNvSpPr/>
          <p:nvPr/>
        </p:nvSpPr>
        <p:spPr>
          <a:xfrm>
            <a:off x="777240" y="3886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6" name="Text 14"/>
          <p:cNvSpPr/>
          <p:nvPr/>
        </p:nvSpPr>
        <p:spPr>
          <a:xfrm>
            <a:off x="1325880" y="393192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Implement modern routing in both React Router v7 and Next.js App Router</a:t>
            </a:r>
            <a:endParaRPr lang="en-US" sz="1250" dirty="0"/>
          </a:p>
        </p:txBody>
      </p:sp>
      <p:sp>
        <p:nvSpPr>
          <p:cNvPr id="17" name="Shape 15"/>
          <p:cNvSpPr/>
          <p:nvPr/>
        </p:nvSpPr>
        <p:spPr>
          <a:xfrm>
            <a:off x="777240" y="4663440"/>
            <a:ext cx="411480" cy="411480"/>
          </a:xfrm>
          <a:prstGeom prst="ellipse">
            <a:avLst/>
          </a:prstGeom>
          <a:solidFill>
            <a:srgbClr val="00B8D9"/>
          </a:solidFill>
          <a:ln w="12700">
            <a:solidFill>
              <a:srgbClr val="00B8D9"/>
            </a:solidFill>
            <a:prstDash val="solid"/>
          </a:ln>
        </p:spPr>
      </p:sp>
      <p:sp>
        <p:nvSpPr>
          <p:cNvPr id="18" name="Text 16"/>
          <p:cNvSpPr/>
          <p:nvPr/>
        </p:nvSpPr>
        <p:spPr>
          <a:xfrm>
            <a:off x="777240" y="4663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19" name="Text 17"/>
          <p:cNvSpPr/>
          <p:nvPr/>
        </p:nvSpPr>
        <p:spPr>
          <a:xfrm>
            <a:off x="1325880" y="470916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Pick the right state-management approach for each kind of state</a:t>
            </a:r>
            <a:endParaRPr lang="en-US" sz="1250" dirty="0"/>
          </a:p>
        </p:txBody>
      </p:sp>
      <p:sp>
        <p:nvSpPr>
          <p:cNvPr id="20" name="Shape 18"/>
          <p:cNvSpPr/>
          <p:nvPr/>
        </p:nvSpPr>
        <p:spPr>
          <a:xfrm>
            <a:off x="6400800" y="1554480"/>
            <a:ext cx="411480" cy="411480"/>
          </a:xfrm>
          <a:prstGeom prst="ellipse">
            <a:avLst/>
          </a:prstGeom>
          <a:solidFill>
            <a:srgbClr val="00B8D9"/>
          </a:solidFill>
          <a:ln w="12700">
            <a:solidFill>
              <a:srgbClr val="00B8D9"/>
            </a:solidFill>
            <a:prstDash val="solid"/>
          </a:ln>
        </p:spPr>
      </p:sp>
      <p:sp>
        <p:nvSpPr>
          <p:cNvPr id="21" name="Text 19"/>
          <p:cNvSpPr/>
          <p:nvPr/>
        </p:nvSpPr>
        <p:spPr>
          <a:xfrm>
            <a:off x="6400800" y="15544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sp>
        <p:nvSpPr>
          <p:cNvPr id="22" name="Text 20"/>
          <p:cNvSpPr/>
          <p:nvPr/>
        </p:nvSpPr>
        <p:spPr>
          <a:xfrm>
            <a:off x="6949440" y="160020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Build with TanStack Query for client data and Server Components for server-driven UI</a:t>
            </a:r>
            <a:endParaRPr lang="en-US" sz="1250" dirty="0"/>
          </a:p>
        </p:txBody>
      </p:sp>
      <p:sp>
        <p:nvSpPr>
          <p:cNvPr id="23" name="Shape 21"/>
          <p:cNvSpPr/>
          <p:nvPr/>
        </p:nvSpPr>
        <p:spPr>
          <a:xfrm>
            <a:off x="6400800" y="2331720"/>
            <a:ext cx="411480" cy="411480"/>
          </a:xfrm>
          <a:prstGeom prst="ellipse">
            <a:avLst/>
          </a:prstGeom>
          <a:solidFill>
            <a:srgbClr val="00B8D9"/>
          </a:solidFill>
          <a:ln w="12700">
            <a:solidFill>
              <a:srgbClr val="00B8D9"/>
            </a:solidFill>
            <a:prstDash val="solid"/>
          </a:ln>
        </p:spPr>
      </p:sp>
      <p:sp>
        <p:nvSpPr>
          <p:cNvPr id="24" name="Text 22"/>
          <p:cNvSpPr/>
          <p:nvPr/>
        </p:nvSpPr>
        <p:spPr>
          <a:xfrm>
            <a:off x="6400800" y="23317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7</a:t>
            </a:r>
            <a:endParaRPr lang="en-US" sz="1400" dirty="0"/>
          </a:p>
        </p:txBody>
      </p:sp>
      <p:sp>
        <p:nvSpPr>
          <p:cNvPr id="25" name="Text 23"/>
          <p:cNvSpPr/>
          <p:nvPr/>
        </p:nvSpPr>
        <p:spPr>
          <a:xfrm>
            <a:off x="6949440" y="237744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Profile and optimize a React app in the React Compiler era</a:t>
            </a:r>
            <a:endParaRPr lang="en-US" sz="1250" dirty="0"/>
          </a:p>
        </p:txBody>
      </p:sp>
      <p:sp>
        <p:nvSpPr>
          <p:cNvPr id="26" name="Shape 24"/>
          <p:cNvSpPr/>
          <p:nvPr/>
        </p:nvSpPr>
        <p:spPr>
          <a:xfrm>
            <a:off x="6400800" y="3108960"/>
            <a:ext cx="411480" cy="411480"/>
          </a:xfrm>
          <a:prstGeom prst="ellipse">
            <a:avLst/>
          </a:prstGeom>
          <a:solidFill>
            <a:srgbClr val="00B8D9"/>
          </a:solidFill>
          <a:ln w="12700">
            <a:solidFill>
              <a:srgbClr val="00B8D9"/>
            </a:solidFill>
            <a:prstDash val="solid"/>
          </a:ln>
        </p:spPr>
      </p:sp>
      <p:sp>
        <p:nvSpPr>
          <p:cNvPr id="27" name="Text 25"/>
          <p:cNvSpPr/>
          <p:nvPr/>
        </p:nvSpPr>
        <p:spPr>
          <a:xfrm>
            <a:off x="6400800" y="31089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8</a:t>
            </a:r>
            <a:endParaRPr lang="en-US" sz="1400" dirty="0"/>
          </a:p>
        </p:txBody>
      </p:sp>
      <p:sp>
        <p:nvSpPr>
          <p:cNvPr id="28" name="Text 26"/>
          <p:cNvSpPr/>
          <p:nvPr/>
        </p:nvSpPr>
        <p:spPr>
          <a:xfrm>
            <a:off x="6949440" y="315468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Write meaningful tests with Vitest, React Testing Library, MSW, and Playwright</a:t>
            </a:r>
            <a:endParaRPr lang="en-US" sz="1250" dirty="0"/>
          </a:p>
        </p:txBody>
      </p:sp>
      <p:sp>
        <p:nvSpPr>
          <p:cNvPr id="29" name="Shape 27"/>
          <p:cNvSpPr/>
          <p:nvPr/>
        </p:nvSpPr>
        <p:spPr>
          <a:xfrm>
            <a:off x="6400800" y="3886200"/>
            <a:ext cx="411480" cy="411480"/>
          </a:xfrm>
          <a:prstGeom prst="ellipse">
            <a:avLst/>
          </a:prstGeom>
          <a:solidFill>
            <a:srgbClr val="00B8D9"/>
          </a:solidFill>
          <a:ln w="12700">
            <a:solidFill>
              <a:srgbClr val="00B8D9"/>
            </a:solidFill>
            <a:prstDash val="solid"/>
          </a:ln>
        </p:spPr>
      </p:sp>
      <p:sp>
        <p:nvSpPr>
          <p:cNvPr id="30" name="Text 28"/>
          <p:cNvSpPr/>
          <p:nvPr/>
        </p:nvSpPr>
        <p:spPr>
          <a:xfrm>
            <a:off x="6400800" y="3886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9</a:t>
            </a:r>
            <a:endParaRPr lang="en-US" sz="1400" dirty="0"/>
          </a:p>
        </p:txBody>
      </p:sp>
      <p:sp>
        <p:nvSpPr>
          <p:cNvPr id="31" name="Text 29"/>
          <p:cNvSpPr/>
          <p:nvPr/>
        </p:nvSpPr>
        <p:spPr>
          <a:xfrm>
            <a:off x="6949440" y="393192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Work productively with AI assistants while spotting their typical React mistakes</a:t>
            </a:r>
            <a:endParaRPr lang="en-US" sz="1250" dirty="0"/>
          </a:p>
        </p:txBody>
      </p:sp>
      <p:sp>
        <p:nvSpPr>
          <p:cNvPr id="32" name="Shape 30"/>
          <p:cNvSpPr/>
          <p:nvPr/>
        </p:nvSpPr>
        <p:spPr>
          <a:xfrm>
            <a:off x="6400800" y="4663440"/>
            <a:ext cx="411480" cy="411480"/>
          </a:xfrm>
          <a:prstGeom prst="ellipse">
            <a:avLst/>
          </a:prstGeom>
          <a:solidFill>
            <a:srgbClr val="00B8D9"/>
          </a:solidFill>
          <a:ln w="12700">
            <a:solidFill>
              <a:srgbClr val="00B8D9"/>
            </a:solidFill>
            <a:prstDash val="solid"/>
          </a:ln>
        </p:spPr>
      </p:sp>
      <p:sp>
        <p:nvSpPr>
          <p:cNvPr id="33" name="Text 31"/>
          <p:cNvSpPr/>
          <p:nvPr/>
        </p:nvSpPr>
        <p:spPr>
          <a:xfrm>
            <a:off x="6400800" y="4663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10</a:t>
            </a:r>
            <a:endParaRPr lang="en-US" sz="1400" dirty="0"/>
          </a:p>
        </p:txBody>
      </p:sp>
      <p:sp>
        <p:nvSpPr>
          <p:cNvPr id="34" name="Text 32"/>
          <p:cNvSpPr/>
          <p:nvPr/>
        </p:nvSpPr>
        <p:spPr>
          <a:xfrm>
            <a:off x="6949440" y="4709160"/>
            <a:ext cx="4754880" cy="731520"/>
          </a:xfrm>
          <a:prstGeom prst="rect">
            <a:avLst/>
          </a:prstGeom>
          <a:noFill/>
          <a:ln/>
        </p:spPr>
        <p:txBody>
          <a:bodyPr wrap="square" lIns="0" tIns="0" rIns="0" bIns="0" rtlCol="0" anchor="t"/>
          <a:lstStyle/>
          <a:p>
            <a:pPr indent="0" marL="0">
              <a:buNone/>
            </a:pPr>
            <a:r>
              <a:rPr lang="en-US" sz="1250" dirty="0">
                <a:solidFill>
                  <a:srgbClr val="475569"/>
                </a:solidFill>
                <a:latin typeface="Arial" pitchFamily="34" charset="0"/>
                <a:ea typeface="Arial" pitchFamily="34" charset="-122"/>
                <a:cs typeface="Arial" pitchFamily="34" charset="-120"/>
              </a:rPr>
              <a:t>Apply React-specific security and accessibility practices</a:t>
            </a:r>
            <a:endParaRPr lang="en-US" sz="1250" dirty="0"/>
          </a:p>
        </p:txBody>
      </p:sp>
      <p:sp>
        <p:nvSpPr>
          <p:cNvPr id="35" name="Text 3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36" name="Text 3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Daily schedule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~7 hours of instruction per day. Lunch is one hour. Two breaks each day.</a:t>
            </a:r>
            <a:endParaRPr lang="en-US" sz="1400" dirty="0"/>
          </a:p>
        </p:txBody>
      </p:sp>
      <p:sp>
        <p:nvSpPr>
          <p:cNvPr id="5" name="Shape 3"/>
          <p:cNvSpPr/>
          <p:nvPr/>
        </p:nvSpPr>
        <p:spPr>
          <a:xfrm>
            <a:off x="777240" y="1554480"/>
            <a:ext cx="3611880" cy="4389120"/>
          </a:xfrm>
          <a:prstGeom prst="rect">
            <a:avLst/>
          </a:prstGeom>
          <a:solidFill>
            <a:srgbClr val="FFFFFF"/>
          </a:solidFill>
          <a:ln w="12700">
            <a:solidFill>
              <a:srgbClr val="E2E8F0"/>
            </a:solidFill>
            <a:prstDash val="solid"/>
          </a:ln>
        </p:spPr>
      </p:sp>
      <p:sp>
        <p:nvSpPr>
          <p:cNvPr id="6" name="Shape 4"/>
          <p:cNvSpPr/>
          <p:nvPr/>
        </p:nvSpPr>
        <p:spPr>
          <a:xfrm>
            <a:off x="777240" y="1554480"/>
            <a:ext cx="3611880" cy="457200"/>
          </a:xfrm>
          <a:prstGeom prst="rect">
            <a:avLst/>
          </a:prstGeom>
          <a:solidFill>
            <a:srgbClr val="1E2A47"/>
          </a:solidFill>
          <a:ln w="12700">
            <a:solidFill>
              <a:srgbClr val="1E2A47"/>
            </a:solidFill>
            <a:prstDash val="solid"/>
          </a:ln>
        </p:spPr>
      </p:sp>
      <p:sp>
        <p:nvSpPr>
          <p:cNvPr id="7" name="Text 5"/>
          <p:cNvSpPr/>
          <p:nvPr/>
        </p:nvSpPr>
        <p:spPr>
          <a:xfrm>
            <a:off x="96012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1</a:t>
            </a:r>
            <a:endParaRPr lang="en-US" sz="1400" dirty="0"/>
          </a:p>
        </p:txBody>
      </p:sp>
      <p:sp>
        <p:nvSpPr>
          <p:cNvPr id="8" name="Text 6"/>
          <p:cNvSpPr/>
          <p:nvPr/>
        </p:nvSpPr>
        <p:spPr>
          <a:xfrm>
            <a:off x="96012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Foundations for 2026</a:t>
            </a:r>
            <a:endParaRPr lang="en-US" sz="1400" dirty="0"/>
          </a:p>
        </p:txBody>
      </p:sp>
      <p:sp>
        <p:nvSpPr>
          <p:cNvPr id="9" name="Text 7"/>
          <p:cNvSpPr/>
          <p:nvPr/>
        </p:nvSpPr>
        <p:spPr>
          <a:xfrm>
            <a:off x="96012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Modern React landscape</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Hooks that matter in 2026</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Routing — RR v7 + Next.js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1 &amp; 2</a:t>
            </a:r>
            <a:endParaRPr lang="en-US" sz="1200" dirty="0"/>
          </a:p>
        </p:txBody>
      </p:sp>
      <p:sp>
        <p:nvSpPr>
          <p:cNvPr id="10" name="Shape 8"/>
          <p:cNvSpPr/>
          <p:nvPr/>
        </p:nvSpPr>
        <p:spPr>
          <a:xfrm>
            <a:off x="4617720" y="1554480"/>
            <a:ext cx="3611880" cy="4389120"/>
          </a:xfrm>
          <a:prstGeom prst="rect">
            <a:avLst/>
          </a:prstGeom>
          <a:solidFill>
            <a:srgbClr val="FFFFFF"/>
          </a:solidFill>
          <a:ln w="12700">
            <a:solidFill>
              <a:srgbClr val="E2E8F0"/>
            </a:solidFill>
            <a:prstDash val="solid"/>
          </a:ln>
        </p:spPr>
      </p:sp>
      <p:sp>
        <p:nvSpPr>
          <p:cNvPr id="11" name="Shape 9"/>
          <p:cNvSpPr/>
          <p:nvPr/>
        </p:nvSpPr>
        <p:spPr>
          <a:xfrm>
            <a:off x="4617720" y="1554480"/>
            <a:ext cx="3611880" cy="457200"/>
          </a:xfrm>
          <a:prstGeom prst="rect">
            <a:avLst/>
          </a:prstGeom>
          <a:solidFill>
            <a:srgbClr val="1E2A47"/>
          </a:solidFill>
          <a:ln w="12700">
            <a:solidFill>
              <a:srgbClr val="1E2A47"/>
            </a:solidFill>
            <a:prstDash val="solid"/>
          </a:ln>
        </p:spPr>
      </p:sp>
      <p:sp>
        <p:nvSpPr>
          <p:cNvPr id="12" name="Text 10"/>
          <p:cNvSpPr/>
          <p:nvPr/>
        </p:nvSpPr>
        <p:spPr>
          <a:xfrm>
            <a:off x="480060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2</a:t>
            </a:r>
            <a:endParaRPr lang="en-US" sz="1400" dirty="0"/>
          </a:p>
        </p:txBody>
      </p:sp>
      <p:sp>
        <p:nvSpPr>
          <p:cNvPr id="13" name="Text 11"/>
          <p:cNvSpPr/>
          <p:nvPr/>
        </p:nvSpPr>
        <p:spPr>
          <a:xfrm>
            <a:off x="480060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Data, State, and the Server</a:t>
            </a:r>
            <a:endParaRPr lang="en-US" sz="1400" dirty="0"/>
          </a:p>
        </p:txBody>
      </p:sp>
      <p:sp>
        <p:nvSpPr>
          <p:cNvPr id="14" name="Text 12"/>
          <p:cNvSpPr/>
          <p:nvPr/>
        </p:nvSpPr>
        <p:spPr>
          <a:xfrm>
            <a:off x="480060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State management decisions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Modern data fetching</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Server Components + Actions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3, 4, &amp; 5</a:t>
            </a:r>
            <a:endParaRPr lang="en-US" sz="1200" dirty="0"/>
          </a:p>
        </p:txBody>
      </p:sp>
      <p:sp>
        <p:nvSpPr>
          <p:cNvPr id="15" name="Shape 13"/>
          <p:cNvSpPr/>
          <p:nvPr/>
        </p:nvSpPr>
        <p:spPr>
          <a:xfrm>
            <a:off x="8458200" y="1554480"/>
            <a:ext cx="3611880" cy="4389120"/>
          </a:xfrm>
          <a:prstGeom prst="rect">
            <a:avLst/>
          </a:prstGeom>
          <a:solidFill>
            <a:srgbClr val="FFFFFF"/>
          </a:solidFill>
          <a:ln w="12700">
            <a:solidFill>
              <a:srgbClr val="E2E8F0"/>
            </a:solidFill>
            <a:prstDash val="solid"/>
          </a:ln>
        </p:spPr>
      </p:sp>
      <p:sp>
        <p:nvSpPr>
          <p:cNvPr id="16" name="Shape 14"/>
          <p:cNvSpPr/>
          <p:nvPr/>
        </p:nvSpPr>
        <p:spPr>
          <a:xfrm>
            <a:off x="8458200" y="1554480"/>
            <a:ext cx="3611880" cy="457200"/>
          </a:xfrm>
          <a:prstGeom prst="rect">
            <a:avLst/>
          </a:prstGeom>
          <a:solidFill>
            <a:srgbClr val="1E2A47"/>
          </a:solidFill>
          <a:ln w="12700">
            <a:solidFill>
              <a:srgbClr val="1E2A47"/>
            </a:solidFill>
            <a:prstDash val="solid"/>
          </a:ln>
        </p:spPr>
      </p:sp>
      <p:sp>
        <p:nvSpPr>
          <p:cNvPr id="17" name="Text 15"/>
          <p:cNvSpPr/>
          <p:nvPr/>
        </p:nvSpPr>
        <p:spPr>
          <a:xfrm>
            <a:off x="8641080" y="1627632"/>
            <a:ext cx="3383280" cy="329184"/>
          </a:xfrm>
          <a:prstGeom prst="rect">
            <a:avLst/>
          </a:prstGeom>
          <a:noFill/>
          <a:ln/>
        </p:spPr>
        <p:txBody>
          <a:bodyPr wrap="square" lIns="0" tIns="0" rIns="0" bIns="0" rtlCol="0" anchor="ctr"/>
          <a:lstStyle/>
          <a:p>
            <a:pPr indent="0" marL="0">
              <a:buNone/>
            </a:pPr>
            <a:r>
              <a:rPr lang="en-US" sz="1400" b="1" dirty="0">
                <a:solidFill>
                  <a:srgbClr val="00B8D9"/>
                </a:solidFill>
                <a:latin typeface="Trebuchet MS" pitchFamily="34" charset="0"/>
                <a:ea typeface="Trebuchet MS" pitchFamily="34" charset="-122"/>
                <a:cs typeface="Trebuchet MS" pitchFamily="34" charset="-120"/>
              </a:rPr>
              <a:t>Day 3</a:t>
            </a:r>
            <a:endParaRPr lang="en-US" sz="1400" dirty="0"/>
          </a:p>
        </p:txBody>
      </p:sp>
      <p:sp>
        <p:nvSpPr>
          <p:cNvPr id="18" name="Text 16"/>
          <p:cNvSpPr/>
          <p:nvPr/>
        </p:nvSpPr>
        <p:spPr>
          <a:xfrm>
            <a:off x="8641080" y="2194560"/>
            <a:ext cx="338328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Performance, Quality, and AI</a:t>
            </a:r>
            <a:endParaRPr lang="en-US" sz="1400" dirty="0"/>
          </a:p>
        </p:txBody>
      </p:sp>
      <p:sp>
        <p:nvSpPr>
          <p:cNvPr id="19" name="Text 17"/>
          <p:cNvSpPr/>
          <p:nvPr/>
        </p:nvSpPr>
        <p:spPr>
          <a:xfrm>
            <a:off x="8641080" y="2697480"/>
            <a:ext cx="3291840" cy="3017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Performance in the Compiler era</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Testing in 2026</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Working with AI assistants</a:t>
            </a:r>
            <a:endParaRPr lang="en-US" sz="1200" dirty="0"/>
          </a:p>
          <a:p>
            <a:pPr marL="342900" indent="-342900">
              <a:spcAft>
                <a:spcPts val="400"/>
              </a:spcAft>
              <a:buSzPct val="100000"/>
              <a:buChar char="•"/>
            </a:pPr>
            <a:r>
              <a:rPr lang="en-US" sz="1200" dirty="0">
                <a:solidFill>
                  <a:srgbClr val="475569"/>
                </a:solidFill>
                <a:latin typeface="Arial" pitchFamily="34" charset="0"/>
                <a:ea typeface="Arial" pitchFamily="34" charset="-122"/>
                <a:cs typeface="Arial" pitchFamily="34" charset="-120"/>
              </a:rPr>
              <a:t>Labs 6, 7, &amp; 8</a:t>
            </a:r>
            <a:endParaRPr lang="en-US" sz="120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How the days are structured</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Concept → quick demo → substantial lab. Repeat.</a:t>
            </a:r>
            <a:endParaRPr lang="en-US" sz="1400" dirty="0"/>
          </a:p>
        </p:txBody>
      </p:sp>
      <p:sp>
        <p:nvSpPr>
          <p:cNvPr id="5" name="Shape 3"/>
          <p:cNvSpPr/>
          <p:nvPr/>
        </p:nvSpPr>
        <p:spPr>
          <a:xfrm>
            <a:off x="777240" y="1737360"/>
            <a:ext cx="3611880" cy="30175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51560" y="1920240"/>
            <a:ext cx="640080" cy="640080"/>
          </a:xfrm>
          <a:prstGeom prst="rect">
            <a:avLst/>
          </a:prstGeom>
        </p:spPr>
      </p:pic>
      <p:sp>
        <p:nvSpPr>
          <p:cNvPr id="7" name="Text 4"/>
          <p:cNvSpPr/>
          <p:nvPr/>
        </p:nvSpPr>
        <p:spPr>
          <a:xfrm>
            <a:off x="105156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Concept</a:t>
            </a:r>
            <a:endParaRPr lang="en-US" sz="2200" dirty="0"/>
          </a:p>
        </p:txBody>
      </p:sp>
      <p:sp>
        <p:nvSpPr>
          <p:cNvPr id="8" name="Text 5"/>
          <p:cNvSpPr/>
          <p:nvPr/>
        </p:nvSpPr>
        <p:spPr>
          <a:xfrm>
            <a:off x="105156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Short lecture (15-30 min) with live coding, not just slides.</a:t>
            </a:r>
            <a:endParaRPr lang="en-US" sz="1250" dirty="0"/>
          </a:p>
        </p:txBody>
      </p:sp>
      <p:pic>
        <p:nvPicPr>
          <p:cNvPr id="9" name="Image 1" descr="preencoded.png">    </p:cNvPr>
          <p:cNvPicPr>
            <a:picLocks noChangeAspect="1"/>
          </p:cNvPicPr>
          <p:nvPr/>
        </p:nvPicPr>
        <p:blipFill>
          <a:blip r:embed="rId2"/>
          <a:stretch>
            <a:fillRect/>
          </a:stretch>
        </p:blipFill>
        <p:spPr>
          <a:xfrm>
            <a:off x="4434840" y="3017520"/>
            <a:ext cx="228600" cy="228600"/>
          </a:xfrm>
          <a:prstGeom prst="rect">
            <a:avLst/>
          </a:prstGeom>
        </p:spPr>
      </p:pic>
      <p:sp>
        <p:nvSpPr>
          <p:cNvPr id="10" name="Shape 6"/>
          <p:cNvSpPr/>
          <p:nvPr/>
        </p:nvSpPr>
        <p:spPr>
          <a:xfrm>
            <a:off x="4617720" y="1737360"/>
            <a:ext cx="3611880" cy="3017520"/>
          </a:xfrm>
          <a:prstGeom prst="rect">
            <a:avLst/>
          </a:prstGeom>
          <a:solidFill>
            <a:srgbClr val="FFFFFF"/>
          </a:solidFill>
          <a:ln w="12700">
            <a:solidFill>
              <a:srgbClr val="E2E8F0"/>
            </a:solidFill>
            <a:prstDash val="solid"/>
          </a:ln>
        </p:spPr>
      </p:sp>
      <p:pic>
        <p:nvPicPr>
          <p:cNvPr id="11" name="Image 2" descr="preencoded.png">    </p:cNvPr>
          <p:cNvPicPr>
            <a:picLocks noChangeAspect="1"/>
          </p:cNvPicPr>
          <p:nvPr/>
        </p:nvPicPr>
        <p:blipFill>
          <a:blip r:embed="rId3"/>
          <a:stretch>
            <a:fillRect/>
          </a:stretch>
        </p:blipFill>
        <p:spPr>
          <a:xfrm>
            <a:off x="4892040" y="1920240"/>
            <a:ext cx="640080" cy="640080"/>
          </a:xfrm>
          <a:prstGeom prst="rect">
            <a:avLst/>
          </a:prstGeom>
        </p:spPr>
      </p:pic>
      <p:sp>
        <p:nvSpPr>
          <p:cNvPr id="12" name="Text 7"/>
          <p:cNvSpPr/>
          <p:nvPr/>
        </p:nvSpPr>
        <p:spPr>
          <a:xfrm>
            <a:off x="489204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Demo</a:t>
            </a:r>
            <a:endParaRPr lang="en-US" sz="2200" dirty="0"/>
          </a:p>
        </p:txBody>
      </p:sp>
      <p:sp>
        <p:nvSpPr>
          <p:cNvPr id="13" name="Text 8"/>
          <p:cNvSpPr/>
          <p:nvPr/>
        </p:nvSpPr>
        <p:spPr>
          <a:xfrm>
            <a:off x="489204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5-10 min hands-on demo so the syntax lands before you write any.</a:t>
            </a:r>
            <a:endParaRPr lang="en-US" sz="1250" dirty="0"/>
          </a:p>
        </p:txBody>
      </p:sp>
      <p:pic>
        <p:nvPicPr>
          <p:cNvPr id="14" name="Image 3" descr="preencoded.png">    </p:cNvPr>
          <p:cNvPicPr>
            <a:picLocks noChangeAspect="1"/>
          </p:cNvPicPr>
          <p:nvPr/>
        </p:nvPicPr>
        <p:blipFill>
          <a:blip r:embed="rId4"/>
          <a:stretch>
            <a:fillRect/>
          </a:stretch>
        </p:blipFill>
        <p:spPr>
          <a:xfrm>
            <a:off x="8275320" y="3017520"/>
            <a:ext cx="228600" cy="228600"/>
          </a:xfrm>
          <a:prstGeom prst="rect">
            <a:avLst/>
          </a:prstGeom>
        </p:spPr>
      </p:pic>
      <p:sp>
        <p:nvSpPr>
          <p:cNvPr id="15" name="Shape 9"/>
          <p:cNvSpPr/>
          <p:nvPr/>
        </p:nvSpPr>
        <p:spPr>
          <a:xfrm>
            <a:off x="8458200" y="1737360"/>
            <a:ext cx="3611880" cy="3017520"/>
          </a:xfrm>
          <a:prstGeom prst="rect">
            <a:avLst/>
          </a:prstGeom>
          <a:solidFill>
            <a:srgbClr val="FFFFFF"/>
          </a:solidFill>
          <a:ln w="12700">
            <a:solidFill>
              <a:srgbClr val="E2E8F0"/>
            </a:solidFill>
            <a:prstDash val="solid"/>
          </a:ln>
        </p:spPr>
      </p:sp>
      <p:pic>
        <p:nvPicPr>
          <p:cNvPr id="16" name="Image 4" descr="preencoded.png">    </p:cNvPr>
          <p:cNvPicPr>
            <a:picLocks noChangeAspect="1"/>
          </p:cNvPicPr>
          <p:nvPr/>
        </p:nvPicPr>
        <p:blipFill>
          <a:blip r:embed="rId5"/>
          <a:stretch>
            <a:fillRect/>
          </a:stretch>
        </p:blipFill>
        <p:spPr>
          <a:xfrm>
            <a:off x="8732520" y="1920240"/>
            <a:ext cx="640080" cy="640080"/>
          </a:xfrm>
          <a:prstGeom prst="rect">
            <a:avLst/>
          </a:prstGeom>
        </p:spPr>
      </p:pic>
      <p:sp>
        <p:nvSpPr>
          <p:cNvPr id="17" name="Text 10"/>
          <p:cNvSpPr/>
          <p:nvPr/>
        </p:nvSpPr>
        <p:spPr>
          <a:xfrm>
            <a:off x="8732520" y="2697480"/>
            <a:ext cx="3200400" cy="45720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Lab</a:t>
            </a:r>
            <a:endParaRPr lang="en-US" sz="2200" dirty="0"/>
          </a:p>
        </p:txBody>
      </p:sp>
      <p:sp>
        <p:nvSpPr>
          <p:cNvPr id="18" name="Text 11"/>
          <p:cNvSpPr/>
          <p:nvPr/>
        </p:nvSpPr>
        <p:spPr>
          <a:xfrm>
            <a:off x="8732520" y="3200400"/>
            <a:ext cx="3200400" cy="14630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60-90 min hands-on. Every lab has a stretch task for fast finishers.</a:t>
            </a:r>
            <a:endParaRPr lang="en-US" sz="1250" dirty="0"/>
          </a:p>
        </p:txBody>
      </p:sp>
      <p:sp>
        <p:nvSpPr>
          <p:cNvPr id="19" name="Shape 12"/>
          <p:cNvSpPr/>
          <p:nvPr/>
        </p:nvSpPr>
        <p:spPr>
          <a:xfrm>
            <a:off x="777240" y="5029200"/>
            <a:ext cx="10607040" cy="1280160"/>
          </a:xfrm>
          <a:prstGeom prst="rect">
            <a:avLst/>
          </a:prstGeom>
          <a:solidFill>
            <a:srgbClr val="CBF1F6"/>
          </a:solidFill>
          <a:ln w="12700">
            <a:solidFill>
              <a:srgbClr val="CBF1F6"/>
            </a:solidFill>
            <a:prstDash val="solid"/>
          </a:ln>
        </p:spPr>
      </p:sp>
      <p:sp>
        <p:nvSpPr>
          <p:cNvPr id="20" name="Text 13"/>
          <p:cNvSpPr/>
          <p:nvPr/>
        </p:nvSpPr>
        <p:spPr>
          <a:xfrm>
            <a:off x="1097280" y="5166360"/>
            <a:ext cx="10241280" cy="1005840"/>
          </a:xfrm>
          <a:prstGeom prst="rect">
            <a:avLst/>
          </a:prstGeom>
          <a:noFill/>
          <a:ln/>
        </p:spPr>
        <p:txBody>
          <a:bodyPr wrap="square" lIns="0" tIns="0" rIns="0" bIns="0" rtlCol="0" anchor="ctr"/>
          <a:lstStyle/>
          <a:p>
            <a:pPr indent="0" marL="0">
              <a:buNone/>
            </a:pPr>
            <a:r>
              <a:rPr lang="en-US" sz="4400" b="1" dirty="0">
                <a:solidFill>
                  <a:srgbClr val="0F172A"/>
                </a:solidFill>
                <a:latin typeface="Trebuchet MS" pitchFamily="34" charset="0"/>
                <a:ea typeface="Trebuchet MS" pitchFamily="34" charset="-122"/>
                <a:cs typeface="Trebuchet MS" pitchFamily="34" charset="-120"/>
              </a:rPr>
              <a:t>51%</a:t>
            </a:r>
            <a:pPr indent="0" marL="0">
              <a:buNone/>
            </a:pPr>
            <a:r>
              <a:rPr lang="en-US" sz="1800" dirty="0">
                <a:solidFill>
                  <a:srgbClr val="475569"/>
                </a:solidFill>
                <a:latin typeface="Arial" pitchFamily="34" charset="0"/>
                <a:ea typeface="Arial" pitchFamily="34" charset="-122"/>
                <a:cs typeface="Arial" pitchFamily="34" charset="-120"/>
              </a:rPr>
              <a:t>  hands-on labs across the course</a:t>
            </a:r>
            <a:endParaRPr lang="en-US" sz="4400" dirty="0"/>
          </a:p>
        </p:txBody>
      </p:sp>
      <p:sp>
        <p:nvSpPr>
          <p:cNvPr id="21" name="Text 1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5"/>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lab repo</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Clone it now if you haven't already.</a:t>
            </a:r>
            <a:endParaRPr lang="en-US" sz="1400" dirty="0"/>
          </a:p>
        </p:txBody>
      </p:sp>
      <p:sp>
        <p:nvSpPr>
          <p:cNvPr id="5" name="Shape 3"/>
          <p:cNvSpPr/>
          <p:nvPr/>
        </p:nvSpPr>
        <p:spPr>
          <a:xfrm>
            <a:off x="777240" y="1645920"/>
            <a:ext cx="10607040" cy="1463040"/>
          </a:xfrm>
          <a:prstGeom prst="rect">
            <a:avLst/>
          </a:prstGeom>
          <a:solidFill>
            <a:srgbClr val="1E2A47"/>
          </a:solidFill>
          <a:ln w="12700">
            <a:solidFill>
              <a:srgbClr val="1E2A47"/>
            </a:solidFill>
            <a:prstDash val="solid"/>
          </a:ln>
        </p:spPr>
      </p:sp>
      <p:pic>
        <p:nvPicPr>
          <p:cNvPr id="6" name="Image 0" descr="preencoded.png">    </p:cNvPr>
          <p:cNvPicPr>
            <a:picLocks noChangeAspect="1"/>
          </p:cNvPicPr>
          <p:nvPr/>
        </p:nvPicPr>
        <p:blipFill>
          <a:blip r:embed="rId1"/>
          <a:stretch>
            <a:fillRect/>
          </a:stretch>
        </p:blipFill>
        <p:spPr>
          <a:xfrm>
            <a:off x="1005840" y="1874520"/>
            <a:ext cx="914400" cy="914400"/>
          </a:xfrm>
          <a:prstGeom prst="rect">
            <a:avLst/>
          </a:prstGeom>
        </p:spPr>
      </p:pic>
      <p:sp>
        <p:nvSpPr>
          <p:cNvPr id="7" name="Text 4"/>
          <p:cNvSpPr/>
          <p:nvPr/>
        </p:nvSpPr>
        <p:spPr>
          <a:xfrm>
            <a:off x="2194560" y="1828800"/>
            <a:ext cx="9144000" cy="548640"/>
          </a:xfrm>
          <a:prstGeom prst="rect">
            <a:avLst/>
          </a:prstGeom>
          <a:noFill/>
          <a:ln/>
        </p:spPr>
        <p:txBody>
          <a:bodyPr wrap="square" lIns="0" tIns="0" rIns="0" bIns="0" rtlCol="0" anchor="t"/>
          <a:lstStyle/>
          <a:p>
            <a:pPr indent="0" marL="0">
              <a:buNone/>
            </a:pPr>
            <a:r>
              <a:rPr lang="en-US" sz="2200" b="1" dirty="0">
                <a:solidFill>
                  <a:srgbClr val="FFFFFF"/>
                </a:solidFill>
                <a:latin typeface="Courier New" pitchFamily="34" charset="0"/>
                <a:ea typeface="Courier New" pitchFamily="34" charset="-122"/>
                <a:cs typeface="Courier New" pitchFamily="34" charset="-120"/>
              </a:rPr>
              <a:t>github.com/chrisminnick/advanced-react-19</a:t>
            </a:r>
            <a:endParaRPr lang="en-US" sz="2200" dirty="0"/>
          </a:p>
        </p:txBody>
      </p:sp>
      <p:sp>
        <p:nvSpPr>
          <p:cNvPr id="8" name="Text 5"/>
          <p:cNvSpPr/>
          <p:nvPr/>
        </p:nvSpPr>
        <p:spPr>
          <a:xfrm>
            <a:off x="2194560" y="2377440"/>
            <a:ext cx="9144000" cy="457200"/>
          </a:xfrm>
          <a:prstGeom prst="rect">
            <a:avLst/>
          </a:prstGeom>
          <a:noFill/>
          <a:ln/>
        </p:spPr>
        <p:txBody>
          <a:bodyPr wrap="square" lIns="0" tIns="0" rIns="0" bIns="0" rtlCol="0" anchor="ctr"/>
          <a:lstStyle/>
          <a:p>
            <a:pPr indent="0" marL="0">
              <a:buNone/>
            </a:pPr>
            <a:r>
              <a:rPr lang="en-US" sz="1300" i="1" dirty="0">
                <a:solidFill>
                  <a:srgbClr val="CBF1F6"/>
                </a:solidFill>
                <a:latin typeface="Arial" pitchFamily="34" charset="0"/>
                <a:ea typeface="Arial" pitchFamily="34" charset="-122"/>
                <a:cs typeface="Arial" pitchFamily="34" charset="-120"/>
              </a:rPr>
              <a:t>Version 2.0   ·   Lab starters in lab-files/lab-01 .. lab-08   ·   Reference solutions in solutions/</a:t>
            </a:r>
            <a:endParaRPr lang="en-US" sz="1300" dirty="0"/>
          </a:p>
        </p:txBody>
      </p:sp>
      <p:sp>
        <p:nvSpPr>
          <p:cNvPr id="9" name="Shape 6"/>
          <p:cNvSpPr/>
          <p:nvPr/>
        </p:nvSpPr>
        <p:spPr>
          <a:xfrm>
            <a:off x="777240" y="3383280"/>
            <a:ext cx="3611880" cy="24688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1005840" y="3566160"/>
            <a:ext cx="502920" cy="502920"/>
          </a:xfrm>
          <a:prstGeom prst="rect">
            <a:avLst/>
          </a:prstGeom>
        </p:spPr>
      </p:pic>
      <p:sp>
        <p:nvSpPr>
          <p:cNvPr id="11" name="Text 7"/>
          <p:cNvSpPr/>
          <p:nvPr/>
        </p:nvSpPr>
        <p:spPr>
          <a:xfrm>
            <a:off x="164592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Starter projects</a:t>
            </a:r>
            <a:endParaRPr lang="en-US" sz="1400" dirty="0"/>
          </a:p>
        </p:txBody>
      </p:sp>
      <p:sp>
        <p:nvSpPr>
          <p:cNvPr id="12" name="Text 8"/>
          <p:cNvSpPr/>
          <p:nvPr/>
        </p:nvSpPr>
        <p:spPr>
          <a:xfrm>
            <a:off x="100584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Per-lab folders in lab-files/lab-01 through lab-08 — each fully self-contained</a:t>
            </a:r>
            <a:endParaRPr lang="en-US" sz="1200" dirty="0"/>
          </a:p>
        </p:txBody>
      </p:sp>
      <p:sp>
        <p:nvSpPr>
          <p:cNvPr id="13" name="Shape 9"/>
          <p:cNvSpPr/>
          <p:nvPr/>
        </p:nvSpPr>
        <p:spPr>
          <a:xfrm>
            <a:off x="4617720" y="3383280"/>
            <a:ext cx="3611880" cy="24688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4846320" y="3566160"/>
            <a:ext cx="502920" cy="502920"/>
          </a:xfrm>
          <a:prstGeom prst="rect">
            <a:avLst/>
          </a:prstGeom>
        </p:spPr>
      </p:pic>
      <p:sp>
        <p:nvSpPr>
          <p:cNvPr id="15" name="Text 10"/>
          <p:cNvSpPr/>
          <p:nvPr/>
        </p:nvSpPr>
        <p:spPr>
          <a:xfrm>
            <a:off x="548640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Reference solutions</a:t>
            </a:r>
            <a:endParaRPr lang="en-US" sz="1400" dirty="0"/>
          </a:p>
        </p:txBody>
      </p:sp>
      <p:sp>
        <p:nvSpPr>
          <p:cNvPr id="16" name="Text 11"/>
          <p:cNvSpPr/>
          <p:nvPr/>
        </p:nvSpPr>
        <p:spPr>
          <a:xfrm>
            <a:off x="484632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One folder per lab under solutions/ — sometimes more than one when there's a pick-your-tool moment</a:t>
            </a:r>
            <a:endParaRPr lang="en-US" sz="1200" dirty="0"/>
          </a:p>
        </p:txBody>
      </p:sp>
      <p:sp>
        <p:nvSpPr>
          <p:cNvPr id="17" name="Shape 12"/>
          <p:cNvSpPr/>
          <p:nvPr/>
        </p:nvSpPr>
        <p:spPr>
          <a:xfrm>
            <a:off x="8458200" y="3383280"/>
            <a:ext cx="3611880" cy="24688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8686800" y="3566160"/>
            <a:ext cx="502920" cy="502920"/>
          </a:xfrm>
          <a:prstGeom prst="rect">
            <a:avLst/>
          </a:prstGeom>
        </p:spPr>
      </p:pic>
      <p:sp>
        <p:nvSpPr>
          <p:cNvPr id="19" name="Text 13"/>
          <p:cNvSpPr/>
          <p:nvPr/>
        </p:nvSpPr>
        <p:spPr>
          <a:xfrm>
            <a:off x="9326880" y="3566160"/>
            <a:ext cx="274320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Per-project READMEs</a:t>
            </a:r>
            <a:endParaRPr lang="en-US" sz="1400" dirty="0"/>
          </a:p>
        </p:txBody>
      </p:sp>
      <p:sp>
        <p:nvSpPr>
          <p:cNvPr id="20" name="Text 14"/>
          <p:cNvSpPr/>
          <p:nvPr/>
        </p:nvSpPr>
        <p:spPr>
          <a:xfrm>
            <a:off x="8686800" y="4206240"/>
            <a:ext cx="3291840" cy="1554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Setup, run instructions, and what each lab folder contains</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assistants in this course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Tool-agnostic. Use what you use.</a:t>
            </a:r>
            <a:endParaRPr lang="en-US" sz="1400" dirty="0"/>
          </a:p>
        </p:txBody>
      </p:sp>
      <p:sp>
        <p:nvSpPr>
          <p:cNvPr id="5" name="Shape 3"/>
          <p:cNvSpPr/>
          <p:nvPr/>
        </p:nvSpPr>
        <p:spPr>
          <a:xfrm>
            <a:off x="777240" y="1691640"/>
            <a:ext cx="5349240" cy="4206240"/>
          </a:xfrm>
          <a:prstGeom prst="rect">
            <a:avLst/>
          </a:prstGeom>
          <a:solidFill>
            <a:srgbClr val="FFFFFF"/>
          </a:solidFill>
          <a:ln w="12700">
            <a:solidFill>
              <a:srgbClr val="E2E8F0"/>
            </a:solidFill>
            <a:prstDash val="solid"/>
          </a:ln>
        </p:spPr>
      </p:sp>
      <p:sp>
        <p:nvSpPr>
          <p:cNvPr id="6" name="Text 4"/>
          <p:cNvSpPr/>
          <p:nvPr/>
        </p:nvSpPr>
        <p:spPr>
          <a:xfrm>
            <a:off x="960120" y="1874520"/>
            <a:ext cx="5029200" cy="457200"/>
          </a:xfrm>
          <a:prstGeom prst="rect">
            <a:avLst/>
          </a:prstGeom>
          <a:noFill/>
          <a:ln/>
        </p:spPr>
        <p:txBody>
          <a:bodyPr wrap="square" lIns="0" tIns="0" rIns="0" bIns="0" rtlCol="0" anchor="ctr"/>
          <a:lstStyle/>
          <a:p>
            <a:pPr indent="0" marL="0">
              <a:buNone/>
            </a:pPr>
            <a:r>
              <a:rPr lang="en-US" sz="1800" b="1" dirty="0">
                <a:solidFill>
                  <a:srgbClr val="059669"/>
                </a:solidFill>
                <a:latin typeface="Trebuchet MS" pitchFamily="34" charset="0"/>
                <a:ea typeface="Trebuchet MS" pitchFamily="34" charset="-122"/>
                <a:cs typeface="Trebuchet MS" pitchFamily="34" charset="-120"/>
              </a:rPr>
              <a:t>What we're doing</a:t>
            </a:r>
            <a:endParaRPr lang="en-US" sz="1800" dirty="0"/>
          </a:p>
        </p:txBody>
      </p:sp>
      <p:sp>
        <p:nvSpPr>
          <p:cNvPr id="7" name="Text 5"/>
          <p:cNvSpPr/>
          <p:nvPr/>
        </p:nvSpPr>
        <p:spPr>
          <a:xfrm>
            <a:off x="960120" y="2514600"/>
            <a:ext cx="502920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Treating AI as a real part of the workflow — every day</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Building review skills: spotting what AI gets wrong about React</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A focused module on Day 3 about working with AI well</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Comparing tools when it's instructive, but not picking favorites</a:t>
            </a:r>
            <a:endParaRPr lang="en-US" sz="1300" dirty="0"/>
          </a:p>
        </p:txBody>
      </p:sp>
      <p:sp>
        <p:nvSpPr>
          <p:cNvPr id="8" name="Shape 6"/>
          <p:cNvSpPr/>
          <p:nvPr/>
        </p:nvSpPr>
        <p:spPr>
          <a:xfrm>
            <a:off x="6355080" y="1691640"/>
            <a:ext cx="5029200" cy="4206240"/>
          </a:xfrm>
          <a:prstGeom prst="rect">
            <a:avLst/>
          </a:prstGeom>
          <a:solidFill>
            <a:srgbClr val="FFFFFF"/>
          </a:solidFill>
          <a:ln w="12700">
            <a:solidFill>
              <a:srgbClr val="E2E8F0"/>
            </a:solidFill>
            <a:prstDash val="solid"/>
          </a:ln>
        </p:spPr>
      </p:sp>
      <p:sp>
        <p:nvSpPr>
          <p:cNvPr id="9" name="Text 7"/>
          <p:cNvSpPr/>
          <p:nvPr/>
        </p:nvSpPr>
        <p:spPr>
          <a:xfrm>
            <a:off x="6537960" y="1874520"/>
            <a:ext cx="4754880" cy="457200"/>
          </a:xfrm>
          <a:prstGeom prst="rect">
            <a:avLst/>
          </a:prstGeom>
          <a:noFill/>
          <a:ln/>
        </p:spPr>
        <p:txBody>
          <a:bodyPr wrap="square" lIns="0" tIns="0" rIns="0" bIns="0" rtlCol="0" anchor="ctr"/>
          <a:lstStyle/>
          <a:p>
            <a:pPr indent="0" marL="0">
              <a:buNone/>
            </a:pPr>
            <a:r>
              <a:rPr lang="en-US" sz="1800" b="1" dirty="0">
                <a:solidFill>
                  <a:srgbClr val="DC2626"/>
                </a:solidFill>
                <a:latin typeface="Trebuchet MS" pitchFamily="34" charset="0"/>
                <a:ea typeface="Trebuchet MS" pitchFamily="34" charset="-122"/>
                <a:cs typeface="Trebuchet MS" pitchFamily="34" charset="-120"/>
              </a:rPr>
              <a:t>What we're not doing</a:t>
            </a:r>
            <a:endParaRPr lang="en-US" sz="1800" dirty="0"/>
          </a:p>
        </p:txBody>
      </p:sp>
      <p:sp>
        <p:nvSpPr>
          <p:cNvPr id="10" name="Text 8"/>
          <p:cNvSpPr/>
          <p:nvPr/>
        </p:nvSpPr>
        <p:spPr>
          <a:xfrm>
            <a:off x="6537960" y="251460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Banning AI in labs — that would be teaching to a 2022 reality</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Required tooling — bring Cursor, Copilot, Claude Code, or whatever</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Treating AI output as authoritative — we'll review every line</a:t>
            </a:r>
            <a:endParaRPr lang="en-US" sz="1300" dirty="0"/>
          </a:p>
          <a:p>
            <a:pPr marL="342900" indent="-342900">
              <a:spcAft>
                <a:spcPts val="800"/>
              </a:spcAft>
              <a:buSzPct val="100000"/>
              <a:buChar char="•"/>
            </a:pPr>
            <a:r>
              <a:rPr lang="en-US" sz="1300" dirty="0">
                <a:solidFill>
                  <a:srgbClr val="475569"/>
                </a:solidFill>
                <a:latin typeface="Arial" pitchFamily="34" charset="0"/>
                <a:ea typeface="Arial" pitchFamily="34" charset="-122"/>
                <a:cs typeface="Arial" pitchFamily="34" charset="-120"/>
              </a:rPr>
              <a:t>Pretending AI replaces understanding the framework</a:t>
            </a:r>
            <a:endParaRPr lang="en-US" sz="130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1</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The 2026 React Landscape</a:t>
            </a:r>
            <a:endParaRPr lang="en-US" sz="48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React 19, the Compiler, frameworks, and the AI layer on top.</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we left off — React 18</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Released March 2022. The era most production code is still written for.</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19072"/>
            <a:ext cx="548640" cy="548640"/>
          </a:xfrm>
          <a:prstGeom prst="rect">
            <a:avLst/>
          </a:prstGeom>
        </p:spPr>
      </p:pic>
      <p:sp>
        <p:nvSpPr>
          <p:cNvPr id="7" name="Text 4"/>
          <p:cNvSpPr/>
          <p:nvPr/>
        </p:nvSpPr>
        <p:spPr>
          <a:xfrm>
            <a:off x="1691640" y="164592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Concurrent rendering</a:t>
            </a:r>
            <a:endParaRPr lang="en-US" sz="1500" dirty="0"/>
          </a:p>
        </p:txBody>
      </p:sp>
      <p:sp>
        <p:nvSpPr>
          <p:cNvPr id="8" name="Text 5"/>
          <p:cNvSpPr/>
          <p:nvPr/>
        </p:nvSpPr>
        <p:spPr>
          <a:xfrm>
            <a:off x="1691640" y="196596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Suspense for code splitting, useTransition, useDeferredValue</a:t>
            </a:r>
            <a:endParaRPr lang="en-US" sz="1200" dirty="0"/>
          </a:p>
        </p:txBody>
      </p:sp>
      <p:sp>
        <p:nvSpPr>
          <p:cNvPr id="9" name="Shape 6"/>
          <p:cNvSpPr/>
          <p:nvPr/>
        </p:nvSpPr>
        <p:spPr>
          <a:xfrm>
            <a:off x="777240" y="260604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770632"/>
            <a:ext cx="548640" cy="548640"/>
          </a:xfrm>
          <a:prstGeom prst="rect">
            <a:avLst/>
          </a:prstGeom>
        </p:spPr>
      </p:pic>
      <p:sp>
        <p:nvSpPr>
          <p:cNvPr id="11" name="Text 7"/>
          <p:cNvSpPr/>
          <p:nvPr/>
        </p:nvSpPr>
        <p:spPr>
          <a:xfrm>
            <a:off x="1691640" y="269748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Automatic batching</a:t>
            </a:r>
            <a:endParaRPr lang="en-US" sz="1500" dirty="0"/>
          </a:p>
        </p:txBody>
      </p:sp>
      <p:sp>
        <p:nvSpPr>
          <p:cNvPr id="12" name="Text 8"/>
          <p:cNvSpPr/>
          <p:nvPr/>
        </p:nvSpPr>
        <p:spPr>
          <a:xfrm>
            <a:off x="1691640" y="301752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Promise callbacks, timeouts, and native handlers all batch updates</a:t>
            </a:r>
            <a:endParaRPr lang="en-US" sz="1200" dirty="0"/>
          </a:p>
        </p:txBody>
      </p:sp>
      <p:sp>
        <p:nvSpPr>
          <p:cNvPr id="13" name="Shape 9"/>
          <p:cNvSpPr/>
          <p:nvPr/>
        </p:nvSpPr>
        <p:spPr>
          <a:xfrm>
            <a:off x="777240" y="365760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822192"/>
            <a:ext cx="548640" cy="548640"/>
          </a:xfrm>
          <a:prstGeom prst="rect">
            <a:avLst/>
          </a:prstGeom>
        </p:spPr>
      </p:pic>
      <p:sp>
        <p:nvSpPr>
          <p:cNvPr id="15" name="Text 10"/>
          <p:cNvSpPr/>
          <p:nvPr/>
        </p:nvSpPr>
        <p:spPr>
          <a:xfrm>
            <a:off x="1691640" y="374904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Streaming SSR</a:t>
            </a:r>
            <a:endParaRPr lang="en-US" sz="1500" dirty="0"/>
          </a:p>
        </p:txBody>
      </p:sp>
      <p:sp>
        <p:nvSpPr>
          <p:cNvPr id="16" name="Text 11"/>
          <p:cNvSpPr/>
          <p:nvPr/>
        </p:nvSpPr>
        <p:spPr>
          <a:xfrm>
            <a:off x="1691640" y="406908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renderToPipeableStream — but you wired everything yourself</a:t>
            </a:r>
            <a:endParaRPr lang="en-US" sz="1200" dirty="0"/>
          </a:p>
        </p:txBody>
      </p:sp>
      <p:sp>
        <p:nvSpPr>
          <p:cNvPr id="17" name="Shape 12"/>
          <p:cNvSpPr/>
          <p:nvPr/>
        </p:nvSpPr>
        <p:spPr>
          <a:xfrm>
            <a:off x="777240" y="470916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873752"/>
            <a:ext cx="548640" cy="548640"/>
          </a:xfrm>
          <a:prstGeom prst="rect">
            <a:avLst/>
          </a:prstGeom>
        </p:spPr>
      </p:pic>
      <p:sp>
        <p:nvSpPr>
          <p:cNvPr id="19" name="Text 13"/>
          <p:cNvSpPr/>
          <p:nvPr/>
        </p:nvSpPr>
        <p:spPr>
          <a:xfrm>
            <a:off x="1691640" y="4800600"/>
            <a:ext cx="960120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useId, useSyncExternalStore</a:t>
            </a:r>
            <a:endParaRPr lang="en-US" sz="1500" dirty="0"/>
          </a:p>
        </p:txBody>
      </p:sp>
      <p:sp>
        <p:nvSpPr>
          <p:cNvPr id="20" name="Text 14"/>
          <p:cNvSpPr/>
          <p:nvPr/>
        </p:nvSpPr>
        <p:spPr>
          <a:xfrm>
            <a:off x="1691640" y="5120640"/>
            <a:ext cx="9601200" cy="41148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Hydration-safe IDs and clean integration with non-React state</a:t>
            </a:r>
            <a:endParaRPr lang="en-US" sz="120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 19 — what shipped, when</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From experimental Server Components to a stable platform.</a:t>
            </a:r>
            <a:endParaRPr lang="en-US" sz="1400" dirty="0"/>
          </a:p>
        </p:txBody>
      </p:sp>
      <p:sp>
        <p:nvSpPr>
          <p:cNvPr id="5" name="Shape 3"/>
          <p:cNvSpPr/>
          <p:nvPr/>
        </p:nvSpPr>
        <p:spPr>
          <a:xfrm>
            <a:off x="1417320" y="3108960"/>
            <a:ext cx="9326880" cy="36576"/>
          </a:xfrm>
          <a:prstGeom prst="rect">
            <a:avLst/>
          </a:prstGeom>
          <a:solidFill>
            <a:srgbClr val="00B8D9"/>
          </a:solidFill>
          <a:ln w="12700">
            <a:solidFill>
              <a:srgbClr val="00B8D9"/>
            </a:solidFill>
            <a:prstDash val="solid"/>
          </a:ln>
        </p:spPr>
      </p:sp>
      <p:sp>
        <p:nvSpPr>
          <p:cNvPr id="6" name="Shape 4"/>
          <p:cNvSpPr/>
          <p:nvPr/>
        </p:nvSpPr>
        <p:spPr>
          <a:xfrm>
            <a:off x="1417320" y="2990088"/>
            <a:ext cx="274320" cy="274320"/>
          </a:xfrm>
          <a:prstGeom prst="ellipse">
            <a:avLst/>
          </a:prstGeom>
          <a:solidFill>
            <a:srgbClr val="00B8D9"/>
          </a:solidFill>
          <a:ln w="12700">
            <a:solidFill>
              <a:srgbClr val="1E2A47"/>
            </a:solidFill>
            <a:prstDash val="solid"/>
          </a:ln>
        </p:spPr>
      </p:sp>
      <p:sp>
        <p:nvSpPr>
          <p:cNvPr id="7" name="Text 5"/>
          <p:cNvSpPr/>
          <p:nvPr/>
        </p:nvSpPr>
        <p:spPr>
          <a:xfrm>
            <a:off x="32004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March 2022</a:t>
            </a:r>
            <a:endParaRPr lang="en-US" sz="1200" dirty="0"/>
          </a:p>
        </p:txBody>
      </p:sp>
      <p:sp>
        <p:nvSpPr>
          <p:cNvPr id="8" name="Text 6"/>
          <p:cNvSpPr/>
          <p:nvPr/>
        </p:nvSpPr>
        <p:spPr>
          <a:xfrm>
            <a:off x="32004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18 stable</a:t>
            </a:r>
            <a:endParaRPr lang="en-US" sz="1100" dirty="0"/>
          </a:p>
        </p:txBody>
      </p:sp>
      <p:sp>
        <p:nvSpPr>
          <p:cNvPr id="9" name="Shape 7"/>
          <p:cNvSpPr/>
          <p:nvPr/>
        </p:nvSpPr>
        <p:spPr>
          <a:xfrm>
            <a:off x="3749040" y="2990088"/>
            <a:ext cx="274320" cy="274320"/>
          </a:xfrm>
          <a:prstGeom prst="ellipse">
            <a:avLst/>
          </a:prstGeom>
          <a:solidFill>
            <a:srgbClr val="00B8D9"/>
          </a:solidFill>
          <a:ln w="12700">
            <a:solidFill>
              <a:srgbClr val="1E2A47"/>
            </a:solidFill>
            <a:prstDash val="solid"/>
          </a:ln>
        </p:spPr>
      </p:sp>
      <p:sp>
        <p:nvSpPr>
          <p:cNvPr id="10" name="Text 8"/>
          <p:cNvSpPr/>
          <p:nvPr/>
        </p:nvSpPr>
        <p:spPr>
          <a:xfrm>
            <a:off x="265176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Late 2023</a:t>
            </a:r>
            <a:endParaRPr lang="en-US" sz="1200" dirty="0"/>
          </a:p>
        </p:txBody>
      </p:sp>
      <p:sp>
        <p:nvSpPr>
          <p:cNvPr id="11" name="Text 9"/>
          <p:cNvSpPr/>
          <p:nvPr/>
        </p:nvSpPr>
        <p:spPr>
          <a:xfrm>
            <a:off x="265176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Server Components in canary</a:t>
            </a:r>
            <a:endParaRPr lang="en-US" sz="1100" dirty="0"/>
          </a:p>
        </p:txBody>
      </p:sp>
      <p:sp>
        <p:nvSpPr>
          <p:cNvPr id="12" name="Shape 10"/>
          <p:cNvSpPr/>
          <p:nvPr/>
        </p:nvSpPr>
        <p:spPr>
          <a:xfrm>
            <a:off x="6080760" y="2990088"/>
            <a:ext cx="274320" cy="274320"/>
          </a:xfrm>
          <a:prstGeom prst="ellipse">
            <a:avLst/>
          </a:prstGeom>
          <a:solidFill>
            <a:srgbClr val="00B8D9"/>
          </a:solidFill>
          <a:ln w="12700">
            <a:solidFill>
              <a:srgbClr val="1E2A47"/>
            </a:solidFill>
            <a:prstDash val="solid"/>
          </a:ln>
        </p:spPr>
      </p:sp>
      <p:sp>
        <p:nvSpPr>
          <p:cNvPr id="13" name="Text 11"/>
          <p:cNvSpPr/>
          <p:nvPr/>
        </p:nvSpPr>
        <p:spPr>
          <a:xfrm>
            <a:off x="498348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April 2024</a:t>
            </a:r>
            <a:endParaRPr lang="en-US" sz="1200" dirty="0"/>
          </a:p>
        </p:txBody>
      </p:sp>
      <p:sp>
        <p:nvSpPr>
          <p:cNvPr id="14" name="Text 12"/>
          <p:cNvSpPr/>
          <p:nvPr/>
        </p:nvSpPr>
        <p:spPr>
          <a:xfrm>
            <a:off x="498348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19 RC announced</a:t>
            </a:r>
            <a:endParaRPr lang="en-US" sz="1100" dirty="0"/>
          </a:p>
        </p:txBody>
      </p:sp>
      <p:sp>
        <p:nvSpPr>
          <p:cNvPr id="15" name="Shape 13"/>
          <p:cNvSpPr/>
          <p:nvPr/>
        </p:nvSpPr>
        <p:spPr>
          <a:xfrm>
            <a:off x="8412480" y="2990088"/>
            <a:ext cx="274320" cy="274320"/>
          </a:xfrm>
          <a:prstGeom prst="ellipse">
            <a:avLst/>
          </a:prstGeom>
          <a:solidFill>
            <a:srgbClr val="00B8D9"/>
          </a:solidFill>
          <a:ln w="12700">
            <a:solidFill>
              <a:srgbClr val="1E2A47"/>
            </a:solidFill>
            <a:prstDash val="solid"/>
          </a:ln>
        </p:spPr>
      </p:sp>
      <p:sp>
        <p:nvSpPr>
          <p:cNvPr id="16" name="Text 14"/>
          <p:cNvSpPr/>
          <p:nvPr/>
        </p:nvSpPr>
        <p:spPr>
          <a:xfrm>
            <a:off x="731520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Dec 5, 2024</a:t>
            </a:r>
            <a:endParaRPr lang="en-US" sz="1200" dirty="0"/>
          </a:p>
        </p:txBody>
      </p:sp>
      <p:sp>
        <p:nvSpPr>
          <p:cNvPr id="17" name="Text 15"/>
          <p:cNvSpPr/>
          <p:nvPr/>
        </p:nvSpPr>
        <p:spPr>
          <a:xfrm>
            <a:off x="731520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React 19 stable</a:t>
            </a:r>
            <a:endParaRPr lang="en-US" sz="1100" dirty="0"/>
          </a:p>
        </p:txBody>
      </p:sp>
      <p:sp>
        <p:nvSpPr>
          <p:cNvPr id="18" name="Shape 16"/>
          <p:cNvSpPr/>
          <p:nvPr/>
        </p:nvSpPr>
        <p:spPr>
          <a:xfrm>
            <a:off x="10744200" y="2990088"/>
            <a:ext cx="274320" cy="274320"/>
          </a:xfrm>
          <a:prstGeom prst="ellipse">
            <a:avLst/>
          </a:prstGeom>
          <a:solidFill>
            <a:srgbClr val="00B8D9"/>
          </a:solidFill>
          <a:ln w="12700">
            <a:solidFill>
              <a:srgbClr val="1E2A47"/>
            </a:solidFill>
            <a:prstDash val="solid"/>
          </a:ln>
        </p:spPr>
      </p:sp>
      <p:sp>
        <p:nvSpPr>
          <p:cNvPr id="19" name="Text 17"/>
          <p:cNvSpPr/>
          <p:nvPr/>
        </p:nvSpPr>
        <p:spPr>
          <a:xfrm>
            <a:off x="9646920" y="2331720"/>
            <a:ext cx="2468880" cy="365760"/>
          </a:xfrm>
          <a:prstGeom prst="rect">
            <a:avLst/>
          </a:prstGeom>
          <a:noFill/>
          <a:ln/>
        </p:spPr>
        <p:txBody>
          <a:bodyPr wrap="square" lIns="0" tIns="0" rIns="0" bIns="0" rtlCol="0" anchor="ctr"/>
          <a:lstStyle/>
          <a:p>
            <a:pPr algn="ctr" indent="0" marL="0">
              <a:buNone/>
            </a:pPr>
            <a:r>
              <a:rPr lang="en-US" sz="1200" b="1" dirty="0">
                <a:solidFill>
                  <a:srgbClr val="0F172A"/>
                </a:solidFill>
                <a:latin typeface="Trebuchet MS" pitchFamily="34" charset="0"/>
                <a:ea typeface="Trebuchet MS" pitchFamily="34" charset="-122"/>
                <a:cs typeface="Trebuchet MS" pitchFamily="34" charset="-120"/>
              </a:rPr>
              <a:t>2025+</a:t>
            </a:r>
            <a:endParaRPr lang="en-US" sz="1200" dirty="0"/>
          </a:p>
        </p:txBody>
      </p:sp>
      <p:sp>
        <p:nvSpPr>
          <p:cNvPr id="20" name="Text 18"/>
          <p:cNvSpPr/>
          <p:nvPr/>
        </p:nvSpPr>
        <p:spPr>
          <a:xfrm>
            <a:off x="9646920" y="3383280"/>
            <a:ext cx="246888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Arial" pitchFamily="34" charset="0"/>
                <a:ea typeface="Arial" pitchFamily="34" charset="-122"/>
                <a:cs typeface="Arial" pitchFamily="34" charset="-120"/>
              </a:rPr>
              <a:t>Compiler GA, ecosystem catches up</a:t>
            </a:r>
            <a:endParaRPr lang="en-US" sz="1100" dirty="0"/>
          </a:p>
        </p:txBody>
      </p:sp>
      <p:sp>
        <p:nvSpPr>
          <p:cNvPr id="21" name="Shape 19"/>
          <p:cNvSpPr/>
          <p:nvPr/>
        </p:nvSpPr>
        <p:spPr>
          <a:xfrm>
            <a:off x="777240" y="4937760"/>
            <a:ext cx="10607040" cy="1280160"/>
          </a:xfrm>
          <a:prstGeom prst="rect">
            <a:avLst/>
          </a:prstGeom>
          <a:solidFill>
            <a:srgbClr val="CBF1F6"/>
          </a:solidFill>
          <a:ln w="12700">
            <a:solidFill>
              <a:srgbClr val="CBF1F6"/>
            </a:solidFill>
            <a:prstDash val="solid"/>
          </a:ln>
        </p:spPr>
      </p:sp>
      <p:sp>
        <p:nvSpPr>
          <p:cNvPr id="22" name="Text 20"/>
          <p:cNvSpPr/>
          <p:nvPr/>
        </p:nvSpPr>
        <p:spPr>
          <a:xfrm>
            <a:off x="1005840" y="4983480"/>
            <a:ext cx="10149840" cy="1188720"/>
          </a:xfrm>
          <a:prstGeom prst="rect">
            <a:avLst/>
          </a:prstGeom>
          <a:noFill/>
          <a:ln/>
        </p:spPr>
        <p:txBody>
          <a:bodyPr wrap="square" lIns="0" tIns="0" rIns="0" bIns="0" rtlCol="0" anchor="ctr"/>
          <a:lstStyle/>
          <a:p>
            <a:pPr indent="0" marL="0">
              <a:buNone/>
            </a:pPr>
            <a:r>
              <a:rPr lang="en-US" sz="1600" i="1" dirty="0">
                <a:solidFill>
                  <a:srgbClr val="0F172A"/>
                </a:solidFill>
                <a:latin typeface="Arial" pitchFamily="34" charset="0"/>
                <a:ea typeface="Arial" pitchFamily="34" charset="-122"/>
                <a:cs typeface="Arial" pitchFamily="34" charset="-120"/>
              </a:rPr>
              <a:t>React 19 is the first release with a coherent server story baked in. That's the headline.</a:t>
            </a:r>
            <a:endParaRPr lang="en-US" sz="1600" dirty="0"/>
          </a:p>
        </p:txBody>
      </p:sp>
      <p:sp>
        <p:nvSpPr>
          <p:cNvPr id="23"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4"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What's new in React 19</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touch each of these today. Hooks deep dive is next module.</a:t>
            </a:r>
            <a:endParaRPr lang="en-US" sz="1400" dirty="0"/>
          </a:p>
        </p:txBody>
      </p:sp>
      <p:sp>
        <p:nvSpPr>
          <p:cNvPr id="5" name="Shape 3"/>
          <p:cNvSpPr/>
          <p:nvPr/>
        </p:nvSpPr>
        <p:spPr>
          <a:xfrm>
            <a:off x="777240" y="1554480"/>
            <a:ext cx="3520440" cy="2011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05840" y="1783080"/>
            <a:ext cx="502920" cy="502920"/>
          </a:xfrm>
          <a:prstGeom prst="rect">
            <a:avLst/>
          </a:prstGeom>
        </p:spPr>
      </p:pic>
      <p:sp>
        <p:nvSpPr>
          <p:cNvPr id="7" name="Text 4"/>
          <p:cNvSpPr/>
          <p:nvPr/>
        </p:nvSpPr>
        <p:spPr>
          <a:xfrm>
            <a:off x="16459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Actions</a:t>
            </a:r>
            <a:endParaRPr lang="en-US" sz="1400" dirty="0"/>
          </a:p>
        </p:txBody>
      </p:sp>
      <p:sp>
        <p:nvSpPr>
          <p:cNvPr id="8" name="Text 5"/>
          <p:cNvSpPr/>
          <p:nvPr/>
        </p:nvSpPr>
        <p:spPr>
          <a:xfrm>
            <a:off x="10058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Functions you pass to &lt;form&gt; action props. Mutations + pending state without ceremony.</a:t>
            </a:r>
            <a:endParaRPr lang="en-US" sz="1150" dirty="0"/>
          </a:p>
        </p:txBody>
      </p:sp>
      <p:sp>
        <p:nvSpPr>
          <p:cNvPr id="9" name="Shape 6"/>
          <p:cNvSpPr/>
          <p:nvPr/>
        </p:nvSpPr>
        <p:spPr>
          <a:xfrm>
            <a:off x="4434840" y="1554480"/>
            <a:ext cx="3520440" cy="2011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4663440" y="1783080"/>
            <a:ext cx="502920" cy="502920"/>
          </a:xfrm>
          <a:prstGeom prst="rect">
            <a:avLst/>
          </a:prstGeom>
        </p:spPr>
      </p:pic>
      <p:sp>
        <p:nvSpPr>
          <p:cNvPr id="11" name="Text 7"/>
          <p:cNvSpPr/>
          <p:nvPr/>
        </p:nvSpPr>
        <p:spPr>
          <a:xfrm>
            <a:off x="53035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New hooks</a:t>
            </a:r>
            <a:endParaRPr lang="en-US" sz="1400" dirty="0"/>
          </a:p>
        </p:txBody>
      </p:sp>
      <p:sp>
        <p:nvSpPr>
          <p:cNvPr id="12" name="Text 8"/>
          <p:cNvSpPr/>
          <p:nvPr/>
        </p:nvSpPr>
        <p:spPr>
          <a:xfrm>
            <a:off x="46634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use(), useActionState, useFormStatus, useOptimistic — covered in Module 2.</a:t>
            </a:r>
            <a:endParaRPr lang="en-US" sz="1150" dirty="0"/>
          </a:p>
        </p:txBody>
      </p:sp>
      <p:sp>
        <p:nvSpPr>
          <p:cNvPr id="13" name="Shape 9"/>
          <p:cNvSpPr/>
          <p:nvPr/>
        </p:nvSpPr>
        <p:spPr>
          <a:xfrm>
            <a:off x="8092440" y="1554480"/>
            <a:ext cx="3520440" cy="2011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8321040" y="1783080"/>
            <a:ext cx="502920" cy="502920"/>
          </a:xfrm>
          <a:prstGeom prst="rect">
            <a:avLst/>
          </a:prstGeom>
        </p:spPr>
      </p:pic>
      <p:sp>
        <p:nvSpPr>
          <p:cNvPr id="15" name="Text 10"/>
          <p:cNvSpPr/>
          <p:nvPr/>
        </p:nvSpPr>
        <p:spPr>
          <a:xfrm>
            <a:off x="8961120" y="178308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ref as a prop</a:t>
            </a:r>
            <a:endParaRPr lang="en-US" sz="1400" dirty="0"/>
          </a:p>
        </p:txBody>
      </p:sp>
      <p:sp>
        <p:nvSpPr>
          <p:cNvPr id="16" name="Text 11"/>
          <p:cNvSpPr/>
          <p:nvPr/>
        </p:nvSpPr>
        <p:spPr>
          <a:xfrm>
            <a:off x="8321040" y="242316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forwardRef is no longer required. Pass ref like any other prop.</a:t>
            </a:r>
            <a:endParaRPr lang="en-US" sz="1150" dirty="0"/>
          </a:p>
        </p:txBody>
      </p:sp>
      <p:sp>
        <p:nvSpPr>
          <p:cNvPr id="17" name="Shape 12"/>
          <p:cNvSpPr/>
          <p:nvPr/>
        </p:nvSpPr>
        <p:spPr>
          <a:xfrm>
            <a:off x="777240" y="3749040"/>
            <a:ext cx="3520440" cy="2011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1005840" y="3977640"/>
            <a:ext cx="502920" cy="502920"/>
          </a:xfrm>
          <a:prstGeom prst="rect">
            <a:avLst/>
          </a:prstGeom>
        </p:spPr>
      </p:pic>
      <p:sp>
        <p:nvSpPr>
          <p:cNvPr id="19" name="Text 13"/>
          <p:cNvSpPr/>
          <p:nvPr/>
        </p:nvSpPr>
        <p:spPr>
          <a:xfrm>
            <a:off x="16459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Server Components</a:t>
            </a:r>
            <a:endParaRPr lang="en-US" sz="1400" dirty="0"/>
          </a:p>
        </p:txBody>
      </p:sp>
      <p:sp>
        <p:nvSpPr>
          <p:cNvPr id="20" name="Text 14"/>
          <p:cNvSpPr/>
          <p:nvPr/>
        </p:nvSpPr>
        <p:spPr>
          <a:xfrm>
            <a:off x="10058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Stable. Component code that runs only on the server. Module 6 covers this.</a:t>
            </a:r>
            <a:endParaRPr lang="en-US" sz="1150" dirty="0"/>
          </a:p>
        </p:txBody>
      </p:sp>
      <p:sp>
        <p:nvSpPr>
          <p:cNvPr id="21" name="Shape 15"/>
          <p:cNvSpPr/>
          <p:nvPr/>
        </p:nvSpPr>
        <p:spPr>
          <a:xfrm>
            <a:off x="4434840" y="3749040"/>
            <a:ext cx="3520440" cy="2011680"/>
          </a:xfrm>
          <a:prstGeom prst="rect">
            <a:avLst/>
          </a:prstGeom>
          <a:solidFill>
            <a:srgbClr val="FFFFFF"/>
          </a:solidFill>
          <a:ln w="12700">
            <a:solidFill>
              <a:srgbClr val="E2E8F0"/>
            </a:solidFill>
            <a:prstDash val="solid"/>
          </a:ln>
        </p:spPr>
      </p:sp>
      <p:pic>
        <p:nvPicPr>
          <p:cNvPr id="22" name="Image 4" descr="preencoded.png">    </p:cNvPr>
          <p:cNvPicPr>
            <a:picLocks noChangeAspect="1"/>
          </p:cNvPicPr>
          <p:nvPr/>
        </p:nvPicPr>
        <p:blipFill>
          <a:blip r:embed="rId5"/>
          <a:stretch>
            <a:fillRect/>
          </a:stretch>
        </p:blipFill>
        <p:spPr>
          <a:xfrm>
            <a:off x="4663440" y="3977640"/>
            <a:ext cx="502920" cy="502920"/>
          </a:xfrm>
          <a:prstGeom prst="rect">
            <a:avLst/>
          </a:prstGeom>
        </p:spPr>
      </p:pic>
      <p:sp>
        <p:nvSpPr>
          <p:cNvPr id="23" name="Text 16"/>
          <p:cNvSpPr/>
          <p:nvPr/>
        </p:nvSpPr>
        <p:spPr>
          <a:xfrm>
            <a:off x="53035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Asset preloading</a:t>
            </a:r>
            <a:endParaRPr lang="en-US" sz="1400" dirty="0"/>
          </a:p>
        </p:txBody>
      </p:sp>
      <p:sp>
        <p:nvSpPr>
          <p:cNvPr id="24" name="Text 17"/>
          <p:cNvSpPr/>
          <p:nvPr/>
        </p:nvSpPr>
        <p:spPr>
          <a:xfrm>
            <a:off x="46634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preload, preinit, preconnect — fine-grained control over what loads when.</a:t>
            </a:r>
            <a:endParaRPr lang="en-US" sz="1150" dirty="0"/>
          </a:p>
        </p:txBody>
      </p:sp>
      <p:sp>
        <p:nvSpPr>
          <p:cNvPr id="25" name="Shape 18"/>
          <p:cNvSpPr/>
          <p:nvPr/>
        </p:nvSpPr>
        <p:spPr>
          <a:xfrm>
            <a:off x="8092440" y="3749040"/>
            <a:ext cx="3520440" cy="2011680"/>
          </a:xfrm>
          <a:prstGeom prst="rect">
            <a:avLst/>
          </a:prstGeom>
          <a:solidFill>
            <a:srgbClr val="FFFFFF"/>
          </a:solidFill>
          <a:ln w="12700">
            <a:solidFill>
              <a:srgbClr val="E2E8F0"/>
            </a:solidFill>
            <a:prstDash val="solid"/>
          </a:ln>
        </p:spPr>
      </p:sp>
      <p:pic>
        <p:nvPicPr>
          <p:cNvPr id="26" name="Image 5" descr="preencoded.png">    </p:cNvPr>
          <p:cNvPicPr>
            <a:picLocks noChangeAspect="1"/>
          </p:cNvPicPr>
          <p:nvPr/>
        </p:nvPicPr>
        <p:blipFill>
          <a:blip r:embed="rId6"/>
          <a:stretch>
            <a:fillRect/>
          </a:stretch>
        </p:blipFill>
        <p:spPr>
          <a:xfrm>
            <a:off x="8321040" y="3977640"/>
            <a:ext cx="502920" cy="502920"/>
          </a:xfrm>
          <a:prstGeom prst="rect">
            <a:avLst/>
          </a:prstGeom>
        </p:spPr>
      </p:pic>
      <p:sp>
        <p:nvSpPr>
          <p:cNvPr id="27" name="Text 19"/>
          <p:cNvSpPr/>
          <p:nvPr/>
        </p:nvSpPr>
        <p:spPr>
          <a:xfrm>
            <a:off x="8961120" y="3977640"/>
            <a:ext cx="2560320" cy="5029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Document metadata</a:t>
            </a:r>
            <a:endParaRPr lang="en-US" sz="1400" dirty="0"/>
          </a:p>
        </p:txBody>
      </p:sp>
      <p:sp>
        <p:nvSpPr>
          <p:cNvPr id="28" name="Text 20"/>
          <p:cNvSpPr/>
          <p:nvPr/>
        </p:nvSpPr>
        <p:spPr>
          <a:xfrm>
            <a:off x="8321040" y="4617720"/>
            <a:ext cx="3108960" cy="105156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&lt;title&gt; and &lt;meta&gt; tags work as plain JSX inside components.</a:t>
            </a:r>
            <a:endParaRPr lang="en-US" sz="1150" dirty="0"/>
          </a:p>
        </p:txBody>
      </p:sp>
      <p:sp>
        <p:nvSpPr>
          <p:cNvPr id="29" name="Text 2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30" name="Text 2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Actions: forms without the wiring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Pass a function to &lt;form action&gt;. React handles pending, errors, and resets.</a:t>
            </a:r>
            <a:endParaRPr lang="en-US" sz="1400" dirty="0"/>
          </a:p>
        </p:txBody>
      </p:sp>
      <p:sp>
        <p:nvSpPr>
          <p:cNvPr id="5" name="Shape 3"/>
          <p:cNvSpPr/>
          <p:nvPr/>
        </p:nvSpPr>
        <p:spPr>
          <a:xfrm>
            <a:off x="777240" y="1554480"/>
            <a:ext cx="5943600" cy="4297680"/>
          </a:xfrm>
          <a:prstGeom prst="rect">
            <a:avLst/>
          </a:prstGeom>
          <a:solidFill>
            <a:srgbClr val="1E2A47"/>
          </a:solidFill>
          <a:ln w="12700">
            <a:solidFill>
              <a:srgbClr val="1E2A47"/>
            </a:solidFill>
            <a:prstDash val="solid"/>
          </a:ln>
        </p:spPr>
      </p:sp>
      <p:sp>
        <p:nvSpPr>
          <p:cNvPr id="6" name="Text 4"/>
          <p:cNvSpPr/>
          <p:nvPr/>
        </p:nvSpPr>
        <p:spPr>
          <a:xfrm>
            <a:off x="960120" y="1691640"/>
            <a:ext cx="5577840" cy="402336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function NewPostForm()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async function </a:t>
            </a:r>
            <a:pPr indent="0" marL="0">
              <a:buNone/>
            </a:pPr>
            <a:r>
              <a:rPr lang="en-US" sz="1300" dirty="0">
                <a:solidFill>
                  <a:srgbClr val="DCDCAA"/>
                </a:solidFill>
                <a:latin typeface="Courier New" pitchFamily="34" charset="0"/>
                <a:ea typeface="Courier New" pitchFamily="34" charset="-122"/>
                <a:cs typeface="Courier New" pitchFamily="34" charset="-120"/>
              </a:rPr>
              <a:t>createPost</a:t>
            </a:r>
            <a:pPr indent="0" marL="0">
              <a:buNone/>
            </a:pPr>
            <a:r>
              <a:rPr lang="en-US" sz="1300" dirty="0">
                <a:solidFill>
                  <a:srgbClr val="FFFFFF"/>
                </a:solidFill>
                <a:latin typeface="Courier New" pitchFamily="34" charset="0"/>
                <a:ea typeface="Courier New" pitchFamily="34" charset="-122"/>
                <a:cs typeface="Courier New" pitchFamily="34" charset="-120"/>
              </a:rPr>
              <a:t>(formData)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await </a:t>
            </a:r>
            <a:pPr indent="0" marL="0">
              <a:buNone/>
            </a:pPr>
            <a:r>
              <a:rPr lang="en-US" sz="1300" dirty="0">
                <a:solidFill>
                  <a:srgbClr val="9CDCFE"/>
                </a:solidFill>
                <a:latin typeface="Courier New" pitchFamily="34" charset="0"/>
                <a:ea typeface="Courier New" pitchFamily="34" charset="-122"/>
                <a:cs typeface="Courier New" pitchFamily="34" charset="-120"/>
              </a:rPr>
              <a:t>savePost(formData.get("body"));
</a:t>
            </a:r>
            <a:pPr indent="0" marL="0">
              <a:buNone/>
            </a:pPr>
            <a:r>
              <a:rPr lang="en-US" sz="1300" dirty="0">
                <a:solidFill>
                  <a:srgbClr val="FFFFFF"/>
                </a:solidFill>
                <a:latin typeface="Courier New" pitchFamily="34" charset="0"/>
                <a:ea typeface="Courier New" pitchFamily="34" charset="-122"/>
                <a:cs typeface="Courier New" pitchFamily="34" charset="-120"/>
              </a:rPr>
              <a:t>  }
</a:t>
            </a:r>
            <a:pPr indent="0" marL="0">
              <a:buNone/>
            </a:pPr>
            <a:r>
              <a:rPr lang="en-US" sz="1300" dirty="0">
                <a:solidFill>
                  <a:srgbClr val="000000"/>
                </a:solidFill>
                <a:latin typeface="Courier New" pitchFamily="34" charset="0"/>
                <a:ea typeface="Courier New" pitchFamily="34" charset="-122"/>
                <a:cs typeface="Courier New" pitchFamily="34" charset="-120"/>
              </a:rPr>
              <a:t>  </a:t>
            </a:r>
            <a:pPr indent="0" marL="0">
              <a:buNone/>
            </a:pPr>
            <a:r>
              <a:rPr lang="en-US" sz="1300" dirty="0">
                <a:solidFill>
                  <a:srgbClr val="C586C0"/>
                </a:solidFill>
                <a:latin typeface="Courier New" pitchFamily="34" charset="0"/>
                <a:ea typeface="Courier New" pitchFamily="34" charset="-122"/>
                <a:cs typeface="Courier New" pitchFamily="34" charset="-120"/>
              </a:rPr>
              <a:t>return </a:t>
            </a:r>
            <a:pPr indent="0" marL="0">
              <a:buNone/>
            </a:pPr>
            <a:r>
              <a:rPr lang="en-US" sz="1300" dirty="0">
                <a:solidFill>
                  <a:srgbClr val="FFFFFF"/>
                </a:solidFill>
                <a:latin typeface="Courier New" pitchFamily="34" charset="0"/>
                <a:ea typeface="Courier New" pitchFamily="34" charset="-122"/>
                <a:cs typeface="Courier New" pitchFamily="34" charset="-120"/>
              </a:rPr>
              <a:t>(
</a:t>
            </a:r>
            <a:pPr indent="0" marL="0">
              <a:buNone/>
            </a:pPr>
            <a:r>
              <a:rPr lang="en-US" sz="1300" dirty="0">
                <a:solidFill>
                  <a:srgbClr val="9CDCFE"/>
                </a:solidFill>
                <a:latin typeface="Courier New" pitchFamily="34" charset="0"/>
                <a:ea typeface="Courier New" pitchFamily="34" charset="-122"/>
                <a:cs typeface="Courier New" pitchFamily="34" charset="-120"/>
              </a:rPr>
              <a:t>    &lt;form action={createPost}&gt;
</a:t>
            </a:r>
            <a:pPr indent="0" marL="0">
              <a:buNone/>
            </a:pPr>
            <a:r>
              <a:rPr lang="en-US" sz="1300" dirty="0">
                <a:solidFill>
                  <a:srgbClr val="9CDCFE"/>
                </a:solidFill>
                <a:latin typeface="Courier New" pitchFamily="34" charset="0"/>
                <a:ea typeface="Courier New" pitchFamily="34" charset="-122"/>
                <a:cs typeface="Courier New" pitchFamily="34" charset="-120"/>
              </a:rPr>
              <a:t>      &lt;textarea name="body" /&gt;
</a:t>
            </a:r>
            <a:pPr indent="0" marL="0">
              <a:buNone/>
            </a:pPr>
            <a:r>
              <a:rPr lang="en-US" sz="1300" dirty="0">
                <a:solidFill>
                  <a:srgbClr val="9CDCFE"/>
                </a:solidFill>
                <a:latin typeface="Courier New" pitchFamily="34" charset="0"/>
                <a:ea typeface="Courier New" pitchFamily="34" charset="-122"/>
                <a:cs typeface="Courier New" pitchFamily="34" charset="-120"/>
              </a:rPr>
              <a:t>      &lt;SubmitButton /&gt;
</a:t>
            </a:r>
            <a:pPr indent="0" marL="0">
              <a:buNone/>
            </a:pPr>
            <a:r>
              <a:rPr lang="en-US" sz="1300" dirty="0">
                <a:solidFill>
                  <a:srgbClr val="9CDCFE"/>
                </a:solidFill>
                <a:latin typeface="Courier New" pitchFamily="34" charset="0"/>
                <a:ea typeface="Courier New" pitchFamily="34" charset="-122"/>
                <a:cs typeface="Courier New" pitchFamily="34" charset="-120"/>
              </a:rPr>
              <a:t>    &lt;/form&gt;
</a:t>
            </a:r>
            <a:pPr indent="0" marL="0">
              <a:buNone/>
            </a:pPr>
            <a:r>
              <a:rPr lang="en-US" sz="1300" dirty="0">
                <a:solidFill>
                  <a:srgbClr val="FFFFFF"/>
                </a:solidFill>
                <a:latin typeface="Courier New" pitchFamily="34" charset="0"/>
                <a:ea typeface="Courier New" pitchFamily="34" charset="-122"/>
                <a:cs typeface="Courier New" pitchFamily="34" charset="-120"/>
              </a:rPr>
              <a:t>  );
</a:t>
            </a:r>
            <a:pPr indent="0" marL="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p:txBody>
      </p:sp>
      <p:sp>
        <p:nvSpPr>
          <p:cNvPr id="7" name="Text 5"/>
          <p:cNvSpPr/>
          <p:nvPr/>
        </p:nvSpPr>
        <p:spPr>
          <a:xfrm>
            <a:off x="6949440" y="1691640"/>
            <a:ext cx="4572000" cy="4023360"/>
          </a:xfrm>
          <a:prstGeom prst="rect">
            <a:avLst/>
          </a:prstGeom>
          <a:noFill/>
          <a:ln/>
        </p:spPr>
        <p:txBody>
          <a:bodyPr wrap="square" lIns="0" tIns="0" rIns="0" bIns="0" rtlCol="0" anchor="t"/>
          <a:lstStyle/>
          <a:p>
            <a:pPr indent="0" marL="0">
              <a:spcAft>
                <a:spcPts val="400"/>
              </a:spcAft>
              <a:buNone/>
            </a:pPr>
            <a:r>
              <a:rPr lang="en-US" sz="1400" b="1" dirty="0">
                <a:solidFill>
                  <a:srgbClr val="0F172A"/>
                </a:solidFill>
                <a:latin typeface="Arial" pitchFamily="34" charset="0"/>
                <a:ea typeface="Arial" pitchFamily="34" charset="-122"/>
                <a:cs typeface="Arial" pitchFamily="34" charset="-120"/>
              </a:rPr>
              <a:t>What you don't write anymore:</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isPending state — React tracks it (use useFormStatus inside)</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preventDefault — Actions intercept submit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Manual reset — form clears on success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Race-condition handling — newer submissions win</a:t>
            </a:r>
            <a:endParaRPr lang="en-US" sz="1250" dirty="0"/>
          </a:p>
          <a:p>
            <a:pPr indent="0" marL="0">
              <a:spcAft>
                <a:spcPts val="400"/>
              </a:spcAft>
              <a:buNone/>
            </a:pPr>
            <a:r>
              <a:rPr lang="en-US" sz="1250" dirty="0">
                <a:solidFill>
                  <a:srgbClr val="475569"/>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00" i="1" dirty="0">
                <a:solidFill>
                  <a:srgbClr val="475569"/>
                </a:solidFill>
                <a:latin typeface="Arial" pitchFamily="34" charset="0"/>
                <a:ea typeface="Arial" pitchFamily="34" charset="-122"/>
                <a:cs typeface="Arial" pitchFamily="34" charset="-120"/>
              </a:rPr>
              <a:t>Pair with useActionState for return values, errors, and validation. Module 2.</a:t>
            </a:r>
            <a:endParaRPr lang="en-US" sz="1250" dirty="0"/>
          </a:p>
        </p:txBody>
      </p:sp>
      <p:sp>
        <p:nvSpPr>
          <p:cNvPr id="8" name="Text 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9" name="Text 7"/>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Four hooks worth circling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use each of them in Lab 1. Coverage in Module 2.</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sp>
        <p:nvSpPr>
          <p:cNvPr id="6" name="Text 4"/>
          <p:cNvSpPr/>
          <p:nvPr/>
        </p:nvSpPr>
        <p:spPr>
          <a:xfrm>
            <a:off x="960120" y="171907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use(promise)</a:t>
            </a:r>
            <a:endParaRPr lang="en-US" sz="1700" dirty="0"/>
          </a:p>
        </p:txBody>
      </p:sp>
      <p:sp>
        <p:nvSpPr>
          <p:cNvPr id="7" name="Text 5"/>
          <p:cNvSpPr/>
          <p:nvPr/>
        </p:nvSpPr>
        <p:spPr>
          <a:xfrm>
            <a:off x="4754880" y="171907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Suspends until a promise resolves. The new way to read async data.</a:t>
            </a:r>
            <a:endParaRPr lang="en-US" sz="1300" dirty="0"/>
          </a:p>
        </p:txBody>
      </p:sp>
      <p:sp>
        <p:nvSpPr>
          <p:cNvPr id="8" name="Shape 6"/>
          <p:cNvSpPr/>
          <p:nvPr/>
        </p:nvSpPr>
        <p:spPr>
          <a:xfrm>
            <a:off x="777240" y="2606040"/>
            <a:ext cx="10607040" cy="868680"/>
          </a:xfrm>
          <a:prstGeom prst="rect">
            <a:avLst/>
          </a:prstGeom>
          <a:solidFill>
            <a:srgbClr val="FFFFFF"/>
          </a:solidFill>
          <a:ln w="12700">
            <a:solidFill>
              <a:srgbClr val="E2E8F0"/>
            </a:solidFill>
            <a:prstDash val="solid"/>
          </a:ln>
        </p:spPr>
      </p:sp>
      <p:sp>
        <p:nvSpPr>
          <p:cNvPr id="9" name="Text 7"/>
          <p:cNvSpPr/>
          <p:nvPr/>
        </p:nvSpPr>
        <p:spPr>
          <a:xfrm>
            <a:off x="960120" y="277063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useActionState</a:t>
            </a:r>
            <a:endParaRPr lang="en-US" sz="1700" dirty="0"/>
          </a:p>
        </p:txBody>
      </p:sp>
      <p:sp>
        <p:nvSpPr>
          <p:cNvPr id="10" name="Text 8"/>
          <p:cNvSpPr/>
          <p:nvPr/>
        </p:nvSpPr>
        <p:spPr>
          <a:xfrm>
            <a:off x="4754880" y="277063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Pairs with Actions. Gives you state, the action, and a pending flag.</a:t>
            </a:r>
            <a:endParaRPr lang="en-US" sz="1300" dirty="0"/>
          </a:p>
        </p:txBody>
      </p:sp>
      <p:sp>
        <p:nvSpPr>
          <p:cNvPr id="11" name="Shape 9"/>
          <p:cNvSpPr/>
          <p:nvPr/>
        </p:nvSpPr>
        <p:spPr>
          <a:xfrm>
            <a:off x="777240" y="3657600"/>
            <a:ext cx="10607040" cy="868680"/>
          </a:xfrm>
          <a:prstGeom prst="rect">
            <a:avLst/>
          </a:prstGeom>
          <a:solidFill>
            <a:srgbClr val="FFFFFF"/>
          </a:solidFill>
          <a:ln w="12700">
            <a:solidFill>
              <a:srgbClr val="E2E8F0"/>
            </a:solidFill>
            <a:prstDash val="solid"/>
          </a:ln>
        </p:spPr>
      </p:sp>
      <p:sp>
        <p:nvSpPr>
          <p:cNvPr id="12" name="Text 10"/>
          <p:cNvSpPr/>
          <p:nvPr/>
        </p:nvSpPr>
        <p:spPr>
          <a:xfrm>
            <a:off x="960120" y="382219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useFormStatus</a:t>
            </a:r>
            <a:endParaRPr lang="en-US" sz="1700" dirty="0"/>
          </a:p>
        </p:txBody>
      </p:sp>
      <p:sp>
        <p:nvSpPr>
          <p:cNvPr id="13" name="Text 11"/>
          <p:cNvSpPr/>
          <p:nvPr/>
        </p:nvSpPr>
        <p:spPr>
          <a:xfrm>
            <a:off x="4754880" y="382219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Read pending/data/method from inside a child of &lt;form&gt;. No prop drilling.</a:t>
            </a:r>
            <a:endParaRPr lang="en-US" sz="1300" dirty="0"/>
          </a:p>
        </p:txBody>
      </p:sp>
      <p:sp>
        <p:nvSpPr>
          <p:cNvPr id="14" name="Shape 12"/>
          <p:cNvSpPr/>
          <p:nvPr/>
        </p:nvSpPr>
        <p:spPr>
          <a:xfrm>
            <a:off x="777240" y="4709160"/>
            <a:ext cx="10607040" cy="868680"/>
          </a:xfrm>
          <a:prstGeom prst="rect">
            <a:avLst/>
          </a:prstGeom>
          <a:solidFill>
            <a:srgbClr val="FFFFFF"/>
          </a:solidFill>
          <a:ln w="12700">
            <a:solidFill>
              <a:srgbClr val="E2E8F0"/>
            </a:solidFill>
            <a:prstDash val="solid"/>
          </a:ln>
        </p:spPr>
      </p:sp>
      <p:sp>
        <p:nvSpPr>
          <p:cNvPr id="15" name="Text 13"/>
          <p:cNvSpPr/>
          <p:nvPr/>
        </p:nvSpPr>
        <p:spPr>
          <a:xfrm>
            <a:off x="960120" y="4873752"/>
            <a:ext cx="3657600" cy="548640"/>
          </a:xfrm>
          <a:prstGeom prst="rect">
            <a:avLst/>
          </a:prstGeom>
          <a:noFill/>
          <a:ln/>
        </p:spPr>
        <p:txBody>
          <a:bodyPr wrap="square" lIns="0" tIns="0" rIns="0" bIns="0" rtlCol="0" anchor="ctr"/>
          <a:lstStyle/>
          <a:p>
            <a:pPr indent="0" marL="0">
              <a:buNone/>
            </a:pPr>
            <a:r>
              <a:rPr lang="en-US" sz="1700" b="1" dirty="0">
                <a:solidFill>
                  <a:srgbClr val="00B8D9"/>
                </a:solidFill>
                <a:latin typeface="Courier New" pitchFamily="34" charset="0"/>
                <a:ea typeface="Courier New" pitchFamily="34" charset="-122"/>
                <a:cs typeface="Courier New" pitchFamily="34" charset="-120"/>
              </a:rPr>
              <a:t>useOptimistic</a:t>
            </a:r>
            <a:endParaRPr lang="en-US" sz="1700" dirty="0"/>
          </a:p>
        </p:txBody>
      </p:sp>
      <p:sp>
        <p:nvSpPr>
          <p:cNvPr id="16" name="Text 14"/>
          <p:cNvSpPr/>
          <p:nvPr/>
        </p:nvSpPr>
        <p:spPr>
          <a:xfrm>
            <a:off x="4754880" y="4873752"/>
            <a:ext cx="6492240" cy="54864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Show the eventual state immediately. Reverts on error.</a:t>
            </a:r>
            <a:endParaRPr lang="en-US" sz="1300" dirty="0"/>
          </a:p>
        </p:txBody>
      </p:sp>
      <p:sp>
        <p:nvSpPr>
          <p:cNvPr id="17"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8"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ref as a prop</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forwardRef is gone. ref behaves like any other prop in React 19.</a:t>
            </a:r>
            <a:endParaRPr lang="en-US" sz="1400" dirty="0"/>
          </a:p>
        </p:txBody>
      </p:sp>
      <p:sp>
        <p:nvSpPr>
          <p:cNvPr id="5" name="Text 3"/>
          <p:cNvSpPr/>
          <p:nvPr/>
        </p:nvSpPr>
        <p:spPr>
          <a:xfrm>
            <a:off x="777240" y="1554480"/>
            <a:ext cx="5349240" cy="365760"/>
          </a:xfrm>
          <a:prstGeom prst="rect">
            <a:avLst/>
          </a:prstGeom>
          <a:noFill/>
          <a:ln/>
        </p:spPr>
        <p:txBody>
          <a:bodyPr wrap="square" lIns="0" tIns="0" rIns="0" bIns="0" rtlCol="0" anchor="ctr"/>
          <a:lstStyle/>
          <a:p>
            <a:pPr indent="0" marL="0">
              <a:buNone/>
            </a:pPr>
            <a:r>
              <a:rPr lang="en-US" sz="1400" b="1" dirty="0">
                <a:solidFill>
                  <a:srgbClr val="DC2626"/>
                </a:solidFill>
                <a:latin typeface="Trebuchet MS" pitchFamily="34" charset="0"/>
                <a:ea typeface="Trebuchet MS" pitchFamily="34" charset="-122"/>
                <a:cs typeface="Trebuchet MS" pitchFamily="34" charset="-120"/>
              </a:rPr>
              <a:t>Before — React 18</a:t>
            </a:r>
            <a:endParaRPr lang="en-US" sz="1400" dirty="0"/>
          </a:p>
        </p:txBody>
      </p:sp>
      <p:sp>
        <p:nvSpPr>
          <p:cNvPr id="6" name="Shape 4"/>
          <p:cNvSpPr/>
          <p:nvPr/>
        </p:nvSpPr>
        <p:spPr>
          <a:xfrm>
            <a:off x="777240" y="1965960"/>
            <a:ext cx="5349240" cy="2743200"/>
          </a:xfrm>
          <a:prstGeom prst="rect">
            <a:avLst/>
          </a:prstGeom>
          <a:solidFill>
            <a:srgbClr val="1E2A47"/>
          </a:solidFill>
          <a:ln w="12700">
            <a:solidFill>
              <a:srgbClr val="1E2A47"/>
            </a:solidFill>
            <a:prstDash val="solid"/>
          </a:ln>
        </p:spPr>
      </p:sp>
      <p:sp>
        <p:nvSpPr>
          <p:cNvPr id="7" name="Text 5"/>
          <p:cNvSpPr/>
          <p:nvPr/>
        </p:nvSpPr>
        <p:spPr>
          <a:xfrm>
            <a:off x="960120" y="2103120"/>
            <a:ext cx="507492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Input = </a:t>
            </a:r>
            <a:pPr indent="0" marL="0">
              <a:buNone/>
            </a:pPr>
            <a:r>
              <a:rPr lang="en-US" sz="1200" dirty="0">
                <a:solidFill>
                  <a:srgbClr val="DCDCAA"/>
                </a:solidFill>
                <a:latin typeface="Courier New" pitchFamily="34" charset="0"/>
                <a:ea typeface="Courier New" pitchFamily="34" charset="-122"/>
                <a:cs typeface="Courier New" pitchFamily="34" charset="-120"/>
              </a:rPr>
              <a:t>forwardRef</a:t>
            </a:r>
            <a:pPr indent="0" marL="0">
              <a:buNone/>
            </a:pPr>
            <a:r>
              <a:rPr lang="en-US" sz="1200" dirty="0">
                <a:solidFill>
                  <a:srgbClr val="FFFFFF"/>
                </a:solidFill>
                <a:latin typeface="Courier New" pitchFamily="34" charset="0"/>
                <a:ea typeface="Courier New" pitchFamily="34" charset="-122"/>
                <a:cs typeface="Courier New" pitchFamily="34" charset="-120"/>
              </a:rPr>
              <a:t>(
  (props, ref) =&gt; (
    &lt;input ref={ref} ...props /&gt;
  )
);
</a:t>
            </a:r>
            <a:endParaRPr lang="en-US" sz="1200" dirty="0"/>
          </a:p>
        </p:txBody>
      </p:sp>
      <p:sp>
        <p:nvSpPr>
          <p:cNvPr id="8" name="Text 6"/>
          <p:cNvSpPr/>
          <p:nvPr/>
        </p:nvSpPr>
        <p:spPr>
          <a:xfrm>
            <a:off x="6355080" y="1554480"/>
            <a:ext cx="5029200" cy="365760"/>
          </a:xfrm>
          <a:prstGeom prst="rect">
            <a:avLst/>
          </a:prstGeom>
          <a:noFill/>
          <a:ln/>
        </p:spPr>
        <p:txBody>
          <a:bodyPr wrap="square" lIns="0" tIns="0" rIns="0" bIns="0" rtlCol="0" anchor="ctr"/>
          <a:lstStyle/>
          <a:p>
            <a:pPr indent="0" marL="0">
              <a:buNone/>
            </a:pPr>
            <a:r>
              <a:rPr lang="en-US" sz="1400" b="1" dirty="0">
                <a:solidFill>
                  <a:srgbClr val="059669"/>
                </a:solidFill>
                <a:latin typeface="Trebuchet MS" pitchFamily="34" charset="0"/>
                <a:ea typeface="Trebuchet MS" pitchFamily="34" charset="-122"/>
                <a:cs typeface="Trebuchet MS" pitchFamily="34" charset="-120"/>
              </a:rPr>
              <a:t>After — React 19</a:t>
            </a:r>
            <a:endParaRPr lang="en-US" sz="1400" dirty="0"/>
          </a:p>
        </p:txBody>
      </p:sp>
      <p:sp>
        <p:nvSpPr>
          <p:cNvPr id="9" name="Shape 7"/>
          <p:cNvSpPr/>
          <p:nvPr/>
        </p:nvSpPr>
        <p:spPr>
          <a:xfrm>
            <a:off x="6355080" y="1965960"/>
            <a:ext cx="5029200" cy="2743200"/>
          </a:xfrm>
          <a:prstGeom prst="rect">
            <a:avLst/>
          </a:prstGeom>
          <a:solidFill>
            <a:srgbClr val="1E2A47"/>
          </a:solidFill>
          <a:ln w="12700">
            <a:solidFill>
              <a:srgbClr val="1E2A47"/>
            </a:solidFill>
            <a:prstDash val="solid"/>
          </a:ln>
        </p:spPr>
      </p:sp>
      <p:sp>
        <p:nvSpPr>
          <p:cNvPr id="10" name="Text 8"/>
          <p:cNvSpPr/>
          <p:nvPr/>
        </p:nvSpPr>
        <p:spPr>
          <a:xfrm>
            <a:off x="6537960" y="2103120"/>
            <a:ext cx="4754880" cy="2468880"/>
          </a:xfrm>
          <a:prstGeom prst="rect">
            <a:avLst/>
          </a:prstGeom>
          <a:noFill/>
          <a:ln/>
        </p:spPr>
        <p:txBody>
          <a:bodyPr wrap="square" lIns="0" tIns="0" rIns="0" bIns="0" rtlCol="0" anchor="t"/>
          <a:lstStyle/>
          <a:p>
            <a:pPr indent="0" marL="0">
              <a:buNone/>
            </a:pPr>
            <a:r>
              <a:rPr lang="en-US" sz="1200" dirty="0">
                <a:solidFill>
                  <a:srgbClr val="DCDCAA"/>
                </a:solidFill>
                <a:latin typeface="Courier New" pitchFamily="34" charset="0"/>
                <a:ea typeface="Courier New" pitchFamily="34" charset="-122"/>
                <a:cs typeface="Courier New" pitchFamily="34" charset="-120"/>
              </a:rPr>
              <a:t>function Input</a:t>
            </a:r>
            <a:pPr indent="0" marL="0">
              <a:buNone/>
            </a:pPr>
            <a:r>
              <a:rPr lang="en-US" sz="1200" dirty="0">
                <a:solidFill>
                  <a:srgbClr val="FFFFFF"/>
                </a:solidFill>
                <a:latin typeface="Courier New" pitchFamily="34" charset="0"/>
                <a:ea typeface="Courier New" pitchFamily="34" charset="-122"/>
                <a:cs typeface="Courier New" pitchFamily="34" charset="-120"/>
              </a:rPr>
              <a:t>({ ref, ...props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return &lt;input ref={ref} </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{...props}</a:t>
            </a:r>
            <a:pPr indent="0" marL="0">
              <a:buNone/>
            </a:pPr>
            <a:r>
              <a:rPr lang="en-US" sz="1200" dirty="0">
                <a:solidFill>
                  <a:srgbClr val="FFFFFF"/>
                </a:solidFill>
                <a:latin typeface="Courier New" pitchFamily="34" charset="0"/>
                <a:ea typeface="Courier New" pitchFamily="34" charset="-122"/>
                <a:cs typeface="Courier New" pitchFamily="34" charset="-120"/>
              </a:rPr>
              <a:t> /&gt;;
}
</a:t>
            </a:r>
            <a:endParaRPr lang="en-US" sz="1200" dirty="0"/>
          </a:p>
        </p:txBody>
      </p:sp>
      <p:sp>
        <p:nvSpPr>
          <p:cNvPr id="11" name="Shape 9"/>
          <p:cNvSpPr/>
          <p:nvPr/>
        </p:nvSpPr>
        <p:spPr>
          <a:xfrm>
            <a:off x="777240" y="5029200"/>
            <a:ext cx="10607040" cy="118872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349240"/>
            <a:ext cx="502920" cy="502920"/>
          </a:xfrm>
          <a:prstGeom prst="rect">
            <a:avLst/>
          </a:prstGeom>
        </p:spPr>
      </p:pic>
      <p:sp>
        <p:nvSpPr>
          <p:cNvPr id="13" name="Text 10"/>
          <p:cNvSpPr/>
          <p:nvPr/>
        </p:nvSpPr>
        <p:spPr>
          <a:xfrm>
            <a:off x="1691640" y="5074920"/>
            <a:ext cx="9601200" cy="109728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Codemod available — but legacy forwardRef still works through a deprecation warning. Plan, don't panic.</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Server Components — production-ready</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Components that run on the server only. Zero JS shipped to the browser.</a:t>
            </a:r>
            <a:endParaRPr lang="en-US" sz="1400" dirty="0"/>
          </a:p>
        </p:txBody>
      </p:sp>
      <p:sp>
        <p:nvSpPr>
          <p:cNvPr id="5" name="Shape 3"/>
          <p:cNvSpPr/>
          <p:nvPr/>
        </p:nvSpPr>
        <p:spPr>
          <a:xfrm>
            <a:off x="777240" y="1691640"/>
            <a:ext cx="5349240" cy="3931920"/>
          </a:xfrm>
          <a:prstGeom prst="rect">
            <a:avLst/>
          </a:prstGeom>
          <a:solidFill>
            <a:srgbClr val="1E2A47"/>
          </a:solidFill>
          <a:ln w="12700">
            <a:solidFill>
              <a:srgbClr val="1E2A47"/>
            </a:solidFill>
            <a:prstDash val="solid"/>
          </a:ln>
        </p:spPr>
      </p:sp>
      <p:pic>
        <p:nvPicPr>
          <p:cNvPr id="6" name="Image 0" descr="preencoded.png">    </p:cNvPr>
          <p:cNvPicPr>
            <a:picLocks noChangeAspect="1"/>
          </p:cNvPicPr>
          <p:nvPr/>
        </p:nvPicPr>
        <p:blipFill>
          <a:blip r:embed="rId1"/>
          <a:stretch>
            <a:fillRect/>
          </a:stretch>
        </p:blipFill>
        <p:spPr>
          <a:xfrm>
            <a:off x="1005840" y="1874520"/>
            <a:ext cx="548640" cy="548640"/>
          </a:xfrm>
          <a:prstGeom prst="rect">
            <a:avLst/>
          </a:prstGeom>
        </p:spPr>
      </p:pic>
      <p:sp>
        <p:nvSpPr>
          <p:cNvPr id="7" name="Text 4"/>
          <p:cNvSpPr/>
          <p:nvPr/>
        </p:nvSpPr>
        <p:spPr>
          <a:xfrm>
            <a:off x="1691640" y="1920240"/>
            <a:ext cx="4114800" cy="457200"/>
          </a:xfrm>
          <a:prstGeom prst="rect">
            <a:avLst/>
          </a:prstGeom>
          <a:noFill/>
          <a:ln/>
        </p:spPr>
        <p:txBody>
          <a:bodyPr wrap="square" lIns="0" tIns="0" rIns="0" bIns="0" rtlCol="0" anchor="ctr"/>
          <a:lstStyle/>
          <a:p>
            <a:pPr indent="0" marL="0">
              <a:buNone/>
            </a:pPr>
            <a:r>
              <a:rPr lang="en-US" sz="1600" b="1" dirty="0">
                <a:solidFill>
                  <a:srgbClr val="00B8D9"/>
                </a:solidFill>
                <a:latin typeface="Trebuchet MS" pitchFamily="34" charset="0"/>
                <a:ea typeface="Trebuchet MS" pitchFamily="34" charset="-122"/>
                <a:cs typeface="Trebuchet MS" pitchFamily="34" charset="-120"/>
              </a:rPr>
              <a:t>Server Component</a:t>
            </a:r>
            <a:endParaRPr lang="en-US" sz="1600" dirty="0"/>
          </a:p>
        </p:txBody>
      </p:sp>
      <p:sp>
        <p:nvSpPr>
          <p:cNvPr id="8" name="Text 5"/>
          <p:cNvSpPr/>
          <p:nvPr/>
        </p:nvSpPr>
        <p:spPr>
          <a:xfrm>
            <a:off x="1005840" y="2606040"/>
            <a:ext cx="4937760" cy="2926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Runs on the server only</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Can fetch directly — DB, file system, API</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Imports stay on the server</a:t>
            </a:r>
            <a:endParaRPr lang="en-US" sz="1250" dirty="0"/>
          </a:p>
          <a:p>
            <a:pPr marL="342900" indent="-342900">
              <a:spcAft>
                <a:spcPts val="600"/>
              </a:spcAft>
              <a:buSzPct val="100000"/>
              <a:buChar char="•"/>
            </a:pPr>
            <a:r>
              <a:rPr lang="en-US" sz="1250" dirty="0">
                <a:solidFill>
                  <a:srgbClr val="FFFFFF"/>
                </a:solidFill>
                <a:latin typeface="Arial" pitchFamily="34" charset="0"/>
                <a:ea typeface="Arial" pitchFamily="34" charset="-122"/>
                <a:cs typeface="Arial" pitchFamily="34" charset="-120"/>
              </a:rPr>
              <a:t>No useState, useEffect, or browser APIs</a:t>
            </a:r>
            <a:endParaRPr lang="en-US" sz="1250" dirty="0"/>
          </a:p>
        </p:txBody>
      </p:sp>
      <p:sp>
        <p:nvSpPr>
          <p:cNvPr id="9" name="Shape 6"/>
          <p:cNvSpPr/>
          <p:nvPr/>
        </p:nvSpPr>
        <p:spPr>
          <a:xfrm>
            <a:off x="6355080" y="1691640"/>
            <a:ext cx="5029200" cy="393192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6583680" y="1874520"/>
            <a:ext cx="548640" cy="548640"/>
          </a:xfrm>
          <a:prstGeom prst="rect">
            <a:avLst/>
          </a:prstGeom>
        </p:spPr>
      </p:pic>
      <p:sp>
        <p:nvSpPr>
          <p:cNvPr id="11" name="Text 7"/>
          <p:cNvSpPr/>
          <p:nvPr/>
        </p:nvSpPr>
        <p:spPr>
          <a:xfrm>
            <a:off x="7269480" y="1920240"/>
            <a:ext cx="4023360" cy="45720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Client Component</a:t>
            </a:r>
            <a:endParaRPr lang="en-US" sz="1600" dirty="0"/>
          </a:p>
        </p:txBody>
      </p:sp>
      <p:sp>
        <p:nvSpPr>
          <p:cNvPr id="12" name="Text 8"/>
          <p:cNvSpPr/>
          <p:nvPr/>
        </p:nvSpPr>
        <p:spPr>
          <a:xfrm>
            <a:off x="6583680" y="2606040"/>
            <a:ext cx="4663440" cy="2926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Marked with 'use client' directive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Hydrates in the browser</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Interactive — handlers, state, effects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Receives props (incl. children) from Server Components</a:t>
            </a:r>
            <a:endParaRPr lang="en-US" sz="1250" dirty="0"/>
          </a:p>
        </p:txBody>
      </p:sp>
      <p:sp>
        <p:nvSpPr>
          <p:cNvPr id="13" name="Text 9"/>
          <p:cNvSpPr/>
          <p:nvPr/>
        </p:nvSpPr>
        <p:spPr>
          <a:xfrm>
            <a:off x="777240" y="5760720"/>
            <a:ext cx="10607040" cy="365760"/>
          </a:xfrm>
          <a:prstGeom prst="rect">
            <a:avLst/>
          </a:prstGeom>
          <a:noFill/>
          <a:ln/>
        </p:spPr>
        <p:txBody>
          <a:bodyPr wrap="square" lIns="0" tIns="0" rIns="0" bIns="0" rtlCol="0" anchor="ctr"/>
          <a:lstStyle/>
          <a:p>
            <a:pPr indent="0" marL="0">
              <a:buNone/>
            </a:pPr>
            <a:r>
              <a:rPr lang="en-US" sz="1200" i="1" dirty="0">
                <a:solidFill>
                  <a:srgbClr val="475569"/>
                </a:solidFill>
                <a:latin typeface="Arial" pitchFamily="34" charset="0"/>
                <a:ea typeface="Arial" pitchFamily="34" charset="-122"/>
                <a:cs typeface="Arial" pitchFamily="34" charset="-120"/>
              </a:rPr>
              <a:t>Module 6 covers Server Components in depth, including the boundary mistakes AI tools love to make.</a:t>
            </a:r>
            <a:endParaRPr lang="en-US" sz="1200" dirty="0"/>
          </a:p>
        </p:txBody>
      </p:sp>
      <p:sp>
        <p:nvSpPr>
          <p:cNvPr id="14"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Two smaller wins worth knowing</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Asset preloading and document metadata are now first-class in React 19.</a:t>
            </a:r>
            <a:endParaRPr lang="en-US" sz="1400" dirty="0"/>
          </a:p>
        </p:txBody>
      </p:sp>
      <p:sp>
        <p:nvSpPr>
          <p:cNvPr id="5" name="Shape 3"/>
          <p:cNvSpPr/>
          <p:nvPr/>
        </p:nvSpPr>
        <p:spPr>
          <a:xfrm>
            <a:off x="777240" y="1691640"/>
            <a:ext cx="5349240" cy="4206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05840" y="1920240"/>
            <a:ext cx="502920" cy="502920"/>
          </a:xfrm>
          <a:prstGeom prst="rect">
            <a:avLst/>
          </a:prstGeom>
        </p:spPr>
      </p:pic>
      <p:sp>
        <p:nvSpPr>
          <p:cNvPr id="7" name="Text 4"/>
          <p:cNvSpPr/>
          <p:nvPr/>
        </p:nvSpPr>
        <p:spPr>
          <a:xfrm>
            <a:off x="1645920" y="1874520"/>
            <a:ext cx="4297680" cy="50292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Asset preloading</a:t>
            </a:r>
            <a:endParaRPr lang="en-US" sz="1600" dirty="0"/>
          </a:p>
        </p:txBody>
      </p:sp>
      <p:sp>
        <p:nvSpPr>
          <p:cNvPr id="8" name="Text 5"/>
          <p:cNvSpPr/>
          <p:nvPr/>
        </p:nvSpPr>
        <p:spPr>
          <a:xfrm>
            <a:off x="1005840" y="2606040"/>
            <a:ext cx="5029200" cy="1188720"/>
          </a:xfrm>
          <a:prstGeom prst="rect">
            <a:avLst/>
          </a:prstGeom>
          <a:noFill/>
          <a:ln/>
        </p:spPr>
        <p:txBody>
          <a:bodyPr wrap="square" lIns="0" tIns="0" rIns="0" bIns="0" rtlCol="0" anchor="ctr"/>
          <a:lstStyle/>
          <a:p>
            <a:pPr indent="0" marL="0">
              <a:buNone/>
            </a:pPr>
            <a:r>
              <a:rPr lang="en-US" sz="1300" dirty="0">
                <a:solidFill>
                  <a:srgbClr val="00B8D9"/>
                </a:solidFill>
                <a:latin typeface="Courier New" pitchFamily="34" charset="0"/>
                <a:ea typeface="Courier New" pitchFamily="34" charset="-122"/>
                <a:cs typeface="Courier New" pitchFamily="34" charset="-120"/>
              </a:rPr>
              <a:t>preload(</a:t>
            </a:r>
            <a:pPr indent="0" marL="0">
              <a:buNone/>
            </a:pPr>
            <a:r>
              <a:rPr lang="en-US" sz="1300" dirty="0">
                <a:solidFill>
                  <a:srgbClr val="475569"/>
                </a:solidFill>
                <a:latin typeface="Courier New" pitchFamily="34" charset="0"/>
                <a:ea typeface="Courier New" pitchFamily="34" charset="-122"/>
                <a:cs typeface="Courier New" pitchFamily="34" charset="-120"/>
              </a:rPr>
              <a:t>url, options</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preinit(</a:t>
            </a:r>
            <a:pPr indent="0" marL="0">
              <a:buNone/>
            </a:pPr>
            <a:r>
              <a:rPr lang="en-US" sz="1300" dirty="0">
                <a:solidFill>
                  <a:srgbClr val="475569"/>
                </a:solidFill>
                <a:latin typeface="Courier New" pitchFamily="34" charset="0"/>
                <a:ea typeface="Courier New" pitchFamily="34" charset="-122"/>
                <a:cs typeface="Courier New" pitchFamily="34" charset="-120"/>
              </a:rPr>
              <a:t>url, options</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00B8D9"/>
                </a:solidFill>
                <a:latin typeface="Courier New" pitchFamily="34" charset="0"/>
                <a:ea typeface="Courier New" pitchFamily="34" charset="-122"/>
                <a:cs typeface="Courier New" pitchFamily="34" charset="-120"/>
              </a:rPr>
              <a:t>preconnect(</a:t>
            </a:r>
            <a:pPr indent="0" marL="0">
              <a:buNone/>
            </a:pPr>
            <a:r>
              <a:rPr lang="en-US" sz="1300" dirty="0">
                <a:solidFill>
                  <a:srgbClr val="475569"/>
                </a:solidFill>
                <a:latin typeface="Courier New" pitchFamily="34" charset="0"/>
                <a:ea typeface="Courier New" pitchFamily="34" charset="-122"/>
                <a:cs typeface="Courier New" pitchFamily="34" charset="-120"/>
              </a:rPr>
              <a:t>url</a:t>
            </a:r>
            <a:pPr indent="0" marL="0">
              <a:buNone/>
            </a:pPr>
            <a:r>
              <a:rPr lang="en-US" sz="1300" dirty="0">
                <a:solidFill>
                  <a:srgbClr val="00B8D9"/>
                </a:solidFill>
                <a:latin typeface="Courier New" pitchFamily="34" charset="0"/>
                <a:ea typeface="Courier New" pitchFamily="34" charset="-122"/>
                <a:cs typeface="Courier New" pitchFamily="34" charset="-120"/>
              </a:rPr>
              <a:t>)</a:t>
            </a:r>
            <a:endParaRPr lang="en-US" sz="1300" dirty="0"/>
          </a:p>
        </p:txBody>
      </p:sp>
      <p:sp>
        <p:nvSpPr>
          <p:cNvPr id="9" name="Text 6"/>
          <p:cNvSpPr/>
          <p:nvPr/>
        </p:nvSpPr>
        <p:spPr>
          <a:xfrm>
            <a:off x="1005840" y="3886200"/>
            <a:ext cx="5029200" cy="18288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Move resource-loading hints into the components that actually need them — no more &lt;Helmet&gt; or framework-specific shenanigans.</a:t>
            </a:r>
            <a:endParaRPr lang="en-US" sz="1250" dirty="0"/>
          </a:p>
        </p:txBody>
      </p:sp>
      <p:sp>
        <p:nvSpPr>
          <p:cNvPr id="10" name="Shape 7"/>
          <p:cNvSpPr/>
          <p:nvPr/>
        </p:nvSpPr>
        <p:spPr>
          <a:xfrm>
            <a:off x="6355080" y="1691640"/>
            <a:ext cx="5029200" cy="4206240"/>
          </a:xfrm>
          <a:prstGeom prst="rect">
            <a:avLst/>
          </a:prstGeom>
          <a:solidFill>
            <a:srgbClr val="FFFFFF"/>
          </a:solidFill>
          <a:ln w="12700">
            <a:solidFill>
              <a:srgbClr val="E2E8F0"/>
            </a:solidFill>
            <a:prstDash val="solid"/>
          </a:ln>
        </p:spPr>
      </p:sp>
      <p:pic>
        <p:nvPicPr>
          <p:cNvPr id="11" name="Image 1" descr="preencoded.png">    </p:cNvPr>
          <p:cNvPicPr>
            <a:picLocks noChangeAspect="1"/>
          </p:cNvPicPr>
          <p:nvPr/>
        </p:nvPicPr>
        <p:blipFill>
          <a:blip r:embed="rId2"/>
          <a:stretch>
            <a:fillRect/>
          </a:stretch>
        </p:blipFill>
        <p:spPr>
          <a:xfrm>
            <a:off x="6583680" y="1920240"/>
            <a:ext cx="502920" cy="502920"/>
          </a:xfrm>
          <a:prstGeom prst="rect">
            <a:avLst/>
          </a:prstGeom>
        </p:spPr>
      </p:pic>
      <p:sp>
        <p:nvSpPr>
          <p:cNvPr id="12" name="Text 8"/>
          <p:cNvSpPr/>
          <p:nvPr/>
        </p:nvSpPr>
        <p:spPr>
          <a:xfrm>
            <a:off x="7223760" y="1874520"/>
            <a:ext cx="4023360" cy="50292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Document metadata</a:t>
            </a:r>
            <a:endParaRPr lang="en-US" sz="1600" dirty="0"/>
          </a:p>
        </p:txBody>
      </p:sp>
      <p:sp>
        <p:nvSpPr>
          <p:cNvPr id="13" name="Shape 9"/>
          <p:cNvSpPr/>
          <p:nvPr/>
        </p:nvSpPr>
        <p:spPr>
          <a:xfrm>
            <a:off x="6583680" y="2606040"/>
            <a:ext cx="4663440" cy="1188720"/>
          </a:xfrm>
          <a:prstGeom prst="rect">
            <a:avLst/>
          </a:prstGeom>
          <a:solidFill>
            <a:srgbClr val="1E2A47"/>
          </a:solidFill>
          <a:ln w="12700">
            <a:solidFill>
              <a:srgbClr val="1E2A47"/>
            </a:solidFill>
            <a:prstDash val="solid"/>
          </a:ln>
        </p:spPr>
      </p:sp>
      <p:sp>
        <p:nvSpPr>
          <p:cNvPr id="14" name="Text 10"/>
          <p:cNvSpPr/>
          <p:nvPr/>
        </p:nvSpPr>
        <p:spPr>
          <a:xfrm>
            <a:off x="6766560" y="2697480"/>
            <a:ext cx="4297680" cy="1005840"/>
          </a:xfrm>
          <a:prstGeom prst="rect">
            <a:avLst/>
          </a:prstGeom>
          <a:noFill/>
          <a:ln/>
        </p:spPr>
        <p:txBody>
          <a:bodyPr wrap="square" lIns="0" tIns="0" rIns="0" bIns="0" rtlCol="0" anchor="t"/>
          <a:lstStyle/>
          <a:p>
            <a:pPr indent="0" marL="0">
              <a:buNone/>
            </a:pPr>
            <a:r>
              <a:rPr lang="en-US" sz="1200" dirty="0">
                <a:solidFill>
                  <a:srgbClr val="00B8D9"/>
                </a:solidFill>
                <a:latin typeface="Courier New" pitchFamily="34" charset="0"/>
                <a:ea typeface="Courier New" pitchFamily="34" charset="-122"/>
                <a:cs typeface="Courier New" pitchFamily="34" charset="-120"/>
              </a:rPr>
              <a:t>&lt;title&gt;About&lt;/title&gt;
</a:t>
            </a:r>
            <a:pPr indent="0" marL="0">
              <a:buNone/>
            </a:pPr>
            <a:r>
              <a:rPr lang="en-US" sz="1200" dirty="0">
                <a:solidFill>
                  <a:srgbClr val="FFFFFF"/>
                </a:solidFill>
                <a:latin typeface="Courier New" pitchFamily="34" charset="0"/>
                <a:ea typeface="Courier New" pitchFamily="34" charset="-122"/>
                <a:cs typeface="Courier New" pitchFamily="34" charset="-120"/>
              </a:rPr>
              <a:t>&lt;meta </a:t>
            </a:r>
            <a:pPr indent="0" marL="0">
              <a:buNone/>
            </a:pPr>
            <a:r>
              <a:rPr lang="en-US" sz="1200" dirty="0">
                <a:solidFill>
                  <a:srgbClr val="9CDCFE"/>
                </a:solidFill>
                <a:latin typeface="Courier New" pitchFamily="34" charset="0"/>
                <a:ea typeface="Courier New" pitchFamily="34" charset="-122"/>
                <a:cs typeface="Courier New" pitchFamily="34" charset="-120"/>
              </a:rPr>
              <a:t>name="description"</a:t>
            </a:r>
            <a:pPr indent="0" marL="0">
              <a:buNone/>
            </a:pPr>
            <a:r>
              <a:rPr lang="en-US" sz="1200" dirty="0">
                <a:solidFill>
                  <a:srgbClr val="FFFFFF"/>
                </a:solidFill>
                <a:latin typeface="Courier New" pitchFamily="34" charset="0"/>
                <a:ea typeface="Courier New" pitchFamily="34" charset="-122"/>
                <a:cs typeface="Courier New" pitchFamily="34" charset="-120"/>
              </a:rPr>
              <a:t> ... /&gt;
</a:t>
            </a:r>
            <a:endParaRPr lang="en-US" sz="1200" dirty="0"/>
          </a:p>
        </p:txBody>
      </p:sp>
      <p:sp>
        <p:nvSpPr>
          <p:cNvPr id="15" name="Text 11"/>
          <p:cNvSpPr/>
          <p:nvPr/>
        </p:nvSpPr>
        <p:spPr>
          <a:xfrm>
            <a:off x="6583680" y="3886200"/>
            <a:ext cx="4663440" cy="182880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Drop title and meta tags inline anywhere in your component tree. React deduplicates and hoists.</a:t>
            </a:r>
            <a:endParaRPr lang="en-US" sz="1250" dirty="0"/>
          </a:p>
        </p:txBody>
      </p:sp>
      <p:sp>
        <p:nvSpPr>
          <p:cNvPr id="16" name="Text 1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7" name="Text 13"/>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React Compiler</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Auto-memoization for components and hooks. Most useMemo/useCallback becomes optional.</a:t>
            </a:r>
            <a:endParaRPr lang="en-US" sz="1400" dirty="0"/>
          </a:p>
        </p:txBody>
      </p:sp>
      <p:sp>
        <p:nvSpPr>
          <p:cNvPr id="5" name="Text 3"/>
          <p:cNvSpPr/>
          <p:nvPr/>
        </p:nvSpPr>
        <p:spPr>
          <a:xfrm>
            <a:off x="777240" y="1508760"/>
            <a:ext cx="5349240" cy="365760"/>
          </a:xfrm>
          <a:prstGeom prst="rect">
            <a:avLst/>
          </a:prstGeom>
          <a:noFill/>
          <a:ln/>
        </p:spPr>
        <p:txBody>
          <a:bodyPr wrap="square" lIns="0" tIns="0" rIns="0" bIns="0" rtlCol="0" anchor="ctr"/>
          <a:lstStyle/>
          <a:p>
            <a:pPr indent="0" marL="0">
              <a:buNone/>
            </a:pPr>
            <a:r>
              <a:rPr lang="en-US" sz="1300" b="1" dirty="0">
                <a:solidFill>
                  <a:srgbClr val="DC2626"/>
                </a:solidFill>
                <a:latin typeface="Trebuchet MS" pitchFamily="34" charset="0"/>
                <a:ea typeface="Trebuchet MS" pitchFamily="34" charset="-122"/>
                <a:cs typeface="Trebuchet MS" pitchFamily="34" charset="-120"/>
              </a:rPr>
              <a:t>Before — manual memo</a:t>
            </a:r>
            <a:endParaRPr lang="en-US" sz="1300" dirty="0"/>
          </a:p>
        </p:txBody>
      </p:sp>
      <p:sp>
        <p:nvSpPr>
          <p:cNvPr id="6" name="Shape 4"/>
          <p:cNvSpPr/>
          <p:nvPr/>
        </p:nvSpPr>
        <p:spPr>
          <a:xfrm>
            <a:off x="777240" y="1874520"/>
            <a:ext cx="5349240" cy="2743200"/>
          </a:xfrm>
          <a:prstGeom prst="rect">
            <a:avLst/>
          </a:prstGeom>
          <a:solidFill>
            <a:srgbClr val="1E2A47"/>
          </a:solidFill>
          <a:ln w="12700">
            <a:solidFill>
              <a:srgbClr val="1E2A47"/>
            </a:solidFill>
            <a:prstDash val="solid"/>
          </a:ln>
        </p:spPr>
      </p:sp>
      <p:sp>
        <p:nvSpPr>
          <p:cNvPr id="7" name="Text 5"/>
          <p:cNvSpPr/>
          <p:nvPr/>
        </p:nvSpPr>
        <p:spPr>
          <a:xfrm>
            <a:off x="960120" y="2011680"/>
            <a:ext cx="507492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filtered = </a:t>
            </a:r>
            <a:pPr indent="0" marL="0">
              <a:buNone/>
            </a:pPr>
            <a:r>
              <a:rPr lang="en-US" sz="1200" dirty="0">
                <a:solidFill>
                  <a:srgbClr val="DCDCAA"/>
                </a:solidFill>
                <a:latin typeface="Courier New" pitchFamily="34" charset="0"/>
                <a:ea typeface="Courier New" pitchFamily="34" charset="-122"/>
                <a:cs typeface="Courier New" pitchFamily="34" charset="-120"/>
              </a:rPr>
              <a:t>useMemo</a:t>
            </a:r>
            <a:pPr indent="0" marL="0">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 =&gt; items.filter(</a:t>
            </a:r>
            <a:endParaRPr lang="en-US" sz="1200" dirty="0"/>
          </a:p>
          <a:p>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[items, </a:t>
            </a:r>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
</a:t>
            </a:r>
            <a:pPr indent="0" marL="0">
              <a:buNone/>
            </a:pPr>
            <a:r>
              <a:rPr lang="en-US" sz="1200" dirty="0">
                <a:solidFill>
                  <a:srgbClr val="FFFFFF"/>
                </a:solidFill>
                <a:latin typeface="Courier New" pitchFamily="34" charset="0"/>
                <a:ea typeface="Courier New" pitchFamily="34" charset="-122"/>
                <a:cs typeface="Courier New" pitchFamily="34" charset="-120"/>
              </a:rPr>
              <a:t>const onClick = </a:t>
            </a:r>
            <a:pPr indent="0" marL="0">
              <a:buNone/>
            </a:pPr>
            <a:r>
              <a:rPr lang="en-US" sz="1200" dirty="0">
                <a:solidFill>
                  <a:srgbClr val="DCDCAA"/>
                </a:solidFill>
                <a:latin typeface="Courier New" pitchFamily="34" charset="0"/>
                <a:ea typeface="Courier New" pitchFamily="34" charset="-122"/>
                <a:cs typeface="Courier New" pitchFamily="34" charset="-120"/>
              </a:rPr>
              <a:t>useCallback</a:t>
            </a:r>
            <a:pPr indent="0" marL="0">
              <a:buNone/>
            </a:pPr>
            <a:r>
              <a:rPr lang="en-US" sz="1200" dirty="0">
                <a:solidFill>
                  <a:srgbClr val="FFFFFF"/>
                </a:solidFill>
                <a:latin typeface="Courier New" pitchFamily="34" charset="0"/>
                <a:ea typeface="Courier New" pitchFamily="34" charset="-122"/>
                <a:cs typeface="Courier New" pitchFamily="34" charset="-120"/>
              </a:rPr>
              <a:t>(
  (e) =&gt; save(e), [save]
);
</a:t>
            </a:r>
            <a:pPr indent="0" marL="0">
              <a:buNone/>
            </a:pPr>
            <a:r>
              <a:rPr lang="en-US" sz="1200" dirty="0">
                <a:solidFill>
                  <a:srgbClr val="FFFFFF"/>
                </a:solidFill>
                <a:latin typeface="Courier New" pitchFamily="34" charset="0"/>
                <a:ea typeface="Courier New" pitchFamily="34" charset="-122"/>
                <a:cs typeface="Courier New" pitchFamily="34" charset="-120"/>
              </a:rPr>
              <a:t>export default </a:t>
            </a:r>
            <a:pPr indent="0" marL="0">
              <a:buNone/>
            </a:pPr>
            <a:r>
              <a:rPr lang="en-US" sz="1200" dirty="0">
                <a:solidFill>
                  <a:srgbClr val="DCDCAA"/>
                </a:solidFill>
                <a:latin typeface="Courier New" pitchFamily="34" charset="0"/>
                <a:ea typeface="Courier New" pitchFamily="34" charset="-122"/>
                <a:cs typeface="Courier New" pitchFamily="34" charset="-120"/>
              </a:rPr>
              <a:t>memo</a:t>
            </a:r>
            <a:pPr indent="0" marL="0">
              <a:buNone/>
            </a:pPr>
            <a:r>
              <a:rPr lang="en-US" sz="1200" dirty="0">
                <a:solidFill>
                  <a:srgbClr val="FFFFFF"/>
                </a:solidFill>
                <a:latin typeface="Courier New" pitchFamily="34" charset="0"/>
                <a:ea typeface="Courier New" pitchFamily="34" charset="-122"/>
                <a:cs typeface="Courier New" pitchFamily="34" charset="-120"/>
              </a:rPr>
              <a:t>(MyList);</a:t>
            </a:r>
            <a:endParaRPr lang="en-US" sz="1200" dirty="0"/>
          </a:p>
        </p:txBody>
      </p:sp>
      <p:sp>
        <p:nvSpPr>
          <p:cNvPr id="8" name="Text 6"/>
          <p:cNvSpPr/>
          <p:nvPr/>
        </p:nvSpPr>
        <p:spPr>
          <a:xfrm>
            <a:off x="6355080" y="1508760"/>
            <a:ext cx="5029200" cy="365760"/>
          </a:xfrm>
          <a:prstGeom prst="rect">
            <a:avLst/>
          </a:prstGeom>
          <a:noFill/>
          <a:ln/>
        </p:spPr>
        <p:txBody>
          <a:bodyPr wrap="square" lIns="0" tIns="0" rIns="0" bIns="0" rtlCol="0" anchor="ctr"/>
          <a:lstStyle/>
          <a:p>
            <a:pPr indent="0" marL="0">
              <a:buNone/>
            </a:pPr>
            <a:r>
              <a:rPr lang="en-US" sz="1300" b="1" dirty="0">
                <a:solidFill>
                  <a:srgbClr val="059669"/>
                </a:solidFill>
                <a:latin typeface="Trebuchet MS" pitchFamily="34" charset="0"/>
                <a:ea typeface="Trebuchet MS" pitchFamily="34" charset="-122"/>
                <a:cs typeface="Trebuchet MS" pitchFamily="34" charset="-120"/>
              </a:rPr>
              <a:t>After — Compiler enabled</a:t>
            </a:r>
            <a:endParaRPr lang="en-US" sz="1300" dirty="0"/>
          </a:p>
        </p:txBody>
      </p:sp>
      <p:sp>
        <p:nvSpPr>
          <p:cNvPr id="9" name="Shape 7"/>
          <p:cNvSpPr/>
          <p:nvPr/>
        </p:nvSpPr>
        <p:spPr>
          <a:xfrm>
            <a:off x="6355080" y="1874520"/>
            <a:ext cx="5029200" cy="2743200"/>
          </a:xfrm>
          <a:prstGeom prst="rect">
            <a:avLst/>
          </a:prstGeom>
          <a:solidFill>
            <a:srgbClr val="1E2A47"/>
          </a:solidFill>
          <a:ln w="12700">
            <a:solidFill>
              <a:srgbClr val="1E2A47"/>
            </a:solidFill>
            <a:prstDash val="solid"/>
          </a:ln>
        </p:spPr>
      </p:sp>
      <p:sp>
        <p:nvSpPr>
          <p:cNvPr id="10" name="Text 8"/>
          <p:cNvSpPr/>
          <p:nvPr/>
        </p:nvSpPr>
        <p:spPr>
          <a:xfrm>
            <a:off x="6537960" y="2011680"/>
            <a:ext cx="4754880" cy="24688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const filtered = items.filter(</a:t>
            </a:r>
            <a:pPr indent="0" marL="0">
              <a:buNone/>
            </a:pPr>
            <a:r>
              <a:rPr lang="en-US" sz="1200" dirty="0">
                <a:solidFill>
                  <a:srgbClr val="9CDCFE"/>
                </a:solidFill>
                <a:latin typeface="Courier New" pitchFamily="34" charset="0"/>
                <a:ea typeface="Courier New" pitchFamily="34" charset="-122"/>
                <a:cs typeface="Courier New" pitchFamily="34" charset="-120"/>
              </a:rPr>
              <a:t>f</a:t>
            </a:r>
            <a:pPr indent="0" marL="0">
              <a:buNone/>
            </a:pPr>
            <a:r>
              <a:rPr lang="en-US" sz="1200" dirty="0">
                <a:solidFill>
                  <a:srgbClr val="FFFFFF"/>
                </a:solidFill>
                <a:latin typeface="Courier New" pitchFamily="34" charset="0"/>
                <a:ea typeface="Courier New" pitchFamily="34" charset="-122"/>
                <a:cs typeface="Courier New" pitchFamily="34" charset="-120"/>
              </a:rPr>
              <a:t>);
</a:t>
            </a:r>
            <a:pPr indent="0" marL="0">
              <a:buNone/>
            </a:pPr>
            <a:r>
              <a:rPr lang="en-US" sz="1200" dirty="0">
                <a:solidFill>
                  <a:srgbClr val="FFFFFF"/>
                </a:solidFill>
                <a:latin typeface="Courier New" pitchFamily="34" charset="0"/>
                <a:ea typeface="Courier New" pitchFamily="34" charset="-122"/>
                <a:cs typeface="Courier New" pitchFamily="34" charset="-120"/>
              </a:rPr>
              <a:t>const onClick = (</a:t>
            </a:r>
            <a:pPr indent="0" marL="0">
              <a:buNone/>
            </a:pPr>
            <a:r>
              <a:rPr lang="en-US" sz="1200" dirty="0">
                <a:solidFill>
                  <a:srgbClr val="9CDCFE"/>
                </a:solidFill>
                <a:latin typeface="Courier New" pitchFamily="34" charset="0"/>
                <a:ea typeface="Courier New" pitchFamily="34" charset="-122"/>
                <a:cs typeface="Courier New" pitchFamily="34" charset="-120"/>
              </a:rPr>
              <a:t>e</a:t>
            </a:r>
            <a:pPr indent="0" marL="0">
              <a:buNone/>
            </a:pPr>
            <a:r>
              <a:rPr lang="en-US" sz="1200" dirty="0">
                <a:solidFill>
                  <a:srgbClr val="FFFFFF"/>
                </a:solidFill>
                <a:latin typeface="Courier New" pitchFamily="34" charset="0"/>
                <a:ea typeface="Courier New" pitchFamily="34" charset="-122"/>
                <a:cs typeface="Courier New" pitchFamily="34" charset="-120"/>
              </a:rPr>
              <a:t>) =&gt; save(e);
</a:t>
            </a:r>
            <a:pPr indent="0" marL="0">
              <a:buNone/>
            </a:pPr>
            <a:r>
              <a:rPr lang="en-US" sz="1200" dirty="0">
                <a:solidFill>
                  <a:srgbClr val="FFFFFF"/>
                </a:solidFill>
                <a:latin typeface="Courier New" pitchFamily="34" charset="0"/>
                <a:ea typeface="Courier New" pitchFamily="34" charset="-122"/>
                <a:cs typeface="Courier New" pitchFamily="34" charset="-120"/>
              </a:rPr>
              <a:t>export default MyList;
</a:t>
            </a:r>
            <a:pPr indent="0" marL="0">
              <a:buNone/>
            </a:pPr>
            <a:r>
              <a:rPr lang="en-US" sz="1200" dirty="0">
                <a:solidFill>
                  <a:srgbClr val="6A9955"/>
                </a:solidFill>
                <a:latin typeface="Courier New" pitchFamily="34" charset="0"/>
                <a:ea typeface="Courier New" pitchFamily="34" charset="-122"/>
                <a:cs typeface="Courier New" pitchFamily="34" charset="-120"/>
              </a:rPr>
              <a:t>// Compiler memoizes</a:t>
            </a:r>
            <a:endParaRPr lang="en-US" sz="1200" dirty="0"/>
          </a:p>
        </p:txBody>
      </p:sp>
      <p:sp>
        <p:nvSpPr>
          <p:cNvPr id="11" name="Shape 9"/>
          <p:cNvSpPr/>
          <p:nvPr/>
        </p:nvSpPr>
        <p:spPr>
          <a:xfrm>
            <a:off x="777240" y="4937760"/>
            <a:ext cx="10607040" cy="1280160"/>
          </a:xfrm>
          <a:prstGeom prst="rect">
            <a:avLst/>
          </a:prstGeom>
          <a:solidFill>
            <a:srgbClr val="CBF1F6"/>
          </a:solidFill>
          <a:ln w="12700">
            <a:solidFill>
              <a:srgbClr val="CBF1F6"/>
            </a:solidFill>
            <a:prstDash val="solid"/>
          </a:ln>
        </p:spPr>
      </p:sp>
      <p:pic>
        <p:nvPicPr>
          <p:cNvPr id="12" name="Image 0" descr="preencoded.png">    </p:cNvPr>
          <p:cNvPicPr>
            <a:picLocks noChangeAspect="1"/>
          </p:cNvPicPr>
          <p:nvPr/>
        </p:nvPicPr>
        <p:blipFill>
          <a:blip r:embed="rId1"/>
          <a:stretch>
            <a:fillRect/>
          </a:stretch>
        </p:blipFill>
        <p:spPr>
          <a:xfrm>
            <a:off x="1005840" y="5212080"/>
            <a:ext cx="502920" cy="502920"/>
          </a:xfrm>
          <a:prstGeom prst="rect">
            <a:avLst/>
          </a:prstGeom>
        </p:spPr>
      </p:pic>
      <p:sp>
        <p:nvSpPr>
          <p:cNvPr id="13" name="Text 10"/>
          <p:cNvSpPr/>
          <p:nvPr/>
        </p:nvSpPr>
        <p:spPr>
          <a:xfrm>
            <a:off x="1691640" y="4983480"/>
            <a:ext cx="9601200" cy="118872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Enabled per-project. Pair with the eslint plugin so it tells you which components opted out.</a:t>
            </a:r>
            <a:endParaRPr lang="en-US" sz="130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the Compiler doesn't do for you</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Knowing the limits is what keeps performance work honest.</a:t>
            </a:r>
            <a:endParaRPr lang="en-US" sz="1400" dirty="0"/>
          </a:p>
        </p:txBody>
      </p:sp>
      <p:sp>
        <p:nvSpPr>
          <p:cNvPr id="5" name="Shape 3"/>
          <p:cNvSpPr/>
          <p:nvPr/>
        </p:nvSpPr>
        <p:spPr>
          <a:xfrm>
            <a:off x="777240" y="1554480"/>
            <a:ext cx="10607040" cy="86868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37360"/>
            <a:ext cx="502920" cy="502920"/>
          </a:xfrm>
          <a:prstGeom prst="rect">
            <a:avLst/>
          </a:prstGeom>
        </p:spPr>
      </p:pic>
      <p:sp>
        <p:nvSpPr>
          <p:cNvPr id="7" name="Text 4"/>
          <p:cNvSpPr/>
          <p:nvPr/>
        </p:nvSpPr>
        <p:spPr>
          <a:xfrm>
            <a:off x="1691640" y="164592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fix Rules of Hooks violations</a:t>
            </a:r>
            <a:endParaRPr lang="en-US" sz="1400" dirty="0"/>
          </a:p>
        </p:txBody>
      </p:sp>
      <p:sp>
        <p:nvSpPr>
          <p:cNvPr id="8" name="Text 5"/>
          <p:cNvSpPr/>
          <p:nvPr/>
        </p:nvSpPr>
        <p:spPr>
          <a:xfrm>
            <a:off x="1691640" y="196596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Same rules as before. If anything, the eslint plugin gets stricter — opt-in violations bail out of memoization.</a:t>
            </a:r>
            <a:endParaRPr lang="en-US" sz="1150" dirty="0"/>
          </a:p>
        </p:txBody>
      </p:sp>
      <p:sp>
        <p:nvSpPr>
          <p:cNvPr id="9" name="Shape 6"/>
          <p:cNvSpPr/>
          <p:nvPr/>
        </p:nvSpPr>
        <p:spPr>
          <a:xfrm>
            <a:off x="777240" y="2606040"/>
            <a:ext cx="10607040" cy="86868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2788920"/>
            <a:ext cx="502920" cy="502920"/>
          </a:xfrm>
          <a:prstGeom prst="rect">
            <a:avLst/>
          </a:prstGeom>
        </p:spPr>
      </p:pic>
      <p:sp>
        <p:nvSpPr>
          <p:cNvPr id="11" name="Text 7"/>
          <p:cNvSpPr/>
          <p:nvPr/>
        </p:nvSpPr>
        <p:spPr>
          <a:xfrm>
            <a:off x="1691640" y="269748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memoize across mutation</a:t>
            </a:r>
            <a:endParaRPr lang="en-US" sz="1400" dirty="0"/>
          </a:p>
        </p:txBody>
      </p:sp>
      <p:sp>
        <p:nvSpPr>
          <p:cNvPr id="12" name="Text 8"/>
          <p:cNvSpPr/>
          <p:nvPr/>
        </p:nvSpPr>
        <p:spPr>
          <a:xfrm>
            <a:off x="1691640" y="301752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Mutating an object and reusing it still breaks memoization. Use immutable updates.</a:t>
            </a:r>
            <a:endParaRPr lang="en-US" sz="1150" dirty="0"/>
          </a:p>
        </p:txBody>
      </p:sp>
      <p:sp>
        <p:nvSpPr>
          <p:cNvPr id="13" name="Shape 9"/>
          <p:cNvSpPr/>
          <p:nvPr/>
        </p:nvSpPr>
        <p:spPr>
          <a:xfrm>
            <a:off x="777240" y="3657600"/>
            <a:ext cx="10607040" cy="868680"/>
          </a:xfrm>
          <a:prstGeom prst="rect">
            <a:avLst/>
          </a:prstGeom>
          <a:solidFill>
            <a:srgbClr val="FFFFFF"/>
          </a:solidFill>
          <a:ln w="12700">
            <a:solidFill>
              <a:srgbClr val="E2E8F0"/>
            </a:solidFill>
            <a:prstDash val="solid"/>
          </a:ln>
        </p:spPr>
      </p:sp>
      <p:pic>
        <p:nvPicPr>
          <p:cNvPr id="14" name="Image 2" descr="preencoded.png">    </p:cNvPr>
          <p:cNvPicPr>
            <a:picLocks noChangeAspect="1"/>
          </p:cNvPicPr>
          <p:nvPr/>
        </p:nvPicPr>
        <p:blipFill>
          <a:blip r:embed="rId3"/>
          <a:stretch>
            <a:fillRect/>
          </a:stretch>
        </p:blipFill>
        <p:spPr>
          <a:xfrm>
            <a:off x="960120" y="3840480"/>
            <a:ext cx="502920" cy="502920"/>
          </a:xfrm>
          <a:prstGeom prst="rect">
            <a:avLst/>
          </a:prstGeom>
        </p:spPr>
      </p:pic>
      <p:sp>
        <p:nvSpPr>
          <p:cNvPr id="15" name="Text 10"/>
          <p:cNvSpPr/>
          <p:nvPr/>
        </p:nvSpPr>
        <p:spPr>
          <a:xfrm>
            <a:off x="1691640" y="374904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replace algorithmic optimization</a:t>
            </a:r>
            <a:endParaRPr lang="en-US" sz="1400" dirty="0"/>
          </a:p>
        </p:txBody>
      </p:sp>
      <p:sp>
        <p:nvSpPr>
          <p:cNvPr id="16" name="Text 11"/>
          <p:cNvSpPr/>
          <p:nvPr/>
        </p:nvSpPr>
        <p:spPr>
          <a:xfrm>
            <a:off x="1691640" y="406908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If your filter is O(n²), the Compiler can't save you. Look at the data, not just the renders.</a:t>
            </a:r>
            <a:endParaRPr lang="en-US" sz="1150" dirty="0"/>
          </a:p>
        </p:txBody>
      </p:sp>
      <p:sp>
        <p:nvSpPr>
          <p:cNvPr id="17" name="Shape 12"/>
          <p:cNvSpPr/>
          <p:nvPr/>
        </p:nvSpPr>
        <p:spPr>
          <a:xfrm>
            <a:off x="777240" y="4709160"/>
            <a:ext cx="10607040" cy="868680"/>
          </a:xfrm>
          <a:prstGeom prst="rect">
            <a:avLst/>
          </a:prstGeom>
          <a:solidFill>
            <a:srgbClr val="FFFFFF"/>
          </a:solidFill>
          <a:ln w="12700">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960120" y="4892040"/>
            <a:ext cx="502920" cy="502920"/>
          </a:xfrm>
          <a:prstGeom prst="rect">
            <a:avLst/>
          </a:prstGeom>
        </p:spPr>
      </p:pic>
      <p:sp>
        <p:nvSpPr>
          <p:cNvPr id="19" name="Text 13"/>
          <p:cNvSpPr/>
          <p:nvPr/>
        </p:nvSpPr>
        <p:spPr>
          <a:xfrm>
            <a:off x="1691640" y="4800600"/>
            <a:ext cx="96012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Doesn't help with non-React work</a:t>
            </a:r>
            <a:endParaRPr lang="en-US" sz="1400" dirty="0"/>
          </a:p>
        </p:txBody>
      </p:sp>
      <p:sp>
        <p:nvSpPr>
          <p:cNvPr id="20" name="Text 14"/>
          <p:cNvSpPr/>
          <p:nvPr/>
        </p:nvSpPr>
        <p:spPr>
          <a:xfrm>
            <a:off x="1691640" y="5120640"/>
            <a:ext cx="9601200" cy="457200"/>
          </a:xfrm>
          <a:prstGeom prst="rect">
            <a:avLst/>
          </a:prstGeom>
          <a:noFill/>
          <a:ln/>
        </p:spPr>
        <p:txBody>
          <a:bodyPr wrap="square" lIns="0" tIns="0" rIns="0" bIns="0" rtlCol="0" anchor="ctr"/>
          <a:lstStyle/>
          <a:p>
            <a:pPr indent="0" marL="0">
              <a:buNone/>
            </a:pPr>
            <a:r>
              <a:rPr lang="en-US" sz="1150" dirty="0">
                <a:solidFill>
                  <a:srgbClr val="475569"/>
                </a:solidFill>
                <a:latin typeface="Arial" pitchFamily="34" charset="0"/>
                <a:ea typeface="Arial" pitchFamily="34" charset="-122"/>
                <a:cs typeface="Arial" pitchFamily="34" charset="-120"/>
              </a:rPr>
              <a:t>A blocking 200ms request is still a blocking 200ms request. Web Workers, Suspense, and streaming still apply.</a:t>
            </a:r>
            <a:endParaRPr lang="en-US" sz="1150" dirty="0"/>
          </a:p>
        </p:txBody>
      </p:sp>
      <p:sp>
        <p:nvSpPr>
          <p:cNvPr id="21" name="Text 15"/>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2" name="Text 16"/>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A47"/>
        </a:solidFill>
      </p:bgPr>
    </p:bg>
    <p:spTree>
      <p:nvGrpSpPr>
        <p:cNvPr id="1" name=""/>
        <p:cNvGrpSpPr/>
        <p:nvPr/>
      </p:nvGrpSpPr>
      <p:grpSpPr>
        <a:xfrm>
          <a:off x="0" y="0"/>
          <a:ext cx="0" cy="0"/>
          <a:chOff x="0" y="0"/>
          <a:chExt cx="0" cy="0"/>
        </a:xfrm>
      </p:grpSpPr>
      <p:sp>
        <p:nvSpPr>
          <p:cNvPr id="2" name="Shape 0"/>
          <p:cNvSpPr/>
          <p:nvPr/>
        </p:nvSpPr>
        <p:spPr>
          <a:xfrm>
            <a:off x="640080" y="2743200"/>
            <a:ext cx="548640" cy="73152"/>
          </a:xfrm>
          <a:prstGeom prst="rect">
            <a:avLst/>
          </a:prstGeom>
          <a:solidFill>
            <a:srgbClr val="00B8D9"/>
          </a:solidFill>
          <a:ln w="12700">
            <a:solidFill>
              <a:srgbClr val="00B8D9"/>
            </a:solidFill>
            <a:prstDash val="solid"/>
          </a:ln>
        </p:spPr>
      </p:sp>
      <p:sp>
        <p:nvSpPr>
          <p:cNvPr id="3" name="Text 1"/>
          <p:cNvSpPr/>
          <p:nvPr/>
        </p:nvSpPr>
        <p:spPr>
          <a:xfrm>
            <a:off x="640080" y="2880360"/>
            <a:ext cx="3657600" cy="457200"/>
          </a:xfrm>
          <a:prstGeom prst="rect">
            <a:avLst/>
          </a:prstGeom>
          <a:noFill/>
          <a:ln/>
        </p:spPr>
        <p:txBody>
          <a:bodyPr wrap="square" lIns="0" tIns="0" rIns="0" bIns="0" rtlCol="0" anchor="ctr"/>
          <a:lstStyle/>
          <a:p>
            <a:pPr indent="0" marL="0">
              <a:buNone/>
            </a:pPr>
            <a:r>
              <a:rPr lang="en-US" sz="1600" dirty="0">
                <a:solidFill>
                  <a:srgbClr val="00B8D9"/>
                </a:solidFill>
                <a:latin typeface="Trebuchet MS" pitchFamily="34" charset="0"/>
                <a:ea typeface="Trebuchet MS" pitchFamily="34" charset="-122"/>
                <a:cs typeface="Trebuchet MS" pitchFamily="34" charset="-120"/>
              </a:rPr>
              <a:t>Part 2</a:t>
            </a:r>
            <a:endParaRPr lang="en-US" sz="1600" dirty="0"/>
          </a:p>
        </p:txBody>
      </p:sp>
      <p:sp>
        <p:nvSpPr>
          <p:cNvPr id="4" name="Text 2"/>
          <p:cNvSpPr/>
          <p:nvPr/>
        </p:nvSpPr>
        <p:spPr>
          <a:xfrm>
            <a:off x="640080" y="329184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Trebuchet MS" pitchFamily="34" charset="0"/>
                <a:ea typeface="Trebuchet MS" pitchFamily="34" charset="-122"/>
                <a:cs typeface="Trebuchet MS" pitchFamily="34" charset="-120"/>
              </a:rPr>
              <a:t>Bootstrapping in 2026</a:t>
            </a:r>
            <a:endParaRPr lang="en-US" sz="4800" dirty="0"/>
          </a:p>
        </p:txBody>
      </p:sp>
      <p:sp>
        <p:nvSpPr>
          <p:cNvPr id="5" name="Text 3"/>
          <p:cNvSpPr/>
          <p:nvPr/>
        </p:nvSpPr>
        <p:spPr>
          <a:xfrm>
            <a:off x="640080" y="4434840"/>
            <a:ext cx="10972800" cy="548640"/>
          </a:xfrm>
          <a:prstGeom prst="rect">
            <a:avLst/>
          </a:prstGeom>
          <a:noFill/>
          <a:ln/>
        </p:spPr>
        <p:txBody>
          <a:bodyPr wrap="square" lIns="0" tIns="0" rIns="0" bIns="0" rtlCol="0" anchor="ctr"/>
          <a:lstStyle/>
          <a:p>
            <a:pPr indent="0" marL="0">
              <a:buNone/>
            </a:pPr>
            <a:r>
              <a:rPr lang="en-US" sz="1800" i="1" dirty="0">
                <a:solidFill>
                  <a:srgbClr val="CBF1F6"/>
                </a:solidFill>
                <a:latin typeface="Arial" pitchFamily="34" charset="0"/>
                <a:ea typeface="Arial" pitchFamily="34" charset="-122"/>
                <a:cs typeface="Arial" pitchFamily="34" charset="-120"/>
              </a:rPr>
              <a:t>Vite, frameworks, and choosing not to choose a framework.</a:t>
            </a:r>
            <a:endParaRPr lang="en-US" sz="1800" dirty="0"/>
          </a:p>
        </p:txBody>
      </p:sp>
      <p:pic>
        <p:nvPicPr>
          <p:cNvPr id="6" name="Image 0" descr="preencoded.png">    </p:cNvPr>
          <p:cNvPicPr>
            <a:picLocks noChangeAspect="1"/>
          </p:cNvPicPr>
          <p:nvPr/>
        </p:nvPicPr>
        <p:blipFill>
          <a:blip r:embed="rId1"/>
          <a:stretch>
            <a:fillRect/>
          </a:stretch>
        </p:blipFill>
        <p:spPr>
          <a:xfrm>
            <a:off x="9905695" y="640080"/>
            <a:ext cx="1371600" cy="137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Create React App is gone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Officially deprecated by the React team in February 2025.</a:t>
            </a:r>
            <a:endParaRPr lang="en-US" sz="1400" dirty="0"/>
          </a:p>
        </p:txBody>
      </p:sp>
      <p:sp>
        <p:nvSpPr>
          <p:cNvPr id="5" name="Shape 3"/>
          <p:cNvSpPr/>
          <p:nvPr/>
        </p:nvSpPr>
        <p:spPr>
          <a:xfrm>
            <a:off x="777240" y="1645920"/>
            <a:ext cx="10607040" cy="1828800"/>
          </a:xfrm>
          <a:prstGeom prst="rect">
            <a:avLst/>
          </a:prstGeom>
          <a:solidFill>
            <a:srgbClr val="CBF1F6"/>
          </a:solidFill>
          <a:ln w="12700">
            <a:solidFill>
              <a:srgbClr val="CBF1F6"/>
            </a:solidFill>
            <a:prstDash val="solid"/>
          </a:ln>
        </p:spPr>
      </p:sp>
      <p:sp>
        <p:nvSpPr>
          <p:cNvPr id="6" name="Text 4"/>
          <p:cNvSpPr/>
          <p:nvPr/>
        </p:nvSpPr>
        <p:spPr>
          <a:xfrm>
            <a:off x="1005840" y="1783080"/>
            <a:ext cx="10149840" cy="1554480"/>
          </a:xfrm>
          <a:prstGeom prst="rect">
            <a:avLst/>
          </a:prstGeom>
          <a:noFill/>
          <a:ln/>
        </p:spPr>
        <p:txBody>
          <a:bodyPr wrap="square" lIns="0" tIns="0" rIns="0" bIns="0" rtlCol="0" anchor="ctr"/>
          <a:lstStyle/>
          <a:p>
            <a:pPr indent="0" marL="0">
              <a:buNone/>
            </a:pPr>
            <a:r>
              <a:rPr lang="en-US" sz="3800" b="1" dirty="0">
                <a:solidFill>
                  <a:srgbClr val="0F172A"/>
                </a:solidFill>
                <a:latin typeface="Courier New" pitchFamily="34" charset="0"/>
                <a:ea typeface="Courier New" pitchFamily="34" charset="-122"/>
                <a:cs typeface="Courier New" pitchFamily="34" charset="-120"/>
              </a:rPr>
              <a:t>create-react-app</a:t>
            </a:r>
            <a:pPr indent="0" marL="0">
              <a:buNone/>
            </a:pPr>
            <a:r>
              <a:rPr lang="en-US" sz="2800" dirty="0">
                <a:solidFill>
                  <a:srgbClr val="475569"/>
                </a:solidFill>
              </a:rPr>
              <a:t>  →  </a:t>
            </a:r>
            <a:pPr indent="0" marL="0">
              <a:buNone/>
            </a:pPr>
            <a:r>
              <a:rPr lang="en-US" sz="3800" b="1" dirty="0">
                <a:solidFill>
                  <a:srgbClr val="DC2626"/>
                </a:solidFill>
                <a:latin typeface="Trebuchet MS" pitchFamily="34" charset="0"/>
                <a:ea typeface="Trebuchet MS" pitchFamily="34" charset="-122"/>
                <a:cs typeface="Trebuchet MS" pitchFamily="34" charset="-120"/>
              </a:rPr>
              <a:t>deprecated</a:t>
            </a:r>
            <a:endParaRPr lang="en-US" sz="3800" dirty="0"/>
          </a:p>
        </p:txBody>
      </p:sp>
      <p:sp>
        <p:nvSpPr>
          <p:cNvPr id="7" name="Text 5"/>
          <p:cNvSpPr/>
          <p:nvPr/>
        </p:nvSpPr>
        <p:spPr>
          <a:xfrm>
            <a:off x="777240" y="3657600"/>
            <a:ext cx="1060704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Why now:</a:t>
            </a:r>
            <a:endParaRPr lang="en-US" sz="1400" dirty="0"/>
          </a:p>
        </p:txBody>
      </p:sp>
      <p:sp>
        <p:nvSpPr>
          <p:cNvPr id="8" name="Text 6"/>
          <p:cNvSpPr/>
          <p:nvPr/>
        </p:nvSpPr>
        <p:spPr>
          <a:xfrm>
            <a:off x="777240" y="4023360"/>
            <a:ext cx="1060704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Webpack-based build couldn't keep up with modern dev-server expectations (HMR, ESM)</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React 19's server-driven features need a framework or a Vite-style native build</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Maintenance burden on the React team without strategic upside</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Existing CRA projects keep working — but new projects shouldn't start there</a:t>
            </a:r>
            <a:endParaRPr lang="en-US" sz="1300" dirty="0"/>
          </a:p>
        </p:txBody>
      </p:sp>
      <p:sp>
        <p:nvSpPr>
          <p:cNvPr id="9" name="Text 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0" name="Text 8"/>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Vite is the new default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If you're not using a framework, you're probably using Vite.</a:t>
            </a:r>
            <a:endParaRPr lang="en-US" sz="1400" dirty="0"/>
          </a:p>
        </p:txBody>
      </p:sp>
      <p:sp>
        <p:nvSpPr>
          <p:cNvPr id="5" name="Shape 3"/>
          <p:cNvSpPr/>
          <p:nvPr/>
        </p:nvSpPr>
        <p:spPr>
          <a:xfrm>
            <a:off x="777240" y="1645920"/>
            <a:ext cx="5943600" cy="1828800"/>
          </a:xfrm>
          <a:prstGeom prst="rect">
            <a:avLst/>
          </a:prstGeom>
          <a:solidFill>
            <a:srgbClr val="1E2A47"/>
          </a:solidFill>
          <a:ln w="12700">
            <a:solidFill>
              <a:srgbClr val="1E2A47"/>
            </a:solidFill>
            <a:prstDash val="solid"/>
          </a:ln>
        </p:spPr>
      </p:sp>
      <p:sp>
        <p:nvSpPr>
          <p:cNvPr id="6" name="Text 4"/>
          <p:cNvSpPr/>
          <p:nvPr/>
        </p:nvSpPr>
        <p:spPr>
          <a:xfrm>
            <a:off x="960120" y="1828800"/>
            <a:ext cx="5577840" cy="457200"/>
          </a:xfrm>
          <a:prstGeom prst="rect">
            <a:avLst/>
          </a:prstGeom>
          <a:noFill/>
          <a:ln/>
        </p:spPr>
        <p:txBody>
          <a:bodyPr wrap="square" lIns="0" tIns="0" rIns="0" bIns="0" rtlCol="0" anchor="ctr"/>
          <a:lstStyle/>
          <a:p>
            <a:pPr indent="0" marL="0">
              <a:buNone/>
            </a:pPr>
            <a:r>
              <a:rPr lang="en-US" sz="1800" dirty="0">
                <a:solidFill>
                  <a:srgbClr val="6A9955"/>
                </a:solidFill>
                <a:latin typeface="Courier New" pitchFamily="34" charset="0"/>
                <a:ea typeface="Courier New" pitchFamily="34" charset="-122"/>
                <a:cs typeface="Courier New" pitchFamily="34" charset="-120"/>
              </a:rPr>
              <a:t>$ </a:t>
            </a:r>
            <a:pPr indent="0" marL="0">
              <a:buNone/>
            </a:pPr>
            <a:r>
              <a:rPr lang="en-US" sz="1800" dirty="0">
                <a:solidFill>
                  <a:srgbClr val="FFFFFF"/>
                </a:solidFill>
                <a:latin typeface="Courier New" pitchFamily="34" charset="0"/>
                <a:ea typeface="Courier New" pitchFamily="34" charset="-122"/>
                <a:cs typeface="Courier New" pitchFamily="34" charset="-120"/>
              </a:rPr>
              <a:t>npm create vite@latest</a:t>
            </a:r>
            <a:endParaRPr lang="en-US" sz="1800" dirty="0"/>
          </a:p>
        </p:txBody>
      </p:sp>
      <p:sp>
        <p:nvSpPr>
          <p:cNvPr id="7" name="Text 5"/>
          <p:cNvSpPr/>
          <p:nvPr/>
        </p:nvSpPr>
        <p:spPr>
          <a:xfrm>
            <a:off x="960120" y="2377440"/>
            <a:ext cx="5577840" cy="1005840"/>
          </a:xfrm>
          <a:prstGeom prst="rect">
            <a:avLst/>
          </a:prstGeom>
          <a:noFill/>
          <a:ln/>
        </p:spPr>
        <p:txBody>
          <a:bodyPr wrap="square" lIns="0" tIns="0" rIns="0" bIns="0" rtlCol="0" anchor="ctr"/>
          <a:lstStyle/>
          <a:p>
            <a:pPr indent="0" marL="0">
              <a:buNone/>
            </a:pPr>
            <a:r>
              <a:rPr lang="en-US" sz="1300" dirty="0">
                <a:solidFill>
                  <a:srgbClr val="CBF1F6"/>
                </a:solidFill>
                <a:latin typeface="Courier New" pitchFamily="34" charset="0"/>
                <a:ea typeface="Courier New" pitchFamily="34" charset="-122"/>
                <a:cs typeface="Courier New" pitchFamily="34" charset="-120"/>
              </a:rPr>
              <a:t>✓ Project name … my-app
</a:t>
            </a:r>
            <a:pPr indent="0" marL="0">
              <a:buNone/>
            </a:pPr>
            <a:r>
              <a:rPr lang="en-US" sz="1300" dirty="0">
                <a:solidFill>
                  <a:srgbClr val="CBF1F6"/>
                </a:solidFill>
                <a:latin typeface="Courier New" pitchFamily="34" charset="0"/>
                <a:ea typeface="Courier New" pitchFamily="34" charset="-122"/>
                <a:cs typeface="Courier New" pitchFamily="34" charset="-120"/>
              </a:rPr>
              <a:t>✓ Framework … React
</a:t>
            </a:r>
            <a:pPr indent="0" marL="0">
              <a:buNone/>
            </a:pPr>
            <a:r>
              <a:rPr lang="en-US" sz="1300" dirty="0">
                <a:solidFill>
                  <a:srgbClr val="CBF1F6"/>
                </a:solidFill>
                <a:latin typeface="Courier New" pitchFamily="34" charset="0"/>
                <a:ea typeface="Courier New" pitchFamily="34" charset="-122"/>
                <a:cs typeface="Courier New" pitchFamily="34" charset="-120"/>
              </a:rPr>
              <a:t>✓ Variant … JavaScript</a:t>
            </a:r>
            <a:endParaRPr lang="en-US" sz="1300" dirty="0"/>
          </a:p>
        </p:txBody>
      </p:sp>
      <p:sp>
        <p:nvSpPr>
          <p:cNvPr id="8" name="Text 6"/>
          <p:cNvSpPr/>
          <p:nvPr/>
        </p:nvSpPr>
        <p:spPr>
          <a:xfrm>
            <a:off x="6949440" y="1554480"/>
            <a:ext cx="45720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What you get:</a:t>
            </a:r>
            <a:endParaRPr lang="en-US" sz="1400" dirty="0"/>
          </a:p>
        </p:txBody>
      </p:sp>
      <p:sp>
        <p:nvSpPr>
          <p:cNvPr id="9" name="Text 7"/>
          <p:cNvSpPr/>
          <p:nvPr/>
        </p:nvSpPr>
        <p:spPr>
          <a:xfrm>
            <a:off x="6949440" y="1920240"/>
            <a:ext cx="45720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Native ESM dev server (instant cold start)</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Rollup-based production builds</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Sensible HMR out of the box</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JS, TS, JSX, TSX support without config</a:t>
            </a:r>
            <a:endParaRPr lang="en-US" sz="1250" dirty="0"/>
          </a:p>
          <a:p>
            <a:pPr marL="342900" indent="-342900">
              <a:spcAft>
                <a:spcPts val="400"/>
              </a:spcAft>
              <a:buSzPct val="100000"/>
              <a:buChar char="•"/>
            </a:pPr>
            <a:r>
              <a:rPr lang="en-US" sz="1250" dirty="0">
                <a:solidFill>
                  <a:srgbClr val="475569"/>
                </a:solidFill>
                <a:latin typeface="Arial" pitchFamily="34" charset="0"/>
                <a:ea typeface="Arial" pitchFamily="34" charset="-122"/>
                <a:cs typeface="Arial" pitchFamily="34" charset="-120"/>
              </a:rPr>
              <a:t>Plugin ecosystem covers everything CRA used to plus React Router</a:t>
            </a:r>
            <a:endParaRPr lang="en-US" sz="1250" dirty="0"/>
          </a:p>
        </p:txBody>
      </p:sp>
      <p:sp>
        <p:nvSpPr>
          <p:cNvPr id="10" name="Shape 8"/>
          <p:cNvSpPr/>
          <p:nvPr/>
        </p:nvSpPr>
        <p:spPr>
          <a:xfrm>
            <a:off x="777240" y="4206240"/>
            <a:ext cx="10607040" cy="1371600"/>
          </a:xfrm>
          <a:prstGeom prst="rect">
            <a:avLst/>
          </a:prstGeom>
          <a:solidFill>
            <a:srgbClr val="CBF1F6"/>
          </a:solidFill>
          <a:ln w="12700">
            <a:solidFill>
              <a:srgbClr val="CBF1F6"/>
            </a:solidFill>
            <a:prstDash val="solid"/>
          </a:ln>
        </p:spPr>
      </p:sp>
      <p:pic>
        <p:nvPicPr>
          <p:cNvPr id="11" name="Image 0" descr="preencoded.png">    </p:cNvPr>
          <p:cNvPicPr>
            <a:picLocks noChangeAspect="1"/>
          </p:cNvPicPr>
          <p:nvPr/>
        </p:nvPicPr>
        <p:blipFill>
          <a:blip r:embed="rId1"/>
          <a:stretch>
            <a:fillRect/>
          </a:stretch>
        </p:blipFill>
        <p:spPr>
          <a:xfrm>
            <a:off x="1005840" y="4526280"/>
            <a:ext cx="548640" cy="548640"/>
          </a:xfrm>
          <a:prstGeom prst="rect">
            <a:avLst/>
          </a:prstGeom>
        </p:spPr>
      </p:pic>
      <p:sp>
        <p:nvSpPr>
          <p:cNvPr id="12" name="Text 9"/>
          <p:cNvSpPr/>
          <p:nvPr/>
        </p:nvSpPr>
        <p:spPr>
          <a:xfrm>
            <a:off x="1783080" y="4251960"/>
            <a:ext cx="9509760" cy="128016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Add the React Compiler with babel-plugin-react-compiler in your Vite config. The eslint plugin tells you which components opted out.</a:t>
            </a:r>
            <a:endParaRPr lang="en-US" sz="1300" dirty="0"/>
          </a:p>
        </p:txBody>
      </p:sp>
      <p:sp>
        <p:nvSpPr>
          <p:cNvPr id="13"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1"/>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plain Vite + React is enough</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Don't reach for a framework reflexively. Sometimes Vite is the right answer.</a:t>
            </a:r>
            <a:endParaRPr lang="en-US" sz="1400" dirty="0"/>
          </a:p>
        </p:txBody>
      </p:sp>
      <p:sp>
        <p:nvSpPr>
          <p:cNvPr id="5" name="Shape 3"/>
          <p:cNvSpPr/>
          <p:nvPr/>
        </p:nvSpPr>
        <p:spPr>
          <a:xfrm>
            <a:off x="777240" y="155448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00784"/>
            <a:ext cx="411480" cy="411480"/>
          </a:xfrm>
          <a:prstGeom prst="rect">
            <a:avLst/>
          </a:prstGeom>
        </p:spPr>
      </p:pic>
      <p:sp>
        <p:nvSpPr>
          <p:cNvPr id="7" name="Text 4"/>
          <p:cNvSpPr/>
          <p:nvPr/>
        </p:nvSpPr>
        <p:spPr>
          <a:xfrm>
            <a:off x="1554480" y="16459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Internal tools and dashboards behind auth — SEO doesn't matter, server rendering doesn't matter</a:t>
            </a:r>
            <a:endParaRPr lang="en-US" sz="1250" dirty="0"/>
          </a:p>
        </p:txBody>
      </p:sp>
      <p:sp>
        <p:nvSpPr>
          <p:cNvPr id="8" name="Shape 5"/>
          <p:cNvSpPr/>
          <p:nvPr/>
        </p:nvSpPr>
        <p:spPr>
          <a:xfrm>
            <a:off x="777240" y="242316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69464"/>
            <a:ext cx="411480" cy="411480"/>
          </a:xfrm>
          <a:prstGeom prst="rect">
            <a:avLst/>
          </a:prstGeom>
        </p:spPr>
      </p:pic>
      <p:sp>
        <p:nvSpPr>
          <p:cNvPr id="10" name="Text 6"/>
          <p:cNvSpPr/>
          <p:nvPr/>
        </p:nvSpPr>
        <p:spPr>
          <a:xfrm>
            <a:off x="1554480" y="25146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Single-page applications where the data model is mostly client-side state</a:t>
            </a:r>
            <a:endParaRPr lang="en-US" sz="1250" dirty="0"/>
          </a:p>
        </p:txBody>
      </p:sp>
      <p:sp>
        <p:nvSpPr>
          <p:cNvPr id="11" name="Shape 7"/>
          <p:cNvSpPr/>
          <p:nvPr/>
        </p:nvSpPr>
        <p:spPr>
          <a:xfrm>
            <a:off x="777240" y="329184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438144"/>
            <a:ext cx="411480" cy="411480"/>
          </a:xfrm>
          <a:prstGeom prst="rect">
            <a:avLst/>
          </a:prstGeom>
        </p:spPr>
      </p:pic>
      <p:sp>
        <p:nvSpPr>
          <p:cNvPr id="13" name="Text 8"/>
          <p:cNvSpPr/>
          <p:nvPr/>
        </p:nvSpPr>
        <p:spPr>
          <a:xfrm>
            <a:off x="1554480" y="33832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Embeddable widgets shipped as a single bundle into a host page</a:t>
            </a:r>
            <a:endParaRPr lang="en-US" sz="1250" dirty="0"/>
          </a:p>
        </p:txBody>
      </p:sp>
      <p:sp>
        <p:nvSpPr>
          <p:cNvPr id="14" name="Shape 9"/>
          <p:cNvSpPr/>
          <p:nvPr/>
        </p:nvSpPr>
        <p:spPr>
          <a:xfrm>
            <a:off x="777240" y="416052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306824"/>
            <a:ext cx="411480" cy="411480"/>
          </a:xfrm>
          <a:prstGeom prst="rect">
            <a:avLst/>
          </a:prstGeom>
        </p:spPr>
      </p:pic>
      <p:sp>
        <p:nvSpPr>
          <p:cNvPr id="16" name="Text 10"/>
          <p:cNvSpPr/>
          <p:nvPr/>
        </p:nvSpPr>
        <p:spPr>
          <a:xfrm>
            <a:off x="1554480" y="42519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Prototypes and proofs-of-concept where shipping speed beats architectural perfection</a:t>
            </a:r>
            <a:endParaRPr lang="en-US" sz="1250" dirty="0"/>
          </a:p>
        </p:txBody>
      </p:sp>
      <p:sp>
        <p:nvSpPr>
          <p:cNvPr id="17" name="Shape 11"/>
          <p:cNvSpPr/>
          <p:nvPr/>
        </p:nvSpPr>
        <p:spPr>
          <a:xfrm>
            <a:off x="777240" y="502920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175504"/>
            <a:ext cx="411480" cy="411480"/>
          </a:xfrm>
          <a:prstGeom prst="rect">
            <a:avLst/>
          </a:prstGeom>
        </p:spPr>
      </p:pic>
      <p:sp>
        <p:nvSpPr>
          <p:cNvPr id="19" name="Text 12"/>
          <p:cNvSpPr/>
          <p:nvPr/>
        </p:nvSpPr>
        <p:spPr>
          <a:xfrm>
            <a:off x="1554480" y="51206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Storybooks, design systems, component libraries — not really apps in the framework sense</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When you do need a framework</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consumer-facing apps land here.</a:t>
            </a:r>
            <a:endParaRPr lang="en-US" sz="1400" dirty="0"/>
          </a:p>
        </p:txBody>
      </p:sp>
      <p:sp>
        <p:nvSpPr>
          <p:cNvPr id="5" name="Shape 3"/>
          <p:cNvSpPr/>
          <p:nvPr/>
        </p:nvSpPr>
        <p:spPr>
          <a:xfrm>
            <a:off x="777240" y="1554480"/>
            <a:ext cx="10607040" cy="713232"/>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60120" y="1700784"/>
            <a:ext cx="411480" cy="411480"/>
          </a:xfrm>
          <a:prstGeom prst="rect">
            <a:avLst/>
          </a:prstGeom>
        </p:spPr>
      </p:pic>
      <p:sp>
        <p:nvSpPr>
          <p:cNvPr id="7" name="Text 4"/>
          <p:cNvSpPr/>
          <p:nvPr/>
        </p:nvSpPr>
        <p:spPr>
          <a:xfrm>
            <a:off x="1554480" y="164592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Public-facing pages that need SEO and shareable URLs</a:t>
            </a:r>
            <a:endParaRPr lang="en-US" sz="1250" dirty="0"/>
          </a:p>
        </p:txBody>
      </p:sp>
      <p:sp>
        <p:nvSpPr>
          <p:cNvPr id="8" name="Shape 5"/>
          <p:cNvSpPr/>
          <p:nvPr/>
        </p:nvSpPr>
        <p:spPr>
          <a:xfrm>
            <a:off x="777240" y="2423160"/>
            <a:ext cx="10607040" cy="713232"/>
          </a:xfrm>
          <a:prstGeom prst="rect">
            <a:avLst/>
          </a:prstGeom>
          <a:solidFill>
            <a:srgbClr val="FFFFFF"/>
          </a:solidFill>
          <a:ln w="12700">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960120" y="2569464"/>
            <a:ext cx="411480" cy="411480"/>
          </a:xfrm>
          <a:prstGeom prst="rect">
            <a:avLst/>
          </a:prstGeom>
        </p:spPr>
      </p:pic>
      <p:sp>
        <p:nvSpPr>
          <p:cNvPr id="10" name="Text 6"/>
          <p:cNvSpPr/>
          <p:nvPr/>
        </p:nvSpPr>
        <p:spPr>
          <a:xfrm>
            <a:off x="1554480" y="251460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Server Components and Server Actions — they require a framework runtime</a:t>
            </a:r>
            <a:endParaRPr lang="en-US" sz="1250" dirty="0"/>
          </a:p>
        </p:txBody>
      </p:sp>
      <p:sp>
        <p:nvSpPr>
          <p:cNvPr id="11" name="Shape 7"/>
          <p:cNvSpPr/>
          <p:nvPr/>
        </p:nvSpPr>
        <p:spPr>
          <a:xfrm>
            <a:off x="777240" y="3291840"/>
            <a:ext cx="10607040" cy="713232"/>
          </a:xfrm>
          <a:prstGeom prst="rect">
            <a:avLst/>
          </a:prstGeom>
          <a:solidFill>
            <a:srgbClr val="FFFFFF"/>
          </a:solidFill>
          <a:ln w="12700">
            <a:solidFill>
              <a:srgbClr val="E2E8F0"/>
            </a:solidFill>
            <a:prstDash val="solid"/>
          </a:ln>
        </p:spPr>
      </p:sp>
      <p:pic>
        <p:nvPicPr>
          <p:cNvPr id="12" name="Image 2" descr="preencoded.png">    </p:cNvPr>
          <p:cNvPicPr>
            <a:picLocks noChangeAspect="1"/>
          </p:cNvPicPr>
          <p:nvPr/>
        </p:nvPicPr>
        <p:blipFill>
          <a:blip r:embed="rId3"/>
          <a:stretch>
            <a:fillRect/>
          </a:stretch>
        </p:blipFill>
        <p:spPr>
          <a:xfrm>
            <a:off x="960120" y="3438144"/>
            <a:ext cx="411480" cy="411480"/>
          </a:xfrm>
          <a:prstGeom prst="rect">
            <a:avLst/>
          </a:prstGeom>
        </p:spPr>
      </p:pic>
      <p:sp>
        <p:nvSpPr>
          <p:cNvPr id="13" name="Text 8"/>
          <p:cNvSpPr/>
          <p:nvPr/>
        </p:nvSpPr>
        <p:spPr>
          <a:xfrm>
            <a:off x="1554480" y="338328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Streaming SSR with sensible defaults (the renderToPipeableStream-by-hand path is a sharp edge)</a:t>
            </a:r>
            <a:endParaRPr lang="en-US" sz="1250" dirty="0"/>
          </a:p>
        </p:txBody>
      </p:sp>
      <p:sp>
        <p:nvSpPr>
          <p:cNvPr id="14" name="Shape 9"/>
          <p:cNvSpPr/>
          <p:nvPr/>
        </p:nvSpPr>
        <p:spPr>
          <a:xfrm>
            <a:off x="777240" y="4160520"/>
            <a:ext cx="10607040" cy="713232"/>
          </a:xfrm>
          <a:prstGeom prst="rect">
            <a:avLst/>
          </a:prstGeom>
          <a:solidFill>
            <a:srgbClr val="FFFFFF"/>
          </a:solidFill>
          <a:ln w="12700">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960120" y="4306824"/>
            <a:ext cx="411480" cy="411480"/>
          </a:xfrm>
          <a:prstGeom prst="rect">
            <a:avLst/>
          </a:prstGeom>
        </p:spPr>
      </p:pic>
      <p:sp>
        <p:nvSpPr>
          <p:cNvPr id="16" name="Text 10"/>
          <p:cNvSpPr/>
          <p:nvPr/>
        </p:nvSpPr>
        <p:spPr>
          <a:xfrm>
            <a:off x="1554480" y="425196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File-based routing, route loaders, and built-in data fetching conventions</a:t>
            </a:r>
            <a:endParaRPr lang="en-US" sz="1250" dirty="0"/>
          </a:p>
        </p:txBody>
      </p:sp>
      <p:sp>
        <p:nvSpPr>
          <p:cNvPr id="17" name="Shape 11"/>
          <p:cNvSpPr/>
          <p:nvPr/>
        </p:nvSpPr>
        <p:spPr>
          <a:xfrm>
            <a:off x="777240" y="5029200"/>
            <a:ext cx="10607040" cy="713232"/>
          </a:xfrm>
          <a:prstGeom prst="rect">
            <a:avLst/>
          </a:prstGeom>
          <a:solidFill>
            <a:srgbClr val="FFFFFF"/>
          </a:solidFill>
          <a:ln w="12700">
            <a:solidFill>
              <a:srgbClr val="E2E8F0"/>
            </a:solidFill>
            <a:prstDash val="solid"/>
          </a:ln>
        </p:spPr>
      </p:sp>
      <p:pic>
        <p:nvPicPr>
          <p:cNvPr id="18" name="Image 4" descr="preencoded.png">    </p:cNvPr>
          <p:cNvPicPr>
            <a:picLocks noChangeAspect="1"/>
          </p:cNvPicPr>
          <p:nvPr/>
        </p:nvPicPr>
        <p:blipFill>
          <a:blip r:embed="rId5"/>
          <a:stretch>
            <a:fillRect/>
          </a:stretch>
        </p:blipFill>
        <p:spPr>
          <a:xfrm>
            <a:off x="960120" y="5175504"/>
            <a:ext cx="411480" cy="411480"/>
          </a:xfrm>
          <a:prstGeom prst="rect">
            <a:avLst/>
          </a:prstGeom>
        </p:spPr>
      </p:pic>
      <p:sp>
        <p:nvSpPr>
          <p:cNvPr id="19" name="Text 12"/>
          <p:cNvSpPr/>
          <p:nvPr/>
        </p:nvSpPr>
        <p:spPr>
          <a:xfrm>
            <a:off x="1554480" y="5120640"/>
            <a:ext cx="9784080" cy="54864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Production deployment story: edge runtime, ISR, partial prerendering</a:t>
            </a:r>
            <a:endParaRPr lang="en-US" sz="1250" dirty="0"/>
          </a:p>
        </p:txBody>
      </p:sp>
      <p:sp>
        <p:nvSpPr>
          <p:cNvPr id="20"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4"/>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Framework picks in 2026</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We'll teach in two of these. The others are useful to recognize.</a:t>
            </a:r>
            <a:endParaRPr lang="en-US" sz="1400" dirty="0"/>
          </a:p>
        </p:txBody>
      </p:sp>
      <p:sp>
        <p:nvSpPr>
          <p:cNvPr id="5" name="Shape 3"/>
          <p:cNvSpPr/>
          <p:nvPr/>
        </p:nvSpPr>
        <p:spPr>
          <a:xfrm>
            <a:off x="777240" y="1554480"/>
            <a:ext cx="10607040" cy="841248"/>
          </a:xfrm>
          <a:prstGeom prst="rect">
            <a:avLst/>
          </a:prstGeom>
          <a:solidFill>
            <a:srgbClr val="CBF1F6"/>
          </a:solidFill>
          <a:ln w="12700">
            <a:solidFill>
              <a:srgbClr val="E2E8F0"/>
            </a:solidFill>
            <a:prstDash val="solid"/>
          </a:ln>
        </p:spPr>
      </p:sp>
      <p:sp>
        <p:nvSpPr>
          <p:cNvPr id="6" name="Text 4"/>
          <p:cNvSpPr/>
          <p:nvPr/>
        </p:nvSpPr>
        <p:spPr>
          <a:xfrm>
            <a:off x="960120" y="166420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Next.js 15</a:t>
            </a:r>
            <a:endParaRPr lang="en-US" sz="1600" dirty="0"/>
          </a:p>
        </p:txBody>
      </p:sp>
      <p:sp>
        <p:nvSpPr>
          <p:cNvPr id="7" name="Text 5"/>
          <p:cNvSpPr/>
          <p:nvPr/>
        </p:nvSpPr>
        <p:spPr>
          <a:xfrm>
            <a:off x="5120640" y="166420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Vercel-led. App Router + Server Components + Server Actions. Largest ecosystem.</a:t>
            </a:r>
            <a:endParaRPr lang="en-US" sz="1250" dirty="0"/>
          </a:p>
        </p:txBody>
      </p:sp>
      <p:sp>
        <p:nvSpPr>
          <p:cNvPr id="8" name="Text 6"/>
          <p:cNvSpPr/>
          <p:nvPr/>
        </p:nvSpPr>
        <p:spPr>
          <a:xfrm>
            <a:off x="10149840" y="1609344"/>
            <a:ext cx="1097280" cy="320040"/>
          </a:xfrm>
          <a:prstGeom prst="rect">
            <a:avLst/>
          </a:prstGeom>
          <a:noFill/>
          <a:ln/>
        </p:spPr>
        <p:txBody>
          <a:bodyPr wrap="square" lIns="0" tIns="0" rIns="0" bIns="0" rtlCol="0" anchor="ctr"/>
          <a:lstStyle/>
          <a:p>
            <a:pPr algn="r" indent="0" marL="0">
              <a:buNone/>
            </a:pPr>
            <a:r>
              <a:rPr lang="en-US" sz="950" b="1" dirty="0">
                <a:solidFill>
                  <a:srgbClr val="00B8D9"/>
                </a:solidFill>
                <a:latin typeface="Trebuchet MS" pitchFamily="34" charset="0"/>
                <a:ea typeface="Trebuchet MS" pitchFamily="34" charset="-122"/>
                <a:cs typeface="Trebuchet MS" pitchFamily="34" charset="-120"/>
              </a:rPr>
              <a:t>taught</a:t>
            </a:r>
            <a:endParaRPr lang="en-US" sz="950" dirty="0"/>
          </a:p>
        </p:txBody>
      </p:sp>
      <p:sp>
        <p:nvSpPr>
          <p:cNvPr id="9" name="Shape 7"/>
          <p:cNvSpPr/>
          <p:nvPr/>
        </p:nvSpPr>
        <p:spPr>
          <a:xfrm>
            <a:off x="777240" y="2560320"/>
            <a:ext cx="10607040" cy="841248"/>
          </a:xfrm>
          <a:prstGeom prst="rect">
            <a:avLst/>
          </a:prstGeom>
          <a:solidFill>
            <a:srgbClr val="CBF1F6"/>
          </a:solidFill>
          <a:ln w="12700">
            <a:solidFill>
              <a:srgbClr val="E2E8F0"/>
            </a:solidFill>
            <a:prstDash val="solid"/>
          </a:ln>
        </p:spPr>
      </p:sp>
      <p:sp>
        <p:nvSpPr>
          <p:cNvPr id="10" name="Text 8"/>
          <p:cNvSpPr/>
          <p:nvPr/>
        </p:nvSpPr>
        <p:spPr>
          <a:xfrm>
            <a:off x="960120" y="267004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React Router v7 (framework)</a:t>
            </a:r>
            <a:endParaRPr lang="en-US" sz="1600" dirty="0"/>
          </a:p>
        </p:txBody>
      </p:sp>
      <p:sp>
        <p:nvSpPr>
          <p:cNvPr id="11" name="Text 9"/>
          <p:cNvSpPr/>
          <p:nvPr/>
        </p:nvSpPr>
        <p:spPr>
          <a:xfrm>
            <a:off x="5120640" y="267004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Merged with Remix in late 2024. Loaders, actions, framework mode. Strong fit for app-style sites.</a:t>
            </a:r>
            <a:endParaRPr lang="en-US" sz="1250" dirty="0"/>
          </a:p>
        </p:txBody>
      </p:sp>
      <p:sp>
        <p:nvSpPr>
          <p:cNvPr id="12" name="Text 10"/>
          <p:cNvSpPr/>
          <p:nvPr/>
        </p:nvSpPr>
        <p:spPr>
          <a:xfrm>
            <a:off x="10149840" y="2615184"/>
            <a:ext cx="1097280" cy="320040"/>
          </a:xfrm>
          <a:prstGeom prst="rect">
            <a:avLst/>
          </a:prstGeom>
          <a:noFill/>
          <a:ln/>
        </p:spPr>
        <p:txBody>
          <a:bodyPr wrap="square" lIns="0" tIns="0" rIns="0" bIns="0" rtlCol="0" anchor="ctr"/>
          <a:lstStyle/>
          <a:p>
            <a:pPr algn="r" indent="0" marL="0">
              <a:buNone/>
            </a:pPr>
            <a:r>
              <a:rPr lang="en-US" sz="950" b="1" dirty="0">
                <a:solidFill>
                  <a:srgbClr val="00B8D9"/>
                </a:solidFill>
                <a:latin typeface="Trebuchet MS" pitchFamily="34" charset="0"/>
                <a:ea typeface="Trebuchet MS" pitchFamily="34" charset="-122"/>
                <a:cs typeface="Trebuchet MS" pitchFamily="34" charset="-120"/>
              </a:rPr>
              <a:t>taught</a:t>
            </a:r>
            <a:endParaRPr lang="en-US" sz="950" dirty="0"/>
          </a:p>
        </p:txBody>
      </p:sp>
      <p:sp>
        <p:nvSpPr>
          <p:cNvPr id="13" name="Shape 11"/>
          <p:cNvSpPr/>
          <p:nvPr/>
        </p:nvSpPr>
        <p:spPr>
          <a:xfrm>
            <a:off x="777240" y="3566160"/>
            <a:ext cx="10607040" cy="841248"/>
          </a:xfrm>
          <a:prstGeom prst="rect">
            <a:avLst/>
          </a:prstGeom>
          <a:solidFill>
            <a:srgbClr val="FFFFFF"/>
          </a:solidFill>
          <a:ln w="12700">
            <a:solidFill>
              <a:srgbClr val="E2E8F0"/>
            </a:solidFill>
            <a:prstDash val="solid"/>
          </a:ln>
        </p:spPr>
      </p:sp>
      <p:sp>
        <p:nvSpPr>
          <p:cNvPr id="14" name="Text 12"/>
          <p:cNvSpPr/>
          <p:nvPr/>
        </p:nvSpPr>
        <p:spPr>
          <a:xfrm>
            <a:off x="960120" y="367588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TanStack Start</a:t>
            </a:r>
            <a:endParaRPr lang="en-US" sz="1600" dirty="0"/>
          </a:p>
        </p:txBody>
      </p:sp>
      <p:sp>
        <p:nvSpPr>
          <p:cNvPr id="15" name="Text 13"/>
          <p:cNvSpPr/>
          <p:nvPr/>
        </p:nvSpPr>
        <p:spPr>
          <a:xfrm>
            <a:off x="5120640" y="367588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Built on TanStack Router + TanStack Query. Newer; appealing if you live in TanStack land.</a:t>
            </a:r>
            <a:endParaRPr lang="en-US" sz="1250" dirty="0"/>
          </a:p>
        </p:txBody>
      </p:sp>
      <p:sp>
        <p:nvSpPr>
          <p:cNvPr id="16" name="Shape 14"/>
          <p:cNvSpPr/>
          <p:nvPr/>
        </p:nvSpPr>
        <p:spPr>
          <a:xfrm>
            <a:off x="777240" y="4572000"/>
            <a:ext cx="10607040" cy="841248"/>
          </a:xfrm>
          <a:prstGeom prst="rect">
            <a:avLst/>
          </a:prstGeom>
          <a:solidFill>
            <a:srgbClr val="FFFFFF"/>
          </a:solidFill>
          <a:ln w="12700">
            <a:solidFill>
              <a:srgbClr val="E2E8F0"/>
            </a:solidFill>
            <a:prstDash val="solid"/>
          </a:ln>
        </p:spPr>
      </p:sp>
      <p:sp>
        <p:nvSpPr>
          <p:cNvPr id="17" name="Text 15"/>
          <p:cNvSpPr/>
          <p:nvPr/>
        </p:nvSpPr>
        <p:spPr>
          <a:xfrm>
            <a:off x="960120" y="4681728"/>
            <a:ext cx="4114800" cy="54864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Astro</a:t>
            </a:r>
            <a:endParaRPr lang="en-US" sz="1600" dirty="0"/>
          </a:p>
        </p:txBody>
      </p:sp>
      <p:sp>
        <p:nvSpPr>
          <p:cNvPr id="18" name="Text 16"/>
          <p:cNvSpPr/>
          <p:nvPr/>
        </p:nvSpPr>
        <p:spPr>
          <a:xfrm>
            <a:off x="5120640" y="4681728"/>
            <a:ext cx="6126480" cy="640080"/>
          </a:xfrm>
          <a:prstGeom prst="rect">
            <a:avLst/>
          </a:prstGeom>
          <a:noFill/>
          <a:ln/>
        </p:spPr>
        <p:txBody>
          <a:bodyPr wrap="square" lIns="0" tIns="0" rIns="0" bIns="0" rtlCol="0" anchor="ctr"/>
          <a:lstStyle/>
          <a:p>
            <a:pPr indent="0" marL="0">
              <a:buNone/>
            </a:pPr>
            <a:r>
              <a:rPr lang="en-US" sz="1250" dirty="0">
                <a:solidFill>
                  <a:srgbClr val="475569"/>
                </a:solidFill>
                <a:latin typeface="Arial" pitchFamily="34" charset="0"/>
                <a:ea typeface="Arial" pitchFamily="34" charset="-122"/>
                <a:cs typeface="Arial" pitchFamily="34" charset="-120"/>
              </a:rPr>
              <a:t>Content-first. React as one of many island flavors. Great for marketing sites and docs.</a:t>
            </a:r>
            <a:endParaRPr lang="en-US" sz="1250" dirty="0"/>
          </a:p>
        </p:txBody>
      </p:sp>
      <p:sp>
        <p:nvSpPr>
          <p:cNvPr id="19" name="Text 17"/>
          <p:cNvSpPr/>
          <p:nvPr/>
        </p:nvSpPr>
        <p:spPr>
          <a:xfrm>
            <a:off x="777240" y="5760720"/>
            <a:ext cx="10607040" cy="457200"/>
          </a:xfrm>
          <a:prstGeom prst="rect">
            <a:avLst/>
          </a:prstGeom>
          <a:noFill/>
          <a:ln/>
        </p:spPr>
        <p:txBody>
          <a:bodyPr wrap="square" lIns="0" tIns="0" rIns="0" bIns="0" rtlCol="0" anchor="ctr"/>
          <a:lstStyle/>
          <a:p>
            <a:pPr indent="0" marL="0">
              <a:buNone/>
            </a:pPr>
            <a:r>
              <a:rPr lang="en-US" sz="1250" i="1" dirty="0">
                <a:solidFill>
                  <a:srgbClr val="475569"/>
                </a:solidFill>
                <a:latin typeface="Arial" pitchFamily="34" charset="0"/>
                <a:ea typeface="Arial" pitchFamily="34" charset="-122"/>
                <a:cs typeface="Arial" pitchFamily="34" charset="-120"/>
              </a:rPr>
              <a:t>Lab 2 implements the same auth flow in both Next.js 15 and React Router v7 framework mode. You'll see them side-by-side.</a:t>
            </a:r>
            <a:endParaRPr lang="en-US" sz="1250" dirty="0"/>
          </a:p>
        </p:txBody>
      </p:sp>
      <p:sp>
        <p:nvSpPr>
          <p:cNvPr id="20"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1"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Next.js 15</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Most popular React framework. App Router + RSC by default in new projects.</a:t>
            </a:r>
            <a:endParaRPr lang="en-US" sz="1400" dirty="0"/>
          </a:p>
        </p:txBody>
      </p:sp>
      <p:sp>
        <p:nvSpPr>
          <p:cNvPr id="5" name="Shape 3"/>
          <p:cNvSpPr/>
          <p:nvPr/>
        </p:nvSpPr>
        <p:spPr>
          <a:xfrm>
            <a:off x="777240" y="1691640"/>
            <a:ext cx="5349240" cy="4389120"/>
          </a:xfrm>
          <a:prstGeom prst="rect">
            <a:avLst/>
          </a:prstGeom>
          <a:solidFill>
            <a:srgbClr val="FFFFFF"/>
          </a:solidFill>
          <a:ln w="12700">
            <a:solidFill>
              <a:srgbClr val="E2E8F0"/>
            </a:solidFill>
            <a:prstDash val="solid"/>
          </a:ln>
        </p:spPr>
      </p:sp>
      <p:sp>
        <p:nvSpPr>
          <p:cNvPr id="6" name="Text 4"/>
          <p:cNvSpPr/>
          <p:nvPr/>
        </p:nvSpPr>
        <p:spPr>
          <a:xfrm>
            <a:off x="960120" y="1874520"/>
            <a:ext cx="5029200" cy="365760"/>
          </a:xfrm>
          <a:prstGeom prst="rect">
            <a:avLst/>
          </a:prstGeom>
          <a:noFill/>
          <a:ln/>
        </p:spPr>
        <p:txBody>
          <a:bodyPr wrap="square" lIns="0" tIns="0" rIns="0" bIns="0" rtlCol="0" anchor="ctr"/>
          <a:lstStyle/>
          <a:p>
            <a:pPr indent="0" marL="0">
              <a:buNone/>
            </a:pPr>
            <a:r>
              <a:rPr lang="en-US" sz="1600" b="1" dirty="0">
                <a:solidFill>
                  <a:srgbClr val="059669"/>
                </a:solidFill>
                <a:latin typeface="Trebuchet MS" pitchFamily="34" charset="0"/>
                <a:ea typeface="Trebuchet MS" pitchFamily="34" charset="-122"/>
                <a:cs typeface="Trebuchet MS" pitchFamily="34" charset="-120"/>
              </a:rPr>
              <a:t>Strengths</a:t>
            </a:r>
            <a:endParaRPr lang="en-US" sz="1600" dirty="0"/>
          </a:p>
        </p:txBody>
      </p:sp>
      <p:sp>
        <p:nvSpPr>
          <p:cNvPr id="7" name="Text 5"/>
          <p:cNvSpPr/>
          <p:nvPr/>
        </p:nvSpPr>
        <p:spPr>
          <a:xfrm>
            <a:off x="960120" y="2377440"/>
            <a:ext cx="5029200" cy="3657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First-class Server Components and Server Actions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Streaming + Suspense baked into the rendering path</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Partial prerendering for hybrid static/dynamic pages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Turbopack stable for dev — fast builds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Vercel deployment story is genuinely good</a:t>
            </a:r>
            <a:endParaRPr lang="en-US" sz="1250" dirty="0"/>
          </a:p>
        </p:txBody>
      </p:sp>
      <p:sp>
        <p:nvSpPr>
          <p:cNvPr id="8" name="Shape 6"/>
          <p:cNvSpPr/>
          <p:nvPr/>
        </p:nvSpPr>
        <p:spPr>
          <a:xfrm>
            <a:off x="6355080" y="1691640"/>
            <a:ext cx="5029200" cy="4389120"/>
          </a:xfrm>
          <a:prstGeom prst="rect">
            <a:avLst/>
          </a:prstGeom>
          <a:solidFill>
            <a:srgbClr val="FFFFFF"/>
          </a:solidFill>
          <a:ln w="12700">
            <a:solidFill>
              <a:srgbClr val="E2E8F0"/>
            </a:solidFill>
            <a:prstDash val="solid"/>
          </a:ln>
        </p:spPr>
      </p:sp>
      <p:sp>
        <p:nvSpPr>
          <p:cNvPr id="9" name="Text 7"/>
          <p:cNvSpPr/>
          <p:nvPr/>
        </p:nvSpPr>
        <p:spPr>
          <a:xfrm>
            <a:off x="6537960" y="1874520"/>
            <a:ext cx="4754880" cy="365760"/>
          </a:xfrm>
          <a:prstGeom prst="rect">
            <a:avLst/>
          </a:prstGeom>
          <a:noFill/>
          <a:ln/>
        </p:spPr>
        <p:txBody>
          <a:bodyPr wrap="square" lIns="0" tIns="0" rIns="0" bIns="0" rtlCol="0" anchor="ctr"/>
          <a:lstStyle/>
          <a:p>
            <a:pPr indent="0" marL="0">
              <a:buNone/>
            </a:pPr>
            <a:r>
              <a:rPr lang="en-US" sz="1600" b="1" dirty="0">
                <a:solidFill>
                  <a:srgbClr val="D97706"/>
                </a:solidFill>
                <a:latin typeface="Trebuchet MS" pitchFamily="34" charset="0"/>
                <a:ea typeface="Trebuchet MS" pitchFamily="34" charset="-122"/>
                <a:cs typeface="Trebuchet MS" pitchFamily="34" charset="-120"/>
              </a:rPr>
              <a:t>Watch-outs</a:t>
            </a:r>
            <a:endParaRPr lang="en-US" sz="1600" dirty="0"/>
          </a:p>
        </p:txBody>
      </p:sp>
      <p:sp>
        <p:nvSpPr>
          <p:cNvPr id="10" name="Text 8"/>
          <p:cNvSpPr/>
          <p:nvPr/>
        </p:nvSpPr>
        <p:spPr>
          <a:xfrm>
            <a:off x="6537960" y="2377440"/>
            <a:ext cx="4754880" cy="3657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App Router conventions are non-trivial — file-as-API takes getting used to</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Caching defaults change between minor versions; read the release notes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Vercel-flavored runtime — works elsewhere but the polish is uneven</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Easy to over-reach for server features when a Vite SPA would do</a:t>
            </a:r>
            <a:endParaRPr lang="en-US" sz="1250" dirty="0"/>
          </a:p>
        </p:txBody>
      </p:sp>
      <p:sp>
        <p:nvSpPr>
          <p:cNvPr id="11" name="Text 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10"/>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React Router v7 — framework mode</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RR + Remix merged in November 2024. One product, two modes.</a:t>
            </a:r>
            <a:endParaRPr lang="en-US" sz="1400" dirty="0"/>
          </a:p>
        </p:txBody>
      </p:sp>
      <p:sp>
        <p:nvSpPr>
          <p:cNvPr id="5" name="Shape 3"/>
          <p:cNvSpPr/>
          <p:nvPr/>
        </p:nvSpPr>
        <p:spPr>
          <a:xfrm>
            <a:off x="777240" y="1645920"/>
            <a:ext cx="10607040" cy="1097280"/>
          </a:xfrm>
          <a:prstGeom prst="rect">
            <a:avLst/>
          </a:prstGeom>
          <a:solidFill>
            <a:srgbClr val="CBF1F6"/>
          </a:solidFill>
          <a:ln w="12700">
            <a:solidFill>
              <a:srgbClr val="CBF1F6"/>
            </a:solidFill>
            <a:prstDash val="solid"/>
          </a:ln>
        </p:spPr>
      </p:sp>
      <p:pic>
        <p:nvPicPr>
          <p:cNvPr id="6" name="Image 0" descr="preencoded.png">    </p:cNvPr>
          <p:cNvPicPr>
            <a:picLocks noChangeAspect="1"/>
          </p:cNvPicPr>
          <p:nvPr/>
        </p:nvPicPr>
        <p:blipFill>
          <a:blip r:embed="rId1"/>
          <a:stretch>
            <a:fillRect/>
          </a:stretch>
        </p:blipFill>
        <p:spPr>
          <a:xfrm>
            <a:off x="1005840" y="1874520"/>
            <a:ext cx="548640" cy="548640"/>
          </a:xfrm>
          <a:prstGeom prst="rect">
            <a:avLst/>
          </a:prstGeom>
        </p:spPr>
      </p:pic>
      <p:sp>
        <p:nvSpPr>
          <p:cNvPr id="7" name="Text 4"/>
          <p:cNvSpPr/>
          <p:nvPr/>
        </p:nvSpPr>
        <p:spPr>
          <a:xfrm>
            <a:off x="1737360" y="1691640"/>
            <a:ext cx="9509760" cy="1005840"/>
          </a:xfrm>
          <a:prstGeom prst="rect">
            <a:avLst/>
          </a:prstGeom>
          <a:noFill/>
          <a:ln/>
        </p:spPr>
        <p:txBody>
          <a:bodyPr wrap="square" lIns="0" tIns="0" rIns="0" bIns="0" rtlCol="0" anchor="ctr"/>
          <a:lstStyle/>
          <a:p>
            <a:pPr indent="0" marL="0">
              <a:buNone/>
            </a:pPr>
            <a:r>
              <a:rPr lang="en-US" sz="1300" i="1" dirty="0">
                <a:solidFill>
                  <a:srgbClr val="0F172A"/>
                </a:solidFill>
                <a:latin typeface="Arial" pitchFamily="34" charset="0"/>
                <a:ea typeface="Arial" pitchFamily="34" charset="-122"/>
                <a:cs typeface="Arial" pitchFamily="34" charset="-120"/>
              </a:rPr>
              <a:t>Library mode = the React Router you know. Framework mode = Remix-style loaders, actions, and conventions, with Vite under the hood.</a:t>
            </a:r>
            <a:endParaRPr lang="en-US" sz="1300" dirty="0"/>
          </a:p>
        </p:txBody>
      </p:sp>
      <p:sp>
        <p:nvSpPr>
          <p:cNvPr id="8" name="Shape 5"/>
          <p:cNvSpPr/>
          <p:nvPr/>
        </p:nvSpPr>
        <p:spPr>
          <a:xfrm>
            <a:off x="777240" y="3108960"/>
            <a:ext cx="5349240" cy="3108960"/>
          </a:xfrm>
          <a:prstGeom prst="rect">
            <a:avLst/>
          </a:prstGeom>
          <a:solidFill>
            <a:srgbClr val="FFFFFF"/>
          </a:solidFill>
          <a:ln w="12700">
            <a:solidFill>
              <a:srgbClr val="E2E8F0"/>
            </a:solidFill>
            <a:prstDash val="solid"/>
          </a:ln>
        </p:spPr>
      </p:sp>
      <p:sp>
        <p:nvSpPr>
          <p:cNvPr id="9" name="Text 6"/>
          <p:cNvSpPr/>
          <p:nvPr/>
        </p:nvSpPr>
        <p:spPr>
          <a:xfrm>
            <a:off x="960120" y="3291840"/>
            <a:ext cx="5029200" cy="365760"/>
          </a:xfrm>
          <a:prstGeom prst="rect">
            <a:avLst/>
          </a:prstGeom>
          <a:noFill/>
          <a:ln/>
        </p:spPr>
        <p:txBody>
          <a:bodyPr wrap="square" lIns="0" tIns="0" rIns="0" bIns="0" rtlCol="0" anchor="ctr"/>
          <a:lstStyle/>
          <a:p>
            <a:pPr indent="0" marL="0">
              <a:buNone/>
            </a:pPr>
            <a:r>
              <a:rPr lang="en-US" sz="1600" b="1" dirty="0">
                <a:solidFill>
                  <a:srgbClr val="059669"/>
                </a:solidFill>
                <a:latin typeface="Trebuchet MS" pitchFamily="34" charset="0"/>
                <a:ea typeface="Trebuchet MS" pitchFamily="34" charset="-122"/>
                <a:cs typeface="Trebuchet MS" pitchFamily="34" charset="-120"/>
              </a:rPr>
              <a:t>Strengths</a:t>
            </a:r>
            <a:endParaRPr lang="en-US" sz="1600" dirty="0"/>
          </a:p>
        </p:txBody>
      </p:sp>
      <p:sp>
        <p:nvSpPr>
          <p:cNvPr id="10" name="Text 7"/>
          <p:cNvSpPr/>
          <p:nvPr/>
        </p:nvSpPr>
        <p:spPr>
          <a:xfrm>
            <a:off x="960120" y="3749040"/>
            <a:ext cx="502920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Closer to vanilla React than Next.js — fewer conventions to memorize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Loaders + actions = a clean data-on-the-server story</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Deploy anywhere Node runs — no vendor pull</a:t>
            </a:r>
            <a:endParaRPr lang="en-US" sz="1250" dirty="0"/>
          </a:p>
        </p:txBody>
      </p:sp>
      <p:sp>
        <p:nvSpPr>
          <p:cNvPr id="11" name="Shape 8"/>
          <p:cNvSpPr/>
          <p:nvPr/>
        </p:nvSpPr>
        <p:spPr>
          <a:xfrm>
            <a:off x="6355080" y="3108960"/>
            <a:ext cx="5029200" cy="3108960"/>
          </a:xfrm>
          <a:prstGeom prst="rect">
            <a:avLst/>
          </a:prstGeom>
          <a:solidFill>
            <a:srgbClr val="FFFFFF"/>
          </a:solidFill>
          <a:ln w="12700">
            <a:solidFill>
              <a:srgbClr val="E2E8F0"/>
            </a:solidFill>
            <a:prstDash val="solid"/>
          </a:ln>
        </p:spPr>
      </p:sp>
      <p:sp>
        <p:nvSpPr>
          <p:cNvPr id="12" name="Text 9"/>
          <p:cNvSpPr/>
          <p:nvPr/>
        </p:nvSpPr>
        <p:spPr>
          <a:xfrm>
            <a:off x="6537960" y="3291840"/>
            <a:ext cx="4754880" cy="365760"/>
          </a:xfrm>
          <a:prstGeom prst="rect">
            <a:avLst/>
          </a:prstGeom>
          <a:noFill/>
          <a:ln/>
        </p:spPr>
        <p:txBody>
          <a:bodyPr wrap="square" lIns="0" tIns="0" rIns="0" bIns="0" rtlCol="0" anchor="ctr"/>
          <a:lstStyle/>
          <a:p>
            <a:pPr indent="0" marL="0">
              <a:buNone/>
            </a:pPr>
            <a:r>
              <a:rPr lang="en-US" sz="1600" b="1" dirty="0">
                <a:solidFill>
                  <a:srgbClr val="D97706"/>
                </a:solidFill>
                <a:latin typeface="Trebuchet MS" pitchFamily="34" charset="0"/>
                <a:ea typeface="Trebuchet MS" pitchFamily="34" charset="-122"/>
                <a:cs typeface="Trebuchet MS" pitchFamily="34" charset="-120"/>
              </a:rPr>
              <a:t>Watch-outs</a:t>
            </a:r>
            <a:endParaRPr lang="en-US" sz="1600" dirty="0"/>
          </a:p>
        </p:txBody>
      </p:sp>
      <p:sp>
        <p:nvSpPr>
          <p:cNvPr id="13" name="Text 10"/>
          <p:cNvSpPr/>
          <p:nvPr/>
        </p:nvSpPr>
        <p:spPr>
          <a:xfrm>
            <a:off x="6537960" y="3749040"/>
            <a:ext cx="4754880" cy="2377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Smaller ecosystem of third-party RSC integrations than Next.js</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Less material online — search results still mix RR v6 and Remix v2 advice</a:t>
            </a:r>
            <a:endParaRPr lang="en-US" sz="1250" dirty="0"/>
          </a:p>
          <a:p>
            <a:pPr marL="342900" indent="-342900">
              <a:spcAft>
                <a:spcPts val="600"/>
              </a:spcAft>
              <a:buSzPct val="100000"/>
              <a:buChar char="•"/>
            </a:pPr>
            <a:r>
              <a:rPr lang="en-US" sz="1250" dirty="0">
                <a:solidFill>
                  <a:srgbClr val="475569"/>
                </a:solidFill>
                <a:latin typeface="Arial" pitchFamily="34" charset="0"/>
                <a:ea typeface="Arial" pitchFamily="34" charset="-122"/>
                <a:cs typeface="Arial" pitchFamily="34" charset="-120"/>
              </a:rPr>
              <a:t>Server Components support is solid but newer than Next.js's</a:t>
            </a:r>
            <a:endParaRPr lang="en-US" sz="1250" dirty="0"/>
          </a:p>
        </p:txBody>
      </p:sp>
      <p:sp>
        <p:nvSpPr>
          <p:cNvPr id="14"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5"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Worth knowing about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Not what we'll teach, but worth knowing the shape of.</a:t>
            </a:r>
            <a:endParaRPr lang="en-US" sz="1400" dirty="0"/>
          </a:p>
        </p:txBody>
      </p:sp>
      <p:sp>
        <p:nvSpPr>
          <p:cNvPr id="5" name="Shape 3"/>
          <p:cNvSpPr/>
          <p:nvPr/>
        </p:nvSpPr>
        <p:spPr>
          <a:xfrm>
            <a:off x="777240" y="1691640"/>
            <a:ext cx="10607040" cy="1920240"/>
          </a:xfrm>
          <a:prstGeom prst="rect">
            <a:avLst/>
          </a:prstGeom>
          <a:solidFill>
            <a:srgbClr val="FFFFFF"/>
          </a:solidFill>
          <a:ln w="12700">
            <a:solidFill>
              <a:srgbClr val="E2E8F0"/>
            </a:solidFill>
            <a:prstDash val="solid"/>
          </a:ln>
        </p:spPr>
      </p:sp>
      <p:sp>
        <p:nvSpPr>
          <p:cNvPr id="6" name="Shape 4"/>
          <p:cNvSpPr/>
          <p:nvPr/>
        </p:nvSpPr>
        <p:spPr>
          <a:xfrm>
            <a:off x="777240" y="1691640"/>
            <a:ext cx="109728" cy="1920240"/>
          </a:xfrm>
          <a:prstGeom prst="rect">
            <a:avLst/>
          </a:prstGeom>
          <a:solidFill>
            <a:srgbClr val="00B8D9"/>
          </a:solidFill>
          <a:ln w="12700">
            <a:solidFill>
              <a:srgbClr val="00B8D9"/>
            </a:solidFill>
            <a:prstDash val="solid"/>
          </a:ln>
        </p:spPr>
      </p:sp>
      <p:sp>
        <p:nvSpPr>
          <p:cNvPr id="7" name="Text 5"/>
          <p:cNvSpPr/>
          <p:nvPr/>
        </p:nvSpPr>
        <p:spPr>
          <a:xfrm>
            <a:off x="1051560" y="187452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TanStack Start</a:t>
            </a:r>
            <a:endParaRPr lang="en-US" sz="1800" dirty="0"/>
          </a:p>
        </p:txBody>
      </p:sp>
      <p:sp>
        <p:nvSpPr>
          <p:cNvPr id="8" name="Text 6"/>
          <p:cNvSpPr/>
          <p:nvPr/>
        </p:nvSpPr>
        <p:spPr>
          <a:xfrm>
            <a:off x="1051560" y="2377440"/>
            <a:ext cx="10058400" cy="109728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Newer entrant. Built on TanStack Router + TanStack Query. Type-safe, file-based routing, server functions. Worth a look if you're already TanStack-heavy or you want type safety as a first-class feature.</a:t>
            </a:r>
            <a:endParaRPr lang="en-US" sz="1300" dirty="0"/>
          </a:p>
        </p:txBody>
      </p:sp>
      <p:sp>
        <p:nvSpPr>
          <p:cNvPr id="9" name="Shape 7"/>
          <p:cNvSpPr/>
          <p:nvPr/>
        </p:nvSpPr>
        <p:spPr>
          <a:xfrm>
            <a:off x="777240" y="3886200"/>
            <a:ext cx="10607040" cy="1920240"/>
          </a:xfrm>
          <a:prstGeom prst="rect">
            <a:avLst/>
          </a:prstGeom>
          <a:solidFill>
            <a:srgbClr val="FFFFFF"/>
          </a:solidFill>
          <a:ln w="12700">
            <a:solidFill>
              <a:srgbClr val="E2E8F0"/>
            </a:solidFill>
            <a:prstDash val="solid"/>
          </a:ln>
        </p:spPr>
      </p:sp>
      <p:sp>
        <p:nvSpPr>
          <p:cNvPr id="10" name="Shape 8"/>
          <p:cNvSpPr/>
          <p:nvPr/>
        </p:nvSpPr>
        <p:spPr>
          <a:xfrm>
            <a:off x="777240" y="3886200"/>
            <a:ext cx="109728" cy="1920240"/>
          </a:xfrm>
          <a:prstGeom prst="rect">
            <a:avLst/>
          </a:prstGeom>
          <a:solidFill>
            <a:srgbClr val="00B8D9"/>
          </a:solidFill>
          <a:ln w="12700">
            <a:solidFill>
              <a:srgbClr val="00B8D9"/>
            </a:solidFill>
            <a:prstDash val="solid"/>
          </a:ln>
        </p:spPr>
      </p:sp>
      <p:sp>
        <p:nvSpPr>
          <p:cNvPr id="11" name="Text 9"/>
          <p:cNvSpPr/>
          <p:nvPr/>
        </p:nvSpPr>
        <p:spPr>
          <a:xfrm>
            <a:off x="1051560" y="4069080"/>
            <a:ext cx="10058400" cy="45720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Astro</a:t>
            </a:r>
            <a:endParaRPr lang="en-US" sz="1800" dirty="0"/>
          </a:p>
        </p:txBody>
      </p:sp>
      <p:sp>
        <p:nvSpPr>
          <p:cNvPr id="12" name="Text 10"/>
          <p:cNvSpPr/>
          <p:nvPr/>
        </p:nvSpPr>
        <p:spPr>
          <a:xfrm>
            <a:off x="1051560" y="4572000"/>
            <a:ext cx="10058400" cy="1097280"/>
          </a:xfrm>
          <a:prstGeom prst="rect">
            <a:avLst/>
          </a:prstGeom>
          <a:noFill/>
          <a:ln/>
        </p:spPr>
        <p:txBody>
          <a:bodyPr wrap="square" lIns="0" tIns="0" rIns="0" bIns="0" rtlCol="0" anchor="ctr"/>
          <a:lstStyle/>
          <a:p>
            <a:pPr indent="0" marL="0">
              <a:buNone/>
            </a:pPr>
            <a:r>
              <a:rPr lang="en-US" sz="1300" dirty="0">
                <a:solidFill>
                  <a:srgbClr val="475569"/>
                </a:solidFill>
                <a:latin typeface="Arial" pitchFamily="34" charset="0"/>
                <a:ea typeface="Arial" pitchFamily="34" charset="-122"/>
                <a:cs typeface="Arial" pitchFamily="34" charset="-120"/>
              </a:rPr>
              <a:t>Content-first framework. React renders as 'islands' inside otherwise-static pages. Best for marketing sites, docs, and content-heavy apps where most pages don't need much JS at all.</a:t>
            </a:r>
            <a:endParaRPr lang="en-US" sz="1300" dirty="0"/>
          </a:p>
        </p:txBody>
      </p:sp>
      <p:sp>
        <p:nvSpPr>
          <p:cNvPr id="13" name="Text 11"/>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4" name="Text 12"/>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AI assistants are part of the workflow now</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And React is one of the things they get most-frequently-wrong.</a:t>
            </a:r>
            <a:endParaRPr lang="en-US" sz="1400" dirty="0"/>
          </a:p>
        </p:txBody>
      </p:sp>
      <p:sp>
        <p:nvSpPr>
          <p:cNvPr id="5" name="Shape 3"/>
          <p:cNvSpPr/>
          <p:nvPr/>
        </p:nvSpPr>
        <p:spPr>
          <a:xfrm>
            <a:off x="777240" y="1645920"/>
            <a:ext cx="10607040" cy="1097280"/>
          </a:xfrm>
          <a:prstGeom prst="rect">
            <a:avLst/>
          </a:prstGeom>
          <a:solidFill>
            <a:srgbClr val="CBF1F6"/>
          </a:solidFill>
          <a:ln w="12700">
            <a:solidFill>
              <a:srgbClr val="CBF1F6"/>
            </a:solidFill>
            <a:prstDash val="solid"/>
          </a:ln>
        </p:spPr>
      </p:sp>
      <p:pic>
        <p:nvPicPr>
          <p:cNvPr id="6" name="Image 0" descr="preencoded.png">    </p:cNvPr>
          <p:cNvPicPr>
            <a:picLocks noChangeAspect="1"/>
          </p:cNvPicPr>
          <p:nvPr/>
        </p:nvPicPr>
        <p:blipFill>
          <a:blip r:embed="rId1"/>
          <a:stretch>
            <a:fillRect/>
          </a:stretch>
        </p:blipFill>
        <p:spPr>
          <a:xfrm>
            <a:off x="1005840" y="1874520"/>
            <a:ext cx="640080" cy="640080"/>
          </a:xfrm>
          <a:prstGeom prst="rect">
            <a:avLst/>
          </a:prstGeom>
        </p:spPr>
      </p:pic>
      <p:sp>
        <p:nvSpPr>
          <p:cNvPr id="7" name="Text 4"/>
          <p:cNvSpPr/>
          <p:nvPr/>
        </p:nvSpPr>
        <p:spPr>
          <a:xfrm>
            <a:off x="1783080" y="1691640"/>
            <a:ext cx="9509760" cy="1005840"/>
          </a:xfrm>
          <a:prstGeom prst="rect">
            <a:avLst/>
          </a:prstGeom>
          <a:noFill/>
          <a:ln/>
        </p:spPr>
        <p:txBody>
          <a:bodyPr wrap="square" lIns="0" tIns="0" rIns="0" bIns="0" rtlCol="0" anchor="ctr"/>
          <a:lstStyle/>
          <a:p>
            <a:pPr indent="0" marL="0">
              <a:buNone/>
            </a:pPr>
            <a:r>
              <a:rPr lang="en-US" sz="1400" i="1" dirty="0">
                <a:solidFill>
                  <a:srgbClr val="0F172A"/>
                </a:solidFill>
                <a:latin typeface="Arial" pitchFamily="34" charset="0"/>
                <a:ea typeface="Arial" pitchFamily="34" charset="-122"/>
                <a:cs typeface="Arial" pitchFamily="34" charset="-120"/>
              </a:rPr>
              <a:t>Most students in this room used an AI assistant to help with at least one React component this week.</a:t>
            </a:r>
            <a:endParaRPr lang="en-US" sz="1400" dirty="0"/>
          </a:p>
        </p:txBody>
      </p:sp>
      <p:sp>
        <p:nvSpPr>
          <p:cNvPr id="8" name="Text 5"/>
          <p:cNvSpPr/>
          <p:nvPr/>
        </p:nvSpPr>
        <p:spPr>
          <a:xfrm>
            <a:off x="777240" y="3017520"/>
            <a:ext cx="10607040" cy="36576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React-specific failure modes you'll see across all the major tools:</a:t>
            </a:r>
            <a:endParaRPr lang="en-US" sz="1300" dirty="0"/>
          </a:p>
        </p:txBody>
      </p:sp>
      <p:sp>
        <p:nvSpPr>
          <p:cNvPr id="9" name="Shape 6"/>
          <p:cNvSpPr/>
          <p:nvPr/>
        </p:nvSpPr>
        <p:spPr>
          <a:xfrm>
            <a:off x="777240" y="3520440"/>
            <a:ext cx="5212080" cy="685800"/>
          </a:xfrm>
          <a:prstGeom prst="rect">
            <a:avLst/>
          </a:prstGeom>
          <a:solidFill>
            <a:srgbClr val="FFFFFF"/>
          </a:solidFill>
          <a:ln w="12700">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960120" y="3703320"/>
            <a:ext cx="320040" cy="320040"/>
          </a:xfrm>
          <a:prstGeom prst="rect">
            <a:avLst/>
          </a:prstGeom>
        </p:spPr>
      </p:pic>
      <p:sp>
        <p:nvSpPr>
          <p:cNvPr id="11" name="Text 7"/>
          <p:cNvSpPr/>
          <p:nvPr/>
        </p:nvSpPr>
        <p:spPr>
          <a:xfrm>
            <a:off x="1417320" y="361188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Stale closures inside useEffect callbacks</a:t>
            </a:r>
            <a:endParaRPr lang="en-US" sz="1200" dirty="0"/>
          </a:p>
        </p:txBody>
      </p:sp>
      <p:sp>
        <p:nvSpPr>
          <p:cNvPr id="12" name="Shape 8"/>
          <p:cNvSpPr/>
          <p:nvPr/>
        </p:nvSpPr>
        <p:spPr>
          <a:xfrm>
            <a:off x="6126480" y="3520440"/>
            <a:ext cx="5212080" cy="685800"/>
          </a:xfrm>
          <a:prstGeom prst="rect">
            <a:avLst/>
          </a:prstGeom>
          <a:solidFill>
            <a:srgbClr val="FFFFFF"/>
          </a:solidFill>
          <a:ln w="12700">
            <a:solidFill>
              <a:srgbClr val="E2E8F0"/>
            </a:solidFill>
            <a:prstDash val="solid"/>
          </a:ln>
        </p:spPr>
      </p:sp>
      <p:pic>
        <p:nvPicPr>
          <p:cNvPr id="13" name="Image 2" descr="preencoded.png">    </p:cNvPr>
          <p:cNvPicPr>
            <a:picLocks noChangeAspect="1"/>
          </p:cNvPicPr>
          <p:nvPr/>
        </p:nvPicPr>
        <p:blipFill>
          <a:blip r:embed="rId3"/>
          <a:stretch>
            <a:fillRect/>
          </a:stretch>
        </p:blipFill>
        <p:spPr>
          <a:xfrm>
            <a:off x="6309360" y="3703320"/>
            <a:ext cx="320040" cy="320040"/>
          </a:xfrm>
          <a:prstGeom prst="rect">
            <a:avLst/>
          </a:prstGeom>
        </p:spPr>
      </p:pic>
      <p:sp>
        <p:nvSpPr>
          <p:cNvPr id="14" name="Text 9"/>
          <p:cNvSpPr/>
          <p:nvPr/>
        </p:nvSpPr>
        <p:spPr>
          <a:xfrm>
            <a:off x="6766560" y="361188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Missing or over-eager dependency arrays</a:t>
            </a:r>
            <a:endParaRPr lang="en-US" sz="1200" dirty="0"/>
          </a:p>
        </p:txBody>
      </p:sp>
      <p:sp>
        <p:nvSpPr>
          <p:cNvPr id="15" name="Shape 10"/>
          <p:cNvSpPr/>
          <p:nvPr/>
        </p:nvSpPr>
        <p:spPr>
          <a:xfrm>
            <a:off x="777240" y="4343400"/>
            <a:ext cx="5212080" cy="685800"/>
          </a:xfrm>
          <a:prstGeom prst="rect">
            <a:avLst/>
          </a:prstGeom>
          <a:solidFill>
            <a:srgbClr val="FFFFFF"/>
          </a:solidFill>
          <a:ln w="12700">
            <a:solidFill>
              <a:srgbClr val="E2E8F0"/>
            </a:solidFill>
            <a:prstDash val="solid"/>
          </a:ln>
        </p:spPr>
      </p:sp>
      <p:pic>
        <p:nvPicPr>
          <p:cNvPr id="16" name="Image 3" descr="preencoded.png">    </p:cNvPr>
          <p:cNvPicPr>
            <a:picLocks noChangeAspect="1"/>
          </p:cNvPicPr>
          <p:nvPr/>
        </p:nvPicPr>
        <p:blipFill>
          <a:blip r:embed="rId4"/>
          <a:stretch>
            <a:fillRect/>
          </a:stretch>
        </p:blipFill>
        <p:spPr>
          <a:xfrm>
            <a:off x="960120" y="4526280"/>
            <a:ext cx="320040" cy="320040"/>
          </a:xfrm>
          <a:prstGeom prst="rect">
            <a:avLst/>
          </a:prstGeom>
        </p:spPr>
      </p:pic>
      <p:sp>
        <p:nvSpPr>
          <p:cNvPr id="17" name="Text 11"/>
          <p:cNvSpPr/>
          <p:nvPr/>
        </p:nvSpPr>
        <p:spPr>
          <a:xfrm>
            <a:off x="1417320" y="443484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useEffect for derived state (should be plain calculation)</a:t>
            </a:r>
            <a:endParaRPr lang="en-US" sz="1200" dirty="0"/>
          </a:p>
        </p:txBody>
      </p:sp>
      <p:sp>
        <p:nvSpPr>
          <p:cNvPr id="18" name="Shape 12"/>
          <p:cNvSpPr/>
          <p:nvPr/>
        </p:nvSpPr>
        <p:spPr>
          <a:xfrm>
            <a:off x="6126480" y="4343400"/>
            <a:ext cx="5212080" cy="685800"/>
          </a:xfrm>
          <a:prstGeom prst="rect">
            <a:avLst/>
          </a:prstGeom>
          <a:solidFill>
            <a:srgbClr val="FFFFFF"/>
          </a:solidFill>
          <a:ln w="12700">
            <a:solidFill>
              <a:srgbClr val="E2E8F0"/>
            </a:solidFill>
            <a:prstDash val="solid"/>
          </a:ln>
        </p:spPr>
      </p:sp>
      <p:pic>
        <p:nvPicPr>
          <p:cNvPr id="19" name="Image 4" descr="preencoded.png">    </p:cNvPr>
          <p:cNvPicPr>
            <a:picLocks noChangeAspect="1"/>
          </p:cNvPicPr>
          <p:nvPr/>
        </p:nvPicPr>
        <p:blipFill>
          <a:blip r:embed="rId5"/>
          <a:stretch>
            <a:fillRect/>
          </a:stretch>
        </p:blipFill>
        <p:spPr>
          <a:xfrm>
            <a:off x="6309360" y="4526280"/>
            <a:ext cx="320040" cy="320040"/>
          </a:xfrm>
          <a:prstGeom prst="rect">
            <a:avLst/>
          </a:prstGeom>
        </p:spPr>
      </p:pic>
      <p:sp>
        <p:nvSpPr>
          <p:cNvPr id="20" name="Text 13"/>
          <p:cNvSpPr/>
          <p:nvPr/>
        </p:nvSpPr>
        <p:spPr>
          <a:xfrm>
            <a:off x="6766560" y="443484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Server/client boundary leaks (importing server code into 'use client')</a:t>
            </a:r>
            <a:endParaRPr lang="en-US" sz="1200" dirty="0"/>
          </a:p>
        </p:txBody>
      </p:sp>
      <p:sp>
        <p:nvSpPr>
          <p:cNvPr id="21" name="Shape 14"/>
          <p:cNvSpPr/>
          <p:nvPr/>
        </p:nvSpPr>
        <p:spPr>
          <a:xfrm>
            <a:off x="777240" y="5166360"/>
            <a:ext cx="5212080" cy="685800"/>
          </a:xfrm>
          <a:prstGeom prst="rect">
            <a:avLst/>
          </a:prstGeom>
          <a:solidFill>
            <a:srgbClr val="FFFFFF"/>
          </a:solidFill>
          <a:ln w="12700">
            <a:solidFill>
              <a:srgbClr val="E2E8F0"/>
            </a:solidFill>
            <a:prstDash val="solid"/>
          </a:ln>
        </p:spPr>
      </p:sp>
      <p:pic>
        <p:nvPicPr>
          <p:cNvPr id="22" name="Image 5" descr="preencoded.png">    </p:cNvPr>
          <p:cNvPicPr>
            <a:picLocks noChangeAspect="1"/>
          </p:cNvPicPr>
          <p:nvPr/>
        </p:nvPicPr>
        <p:blipFill>
          <a:blip r:embed="rId6"/>
          <a:stretch>
            <a:fillRect/>
          </a:stretch>
        </p:blipFill>
        <p:spPr>
          <a:xfrm>
            <a:off x="960120" y="5349240"/>
            <a:ext cx="320040" cy="320040"/>
          </a:xfrm>
          <a:prstGeom prst="rect">
            <a:avLst/>
          </a:prstGeom>
        </p:spPr>
      </p:pic>
      <p:sp>
        <p:nvSpPr>
          <p:cNvPr id="23" name="Text 15"/>
          <p:cNvSpPr/>
          <p:nvPr/>
        </p:nvSpPr>
        <p:spPr>
          <a:xfrm>
            <a:off x="1417320" y="525780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Outdated React Router APIs from pre-v6.4 era</a:t>
            </a:r>
            <a:endParaRPr lang="en-US" sz="1200" dirty="0"/>
          </a:p>
        </p:txBody>
      </p:sp>
      <p:sp>
        <p:nvSpPr>
          <p:cNvPr id="24" name="Shape 16"/>
          <p:cNvSpPr/>
          <p:nvPr/>
        </p:nvSpPr>
        <p:spPr>
          <a:xfrm>
            <a:off x="6126480" y="5166360"/>
            <a:ext cx="5212080" cy="685800"/>
          </a:xfrm>
          <a:prstGeom prst="rect">
            <a:avLst/>
          </a:prstGeom>
          <a:solidFill>
            <a:srgbClr val="FFFFFF"/>
          </a:solidFill>
          <a:ln w="12700">
            <a:solidFill>
              <a:srgbClr val="E2E8F0"/>
            </a:solidFill>
            <a:prstDash val="solid"/>
          </a:ln>
        </p:spPr>
      </p:sp>
      <p:pic>
        <p:nvPicPr>
          <p:cNvPr id="25" name="Image 6" descr="preencoded.png">    </p:cNvPr>
          <p:cNvPicPr>
            <a:picLocks noChangeAspect="1"/>
          </p:cNvPicPr>
          <p:nvPr/>
        </p:nvPicPr>
        <p:blipFill>
          <a:blip r:embed="rId7"/>
          <a:stretch>
            <a:fillRect/>
          </a:stretch>
        </p:blipFill>
        <p:spPr>
          <a:xfrm>
            <a:off x="6309360" y="5349240"/>
            <a:ext cx="320040" cy="320040"/>
          </a:xfrm>
          <a:prstGeom prst="rect">
            <a:avLst/>
          </a:prstGeom>
        </p:spPr>
      </p:pic>
      <p:sp>
        <p:nvSpPr>
          <p:cNvPr id="26" name="Text 17"/>
          <p:cNvSpPr/>
          <p:nvPr/>
        </p:nvSpPr>
        <p:spPr>
          <a:xfrm>
            <a:off x="6766560" y="5257800"/>
            <a:ext cx="4572000" cy="548640"/>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Hydration mismatches from non-deterministic renders</a:t>
            </a:r>
            <a:endParaRPr lang="en-US" sz="1200" dirty="0"/>
          </a:p>
        </p:txBody>
      </p:sp>
      <p:sp>
        <p:nvSpPr>
          <p:cNvPr id="27" name="Text 1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28" name="Text 1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365760"/>
            <a:ext cx="164592" cy="164592"/>
          </a:xfrm>
          <a:prstGeom prst="rect">
            <a:avLst/>
          </a:prstGeom>
          <a:solidFill>
            <a:srgbClr val="00B8D9"/>
          </a:solidFill>
          <a:ln w="12700">
            <a:solidFill>
              <a:srgbClr val="00B8D9"/>
            </a:solidFill>
            <a:prstDash val="solid"/>
          </a:ln>
        </p:spPr>
      </p:sp>
      <p:sp>
        <p:nvSpPr>
          <p:cNvPr id="3" name="Text 1"/>
          <p:cNvSpPr/>
          <p:nvPr/>
        </p:nvSpPr>
        <p:spPr>
          <a:xfrm>
            <a:off x="777240" y="292608"/>
            <a:ext cx="10972800" cy="64008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Coming up next</a:t>
            </a:r>
            <a:endParaRPr lang="en-US" sz="2800" dirty="0"/>
          </a:p>
        </p:txBody>
      </p:sp>
      <p:sp>
        <p:nvSpPr>
          <p:cNvPr id="4" name="Text 2"/>
          <p:cNvSpPr/>
          <p:nvPr/>
        </p:nvSpPr>
        <p:spPr>
          <a:xfrm>
            <a:off x="777240" y="914400"/>
            <a:ext cx="10972800" cy="411480"/>
          </a:xfrm>
          <a:prstGeom prst="rect">
            <a:avLst/>
          </a:prstGeom>
          <a:noFill/>
          <a:ln/>
        </p:spPr>
        <p:txBody>
          <a:bodyPr wrap="square" lIns="0" tIns="0" rIns="0" bIns="0" rtlCol="0" anchor="ctr"/>
          <a:lstStyle/>
          <a:p>
            <a:pPr indent="0" marL="0">
              <a:buNone/>
            </a:pPr>
            <a:r>
              <a:rPr lang="en-US" sz="1400" i="1" dirty="0">
                <a:solidFill>
                  <a:srgbClr val="475569"/>
                </a:solidFill>
                <a:latin typeface="Arial" pitchFamily="34" charset="0"/>
                <a:ea typeface="Arial" pitchFamily="34" charset="-122"/>
                <a:cs typeface="Arial" pitchFamily="34" charset="-120"/>
              </a:rPr>
              <a:t>Module 2 — Hooks That Matter in 2026.</a:t>
            </a:r>
            <a:endParaRPr lang="en-US" sz="1400" dirty="0"/>
          </a:p>
        </p:txBody>
      </p:sp>
      <p:sp>
        <p:nvSpPr>
          <p:cNvPr id="5" name="Shape 3"/>
          <p:cNvSpPr/>
          <p:nvPr/>
        </p:nvSpPr>
        <p:spPr>
          <a:xfrm>
            <a:off x="777240" y="1645920"/>
            <a:ext cx="10607040" cy="420624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097280" y="1828800"/>
            <a:ext cx="822960" cy="822960"/>
          </a:xfrm>
          <a:prstGeom prst="rect">
            <a:avLst/>
          </a:prstGeom>
        </p:spPr>
      </p:pic>
      <p:sp>
        <p:nvSpPr>
          <p:cNvPr id="7" name="Text 4"/>
          <p:cNvSpPr/>
          <p:nvPr/>
        </p:nvSpPr>
        <p:spPr>
          <a:xfrm>
            <a:off x="2194560" y="1874520"/>
            <a:ext cx="9144000" cy="64008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Module 2 — Hooks That Matter in 2026</a:t>
            </a:r>
            <a:endParaRPr lang="en-US" sz="2400" dirty="0"/>
          </a:p>
        </p:txBody>
      </p:sp>
      <p:sp>
        <p:nvSpPr>
          <p:cNvPr id="8" name="Text 5"/>
          <p:cNvSpPr/>
          <p:nvPr/>
        </p:nvSpPr>
        <p:spPr>
          <a:xfrm>
            <a:off x="2194560" y="2468880"/>
            <a:ext cx="9144000" cy="365760"/>
          </a:xfrm>
          <a:prstGeom prst="rect">
            <a:avLst/>
          </a:prstGeom>
          <a:noFill/>
          <a:ln/>
        </p:spPr>
        <p:txBody>
          <a:bodyPr wrap="square" lIns="0" tIns="0" rIns="0" bIns="0" rtlCol="0" anchor="ctr"/>
          <a:lstStyle/>
          <a:p>
            <a:pPr indent="0" marL="0">
              <a:buNone/>
            </a:pPr>
            <a:r>
              <a:rPr lang="en-US" sz="1300" i="1" dirty="0">
                <a:solidFill>
                  <a:srgbClr val="475569"/>
                </a:solidFill>
                <a:latin typeface="Arial" pitchFamily="34" charset="0"/>
                <a:ea typeface="Arial" pitchFamily="34" charset="-122"/>
                <a:cs typeface="Arial" pitchFamily="34" charset="-120"/>
              </a:rPr>
              <a:t>75 minutes  ·  Lecture + live demos</a:t>
            </a:r>
            <a:endParaRPr lang="en-US" sz="1300" dirty="0"/>
          </a:p>
        </p:txBody>
      </p:sp>
      <p:sp>
        <p:nvSpPr>
          <p:cNvPr id="9" name="Text 6"/>
          <p:cNvSpPr/>
          <p:nvPr/>
        </p:nvSpPr>
        <p:spPr>
          <a:xfrm>
            <a:off x="1097280" y="32004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In the next module:</a:t>
            </a:r>
            <a:endParaRPr lang="en-US" sz="1400" dirty="0"/>
          </a:p>
        </p:txBody>
      </p:sp>
      <p:sp>
        <p:nvSpPr>
          <p:cNvPr id="10" name="Text 7"/>
          <p:cNvSpPr/>
          <p:nvPr/>
        </p:nvSpPr>
        <p:spPr>
          <a:xfrm>
            <a:off x="1097280" y="3566160"/>
            <a:ext cx="1005840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The hooks rulebook — and why AI assistants violate it constantly</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When not to reach for useEffect</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use(), useActionState, useFormStatus, useOptimistic — with real code</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useSyncExternalStore, useDeferredValue, useTransition, useLayoutEffect</a:t>
            </a:r>
            <a:endParaRPr lang="en-US" sz="1300" dirty="0"/>
          </a:p>
          <a:p>
            <a:pPr marL="342900" indent="-342900">
              <a:spcAft>
                <a:spcPts val="600"/>
              </a:spcAft>
              <a:buSzPct val="100000"/>
              <a:buChar char="•"/>
            </a:pPr>
            <a:r>
              <a:rPr lang="en-US" sz="1300" dirty="0">
                <a:solidFill>
                  <a:srgbClr val="475569"/>
                </a:solidFill>
                <a:latin typeface="Arial" pitchFamily="34" charset="0"/>
                <a:ea typeface="Arial" pitchFamily="34" charset="-122"/>
                <a:cs typeface="Arial" pitchFamily="34" charset="-120"/>
              </a:rPr>
              <a:t>Then Lab 1: modernize the chat app — your first AI-review exercise</a:t>
            </a:r>
            <a:endParaRPr lang="en-US" sz="1300" dirty="0"/>
          </a:p>
        </p:txBody>
      </p:sp>
      <p:sp>
        <p:nvSpPr>
          <p:cNvPr id="11" name="Text 8"/>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94A3B8"/>
                </a:solidFill>
                <a:latin typeface="Arial" pitchFamily="34" charset="0"/>
                <a:ea typeface="Arial" pitchFamily="34" charset="-122"/>
                <a:cs typeface="Arial" pitchFamily="34" charset="-120"/>
              </a:rPr>
              <a:t>Advanced React Development  </a:t>
            </a:r>
            <a:pPr indent="0" marL="0">
              <a:buNone/>
            </a:pPr>
            <a:r>
              <a:rPr lang="en-US" sz="900" dirty="0">
                <a:solidFill>
                  <a:srgbClr val="94A3B8"/>
                </a:solidFill>
                <a:latin typeface="Arial" pitchFamily="34" charset="0"/>
                <a:ea typeface="Arial" pitchFamily="34" charset="-122"/>
                <a:cs typeface="Arial" pitchFamily="34" charset="-120"/>
              </a:rPr>
              <a:t>v2.0  </a:t>
            </a:r>
            <a:pPr indent="0" marL="0">
              <a:buNone/>
            </a:pPr>
            <a:r>
              <a:rPr lang="en-US" sz="900" dirty="0">
                <a:solidFill>
                  <a:srgbClr val="94A3B8"/>
                </a:solidFill>
                <a:latin typeface="Arial" pitchFamily="34" charset="0"/>
                <a:ea typeface="Arial" pitchFamily="34" charset="-122"/>
                <a:cs typeface="Arial" pitchFamily="34" charset="-120"/>
              </a:rPr>
              <a:t>Module 1 — The 2026 Landscape</a:t>
            </a:r>
            <a:endParaRPr lang="en-US" sz="900" dirty="0"/>
          </a:p>
        </p:txBody>
      </p:sp>
      <p:sp>
        <p:nvSpPr>
          <p:cNvPr id="12" name="Text 9"/>
          <p:cNvSpPr/>
          <p:nvPr/>
        </p:nvSpPr>
        <p:spPr>
          <a:xfrm>
            <a:off x="11094415" y="6492240"/>
            <a:ext cx="640080" cy="27432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30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WatzThis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React — Module 1: Welcome + 2026 Landscape</dc:title>
  <dc:subject>PptxGenJS Presentation</dc:subject>
  <dc:creator>Chris Minnick</dc:creator>
  <cp:lastModifiedBy>Chris Minnick</cp:lastModifiedBy>
  <cp:revision>1</cp:revision>
  <dcterms:created xsi:type="dcterms:W3CDTF">2026-05-14T16:48:20Z</dcterms:created>
  <dcterms:modified xsi:type="dcterms:W3CDTF">2026-05-14T16:48:20Z</dcterms:modified>
</cp:coreProperties>
</file>