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Lst>
  <p:notesMasterIdLst>
    <p:notesMasterId r:id="rId32"/>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notesMaster" Target="notesMasters/notesMaster1.xml"/><Relationship Id="rId33" Type="http://schemas.openxmlformats.org/officeDocument/2006/relationships/presProps" Target="presProps.xml"/><Relationship Id="rId34" Type="http://schemas.openxmlformats.org/officeDocument/2006/relationships/viewProps" Target="viewProps.xml"/><Relationship Id="rId35" Type="http://schemas.openxmlformats.org/officeDocument/2006/relationships/theme" Target="theme/theme1.xml"/><Relationship Id="rId36"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Welcome students. This module is 45 minutes total. Spend 8-10 minutes on intro/orientation, then ~30 minutes on the React landscape, then ~5 minutes setting up the AI thread. Keep energy high — Day 1 mornings set the tone for the whole course.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Spend ~5 min here. Capture each student's stated goal — ideally on a whiteboard or a shared doc — so you can refer back at the end of Day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Hit each of these in 15-20 seconds. The point isn't to teach the content yet, it's to set the frame: what you knew in 2024 isn't enough.</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These aren't aspirations — they map directly to the modules and labs. Tell students this list is the rubric for whether the course succeeded.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Show the full daily flow. Note that each day has multiple labs — lab time is more than half of every day.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promise students an answer to every problem they hit in lab. The point is to wrestle with it. You'll circulate and unstick people, but the discomfort is part of the learning.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If anyone hasn't cloned, give them 2 minutes now. Setup-check script is in the setup-check/ directory.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is the tone-setter for the AI thread. If anyone's worried that the course is going to be 'how to use Cursor' — reassure them. Likewise, if anyone is anti-AI — they still get value because review skills matter regardless.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Section break. Take a sip of coffee. The next ~25 minutes are the real meat of the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recap. You can tell the room: if you're comfortable with all four of these, you're ready for what's coming.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The point of this timeline is to ground students: yes, much has changed, but it's been gradual. They've probably encountered some of these in canary already.</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 hit the highlights — this is the menu, the deep dive comes next module.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deep-dive into the API yet. The point is: the form story has become much simpler. Module 2 is where students write the code.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Just naming them. Module 2 has the real coverage.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one of those changes that just feels good once you've done it. Worth showing students it's a quick codemod, not a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single biggest mental-model shift in React 19. Don't try to teach the whole boundary here — just make sure students know the two kinds of components exist and have different rules.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dwell — these are conveniences, not paradigm shifts. Mention them, then move to the Compiler.</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Big slide. Most of the code on the left is what students wrote yesterday. Ask the room: how many of you have a useMemo in your current project that you're not 100% sure earns its keep?</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slide that prevents over-trust. Module 7 (Performance) returns to the Compiler with concrete examples.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Halftime check. Spend the next ~10 minutes on bootstrapping choices.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slide. Most students will already know CRA is gone, but it sets up the next slide.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Most students have probably used Vite. Just confirm: yes, this is the default. If anyone asks about Webpack, acknowledge it's still around but starting from a CRA-style baseline isn't a thing in 2026.</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slide pushes back on the assumption that 'modern React = Next.js'. Frameworks are a means, not a default.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Mirrors the previous slide. Both are short — together they form a decision-making prompt students will use in Lab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This is the menu. Highlight that 'taught' doesn't mean 'best' — the course teaches both because they reflect different sensibilities.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Be honest about the watch-outs. Next.js is great but it isn't free of trade-offs, and pretending otherwise sets students up to be surprised in production.</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Mention the merge. Some students may still think of Remix as a separate product. It isn't anymore.</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Don't deep-dive. The point is shape-recognition: students should be able to evaluate whether one of these fits a given project.</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Hands up: who's seen one of these from an AI tool this week? Always lots of hands. Sets up Day 3.</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Quick hand-off. Take a 5-minute break before Module 2 starts.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slideLayout" Target="../slideLayouts/slideLayout1.xml"/><Relationship Id="rId4"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slideLayout" Target="../slideLayouts/slideLayout1.xml"/><Relationship Id="rId7"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image" Target="../media/image-7-3.png"/><Relationship Id="rId4" Type="http://schemas.openxmlformats.org/officeDocument/2006/relationships/image" Target="../media/image-7-4.png"/><Relationship Id="rId5" Type="http://schemas.openxmlformats.org/officeDocument/2006/relationships/slideLayout" Target="../slideLayouts/slideLayout1.xml"/><Relationship Id="rId6"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image" Target="../media/image-9-1.png"/><Relationship Id="rId2" Type="http://schemas.openxmlformats.org/officeDocument/2006/relationships/slideLayout" Target="../slideLayouts/slideLayout1.xml"/><Relationship Id="rId3"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image" Target="../media/image-10-1.png"/><Relationship Id="rId2" Type="http://schemas.openxmlformats.org/officeDocument/2006/relationships/image" Target="../media/image-10-2.png"/><Relationship Id="rId3" Type="http://schemas.openxmlformats.org/officeDocument/2006/relationships/image" Target="../media/image-10-3.png"/><Relationship Id="rId4" Type="http://schemas.openxmlformats.org/officeDocument/2006/relationships/image" Target="../media/image-10-4.png"/><Relationship Id="rId5" Type="http://schemas.openxmlformats.org/officeDocument/2006/relationships/slideLayout" Target="../slideLayouts/slideLayout1.xml"/><Relationship Id="rId6"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image" Target="../media/image-12-1.png"/><Relationship Id="rId2" Type="http://schemas.openxmlformats.org/officeDocument/2006/relationships/image" Target="../media/image-12-2.png"/><Relationship Id="rId3" Type="http://schemas.openxmlformats.org/officeDocument/2006/relationships/image" Target="../media/image-12-3.png"/><Relationship Id="rId4" Type="http://schemas.openxmlformats.org/officeDocument/2006/relationships/image" Target="../media/image-12-4.png"/><Relationship Id="rId5" Type="http://schemas.openxmlformats.org/officeDocument/2006/relationships/image" Target="../media/image-12-5.png"/><Relationship Id="rId6" Type="http://schemas.openxmlformats.org/officeDocument/2006/relationships/image" Target="../media/image-12-6.png"/><Relationship Id="rId7" Type="http://schemas.openxmlformats.org/officeDocument/2006/relationships/slideLayout" Target="../slideLayouts/slideLayout1.xml"/><Relationship Id="rId8"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image" Target="../media/image-15-1.png"/><Relationship Id="rId2" Type="http://schemas.openxmlformats.org/officeDocument/2006/relationships/slideLayout" Target="../slideLayouts/slideLayout1.xml"/><Relationship Id="rId3"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image" Target="../media/image-16-1.png"/><Relationship Id="rId2" Type="http://schemas.openxmlformats.org/officeDocument/2006/relationships/image" Target="../media/image-16-2.png"/><Relationship Id="rId3" Type="http://schemas.openxmlformats.org/officeDocument/2006/relationships/slideLayout" Target="../slideLayouts/slideLayout1.xml"/><Relationship Id="rId4"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image" Target="../media/image-17-1.png"/><Relationship Id="rId2" Type="http://schemas.openxmlformats.org/officeDocument/2006/relationships/image" Target="../media/image-17-2.png"/><Relationship Id="rId3" Type="http://schemas.openxmlformats.org/officeDocument/2006/relationships/slideLayout" Target="../slideLayouts/slideLayout1.xml"/><Relationship Id="rId4"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image" Target="../media/image-18-1.png"/><Relationship Id="rId2" Type="http://schemas.openxmlformats.org/officeDocument/2006/relationships/slideLayout" Target="../slideLayouts/slideLayout1.xml"/><Relationship Id="rId3"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image" Target="../media/image-19-1.png"/><Relationship Id="rId2" Type="http://schemas.openxmlformats.org/officeDocument/2006/relationships/image" Target="../media/image-19-2.png"/><Relationship Id="rId3" Type="http://schemas.openxmlformats.org/officeDocument/2006/relationships/image" Target="../media/image-19-3.png"/><Relationship Id="rId4" Type="http://schemas.openxmlformats.org/officeDocument/2006/relationships/image" Target="../media/image-19-4.png"/><Relationship Id="rId5" Type="http://schemas.openxmlformats.org/officeDocument/2006/relationships/slideLayout" Target="../slideLayouts/slideLayout1.xml"/><Relationship Id="rId6"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image" Target="../media/image-20-1.png"/><Relationship Id="rId2" Type="http://schemas.openxmlformats.org/officeDocument/2006/relationships/slideLayout" Target="../slideLayouts/slideLayout1.xml"/><Relationship Id="rId3"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image" Target="../media/image-22-1.png"/><Relationship Id="rId2" Type="http://schemas.openxmlformats.org/officeDocument/2006/relationships/slideLayout" Target="../slideLayouts/slideLayout1.xml"/><Relationship Id="rId3"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image" Target="../media/image-23-1.png"/><Relationship Id="rId2" Type="http://schemas.openxmlformats.org/officeDocument/2006/relationships/image" Target="../media/image-23-2.png"/><Relationship Id="rId3" Type="http://schemas.openxmlformats.org/officeDocument/2006/relationships/image" Target="../media/image-23-3.png"/><Relationship Id="rId4" Type="http://schemas.openxmlformats.org/officeDocument/2006/relationships/image" Target="../media/image-23-4.png"/><Relationship Id="rId5" Type="http://schemas.openxmlformats.org/officeDocument/2006/relationships/image" Target="../media/image-23-5.png"/><Relationship Id="rId6" Type="http://schemas.openxmlformats.org/officeDocument/2006/relationships/slideLayout" Target="../slideLayouts/slideLayout1.xml"/><Relationship Id="rId7"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image" Target="../media/image-24-1.png"/><Relationship Id="rId2" Type="http://schemas.openxmlformats.org/officeDocument/2006/relationships/image" Target="../media/image-24-2.png"/><Relationship Id="rId3" Type="http://schemas.openxmlformats.org/officeDocument/2006/relationships/image" Target="../media/image-24-3.png"/><Relationship Id="rId4" Type="http://schemas.openxmlformats.org/officeDocument/2006/relationships/image" Target="../media/image-24-4.png"/><Relationship Id="rId5" Type="http://schemas.openxmlformats.org/officeDocument/2006/relationships/image" Target="../media/image-24-5.png"/><Relationship Id="rId6" Type="http://schemas.openxmlformats.org/officeDocument/2006/relationships/slideLayout" Target="../slideLayouts/slideLayout1.xml"/><Relationship Id="rId7"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image" Target="../media/image-27-1.png"/><Relationship Id="rId2" Type="http://schemas.openxmlformats.org/officeDocument/2006/relationships/slideLayout" Target="../slideLayouts/slideLayout1.xml"/><Relationship Id="rId3"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image" Target="../media/image-29-1.png"/><Relationship Id="rId2" Type="http://schemas.openxmlformats.org/officeDocument/2006/relationships/image" Target="../media/image-29-2.png"/><Relationship Id="rId3" Type="http://schemas.openxmlformats.org/officeDocument/2006/relationships/image" Target="../media/image-29-3.png"/><Relationship Id="rId4" Type="http://schemas.openxmlformats.org/officeDocument/2006/relationships/image" Target="../media/image-29-4.png"/><Relationship Id="rId5" Type="http://schemas.openxmlformats.org/officeDocument/2006/relationships/image" Target="../media/image-29-5.png"/><Relationship Id="rId6" Type="http://schemas.openxmlformats.org/officeDocument/2006/relationships/image" Target="../media/image-29-6.png"/><Relationship Id="rId7" Type="http://schemas.openxmlformats.org/officeDocument/2006/relationships/image" Target="../media/image-29-7.png"/><Relationship Id="rId8" Type="http://schemas.openxmlformats.org/officeDocument/2006/relationships/slideLayout" Target="../slideLayouts/slideLayout1.xml"/><Relationship Id="rId9"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image" Target="../media/image-30-1.png"/><Relationship Id="rId2" Type="http://schemas.openxmlformats.org/officeDocument/2006/relationships/slideLayout" Target="../slideLayouts/slideLayout1.xml"/><Relationship Id="rId3" Type="http://schemas.openxmlformats.org/officeDocument/2006/relationships/notesSlide" Target="../notesSlides/notesSlide30.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377440"/>
            <a:ext cx="548640" cy="73152"/>
          </a:xfrm>
          <a:prstGeom prst="rect">
            <a:avLst/>
          </a:prstGeom>
          <a:solidFill>
            <a:srgbClr val="00B8D9"/>
          </a:solidFill>
          <a:ln w="12700">
            <a:solidFill>
              <a:srgbClr val="00B8D9"/>
            </a:solidFill>
            <a:prstDash val="solid"/>
          </a:ln>
        </p:spPr>
      </p:sp>
      <p:sp>
        <p:nvSpPr>
          <p:cNvPr id="3" name="Text 1"/>
          <p:cNvSpPr/>
          <p:nvPr/>
        </p:nvSpPr>
        <p:spPr>
          <a:xfrm>
            <a:off x="640080" y="2560320"/>
            <a:ext cx="10972800" cy="1005840"/>
          </a:xfrm>
          <a:prstGeom prst="rect">
            <a:avLst/>
          </a:prstGeom>
          <a:noFill/>
          <a:ln/>
        </p:spPr>
        <p:txBody>
          <a:bodyPr wrap="square" lIns="0" tIns="0" rIns="0" bIns="0" rtlCol="0" anchor="ctr"/>
          <a:lstStyle/>
          <a:p>
            <a:pPr indent="0" marL="0">
              <a:buNone/>
            </a:pPr>
            <a:r>
              <a:rPr lang="en-US" sz="4800" b="1" dirty="0">
                <a:solidFill>
                  <a:srgbClr val="FFFFFF"/>
                </a:solidFill>
                <a:latin typeface="Trebuchet MS" pitchFamily="34" charset="0"/>
                <a:ea typeface="Trebuchet MS" pitchFamily="34" charset="-122"/>
                <a:cs typeface="Trebuchet MS" pitchFamily="34" charset="-120"/>
              </a:rPr>
              <a:t>Advanced React Development</a:t>
            </a:r>
            <a:endParaRPr lang="en-US" sz="4800" dirty="0"/>
          </a:p>
        </p:txBody>
      </p:sp>
      <p:sp>
        <p:nvSpPr>
          <p:cNvPr id="4" name="Text 2"/>
          <p:cNvSpPr/>
          <p:nvPr/>
        </p:nvSpPr>
        <p:spPr>
          <a:xfrm>
            <a:off x="640080" y="3657600"/>
            <a:ext cx="10972800" cy="548640"/>
          </a:xfrm>
          <a:prstGeom prst="rect">
            <a:avLst/>
          </a:prstGeom>
          <a:noFill/>
          <a:ln/>
        </p:spPr>
        <p:txBody>
          <a:bodyPr wrap="square" lIns="0" tIns="0" rIns="0" bIns="0" rtlCol="0" anchor="ctr"/>
          <a:lstStyle/>
          <a:p>
            <a:pPr indent="0" marL="0">
              <a:buNone/>
            </a:pPr>
            <a:r>
              <a:rPr lang="en-US" sz="2200" i="1" dirty="0">
                <a:solidFill>
                  <a:srgbClr val="CBF1F6"/>
                </a:solidFill>
                <a:latin typeface="Arial" pitchFamily="34" charset="0"/>
                <a:ea typeface="Arial" pitchFamily="34" charset="-122"/>
                <a:cs typeface="Arial" pitchFamily="34" charset="-120"/>
              </a:rPr>
              <a:t>Modern React for 2026 — and the developers who use it</a:t>
            </a:r>
            <a:endParaRPr lang="en-US" sz="2200" dirty="0"/>
          </a:p>
        </p:txBody>
      </p:sp>
      <p:sp>
        <p:nvSpPr>
          <p:cNvPr id="5" name="Text 3"/>
          <p:cNvSpPr/>
          <p:nvPr/>
        </p:nvSpPr>
        <p:spPr>
          <a:xfrm>
            <a:off x="640080" y="4663440"/>
            <a:ext cx="10972800" cy="457200"/>
          </a:xfrm>
          <a:prstGeom prst="rect">
            <a:avLst/>
          </a:prstGeom>
          <a:noFill/>
          <a:ln/>
        </p:spPr>
        <p:txBody>
          <a:bodyPr wrap="square" lIns="0" tIns="0" rIns="0" bIns="0" rtlCol="0" anchor="ctr"/>
          <a:lstStyle/>
          <a:p>
            <a:pPr indent="0" marL="0">
              <a:buNone/>
            </a:pPr>
            <a:r>
              <a:rPr lang="en-US" sz="1600" dirty="0">
                <a:solidFill>
                  <a:srgbClr val="94A3B8"/>
                </a:solidFill>
                <a:latin typeface="Arial" pitchFamily="34" charset="0"/>
                <a:ea typeface="Arial" pitchFamily="34" charset="-122"/>
                <a:cs typeface="Arial" pitchFamily="34" charset="-120"/>
              </a:rPr>
              <a:t>Module 1: Welcome + The 2026 React Landscape</a:t>
            </a:r>
            <a:endParaRPr lang="en-US" sz="1600" dirty="0"/>
          </a:p>
        </p:txBody>
      </p:sp>
      <p:sp>
        <p:nvSpPr>
          <p:cNvPr id="6" name="Text 4"/>
          <p:cNvSpPr/>
          <p:nvPr/>
        </p:nvSpPr>
        <p:spPr>
          <a:xfrm>
            <a:off x="640080" y="6126480"/>
            <a:ext cx="10972800" cy="365760"/>
          </a:xfrm>
          <a:prstGeom prst="rect">
            <a:avLst/>
          </a:prstGeom>
          <a:noFill/>
          <a:ln/>
        </p:spPr>
        <p:txBody>
          <a:bodyPr wrap="square" lIns="0" tIns="0" rIns="0" bIns="0" rtlCol="0" anchor="ctr"/>
          <a:lstStyle/>
          <a:p>
            <a:pPr indent="0" marL="0">
              <a:buNone/>
            </a:pPr>
            <a:r>
              <a:rPr lang="en-US" sz="1200" dirty="0">
                <a:solidFill>
                  <a:srgbClr val="94A3B8"/>
                </a:solidFill>
                <a:latin typeface="Arial" pitchFamily="34" charset="0"/>
                <a:ea typeface="Arial" pitchFamily="34" charset="-122"/>
                <a:cs typeface="Arial" pitchFamily="34" charset="-120"/>
              </a:rPr>
              <a:t>Chris Minnick  ·  WatzThis  ·  v2.0  ·  May 2026</a:t>
            </a:r>
            <a:endParaRPr lang="en-US" sz="1200" dirty="0"/>
          </a:p>
        </p:txBody>
      </p:sp>
      <p:pic>
        <p:nvPicPr>
          <p:cNvPr id="7" name="Image 0" descr="preencoded.png">    </p:cNvPr>
          <p:cNvPicPr>
            <a:picLocks noChangeAspect="1"/>
          </p:cNvPicPr>
          <p:nvPr/>
        </p:nvPicPr>
        <p:blipFill>
          <a:blip r:embed="rId1">
            <a:alphaModFix amt="75000"/>
          </a:blip>
          <a:stretch>
            <a:fillRect/>
          </a:stretch>
        </p:blipFill>
        <p:spPr>
          <a:xfrm>
            <a:off x="10728655" y="4663440"/>
            <a:ext cx="914400" cy="914400"/>
          </a:xfrm>
          <a:prstGeom prst="rect">
            <a:avLst/>
          </a:prstGeom>
        </p:spPr>
      </p:pic>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Welcome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Three days. Eight labs. A lot of new React.</a:t>
            </a:r>
            <a:endParaRPr lang="en-US" sz="1400" dirty="0"/>
          </a:p>
        </p:txBody>
      </p:sp>
      <p:sp>
        <p:nvSpPr>
          <p:cNvPr id="5" name="Shape 3"/>
          <p:cNvSpPr/>
          <p:nvPr/>
        </p:nvSpPr>
        <p:spPr>
          <a:xfrm>
            <a:off x="777240" y="1645920"/>
            <a:ext cx="5212080" cy="429768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874520"/>
            <a:ext cx="457200" cy="457200"/>
          </a:xfrm>
          <a:prstGeom prst="rect">
            <a:avLst/>
          </a:prstGeom>
        </p:spPr>
      </p:pic>
      <p:sp>
        <p:nvSpPr>
          <p:cNvPr id="7" name="Text 4"/>
          <p:cNvSpPr/>
          <p:nvPr/>
        </p:nvSpPr>
        <p:spPr>
          <a:xfrm>
            <a:off x="1554480" y="1874520"/>
            <a:ext cx="4297680" cy="457200"/>
          </a:xfrm>
          <a:prstGeom prst="rect">
            <a:avLst/>
          </a:prstGeom>
          <a:noFill/>
          <a:ln/>
        </p:spPr>
        <p:txBody>
          <a:bodyPr wrap="square" lIns="0" tIns="0" rIns="0" bIns="0" rtlCol="0" anchor="ctr"/>
          <a:lstStyle/>
          <a:p>
            <a:pPr indent="0" marL="0">
              <a:buNone/>
            </a:pPr>
            <a:r>
              <a:rPr lang="en-US" sz="1800" b="1" dirty="0">
                <a:solidFill>
                  <a:srgbClr val="0F172A"/>
                </a:solidFill>
                <a:latin typeface="Trebuchet MS" pitchFamily="34" charset="0"/>
                <a:ea typeface="Trebuchet MS" pitchFamily="34" charset="-122"/>
                <a:cs typeface="Trebuchet MS" pitchFamily="34" charset="-120"/>
              </a:rPr>
              <a:t>Your instructor</a:t>
            </a:r>
            <a:endParaRPr lang="en-US" sz="1800" dirty="0"/>
          </a:p>
        </p:txBody>
      </p:sp>
      <p:sp>
        <p:nvSpPr>
          <p:cNvPr id="8" name="Text 5"/>
          <p:cNvSpPr/>
          <p:nvPr/>
        </p:nvSpPr>
        <p:spPr>
          <a:xfrm>
            <a:off x="960120" y="2560320"/>
            <a:ext cx="4937760" cy="3200400"/>
          </a:xfrm>
          <a:prstGeom prst="rect">
            <a:avLst/>
          </a:prstGeom>
          <a:noFill/>
          <a:ln/>
        </p:spPr>
        <p:txBody>
          <a:bodyPr wrap="square" lIns="0" tIns="0" rIns="0" bIns="0" rtlCol="0" anchor="t"/>
          <a:lstStyle/>
          <a:p>
            <a:pPr indent="0" marL="0">
              <a:spcAft>
                <a:spcPts val="600"/>
              </a:spcAft>
              <a:buNone/>
            </a:pPr>
            <a:r>
              <a:rPr lang="en-US" sz="1300" b="1" dirty="0">
                <a:solidFill>
                  <a:srgbClr val="475569"/>
                </a:solidFill>
                <a:latin typeface="Arial" pitchFamily="34" charset="0"/>
                <a:ea typeface="Arial" pitchFamily="34" charset="-122"/>
                <a:cs typeface="Arial" pitchFamily="34" charset="-120"/>
              </a:rPr>
              <a:t>Chris Minnick</a:t>
            </a:r>
            <a:endParaRPr lang="en-US" sz="1300" dirty="0"/>
          </a:p>
          <a:p>
            <a:pPr indent="0" marL="0">
              <a:spcAft>
                <a:spcPts val="600"/>
              </a:spcAft>
              <a:buNone/>
            </a:pPr>
            <a:r>
              <a:rPr lang="en-US" sz="1300" dirty="0">
                <a:solidFill>
                  <a:srgbClr val="475569"/>
                </a:solidFill>
                <a:latin typeface="Arial" pitchFamily="34" charset="0"/>
                <a:ea typeface="Arial" pitchFamily="34" charset="-122"/>
                <a:cs typeface="Arial" pitchFamily="34" charset="-120"/>
              </a:rPr>
              <a:t>Founder, WatzThis</a:t>
            </a:r>
            <a:endParaRPr lang="en-US" sz="1300" dirty="0"/>
          </a:p>
          <a:p>
            <a:pPr indent="0" marL="0">
              <a:spcAft>
                <a:spcPts val="600"/>
              </a:spcAft>
              <a:buNone/>
            </a:pPr>
            <a:r>
              <a:rPr lang="en-US" sz="1300" dirty="0">
                <a:solidFill>
                  <a:srgbClr val="475569"/>
                </a:solidFill>
                <a:latin typeface="Arial" pitchFamily="34" charset="0"/>
                <a:ea typeface="Arial" pitchFamily="34" charset="-122"/>
                <a:cs typeface="Arial" pitchFamily="34" charset="-120"/>
              </a:rPr>
              <a:t>25+ years building for the web</a:t>
            </a:r>
            <a:endParaRPr lang="en-US" sz="1300" dirty="0"/>
          </a:p>
          <a:p>
            <a:pPr indent="0" marL="0">
              <a:spcAft>
                <a:spcPts val="600"/>
              </a:spcAft>
              <a:buNone/>
            </a:pPr>
            <a:r>
              <a:rPr lang="en-US" sz="1300" dirty="0">
                <a:solidFill>
                  <a:srgbClr val="475569"/>
                </a:solidFill>
                <a:latin typeface="Arial" pitchFamily="34" charset="0"/>
                <a:ea typeface="Arial" pitchFamily="34" charset="-122"/>
                <a:cs typeface="Arial" pitchFamily="34" charset="-120"/>
              </a:rPr>
              <a:t>Author: JavaScript All-In-One For Dummies, Beginning ReactJS Foundations, others</a:t>
            </a:r>
            <a:endParaRPr lang="en-US" sz="1300" dirty="0"/>
          </a:p>
          <a:p>
            <a:pPr indent="0" marL="0">
              <a:spcAft>
                <a:spcPts val="600"/>
              </a:spcAft>
              <a:buNone/>
            </a:pPr>
            <a:r>
              <a:rPr lang="en-US" sz="1300" dirty="0">
                <a:solidFill>
                  <a:srgbClr val="475569"/>
                </a:solidFill>
                <a:latin typeface="Arial" pitchFamily="34" charset="0"/>
                <a:ea typeface="Arial" pitchFamily="34" charset="-122"/>
                <a:cs typeface="Arial" pitchFamily="34" charset="-120"/>
              </a:rPr>
              <a:t>Teaching React since 2015</a:t>
            </a:r>
            <a:endParaRPr lang="en-US" sz="1300" dirty="0"/>
          </a:p>
        </p:txBody>
      </p:sp>
      <p:sp>
        <p:nvSpPr>
          <p:cNvPr id="9" name="Shape 6"/>
          <p:cNvSpPr/>
          <p:nvPr/>
        </p:nvSpPr>
        <p:spPr>
          <a:xfrm>
            <a:off x="6355080" y="1645920"/>
            <a:ext cx="5212080" cy="4297680"/>
          </a:xfrm>
          <a:prstGeom prst="rect">
            <a:avLst/>
          </a:prstGeom>
          <a:solidFill>
            <a:srgbClr val="FFFFFF"/>
          </a:solidFill>
          <a:ln w="12700">
            <a:solidFill>
              <a:srgbClr val="E2E8F0"/>
            </a:solidFill>
            <a:prstDash val="solid"/>
          </a:ln>
        </p:spPr>
      </p:sp>
      <p:pic>
        <p:nvPicPr>
          <p:cNvPr id="10" name="Image 1" descr="preencoded.png">    </p:cNvPr>
          <p:cNvPicPr>
            <a:picLocks noChangeAspect="1"/>
          </p:cNvPicPr>
          <p:nvPr/>
        </p:nvPicPr>
        <p:blipFill>
          <a:blip r:embed="rId2"/>
          <a:stretch>
            <a:fillRect/>
          </a:stretch>
        </p:blipFill>
        <p:spPr>
          <a:xfrm>
            <a:off x="6537960" y="1874520"/>
            <a:ext cx="457200" cy="457200"/>
          </a:xfrm>
          <a:prstGeom prst="rect">
            <a:avLst/>
          </a:prstGeom>
        </p:spPr>
      </p:pic>
      <p:sp>
        <p:nvSpPr>
          <p:cNvPr id="11" name="Text 7"/>
          <p:cNvSpPr/>
          <p:nvPr/>
        </p:nvSpPr>
        <p:spPr>
          <a:xfrm>
            <a:off x="7132320" y="1874520"/>
            <a:ext cx="4297680" cy="457200"/>
          </a:xfrm>
          <a:prstGeom prst="rect">
            <a:avLst/>
          </a:prstGeom>
          <a:noFill/>
          <a:ln/>
        </p:spPr>
        <p:txBody>
          <a:bodyPr wrap="square" lIns="0" tIns="0" rIns="0" bIns="0" rtlCol="0" anchor="ctr"/>
          <a:lstStyle/>
          <a:p>
            <a:pPr indent="0" marL="0">
              <a:buNone/>
            </a:pPr>
            <a:r>
              <a:rPr lang="en-US" sz="1800" b="1" dirty="0">
                <a:solidFill>
                  <a:srgbClr val="0F172A"/>
                </a:solidFill>
                <a:latin typeface="Trebuchet MS" pitchFamily="34" charset="0"/>
                <a:ea typeface="Trebuchet MS" pitchFamily="34" charset="-122"/>
                <a:cs typeface="Trebuchet MS" pitchFamily="34" charset="-120"/>
              </a:rPr>
              <a:t>And you?</a:t>
            </a:r>
            <a:endParaRPr lang="en-US" sz="1800" dirty="0"/>
          </a:p>
        </p:txBody>
      </p:sp>
      <p:sp>
        <p:nvSpPr>
          <p:cNvPr id="12" name="Text 8"/>
          <p:cNvSpPr/>
          <p:nvPr/>
        </p:nvSpPr>
        <p:spPr>
          <a:xfrm>
            <a:off x="6537960" y="2560320"/>
            <a:ext cx="4937760" cy="3200400"/>
          </a:xfrm>
          <a:prstGeom prst="rect">
            <a:avLst/>
          </a:prstGeom>
          <a:noFill/>
          <a:ln/>
        </p:spPr>
        <p:txBody>
          <a:bodyPr wrap="square" lIns="0" tIns="0" rIns="0" bIns="0" rtlCol="0" anchor="t"/>
          <a:lstStyle/>
          <a:p>
            <a:pPr indent="0" marL="0">
              <a:spcAft>
                <a:spcPts val="400"/>
              </a:spcAft>
              <a:buNone/>
            </a:pPr>
            <a:r>
              <a:rPr lang="en-US" sz="1300" i="1" dirty="0">
                <a:solidFill>
                  <a:srgbClr val="475569"/>
                </a:solidFill>
                <a:latin typeface="Arial" pitchFamily="34" charset="0"/>
                <a:ea typeface="Arial" pitchFamily="34" charset="-122"/>
                <a:cs typeface="Arial" pitchFamily="34" charset="-120"/>
              </a:rPr>
              <a:t>Quick round of intros — 30 seconds each:</a:t>
            </a:r>
            <a:endParaRPr lang="en-US" sz="1300" dirty="0"/>
          </a:p>
          <a:p>
            <a:pPr indent="0" marL="0">
              <a:spcAft>
                <a:spcPts val="400"/>
              </a:spcAft>
              <a:buNone/>
            </a:pPr>
            <a:r>
              <a:rPr lang="en-US" sz="1300" dirty="0">
                <a:solidFill>
                  <a:srgbClr val="475569"/>
                </a:solidFill>
                <a:latin typeface="Arial" pitchFamily="34" charset="0"/>
                <a:ea typeface="Arial" pitchFamily="34" charset="-122"/>
                <a:cs typeface="Arial" pitchFamily="34" charset="-120"/>
              </a:rPr>
              <a:t> </a:t>
            </a:r>
            <a:endParaRPr lang="en-US" sz="1300" dirty="0"/>
          </a:p>
          <a:p>
            <a:pPr marL="342900" indent="-342900">
              <a:spcAft>
                <a:spcPts val="400"/>
              </a:spcAft>
              <a:buSzPct val="100000"/>
              <a:buChar char="•"/>
            </a:pPr>
            <a:r>
              <a:rPr lang="en-US" sz="1300" dirty="0">
                <a:solidFill>
                  <a:srgbClr val="475569"/>
                </a:solidFill>
                <a:latin typeface="Arial" pitchFamily="34" charset="0"/>
                <a:ea typeface="Arial" pitchFamily="34" charset="-122"/>
                <a:cs typeface="Arial" pitchFamily="34" charset="-120"/>
              </a:rPr>
              <a:t>Your name and role</a:t>
            </a:r>
            <a:endParaRPr lang="en-US" sz="1300" dirty="0"/>
          </a:p>
          <a:p>
            <a:pPr marL="342900" indent="-342900">
              <a:spcAft>
                <a:spcPts val="400"/>
              </a:spcAft>
              <a:buSzPct val="100000"/>
              <a:buChar char="•"/>
            </a:pPr>
            <a:r>
              <a:rPr lang="en-US" sz="1300" dirty="0">
                <a:solidFill>
                  <a:srgbClr val="475569"/>
                </a:solidFill>
                <a:latin typeface="Arial" pitchFamily="34" charset="0"/>
                <a:ea typeface="Arial" pitchFamily="34" charset="-122"/>
                <a:cs typeface="Arial" pitchFamily="34" charset="-120"/>
              </a:rPr>
              <a:t>How long you've worked with React</a:t>
            </a:r>
            <a:endParaRPr lang="en-US" sz="1300" dirty="0"/>
          </a:p>
          <a:p>
            <a:pPr marL="342900" indent="-342900">
              <a:spcAft>
                <a:spcPts val="400"/>
              </a:spcAft>
              <a:buSzPct val="100000"/>
              <a:buChar char="•"/>
            </a:pPr>
            <a:r>
              <a:rPr lang="en-US" sz="1300" dirty="0">
                <a:solidFill>
                  <a:srgbClr val="475569"/>
                </a:solidFill>
                <a:latin typeface="Arial" pitchFamily="34" charset="0"/>
                <a:ea typeface="Arial" pitchFamily="34" charset="-122"/>
                <a:cs typeface="Arial" pitchFamily="34" charset="-120"/>
              </a:rPr>
              <a:t>What you're building right now</a:t>
            </a:r>
            <a:endParaRPr lang="en-US" sz="1300" dirty="0"/>
          </a:p>
          <a:p>
            <a:pPr marL="342900" indent="-342900">
              <a:spcAft>
                <a:spcPts val="400"/>
              </a:spcAft>
              <a:buSzPct val="100000"/>
              <a:buChar char="•"/>
            </a:pPr>
            <a:r>
              <a:rPr lang="en-US" sz="1300" dirty="0">
                <a:solidFill>
                  <a:srgbClr val="475569"/>
                </a:solidFill>
                <a:latin typeface="Arial" pitchFamily="34" charset="0"/>
                <a:ea typeface="Arial" pitchFamily="34" charset="-122"/>
                <a:cs typeface="Arial" pitchFamily="34" charset="-120"/>
              </a:rPr>
              <a:t>One thing you want to leave this class knowing</a:t>
            </a:r>
            <a:endParaRPr lang="en-US" sz="1300" dirty="0"/>
          </a:p>
        </p:txBody>
      </p:sp>
      <p:sp>
        <p:nvSpPr>
          <p:cNvPr id="13" name="Text 9"/>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14" name="Text 10"/>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 / 30</a:t>
            </a:r>
            <a:endParaRPr lang="en-US" sz="90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Why this course was rewritten</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The 2024 version is barely two years old, but React has moved a lot.</a:t>
            </a:r>
            <a:endParaRPr lang="en-US" sz="1400" dirty="0"/>
          </a:p>
        </p:txBody>
      </p:sp>
      <p:sp>
        <p:nvSpPr>
          <p:cNvPr id="5" name="Shape 3"/>
          <p:cNvSpPr/>
          <p:nvPr/>
        </p:nvSpPr>
        <p:spPr>
          <a:xfrm>
            <a:off x="777240" y="1554480"/>
            <a:ext cx="10607040" cy="914400"/>
          </a:xfrm>
          <a:prstGeom prst="rect">
            <a:avLst/>
          </a:prstGeom>
          <a:solidFill>
            <a:srgbClr val="FFFFFF"/>
          </a:solidFill>
          <a:ln w="12700">
            <a:solidFill>
              <a:srgbClr val="E2E8F0"/>
            </a:solidFill>
            <a:prstDash val="solid"/>
          </a:ln>
        </p:spPr>
      </p:sp>
      <p:sp>
        <p:nvSpPr>
          <p:cNvPr id="6" name="Shape 4"/>
          <p:cNvSpPr/>
          <p:nvPr/>
        </p:nvSpPr>
        <p:spPr>
          <a:xfrm>
            <a:off x="777240" y="1554480"/>
            <a:ext cx="109728" cy="914400"/>
          </a:xfrm>
          <a:prstGeom prst="rect">
            <a:avLst/>
          </a:prstGeom>
          <a:solidFill>
            <a:srgbClr val="00B8D9"/>
          </a:solidFill>
          <a:ln w="12700">
            <a:solidFill>
              <a:srgbClr val="00B8D9"/>
            </a:solidFill>
            <a:prstDash val="solid"/>
          </a:ln>
        </p:spPr>
      </p:sp>
      <p:sp>
        <p:nvSpPr>
          <p:cNvPr id="7" name="Text 5"/>
          <p:cNvSpPr/>
          <p:nvPr/>
        </p:nvSpPr>
        <p:spPr>
          <a:xfrm>
            <a:off x="1051560" y="1664208"/>
            <a:ext cx="10241280" cy="365760"/>
          </a:xfrm>
          <a:prstGeom prst="rect">
            <a:avLst/>
          </a:prstGeom>
          <a:noFill/>
          <a:ln/>
        </p:spPr>
        <p:txBody>
          <a:bodyPr wrap="square" lIns="0" tIns="0" rIns="0" bIns="0" rtlCol="0" anchor="ctr"/>
          <a:lstStyle/>
          <a:p>
            <a:pPr indent="0" marL="0">
              <a:buNone/>
            </a:pPr>
            <a:r>
              <a:rPr lang="en-US" sz="1600" b="1" dirty="0">
                <a:solidFill>
                  <a:srgbClr val="0F172A"/>
                </a:solidFill>
                <a:latin typeface="Trebuchet MS" pitchFamily="34" charset="0"/>
                <a:ea typeface="Trebuchet MS" pitchFamily="34" charset="-122"/>
                <a:cs typeface="Trebuchet MS" pitchFamily="34" charset="-120"/>
              </a:rPr>
              <a:t>React 19 shipped</a:t>
            </a:r>
            <a:endParaRPr lang="en-US" sz="1600" dirty="0"/>
          </a:p>
        </p:txBody>
      </p:sp>
      <p:sp>
        <p:nvSpPr>
          <p:cNvPr id="8" name="Text 6"/>
          <p:cNvSpPr/>
          <p:nvPr/>
        </p:nvSpPr>
        <p:spPr>
          <a:xfrm>
            <a:off x="1051560" y="2011680"/>
            <a:ext cx="10241280" cy="41148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Server Components production-ready, the Actions story, and a half-dozen new hooks worth knowing.</a:t>
            </a:r>
            <a:endParaRPr lang="en-US" sz="1250" dirty="0"/>
          </a:p>
        </p:txBody>
      </p:sp>
      <p:sp>
        <p:nvSpPr>
          <p:cNvPr id="9" name="Shape 7"/>
          <p:cNvSpPr/>
          <p:nvPr/>
        </p:nvSpPr>
        <p:spPr>
          <a:xfrm>
            <a:off x="777240" y="2651760"/>
            <a:ext cx="10607040" cy="914400"/>
          </a:xfrm>
          <a:prstGeom prst="rect">
            <a:avLst/>
          </a:prstGeom>
          <a:solidFill>
            <a:srgbClr val="FFFFFF"/>
          </a:solidFill>
          <a:ln w="12700">
            <a:solidFill>
              <a:srgbClr val="E2E8F0"/>
            </a:solidFill>
            <a:prstDash val="solid"/>
          </a:ln>
        </p:spPr>
      </p:sp>
      <p:sp>
        <p:nvSpPr>
          <p:cNvPr id="10" name="Shape 8"/>
          <p:cNvSpPr/>
          <p:nvPr/>
        </p:nvSpPr>
        <p:spPr>
          <a:xfrm>
            <a:off x="777240" y="2651760"/>
            <a:ext cx="109728" cy="914400"/>
          </a:xfrm>
          <a:prstGeom prst="rect">
            <a:avLst/>
          </a:prstGeom>
          <a:solidFill>
            <a:srgbClr val="00B8D9"/>
          </a:solidFill>
          <a:ln w="12700">
            <a:solidFill>
              <a:srgbClr val="00B8D9"/>
            </a:solidFill>
            <a:prstDash val="solid"/>
          </a:ln>
        </p:spPr>
      </p:sp>
      <p:sp>
        <p:nvSpPr>
          <p:cNvPr id="11" name="Text 9"/>
          <p:cNvSpPr/>
          <p:nvPr/>
        </p:nvSpPr>
        <p:spPr>
          <a:xfrm>
            <a:off x="1051560" y="2761488"/>
            <a:ext cx="10241280" cy="365760"/>
          </a:xfrm>
          <a:prstGeom prst="rect">
            <a:avLst/>
          </a:prstGeom>
          <a:noFill/>
          <a:ln/>
        </p:spPr>
        <p:txBody>
          <a:bodyPr wrap="square" lIns="0" tIns="0" rIns="0" bIns="0" rtlCol="0" anchor="ctr"/>
          <a:lstStyle/>
          <a:p>
            <a:pPr indent="0" marL="0">
              <a:buNone/>
            </a:pPr>
            <a:r>
              <a:rPr lang="en-US" sz="1600" b="1" dirty="0">
                <a:solidFill>
                  <a:srgbClr val="0F172A"/>
                </a:solidFill>
                <a:latin typeface="Trebuchet MS" pitchFamily="34" charset="0"/>
                <a:ea typeface="Trebuchet MS" pitchFamily="34" charset="-122"/>
                <a:cs typeface="Trebuchet MS" pitchFamily="34" charset="-120"/>
              </a:rPr>
              <a:t>The React Compiler is real</a:t>
            </a:r>
            <a:endParaRPr lang="en-US" sz="1600" dirty="0"/>
          </a:p>
        </p:txBody>
      </p:sp>
      <p:sp>
        <p:nvSpPr>
          <p:cNvPr id="12" name="Text 10"/>
          <p:cNvSpPr/>
          <p:nvPr/>
        </p:nvSpPr>
        <p:spPr>
          <a:xfrm>
            <a:off x="1051560" y="3108960"/>
            <a:ext cx="10241280" cy="41148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Most of the manual useMemo / useCallback / React.memo gymnastics from 2024 is now optional.</a:t>
            </a:r>
            <a:endParaRPr lang="en-US" sz="1250" dirty="0"/>
          </a:p>
        </p:txBody>
      </p:sp>
      <p:sp>
        <p:nvSpPr>
          <p:cNvPr id="13" name="Shape 11"/>
          <p:cNvSpPr/>
          <p:nvPr/>
        </p:nvSpPr>
        <p:spPr>
          <a:xfrm>
            <a:off x="777240" y="3749040"/>
            <a:ext cx="10607040" cy="914400"/>
          </a:xfrm>
          <a:prstGeom prst="rect">
            <a:avLst/>
          </a:prstGeom>
          <a:solidFill>
            <a:srgbClr val="FFFFFF"/>
          </a:solidFill>
          <a:ln w="12700">
            <a:solidFill>
              <a:srgbClr val="E2E8F0"/>
            </a:solidFill>
            <a:prstDash val="solid"/>
          </a:ln>
        </p:spPr>
      </p:sp>
      <p:sp>
        <p:nvSpPr>
          <p:cNvPr id="14" name="Shape 12"/>
          <p:cNvSpPr/>
          <p:nvPr/>
        </p:nvSpPr>
        <p:spPr>
          <a:xfrm>
            <a:off x="777240" y="3749040"/>
            <a:ext cx="109728" cy="914400"/>
          </a:xfrm>
          <a:prstGeom prst="rect">
            <a:avLst/>
          </a:prstGeom>
          <a:solidFill>
            <a:srgbClr val="00B8D9"/>
          </a:solidFill>
          <a:ln w="12700">
            <a:solidFill>
              <a:srgbClr val="00B8D9"/>
            </a:solidFill>
            <a:prstDash val="solid"/>
          </a:ln>
        </p:spPr>
      </p:sp>
      <p:sp>
        <p:nvSpPr>
          <p:cNvPr id="15" name="Text 13"/>
          <p:cNvSpPr/>
          <p:nvPr/>
        </p:nvSpPr>
        <p:spPr>
          <a:xfrm>
            <a:off x="1051560" y="3858768"/>
            <a:ext cx="10241280" cy="365760"/>
          </a:xfrm>
          <a:prstGeom prst="rect">
            <a:avLst/>
          </a:prstGeom>
          <a:noFill/>
          <a:ln/>
        </p:spPr>
        <p:txBody>
          <a:bodyPr wrap="square" lIns="0" tIns="0" rIns="0" bIns="0" rtlCol="0" anchor="ctr"/>
          <a:lstStyle/>
          <a:p>
            <a:pPr indent="0" marL="0">
              <a:buNone/>
            </a:pPr>
            <a:r>
              <a:rPr lang="en-US" sz="1600" b="1" dirty="0">
                <a:solidFill>
                  <a:srgbClr val="0F172A"/>
                </a:solidFill>
                <a:latin typeface="Trebuchet MS" pitchFamily="34" charset="0"/>
                <a:ea typeface="Trebuchet MS" pitchFamily="34" charset="-122"/>
                <a:cs typeface="Trebuchet MS" pitchFamily="34" charset="-120"/>
              </a:rPr>
              <a:t>Create React App is gone</a:t>
            </a:r>
            <a:endParaRPr lang="en-US" sz="1600" dirty="0"/>
          </a:p>
        </p:txBody>
      </p:sp>
      <p:sp>
        <p:nvSpPr>
          <p:cNvPr id="16" name="Text 14"/>
          <p:cNvSpPr/>
          <p:nvPr/>
        </p:nvSpPr>
        <p:spPr>
          <a:xfrm>
            <a:off x="1051560" y="4206240"/>
            <a:ext cx="10241280" cy="41148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Officially deprecated in 2025. Vite is the default; frameworks own the rest.</a:t>
            </a:r>
            <a:endParaRPr lang="en-US" sz="1250" dirty="0"/>
          </a:p>
        </p:txBody>
      </p:sp>
      <p:sp>
        <p:nvSpPr>
          <p:cNvPr id="17" name="Shape 15"/>
          <p:cNvSpPr/>
          <p:nvPr/>
        </p:nvSpPr>
        <p:spPr>
          <a:xfrm>
            <a:off x="777240" y="4846320"/>
            <a:ext cx="10607040" cy="914400"/>
          </a:xfrm>
          <a:prstGeom prst="rect">
            <a:avLst/>
          </a:prstGeom>
          <a:solidFill>
            <a:srgbClr val="FFFFFF"/>
          </a:solidFill>
          <a:ln w="12700">
            <a:solidFill>
              <a:srgbClr val="E2E8F0"/>
            </a:solidFill>
            <a:prstDash val="solid"/>
          </a:ln>
        </p:spPr>
      </p:sp>
      <p:sp>
        <p:nvSpPr>
          <p:cNvPr id="18" name="Shape 16"/>
          <p:cNvSpPr/>
          <p:nvPr/>
        </p:nvSpPr>
        <p:spPr>
          <a:xfrm>
            <a:off x="777240" y="4846320"/>
            <a:ext cx="109728" cy="914400"/>
          </a:xfrm>
          <a:prstGeom prst="rect">
            <a:avLst/>
          </a:prstGeom>
          <a:solidFill>
            <a:srgbClr val="00B8D9"/>
          </a:solidFill>
          <a:ln w="12700">
            <a:solidFill>
              <a:srgbClr val="00B8D9"/>
            </a:solidFill>
            <a:prstDash val="solid"/>
          </a:ln>
        </p:spPr>
      </p:sp>
      <p:sp>
        <p:nvSpPr>
          <p:cNvPr id="19" name="Text 17"/>
          <p:cNvSpPr/>
          <p:nvPr/>
        </p:nvSpPr>
        <p:spPr>
          <a:xfrm>
            <a:off x="1051560" y="4956048"/>
            <a:ext cx="10241280" cy="365760"/>
          </a:xfrm>
          <a:prstGeom prst="rect">
            <a:avLst/>
          </a:prstGeom>
          <a:noFill/>
          <a:ln/>
        </p:spPr>
        <p:txBody>
          <a:bodyPr wrap="square" lIns="0" tIns="0" rIns="0" bIns="0" rtlCol="0" anchor="ctr"/>
          <a:lstStyle/>
          <a:p>
            <a:pPr indent="0" marL="0">
              <a:buNone/>
            </a:pPr>
            <a:r>
              <a:rPr lang="en-US" sz="1600" b="1" dirty="0">
                <a:solidFill>
                  <a:srgbClr val="0F172A"/>
                </a:solidFill>
                <a:latin typeface="Trebuchet MS" pitchFamily="34" charset="0"/>
                <a:ea typeface="Trebuchet MS" pitchFamily="34" charset="-122"/>
                <a:cs typeface="Trebuchet MS" pitchFamily="34" charset="-120"/>
              </a:rPr>
              <a:t>AI assistants are in every editor</a:t>
            </a:r>
            <a:endParaRPr lang="en-US" sz="1600" dirty="0"/>
          </a:p>
        </p:txBody>
      </p:sp>
      <p:sp>
        <p:nvSpPr>
          <p:cNvPr id="20" name="Text 18"/>
          <p:cNvSpPr/>
          <p:nvPr/>
        </p:nvSpPr>
        <p:spPr>
          <a:xfrm>
            <a:off x="1051560" y="5303520"/>
            <a:ext cx="10241280" cy="41148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The 2024 course didn't mention them. The 2026 course is built around the skills you need to use them well.</a:t>
            </a:r>
            <a:endParaRPr lang="en-US" sz="1250" dirty="0"/>
          </a:p>
        </p:txBody>
      </p:sp>
      <p:sp>
        <p:nvSpPr>
          <p:cNvPr id="21" name="Text 19"/>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22" name="Text 20"/>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3 / 30</a:t>
            </a:r>
            <a:endParaRPr lang="en-US" sz="9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What you'll be able to do by Friday</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Ten course-level outcomes. The labs are how you get there.</a:t>
            </a:r>
            <a:endParaRPr lang="en-US" sz="1400" dirty="0"/>
          </a:p>
        </p:txBody>
      </p:sp>
      <p:sp>
        <p:nvSpPr>
          <p:cNvPr id="5" name="Shape 3"/>
          <p:cNvSpPr/>
          <p:nvPr/>
        </p:nvSpPr>
        <p:spPr>
          <a:xfrm>
            <a:off x="777240" y="1554480"/>
            <a:ext cx="411480" cy="411480"/>
          </a:xfrm>
          <a:prstGeom prst="ellipse">
            <a:avLst/>
          </a:prstGeom>
          <a:solidFill>
            <a:srgbClr val="00B8D9"/>
          </a:solidFill>
          <a:ln w="12700">
            <a:solidFill>
              <a:srgbClr val="00B8D9"/>
            </a:solidFill>
            <a:prstDash val="solid"/>
          </a:ln>
        </p:spPr>
      </p:sp>
      <p:sp>
        <p:nvSpPr>
          <p:cNvPr id="6" name="Text 4"/>
          <p:cNvSpPr/>
          <p:nvPr/>
        </p:nvSpPr>
        <p:spPr>
          <a:xfrm>
            <a:off x="777240" y="155448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1</a:t>
            </a:r>
            <a:endParaRPr lang="en-US" sz="1400" dirty="0"/>
          </a:p>
        </p:txBody>
      </p:sp>
      <p:sp>
        <p:nvSpPr>
          <p:cNvPr id="7" name="Text 5"/>
          <p:cNvSpPr/>
          <p:nvPr/>
        </p:nvSpPr>
        <p:spPr>
          <a:xfrm>
            <a:off x="1325880" y="1600200"/>
            <a:ext cx="4754880" cy="731520"/>
          </a:xfrm>
          <a:prstGeom prst="rect">
            <a:avLst/>
          </a:prstGeom>
          <a:noFill/>
          <a:ln/>
        </p:spPr>
        <p:txBody>
          <a:bodyPr wrap="square" lIns="0" tIns="0" rIns="0" bIns="0" rtlCol="0" anchor="t"/>
          <a:lstStyle/>
          <a:p>
            <a:pPr indent="0" marL="0">
              <a:buNone/>
            </a:pPr>
            <a:r>
              <a:rPr lang="en-US" sz="1250" dirty="0">
                <a:solidFill>
                  <a:srgbClr val="475569"/>
                </a:solidFill>
                <a:latin typeface="Arial" pitchFamily="34" charset="0"/>
                <a:ea typeface="Arial" pitchFamily="34" charset="-122"/>
                <a:cs typeface="Arial" pitchFamily="34" charset="-120"/>
              </a:rPr>
              <a:t>Recognize what's new in React 19 and explain when each piece matters</a:t>
            </a:r>
            <a:endParaRPr lang="en-US" sz="1250" dirty="0"/>
          </a:p>
        </p:txBody>
      </p:sp>
      <p:sp>
        <p:nvSpPr>
          <p:cNvPr id="8" name="Shape 6"/>
          <p:cNvSpPr/>
          <p:nvPr/>
        </p:nvSpPr>
        <p:spPr>
          <a:xfrm>
            <a:off x="777240" y="2331720"/>
            <a:ext cx="411480" cy="411480"/>
          </a:xfrm>
          <a:prstGeom prst="ellipse">
            <a:avLst/>
          </a:prstGeom>
          <a:solidFill>
            <a:srgbClr val="00B8D9"/>
          </a:solidFill>
          <a:ln w="12700">
            <a:solidFill>
              <a:srgbClr val="00B8D9"/>
            </a:solidFill>
            <a:prstDash val="solid"/>
          </a:ln>
        </p:spPr>
      </p:sp>
      <p:sp>
        <p:nvSpPr>
          <p:cNvPr id="9" name="Text 7"/>
          <p:cNvSpPr/>
          <p:nvPr/>
        </p:nvSpPr>
        <p:spPr>
          <a:xfrm>
            <a:off x="777240" y="233172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2</a:t>
            </a:r>
            <a:endParaRPr lang="en-US" sz="1400" dirty="0"/>
          </a:p>
        </p:txBody>
      </p:sp>
      <p:sp>
        <p:nvSpPr>
          <p:cNvPr id="10" name="Text 8"/>
          <p:cNvSpPr/>
          <p:nvPr/>
        </p:nvSpPr>
        <p:spPr>
          <a:xfrm>
            <a:off x="1325880" y="2377440"/>
            <a:ext cx="4754880" cy="731520"/>
          </a:xfrm>
          <a:prstGeom prst="rect">
            <a:avLst/>
          </a:prstGeom>
          <a:noFill/>
          <a:ln/>
        </p:spPr>
        <p:txBody>
          <a:bodyPr wrap="square" lIns="0" tIns="0" rIns="0" bIns="0" rtlCol="0" anchor="t"/>
          <a:lstStyle/>
          <a:p>
            <a:pPr indent="0" marL="0">
              <a:buNone/>
            </a:pPr>
            <a:r>
              <a:rPr lang="en-US" sz="1250" dirty="0">
                <a:solidFill>
                  <a:srgbClr val="475569"/>
                </a:solidFill>
                <a:latin typeface="Arial" pitchFamily="34" charset="0"/>
                <a:ea typeface="Arial" pitchFamily="34" charset="-122"/>
                <a:cs typeface="Arial" pitchFamily="34" charset="-120"/>
              </a:rPr>
              <a:t>Choose between Vite, Next.js 15, React Router v7, and the rest based on project needs</a:t>
            </a:r>
            <a:endParaRPr lang="en-US" sz="1250" dirty="0"/>
          </a:p>
        </p:txBody>
      </p:sp>
      <p:sp>
        <p:nvSpPr>
          <p:cNvPr id="11" name="Shape 9"/>
          <p:cNvSpPr/>
          <p:nvPr/>
        </p:nvSpPr>
        <p:spPr>
          <a:xfrm>
            <a:off x="777240" y="3108960"/>
            <a:ext cx="411480" cy="411480"/>
          </a:xfrm>
          <a:prstGeom prst="ellipse">
            <a:avLst/>
          </a:prstGeom>
          <a:solidFill>
            <a:srgbClr val="00B8D9"/>
          </a:solidFill>
          <a:ln w="12700">
            <a:solidFill>
              <a:srgbClr val="00B8D9"/>
            </a:solidFill>
            <a:prstDash val="solid"/>
          </a:ln>
        </p:spPr>
      </p:sp>
      <p:sp>
        <p:nvSpPr>
          <p:cNvPr id="12" name="Text 10"/>
          <p:cNvSpPr/>
          <p:nvPr/>
        </p:nvSpPr>
        <p:spPr>
          <a:xfrm>
            <a:off x="777240" y="31089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3</a:t>
            </a:r>
            <a:endParaRPr lang="en-US" sz="1400" dirty="0"/>
          </a:p>
        </p:txBody>
      </p:sp>
      <p:sp>
        <p:nvSpPr>
          <p:cNvPr id="13" name="Text 11"/>
          <p:cNvSpPr/>
          <p:nvPr/>
        </p:nvSpPr>
        <p:spPr>
          <a:xfrm>
            <a:off x="1325880" y="3154680"/>
            <a:ext cx="4754880" cy="731520"/>
          </a:xfrm>
          <a:prstGeom prst="rect">
            <a:avLst/>
          </a:prstGeom>
          <a:noFill/>
          <a:ln/>
        </p:spPr>
        <p:txBody>
          <a:bodyPr wrap="square" lIns="0" tIns="0" rIns="0" bIns="0" rtlCol="0" anchor="t"/>
          <a:lstStyle/>
          <a:p>
            <a:pPr indent="0" marL="0">
              <a:buNone/>
            </a:pPr>
            <a:r>
              <a:rPr lang="en-US" sz="1250" dirty="0">
                <a:solidFill>
                  <a:srgbClr val="475569"/>
                </a:solidFill>
                <a:latin typeface="Arial" pitchFamily="34" charset="0"/>
                <a:ea typeface="Arial" pitchFamily="34" charset="-122"/>
                <a:cs typeface="Arial" pitchFamily="34" charset="-120"/>
              </a:rPr>
              <a:t>Apply the right hook for the job — and spot the hook mistakes AI tools make</a:t>
            </a:r>
            <a:endParaRPr lang="en-US" sz="1250" dirty="0"/>
          </a:p>
        </p:txBody>
      </p:sp>
      <p:sp>
        <p:nvSpPr>
          <p:cNvPr id="14" name="Shape 12"/>
          <p:cNvSpPr/>
          <p:nvPr/>
        </p:nvSpPr>
        <p:spPr>
          <a:xfrm>
            <a:off x="777240" y="3886200"/>
            <a:ext cx="411480" cy="411480"/>
          </a:xfrm>
          <a:prstGeom prst="ellipse">
            <a:avLst/>
          </a:prstGeom>
          <a:solidFill>
            <a:srgbClr val="00B8D9"/>
          </a:solidFill>
          <a:ln w="12700">
            <a:solidFill>
              <a:srgbClr val="00B8D9"/>
            </a:solidFill>
            <a:prstDash val="solid"/>
          </a:ln>
        </p:spPr>
      </p:sp>
      <p:sp>
        <p:nvSpPr>
          <p:cNvPr id="15" name="Text 13"/>
          <p:cNvSpPr/>
          <p:nvPr/>
        </p:nvSpPr>
        <p:spPr>
          <a:xfrm>
            <a:off x="777240" y="388620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4</a:t>
            </a:r>
            <a:endParaRPr lang="en-US" sz="1400" dirty="0"/>
          </a:p>
        </p:txBody>
      </p:sp>
      <p:sp>
        <p:nvSpPr>
          <p:cNvPr id="16" name="Text 14"/>
          <p:cNvSpPr/>
          <p:nvPr/>
        </p:nvSpPr>
        <p:spPr>
          <a:xfrm>
            <a:off x="1325880" y="3931920"/>
            <a:ext cx="4754880" cy="731520"/>
          </a:xfrm>
          <a:prstGeom prst="rect">
            <a:avLst/>
          </a:prstGeom>
          <a:noFill/>
          <a:ln/>
        </p:spPr>
        <p:txBody>
          <a:bodyPr wrap="square" lIns="0" tIns="0" rIns="0" bIns="0" rtlCol="0" anchor="t"/>
          <a:lstStyle/>
          <a:p>
            <a:pPr indent="0" marL="0">
              <a:buNone/>
            </a:pPr>
            <a:r>
              <a:rPr lang="en-US" sz="1250" dirty="0">
                <a:solidFill>
                  <a:srgbClr val="475569"/>
                </a:solidFill>
                <a:latin typeface="Arial" pitchFamily="34" charset="0"/>
                <a:ea typeface="Arial" pitchFamily="34" charset="-122"/>
                <a:cs typeface="Arial" pitchFamily="34" charset="-120"/>
              </a:rPr>
              <a:t>Implement modern routing in both React Router v7 and Next.js App Router</a:t>
            </a:r>
            <a:endParaRPr lang="en-US" sz="1250" dirty="0"/>
          </a:p>
        </p:txBody>
      </p:sp>
      <p:sp>
        <p:nvSpPr>
          <p:cNvPr id="17" name="Shape 15"/>
          <p:cNvSpPr/>
          <p:nvPr/>
        </p:nvSpPr>
        <p:spPr>
          <a:xfrm>
            <a:off x="777240" y="4663440"/>
            <a:ext cx="411480" cy="411480"/>
          </a:xfrm>
          <a:prstGeom prst="ellipse">
            <a:avLst/>
          </a:prstGeom>
          <a:solidFill>
            <a:srgbClr val="00B8D9"/>
          </a:solidFill>
          <a:ln w="12700">
            <a:solidFill>
              <a:srgbClr val="00B8D9"/>
            </a:solidFill>
            <a:prstDash val="solid"/>
          </a:ln>
        </p:spPr>
      </p:sp>
      <p:sp>
        <p:nvSpPr>
          <p:cNvPr id="18" name="Text 16"/>
          <p:cNvSpPr/>
          <p:nvPr/>
        </p:nvSpPr>
        <p:spPr>
          <a:xfrm>
            <a:off x="777240" y="466344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5</a:t>
            </a:r>
            <a:endParaRPr lang="en-US" sz="1400" dirty="0"/>
          </a:p>
        </p:txBody>
      </p:sp>
      <p:sp>
        <p:nvSpPr>
          <p:cNvPr id="19" name="Text 17"/>
          <p:cNvSpPr/>
          <p:nvPr/>
        </p:nvSpPr>
        <p:spPr>
          <a:xfrm>
            <a:off x="1325880" y="4709160"/>
            <a:ext cx="4754880" cy="731520"/>
          </a:xfrm>
          <a:prstGeom prst="rect">
            <a:avLst/>
          </a:prstGeom>
          <a:noFill/>
          <a:ln/>
        </p:spPr>
        <p:txBody>
          <a:bodyPr wrap="square" lIns="0" tIns="0" rIns="0" bIns="0" rtlCol="0" anchor="t"/>
          <a:lstStyle/>
          <a:p>
            <a:pPr indent="0" marL="0">
              <a:buNone/>
            </a:pPr>
            <a:r>
              <a:rPr lang="en-US" sz="1250" dirty="0">
                <a:solidFill>
                  <a:srgbClr val="475569"/>
                </a:solidFill>
                <a:latin typeface="Arial" pitchFamily="34" charset="0"/>
                <a:ea typeface="Arial" pitchFamily="34" charset="-122"/>
                <a:cs typeface="Arial" pitchFamily="34" charset="-120"/>
              </a:rPr>
              <a:t>Pick the right state-management approach for each kind of state</a:t>
            </a:r>
            <a:endParaRPr lang="en-US" sz="1250" dirty="0"/>
          </a:p>
        </p:txBody>
      </p:sp>
      <p:sp>
        <p:nvSpPr>
          <p:cNvPr id="20" name="Shape 18"/>
          <p:cNvSpPr/>
          <p:nvPr/>
        </p:nvSpPr>
        <p:spPr>
          <a:xfrm>
            <a:off x="6400800" y="1554480"/>
            <a:ext cx="411480" cy="411480"/>
          </a:xfrm>
          <a:prstGeom prst="ellipse">
            <a:avLst/>
          </a:prstGeom>
          <a:solidFill>
            <a:srgbClr val="00B8D9"/>
          </a:solidFill>
          <a:ln w="12700">
            <a:solidFill>
              <a:srgbClr val="00B8D9"/>
            </a:solidFill>
            <a:prstDash val="solid"/>
          </a:ln>
        </p:spPr>
      </p:sp>
      <p:sp>
        <p:nvSpPr>
          <p:cNvPr id="21" name="Text 19"/>
          <p:cNvSpPr/>
          <p:nvPr/>
        </p:nvSpPr>
        <p:spPr>
          <a:xfrm>
            <a:off x="6400800" y="155448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6</a:t>
            </a:r>
            <a:endParaRPr lang="en-US" sz="1400" dirty="0"/>
          </a:p>
        </p:txBody>
      </p:sp>
      <p:sp>
        <p:nvSpPr>
          <p:cNvPr id="22" name="Text 20"/>
          <p:cNvSpPr/>
          <p:nvPr/>
        </p:nvSpPr>
        <p:spPr>
          <a:xfrm>
            <a:off x="6949440" y="1600200"/>
            <a:ext cx="4754880" cy="731520"/>
          </a:xfrm>
          <a:prstGeom prst="rect">
            <a:avLst/>
          </a:prstGeom>
          <a:noFill/>
          <a:ln/>
        </p:spPr>
        <p:txBody>
          <a:bodyPr wrap="square" lIns="0" tIns="0" rIns="0" bIns="0" rtlCol="0" anchor="t"/>
          <a:lstStyle/>
          <a:p>
            <a:pPr indent="0" marL="0">
              <a:buNone/>
            </a:pPr>
            <a:r>
              <a:rPr lang="en-US" sz="1250" dirty="0">
                <a:solidFill>
                  <a:srgbClr val="475569"/>
                </a:solidFill>
                <a:latin typeface="Arial" pitchFamily="34" charset="0"/>
                <a:ea typeface="Arial" pitchFamily="34" charset="-122"/>
                <a:cs typeface="Arial" pitchFamily="34" charset="-120"/>
              </a:rPr>
              <a:t>Build with TanStack Query for client data and Server Components for server-driven UI</a:t>
            </a:r>
            <a:endParaRPr lang="en-US" sz="1250" dirty="0"/>
          </a:p>
        </p:txBody>
      </p:sp>
      <p:sp>
        <p:nvSpPr>
          <p:cNvPr id="23" name="Shape 21"/>
          <p:cNvSpPr/>
          <p:nvPr/>
        </p:nvSpPr>
        <p:spPr>
          <a:xfrm>
            <a:off x="6400800" y="2331720"/>
            <a:ext cx="411480" cy="411480"/>
          </a:xfrm>
          <a:prstGeom prst="ellipse">
            <a:avLst/>
          </a:prstGeom>
          <a:solidFill>
            <a:srgbClr val="00B8D9"/>
          </a:solidFill>
          <a:ln w="12700">
            <a:solidFill>
              <a:srgbClr val="00B8D9"/>
            </a:solidFill>
            <a:prstDash val="solid"/>
          </a:ln>
        </p:spPr>
      </p:sp>
      <p:sp>
        <p:nvSpPr>
          <p:cNvPr id="24" name="Text 22"/>
          <p:cNvSpPr/>
          <p:nvPr/>
        </p:nvSpPr>
        <p:spPr>
          <a:xfrm>
            <a:off x="6400800" y="233172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7</a:t>
            </a:r>
            <a:endParaRPr lang="en-US" sz="1400" dirty="0"/>
          </a:p>
        </p:txBody>
      </p:sp>
      <p:sp>
        <p:nvSpPr>
          <p:cNvPr id="25" name="Text 23"/>
          <p:cNvSpPr/>
          <p:nvPr/>
        </p:nvSpPr>
        <p:spPr>
          <a:xfrm>
            <a:off x="6949440" y="2377440"/>
            <a:ext cx="4754880" cy="731520"/>
          </a:xfrm>
          <a:prstGeom prst="rect">
            <a:avLst/>
          </a:prstGeom>
          <a:noFill/>
          <a:ln/>
        </p:spPr>
        <p:txBody>
          <a:bodyPr wrap="square" lIns="0" tIns="0" rIns="0" bIns="0" rtlCol="0" anchor="t"/>
          <a:lstStyle/>
          <a:p>
            <a:pPr indent="0" marL="0">
              <a:buNone/>
            </a:pPr>
            <a:r>
              <a:rPr lang="en-US" sz="1250" dirty="0">
                <a:solidFill>
                  <a:srgbClr val="475569"/>
                </a:solidFill>
                <a:latin typeface="Arial" pitchFamily="34" charset="0"/>
                <a:ea typeface="Arial" pitchFamily="34" charset="-122"/>
                <a:cs typeface="Arial" pitchFamily="34" charset="-120"/>
              </a:rPr>
              <a:t>Profile and optimize a React app in the React Compiler era</a:t>
            </a:r>
            <a:endParaRPr lang="en-US" sz="1250" dirty="0"/>
          </a:p>
        </p:txBody>
      </p:sp>
      <p:sp>
        <p:nvSpPr>
          <p:cNvPr id="26" name="Shape 24"/>
          <p:cNvSpPr/>
          <p:nvPr/>
        </p:nvSpPr>
        <p:spPr>
          <a:xfrm>
            <a:off x="6400800" y="3108960"/>
            <a:ext cx="411480" cy="411480"/>
          </a:xfrm>
          <a:prstGeom prst="ellipse">
            <a:avLst/>
          </a:prstGeom>
          <a:solidFill>
            <a:srgbClr val="00B8D9"/>
          </a:solidFill>
          <a:ln w="12700">
            <a:solidFill>
              <a:srgbClr val="00B8D9"/>
            </a:solidFill>
            <a:prstDash val="solid"/>
          </a:ln>
        </p:spPr>
      </p:sp>
      <p:sp>
        <p:nvSpPr>
          <p:cNvPr id="27" name="Text 25"/>
          <p:cNvSpPr/>
          <p:nvPr/>
        </p:nvSpPr>
        <p:spPr>
          <a:xfrm>
            <a:off x="6400800" y="310896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8</a:t>
            </a:r>
            <a:endParaRPr lang="en-US" sz="1400" dirty="0"/>
          </a:p>
        </p:txBody>
      </p:sp>
      <p:sp>
        <p:nvSpPr>
          <p:cNvPr id="28" name="Text 26"/>
          <p:cNvSpPr/>
          <p:nvPr/>
        </p:nvSpPr>
        <p:spPr>
          <a:xfrm>
            <a:off x="6949440" y="3154680"/>
            <a:ext cx="4754880" cy="731520"/>
          </a:xfrm>
          <a:prstGeom prst="rect">
            <a:avLst/>
          </a:prstGeom>
          <a:noFill/>
          <a:ln/>
        </p:spPr>
        <p:txBody>
          <a:bodyPr wrap="square" lIns="0" tIns="0" rIns="0" bIns="0" rtlCol="0" anchor="t"/>
          <a:lstStyle/>
          <a:p>
            <a:pPr indent="0" marL="0">
              <a:buNone/>
            </a:pPr>
            <a:r>
              <a:rPr lang="en-US" sz="1250" dirty="0">
                <a:solidFill>
                  <a:srgbClr val="475569"/>
                </a:solidFill>
                <a:latin typeface="Arial" pitchFamily="34" charset="0"/>
                <a:ea typeface="Arial" pitchFamily="34" charset="-122"/>
                <a:cs typeface="Arial" pitchFamily="34" charset="-120"/>
              </a:rPr>
              <a:t>Write meaningful tests with Vitest, React Testing Library, MSW, and Playwright</a:t>
            </a:r>
            <a:endParaRPr lang="en-US" sz="1250" dirty="0"/>
          </a:p>
        </p:txBody>
      </p:sp>
      <p:sp>
        <p:nvSpPr>
          <p:cNvPr id="29" name="Shape 27"/>
          <p:cNvSpPr/>
          <p:nvPr/>
        </p:nvSpPr>
        <p:spPr>
          <a:xfrm>
            <a:off x="6400800" y="3886200"/>
            <a:ext cx="411480" cy="411480"/>
          </a:xfrm>
          <a:prstGeom prst="ellipse">
            <a:avLst/>
          </a:prstGeom>
          <a:solidFill>
            <a:srgbClr val="00B8D9"/>
          </a:solidFill>
          <a:ln w="12700">
            <a:solidFill>
              <a:srgbClr val="00B8D9"/>
            </a:solidFill>
            <a:prstDash val="solid"/>
          </a:ln>
        </p:spPr>
      </p:sp>
      <p:sp>
        <p:nvSpPr>
          <p:cNvPr id="30" name="Text 28"/>
          <p:cNvSpPr/>
          <p:nvPr/>
        </p:nvSpPr>
        <p:spPr>
          <a:xfrm>
            <a:off x="6400800" y="388620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9</a:t>
            </a:r>
            <a:endParaRPr lang="en-US" sz="1400" dirty="0"/>
          </a:p>
        </p:txBody>
      </p:sp>
      <p:sp>
        <p:nvSpPr>
          <p:cNvPr id="31" name="Text 29"/>
          <p:cNvSpPr/>
          <p:nvPr/>
        </p:nvSpPr>
        <p:spPr>
          <a:xfrm>
            <a:off x="6949440" y="3931920"/>
            <a:ext cx="4754880" cy="731520"/>
          </a:xfrm>
          <a:prstGeom prst="rect">
            <a:avLst/>
          </a:prstGeom>
          <a:noFill/>
          <a:ln/>
        </p:spPr>
        <p:txBody>
          <a:bodyPr wrap="square" lIns="0" tIns="0" rIns="0" bIns="0" rtlCol="0" anchor="t"/>
          <a:lstStyle/>
          <a:p>
            <a:pPr indent="0" marL="0">
              <a:buNone/>
            </a:pPr>
            <a:r>
              <a:rPr lang="en-US" sz="1250" dirty="0">
                <a:solidFill>
                  <a:srgbClr val="475569"/>
                </a:solidFill>
                <a:latin typeface="Arial" pitchFamily="34" charset="0"/>
                <a:ea typeface="Arial" pitchFamily="34" charset="-122"/>
                <a:cs typeface="Arial" pitchFamily="34" charset="-120"/>
              </a:rPr>
              <a:t>Work productively with AI assistants while spotting their typical React mistakes</a:t>
            </a:r>
            <a:endParaRPr lang="en-US" sz="1250" dirty="0"/>
          </a:p>
        </p:txBody>
      </p:sp>
      <p:sp>
        <p:nvSpPr>
          <p:cNvPr id="32" name="Shape 30"/>
          <p:cNvSpPr/>
          <p:nvPr/>
        </p:nvSpPr>
        <p:spPr>
          <a:xfrm>
            <a:off x="6400800" y="4663440"/>
            <a:ext cx="411480" cy="411480"/>
          </a:xfrm>
          <a:prstGeom prst="ellipse">
            <a:avLst/>
          </a:prstGeom>
          <a:solidFill>
            <a:srgbClr val="00B8D9"/>
          </a:solidFill>
          <a:ln w="12700">
            <a:solidFill>
              <a:srgbClr val="00B8D9"/>
            </a:solidFill>
            <a:prstDash val="solid"/>
          </a:ln>
        </p:spPr>
      </p:sp>
      <p:sp>
        <p:nvSpPr>
          <p:cNvPr id="33" name="Text 31"/>
          <p:cNvSpPr/>
          <p:nvPr/>
        </p:nvSpPr>
        <p:spPr>
          <a:xfrm>
            <a:off x="6400800" y="4663440"/>
            <a:ext cx="411480" cy="411480"/>
          </a:xfrm>
          <a:prstGeom prst="rect">
            <a:avLst/>
          </a:prstGeom>
          <a:noFill/>
          <a:ln/>
        </p:spPr>
        <p:txBody>
          <a:bodyPr wrap="square" lIns="0" tIns="0" rIns="0" bIns="0" rtlCol="0" anchor="ctr"/>
          <a:lstStyle/>
          <a:p>
            <a:pPr algn="ctr" indent="0" marL="0">
              <a:buNone/>
            </a:pPr>
            <a:r>
              <a:rPr lang="en-US" sz="1400" b="1" dirty="0">
                <a:solidFill>
                  <a:srgbClr val="FFFFFF"/>
                </a:solidFill>
                <a:latin typeface="Trebuchet MS" pitchFamily="34" charset="0"/>
                <a:ea typeface="Trebuchet MS" pitchFamily="34" charset="-122"/>
                <a:cs typeface="Trebuchet MS" pitchFamily="34" charset="-120"/>
              </a:rPr>
              <a:t>10</a:t>
            </a:r>
            <a:endParaRPr lang="en-US" sz="1400" dirty="0"/>
          </a:p>
        </p:txBody>
      </p:sp>
      <p:sp>
        <p:nvSpPr>
          <p:cNvPr id="34" name="Text 32"/>
          <p:cNvSpPr/>
          <p:nvPr/>
        </p:nvSpPr>
        <p:spPr>
          <a:xfrm>
            <a:off x="6949440" y="4709160"/>
            <a:ext cx="4754880" cy="731520"/>
          </a:xfrm>
          <a:prstGeom prst="rect">
            <a:avLst/>
          </a:prstGeom>
          <a:noFill/>
          <a:ln/>
        </p:spPr>
        <p:txBody>
          <a:bodyPr wrap="square" lIns="0" tIns="0" rIns="0" bIns="0" rtlCol="0" anchor="t"/>
          <a:lstStyle/>
          <a:p>
            <a:pPr indent="0" marL="0">
              <a:buNone/>
            </a:pPr>
            <a:r>
              <a:rPr lang="en-US" sz="1250" dirty="0">
                <a:solidFill>
                  <a:srgbClr val="475569"/>
                </a:solidFill>
                <a:latin typeface="Arial" pitchFamily="34" charset="0"/>
                <a:ea typeface="Arial" pitchFamily="34" charset="-122"/>
                <a:cs typeface="Arial" pitchFamily="34" charset="-120"/>
              </a:rPr>
              <a:t>Apply React-specific security and accessibility practices</a:t>
            </a:r>
            <a:endParaRPr lang="en-US" sz="1250" dirty="0"/>
          </a:p>
        </p:txBody>
      </p:sp>
      <p:sp>
        <p:nvSpPr>
          <p:cNvPr id="35" name="Text 33"/>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36" name="Text 34"/>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4 / 30</a:t>
            </a:r>
            <a:endParaRPr lang="en-US" sz="90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Daily schedule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~7 hours of instruction per day. Lunch is one hour. Two breaks each day.</a:t>
            </a:r>
            <a:endParaRPr lang="en-US" sz="1400" dirty="0"/>
          </a:p>
        </p:txBody>
      </p:sp>
      <p:sp>
        <p:nvSpPr>
          <p:cNvPr id="5" name="Shape 3"/>
          <p:cNvSpPr/>
          <p:nvPr/>
        </p:nvSpPr>
        <p:spPr>
          <a:xfrm>
            <a:off x="777240" y="1554480"/>
            <a:ext cx="3611880" cy="4389120"/>
          </a:xfrm>
          <a:prstGeom prst="rect">
            <a:avLst/>
          </a:prstGeom>
          <a:solidFill>
            <a:srgbClr val="FFFFFF"/>
          </a:solidFill>
          <a:ln w="12700">
            <a:solidFill>
              <a:srgbClr val="E2E8F0"/>
            </a:solidFill>
            <a:prstDash val="solid"/>
          </a:ln>
        </p:spPr>
      </p:sp>
      <p:sp>
        <p:nvSpPr>
          <p:cNvPr id="6" name="Shape 4"/>
          <p:cNvSpPr/>
          <p:nvPr/>
        </p:nvSpPr>
        <p:spPr>
          <a:xfrm>
            <a:off x="777240" y="1554480"/>
            <a:ext cx="3611880" cy="457200"/>
          </a:xfrm>
          <a:prstGeom prst="rect">
            <a:avLst/>
          </a:prstGeom>
          <a:solidFill>
            <a:srgbClr val="1E2A47"/>
          </a:solidFill>
          <a:ln w="12700">
            <a:solidFill>
              <a:srgbClr val="1E2A47"/>
            </a:solidFill>
            <a:prstDash val="solid"/>
          </a:ln>
        </p:spPr>
      </p:sp>
      <p:sp>
        <p:nvSpPr>
          <p:cNvPr id="7" name="Text 5"/>
          <p:cNvSpPr/>
          <p:nvPr/>
        </p:nvSpPr>
        <p:spPr>
          <a:xfrm>
            <a:off x="960120" y="1627632"/>
            <a:ext cx="3383280" cy="329184"/>
          </a:xfrm>
          <a:prstGeom prst="rect">
            <a:avLst/>
          </a:prstGeom>
          <a:noFill/>
          <a:ln/>
        </p:spPr>
        <p:txBody>
          <a:bodyPr wrap="square" lIns="0" tIns="0" rIns="0" bIns="0" rtlCol="0" anchor="ctr"/>
          <a:lstStyle/>
          <a:p>
            <a:pPr indent="0" marL="0">
              <a:buNone/>
            </a:pPr>
            <a:r>
              <a:rPr lang="en-US" sz="1400" b="1" dirty="0">
                <a:solidFill>
                  <a:srgbClr val="00B8D9"/>
                </a:solidFill>
                <a:latin typeface="Trebuchet MS" pitchFamily="34" charset="0"/>
                <a:ea typeface="Trebuchet MS" pitchFamily="34" charset="-122"/>
                <a:cs typeface="Trebuchet MS" pitchFamily="34" charset="-120"/>
              </a:rPr>
              <a:t>Day 1</a:t>
            </a:r>
            <a:endParaRPr lang="en-US" sz="1400" dirty="0"/>
          </a:p>
        </p:txBody>
      </p:sp>
      <p:sp>
        <p:nvSpPr>
          <p:cNvPr id="8" name="Text 6"/>
          <p:cNvSpPr/>
          <p:nvPr/>
        </p:nvSpPr>
        <p:spPr>
          <a:xfrm>
            <a:off x="960120" y="2194560"/>
            <a:ext cx="338328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Foundations for 2026</a:t>
            </a:r>
            <a:endParaRPr lang="en-US" sz="1400" dirty="0"/>
          </a:p>
        </p:txBody>
      </p:sp>
      <p:sp>
        <p:nvSpPr>
          <p:cNvPr id="9" name="Text 7"/>
          <p:cNvSpPr/>
          <p:nvPr/>
        </p:nvSpPr>
        <p:spPr>
          <a:xfrm>
            <a:off x="960120" y="2697480"/>
            <a:ext cx="3291840" cy="301752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Modern React landscape</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Hooks that matter in 2026</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Routing — RR v7 + Next.js</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Labs 1 &amp; 2</a:t>
            </a:r>
            <a:endParaRPr lang="en-US" sz="1200" dirty="0"/>
          </a:p>
        </p:txBody>
      </p:sp>
      <p:sp>
        <p:nvSpPr>
          <p:cNvPr id="10" name="Shape 8"/>
          <p:cNvSpPr/>
          <p:nvPr/>
        </p:nvSpPr>
        <p:spPr>
          <a:xfrm>
            <a:off x="4617720" y="1554480"/>
            <a:ext cx="3611880" cy="4389120"/>
          </a:xfrm>
          <a:prstGeom prst="rect">
            <a:avLst/>
          </a:prstGeom>
          <a:solidFill>
            <a:srgbClr val="FFFFFF"/>
          </a:solidFill>
          <a:ln w="12700">
            <a:solidFill>
              <a:srgbClr val="E2E8F0"/>
            </a:solidFill>
            <a:prstDash val="solid"/>
          </a:ln>
        </p:spPr>
      </p:sp>
      <p:sp>
        <p:nvSpPr>
          <p:cNvPr id="11" name="Shape 9"/>
          <p:cNvSpPr/>
          <p:nvPr/>
        </p:nvSpPr>
        <p:spPr>
          <a:xfrm>
            <a:off x="4617720" y="1554480"/>
            <a:ext cx="3611880" cy="457200"/>
          </a:xfrm>
          <a:prstGeom prst="rect">
            <a:avLst/>
          </a:prstGeom>
          <a:solidFill>
            <a:srgbClr val="1E2A47"/>
          </a:solidFill>
          <a:ln w="12700">
            <a:solidFill>
              <a:srgbClr val="1E2A47"/>
            </a:solidFill>
            <a:prstDash val="solid"/>
          </a:ln>
        </p:spPr>
      </p:sp>
      <p:sp>
        <p:nvSpPr>
          <p:cNvPr id="12" name="Text 10"/>
          <p:cNvSpPr/>
          <p:nvPr/>
        </p:nvSpPr>
        <p:spPr>
          <a:xfrm>
            <a:off x="4800600" y="1627632"/>
            <a:ext cx="3383280" cy="329184"/>
          </a:xfrm>
          <a:prstGeom prst="rect">
            <a:avLst/>
          </a:prstGeom>
          <a:noFill/>
          <a:ln/>
        </p:spPr>
        <p:txBody>
          <a:bodyPr wrap="square" lIns="0" tIns="0" rIns="0" bIns="0" rtlCol="0" anchor="ctr"/>
          <a:lstStyle/>
          <a:p>
            <a:pPr indent="0" marL="0">
              <a:buNone/>
            </a:pPr>
            <a:r>
              <a:rPr lang="en-US" sz="1400" b="1" dirty="0">
                <a:solidFill>
                  <a:srgbClr val="00B8D9"/>
                </a:solidFill>
                <a:latin typeface="Trebuchet MS" pitchFamily="34" charset="0"/>
                <a:ea typeface="Trebuchet MS" pitchFamily="34" charset="-122"/>
                <a:cs typeface="Trebuchet MS" pitchFamily="34" charset="-120"/>
              </a:rPr>
              <a:t>Day 2</a:t>
            </a:r>
            <a:endParaRPr lang="en-US" sz="1400" dirty="0"/>
          </a:p>
        </p:txBody>
      </p:sp>
      <p:sp>
        <p:nvSpPr>
          <p:cNvPr id="13" name="Text 11"/>
          <p:cNvSpPr/>
          <p:nvPr/>
        </p:nvSpPr>
        <p:spPr>
          <a:xfrm>
            <a:off x="4800600" y="2194560"/>
            <a:ext cx="338328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Data, State, and the Server</a:t>
            </a:r>
            <a:endParaRPr lang="en-US" sz="1400" dirty="0"/>
          </a:p>
        </p:txBody>
      </p:sp>
      <p:sp>
        <p:nvSpPr>
          <p:cNvPr id="14" name="Text 12"/>
          <p:cNvSpPr/>
          <p:nvPr/>
        </p:nvSpPr>
        <p:spPr>
          <a:xfrm>
            <a:off x="4800600" y="2697480"/>
            <a:ext cx="3291840" cy="301752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State management decisions</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Modern data fetching</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Server Components + Actions</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Labs 3, 4, &amp; 5</a:t>
            </a:r>
            <a:endParaRPr lang="en-US" sz="1200" dirty="0"/>
          </a:p>
        </p:txBody>
      </p:sp>
      <p:sp>
        <p:nvSpPr>
          <p:cNvPr id="15" name="Shape 13"/>
          <p:cNvSpPr/>
          <p:nvPr/>
        </p:nvSpPr>
        <p:spPr>
          <a:xfrm>
            <a:off x="8458200" y="1554480"/>
            <a:ext cx="3611880" cy="4389120"/>
          </a:xfrm>
          <a:prstGeom prst="rect">
            <a:avLst/>
          </a:prstGeom>
          <a:solidFill>
            <a:srgbClr val="FFFFFF"/>
          </a:solidFill>
          <a:ln w="12700">
            <a:solidFill>
              <a:srgbClr val="E2E8F0"/>
            </a:solidFill>
            <a:prstDash val="solid"/>
          </a:ln>
        </p:spPr>
      </p:sp>
      <p:sp>
        <p:nvSpPr>
          <p:cNvPr id="16" name="Shape 14"/>
          <p:cNvSpPr/>
          <p:nvPr/>
        </p:nvSpPr>
        <p:spPr>
          <a:xfrm>
            <a:off x="8458200" y="1554480"/>
            <a:ext cx="3611880" cy="457200"/>
          </a:xfrm>
          <a:prstGeom prst="rect">
            <a:avLst/>
          </a:prstGeom>
          <a:solidFill>
            <a:srgbClr val="1E2A47"/>
          </a:solidFill>
          <a:ln w="12700">
            <a:solidFill>
              <a:srgbClr val="1E2A47"/>
            </a:solidFill>
            <a:prstDash val="solid"/>
          </a:ln>
        </p:spPr>
      </p:sp>
      <p:sp>
        <p:nvSpPr>
          <p:cNvPr id="17" name="Text 15"/>
          <p:cNvSpPr/>
          <p:nvPr/>
        </p:nvSpPr>
        <p:spPr>
          <a:xfrm>
            <a:off x="8641080" y="1627632"/>
            <a:ext cx="3383280" cy="329184"/>
          </a:xfrm>
          <a:prstGeom prst="rect">
            <a:avLst/>
          </a:prstGeom>
          <a:noFill/>
          <a:ln/>
        </p:spPr>
        <p:txBody>
          <a:bodyPr wrap="square" lIns="0" tIns="0" rIns="0" bIns="0" rtlCol="0" anchor="ctr"/>
          <a:lstStyle/>
          <a:p>
            <a:pPr indent="0" marL="0">
              <a:buNone/>
            </a:pPr>
            <a:r>
              <a:rPr lang="en-US" sz="1400" b="1" dirty="0">
                <a:solidFill>
                  <a:srgbClr val="00B8D9"/>
                </a:solidFill>
                <a:latin typeface="Trebuchet MS" pitchFamily="34" charset="0"/>
                <a:ea typeface="Trebuchet MS" pitchFamily="34" charset="-122"/>
                <a:cs typeface="Trebuchet MS" pitchFamily="34" charset="-120"/>
              </a:rPr>
              <a:t>Day 3</a:t>
            </a:r>
            <a:endParaRPr lang="en-US" sz="1400" dirty="0"/>
          </a:p>
        </p:txBody>
      </p:sp>
      <p:sp>
        <p:nvSpPr>
          <p:cNvPr id="18" name="Text 16"/>
          <p:cNvSpPr/>
          <p:nvPr/>
        </p:nvSpPr>
        <p:spPr>
          <a:xfrm>
            <a:off x="8641080" y="2194560"/>
            <a:ext cx="338328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Performance, Quality, and AI</a:t>
            </a:r>
            <a:endParaRPr lang="en-US" sz="1400" dirty="0"/>
          </a:p>
        </p:txBody>
      </p:sp>
      <p:sp>
        <p:nvSpPr>
          <p:cNvPr id="19" name="Text 17"/>
          <p:cNvSpPr/>
          <p:nvPr/>
        </p:nvSpPr>
        <p:spPr>
          <a:xfrm>
            <a:off x="8641080" y="2697480"/>
            <a:ext cx="3291840" cy="3017520"/>
          </a:xfrm>
          <a:prstGeom prst="rect">
            <a:avLst/>
          </a:prstGeom>
          <a:noFill/>
          <a:ln/>
        </p:spPr>
        <p:txBody>
          <a:bodyPr wrap="square" lIns="0" tIns="0" rIns="0" bIns="0" rtlCol="0" anchor="t"/>
          <a:lstStyle/>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Performance in the Compiler era</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Testing in 2026</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Working with AI assistants</a:t>
            </a:r>
            <a:endParaRPr lang="en-US" sz="1200" dirty="0"/>
          </a:p>
          <a:p>
            <a:pPr marL="342900" indent="-342900">
              <a:spcAft>
                <a:spcPts val="400"/>
              </a:spcAft>
              <a:buSzPct val="100000"/>
              <a:buChar char="•"/>
            </a:pPr>
            <a:r>
              <a:rPr lang="en-US" sz="1200" dirty="0">
                <a:solidFill>
                  <a:srgbClr val="475569"/>
                </a:solidFill>
                <a:latin typeface="Arial" pitchFamily="34" charset="0"/>
                <a:ea typeface="Arial" pitchFamily="34" charset="-122"/>
                <a:cs typeface="Arial" pitchFamily="34" charset="-120"/>
              </a:rPr>
              <a:t>Labs 6, 7, &amp; 8</a:t>
            </a:r>
            <a:endParaRPr lang="en-US" sz="1200" dirty="0"/>
          </a:p>
        </p:txBody>
      </p:sp>
      <p:sp>
        <p:nvSpPr>
          <p:cNvPr id="20" name="Text 18"/>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21" name="Text 19"/>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5 / 30</a:t>
            </a:r>
            <a:endParaRPr lang="en-US" sz="90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How the days are structured</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Concept → quick demo → substantial lab. Repeat.</a:t>
            </a:r>
            <a:endParaRPr lang="en-US" sz="1400" dirty="0"/>
          </a:p>
        </p:txBody>
      </p:sp>
      <p:sp>
        <p:nvSpPr>
          <p:cNvPr id="5" name="Shape 3"/>
          <p:cNvSpPr/>
          <p:nvPr/>
        </p:nvSpPr>
        <p:spPr>
          <a:xfrm>
            <a:off x="777240" y="1737360"/>
            <a:ext cx="3611880" cy="301752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1051560" y="1920240"/>
            <a:ext cx="640080" cy="640080"/>
          </a:xfrm>
          <a:prstGeom prst="rect">
            <a:avLst/>
          </a:prstGeom>
        </p:spPr>
      </p:pic>
      <p:sp>
        <p:nvSpPr>
          <p:cNvPr id="7" name="Text 4"/>
          <p:cNvSpPr/>
          <p:nvPr/>
        </p:nvSpPr>
        <p:spPr>
          <a:xfrm>
            <a:off x="1051560" y="2697480"/>
            <a:ext cx="3200400" cy="457200"/>
          </a:xfrm>
          <a:prstGeom prst="rect">
            <a:avLst/>
          </a:prstGeom>
          <a:noFill/>
          <a:ln/>
        </p:spPr>
        <p:txBody>
          <a:bodyPr wrap="square" lIns="0" tIns="0" rIns="0" bIns="0" rtlCol="0" anchor="ctr"/>
          <a:lstStyle/>
          <a:p>
            <a:pPr indent="0" marL="0">
              <a:buNone/>
            </a:pPr>
            <a:r>
              <a:rPr lang="en-US" sz="2200" b="1" dirty="0">
                <a:solidFill>
                  <a:srgbClr val="0F172A"/>
                </a:solidFill>
                <a:latin typeface="Trebuchet MS" pitchFamily="34" charset="0"/>
                <a:ea typeface="Trebuchet MS" pitchFamily="34" charset="-122"/>
                <a:cs typeface="Trebuchet MS" pitchFamily="34" charset="-120"/>
              </a:rPr>
              <a:t>Concept</a:t>
            </a:r>
            <a:endParaRPr lang="en-US" sz="2200" dirty="0"/>
          </a:p>
        </p:txBody>
      </p:sp>
      <p:sp>
        <p:nvSpPr>
          <p:cNvPr id="8" name="Text 5"/>
          <p:cNvSpPr/>
          <p:nvPr/>
        </p:nvSpPr>
        <p:spPr>
          <a:xfrm>
            <a:off x="1051560" y="3200400"/>
            <a:ext cx="3200400" cy="146304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Short lecture (15-30 min) with live coding, not just slides.</a:t>
            </a:r>
            <a:endParaRPr lang="en-US" sz="1250" dirty="0"/>
          </a:p>
        </p:txBody>
      </p:sp>
      <p:pic>
        <p:nvPicPr>
          <p:cNvPr id="9" name="Image 1" descr="preencoded.png">    </p:cNvPr>
          <p:cNvPicPr>
            <a:picLocks noChangeAspect="1"/>
          </p:cNvPicPr>
          <p:nvPr/>
        </p:nvPicPr>
        <p:blipFill>
          <a:blip r:embed="rId2"/>
          <a:stretch>
            <a:fillRect/>
          </a:stretch>
        </p:blipFill>
        <p:spPr>
          <a:xfrm>
            <a:off x="4434840" y="3017520"/>
            <a:ext cx="228600" cy="228600"/>
          </a:xfrm>
          <a:prstGeom prst="rect">
            <a:avLst/>
          </a:prstGeom>
        </p:spPr>
      </p:pic>
      <p:sp>
        <p:nvSpPr>
          <p:cNvPr id="10" name="Shape 6"/>
          <p:cNvSpPr/>
          <p:nvPr/>
        </p:nvSpPr>
        <p:spPr>
          <a:xfrm>
            <a:off x="4617720" y="1737360"/>
            <a:ext cx="3611880" cy="3017520"/>
          </a:xfrm>
          <a:prstGeom prst="rect">
            <a:avLst/>
          </a:prstGeom>
          <a:solidFill>
            <a:srgbClr val="FFFFFF"/>
          </a:solidFill>
          <a:ln w="12700">
            <a:solidFill>
              <a:srgbClr val="E2E8F0"/>
            </a:solidFill>
            <a:prstDash val="solid"/>
          </a:ln>
        </p:spPr>
      </p:sp>
      <p:pic>
        <p:nvPicPr>
          <p:cNvPr id="11" name="Image 2" descr="preencoded.png">    </p:cNvPr>
          <p:cNvPicPr>
            <a:picLocks noChangeAspect="1"/>
          </p:cNvPicPr>
          <p:nvPr/>
        </p:nvPicPr>
        <p:blipFill>
          <a:blip r:embed="rId3"/>
          <a:stretch>
            <a:fillRect/>
          </a:stretch>
        </p:blipFill>
        <p:spPr>
          <a:xfrm>
            <a:off x="4892040" y="1920240"/>
            <a:ext cx="640080" cy="640080"/>
          </a:xfrm>
          <a:prstGeom prst="rect">
            <a:avLst/>
          </a:prstGeom>
        </p:spPr>
      </p:pic>
      <p:sp>
        <p:nvSpPr>
          <p:cNvPr id="12" name="Text 7"/>
          <p:cNvSpPr/>
          <p:nvPr/>
        </p:nvSpPr>
        <p:spPr>
          <a:xfrm>
            <a:off x="4892040" y="2697480"/>
            <a:ext cx="3200400" cy="457200"/>
          </a:xfrm>
          <a:prstGeom prst="rect">
            <a:avLst/>
          </a:prstGeom>
          <a:noFill/>
          <a:ln/>
        </p:spPr>
        <p:txBody>
          <a:bodyPr wrap="square" lIns="0" tIns="0" rIns="0" bIns="0" rtlCol="0" anchor="ctr"/>
          <a:lstStyle/>
          <a:p>
            <a:pPr indent="0" marL="0">
              <a:buNone/>
            </a:pPr>
            <a:r>
              <a:rPr lang="en-US" sz="2200" b="1" dirty="0">
                <a:solidFill>
                  <a:srgbClr val="0F172A"/>
                </a:solidFill>
                <a:latin typeface="Trebuchet MS" pitchFamily="34" charset="0"/>
                <a:ea typeface="Trebuchet MS" pitchFamily="34" charset="-122"/>
                <a:cs typeface="Trebuchet MS" pitchFamily="34" charset="-120"/>
              </a:rPr>
              <a:t>Demo</a:t>
            </a:r>
            <a:endParaRPr lang="en-US" sz="2200" dirty="0"/>
          </a:p>
        </p:txBody>
      </p:sp>
      <p:sp>
        <p:nvSpPr>
          <p:cNvPr id="13" name="Text 8"/>
          <p:cNvSpPr/>
          <p:nvPr/>
        </p:nvSpPr>
        <p:spPr>
          <a:xfrm>
            <a:off x="4892040" y="3200400"/>
            <a:ext cx="3200400" cy="146304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5-10 min hands-on demo so the syntax lands before you write any.</a:t>
            </a:r>
            <a:endParaRPr lang="en-US" sz="1250" dirty="0"/>
          </a:p>
        </p:txBody>
      </p:sp>
      <p:pic>
        <p:nvPicPr>
          <p:cNvPr id="14" name="Image 3" descr="preencoded.png">    </p:cNvPr>
          <p:cNvPicPr>
            <a:picLocks noChangeAspect="1"/>
          </p:cNvPicPr>
          <p:nvPr/>
        </p:nvPicPr>
        <p:blipFill>
          <a:blip r:embed="rId4"/>
          <a:stretch>
            <a:fillRect/>
          </a:stretch>
        </p:blipFill>
        <p:spPr>
          <a:xfrm>
            <a:off x="8275320" y="3017520"/>
            <a:ext cx="228600" cy="228600"/>
          </a:xfrm>
          <a:prstGeom prst="rect">
            <a:avLst/>
          </a:prstGeom>
        </p:spPr>
      </p:pic>
      <p:sp>
        <p:nvSpPr>
          <p:cNvPr id="15" name="Shape 9"/>
          <p:cNvSpPr/>
          <p:nvPr/>
        </p:nvSpPr>
        <p:spPr>
          <a:xfrm>
            <a:off x="8458200" y="1737360"/>
            <a:ext cx="3611880" cy="3017520"/>
          </a:xfrm>
          <a:prstGeom prst="rect">
            <a:avLst/>
          </a:prstGeom>
          <a:solidFill>
            <a:srgbClr val="FFFFFF"/>
          </a:solidFill>
          <a:ln w="12700">
            <a:solidFill>
              <a:srgbClr val="E2E8F0"/>
            </a:solidFill>
            <a:prstDash val="solid"/>
          </a:ln>
        </p:spPr>
      </p:sp>
      <p:pic>
        <p:nvPicPr>
          <p:cNvPr id="16" name="Image 4" descr="preencoded.png">    </p:cNvPr>
          <p:cNvPicPr>
            <a:picLocks noChangeAspect="1"/>
          </p:cNvPicPr>
          <p:nvPr/>
        </p:nvPicPr>
        <p:blipFill>
          <a:blip r:embed="rId5"/>
          <a:stretch>
            <a:fillRect/>
          </a:stretch>
        </p:blipFill>
        <p:spPr>
          <a:xfrm>
            <a:off x="8732520" y="1920240"/>
            <a:ext cx="640080" cy="640080"/>
          </a:xfrm>
          <a:prstGeom prst="rect">
            <a:avLst/>
          </a:prstGeom>
        </p:spPr>
      </p:pic>
      <p:sp>
        <p:nvSpPr>
          <p:cNvPr id="17" name="Text 10"/>
          <p:cNvSpPr/>
          <p:nvPr/>
        </p:nvSpPr>
        <p:spPr>
          <a:xfrm>
            <a:off x="8732520" y="2697480"/>
            <a:ext cx="3200400" cy="457200"/>
          </a:xfrm>
          <a:prstGeom prst="rect">
            <a:avLst/>
          </a:prstGeom>
          <a:noFill/>
          <a:ln/>
        </p:spPr>
        <p:txBody>
          <a:bodyPr wrap="square" lIns="0" tIns="0" rIns="0" bIns="0" rtlCol="0" anchor="ctr"/>
          <a:lstStyle/>
          <a:p>
            <a:pPr indent="0" marL="0">
              <a:buNone/>
            </a:pPr>
            <a:r>
              <a:rPr lang="en-US" sz="2200" b="1" dirty="0">
                <a:solidFill>
                  <a:srgbClr val="0F172A"/>
                </a:solidFill>
                <a:latin typeface="Trebuchet MS" pitchFamily="34" charset="0"/>
                <a:ea typeface="Trebuchet MS" pitchFamily="34" charset="-122"/>
                <a:cs typeface="Trebuchet MS" pitchFamily="34" charset="-120"/>
              </a:rPr>
              <a:t>Lab</a:t>
            </a:r>
            <a:endParaRPr lang="en-US" sz="2200" dirty="0"/>
          </a:p>
        </p:txBody>
      </p:sp>
      <p:sp>
        <p:nvSpPr>
          <p:cNvPr id="18" name="Text 11"/>
          <p:cNvSpPr/>
          <p:nvPr/>
        </p:nvSpPr>
        <p:spPr>
          <a:xfrm>
            <a:off x="8732520" y="3200400"/>
            <a:ext cx="3200400" cy="146304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60-90 min hands-on. Every lab has a stretch task for fast finishers.</a:t>
            </a:r>
            <a:endParaRPr lang="en-US" sz="1250" dirty="0"/>
          </a:p>
        </p:txBody>
      </p:sp>
      <p:sp>
        <p:nvSpPr>
          <p:cNvPr id="19" name="Shape 12"/>
          <p:cNvSpPr/>
          <p:nvPr/>
        </p:nvSpPr>
        <p:spPr>
          <a:xfrm>
            <a:off x="777240" y="5029200"/>
            <a:ext cx="10607040" cy="1280160"/>
          </a:xfrm>
          <a:prstGeom prst="rect">
            <a:avLst/>
          </a:prstGeom>
          <a:solidFill>
            <a:srgbClr val="CBF1F6"/>
          </a:solidFill>
          <a:ln w="12700">
            <a:solidFill>
              <a:srgbClr val="CBF1F6"/>
            </a:solidFill>
            <a:prstDash val="solid"/>
          </a:ln>
        </p:spPr>
      </p:sp>
      <p:sp>
        <p:nvSpPr>
          <p:cNvPr id="20" name="Text 13"/>
          <p:cNvSpPr/>
          <p:nvPr/>
        </p:nvSpPr>
        <p:spPr>
          <a:xfrm>
            <a:off x="1097280" y="5166360"/>
            <a:ext cx="10241280" cy="1005840"/>
          </a:xfrm>
          <a:prstGeom prst="rect">
            <a:avLst/>
          </a:prstGeom>
          <a:noFill/>
          <a:ln/>
        </p:spPr>
        <p:txBody>
          <a:bodyPr wrap="square" lIns="0" tIns="0" rIns="0" bIns="0" rtlCol="0" anchor="ctr"/>
          <a:lstStyle/>
          <a:p>
            <a:pPr indent="0" marL="0">
              <a:buNone/>
            </a:pPr>
            <a:r>
              <a:rPr lang="en-US" sz="4400" b="1" dirty="0">
                <a:solidFill>
                  <a:srgbClr val="0F172A"/>
                </a:solidFill>
                <a:latin typeface="Trebuchet MS" pitchFamily="34" charset="0"/>
                <a:ea typeface="Trebuchet MS" pitchFamily="34" charset="-122"/>
                <a:cs typeface="Trebuchet MS" pitchFamily="34" charset="-120"/>
              </a:rPr>
              <a:t>51%</a:t>
            </a:r>
            <a:pPr indent="0" marL="0">
              <a:buNone/>
            </a:pPr>
            <a:r>
              <a:rPr lang="en-US" sz="1800" dirty="0">
                <a:solidFill>
                  <a:srgbClr val="475569"/>
                </a:solidFill>
                <a:latin typeface="Arial" pitchFamily="34" charset="0"/>
                <a:ea typeface="Arial" pitchFamily="34" charset="-122"/>
                <a:cs typeface="Arial" pitchFamily="34" charset="-120"/>
              </a:rPr>
              <a:t>  hands-on labs across the course</a:t>
            </a:r>
            <a:endParaRPr lang="en-US" sz="4400" dirty="0"/>
          </a:p>
        </p:txBody>
      </p:sp>
      <p:sp>
        <p:nvSpPr>
          <p:cNvPr id="21" name="Text 14"/>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22" name="Text 15"/>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6 / 30</a:t>
            </a:r>
            <a:endParaRPr lang="en-US" sz="9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The lab repo</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Clone it now if you haven't already.</a:t>
            </a:r>
            <a:endParaRPr lang="en-US" sz="1400" dirty="0"/>
          </a:p>
        </p:txBody>
      </p:sp>
      <p:sp>
        <p:nvSpPr>
          <p:cNvPr id="5" name="Shape 3"/>
          <p:cNvSpPr/>
          <p:nvPr/>
        </p:nvSpPr>
        <p:spPr>
          <a:xfrm>
            <a:off x="777240" y="1645920"/>
            <a:ext cx="10607040" cy="1463040"/>
          </a:xfrm>
          <a:prstGeom prst="rect">
            <a:avLst/>
          </a:prstGeom>
          <a:solidFill>
            <a:srgbClr val="1E2A47"/>
          </a:solidFill>
          <a:ln w="12700">
            <a:solidFill>
              <a:srgbClr val="1E2A47"/>
            </a:solidFill>
            <a:prstDash val="solid"/>
          </a:ln>
        </p:spPr>
      </p:sp>
      <p:pic>
        <p:nvPicPr>
          <p:cNvPr id="6" name="Image 0" descr="preencoded.png">    </p:cNvPr>
          <p:cNvPicPr>
            <a:picLocks noChangeAspect="1"/>
          </p:cNvPicPr>
          <p:nvPr/>
        </p:nvPicPr>
        <p:blipFill>
          <a:blip r:embed="rId1"/>
          <a:stretch>
            <a:fillRect/>
          </a:stretch>
        </p:blipFill>
        <p:spPr>
          <a:xfrm>
            <a:off x="1005840" y="1874520"/>
            <a:ext cx="914400" cy="914400"/>
          </a:xfrm>
          <a:prstGeom prst="rect">
            <a:avLst/>
          </a:prstGeom>
        </p:spPr>
      </p:pic>
      <p:sp>
        <p:nvSpPr>
          <p:cNvPr id="7" name="Text 4"/>
          <p:cNvSpPr/>
          <p:nvPr/>
        </p:nvSpPr>
        <p:spPr>
          <a:xfrm>
            <a:off x="2194560" y="1828800"/>
            <a:ext cx="9144000" cy="548640"/>
          </a:xfrm>
          <a:prstGeom prst="rect">
            <a:avLst/>
          </a:prstGeom>
          <a:noFill/>
          <a:ln/>
        </p:spPr>
        <p:txBody>
          <a:bodyPr wrap="square" lIns="0" tIns="0" rIns="0" bIns="0" rtlCol="0" anchor="t"/>
          <a:lstStyle/>
          <a:p>
            <a:pPr indent="0" marL="0">
              <a:buNone/>
            </a:pPr>
            <a:r>
              <a:rPr lang="en-US" sz="2200" b="1" dirty="0">
                <a:solidFill>
                  <a:srgbClr val="FFFFFF"/>
                </a:solidFill>
                <a:latin typeface="Courier New" pitchFamily="34" charset="0"/>
                <a:ea typeface="Courier New" pitchFamily="34" charset="-122"/>
                <a:cs typeface="Courier New" pitchFamily="34" charset="-120"/>
              </a:rPr>
              <a:t>github.com/chrisminnick/advanced-react</a:t>
            </a:r>
            <a:endParaRPr lang="en-US" sz="2200" dirty="0"/>
          </a:p>
        </p:txBody>
      </p:sp>
      <p:sp>
        <p:nvSpPr>
          <p:cNvPr id="8" name="Text 5"/>
          <p:cNvSpPr/>
          <p:nvPr/>
        </p:nvSpPr>
        <p:spPr>
          <a:xfrm>
            <a:off x="2194560" y="2377440"/>
            <a:ext cx="9144000" cy="457200"/>
          </a:xfrm>
          <a:prstGeom prst="rect">
            <a:avLst/>
          </a:prstGeom>
          <a:noFill/>
          <a:ln/>
        </p:spPr>
        <p:txBody>
          <a:bodyPr wrap="square" lIns="0" tIns="0" rIns="0" bIns="0" rtlCol="0" anchor="ctr"/>
          <a:lstStyle/>
          <a:p>
            <a:pPr indent="0" marL="0">
              <a:buNone/>
            </a:pPr>
            <a:r>
              <a:rPr lang="en-US" sz="1300" i="1" dirty="0">
                <a:solidFill>
                  <a:srgbClr val="CBF1F6"/>
                </a:solidFill>
                <a:latin typeface="Arial" pitchFamily="34" charset="0"/>
                <a:ea typeface="Arial" pitchFamily="34" charset="-122"/>
                <a:cs typeface="Arial" pitchFamily="34" charset="-120"/>
              </a:rPr>
              <a:t>Branch: v2.0   ·   Lab starters live in folders named per project   ·   Solution branches per lab</a:t>
            </a:r>
            <a:endParaRPr lang="en-US" sz="1300" dirty="0"/>
          </a:p>
        </p:txBody>
      </p:sp>
      <p:sp>
        <p:nvSpPr>
          <p:cNvPr id="9" name="Shape 6"/>
          <p:cNvSpPr/>
          <p:nvPr/>
        </p:nvSpPr>
        <p:spPr>
          <a:xfrm>
            <a:off x="777240" y="3383280"/>
            <a:ext cx="3611880" cy="2468880"/>
          </a:xfrm>
          <a:prstGeom prst="rect">
            <a:avLst/>
          </a:prstGeom>
          <a:solidFill>
            <a:srgbClr val="FFFFFF"/>
          </a:solidFill>
          <a:ln w="12700">
            <a:solidFill>
              <a:srgbClr val="E2E8F0"/>
            </a:solidFill>
            <a:prstDash val="solid"/>
          </a:ln>
        </p:spPr>
      </p:sp>
      <p:pic>
        <p:nvPicPr>
          <p:cNvPr id="10" name="Image 1" descr="preencoded.png">    </p:cNvPr>
          <p:cNvPicPr>
            <a:picLocks noChangeAspect="1"/>
          </p:cNvPicPr>
          <p:nvPr/>
        </p:nvPicPr>
        <p:blipFill>
          <a:blip r:embed="rId2"/>
          <a:stretch>
            <a:fillRect/>
          </a:stretch>
        </p:blipFill>
        <p:spPr>
          <a:xfrm>
            <a:off x="1005840" y="3566160"/>
            <a:ext cx="502920" cy="502920"/>
          </a:xfrm>
          <a:prstGeom prst="rect">
            <a:avLst/>
          </a:prstGeom>
        </p:spPr>
      </p:pic>
      <p:sp>
        <p:nvSpPr>
          <p:cNvPr id="11" name="Text 7"/>
          <p:cNvSpPr/>
          <p:nvPr/>
        </p:nvSpPr>
        <p:spPr>
          <a:xfrm>
            <a:off x="1645920" y="3566160"/>
            <a:ext cx="2743200" cy="50292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Starter projects</a:t>
            </a:r>
            <a:endParaRPr lang="en-US" sz="1400" dirty="0"/>
          </a:p>
        </p:txBody>
      </p:sp>
      <p:sp>
        <p:nvSpPr>
          <p:cNvPr id="12" name="Text 8"/>
          <p:cNvSpPr/>
          <p:nvPr/>
        </p:nvSpPr>
        <p:spPr>
          <a:xfrm>
            <a:off x="1005840" y="4206240"/>
            <a:ext cx="3291840" cy="155448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real-time-chat, social-media (RR v7 + Next.js), server-components-dashboard</a:t>
            </a:r>
            <a:endParaRPr lang="en-US" sz="1200" dirty="0"/>
          </a:p>
        </p:txBody>
      </p:sp>
      <p:sp>
        <p:nvSpPr>
          <p:cNvPr id="13" name="Shape 9"/>
          <p:cNvSpPr/>
          <p:nvPr/>
        </p:nvSpPr>
        <p:spPr>
          <a:xfrm>
            <a:off x="4617720" y="3383280"/>
            <a:ext cx="3611880" cy="2468880"/>
          </a:xfrm>
          <a:prstGeom prst="rect">
            <a:avLst/>
          </a:prstGeom>
          <a:solidFill>
            <a:srgbClr val="FFFFFF"/>
          </a:solidFill>
          <a:ln w="12700">
            <a:solidFill>
              <a:srgbClr val="E2E8F0"/>
            </a:solidFill>
            <a:prstDash val="solid"/>
          </a:ln>
        </p:spPr>
      </p:sp>
      <p:pic>
        <p:nvPicPr>
          <p:cNvPr id="14" name="Image 2" descr="preencoded.png">    </p:cNvPr>
          <p:cNvPicPr>
            <a:picLocks noChangeAspect="1"/>
          </p:cNvPicPr>
          <p:nvPr/>
        </p:nvPicPr>
        <p:blipFill>
          <a:blip r:embed="rId3"/>
          <a:stretch>
            <a:fillRect/>
          </a:stretch>
        </p:blipFill>
        <p:spPr>
          <a:xfrm>
            <a:off x="4846320" y="3566160"/>
            <a:ext cx="502920" cy="502920"/>
          </a:xfrm>
          <a:prstGeom prst="rect">
            <a:avLst/>
          </a:prstGeom>
        </p:spPr>
      </p:pic>
      <p:sp>
        <p:nvSpPr>
          <p:cNvPr id="15" name="Text 10"/>
          <p:cNvSpPr/>
          <p:nvPr/>
        </p:nvSpPr>
        <p:spPr>
          <a:xfrm>
            <a:off x="5486400" y="3566160"/>
            <a:ext cx="2743200" cy="50292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Solution branches</a:t>
            </a:r>
            <a:endParaRPr lang="en-US" sz="1400" dirty="0"/>
          </a:p>
        </p:txBody>
      </p:sp>
      <p:sp>
        <p:nvSpPr>
          <p:cNvPr id="16" name="Text 11"/>
          <p:cNvSpPr/>
          <p:nvPr/>
        </p:nvSpPr>
        <p:spPr>
          <a:xfrm>
            <a:off x="4846320" y="4206240"/>
            <a:ext cx="3291840" cy="155448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One per lab — sometimes more than one, when there's a pick-your-tool moment</a:t>
            </a:r>
            <a:endParaRPr lang="en-US" sz="1200" dirty="0"/>
          </a:p>
        </p:txBody>
      </p:sp>
      <p:sp>
        <p:nvSpPr>
          <p:cNvPr id="17" name="Shape 12"/>
          <p:cNvSpPr/>
          <p:nvPr/>
        </p:nvSpPr>
        <p:spPr>
          <a:xfrm>
            <a:off x="8458200" y="3383280"/>
            <a:ext cx="3611880" cy="2468880"/>
          </a:xfrm>
          <a:prstGeom prst="rect">
            <a:avLst/>
          </a:prstGeom>
          <a:solidFill>
            <a:srgbClr val="FFFFFF"/>
          </a:solidFill>
          <a:ln w="12700">
            <a:solidFill>
              <a:srgbClr val="E2E8F0"/>
            </a:solidFill>
            <a:prstDash val="solid"/>
          </a:ln>
        </p:spPr>
      </p:sp>
      <p:pic>
        <p:nvPicPr>
          <p:cNvPr id="18" name="Image 3" descr="preencoded.png">    </p:cNvPr>
          <p:cNvPicPr>
            <a:picLocks noChangeAspect="1"/>
          </p:cNvPicPr>
          <p:nvPr/>
        </p:nvPicPr>
        <p:blipFill>
          <a:blip r:embed="rId4"/>
          <a:stretch>
            <a:fillRect/>
          </a:stretch>
        </p:blipFill>
        <p:spPr>
          <a:xfrm>
            <a:off x="8686800" y="3566160"/>
            <a:ext cx="502920" cy="502920"/>
          </a:xfrm>
          <a:prstGeom prst="rect">
            <a:avLst/>
          </a:prstGeom>
        </p:spPr>
      </p:pic>
      <p:sp>
        <p:nvSpPr>
          <p:cNvPr id="19" name="Text 13"/>
          <p:cNvSpPr/>
          <p:nvPr/>
        </p:nvSpPr>
        <p:spPr>
          <a:xfrm>
            <a:off x="9326880" y="3566160"/>
            <a:ext cx="2743200" cy="50292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Per-project READMEs</a:t>
            </a:r>
            <a:endParaRPr lang="en-US" sz="1400" dirty="0"/>
          </a:p>
        </p:txBody>
      </p:sp>
      <p:sp>
        <p:nvSpPr>
          <p:cNvPr id="20" name="Text 14"/>
          <p:cNvSpPr/>
          <p:nvPr/>
        </p:nvSpPr>
        <p:spPr>
          <a:xfrm>
            <a:off x="8686800" y="4206240"/>
            <a:ext cx="3291840" cy="155448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Setup, run instructions, and a LAB-MAP for which lab uses what</a:t>
            </a:r>
            <a:endParaRPr lang="en-US" sz="120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7 / 30</a:t>
            </a:r>
            <a:endParaRPr lang="en-US" sz="90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AI assistants in this course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Tool-agnostic. Use what you use.</a:t>
            </a:r>
            <a:endParaRPr lang="en-US" sz="1400" dirty="0"/>
          </a:p>
        </p:txBody>
      </p:sp>
      <p:sp>
        <p:nvSpPr>
          <p:cNvPr id="5" name="Shape 3"/>
          <p:cNvSpPr/>
          <p:nvPr/>
        </p:nvSpPr>
        <p:spPr>
          <a:xfrm>
            <a:off x="777240" y="1691640"/>
            <a:ext cx="5349240" cy="4206240"/>
          </a:xfrm>
          <a:prstGeom prst="rect">
            <a:avLst/>
          </a:prstGeom>
          <a:solidFill>
            <a:srgbClr val="FFFFFF"/>
          </a:solidFill>
          <a:ln w="12700">
            <a:solidFill>
              <a:srgbClr val="E2E8F0"/>
            </a:solidFill>
            <a:prstDash val="solid"/>
          </a:ln>
        </p:spPr>
      </p:sp>
      <p:sp>
        <p:nvSpPr>
          <p:cNvPr id="6" name="Text 4"/>
          <p:cNvSpPr/>
          <p:nvPr/>
        </p:nvSpPr>
        <p:spPr>
          <a:xfrm>
            <a:off x="960120" y="1874520"/>
            <a:ext cx="5029200" cy="457200"/>
          </a:xfrm>
          <a:prstGeom prst="rect">
            <a:avLst/>
          </a:prstGeom>
          <a:noFill/>
          <a:ln/>
        </p:spPr>
        <p:txBody>
          <a:bodyPr wrap="square" lIns="0" tIns="0" rIns="0" bIns="0" rtlCol="0" anchor="ctr"/>
          <a:lstStyle/>
          <a:p>
            <a:pPr indent="0" marL="0">
              <a:buNone/>
            </a:pPr>
            <a:r>
              <a:rPr lang="en-US" sz="1800" b="1" dirty="0">
                <a:solidFill>
                  <a:srgbClr val="059669"/>
                </a:solidFill>
                <a:latin typeface="Trebuchet MS" pitchFamily="34" charset="0"/>
                <a:ea typeface="Trebuchet MS" pitchFamily="34" charset="-122"/>
                <a:cs typeface="Trebuchet MS" pitchFamily="34" charset="-120"/>
              </a:rPr>
              <a:t>What we're doing</a:t>
            </a:r>
            <a:endParaRPr lang="en-US" sz="1800" dirty="0"/>
          </a:p>
        </p:txBody>
      </p:sp>
      <p:sp>
        <p:nvSpPr>
          <p:cNvPr id="7" name="Text 5"/>
          <p:cNvSpPr/>
          <p:nvPr/>
        </p:nvSpPr>
        <p:spPr>
          <a:xfrm>
            <a:off x="960120" y="2514600"/>
            <a:ext cx="5029200" cy="32004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475569"/>
                </a:solidFill>
                <a:latin typeface="Arial" pitchFamily="34" charset="0"/>
                <a:ea typeface="Arial" pitchFamily="34" charset="-122"/>
                <a:cs typeface="Arial" pitchFamily="34" charset="-120"/>
              </a:rPr>
              <a:t>Treating AI as a real part of the workflow — every day</a:t>
            </a:r>
            <a:endParaRPr lang="en-US" sz="1300" dirty="0"/>
          </a:p>
          <a:p>
            <a:pPr marL="342900" indent="-342900">
              <a:spcAft>
                <a:spcPts val="800"/>
              </a:spcAft>
              <a:buSzPct val="100000"/>
              <a:buChar char="•"/>
            </a:pPr>
            <a:r>
              <a:rPr lang="en-US" sz="1300" dirty="0">
                <a:solidFill>
                  <a:srgbClr val="475569"/>
                </a:solidFill>
                <a:latin typeface="Arial" pitchFamily="34" charset="0"/>
                <a:ea typeface="Arial" pitchFamily="34" charset="-122"/>
                <a:cs typeface="Arial" pitchFamily="34" charset="-120"/>
              </a:rPr>
              <a:t>Building review skills: spotting what AI gets wrong about React</a:t>
            </a:r>
            <a:endParaRPr lang="en-US" sz="1300" dirty="0"/>
          </a:p>
          <a:p>
            <a:pPr marL="342900" indent="-342900">
              <a:spcAft>
                <a:spcPts val="800"/>
              </a:spcAft>
              <a:buSzPct val="100000"/>
              <a:buChar char="•"/>
            </a:pPr>
            <a:r>
              <a:rPr lang="en-US" sz="1300" dirty="0">
                <a:solidFill>
                  <a:srgbClr val="475569"/>
                </a:solidFill>
                <a:latin typeface="Arial" pitchFamily="34" charset="0"/>
                <a:ea typeface="Arial" pitchFamily="34" charset="-122"/>
                <a:cs typeface="Arial" pitchFamily="34" charset="-120"/>
              </a:rPr>
              <a:t>A focused module on Day 3 about working with AI well</a:t>
            </a:r>
            <a:endParaRPr lang="en-US" sz="1300" dirty="0"/>
          </a:p>
          <a:p>
            <a:pPr marL="342900" indent="-342900">
              <a:spcAft>
                <a:spcPts val="800"/>
              </a:spcAft>
              <a:buSzPct val="100000"/>
              <a:buChar char="•"/>
            </a:pPr>
            <a:r>
              <a:rPr lang="en-US" sz="1300" dirty="0">
                <a:solidFill>
                  <a:srgbClr val="475569"/>
                </a:solidFill>
                <a:latin typeface="Arial" pitchFamily="34" charset="0"/>
                <a:ea typeface="Arial" pitchFamily="34" charset="-122"/>
                <a:cs typeface="Arial" pitchFamily="34" charset="-120"/>
              </a:rPr>
              <a:t>Comparing tools when it's instructive, but not picking favorites</a:t>
            </a:r>
            <a:endParaRPr lang="en-US" sz="1300" dirty="0"/>
          </a:p>
        </p:txBody>
      </p:sp>
      <p:sp>
        <p:nvSpPr>
          <p:cNvPr id="8" name="Shape 6"/>
          <p:cNvSpPr/>
          <p:nvPr/>
        </p:nvSpPr>
        <p:spPr>
          <a:xfrm>
            <a:off x="6355080" y="1691640"/>
            <a:ext cx="5029200" cy="4206240"/>
          </a:xfrm>
          <a:prstGeom prst="rect">
            <a:avLst/>
          </a:prstGeom>
          <a:solidFill>
            <a:srgbClr val="FFFFFF"/>
          </a:solidFill>
          <a:ln w="12700">
            <a:solidFill>
              <a:srgbClr val="E2E8F0"/>
            </a:solidFill>
            <a:prstDash val="solid"/>
          </a:ln>
        </p:spPr>
      </p:sp>
      <p:sp>
        <p:nvSpPr>
          <p:cNvPr id="9" name="Text 7"/>
          <p:cNvSpPr/>
          <p:nvPr/>
        </p:nvSpPr>
        <p:spPr>
          <a:xfrm>
            <a:off x="6537960" y="1874520"/>
            <a:ext cx="4754880" cy="457200"/>
          </a:xfrm>
          <a:prstGeom prst="rect">
            <a:avLst/>
          </a:prstGeom>
          <a:noFill/>
          <a:ln/>
        </p:spPr>
        <p:txBody>
          <a:bodyPr wrap="square" lIns="0" tIns="0" rIns="0" bIns="0" rtlCol="0" anchor="ctr"/>
          <a:lstStyle/>
          <a:p>
            <a:pPr indent="0" marL="0">
              <a:buNone/>
            </a:pPr>
            <a:r>
              <a:rPr lang="en-US" sz="1800" b="1" dirty="0">
                <a:solidFill>
                  <a:srgbClr val="DC2626"/>
                </a:solidFill>
                <a:latin typeface="Trebuchet MS" pitchFamily="34" charset="0"/>
                <a:ea typeface="Trebuchet MS" pitchFamily="34" charset="-122"/>
                <a:cs typeface="Trebuchet MS" pitchFamily="34" charset="-120"/>
              </a:rPr>
              <a:t>What we're not doing</a:t>
            </a:r>
            <a:endParaRPr lang="en-US" sz="1800" dirty="0"/>
          </a:p>
        </p:txBody>
      </p:sp>
      <p:sp>
        <p:nvSpPr>
          <p:cNvPr id="10" name="Text 8"/>
          <p:cNvSpPr/>
          <p:nvPr/>
        </p:nvSpPr>
        <p:spPr>
          <a:xfrm>
            <a:off x="6537960" y="2514600"/>
            <a:ext cx="4754880" cy="3200400"/>
          </a:xfrm>
          <a:prstGeom prst="rect">
            <a:avLst/>
          </a:prstGeom>
          <a:noFill/>
          <a:ln/>
        </p:spPr>
        <p:txBody>
          <a:bodyPr wrap="square" lIns="0" tIns="0" rIns="0" bIns="0" rtlCol="0" anchor="t"/>
          <a:lstStyle/>
          <a:p>
            <a:pPr marL="342900" indent="-342900">
              <a:spcAft>
                <a:spcPts val="800"/>
              </a:spcAft>
              <a:buSzPct val="100000"/>
              <a:buChar char="•"/>
            </a:pPr>
            <a:r>
              <a:rPr lang="en-US" sz="1300" dirty="0">
                <a:solidFill>
                  <a:srgbClr val="475569"/>
                </a:solidFill>
                <a:latin typeface="Arial" pitchFamily="34" charset="0"/>
                <a:ea typeface="Arial" pitchFamily="34" charset="-122"/>
                <a:cs typeface="Arial" pitchFamily="34" charset="-120"/>
              </a:rPr>
              <a:t>Banning AI in labs — that would be teaching to a 2022 reality</a:t>
            </a:r>
            <a:endParaRPr lang="en-US" sz="1300" dirty="0"/>
          </a:p>
          <a:p>
            <a:pPr marL="342900" indent="-342900">
              <a:spcAft>
                <a:spcPts val="800"/>
              </a:spcAft>
              <a:buSzPct val="100000"/>
              <a:buChar char="•"/>
            </a:pPr>
            <a:r>
              <a:rPr lang="en-US" sz="1300" dirty="0">
                <a:solidFill>
                  <a:srgbClr val="475569"/>
                </a:solidFill>
                <a:latin typeface="Arial" pitchFamily="34" charset="0"/>
                <a:ea typeface="Arial" pitchFamily="34" charset="-122"/>
                <a:cs typeface="Arial" pitchFamily="34" charset="-120"/>
              </a:rPr>
              <a:t>Required tooling — bring Cursor, Copilot, Claude Code, or whatever</a:t>
            </a:r>
            <a:endParaRPr lang="en-US" sz="1300" dirty="0"/>
          </a:p>
          <a:p>
            <a:pPr marL="342900" indent="-342900">
              <a:spcAft>
                <a:spcPts val="800"/>
              </a:spcAft>
              <a:buSzPct val="100000"/>
              <a:buChar char="•"/>
            </a:pPr>
            <a:r>
              <a:rPr lang="en-US" sz="1300" dirty="0">
                <a:solidFill>
                  <a:srgbClr val="475569"/>
                </a:solidFill>
                <a:latin typeface="Arial" pitchFamily="34" charset="0"/>
                <a:ea typeface="Arial" pitchFamily="34" charset="-122"/>
                <a:cs typeface="Arial" pitchFamily="34" charset="-120"/>
              </a:rPr>
              <a:t>Treating AI output as authoritative — we'll review every line</a:t>
            </a:r>
            <a:endParaRPr lang="en-US" sz="1300" dirty="0"/>
          </a:p>
          <a:p>
            <a:pPr marL="342900" indent="-342900">
              <a:spcAft>
                <a:spcPts val="800"/>
              </a:spcAft>
              <a:buSzPct val="100000"/>
              <a:buChar char="•"/>
            </a:pPr>
            <a:r>
              <a:rPr lang="en-US" sz="1300" dirty="0">
                <a:solidFill>
                  <a:srgbClr val="475569"/>
                </a:solidFill>
                <a:latin typeface="Arial" pitchFamily="34" charset="0"/>
                <a:ea typeface="Arial" pitchFamily="34" charset="-122"/>
                <a:cs typeface="Arial" pitchFamily="34" charset="-120"/>
              </a:rPr>
              <a:t>Pretending AI replaces understanding the framework</a:t>
            </a:r>
            <a:endParaRPr lang="en-US" sz="1300" dirty="0"/>
          </a:p>
        </p:txBody>
      </p:sp>
      <p:sp>
        <p:nvSpPr>
          <p:cNvPr id="11" name="Text 9"/>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12" name="Text 10"/>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8 / 30</a:t>
            </a:r>
            <a:endParaRPr lang="en-US" sz="90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1</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800" b="1" dirty="0">
                <a:solidFill>
                  <a:srgbClr val="FFFFFF"/>
                </a:solidFill>
                <a:latin typeface="Trebuchet MS" pitchFamily="34" charset="0"/>
                <a:ea typeface="Trebuchet MS" pitchFamily="34" charset="-122"/>
                <a:cs typeface="Trebuchet MS" pitchFamily="34" charset="-120"/>
              </a:rPr>
              <a:t>The 2026 React Landscape</a:t>
            </a:r>
            <a:endParaRPr lang="en-US" sz="48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React 19, the Compiler, frameworks, and the AI layer on top.</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Where we left off — React 18</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Released March 2022. The era most production code is still written for.</a:t>
            </a:r>
            <a:endParaRPr lang="en-US" sz="1400" dirty="0"/>
          </a:p>
        </p:txBody>
      </p:sp>
      <p:sp>
        <p:nvSpPr>
          <p:cNvPr id="5" name="Shape 3"/>
          <p:cNvSpPr/>
          <p:nvPr/>
        </p:nvSpPr>
        <p:spPr>
          <a:xfrm>
            <a:off x="777240" y="1554480"/>
            <a:ext cx="10607040" cy="86868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719072"/>
            <a:ext cx="548640" cy="548640"/>
          </a:xfrm>
          <a:prstGeom prst="rect">
            <a:avLst/>
          </a:prstGeom>
        </p:spPr>
      </p:pic>
      <p:sp>
        <p:nvSpPr>
          <p:cNvPr id="7" name="Text 4"/>
          <p:cNvSpPr/>
          <p:nvPr/>
        </p:nvSpPr>
        <p:spPr>
          <a:xfrm>
            <a:off x="1691640" y="1645920"/>
            <a:ext cx="9601200" cy="365760"/>
          </a:xfrm>
          <a:prstGeom prst="rect">
            <a:avLst/>
          </a:prstGeom>
          <a:noFill/>
          <a:ln/>
        </p:spPr>
        <p:txBody>
          <a:bodyPr wrap="square" lIns="0" tIns="0" rIns="0" bIns="0" rtlCol="0" anchor="ctr"/>
          <a:lstStyle/>
          <a:p>
            <a:pPr indent="0" marL="0">
              <a:buNone/>
            </a:pPr>
            <a:r>
              <a:rPr lang="en-US" sz="1500" b="1" dirty="0">
                <a:solidFill>
                  <a:srgbClr val="0F172A"/>
                </a:solidFill>
                <a:latin typeface="Trebuchet MS" pitchFamily="34" charset="0"/>
                <a:ea typeface="Trebuchet MS" pitchFamily="34" charset="-122"/>
                <a:cs typeface="Trebuchet MS" pitchFamily="34" charset="-120"/>
              </a:rPr>
              <a:t>Concurrent rendering</a:t>
            </a:r>
            <a:endParaRPr lang="en-US" sz="1500" dirty="0"/>
          </a:p>
        </p:txBody>
      </p:sp>
      <p:sp>
        <p:nvSpPr>
          <p:cNvPr id="8" name="Text 5"/>
          <p:cNvSpPr/>
          <p:nvPr/>
        </p:nvSpPr>
        <p:spPr>
          <a:xfrm>
            <a:off x="1691640" y="1965960"/>
            <a:ext cx="9601200" cy="41148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Suspense for code splitting, useTransition, useDeferredValue</a:t>
            </a:r>
            <a:endParaRPr lang="en-US" sz="1200" dirty="0"/>
          </a:p>
        </p:txBody>
      </p:sp>
      <p:sp>
        <p:nvSpPr>
          <p:cNvPr id="9" name="Shape 6"/>
          <p:cNvSpPr/>
          <p:nvPr/>
        </p:nvSpPr>
        <p:spPr>
          <a:xfrm>
            <a:off x="777240" y="2606040"/>
            <a:ext cx="10607040" cy="868680"/>
          </a:xfrm>
          <a:prstGeom prst="rect">
            <a:avLst/>
          </a:prstGeom>
          <a:solidFill>
            <a:srgbClr val="FFFFFF"/>
          </a:solidFill>
          <a:ln w="12700">
            <a:solidFill>
              <a:srgbClr val="E2E8F0"/>
            </a:solidFill>
            <a:prstDash val="solid"/>
          </a:ln>
        </p:spPr>
      </p:sp>
      <p:pic>
        <p:nvPicPr>
          <p:cNvPr id="10" name="Image 1" descr="preencoded.png">    </p:cNvPr>
          <p:cNvPicPr>
            <a:picLocks noChangeAspect="1"/>
          </p:cNvPicPr>
          <p:nvPr/>
        </p:nvPicPr>
        <p:blipFill>
          <a:blip r:embed="rId2"/>
          <a:stretch>
            <a:fillRect/>
          </a:stretch>
        </p:blipFill>
        <p:spPr>
          <a:xfrm>
            <a:off x="960120" y="2770632"/>
            <a:ext cx="548640" cy="548640"/>
          </a:xfrm>
          <a:prstGeom prst="rect">
            <a:avLst/>
          </a:prstGeom>
        </p:spPr>
      </p:pic>
      <p:sp>
        <p:nvSpPr>
          <p:cNvPr id="11" name="Text 7"/>
          <p:cNvSpPr/>
          <p:nvPr/>
        </p:nvSpPr>
        <p:spPr>
          <a:xfrm>
            <a:off x="1691640" y="2697480"/>
            <a:ext cx="9601200" cy="365760"/>
          </a:xfrm>
          <a:prstGeom prst="rect">
            <a:avLst/>
          </a:prstGeom>
          <a:noFill/>
          <a:ln/>
        </p:spPr>
        <p:txBody>
          <a:bodyPr wrap="square" lIns="0" tIns="0" rIns="0" bIns="0" rtlCol="0" anchor="ctr"/>
          <a:lstStyle/>
          <a:p>
            <a:pPr indent="0" marL="0">
              <a:buNone/>
            </a:pPr>
            <a:r>
              <a:rPr lang="en-US" sz="1500" b="1" dirty="0">
                <a:solidFill>
                  <a:srgbClr val="0F172A"/>
                </a:solidFill>
                <a:latin typeface="Trebuchet MS" pitchFamily="34" charset="0"/>
                <a:ea typeface="Trebuchet MS" pitchFamily="34" charset="-122"/>
                <a:cs typeface="Trebuchet MS" pitchFamily="34" charset="-120"/>
              </a:rPr>
              <a:t>Automatic batching</a:t>
            </a:r>
            <a:endParaRPr lang="en-US" sz="1500" dirty="0"/>
          </a:p>
        </p:txBody>
      </p:sp>
      <p:sp>
        <p:nvSpPr>
          <p:cNvPr id="12" name="Text 8"/>
          <p:cNvSpPr/>
          <p:nvPr/>
        </p:nvSpPr>
        <p:spPr>
          <a:xfrm>
            <a:off x="1691640" y="3017520"/>
            <a:ext cx="9601200" cy="41148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Promise callbacks, timeouts, and native handlers all batch updates</a:t>
            </a:r>
            <a:endParaRPr lang="en-US" sz="1200" dirty="0"/>
          </a:p>
        </p:txBody>
      </p:sp>
      <p:sp>
        <p:nvSpPr>
          <p:cNvPr id="13" name="Shape 9"/>
          <p:cNvSpPr/>
          <p:nvPr/>
        </p:nvSpPr>
        <p:spPr>
          <a:xfrm>
            <a:off x="777240" y="3657600"/>
            <a:ext cx="10607040" cy="868680"/>
          </a:xfrm>
          <a:prstGeom prst="rect">
            <a:avLst/>
          </a:prstGeom>
          <a:solidFill>
            <a:srgbClr val="FFFFFF"/>
          </a:solidFill>
          <a:ln w="12700">
            <a:solidFill>
              <a:srgbClr val="E2E8F0"/>
            </a:solidFill>
            <a:prstDash val="solid"/>
          </a:ln>
        </p:spPr>
      </p:sp>
      <p:pic>
        <p:nvPicPr>
          <p:cNvPr id="14" name="Image 2" descr="preencoded.png">    </p:cNvPr>
          <p:cNvPicPr>
            <a:picLocks noChangeAspect="1"/>
          </p:cNvPicPr>
          <p:nvPr/>
        </p:nvPicPr>
        <p:blipFill>
          <a:blip r:embed="rId3"/>
          <a:stretch>
            <a:fillRect/>
          </a:stretch>
        </p:blipFill>
        <p:spPr>
          <a:xfrm>
            <a:off x="960120" y="3822192"/>
            <a:ext cx="548640" cy="548640"/>
          </a:xfrm>
          <a:prstGeom prst="rect">
            <a:avLst/>
          </a:prstGeom>
        </p:spPr>
      </p:pic>
      <p:sp>
        <p:nvSpPr>
          <p:cNvPr id="15" name="Text 10"/>
          <p:cNvSpPr/>
          <p:nvPr/>
        </p:nvSpPr>
        <p:spPr>
          <a:xfrm>
            <a:off x="1691640" y="3749040"/>
            <a:ext cx="9601200" cy="365760"/>
          </a:xfrm>
          <a:prstGeom prst="rect">
            <a:avLst/>
          </a:prstGeom>
          <a:noFill/>
          <a:ln/>
        </p:spPr>
        <p:txBody>
          <a:bodyPr wrap="square" lIns="0" tIns="0" rIns="0" bIns="0" rtlCol="0" anchor="ctr"/>
          <a:lstStyle/>
          <a:p>
            <a:pPr indent="0" marL="0">
              <a:buNone/>
            </a:pPr>
            <a:r>
              <a:rPr lang="en-US" sz="1500" b="1" dirty="0">
                <a:solidFill>
                  <a:srgbClr val="0F172A"/>
                </a:solidFill>
                <a:latin typeface="Trebuchet MS" pitchFamily="34" charset="0"/>
                <a:ea typeface="Trebuchet MS" pitchFamily="34" charset="-122"/>
                <a:cs typeface="Trebuchet MS" pitchFamily="34" charset="-120"/>
              </a:rPr>
              <a:t>Streaming SSR</a:t>
            </a:r>
            <a:endParaRPr lang="en-US" sz="1500" dirty="0"/>
          </a:p>
        </p:txBody>
      </p:sp>
      <p:sp>
        <p:nvSpPr>
          <p:cNvPr id="16" name="Text 11"/>
          <p:cNvSpPr/>
          <p:nvPr/>
        </p:nvSpPr>
        <p:spPr>
          <a:xfrm>
            <a:off x="1691640" y="4069080"/>
            <a:ext cx="9601200" cy="41148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renderToPipeableStream — but you wired everything yourself</a:t>
            </a:r>
            <a:endParaRPr lang="en-US" sz="1200" dirty="0"/>
          </a:p>
        </p:txBody>
      </p:sp>
      <p:sp>
        <p:nvSpPr>
          <p:cNvPr id="17" name="Shape 12"/>
          <p:cNvSpPr/>
          <p:nvPr/>
        </p:nvSpPr>
        <p:spPr>
          <a:xfrm>
            <a:off x="777240" y="4709160"/>
            <a:ext cx="10607040" cy="868680"/>
          </a:xfrm>
          <a:prstGeom prst="rect">
            <a:avLst/>
          </a:prstGeom>
          <a:solidFill>
            <a:srgbClr val="FFFFFF"/>
          </a:solidFill>
          <a:ln w="12700">
            <a:solidFill>
              <a:srgbClr val="E2E8F0"/>
            </a:solidFill>
            <a:prstDash val="solid"/>
          </a:ln>
        </p:spPr>
      </p:sp>
      <p:pic>
        <p:nvPicPr>
          <p:cNvPr id="18" name="Image 3" descr="preencoded.png">    </p:cNvPr>
          <p:cNvPicPr>
            <a:picLocks noChangeAspect="1"/>
          </p:cNvPicPr>
          <p:nvPr/>
        </p:nvPicPr>
        <p:blipFill>
          <a:blip r:embed="rId4"/>
          <a:stretch>
            <a:fillRect/>
          </a:stretch>
        </p:blipFill>
        <p:spPr>
          <a:xfrm>
            <a:off x="960120" y="4873752"/>
            <a:ext cx="548640" cy="548640"/>
          </a:xfrm>
          <a:prstGeom prst="rect">
            <a:avLst/>
          </a:prstGeom>
        </p:spPr>
      </p:pic>
      <p:sp>
        <p:nvSpPr>
          <p:cNvPr id="19" name="Text 13"/>
          <p:cNvSpPr/>
          <p:nvPr/>
        </p:nvSpPr>
        <p:spPr>
          <a:xfrm>
            <a:off x="1691640" y="4800600"/>
            <a:ext cx="9601200" cy="365760"/>
          </a:xfrm>
          <a:prstGeom prst="rect">
            <a:avLst/>
          </a:prstGeom>
          <a:noFill/>
          <a:ln/>
        </p:spPr>
        <p:txBody>
          <a:bodyPr wrap="square" lIns="0" tIns="0" rIns="0" bIns="0" rtlCol="0" anchor="ctr"/>
          <a:lstStyle/>
          <a:p>
            <a:pPr indent="0" marL="0">
              <a:buNone/>
            </a:pPr>
            <a:r>
              <a:rPr lang="en-US" sz="1500" b="1" dirty="0">
                <a:solidFill>
                  <a:srgbClr val="0F172A"/>
                </a:solidFill>
                <a:latin typeface="Trebuchet MS" pitchFamily="34" charset="0"/>
                <a:ea typeface="Trebuchet MS" pitchFamily="34" charset="-122"/>
                <a:cs typeface="Trebuchet MS" pitchFamily="34" charset="-120"/>
              </a:rPr>
              <a:t>useId, useSyncExternalStore</a:t>
            </a:r>
            <a:endParaRPr lang="en-US" sz="1500" dirty="0"/>
          </a:p>
        </p:txBody>
      </p:sp>
      <p:sp>
        <p:nvSpPr>
          <p:cNvPr id="20" name="Text 14"/>
          <p:cNvSpPr/>
          <p:nvPr/>
        </p:nvSpPr>
        <p:spPr>
          <a:xfrm>
            <a:off x="1691640" y="5120640"/>
            <a:ext cx="9601200" cy="41148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Hydration-safe IDs and clean integration with non-React state</a:t>
            </a:r>
            <a:endParaRPr lang="en-US" sz="120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10 / 30</a:t>
            </a:r>
            <a:endParaRPr lang="en-US" sz="90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React 19 — what shipped, when</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From experimental Server Components to a stable platform.</a:t>
            </a:r>
            <a:endParaRPr lang="en-US" sz="1400" dirty="0"/>
          </a:p>
        </p:txBody>
      </p:sp>
      <p:sp>
        <p:nvSpPr>
          <p:cNvPr id="5" name="Shape 3"/>
          <p:cNvSpPr/>
          <p:nvPr/>
        </p:nvSpPr>
        <p:spPr>
          <a:xfrm>
            <a:off x="1417320" y="3108960"/>
            <a:ext cx="9326880" cy="36576"/>
          </a:xfrm>
          <a:prstGeom prst="rect">
            <a:avLst/>
          </a:prstGeom>
          <a:solidFill>
            <a:srgbClr val="00B8D9"/>
          </a:solidFill>
          <a:ln w="12700">
            <a:solidFill>
              <a:srgbClr val="00B8D9"/>
            </a:solidFill>
            <a:prstDash val="solid"/>
          </a:ln>
        </p:spPr>
      </p:sp>
      <p:sp>
        <p:nvSpPr>
          <p:cNvPr id="6" name="Shape 4"/>
          <p:cNvSpPr/>
          <p:nvPr/>
        </p:nvSpPr>
        <p:spPr>
          <a:xfrm>
            <a:off x="1417320" y="2990088"/>
            <a:ext cx="274320" cy="274320"/>
          </a:xfrm>
          <a:prstGeom prst="ellipse">
            <a:avLst/>
          </a:prstGeom>
          <a:solidFill>
            <a:srgbClr val="00B8D9"/>
          </a:solidFill>
          <a:ln w="12700">
            <a:solidFill>
              <a:srgbClr val="1E2A47"/>
            </a:solidFill>
            <a:prstDash val="solid"/>
          </a:ln>
        </p:spPr>
      </p:sp>
      <p:sp>
        <p:nvSpPr>
          <p:cNvPr id="7" name="Text 5"/>
          <p:cNvSpPr/>
          <p:nvPr/>
        </p:nvSpPr>
        <p:spPr>
          <a:xfrm>
            <a:off x="320040" y="2331720"/>
            <a:ext cx="2468880" cy="365760"/>
          </a:xfrm>
          <a:prstGeom prst="rect">
            <a:avLst/>
          </a:prstGeom>
          <a:noFill/>
          <a:ln/>
        </p:spPr>
        <p:txBody>
          <a:bodyPr wrap="square" lIns="0" tIns="0" rIns="0" bIns="0" rtlCol="0" anchor="ctr"/>
          <a:lstStyle/>
          <a:p>
            <a:pPr algn="ctr" indent="0" marL="0">
              <a:buNone/>
            </a:pPr>
            <a:r>
              <a:rPr lang="en-US" sz="1200" b="1" dirty="0">
                <a:solidFill>
                  <a:srgbClr val="0F172A"/>
                </a:solidFill>
                <a:latin typeface="Trebuchet MS" pitchFamily="34" charset="0"/>
                <a:ea typeface="Trebuchet MS" pitchFamily="34" charset="-122"/>
                <a:cs typeface="Trebuchet MS" pitchFamily="34" charset="-120"/>
              </a:rPr>
              <a:t>March 2022</a:t>
            </a:r>
            <a:endParaRPr lang="en-US" sz="1200" dirty="0"/>
          </a:p>
        </p:txBody>
      </p:sp>
      <p:sp>
        <p:nvSpPr>
          <p:cNvPr id="8" name="Text 6"/>
          <p:cNvSpPr/>
          <p:nvPr/>
        </p:nvSpPr>
        <p:spPr>
          <a:xfrm>
            <a:off x="320040" y="3383280"/>
            <a:ext cx="2468880" cy="640080"/>
          </a:xfrm>
          <a:prstGeom prst="rect">
            <a:avLst/>
          </a:prstGeom>
          <a:noFill/>
          <a:ln/>
        </p:spPr>
        <p:txBody>
          <a:bodyPr wrap="square" lIns="0" tIns="0" rIns="0" bIns="0" rtlCol="0" anchor="ctr"/>
          <a:lstStyle/>
          <a:p>
            <a:pPr algn="ctr" indent="0" marL="0">
              <a:buNone/>
            </a:pPr>
            <a:r>
              <a:rPr lang="en-US" sz="1100" dirty="0">
                <a:solidFill>
                  <a:srgbClr val="475569"/>
                </a:solidFill>
                <a:latin typeface="Arial" pitchFamily="34" charset="0"/>
                <a:ea typeface="Arial" pitchFamily="34" charset="-122"/>
                <a:cs typeface="Arial" pitchFamily="34" charset="-120"/>
              </a:rPr>
              <a:t>React 18 stable</a:t>
            </a:r>
            <a:endParaRPr lang="en-US" sz="1100" dirty="0"/>
          </a:p>
        </p:txBody>
      </p:sp>
      <p:sp>
        <p:nvSpPr>
          <p:cNvPr id="9" name="Shape 7"/>
          <p:cNvSpPr/>
          <p:nvPr/>
        </p:nvSpPr>
        <p:spPr>
          <a:xfrm>
            <a:off x="3749040" y="2990088"/>
            <a:ext cx="274320" cy="274320"/>
          </a:xfrm>
          <a:prstGeom prst="ellipse">
            <a:avLst/>
          </a:prstGeom>
          <a:solidFill>
            <a:srgbClr val="00B8D9"/>
          </a:solidFill>
          <a:ln w="12700">
            <a:solidFill>
              <a:srgbClr val="1E2A47"/>
            </a:solidFill>
            <a:prstDash val="solid"/>
          </a:ln>
        </p:spPr>
      </p:sp>
      <p:sp>
        <p:nvSpPr>
          <p:cNvPr id="10" name="Text 8"/>
          <p:cNvSpPr/>
          <p:nvPr/>
        </p:nvSpPr>
        <p:spPr>
          <a:xfrm>
            <a:off x="2651760" y="2331720"/>
            <a:ext cx="2468880" cy="365760"/>
          </a:xfrm>
          <a:prstGeom prst="rect">
            <a:avLst/>
          </a:prstGeom>
          <a:noFill/>
          <a:ln/>
        </p:spPr>
        <p:txBody>
          <a:bodyPr wrap="square" lIns="0" tIns="0" rIns="0" bIns="0" rtlCol="0" anchor="ctr"/>
          <a:lstStyle/>
          <a:p>
            <a:pPr algn="ctr" indent="0" marL="0">
              <a:buNone/>
            </a:pPr>
            <a:r>
              <a:rPr lang="en-US" sz="1200" b="1" dirty="0">
                <a:solidFill>
                  <a:srgbClr val="0F172A"/>
                </a:solidFill>
                <a:latin typeface="Trebuchet MS" pitchFamily="34" charset="0"/>
                <a:ea typeface="Trebuchet MS" pitchFamily="34" charset="-122"/>
                <a:cs typeface="Trebuchet MS" pitchFamily="34" charset="-120"/>
              </a:rPr>
              <a:t>Late 2023</a:t>
            </a:r>
            <a:endParaRPr lang="en-US" sz="1200" dirty="0"/>
          </a:p>
        </p:txBody>
      </p:sp>
      <p:sp>
        <p:nvSpPr>
          <p:cNvPr id="11" name="Text 9"/>
          <p:cNvSpPr/>
          <p:nvPr/>
        </p:nvSpPr>
        <p:spPr>
          <a:xfrm>
            <a:off x="2651760" y="3383280"/>
            <a:ext cx="2468880" cy="640080"/>
          </a:xfrm>
          <a:prstGeom prst="rect">
            <a:avLst/>
          </a:prstGeom>
          <a:noFill/>
          <a:ln/>
        </p:spPr>
        <p:txBody>
          <a:bodyPr wrap="square" lIns="0" tIns="0" rIns="0" bIns="0" rtlCol="0" anchor="ctr"/>
          <a:lstStyle/>
          <a:p>
            <a:pPr algn="ctr" indent="0" marL="0">
              <a:buNone/>
            </a:pPr>
            <a:r>
              <a:rPr lang="en-US" sz="1100" dirty="0">
                <a:solidFill>
                  <a:srgbClr val="475569"/>
                </a:solidFill>
                <a:latin typeface="Arial" pitchFamily="34" charset="0"/>
                <a:ea typeface="Arial" pitchFamily="34" charset="-122"/>
                <a:cs typeface="Arial" pitchFamily="34" charset="-120"/>
              </a:rPr>
              <a:t>Server Components in canary</a:t>
            </a:r>
            <a:endParaRPr lang="en-US" sz="1100" dirty="0"/>
          </a:p>
        </p:txBody>
      </p:sp>
      <p:sp>
        <p:nvSpPr>
          <p:cNvPr id="12" name="Shape 10"/>
          <p:cNvSpPr/>
          <p:nvPr/>
        </p:nvSpPr>
        <p:spPr>
          <a:xfrm>
            <a:off x="6080760" y="2990088"/>
            <a:ext cx="274320" cy="274320"/>
          </a:xfrm>
          <a:prstGeom prst="ellipse">
            <a:avLst/>
          </a:prstGeom>
          <a:solidFill>
            <a:srgbClr val="00B8D9"/>
          </a:solidFill>
          <a:ln w="12700">
            <a:solidFill>
              <a:srgbClr val="1E2A47"/>
            </a:solidFill>
            <a:prstDash val="solid"/>
          </a:ln>
        </p:spPr>
      </p:sp>
      <p:sp>
        <p:nvSpPr>
          <p:cNvPr id="13" name="Text 11"/>
          <p:cNvSpPr/>
          <p:nvPr/>
        </p:nvSpPr>
        <p:spPr>
          <a:xfrm>
            <a:off x="4983480" y="2331720"/>
            <a:ext cx="2468880" cy="365760"/>
          </a:xfrm>
          <a:prstGeom prst="rect">
            <a:avLst/>
          </a:prstGeom>
          <a:noFill/>
          <a:ln/>
        </p:spPr>
        <p:txBody>
          <a:bodyPr wrap="square" lIns="0" tIns="0" rIns="0" bIns="0" rtlCol="0" anchor="ctr"/>
          <a:lstStyle/>
          <a:p>
            <a:pPr algn="ctr" indent="0" marL="0">
              <a:buNone/>
            </a:pPr>
            <a:r>
              <a:rPr lang="en-US" sz="1200" b="1" dirty="0">
                <a:solidFill>
                  <a:srgbClr val="0F172A"/>
                </a:solidFill>
                <a:latin typeface="Trebuchet MS" pitchFamily="34" charset="0"/>
                <a:ea typeface="Trebuchet MS" pitchFamily="34" charset="-122"/>
                <a:cs typeface="Trebuchet MS" pitchFamily="34" charset="-120"/>
              </a:rPr>
              <a:t>April 2024</a:t>
            </a:r>
            <a:endParaRPr lang="en-US" sz="1200" dirty="0"/>
          </a:p>
        </p:txBody>
      </p:sp>
      <p:sp>
        <p:nvSpPr>
          <p:cNvPr id="14" name="Text 12"/>
          <p:cNvSpPr/>
          <p:nvPr/>
        </p:nvSpPr>
        <p:spPr>
          <a:xfrm>
            <a:off x="4983480" y="3383280"/>
            <a:ext cx="2468880" cy="640080"/>
          </a:xfrm>
          <a:prstGeom prst="rect">
            <a:avLst/>
          </a:prstGeom>
          <a:noFill/>
          <a:ln/>
        </p:spPr>
        <p:txBody>
          <a:bodyPr wrap="square" lIns="0" tIns="0" rIns="0" bIns="0" rtlCol="0" anchor="ctr"/>
          <a:lstStyle/>
          <a:p>
            <a:pPr algn="ctr" indent="0" marL="0">
              <a:buNone/>
            </a:pPr>
            <a:r>
              <a:rPr lang="en-US" sz="1100" dirty="0">
                <a:solidFill>
                  <a:srgbClr val="475569"/>
                </a:solidFill>
                <a:latin typeface="Arial" pitchFamily="34" charset="0"/>
                <a:ea typeface="Arial" pitchFamily="34" charset="-122"/>
                <a:cs typeface="Arial" pitchFamily="34" charset="-120"/>
              </a:rPr>
              <a:t>React 19 RC announced</a:t>
            </a:r>
            <a:endParaRPr lang="en-US" sz="1100" dirty="0"/>
          </a:p>
        </p:txBody>
      </p:sp>
      <p:sp>
        <p:nvSpPr>
          <p:cNvPr id="15" name="Shape 13"/>
          <p:cNvSpPr/>
          <p:nvPr/>
        </p:nvSpPr>
        <p:spPr>
          <a:xfrm>
            <a:off x="8412480" y="2990088"/>
            <a:ext cx="274320" cy="274320"/>
          </a:xfrm>
          <a:prstGeom prst="ellipse">
            <a:avLst/>
          </a:prstGeom>
          <a:solidFill>
            <a:srgbClr val="00B8D9"/>
          </a:solidFill>
          <a:ln w="12700">
            <a:solidFill>
              <a:srgbClr val="1E2A47"/>
            </a:solidFill>
            <a:prstDash val="solid"/>
          </a:ln>
        </p:spPr>
      </p:sp>
      <p:sp>
        <p:nvSpPr>
          <p:cNvPr id="16" name="Text 14"/>
          <p:cNvSpPr/>
          <p:nvPr/>
        </p:nvSpPr>
        <p:spPr>
          <a:xfrm>
            <a:off x="7315200" y="2331720"/>
            <a:ext cx="2468880" cy="365760"/>
          </a:xfrm>
          <a:prstGeom prst="rect">
            <a:avLst/>
          </a:prstGeom>
          <a:noFill/>
          <a:ln/>
        </p:spPr>
        <p:txBody>
          <a:bodyPr wrap="square" lIns="0" tIns="0" rIns="0" bIns="0" rtlCol="0" anchor="ctr"/>
          <a:lstStyle/>
          <a:p>
            <a:pPr algn="ctr" indent="0" marL="0">
              <a:buNone/>
            </a:pPr>
            <a:r>
              <a:rPr lang="en-US" sz="1200" b="1" dirty="0">
                <a:solidFill>
                  <a:srgbClr val="0F172A"/>
                </a:solidFill>
                <a:latin typeface="Trebuchet MS" pitchFamily="34" charset="0"/>
                <a:ea typeface="Trebuchet MS" pitchFamily="34" charset="-122"/>
                <a:cs typeface="Trebuchet MS" pitchFamily="34" charset="-120"/>
              </a:rPr>
              <a:t>Dec 5, 2024</a:t>
            </a:r>
            <a:endParaRPr lang="en-US" sz="1200" dirty="0"/>
          </a:p>
        </p:txBody>
      </p:sp>
      <p:sp>
        <p:nvSpPr>
          <p:cNvPr id="17" name="Text 15"/>
          <p:cNvSpPr/>
          <p:nvPr/>
        </p:nvSpPr>
        <p:spPr>
          <a:xfrm>
            <a:off x="7315200" y="3383280"/>
            <a:ext cx="2468880" cy="640080"/>
          </a:xfrm>
          <a:prstGeom prst="rect">
            <a:avLst/>
          </a:prstGeom>
          <a:noFill/>
          <a:ln/>
        </p:spPr>
        <p:txBody>
          <a:bodyPr wrap="square" lIns="0" tIns="0" rIns="0" bIns="0" rtlCol="0" anchor="ctr"/>
          <a:lstStyle/>
          <a:p>
            <a:pPr algn="ctr" indent="0" marL="0">
              <a:buNone/>
            </a:pPr>
            <a:r>
              <a:rPr lang="en-US" sz="1100" dirty="0">
                <a:solidFill>
                  <a:srgbClr val="475569"/>
                </a:solidFill>
                <a:latin typeface="Arial" pitchFamily="34" charset="0"/>
                <a:ea typeface="Arial" pitchFamily="34" charset="-122"/>
                <a:cs typeface="Arial" pitchFamily="34" charset="-120"/>
              </a:rPr>
              <a:t>React 19 stable</a:t>
            </a:r>
            <a:endParaRPr lang="en-US" sz="1100" dirty="0"/>
          </a:p>
        </p:txBody>
      </p:sp>
      <p:sp>
        <p:nvSpPr>
          <p:cNvPr id="18" name="Shape 16"/>
          <p:cNvSpPr/>
          <p:nvPr/>
        </p:nvSpPr>
        <p:spPr>
          <a:xfrm>
            <a:off x="10744200" y="2990088"/>
            <a:ext cx="274320" cy="274320"/>
          </a:xfrm>
          <a:prstGeom prst="ellipse">
            <a:avLst/>
          </a:prstGeom>
          <a:solidFill>
            <a:srgbClr val="00B8D9"/>
          </a:solidFill>
          <a:ln w="12700">
            <a:solidFill>
              <a:srgbClr val="1E2A47"/>
            </a:solidFill>
            <a:prstDash val="solid"/>
          </a:ln>
        </p:spPr>
      </p:sp>
      <p:sp>
        <p:nvSpPr>
          <p:cNvPr id="19" name="Text 17"/>
          <p:cNvSpPr/>
          <p:nvPr/>
        </p:nvSpPr>
        <p:spPr>
          <a:xfrm>
            <a:off x="9646920" y="2331720"/>
            <a:ext cx="2468880" cy="365760"/>
          </a:xfrm>
          <a:prstGeom prst="rect">
            <a:avLst/>
          </a:prstGeom>
          <a:noFill/>
          <a:ln/>
        </p:spPr>
        <p:txBody>
          <a:bodyPr wrap="square" lIns="0" tIns="0" rIns="0" bIns="0" rtlCol="0" anchor="ctr"/>
          <a:lstStyle/>
          <a:p>
            <a:pPr algn="ctr" indent="0" marL="0">
              <a:buNone/>
            </a:pPr>
            <a:r>
              <a:rPr lang="en-US" sz="1200" b="1" dirty="0">
                <a:solidFill>
                  <a:srgbClr val="0F172A"/>
                </a:solidFill>
                <a:latin typeface="Trebuchet MS" pitchFamily="34" charset="0"/>
                <a:ea typeface="Trebuchet MS" pitchFamily="34" charset="-122"/>
                <a:cs typeface="Trebuchet MS" pitchFamily="34" charset="-120"/>
              </a:rPr>
              <a:t>2025+</a:t>
            </a:r>
            <a:endParaRPr lang="en-US" sz="1200" dirty="0"/>
          </a:p>
        </p:txBody>
      </p:sp>
      <p:sp>
        <p:nvSpPr>
          <p:cNvPr id="20" name="Text 18"/>
          <p:cNvSpPr/>
          <p:nvPr/>
        </p:nvSpPr>
        <p:spPr>
          <a:xfrm>
            <a:off x="9646920" y="3383280"/>
            <a:ext cx="2468880" cy="640080"/>
          </a:xfrm>
          <a:prstGeom prst="rect">
            <a:avLst/>
          </a:prstGeom>
          <a:noFill/>
          <a:ln/>
        </p:spPr>
        <p:txBody>
          <a:bodyPr wrap="square" lIns="0" tIns="0" rIns="0" bIns="0" rtlCol="0" anchor="ctr"/>
          <a:lstStyle/>
          <a:p>
            <a:pPr algn="ctr" indent="0" marL="0">
              <a:buNone/>
            </a:pPr>
            <a:r>
              <a:rPr lang="en-US" sz="1100" dirty="0">
                <a:solidFill>
                  <a:srgbClr val="475569"/>
                </a:solidFill>
                <a:latin typeface="Arial" pitchFamily="34" charset="0"/>
                <a:ea typeface="Arial" pitchFamily="34" charset="-122"/>
                <a:cs typeface="Arial" pitchFamily="34" charset="-120"/>
              </a:rPr>
              <a:t>Compiler GA, ecosystem catches up</a:t>
            </a:r>
            <a:endParaRPr lang="en-US" sz="1100" dirty="0"/>
          </a:p>
        </p:txBody>
      </p:sp>
      <p:sp>
        <p:nvSpPr>
          <p:cNvPr id="21" name="Shape 19"/>
          <p:cNvSpPr/>
          <p:nvPr/>
        </p:nvSpPr>
        <p:spPr>
          <a:xfrm>
            <a:off x="777240" y="4937760"/>
            <a:ext cx="10607040" cy="1280160"/>
          </a:xfrm>
          <a:prstGeom prst="rect">
            <a:avLst/>
          </a:prstGeom>
          <a:solidFill>
            <a:srgbClr val="CBF1F6"/>
          </a:solidFill>
          <a:ln w="12700">
            <a:solidFill>
              <a:srgbClr val="CBF1F6"/>
            </a:solidFill>
            <a:prstDash val="solid"/>
          </a:ln>
        </p:spPr>
      </p:sp>
      <p:sp>
        <p:nvSpPr>
          <p:cNvPr id="22" name="Text 20"/>
          <p:cNvSpPr/>
          <p:nvPr/>
        </p:nvSpPr>
        <p:spPr>
          <a:xfrm>
            <a:off x="1005840" y="4983480"/>
            <a:ext cx="10149840" cy="1188720"/>
          </a:xfrm>
          <a:prstGeom prst="rect">
            <a:avLst/>
          </a:prstGeom>
          <a:noFill/>
          <a:ln/>
        </p:spPr>
        <p:txBody>
          <a:bodyPr wrap="square" lIns="0" tIns="0" rIns="0" bIns="0" rtlCol="0" anchor="ctr"/>
          <a:lstStyle/>
          <a:p>
            <a:pPr indent="0" marL="0">
              <a:buNone/>
            </a:pPr>
            <a:r>
              <a:rPr lang="en-US" sz="1600" i="1" dirty="0">
                <a:solidFill>
                  <a:srgbClr val="0F172A"/>
                </a:solidFill>
                <a:latin typeface="Arial" pitchFamily="34" charset="0"/>
                <a:ea typeface="Arial" pitchFamily="34" charset="-122"/>
                <a:cs typeface="Arial" pitchFamily="34" charset="-120"/>
              </a:rPr>
              <a:t>React 19 is the first release with a coherent server story baked in. That's the headline.</a:t>
            </a:r>
            <a:endParaRPr lang="en-US" sz="1600" dirty="0"/>
          </a:p>
        </p:txBody>
      </p:sp>
      <p:sp>
        <p:nvSpPr>
          <p:cNvPr id="23" name="Text 21"/>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24" name="Text 22"/>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11 / 30</a:t>
            </a:r>
            <a:endParaRPr lang="en-US" sz="90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What's new in React 19</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We'll touch each of these today. Hooks deep dive is next module.</a:t>
            </a:r>
            <a:endParaRPr lang="en-US" sz="1400" dirty="0"/>
          </a:p>
        </p:txBody>
      </p:sp>
      <p:sp>
        <p:nvSpPr>
          <p:cNvPr id="5" name="Shape 3"/>
          <p:cNvSpPr/>
          <p:nvPr/>
        </p:nvSpPr>
        <p:spPr>
          <a:xfrm>
            <a:off x="777240" y="1554480"/>
            <a:ext cx="3520440" cy="201168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1005840" y="1783080"/>
            <a:ext cx="502920" cy="502920"/>
          </a:xfrm>
          <a:prstGeom prst="rect">
            <a:avLst/>
          </a:prstGeom>
        </p:spPr>
      </p:pic>
      <p:sp>
        <p:nvSpPr>
          <p:cNvPr id="7" name="Text 4"/>
          <p:cNvSpPr/>
          <p:nvPr/>
        </p:nvSpPr>
        <p:spPr>
          <a:xfrm>
            <a:off x="1645920" y="1783080"/>
            <a:ext cx="2560320" cy="50292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Actions</a:t>
            </a:r>
            <a:endParaRPr lang="en-US" sz="1400" dirty="0"/>
          </a:p>
        </p:txBody>
      </p:sp>
      <p:sp>
        <p:nvSpPr>
          <p:cNvPr id="8" name="Text 5"/>
          <p:cNvSpPr/>
          <p:nvPr/>
        </p:nvSpPr>
        <p:spPr>
          <a:xfrm>
            <a:off x="1005840" y="2423160"/>
            <a:ext cx="3108960" cy="105156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Functions you pass to &lt;form&gt; action props. Mutations + pending state without ceremony.</a:t>
            </a:r>
            <a:endParaRPr lang="en-US" sz="1150" dirty="0"/>
          </a:p>
        </p:txBody>
      </p:sp>
      <p:sp>
        <p:nvSpPr>
          <p:cNvPr id="9" name="Shape 6"/>
          <p:cNvSpPr/>
          <p:nvPr/>
        </p:nvSpPr>
        <p:spPr>
          <a:xfrm>
            <a:off x="4434840" y="1554480"/>
            <a:ext cx="3520440" cy="2011680"/>
          </a:xfrm>
          <a:prstGeom prst="rect">
            <a:avLst/>
          </a:prstGeom>
          <a:solidFill>
            <a:srgbClr val="FFFFFF"/>
          </a:solidFill>
          <a:ln w="12700">
            <a:solidFill>
              <a:srgbClr val="E2E8F0"/>
            </a:solidFill>
            <a:prstDash val="solid"/>
          </a:ln>
        </p:spPr>
      </p:sp>
      <p:pic>
        <p:nvPicPr>
          <p:cNvPr id="10" name="Image 1" descr="preencoded.png">    </p:cNvPr>
          <p:cNvPicPr>
            <a:picLocks noChangeAspect="1"/>
          </p:cNvPicPr>
          <p:nvPr/>
        </p:nvPicPr>
        <p:blipFill>
          <a:blip r:embed="rId2"/>
          <a:stretch>
            <a:fillRect/>
          </a:stretch>
        </p:blipFill>
        <p:spPr>
          <a:xfrm>
            <a:off x="4663440" y="1783080"/>
            <a:ext cx="502920" cy="502920"/>
          </a:xfrm>
          <a:prstGeom prst="rect">
            <a:avLst/>
          </a:prstGeom>
        </p:spPr>
      </p:pic>
      <p:sp>
        <p:nvSpPr>
          <p:cNvPr id="11" name="Text 7"/>
          <p:cNvSpPr/>
          <p:nvPr/>
        </p:nvSpPr>
        <p:spPr>
          <a:xfrm>
            <a:off x="5303520" y="1783080"/>
            <a:ext cx="2560320" cy="50292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New hooks</a:t>
            </a:r>
            <a:endParaRPr lang="en-US" sz="1400" dirty="0"/>
          </a:p>
        </p:txBody>
      </p:sp>
      <p:sp>
        <p:nvSpPr>
          <p:cNvPr id="12" name="Text 8"/>
          <p:cNvSpPr/>
          <p:nvPr/>
        </p:nvSpPr>
        <p:spPr>
          <a:xfrm>
            <a:off x="4663440" y="2423160"/>
            <a:ext cx="3108960" cy="105156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use(), useActionState, useFormStatus, useOptimistic — covered in Module 2.</a:t>
            </a:r>
            <a:endParaRPr lang="en-US" sz="1150" dirty="0"/>
          </a:p>
        </p:txBody>
      </p:sp>
      <p:sp>
        <p:nvSpPr>
          <p:cNvPr id="13" name="Shape 9"/>
          <p:cNvSpPr/>
          <p:nvPr/>
        </p:nvSpPr>
        <p:spPr>
          <a:xfrm>
            <a:off x="8092440" y="1554480"/>
            <a:ext cx="3520440" cy="2011680"/>
          </a:xfrm>
          <a:prstGeom prst="rect">
            <a:avLst/>
          </a:prstGeom>
          <a:solidFill>
            <a:srgbClr val="FFFFFF"/>
          </a:solidFill>
          <a:ln w="12700">
            <a:solidFill>
              <a:srgbClr val="E2E8F0"/>
            </a:solidFill>
            <a:prstDash val="solid"/>
          </a:ln>
        </p:spPr>
      </p:sp>
      <p:pic>
        <p:nvPicPr>
          <p:cNvPr id="14" name="Image 2" descr="preencoded.png">    </p:cNvPr>
          <p:cNvPicPr>
            <a:picLocks noChangeAspect="1"/>
          </p:cNvPicPr>
          <p:nvPr/>
        </p:nvPicPr>
        <p:blipFill>
          <a:blip r:embed="rId3"/>
          <a:stretch>
            <a:fillRect/>
          </a:stretch>
        </p:blipFill>
        <p:spPr>
          <a:xfrm>
            <a:off x="8321040" y="1783080"/>
            <a:ext cx="502920" cy="502920"/>
          </a:xfrm>
          <a:prstGeom prst="rect">
            <a:avLst/>
          </a:prstGeom>
        </p:spPr>
      </p:pic>
      <p:sp>
        <p:nvSpPr>
          <p:cNvPr id="15" name="Text 10"/>
          <p:cNvSpPr/>
          <p:nvPr/>
        </p:nvSpPr>
        <p:spPr>
          <a:xfrm>
            <a:off x="8961120" y="1783080"/>
            <a:ext cx="2560320" cy="50292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ref as a prop</a:t>
            </a:r>
            <a:endParaRPr lang="en-US" sz="1400" dirty="0"/>
          </a:p>
        </p:txBody>
      </p:sp>
      <p:sp>
        <p:nvSpPr>
          <p:cNvPr id="16" name="Text 11"/>
          <p:cNvSpPr/>
          <p:nvPr/>
        </p:nvSpPr>
        <p:spPr>
          <a:xfrm>
            <a:off x="8321040" y="2423160"/>
            <a:ext cx="3108960" cy="105156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forwardRef is no longer required. Pass ref like any other prop.</a:t>
            </a:r>
            <a:endParaRPr lang="en-US" sz="1150" dirty="0"/>
          </a:p>
        </p:txBody>
      </p:sp>
      <p:sp>
        <p:nvSpPr>
          <p:cNvPr id="17" name="Shape 12"/>
          <p:cNvSpPr/>
          <p:nvPr/>
        </p:nvSpPr>
        <p:spPr>
          <a:xfrm>
            <a:off x="777240" y="3749040"/>
            <a:ext cx="3520440" cy="2011680"/>
          </a:xfrm>
          <a:prstGeom prst="rect">
            <a:avLst/>
          </a:prstGeom>
          <a:solidFill>
            <a:srgbClr val="FFFFFF"/>
          </a:solidFill>
          <a:ln w="12700">
            <a:solidFill>
              <a:srgbClr val="E2E8F0"/>
            </a:solidFill>
            <a:prstDash val="solid"/>
          </a:ln>
        </p:spPr>
      </p:sp>
      <p:pic>
        <p:nvPicPr>
          <p:cNvPr id="18" name="Image 3" descr="preencoded.png">    </p:cNvPr>
          <p:cNvPicPr>
            <a:picLocks noChangeAspect="1"/>
          </p:cNvPicPr>
          <p:nvPr/>
        </p:nvPicPr>
        <p:blipFill>
          <a:blip r:embed="rId4"/>
          <a:stretch>
            <a:fillRect/>
          </a:stretch>
        </p:blipFill>
        <p:spPr>
          <a:xfrm>
            <a:off x="1005840" y="3977640"/>
            <a:ext cx="502920" cy="502920"/>
          </a:xfrm>
          <a:prstGeom prst="rect">
            <a:avLst/>
          </a:prstGeom>
        </p:spPr>
      </p:pic>
      <p:sp>
        <p:nvSpPr>
          <p:cNvPr id="19" name="Text 13"/>
          <p:cNvSpPr/>
          <p:nvPr/>
        </p:nvSpPr>
        <p:spPr>
          <a:xfrm>
            <a:off x="1645920" y="3977640"/>
            <a:ext cx="2560320" cy="50292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Server Components</a:t>
            </a:r>
            <a:endParaRPr lang="en-US" sz="1400" dirty="0"/>
          </a:p>
        </p:txBody>
      </p:sp>
      <p:sp>
        <p:nvSpPr>
          <p:cNvPr id="20" name="Text 14"/>
          <p:cNvSpPr/>
          <p:nvPr/>
        </p:nvSpPr>
        <p:spPr>
          <a:xfrm>
            <a:off x="1005840" y="4617720"/>
            <a:ext cx="3108960" cy="105156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Stable. Component code that runs only on the server. Module 6 covers this.</a:t>
            </a:r>
            <a:endParaRPr lang="en-US" sz="1150" dirty="0"/>
          </a:p>
        </p:txBody>
      </p:sp>
      <p:sp>
        <p:nvSpPr>
          <p:cNvPr id="21" name="Shape 15"/>
          <p:cNvSpPr/>
          <p:nvPr/>
        </p:nvSpPr>
        <p:spPr>
          <a:xfrm>
            <a:off x="4434840" y="3749040"/>
            <a:ext cx="3520440" cy="2011680"/>
          </a:xfrm>
          <a:prstGeom prst="rect">
            <a:avLst/>
          </a:prstGeom>
          <a:solidFill>
            <a:srgbClr val="FFFFFF"/>
          </a:solidFill>
          <a:ln w="12700">
            <a:solidFill>
              <a:srgbClr val="E2E8F0"/>
            </a:solidFill>
            <a:prstDash val="solid"/>
          </a:ln>
        </p:spPr>
      </p:sp>
      <p:pic>
        <p:nvPicPr>
          <p:cNvPr id="22" name="Image 4" descr="preencoded.png">    </p:cNvPr>
          <p:cNvPicPr>
            <a:picLocks noChangeAspect="1"/>
          </p:cNvPicPr>
          <p:nvPr/>
        </p:nvPicPr>
        <p:blipFill>
          <a:blip r:embed="rId5"/>
          <a:stretch>
            <a:fillRect/>
          </a:stretch>
        </p:blipFill>
        <p:spPr>
          <a:xfrm>
            <a:off x="4663440" y="3977640"/>
            <a:ext cx="502920" cy="502920"/>
          </a:xfrm>
          <a:prstGeom prst="rect">
            <a:avLst/>
          </a:prstGeom>
        </p:spPr>
      </p:pic>
      <p:sp>
        <p:nvSpPr>
          <p:cNvPr id="23" name="Text 16"/>
          <p:cNvSpPr/>
          <p:nvPr/>
        </p:nvSpPr>
        <p:spPr>
          <a:xfrm>
            <a:off x="5303520" y="3977640"/>
            <a:ext cx="2560320" cy="50292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Asset preloading</a:t>
            </a:r>
            <a:endParaRPr lang="en-US" sz="1400" dirty="0"/>
          </a:p>
        </p:txBody>
      </p:sp>
      <p:sp>
        <p:nvSpPr>
          <p:cNvPr id="24" name="Text 17"/>
          <p:cNvSpPr/>
          <p:nvPr/>
        </p:nvSpPr>
        <p:spPr>
          <a:xfrm>
            <a:off x="4663440" y="4617720"/>
            <a:ext cx="3108960" cy="105156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preload, preinit, preconnect — fine-grained control over what loads when.</a:t>
            </a:r>
            <a:endParaRPr lang="en-US" sz="1150" dirty="0"/>
          </a:p>
        </p:txBody>
      </p:sp>
      <p:sp>
        <p:nvSpPr>
          <p:cNvPr id="25" name="Shape 18"/>
          <p:cNvSpPr/>
          <p:nvPr/>
        </p:nvSpPr>
        <p:spPr>
          <a:xfrm>
            <a:off x="8092440" y="3749040"/>
            <a:ext cx="3520440" cy="2011680"/>
          </a:xfrm>
          <a:prstGeom prst="rect">
            <a:avLst/>
          </a:prstGeom>
          <a:solidFill>
            <a:srgbClr val="FFFFFF"/>
          </a:solidFill>
          <a:ln w="12700">
            <a:solidFill>
              <a:srgbClr val="E2E8F0"/>
            </a:solidFill>
            <a:prstDash val="solid"/>
          </a:ln>
        </p:spPr>
      </p:sp>
      <p:pic>
        <p:nvPicPr>
          <p:cNvPr id="26" name="Image 5" descr="preencoded.png">    </p:cNvPr>
          <p:cNvPicPr>
            <a:picLocks noChangeAspect="1"/>
          </p:cNvPicPr>
          <p:nvPr/>
        </p:nvPicPr>
        <p:blipFill>
          <a:blip r:embed="rId6"/>
          <a:stretch>
            <a:fillRect/>
          </a:stretch>
        </p:blipFill>
        <p:spPr>
          <a:xfrm>
            <a:off x="8321040" y="3977640"/>
            <a:ext cx="502920" cy="502920"/>
          </a:xfrm>
          <a:prstGeom prst="rect">
            <a:avLst/>
          </a:prstGeom>
        </p:spPr>
      </p:pic>
      <p:sp>
        <p:nvSpPr>
          <p:cNvPr id="27" name="Text 19"/>
          <p:cNvSpPr/>
          <p:nvPr/>
        </p:nvSpPr>
        <p:spPr>
          <a:xfrm>
            <a:off x="8961120" y="3977640"/>
            <a:ext cx="2560320" cy="50292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Document metadata</a:t>
            </a:r>
            <a:endParaRPr lang="en-US" sz="1400" dirty="0"/>
          </a:p>
        </p:txBody>
      </p:sp>
      <p:sp>
        <p:nvSpPr>
          <p:cNvPr id="28" name="Text 20"/>
          <p:cNvSpPr/>
          <p:nvPr/>
        </p:nvSpPr>
        <p:spPr>
          <a:xfrm>
            <a:off x="8321040" y="4617720"/>
            <a:ext cx="3108960" cy="105156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&lt;title&gt; and &lt;meta&gt; tags work as plain JSX inside components.</a:t>
            </a:r>
            <a:endParaRPr lang="en-US" sz="1150" dirty="0"/>
          </a:p>
        </p:txBody>
      </p:sp>
      <p:sp>
        <p:nvSpPr>
          <p:cNvPr id="29" name="Text 21"/>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30" name="Text 22"/>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12 / 30</a:t>
            </a:r>
            <a:endParaRPr lang="en-US" sz="90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Actions: forms without the wiring</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Pass a function to &lt;form action&gt;. React handles pending, errors, and resets.</a:t>
            </a:r>
            <a:endParaRPr lang="en-US" sz="1400" dirty="0"/>
          </a:p>
        </p:txBody>
      </p:sp>
      <p:sp>
        <p:nvSpPr>
          <p:cNvPr id="5" name="Shape 3"/>
          <p:cNvSpPr/>
          <p:nvPr/>
        </p:nvSpPr>
        <p:spPr>
          <a:xfrm>
            <a:off x="777240" y="1554480"/>
            <a:ext cx="5943600" cy="4297680"/>
          </a:xfrm>
          <a:prstGeom prst="rect">
            <a:avLst/>
          </a:prstGeom>
          <a:solidFill>
            <a:srgbClr val="1E2A47"/>
          </a:solidFill>
          <a:ln w="12700">
            <a:solidFill>
              <a:srgbClr val="1E2A47"/>
            </a:solidFill>
            <a:prstDash val="solid"/>
          </a:ln>
        </p:spPr>
      </p:sp>
      <p:sp>
        <p:nvSpPr>
          <p:cNvPr id="6" name="Text 4"/>
          <p:cNvSpPr/>
          <p:nvPr/>
        </p:nvSpPr>
        <p:spPr>
          <a:xfrm>
            <a:off x="960120" y="1691640"/>
            <a:ext cx="5577840" cy="4023360"/>
          </a:xfrm>
          <a:prstGeom prst="rect">
            <a:avLst/>
          </a:prstGeom>
          <a:noFill/>
          <a:ln/>
        </p:spPr>
        <p:txBody>
          <a:bodyPr wrap="square" lIns="0" tIns="0" rIns="0" bIns="0" rtlCol="0" anchor="t"/>
          <a:lstStyle/>
          <a:p>
            <a:pPr indent="0" marL="0">
              <a:buNone/>
            </a:pPr>
            <a:r>
              <a:rPr lang="en-US" sz="1300" dirty="0">
                <a:solidFill>
                  <a:srgbClr val="FFFFFF"/>
                </a:solidFill>
                <a:latin typeface="Courier New" pitchFamily="34" charset="0"/>
                <a:ea typeface="Courier New" pitchFamily="34" charset="-122"/>
                <a:cs typeface="Courier New" pitchFamily="34" charset="-120"/>
              </a:rPr>
              <a:t>function NewPostForm() {
</a:t>
            </a:r>
            <a:pPr indent="0" marL="0">
              <a:buNone/>
            </a:pPr>
            <a:r>
              <a:rPr lang="en-US" sz="1300" dirty="0">
                <a:solidFill>
                  <a:srgbClr val="000000"/>
                </a:solidFill>
                <a:latin typeface="Courier New" pitchFamily="34" charset="0"/>
                <a:ea typeface="Courier New" pitchFamily="34" charset="-122"/>
                <a:cs typeface="Courier New" pitchFamily="34" charset="-120"/>
              </a:rPr>
              <a:t>  </a:t>
            </a:r>
            <a:pPr indent="0" marL="0">
              <a:buNone/>
            </a:pPr>
            <a:r>
              <a:rPr lang="en-US" sz="1300" dirty="0">
                <a:solidFill>
                  <a:srgbClr val="C586C0"/>
                </a:solidFill>
                <a:latin typeface="Courier New" pitchFamily="34" charset="0"/>
                <a:ea typeface="Courier New" pitchFamily="34" charset="-122"/>
                <a:cs typeface="Courier New" pitchFamily="34" charset="-120"/>
              </a:rPr>
              <a:t>async function </a:t>
            </a:r>
            <a:pPr indent="0" marL="0">
              <a:buNone/>
            </a:pPr>
            <a:r>
              <a:rPr lang="en-US" sz="1300" dirty="0">
                <a:solidFill>
                  <a:srgbClr val="DCDCAA"/>
                </a:solidFill>
                <a:latin typeface="Courier New" pitchFamily="34" charset="0"/>
                <a:ea typeface="Courier New" pitchFamily="34" charset="-122"/>
                <a:cs typeface="Courier New" pitchFamily="34" charset="-120"/>
              </a:rPr>
              <a:t>createPost</a:t>
            </a:r>
            <a:pPr indent="0" marL="0">
              <a:buNone/>
            </a:pPr>
            <a:r>
              <a:rPr lang="en-US" sz="1300" dirty="0">
                <a:solidFill>
                  <a:srgbClr val="FFFFFF"/>
                </a:solidFill>
                <a:latin typeface="Courier New" pitchFamily="34" charset="0"/>
                <a:ea typeface="Courier New" pitchFamily="34" charset="-122"/>
                <a:cs typeface="Courier New" pitchFamily="34" charset="-120"/>
              </a:rPr>
              <a:t>(formData) {
</a:t>
            </a:r>
            <a:pPr indent="0" marL="0">
              <a:buNone/>
            </a:pPr>
            <a:r>
              <a:rPr lang="en-US" sz="1300" dirty="0">
                <a:solidFill>
                  <a:srgbClr val="000000"/>
                </a:solidFill>
                <a:latin typeface="Courier New" pitchFamily="34" charset="0"/>
                <a:ea typeface="Courier New" pitchFamily="34" charset="-122"/>
                <a:cs typeface="Courier New" pitchFamily="34" charset="-120"/>
              </a:rPr>
              <a:t>    </a:t>
            </a:r>
            <a:pPr indent="0" marL="0">
              <a:buNone/>
            </a:pPr>
            <a:r>
              <a:rPr lang="en-US" sz="1300" dirty="0">
                <a:solidFill>
                  <a:srgbClr val="C586C0"/>
                </a:solidFill>
                <a:latin typeface="Courier New" pitchFamily="34" charset="0"/>
                <a:ea typeface="Courier New" pitchFamily="34" charset="-122"/>
                <a:cs typeface="Courier New" pitchFamily="34" charset="-120"/>
              </a:rPr>
              <a:t>await </a:t>
            </a:r>
            <a:pPr indent="0" marL="0">
              <a:buNone/>
            </a:pPr>
            <a:r>
              <a:rPr lang="en-US" sz="1300" dirty="0">
                <a:solidFill>
                  <a:srgbClr val="9CDCFE"/>
                </a:solidFill>
                <a:latin typeface="Courier New" pitchFamily="34" charset="0"/>
                <a:ea typeface="Courier New" pitchFamily="34" charset="-122"/>
                <a:cs typeface="Courier New" pitchFamily="34" charset="-120"/>
              </a:rPr>
              <a:t>savePost(formData.get("body"));
</a:t>
            </a:r>
            <a:pPr indent="0" marL="0">
              <a:buNone/>
            </a:pPr>
            <a:r>
              <a:rPr lang="en-US" sz="1300" dirty="0">
                <a:solidFill>
                  <a:srgbClr val="FFFFFF"/>
                </a:solidFill>
                <a:latin typeface="Courier New" pitchFamily="34" charset="0"/>
                <a:ea typeface="Courier New" pitchFamily="34" charset="-122"/>
                <a:cs typeface="Courier New" pitchFamily="34" charset="-120"/>
              </a:rPr>
              <a:t>  }
</a:t>
            </a:r>
            <a:pPr indent="0" marL="0">
              <a:buNone/>
            </a:pPr>
            <a:r>
              <a:rPr lang="en-US" sz="1300" dirty="0">
                <a:solidFill>
                  <a:srgbClr val="000000"/>
                </a:solidFill>
                <a:latin typeface="Courier New" pitchFamily="34" charset="0"/>
                <a:ea typeface="Courier New" pitchFamily="34" charset="-122"/>
                <a:cs typeface="Courier New" pitchFamily="34" charset="-120"/>
              </a:rPr>
              <a:t>  </a:t>
            </a:r>
            <a:pPr indent="0" marL="0">
              <a:buNone/>
            </a:pPr>
            <a:r>
              <a:rPr lang="en-US" sz="1300" dirty="0">
                <a:solidFill>
                  <a:srgbClr val="C586C0"/>
                </a:solidFill>
                <a:latin typeface="Courier New" pitchFamily="34" charset="0"/>
                <a:ea typeface="Courier New" pitchFamily="34" charset="-122"/>
                <a:cs typeface="Courier New" pitchFamily="34" charset="-120"/>
              </a:rPr>
              <a:t>return </a:t>
            </a:r>
            <a:pPr indent="0" marL="0">
              <a:buNone/>
            </a:pPr>
            <a:r>
              <a:rPr lang="en-US" sz="1300" dirty="0">
                <a:solidFill>
                  <a:srgbClr val="FFFFFF"/>
                </a:solidFill>
                <a:latin typeface="Courier New" pitchFamily="34" charset="0"/>
                <a:ea typeface="Courier New" pitchFamily="34" charset="-122"/>
                <a:cs typeface="Courier New" pitchFamily="34" charset="-120"/>
              </a:rPr>
              <a:t>(
</a:t>
            </a:r>
            <a:pPr indent="0" marL="0">
              <a:buNone/>
            </a:pPr>
            <a:r>
              <a:rPr lang="en-US" sz="1300" dirty="0">
                <a:solidFill>
                  <a:srgbClr val="9CDCFE"/>
                </a:solidFill>
                <a:latin typeface="Courier New" pitchFamily="34" charset="0"/>
                <a:ea typeface="Courier New" pitchFamily="34" charset="-122"/>
                <a:cs typeface="Courier New" pitchFamily="34" charset="-120"/>
              </a:rPr>
              <a:t>    &lt;form action={createPost}&gt;
</a:t>
            </a:r>
            <a:pPr indent="0" marL="0">
              <a:buNone/>
            </a:pPr>
            <a:r>
              <a:rPr lang="en-US" sz="1300" dirty="0">
                <a:solidFill>
                  <a:srgbClr val="9CDCFE"/>
                </a:solidFill>
                <a:latin typeface="Courier New" pitchFamily="34" charset="0"/>
                <a:ea typeface="Courier New" pitchFamily="34" charset="-122"/>
                <a:cs typeface="Courier New" pitchFamily="34" charset="-120"/>
              </a:rPr>
              <a:t>      &lt;textarea name="body" /&gt;
</a:t>
            </a:r>
            <a:pPr indent="0" marL="0">
              <a:buNone/>
            </a:pPr>
            <a:r>
              <a:rPr lang="en-US" sz="1300" dirty="0">
                <a:solidFill>
                  <a:srgbClr val="9CDCFE"/>
                </a:solidFill>
                <a:latin typeface="Courier New" pitchFamily="34" charset="0"/>
                <a:ea typeface="Courier New" pitchFamily="34" charset="-122"/>
                <a:cs typeface="Courier New" pitchFamily="34" charset="-120"/>
              </a:rPr>
              <a:t>      &lt;SubmitButton /&gt;
</a:t>
            </a:r>
            <a:pPr indent="0" marL="0">
              <a:buNone/>
            </a:pPr>
            <a:r>
              <a:rPr lang="en-US" sz="1300" dirty="0">
                <a:solidFill>
                  <a:srgbClr val="9CDCFE"/>
                </a:solidFill>
                <a:latin typeface="Courier New" pitchFamily="34" charset="0"/>
                <a:ea typeface="Courier New" pitchFamily="34" charset="-122"/>
                <a:cs typeface="Courier New" pitchFamily="34" charset="-120"/>
              </a:rPr>
              <a:t>    &lt;/form&gt;
</a:t>
            </a:r>
            <a:pPr indent="0" marL="0">
              <a:buNone/>
            </a:pPr>
            <a:r>
              <a:rPr lang="en-US" sz="1300" dirty="0">
                <a:solidFill>
                  <a:srgbClr val="FFFFFF"/>
                </a:solidFill>
                <a:latin typeface="Courier New" pitchFamily="34" charset="0"/>
                <a:ea typeface="Courier New" pitchFamily="34" charset="-122"/>
                <a:cs typeface="Courier New" pitchFamily="34" charset="-120"/>
              </a:rPr>
              <a:t>  );
</a:t>
            </a:r>
            <a:pPr indent="0" marL="0">
              <a:buNone/>
            </a:pPr>
            <a:r>
              <a:rPr lang="en-US" sz="1300" dirty="0">
                <a:solidFill>
                  <a:srgbClr val="FFFFFF"/>
                </a:solidFill>
                <a:latin typeface="Courier New" pitchFamily="34" charset="0"/>
                <a:ea typeface="Courier New" pitchFamily="34" charset="-122"/>
                <a:cs typeface="Courier New" pitchFamily="34" charset="-120"/>
              </a:rPr>
              <a:t>}
</a:t>
            </a:r>
            <a:endParaRPr lang="en-US" sz="1300" dirty="0"/>
          </a:p>
        </p:txBody>
      </p:sp>
      <p:sp>
        <p:nvSpPr>
          <p:cNvPr id="7" name="Text 5"/>
          <p:cNvSpPr/>
          <p:nvPr/>
        </p:nvSpPr>
        <p:spPr>
          <a:xfrm>
            <a:off x="6949440" y="1691640"/>
            <a:ext cx="4572000" cy="4023360"/>
          </a:xfrm>
          <a:prstGeom prst="rect">
            <a:avLst/>
          </a:prstGeom>
          <a:noFill/>
          <a:ln/>
        </p:spPr>
        <p:txBody>
          <a:bodyPr wrap="square" lIns="0" tIns="0" rIns="0" bIns="0" rtlCol="0" anchor="t"/>
          <a:lstStyle/>
          <a:p>
            <a:pPr indent="0" marL="0">
              <a:spcAft>
                <a:spcPts val="400"/>
              </a:spcAft>
              <a:buNone/>
            </a:pPr>
            <a:r>
              <a:rPr lang="en-US" sz="1400" b="1" dirty="0">
                <a:solidFill>
                  <a:srgbClr val="0F172A"/>
                </a:solidFill>
                <a:latin typeface="Arial" pitchFamily="34" charset="0"/>
                <a:ea typeface="Arial" pitchFamily="34" charset="-122"/>
                <a:cs typeface="Arial" pitchFamily="34" charset="-120"/>
              </a:rPr>
              <a:t>What you don't write anymore:</a:t>
            </a:r>
            <a:endParaRPr lang="en-US" sz="1250" dirty="0"/>
          </a:p>
          <a:p>
            <a:pPr indent="0" marL="0">
              <a:spcAft>
                <a:spcPts val="400"/>
              </a:spcAft>
              <a:buNone/>
            </a:pPr>
            <a:r>
              <a:rPr lang="en-US" sz="1250" dirty="0">
                <a:solidFill>
                  <a:srgbClr val="475569"/>
                </a:solidFill>
                <a:latin typeface="Arial" pitchFamily="34" charset="0"/>
                <a:ea typeface="Arial" pitchFamily="34" charset="-122"/>
                <a:cs typeface="Arial" pitchFamily="34" charset="-120"/>
              </a:rPr>
              <a:t> </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isPending state — React tracks it (use useFormStatus inside)</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preventDefault — Actions intercept submit</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Manual reset — form clears on success</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Race-condition handling — newer submissions win</a:t>
            </a:r>
            <a:endParaRPr lang="en-US" sz="1250" dirty="0"/>
          </a:p>
          <a:p>
            <a:pPr indent="0" marL="0">
              <a:spcAft>
                <a:spcPts val="400"/>
              </a:spcAft>
              <a:buNone/>
            </a:pPr>
            <a:r>
              <a:rPr lang="en-US" sz="1250" dirty="0">
                <a:solidFill>
                  <a:srgbClr val="475569"/>
                </a:solidFill>
                <a:latin typeface="Arial" pitchFamily="34" charset="0"/>
                <a:ea typeface="Arial" pitchFamily="34" charset="-122"/>
                <a:cs typeface="Arial" pitchFamily="34" charset="-120"/>
              </a:rPr>
              <a:t> </a:t>
            </a:r>
            <a:endParaRPr lang="en-US" sz="1250" dirty="0"/>
          </a:p>
          <a:p>
            <a:pPr indent="0" marL="0">
              <a:spcAft>
                <a:spcPts val="400"/>
              </a:spcAft>
              <a:buNone/>
            </a:pPr>
            <a:r>
              <a:rPr lang="en-US" sz="1200" i="1" dirty="0">
                <a:solidFill>
                  <a:srgbClr val="475569"/>
                </a:solidFill>
                <a:latin typeface="Arial" pitchFamily="34" charset="0"/>
                <a:ea typeface="Arial" pitchFamily="34" charset="-122"/>
                <a:cs typeface="Arial" pitchFamily="34" charset="-120"/>
              </a:rPr>
              <a:t>Pair with useActionState for return values, errors, and validation. Module 2.</a:t>
            </a:r>
            <a:endParaRPr lang="en-US" sz="1250" dirty="0"/>
          </a:p>
        </p:txBody>
      </p:sp>
      <p:sp>
        <p:nvSpPr>
          <p:cNvPr id="8" name="Text 6"/>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9" name="Text 7"/>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13 / 30</a:t>
            </a:r>
            <a:endParaRPr lang="en-US" sz="90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Four hooks worth circling</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We'll use each of them in Lab 1. Coverage in Module 2.</a:t>
            </a:r>
            <a:endParaRPr lang="en-US" sz="1400" dirty="0"/>
          </a:p>
        </p:txBody>
      </p:sp>
      <p:sp>
        <p:nvSpPr>
          <p:cNvPr id="5" name="Shape 3"/>
          <p:cNvSpPr/>
          <p:nvPr/>
        </p:nvSpPr>
        <p:spPr>
          <a:xfrm>
            <a:off x="777240" y="1554480"/>
            <a:ext cx="10607040" cy="868680"/>
          </a:xfrm>
          <a:prstGeom prst="rect">
            <a:avLst/>
          </a:prstGeom>
          <a:solidFill>
            <a:srgbClr val="FFFFFF"/>
          </a:solidFill>
          <a:ln w="12700">
            <a:solidFill>
              <a:srgbClr val="E2E8F0"/>
            </a:solidFill>
            <a:prstDash val="solid"/>
          </a:ln>
        </p:spPr>
      </p:sp>
      <p:sp>
        <p:nvSpPr>
          <p:cNvPr id="6" name="Text 4"/>
          <p:cNvSpPr/>
          <p:nvPr/>
        </p:nvSpPr>
        <p:spPr>
          <a:xfrm>
            <a:off x="960120" y="1719072"/>
            <a:ext cx="3657600" cy="548640"/>
          </a:xfrm>
          <a:prstGeom prst="rect">
            <a:avLst/>
          </a:prstGeom>
          <a:noFill/>
          <a:ln/>
        </p:spPr>
        <p:txBody>
          <a:bodyPr wrap="square" lIns="0" tIns="0" rIns="0" bIns="0" rtlCol="0" anchor="ctr"/>
          <a:lstStyle/>
          <a:p>
            <a:pPr indent="0" marL="0">
              <a:buNone/>
            </a:pPr>
            <a:r>
              <a:rPr lang="en-US" sz="1700" b="1" dirty="0">
                <a:solidFill>
                  <a:srgbClr val="00B8D9"/>
                </a:solidFill>
                <a:latin typeface="Courier New" pitchFamily="34" charset="0"/>
                <a:ea typeface="Courier New" pitchFamily="34" charset="-122"/>
                <a:cs typeface="Courier New" pitchFamily="34" charset="-120"/>
              </a:rPr>
              <a:t>use(promise)</a:t>
            </a:r>
            <a:endParaRPr lang="en-US" sz="1700" dirty="0"/>
          </a:p>
        </p:txBody>
      </p:sp>
      <p:sp>
        <p:nvSpPr>
          <p:cNvPr id="7" name="Text 5"/>
          <p:cNvSpPr/>
          <p:nvPr/>
        </p:nvSpPr>
        <p:spPr>
          <a:xfrm>
            <a:off x="4754880" y="1719072"/>
            <a:ext cx="6492240" cy="548640"/>
          </a:xfrm>
          <a:prstGeom prst="rect">
            <a:avLst/>
          </a:prstGeom>
          <a:noFill/>
          <a:ln/>
        </p:spPr>
        <p:txBody>
          <a:bodyPr wrap="square" lIns="0" tIns="0" rIns="0" bIns="0" rtlCol="0" anchor="ctr"/>
          <a:lstStyle/>
          <a:p>
            <a:pPr indent="0" marL="0">
              <a:buNone/>
            </a:pPr>
            <a:r>
              <a:rPr lang="en-US" sz="1300" dirty="0">
                <a:solidFill>
                  <a:srgbClr val="475569"/>
                </a:solidFill>
                <a:latin typeface="Arial" pitchFamily="34" charset="0"/>
                <a:ea typeface="Arial" pitchFamily="34" charset="-122"/>
                <a:cs typeface="Arial" pitchFamily="34" charset="-120"/>
              </a:rPr>
              <a:t>Suspends until a promise resolves. The new way to read async data.</a:t>
            </a:r>
            <a:endParaRPr lang="en-US" sz="1300" dirty="0"/>
          </a:p>
        </p:txBody>
      </p:sp>
      <p:sp>
        <p:nvSpPr>
          <p:cNvPr id="8" name="Shape 6"/>
          <p:cNvSpPr/>
          <p:nvPr/>
        </p:nvSpPr>
        <p:spPr>
          <a:xfrm>
            <a:off x="777240" y="2606040"/>
            <a:ext cx="10607040" cy="868680"/>
          </a:xfrm>
          <a:prstGeom prst="rect">
            <a:avLst/>
          </a:prstGeom>
          <a:solidFill>
            <a:srgbClr val="FFFFFF"/>
          </a:solidFill>
          <a:ln w="12700">
            <a:solidFill>
              <a:srgbClr val="E2E8F0"/>
            </a:solidFill>
            <a:prstDash val="solid"/>
          </a:ln>
        </p:spPr>
      </p:sp>
      <p:sp>
        <p:nvSpPr>
          <p:cNvPr id="9" name="Text 7"/>
          <p:cNvSpPr/>
          <p:nvPr/>
        </p:nvSpPr>
        <p:spPr>
          <a:xfrm>
            <a:off x="960120" y="2770632"/>
            <a:ext cx="3657600" cy="548640"/>
          </a:xfrm>
          <a:prstGeom prst="rect">
            <a:avLst/>
          </a:prstGeom>
          <a:noFill/>
          <a:ln/>
        </p:spPr>
        <p:txBody>
          <a:bodyPr wrap="square" lIns="0" tIns="0" rIns="0" bIns="0" rtlCol="0" anchor="ctr"/>
          <a:lstStyle/>
          <a:p>
            <a:pPr indent="0" marL="0">
              <a:buNone/>
            </a:pPr>
            <a:r>
              <a:rPr lang="en-US" sz="1700" b="1" dirty="0">
                <a:solidFill>
                  <a:srgbClr val="00B8D9"/>
                </a:solidFill>
                <a:latin typeface="Courier New" pitchFamily="34" charset="0"/>
                <a:ea typeface="Courier New" pitchFamily="34" charset="-122"/>
                <a:cs typeface="Courier New" pitchFamily="34" charset="-120"/>
              </a:rPr>
              <a:t>useActionState</a:t>
            </a:r>
            <a:endParaRPr lang="en-US" sz="1700" dirty="0"/>
          </a:p>
        </p:txBody>
      </p:sp>
      <p:sp>
        <p:nvSpPr>
          <p:cNvPr id="10" name="Text 8"/>
          <p:cNvSpPr/>
          <p:nvPr/>
        </p:nvSpPr>
        <p:spPr>
          <a:xfrm>
            <a:off x="4754880" y="2770632"/>
            <a:ext cx="6492240" cy="548640"/>
          </a:xfrm>
          <a:prstGeom prst="rect">
            <a:avLst/>
          </a:prstGeom>
          <a:noFill/>
          <a:ln/>
        </p:spPr>
        <p:txBody>
          <a:bodyPr wrap="square" lIns="0" tIns="0" rIns="0" bIns="0" rtlCol="0" anchor="ctr"/>
          <a:lstStyle/>
          <a:p>
            <a:pPr indent="0" marL="0">
              <a:buNone/>
            </a:pPr>
            <a:r>
              <a:rPr lang="en-US" sz="1300" dirty="0">
                <a:solidFill>
                  <a:srgbClr val="475569"/>
                </a:solidFill>
                <a:latin typeface="Arial" pitchFamily="34" charset="0"/>
                <a:ea typeface="Arial" pitchFamily="34" charset="-122"/>
                <a:cs typeface="Arial" pitchFamily="34" charset="-120"/>
              </a:rPr>
              <a:t>Pairs with Actions. Gives you state, the action, and a pending flag.</a:t>
            </a:r>
            <a:endParaRPr lang="en-US" sz="1300" dirty="0"/>
          </a:p>
        </p:txBody>
      </p:sp>
      <p:sp>
        <p:nvSpPr>
          <p:cNvPr id="11" name="Shape 9"/>
          <p:cNvSpPr/>
          <p:nvPr/>
        </p:nvSpPr>
        <p:spPr>
          <a:xfrm>
            <a:off x="777240" y="3657600"/>
            <a:ext cx="10607040" cy="868680"/>
          </a:xfrm>
          <a:prstGeom prst="rect">
            <a:avLst/>
          </a:prstGeom>
          <a:solidFill>
            <a:srgbClr val="FFFFFF"/>
          </a:solidFill>
          <a:ln w="12700">
            <a:solidFill>
              <a:srgbClr val="E2E8F0"/>
            </a:solidFill>
            <a:prstDash val="solid"/>
          </a:ln>
        </p:spPr>
      </p:sp>
      <p:sp>
        <p:nvSpPr>
          <p:cNvPr id="12" name="Text 10"/>
          <p:cNvSpPr/>
          <p:nvPr/>
        </p:nvSpPr>
        <p:spPr>
          <a:xfrm>
            <a:off x="960120" y="3822192"/>
            <a:ext cx="3657600" cy="548640"/>
          </a:xfrm>
          <a:prstGeom prst="rect">
            <a:avLst/>
          </a:prstGeom>
          <a:noFill/>
          <a:ln/>
        </p:spPr>
        <p:txBody>
          <a:bodyPr wrap="square" lIns="0" tIns="0" rIns="0" bIns="0" rtlCol="0" anchor="ctr"/>
          <a:lstStyle/>
          <a:p>
            <a:pPr indent="0" marL="0">
              <a:buNone/>
            </a:pPr>
            <a:r>
              <a:rPr lang="en-US" sz="1700" b="1" dirty="0">
                <a:solidFill>
                  <a:srgbClr val="00B8D9"/>
                </a:solidFill>
                <a:latin typeface="Courier New" pitchFamily="34" charset="0"/>
                <a:ea typeface="Courier New" pitchFamily="34" charset="-122"/>
                <a:cs typeface="Courier New" pitchFamily="34" charset="-120"/>
              </a:rPr>
              <a:t>useFormStatus</a:t>
            </a:r>
            <a:endParaRPr lang="en-US" sz="1700" dirty="0"/>
          </a:p>
        </p:txBody>
      </p:sp>
      <p:sp>
        <p:nvSpPr>
          <p:cNvPr id="13" name="Text 11"/>
          <p:cNvSpPr/>
          <p:nvPr/>
        </p:nvSpPr>
        <p:spPr>
          <a:xfrm>
            <a:off x="4754880" y="3822192"/>
            <a:ext cx="6492240" cy="548640"/>
          </a:xfrm>
          <a:prstGeom prst="rect">
            <a:avLst/>
          </a:prstGeom>
          <a:noFill/>
          <a:ln/>
        </p:spPr>
        <p:txBody>
          <a:bodyPr wrap="square" lIns="0" tIns="0" rIns="0" bIns="0" rtlCol="0" anchor="ctr"/>
          <a:lstStyle/>
          <a:p>
            <a:pPr indent="0" marL="0">
              <a:buNone/>
            </a:pPr>
            <a:r>
              <a:rPr lang="en-US" sz="1300" dirty="0">
                <a:solidFill>
                  <a:srgbClr val="475569"/>
                </a:solidFill>
                <a:latin typeface="Arial" pitchFamily="34" charset="0"/>
                <a:ea typeface="Arial" pitchFamily="34" charset="-122"/>
                <a:cs typeface="Arial" pitchFamily="34" charset="-120"/>
              </a:rPr>
              <a:t>Read pending/data/method from inside a child of &lt;form&gt;. No prop drilling.</a:t>
            </a:r>
            <a:endParaRPr lang="en-US" sz="1300" dirty="0"/>
          </a:p>
        </p:txBody>
      </p:sp>
      <p:sp>
        <p:nvSpPr>
          <p:cNvPr id="14" name="Shape 12"/>
          <p:cNvSpPr/>
          <p:nvPr/>
        </p:nvSpPr>
        <p:spPr>
          <a:xfrm>
            <a:off x="777240" y="4709160"/>
            <a:ext cx="10607040" cy="868680"/>
          </a:xfrm>
          <a:prstGeom prst="rect">
            <a:avLst/>
          </a:prstGeom>
          <a:solidFill>
            <a:srgbClr val="FFFFFF"/>
          </a:solidFill>
          <a:ln w="12700">
            <a:solidFill>
              <a:srgbClr val="E2E8F0"/>
            </a:solidFill>
            <a:prstDash val="solid"/>
          </a:ln>
        </p:spPr>
      </p:sp>
      <p:sp>
        <p:nvSpPr>
          <p:cNvPr id="15" name="Text 13"/>
          <p:cNvSpPr/>
          <p:nvPr/>
        </p:nvSpPr>
        <p:spPr>
          <a:xfrm>
            <a:off x="960120" y="4873752"/>
            <a:ext cx="3657600" cy="548640"/>
          </a:xfrm>
          <a:prstGeom prst="rect">
            <a:avLst/>
          </a:prstGeom>
          <a:noFill/>
          <a:ln/>
        </p:spPr>
        <p:txBody>
          <a:bodyPr wrap="square" lIns="0" tIns="0" rIns="0" bIns="0" rtlCol="0" anchor="ctr"/>
          <a:lstStyle/>
          <a:p>
            <a:pPr indent="0" marL="0">
              <a:buNone/>
            </a:pPr>
            <a:r>
              <a:rPr lang="en-US" sz="1700" b="1" dirty="0">
                <a:solidFill>
                  <a:srgbClr val="00B8D9"/>
                </a:solidFill>
                <a:latin typeface="Courier New" pitchFamily="34" charset="0"/>
                <a:ea typeface="Courier New" pitchFamily="34" charset="-122"/>
                <a:cs typeface="Courier New" pitchFamily="34" charset="-120"/>
              </a:rPr>
              <a:t>useOptimistic</a:t>
            </a:r>
            <a:endParaRPr lang="en-US" sz="1700" dirty="0"/>
          </a:p>
        </p:txBody>
      </p:sp>
      <p:sp>
        <p:nvSpPr>
          <p:cNvPr id="16" name="Text 14"/>
          <p:cNvSpPr/>
          <p:nvPr/>
        </p:nvSpPr>
        <p:spPr>
          <a:xfrm>
            <a:off x="4754880" y="4873752"/>
            <a:ext cx="6492240" cy="548640"/>
          </a:xfrm>
          <a:prstGeom prst="rect">
            <a:avLst/>
          </a:prstGeom>
          <a:noFill/>
          <a:ln/>
        </p:spPr>
        <p:txBody>
          <a:bodyPr wrap="square" lIns="0" tIns="0" rIns="0" bIns="0" rtlCol="0" anchor="ctr"/>
          <a:lstStyle/>
          <a:p>
            <a:pPr indent="0" marL="0">
              <a:buNone/>
            </a:pPr>
            <a:r>
              <a:rPr lang="en-US" sz="1300" dirty="0">
                <a:solidFill>
                  <a:srgbClr val="475569"/>
                </a:solidFill>
                <a:latin typeface="Arial" pitchFamily="34" charset="0"/>
                <a:ea typeface="Arial" pitchFamily="34" charset="-122"/>
                <a:cs typeface="Arial" pitchFamily="34" charset="-120"/>
              </a:rPr>
              <a:t>Show the eventual state immediately. Reverts on error.</a:t>
            </a:r>
            <a:endParaRPr lang="en-US" sz="1300" dirty="0"/>
          </a:p>
        </p:txBody>
      </p:sp>
      <p:sp>
        <p:nvSpPr>
          <p:cNvPr id="17"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18"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14 / 30</a:t>
            </a:r>
            <a:endParaRPr lang="en-US" sz="90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ref as a prop</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forwardRef is gone. ref behaves like any other prop in React 19.</a:t>
            </a:r>
            <a:endParaRPr lang="en-US" sz="1400" dirty="0"/>
          </a:p>
        </p:txBody>
      </p:sp>
      <p:sp>
        <p:nvSpPr>
          <p:cNvPr id="5" name="Text 3"/>
          <p:cNvSpPr/>
          <p:nvPr/>
        </p:nvSpPr>
        <p:spPr>
          <a:xfrm>
            <a:off x="777240" y="1554480"/>
            <a:ext cx="5349240" cy="365760"/>
          </a:xfrm>
          <a:prstGeom prst="rect">
            <a:avLst/>
          </a:prstGeom>
          <a:noFill/>
          <a:ln/>
        </p:spPr>
        <p:txBody>
          <a:bodyPr wrap="square" lIns="0" tIns="0" rIns="0" bIns="0" rtlCol="0" anchor="ctr"/>
          <a:lstStyle/>
          <a:p>
            <a:pPr indent="0" marL="0">
              <a:buNone/>
            </a:pPr>
            <a:r>
              <a:rPr lang="en-US" sz="1400" b="1" dirty="0">
                <a:solidFill>
                  <a:srgbClr val="DC2626"/>
                </a:solidFill>
                <a:latin typeface="Trebuchet MS" pitchFamily="34" charset="0"/>
                <a:ea typeface="Trebuchet MS" pitchFamily="34" charset="-122"/>
                <a:cs typeface="Trebuchet MS" pitchFamily="34" charset="-120"/>
              </a:rPr>
              <a:t>Before — React 18</a:t>
            </a:r>
            <a:endParaRPr lang="en-US" sz="1400" dirty="0"/>
          </a:p>
        </p:txBody>
      </p:sp>
      <p:sp>
        <p:nvSpPr>
          <p:cNvPr id="6" name="Shape 4"/>
          <p:cNvSpPr/>
          <p:nvPr/>
        </p:nvSpPr>
        <p:spPr>
          <a:xfrm>
            <a:off x="777240" y="1965960"/>
            <a:ext cx="5349240" cy="2743200"/>
          </a:xfrm>
          <a:prstGeom prst="rect">
            <a:avLst/>
          </a:prstGeom>
          <a:solidFill>
            <a:srgbClr val="1E2A47"/>
          </a:solidFill>
          <a:ln w="12700">
            <a:solidFill>
              <a:srgbClr val="1E2A47"/>
            </a:solidFill>
            <a:prstDash val="solid"/>
          </a:ln>
        </p:spPr>
      </p:sp>
      <p:sp>
        <p:nvSpPr>
          <p:cNvPr id="7" name="Text 5"/>
          <p:cNvSpPr/>
          <p:nvPr/>
        </p:nvSpPr>
        <p:spPr>
          <a:xfrm>
            <a:off x="960120" y="2103120"/>
            <a:ext cx="5074920" cy="2468880"/>
          </a:xfrm>
          <a:prstGeom prst="rect">
            <a:avLst/>
          </a:prstGeom>
          <a:noFill/>
          <a:ln/>
        </p:spPr>
        <p:txBody>
          <a:bodyPr wrap="square" lIns="0" tIns="0" rIns="0" bIns="0" rtlCol="0" anchor="t"/>
          <a:lstStyle/>
          <a:p>
            <a:pPr indent="0" marL="0">
              <a:buNone/>
            </a:pPr>
            <a:r>
              <a:rPr lang="en-US" sz="1200" dirty="0">
                <a:solidFill>
                  <a:srgbClr val="FFFFFF"/>
                </a:solidFill>
                <a:latin typeface="Courier New" pitchFamily="34" charset="0"/>
                <a:ea typeface="Courier New" pitchFamily="34" charset="-122"/>
                <a:cs typeface="Courier New" pitchFamily="34" charset="-120"/>
              </a:rPr>
              <a:t>const Input = </a:t>
            </a:r>
            <a:pPr indent="0" marL="0">
              <a:buNone/>
            </a:pPr>
            <a:r>
              <a:rPr lang="en-US" sz="1200" dirty="0">
                <a:solidFill>
                  <a:srgbClr val="DCDCAA"/>
                </a:solidFill>
                <a:latin typeface="Courier New" pitchFamily="34" charset="0"/>
                <a:ea typeface="Courier New" pitchFamily="34" charset="-122"/>
                <a:cs typeface="Courier New" pitchFamily="34" charset="-120"/>
              </a:rPr>
              <a:t>forwardRef</a:t>
            </a:r>
            <a:pPr indent="0" marL="0">
              <a:buNone/>
            </a:pPr>
            <a:r>
              <a:rPr lang="en-US" sz="1200" dirty="0">
                <a:solidFill>
                  <a:srgbClr val="FFFFFF"/>
                </a:solidFill>
                <a:latin typeface="Courier New" pitchFamily="34" charset="0"/>
                <a:ea typeface="Courier New" pitchFamily="34" charset="-122"/>
                <a:cs typeface="Courier New" pitchFamily="34" charset="-120"/>
              </a:rPr>
              <a:t>(
  (props, ref) =&gt; (
    &lt;input ref={ref} ...props /&gt;
  )
);
</a:t>
            </a:r>
            <a:endParaRPr lang="en-US" sz="1200" dirty="0"/>
          </a:p>
        </p:txBody>
      </p:sp>
      <p:sp>
        <p:nvSpPr>
          <p:cNvPr id="8" name="Text 6"/>
          <p:cNvSpPr/>
          <p:nvPr/>
        </p:nvSpPr>
        <p:spPr>
          <a:xfrm>
            <a:off x="6355080" y="1554480"/>
            <a:ext cx="5029200" cy="365760"/>
          </a:xfrm>
          <a:prstGeom prst="rect">
            <a:avLst/>
          </a:prstGeom>
          <a:noFill/>
          <a:ln/>
        </p:spPr>
        <p:txBody>
          <a:bodyPr wrap="square" lIns="0" tIns="0" rIns="0" bIns="0" rtlCol="0" anchor="ctr"/>
          <a:lstStyle/>
          <a:p>
            <a:pPr indent="0" marL="0">
              <a:buNone/>
            </a:pPr>
            <a:r>
              <a:rPr lang="en-US" sz="1400" b="1" dirty="0">
                <a:solidFill>
                  <a:srgbClr val="059669"/>
                </a:solidFill>
                <a:latin typeface="Trebuchet MS" pitchFamily="34" charset="0"/>
                <a:ea typeface="Trebuchet MS" pitchFamily="34" charset="-122"/>
                <a:cs typeface="Trebuchet MS" pitchFamily="34" charset="-120"/>
              </a:rPr>
              <a:t>After — React 19</a:t>
            </a:r>
            <a:endParaRPr lang="en-US" sz="1400" dirty="0"/>
          </a:p>
        </p:txBody>
      </p:sp>
      <p:sp>
        <p:nvSpPr>
          <p:cNvPr id="9" name="Shape 7"/>
          <p:cNvSpPr/>
          <p:nvPr/>
        </p:nvSpPr>
        <p:spPr>
          <a:xfrm>
            <a:off x="6355080" y="1965960"/>
            <a:ext cx="5029200" cy="2743200"/>
          </a:xfrm>
          <a:prstGeom prst="rect">
            <a:avLst/>
          </a:prstGeom>
          <a:solidFill>
            <a:srgbClr val="1E2A47"/>
          </a:solidFill>
          <a:ln w="12700">
            <a:solidFill>
              <a:srgbClr val="1E2A47"/>
            </a:solidFill>
            <a:prstDash val="solid"/>
          </a:ln>
        </p:spPr>
      </p:sp>
      <p:sp>
        <p:nvSpPr>
          <p:cNvPr id="10" name="Text 8"/>
          <p:cNvSpPr/>
          <p:nvPr/>
        </p:nvSpPr>
        <p:spPr>
          <a:xfrm>
            <a:off x="6537960" y="2103120"/>
            <a:ext cx="4754880" cy="2468880"/>
          </a:xfrm>
          <a:prstGeom prst="rect">
            <a:avLst/>
          </a:prstGeom>
          <a:noFill/>
          <a:ln/>
        </p:spPr>
        <p:txBody>
          <a:bodyPr wrap="square" lIns="0" tIns="0" rIns="0" bIns="0" rtlCol="0" anchor="t"/>
          <a:lstStyle/>
          <a:p>
            <a:pPr indent="0" marL="0">
              <a:buNone/>
            </a:pPr>
            <a:r>
              <a:rPr lang="en-US" sz="1200" dirty="0">
                <a:solidFill>
                  <a:srgbClr val="DCDCAA"/>
                </a:solidFill>
                <a:latin typeface="Courier New" pitchFamily="34" charset="0"/>
                <a:ea typeface="Courier New" pitchFamily="34" charset="-122"/>
                <a:cs typeface="Courier New" pitchFamily="34" charset="-120"/>
              </a:rPr>
              <a:t>function Input</a:t>
            </a:r>
            <a:pPr indent="0" marL="0">
              <a:buNone/>
            </a:pPr>
            <a:r>
              <a:rPr lang="en-US" sz="1200" dirty="0">
                <a:solidFill>
                  <a:srgbClr val="FFFFFF"/>
                </a:solidFill>
                <a:latin typeface="Courier New" pitchFamily="34" charset="0"/>
                <a:ea typeface="Courier New" pitchFamily="34" charset="-122"/>
                <a:cs typeface="Courier New" pitchFamily="34" charset="-120"/>
              </a:rPr>
              <a:t>({ ref, ...props }) {</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return &lt;input ref={ref} </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{...props}</a:t>
            </a:r>
            <a:pPr indent="0" marL="0">
              <a:buNone/>
            </a:pPr>
            <a:r>
              <a:rPr lang="en-US" sz="1200" dirty="0">
                <a:solidFill>
                  <a:srgbClr val="FFFFFF"/>
                </a:solidFill>
                <a:latin typeface="Courier New" pitchFamily="34" charset="0"/>
                <a:ea typeface="Courier New" pitchFamily="34" charset="-122"/>
                <a:cs typeface="Courier New" pitchFamily="34" charset="-120"/>
              </a:rPr>
              <a:t> /&gt;;
}
</a:t>
            </a:r>
            <a:endParaRPr lang="en-US" sz="1200" dirty="0"/>
          </a:p>
        </p:txBody>
      </p:sp>
      <p:sp>
        <p:nvSpPr>
          <p:cNvPr id="11" name="Shape 9"/>
          <p:cNvSpPr/>
          <p:nvPr/>
        </p:nvSpPr>
        <p:spPr>
          <a:xfrm>
            <a:off x="777240" y="5029200"/>
            <a:ext cx="10607040" cy="1188720"/>
          </a:xfrm>
          <a:prstGeom prst="rect">
            <a:avLst/>
          </a:prstGeom>
          <a:solidFill>
            <a:srgbClr val="CBF1F6"/>
          </a:solidFill>
          <a:ln w="12700">
            <a:solidFill>
              <a:srgbClr val="CBF1F6"/>
            </a:solidFill>
            <a:prstDash val="solid"/>
          </a:ln>
        </p:spPr>
      </p:sp>
      <p:pic>
        <p:nvPicPr>
          <p:cNvPr id="12" name="Image 0" descr="preencoded.png">    </p:cNvPr>
          <p:cNvPicPr>
            <a:picLocks noChangeAspect="1"/>
          </p:cNvPicPr>
          <p:nvPr/>
        </p:nvPicPr>
        <p:blipFill>
          <a:blip r:embed="rId1"/>
          <a:stretch>
            <a:fillRect/>
          </a:stretch>
        </p:blipFill>
        <p:spPr>
          <a:xfrm>
            <a:off x="1005840" y="5349240"/>
            <a:ext cx="502920" cy="502920"/>
          </a:xfrm>
          <a:prstGeom prst="rect">
            <a:avLst/>
          </a:prstGeom>
        </p:spPr>
      </p:pic>
      <p:sp>
        <p:nvSpPr>
          <p:cNvPr id="13" name="Text 10"/>
          <p:cNvSpPr/>
          <p:nvPr/>
        </p:nvSpPr>
        <p:spPr>
          <a:xfrm>
            <a:off x="1691640" y="5074920"/>
            <a:ext cx="9601200" cy="1097280"/>
          </a:xfrm>
          <a:prstGeom prst="rect">
            <a:avLst/>
          </a:prstGeom>
          <a:noFill/>
          <a:ln/>
        </p:spPr>
        <p:txBody>
          <a:bodyPr wrap="square" lIns="0" tIns="0" rIns="0" bIns="0" rtlCol="0" anchor="ctr"/>
          <a:lstStyle/>
          <a:p>
            <a:pPr indent="0" marL="0">
              <a:buNone/>
            </a:pPr>
            <a:r>
              <a:rPr lang="en-US" sz="1300" i="1" dirty="0">
                <a:solidFill>
                  <a:srgbClr val="0F172A"/>
                </a:solidFill>
                <a:latin typeface="Arial" pitchFamily="34" charset="0"/>
                <a:ea typeface="Arial" pitchFamily="34" charset="-122"/>
                <a:cs typeface="Arial" pitchFamily="34" charset="-120"/>
              </a:rPr>
              <a:t>Codemod available — but legacy forwardRef still works through a deprecation warning. Plan, don't panic.</a:t>
            </a:r>
            <a:endParaRPr lang="en-US" sz="1300" dirty="0"/>
          </a:p>
        </p:txBody>
      </p:sp>
      <p:sp>
        <p:nvSpPr>
          <p:cNvPr id="14" name="Text 11"/>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15" name="Text 12"/>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15 / 30</a:t>
            </a:r>
            <a:endParaRPr lang="en-US" sz="90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Server Components — production-ready</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Components that run on the server only. Zero JS shipped to the browser.</a:t>
            </a:r>
            <a:endParaRPr lang="en-US" sz="1400" dirty="0"/>
          </a:p>
        </p:txBody>
      </p:sp>
      <p:sp>
        <p:nvSpPr>
          <p:cNvPr id="5" name="Shape 3"/>
          <p:cNvSpPr/>
          <p:nvPr/>
        </p:nvSpPr>
        <p:spPr>
          <a:xfrm>
            <a:off x="777240" y="1691640"/>
            <a:ext cx="5349240" cy="3931920"/>
          </a:xfrm>
          <a:prstGeom prst="rect">
            <a:avLst/>
          </a:prstGeom>
          <a:solidFill>
            <a:srgbClr val="1E2A47"/>
          </a:solidFill>
          <a:ln w="12700">
            <a:solidFill>
              <a:srgbClr val="1E2A47"/>
            </a:solidFill>
            <a:prstDash val="solid"/>
          </a:ln>
        </p:spPr>
      </p:sp>
      <p:pic>
        <p:nvPicPr>
          <p:cNvPr id="6" name="Image 0" descr="preencoded.png">    </p:cNvPr>
          <p:cNvPicPr>
            <a:picLocks noChangeAspect="1"/>
          </p:cNvPicPr>
          <p:nvPr/>
        </p:nvPicPr>
        <p:blipFill>
          <a:blip r:embed="rId1"/>
          <a:stretch>
            <a:fillRect/>
          </a:stretch>
        </p:blipFill>
        <p:spPr>
          <a:xfrm>
            <a:off x="1005840" y="1874520"/>
            <a:ext cx="548640" cy="548640"/>
          </a:xfrm>
          <a:prstGeom prst="rect">
            <a:avLst/>
          </a:prstGeom>
        </p:spPr>
      </p:pic>
      <p:sp>
        <p:nvSpPr>
          <p:cNvPr id="7" name="Text 4"/>
          <p:cNvSpPr/>
          <p:nvPr/>
        </p:nvSpPr>
        <p:spPr>
          <a:xfrm>
            <a:off x="1691640" y="1920240"/>
            <a:ext cx="4114800" cy="457200"/>
          </a:xfrm>
          <a:prstGeom prst="rect">
            <a:avLst/>
          </a:prstGeom>
          <a:noFill/>
          <a:ln/>
        </p:spPr>
        <p:txBody>
          <a:bodyPr wrap="square" lIns="0" tIns="0" rIns="0" bIns="0" rtlCol="0" anchor="ctr"/>
          <a:lstStyle/>
          <a:p>
            <a:pPr indent="0" marL="0">
              <a:buNone/>
            </a:pPr>
            <a:r>
              <a:rPr lang="en-US" sz="1600" b="1" dirty="0">
                <a:solidFill>
                  <a:srgbClr val="00B8D9"/>
                </a:solidFill>
                <a:latin typeface="Trebuchet MS" pitchFamily="34" charset="0"/>
                <a:ea typeface="Trebuchet MS" pitchFamily="34" charset="-122"/>
                <a:cs typeface="Trebuchet MS" pitchFamily="34" charset="-120"/>
              </a:rPr>
              <a:t>Server Component</a:t>
            </a:r>
            <a:endParaRPr lang="en-US" sz="1600" dirty="0"/>
          </a:p>
        </p:txBody>
      </p:sp>
      <p:sp>
        <p:nvSpPr>
          <p:cNvPr id="8" name="Text 5"/>
          <p:cNvSpPr/>
          <p:nvPr/>
        </p:nvSpPr>
        <p:spPr>
          <a:xfrm>
            <a:off x="1005840" y="2606040"/>
            <a:ext cx="4937760" cy="29260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Runs on the server only</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Can fetch directly — DB, file system, API</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Imports stay on the server</a:t>
            </a:r>
            <a:endParaRPr lang="en-US" sz="1250" dirty="0"/>
          </a:p>
          <a:p>
            <a:pPr marL="342900" indent="-342900">
              <a:spcAft>
                <a:spcPts val="600"/>
              </a:spcAft>
              <a:buSzPct val="100000"/>
              <a:buChar char="•"/>
            </a:pPr>
            <a:r>
              <a:rPr lang="en-US" sz="1250" dirty="0">
                <a:solidFill>
                  <a:srgbClr val="FFFFFF"/>
                </a:solidFill>
                <a:latin typeface="Arial" pitchFamily="34" charset="0"/>
                <a:ea typeface="Arial" pitchFamily="34" charset="-122"/>
                <a:cs typeface="Arial" pitchFamily="34" charset="-120"/>
              </a:rPr>
              <a:t>No useState, useEffect, or browser APIs</a:t>
            </a:r>
            <a:endParaRPr lang="en-US" sz="1250" dirty="0"/>
          </a:p>
        </p:txBody>
      </p:sp>
      <p:sp>
        <p:nvSpPr>
          <p:cNvPr id="9" name="Shape 6"/>
          <p:cNvSpPr/>
          <p:nvPr/>
        </p:nvSpPr>
        <p:spPr>
          <a:xfrm>
            <a:off x="6355080" y="1691640"/>
            <a:ext cx="5029200" cy="3931920"/>
          </a:xfrm>
          <a:prstGeom prst="rect">
            <a:avLst/>
          </a:prstGeom>
          <a:solidFill>
            <a:srgbClr val="FFFFFF"/>
          </a:solidFill>
          <a:ln w="12700">
            <a:solidFill>
              <a:srgbClr val="E2E8F0"/>
            </a:solidFill>
            <a:prstDash val="solid"/>
          </a:ln>
        </p:spPr>
      </p:sp>
      <p:pic>
        <p:nvPicPr>
          <p:cNvPr id="10" name="Image 1" descr="preencoded.png">    </p:cNvPr>
          <p:cNvPicPr>
            <a:picLocks noChangeAspect="1"/>
          </p:cNvPicPr>
          <p:nvPr/>
        </p:nvPicPr>
        <p:blipFill>
          <a:blip r:embed="rId2"/>
          <a:stretch>
            <a:fillRect/>
          </a:stretch>
        </p:blipFill>
        <p:spPr>
          <a:xfrm>
            <a:off x="6583680" y="1874520"/>
            <a:ext cx="548640" cy="548640"/>
          </a:xfrm>
          <a:prstGeom prst="rect">
            <a:avLst/>
          </a:prstGeom>
        </p:spPr>
      </p:pic>
      <p:sp>
        <p:nvSpPr>
          <p:cNvPr id="11" name="Text 7"/>
          <p:cNvSpPr/>
          <p:nvPr/>
        </p:nvSpPr>
        <p:spPr>
          <a:xfrm>
            <a:off x="7269480" y="1920240"/>
            <a:ext cx="4023360" cy="457200"/>
          </a:xfrm>
          <a:prstGeom prst="rect">
            <a:avLst/>
          </a:prstGeom>
          <a:noFill/>
          <a:ln/>
        </p:spPr>
        <p:txBody>
          <a:bodyPr wrap="square" lIns="0" tIns="0" rIns="0" bIns="0" rtlCol="0" anchor="ctr"/>
          <a:lstStyle/>
          <a:p>
            <a:pPr indent="0" marL="0">
              <a:buNone/>
            </a:pPr>
            <a:r>
              <a:rPr lang="en-US" sz="1600" b="1" dirty="0">
                <a:solidFill>
                  <a:srgbClr val="0F172A"/>
                </a:solidFill>
                <a:latin typeface="Trebuchet MS" pitchFamily="34" charset="0"/>
                <a:ea typeface="Trebuchet MS" pitchFamily="34" charset="-122"/>
                <a:cs typeface="Trebuchet MS" pitchFamily="34" charset="-120"/>
              </a:rPr>
              <a:t>Client Component</a:t>
            </a:r>
            <a:endParaRPr lang="en-US" sz="1600" dirty="0"/>
          </a:p>
        </p:txBody>
      </p:sp>
      <p:sp>
        <p:nvSpPr>
          <p:cNvPr id="12" name="Text 8"/>
          <p:cNvSpPr/>
          <p:nvPr/>
        </p:nvSpPr>
        <p:spPr>
          <a:xfrm>
            <a:off x="6583680" y="2606040"/>
            <a:ext cx="4663440" cy="292608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Marked with 'use client' directive</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Hydrates in the browser</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Interactive — handlers, state, effects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Receives props (incl. children) from Server Components</a:t>
            </a:r>
            <a:endParaRPr lang="en-US" sz="1250" dirty="0"/>
          </a:p>
        </p:txBody>
      </p:sp>
      <p:sp>
        <p:nvSpPr>
          <p:cNvPr id="13" name="Text 9"/>
          <p:cNvSpPr/>
          <p:nvPr/>
        </p:nvSpPr>
        <p:spPr>
          <a:xfrm>
            <a:off x="777240" y="5760720"/>
            <a:ext cx="10607040" cy="365760"/>
          </a:xfrm>
          <a:prstGeom prst="rect">
            <a:avLst/>
          </a:prstGeom>
          <a:noFill/>
          <a:ln/>
        </p:spPr>
        <p:txBody>
          <a:bodyPr wrap="square" lIns="0" tIns="0" rIns="0" bIns="0" rtlCol="0" anchor="ctr"/>
          <a:lstStyle/>
          <a:p>
            <a:pPr indent="0" marL="0">
              <a:buNone/>
            </a:pPr>
            <a:r>
              <a:rPr lang="en-US" sz="1200" i="1" dirty="0">
                <a:solidFill>
                  <a:srgbClr val="475569"/>
                </a:solidFill>
                <a:latin typeface="Arial" pitchFamily="34" charset="0"/>
                <a:ea typeface="Arial" pitchFamily="34" charset="-122"/>
                <a:cs typeface="Arial" pitchFamily="34" charset="-120"/>
              </a:rPr>
              <a:t>Module 6 covers Server Components in depth, including the boundary mistakes AI tools love to make.</a:t>
            </a:r>
            <a:endParaRPr lang="en-US" sz="1200" dirty="0"/>
          </a:p>
        </p:txBody>
      </p:sp>
      <p:sp>
        <p:nvSpPr>
          <p:cNvPr id="14" name="Text 10"/>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15" name="Text 11"/>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16 / 30</a:t>
            </a:r>
            <a:endParaRPr lang="en-US" sz="90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Two smaller wins worth knowing</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Asset preloading and document metadata are now first-class in React 19.</a:t>
            </a:r>
            <a:endParaRPr lang="en-US" sz="1400" dirty="0"/>
          </a:p>
        </p:txBody>
      </p:sp>
      <p:sp>
        <p:nvSpPr>
          <p:cNvPr id="5" name="Shape 3"/>
          <p:cNvSpPr/>
          <p:nvPr/>
        </p:nvSpPr>
        <p:spPr>
          <a:xfrm>
            <a:off x="777240" y="1691640"/>
            <a:ext cx="5349240" cy="420624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1005840" y="1920240"/>
            <a:ext cx="502920" cy="502920"/>
          </a:xfrm>
          <a:prstGeom prst="rect">
            <a:avLst/>
          </a:prstGeom>
        </p:spPr>
      </p:pic>
      <p:sp>
        <p:nvSpPr>
          <p:cNvPr id="7" name="Text 4"/>
          <p:cNvSpPr/>
          <p:nvPr/>
        </p:nvSpPr>
        <p:spPr>
          <a:xfrm>
            <a:off x="1645920" y="1874520"/>
            <a:ext cx="4297680" cy="502920"/>
          </a:xfrm>
          <a:prstGeom prst="rect">
            <a:avLst/>
          </a:prstGeom>
          <a:noFill/>
          <a:ln/>
        </p:spPr>
        <p:txBody>
          <a:bodyPr wrap="square" lIns="0" tIns="0" rIns="0" bIns="0" rtlCol="0" anchor="ctr"/>
          <a:lstStyle/>
          <a:p>
            <a:pPr indent="0" marL="0">
              <a:buNone/>
            </a:pPr>
            <a:r>
              <a:rPr lang="en-US" sz="1600" b="1" dirty="0">
                <a:solidFill>
                  <a:srgbClr val="0F172A"/>
                </a:solidFill>
                <a:latin typeface="Trebuchet MS" pitchFamily="34" charset="0"/>
                <a:ea typeface="Trebuchet MS" pitchFamily="34" charset="-122"/>
                <a:cs typeface="Trebuchet MS" pitchFamily="34" charset="-120"/>
              </a:rPr>
              <a:t>Asset preloading</a:t>
            </a:r>
            <a:endParaRPr lang="en-US" sz="1600" dirty="0"/>
          </a:p>
        </p:txBody>
      </p:sp>
      <p:sp>
        <p:nvSpPr>
          <p:cNvPr id="8" name="Text 5"/>
          <p:cNvSpPr/>
          <p:nvPr/>
        </p:nvSpPr>
        <p:spPr>
          <a:xfrm>
            <a:off x="1005840" y="2606040"/>
            <a:ext cx="5029200" cy="1188720"/>
          </a:xfrm>
          <a:prstGeom prst="rect">
            <a:avLst/>
          </a:prstGeom>
          <a:noFill/>
          <a:ln/>
        </p:spPr>
        <p:txBody>
          <a:bodyPr wrap="square" lIns="0" tIns="0" rIns="0" bIns="0" rtlCol="0" anchor="ctr"/>
          <a:lstStyle/>
          <a:p>
            <a:pPr indent="0" marL="0">
              <a:buNone/>
            </a:pPr>
            <a:r>
              <a:rPr lang="en-US" sz="1300" dirty="0">
                <a:solidFill>
                  <a:srgbClr val="00B8D9"/>
                </a:solidFill>
                <a:latin typeface="Courier New" pitchFamily="34" charset="0"/>
                <a:ea typeface="Courier New" pitchFamily="34" charset="-122"/>
                <a:cs typeface="Courier New" pitchFamily="34" charset="-120"/>
              </a:rPr>
              <a:t>preload(</a:t>
            </a:r>
            <a:pPr indent="0" marL="0">
              <a:buNone/>
            </a:pPr>
            <a:r>
              <a:rPr lang="en-US" sz="1300" dirty="0">
                <a:solidFill>
                  <a:srgbClr val="475569"/>
                </a:solidFill>
                <a:latin typeface="Courier New" pitchFamily="34" charset="0"/>
                <a:ea typeface="Courier New" pitchFamily="34" charset="-122"/>
                <a:cs typeface="Courier New" pitchFamily="34" charset="-120"/>
              </a:rPr>
              <a:t>url, options</a:t>
            </a:r>
            <a:pPr indent="0" marL="0">
              <a:buNone/>
            </a:pPr>
            <a:r>
              <a:rPr lang="en-US" sz="1300" dirty="0">
                <a:solidFill>
                  <a:srgbClr val="00B8D9"/>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00B8D9"/>
                </a:solidFill>
                <a:latin typeface="Courier New" pitchFamily="34" charset="0"/>
                <a:ea typeface="Courier New" pitchFamily="34" charset="-122"/>
                <a:cs typeface="Courier New" pitchFamily="34" charset="-120"/>
              </a:rPr>
              <a:t>preinit(</a:t>
            </a:r>
            <a:pPr indent="0" marL="0">
              <a:buNone/>
            </a:pPr>
            <a:r>
              <a:rPr lang="en-US" sz="1300" dirty="0">
                <a:solidFill>
                  <a:srgbClr val="475569"/>
                </a:solidFill>
                <a:latin typeface="Courier New" pitchFamily="34" charset="0"/>
                <a:ea typeface="Courier New" pitchFamily="34" charset="-122"/>
                <a:cs typeface="Courier New" pitchFamily="34" charset="-120"/>
              </a:rPr>
              <a:t>url, options</a:t>
            </a:r>
            <a:pPr indent="0" marL="0">
              <a:buNone/>
            </a:pPr>
            <a:r>
              <a:rPr lang="en-US" sz="1300" dirty="0">
                <a:solidFill>
                  <a:srgbClr val="00B8D9"/>
                </a:solidFill>
                <a:latin typeface="Courier New" pitchFamily="34" charset="0"/>
                <a:ea typeface="Courier New" pitchFamily="34" charset="-122"/>
                <a:cs typeface="Courier New" pitchFamily="34" charset="-120"/>
              </a:rPr>
              <a:t>)</a:t>
            </a:r>
            <a:endParaRPr lang="en-US" sz="1300" dirty="0"/>
          </a:p>
          <a:p>
            <a:pPr indent="0" marL="0">
              <a:buNone/>
            </a:pPr>
            <a:r>
              <a:rPr lang="en-US" sz="1300" dirty="0">
                <a:solidFill>
                  <a:srgbClr val="00B8D9"/>
                </a:solidFill>
                <a:latin typeface="Courier New" pitchFamily="34" charset="0"/>
                <a:ea typeface="Courier New" pitchFamily="34" charset="-122"/>
                <a:cs typeface="Courier New" pitchFamily="34" charset="-120"/>
              </a:rPr>
              <a:t>preconnect(</a:t>
            </a:r>
            <a:pPr indent="0" marL="0">
              <a:buNone/>
            </a:pPr>
            <a:r>
              <a:rPr lang="en-US" sz="1300" dirty="0">
                <a:solidFill>
                  <a:srgbClr val="475569"/>
                </a:solidFill>
                <a:latin typeface="Courier New" pitchFamily="34" charset="0"/>
                <a:ea typeface="Courier New" pitchFamily="34" charset="-122"/>
                <a:cs typeface="Courier New" pitchFamily="34" charset="-120"/>
              </a:rPr>
              <a:t>url</a:t>
            </a:r>
            <a:pPr indent="0" marL="0">
              <a:buNone/>
            </a:pPr>
            <a:r>
              <a:rPr lang="en-US" sz="1300" dirty="0">
                <a:solidFill>
                  <a:srgbClr val="00B8D9"/>
                </a:solidFill>
                <a:latin typeface="Courier New" pitchFamily="34" charset="0"/>
                <a:ea typeface="Courier New" pitchFamily="34" charset="-122"/>
                <a:cs typeface="Courier New" pitchFamily="34" charset="-120"/>
              </a:rPr>
              <a:t>)</a:t>
            </a:r>
            <a:endParaRPr lang="en-US" sz="1300" dirty="0"/>
          </a:p>
        </p:txBody>
      </p:sp>
      <p:sp>
        <p:nvSpPr>
          <p:cNvPr id="9" name="Text 6"/>
          <p:cNvSpPr/>
          <p:nvPr/>
        </p:nvSpPr>
        <p:spPr>
          <a:xfrm>
            <a:off x="1005840" y="3886200"/>
            <a:ext cx="5029200" cy="182880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Move resource-loading hints into the components that actually need them — no more &lt;Helmet&gt; or framework-specific shenanigans.</a:t>
            </a:r>
            <a:endParaRPr lang="en-US" sz="1250" dirty="0"/>
          </a:p>
        </p:txBody>
      </p:sp>
      <p:sp>
        <p:nvSpPr>
          <p:cNvPr id="10" name="Shape 7"/>
          <p:cNvSpPr/>
          <p:nvPr/>
        </p:nvSpPr>
        <p:spPr>
          <a:xfrm>
            <a:off x="6355080" y="1691640"/>
            <a:ext cx="5029200" cy="4206240"/>
          </a:xfrm>
          <a:prstGeom prst="rect">
            <a:avLst/>
          </a:prstGeom>
          <a:solidFill>
            <a:srgbClr val="FFFFFF"/>
          </a:solidFill>
          <a:ln w="12700">
            <a:solidFill>
              <a:srgbClr val="E2E8F0"/>
            </a:solidFill>
            <a:prstDash val="solid"/>
          </a:ln>
        </p:spPr>
      </p:sp>
      <p:pic>
        <p:nvPicPr>
          <p:cNvPr id="11" name="Image 1" descr="preencoded.png">    </p:cNvPr>
          <p:cNvPicPr>
            <a:picLocks noChangeAspect="1"/>
          </p:cNvPicPr>
          <p:nvPr/>
        </p:nvPicPr>
        <p:blipFill>
          <a:blip r:embed="rId2"/>
          <a:stretch>
            <a:fillRect/>
          </a:stretch>
        </p:blipFill>
        <p:spPr>
          <a:xfrm>
            <a:off x="6583680" y="1920240"/>
            <a:ext cx="502920" cy="502920"/>
          </a:xfrm>
          <a:prstGeom prst="rect">
            <a:avLst/>
          </a:prstGeom>
        </p:spPr>
      </p:pic>
      <p:sp>
        <p:nvSpPr>
          <p:cNvPr id="12" name="Text 8"/>
          <p:cNvSpPr/>
          <p:nvPr/>
        </p:nvSpPr>
        <p:spPr>
          <a:xfrm>
            <a:off x="7223760" y="1874520"/>
            <a:ext cx="4023360" cy="502920"/>
          </a:xfrm>
          <a:prstGeom prst="rect">
            <a:avLst/>
          </a:prstGeom>
          <a:noFill/>
          <a:ln/>
        </p:spPr>
        <p:txBody>
          <a:bodyPr wrap="square" lIns="0" tIns="0" rIns="0" bIns="0" rtlCol="0" anchor="ctr"/>
          <a:lstStyle/>
          <a:p>
            <a:pPr indent="0" marL="0">
              <a:buNone/>
            </a:pPr>
            <a:r>
              <a:rPr lang="en-US" sz="1600" b="1" dirty="0">
                <a:solidFill>
                  <a:srgbClr val="0F172A"/>
                </a:solidFill>
                <a:latin typeface="Trebuchet MS" pitchFamily="34" charset="0"/>
                <a:ea typeface="Trebuchet MS" pitchFamily="34" charset="-122"/>
                <a:cs typeface="Trebuchet MS" pitchFamily="34" charset="-120"/>
              </a:rPr>
              <a:t>Document metadata</a:t>
            </a:r>
            <a:endParaRPr lang="en-US" sz="1600" dirty="0"/>
          </a:p>
        </p:txBody>
      </p:sp>
      <p:sp>
        <p:nvSpPr>
          <p:cNvPr id="13" name="Shape 9"/>
          <p:cNvSpPr/>
          <p:nvPr/>
        </p:nvSpPr>
        <p:spPr>
          <a:xfrm>
            <a:off x="6583680" y="2606040"/>
            <a:ext cx="4663440" cy="1188720"/>
          </a:xfrm>
          <a:prstGeom prst="rect">
            <a:avLst/>
          </a:prstGeom>
          <a:solidFill>
            <a:srgbClr val="1E2A47"/>
          </a:solidFill>
          <a:ln w="12700">
            <a:solidFill>
              <a:srgbClr val="1E2A47"/>
            </a:solidFill>
            <a:prstDash val="solid"/>
          </a:ln>
        </p:spPr>
      </p:sp>
      <p:sp>
        <p:nvSpPr>
          <p:cNvPr id="14" name="Text 10"/>
          <p:cNvSpPr/>
          <p:nvPr/>
        </p:nvSpPr>
        <p:spPr>
          <a:xfrm>
            <a:off x="6766560" y="2697480"/>
            <a:ext cx="4297680" cy="1005840"/>
          </a:xfrm>
          <a:prstGeom prst="rect">
            <a:avLst/>
          </a:prstGeom>
          <a:noFill/>
          <a:ln/>
        </p:spPr>
        <p:txBody>
          <a:bodyPr wrap="square" lIns="0" tIns="0" rIns="0" bIns="0" rtlCol="0" anchor="t"/>
          <a:lstStyle/>
          <a:p>
            <a:pPr indent="0" marL="0">
              <a:buNone/>
            </a:pPr>
            <a:r>
              <a:rPr lang="en-US" sz="1200" dirty="0">
                <a:solidFill>
                  <a:srgbClr val="00B8D9"/>
                </a:solidFill>
                <a:latin typeface="Courier New" pitchFamily="34" charset="0"/>
                <a:ea typeface="Courier New" pitchFamily="34" charset="-122"/>
                <a:cs typeface="Courier New" pitchFamily="34" charset="-120"/>
              </a:rPr>
              <a:t>&lt;title&gt;About&lt;/title&gt;
</a:t>
            </a:r>
            <a:pPr indent="0" marL="0">
              <a:buNone/>
            </a:pPr>
            <a:r>
              <a:rPr lang="en-US" sz="1200" dirty="0">
                <a:solidFill>
                  <a:srgbClr val="FFFFFF"/>
                </a:solidFill>
                <a:latin typeface="Courier New" pitchFamily="34" charset="0"/>
                <a:ea typeface="Courier New" pitchFamily="34" charset="-122"/>
                <a:cs typeface="Courier New" pitchFamily="34" charset="-120"/>
              </a:rPr>
              <a:t>&lt;meta </a:t>
            </a:r>
            <a:pPr indent="0" marL="0">
              <a:buNone/>
            </a:pPr>
            <a:r>
              <a:rPr lang="en-US" sz="1200" dirty="0">
                <a:solidFill>
                  <a:srgbClr val="9CDCFE"/>
                </a:solidFill>
                <a:latin typeface="Courier New" pitchFamily="34" charset="0"/>
                <a:ea typeface="Courier New" pitchFamily="34" charset="-122"/>
                <a:cs typeface="Courier New" pitchFamily="34" charset="-120"/>
              </a:rPr>
              <a:t>name="description"</a:t>
            </a:r>
            <a:pPr indent="0" marL="0">
              <a:buNone/>
            </a:pPr>
            <a:r>
              <a:rPr lang="en-US" sz="1200" dirty="0">
                <a:solidFill>
                  <a:srgbClr val="FFFFFF"/>
                </a:solidFill>
                <a:latin typeface="Courier New" pitchFamily="34" charset="0"/>
                <a:ea typeface="Courier New" pitchFamily="34" charset="-122"/>
                <a:cs typeface="Courier New" pitchFamily="34" charset="-120"/>
              </a:rPr>
              <a:t> ... /&gt;
</a:t>
            </a:r>
            <a:endParaRPr lang="en-US" sz="1200" dirty="0"/>
          </a:p>
        </p:txBody>
      </p:sp>
      <p:sp>
        <p:nvSpPr>
          <p:cNvPr id="15" name="Text 11"/>
          <p:cNvSpPr/>
          <p:nvPr/>
        </p:nvSpPr>
        <p:spPr>
          <a:xfrm>
            <a:off x="6583680" y="3886200"/>
            <a:ext cx="4663440" cy="182880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Drop title and meta tags inline anywhere in your component tree. React deduplicates and hoists.</a:t>
            </a:r>
            <a:endParaRPr lang="en-US" sz="1250" dirty="0"/>
          </a:p>
        </p:txBody>
      </p:sp>
      <p:sp>
        <p:nvSpPr>
          <p:cNvPr id="16" name="Text 12"/>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17" name="Text 13"/>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17 / 30</a:t>
            </a:r>
            <a:endParaRPr lang="en-US" sz="90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The React Compiler</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Auto-memoization for components and hooks. Most useMemo/useCallback becomes optional.</a:t>
            </a:r>
            <a:endParaRPr lang="en-US" sz="1400" dirty="0"/>
          </a:p>
        </p:txBody>
      </p:sp>
      <p:sp>
        <p:nvSpPr>
          <p:cNvPr id="5" name="Text 3"/>
          <p:cNvSpPr/>
          <p:nvPr/>
        </p:nvSpPr>
        <p:spPr>
          <a:xfrm>
            <a:off x="777240" y="1508760"/>
            <a:ext cx="5349240" cy="365760"/>
          </a:xfrm>
          <a:prstGeom prst="rect">
            <a:avLst/>
          </a:prstGeom>
          <a:noFill/>
          <a:ln/>
        </p:spPr>
        <p:txBody>
          <a:bodyPr wrap="square" lIns="0" tIns="0" rIns="0" bIns="0" rtlCol="0" anchor="ctr"/>
          <a:lstStyle/>
          <a:p>
            <a:pPr indent="0" marL="0">
              <a:buNone/>
            </a:pPr>
            <a:r>
              <a:rPr lang="en-US" sz="1300" b="1" dirty="0">
                <a:solidFill>
                  <a:srgbClr val="DC2626"/>
                </a:solidFill>
                <a:latin typeface="Trebuchet MS" pitchFamily="34" charset="0"/>
                <a:ea typeface="Trebuchet MS" pitchFamily="34" charset="-122"/>
                <a:cs typeface="Trebuchet MS" pitchFamily="34" charset="-120"/>
              </a:rPr>
              <a:t>Before — manual memo</a:t>
            </a:r>
            <a:endParaRPr lang="en-US" sz="1300" dirty="0"/>
          </a:p>
        </p:txBody>
      </p:sp>
      <p:sp>
        <p:nvSpPr>
          <p:cNvPr id="6" name="Shape 4"/>
          <p:cNvSpPr/>
          <p:nvPr/>
        </p:nvSpPr>
        <p:spPr>
          <a:xfrm>
            <a:off x="777240" y="1874520"/>
            <a:ext cx="5349240" cy="2743200"/>
          </a:xfrm>
          <a:prstGeom prst="rect">
            <a:avLst/>
          </a:prstGeom>
          <a:solidFill>
            <a:srgbClr val="1E2A47"/>
          </a:solidFill>
          <a:ln w="12700">
            <a:solidFill>
              <a:srgbClr val="1E2A47"/>
            </a:solidFill>
            <a:prstDash val="solid"/>
          </a:ln>
        </p:spPr>
      </p:sp>
      <p:sp>
        <p:nvSpPr>
          <p:cNvPr id="7" name="Text 5"/>
          <p:cNvSpPr/>
          <p:nvPr/>
        </p:nvSpPr>
        <p:spPr>
          <a:xfrm>
            <a:off x="960120" y="2011680"/>
            <a:ext cx="5074920" cy="2468880"/>
          </a:xfrm>
          <a:prstGeom prst="rect">
            <a:avLst/>
          </a:prstGeom>
          <a:noFill/>
          <a:ln/>
        </p:spPr>
        <p:txBody>
          <a:bodyPr wrap="square" lIns="0" tIns="0" rIns="0" bIns="0" rtlCol="0" anchor="t"/>
          <a:lstStyle/>
          <a:p>
            <a:pPr indent="0" marL="0">
              <a:buNone/>
            </a:pPr>
            <a:r>
              <a:rPr lang="en-US" sz="1200" dirty="0">
                <a:solidFill>
                  <a:srgbClr val="FFFFFF"/>
                </a:solidFill>
                <a:latin typeface="Courier New" pitchFamily="34" charset="0"/>
                <a:ea typeface="Courier New" pitchFamily="34" charset="-122"/>
                <a:cs typeface="Courier New" pitchFamily="34" charset="-120"/>
              </a:rPr>
              <a:t>const filtered = </a:t>
            </a:r>
            <a:pPr indent="0" marL="0">
              <a:buNone/>
            </a:pPr>
            <a:r>
              <a:rPr lang="en-US" sz="1200" dirty="0">
                <a:solidFill>
                  <a:srgbClr val="DCDCAA"/>
                </a:solidFill>
                <a:latin typeface="Courier New" pitchFamily="34" charset="0"/>
                <a:ea typeface="Courier New" pitchFamily="34" charset="-122"/>
                <a:cs typeface="Courier New" pitchFamily="34" charset="-120"/>
              </a:rPr>
              <a:t>useMemo</a:t>
            </a:r>
            <a:pPr indent="0" marL="0">
              <a:buNone/>
            </a:pPr>
            <a:r>
              <a:rPr lang="en-US" sz="1200" dirty="0">
                <a:solidFill>
                  <a:srgbClr val="FFFFFF"/>
                </a:solidFill>
                <a:latin typeface="Courier New" pitchFamily="34" charset="0"/>
                <a:ea typeface="Courier New" pitchFamily="34" charset="-122"/>
                <a:cs typeface="Courier New" pitchFamily="34" charset="-120"/>
              </a:rPr>
              <a:t>(</a:t>
            </a:r>
            <a:endParaRPr lang="en-US" sz="1200" dirty="0"/>
          </a:p>
          <a:p>
            <a:pPr indent="0" marL="0">
              <a:buNone/>
            </a:pPr>
            <a:r>
              <a:rPr lang="en-US" sz="1200" dirty="0">
                <a:solidFill>
                  <a:srgbClr val="FFFFFF"/>
                </a:solidFill>
                <a:latin typeface="Courier New" pitchFamily="34" charset="0"/>
                <a:ea typeface="Courier New" pitchFamily="34" charset="-122"/>
                <a:cs typeface="Courier New" pitchFamily="34" charset="-120"/>
              </a:rPr>
              <a:t>  () =&gt; items.filter(</a:t>
            </a:r>
            <a:endParaRPr lang="en-US" sz="1200" dirty="0"/>
          </a:p>
          <a:p>
            <a:pPr indent="0" marL="0">
              <a:buNone/>
            </a:pPr>
            <a:r>
              <a:rPr lang="en-US" sz="1200" dirty="0">
                <a:solidFill>
                  <a:srgbClr val="9CDCFE"/>
                </a:solidFill>
                <a:latin typeface="Courier New" pitchFamily="34" charset="0"/>
                <a:ea typeface="Courier New" pitchFamily="34" charset="-122"/>
                <a:cs typeface="Courier New" pitchFamily="34" charset="-120"/>
              </a:rPr>
              <a:t>f</a:t>
            </a:r>
            <a:pPr indent="0" marL="0">
              <a:buNone/>
            </a:pPr>
            <a:r>
              <a:rPr lang="en-US" sz="1200" dirty="0">
                <a:solidFill>
                  <a:srgbClr val="FFFFFF"/>
                </a:solidFill>
                <a:latin typeface="Courier New" pitchFamily="34" charset="0"/>
                <a:ea typeface="Courier New" pitchFamily="34" charset="-122"/>
                <a:cs typeface="Courier New" pitchFamily="34" charset="-120"/>
              </a:rPr>
              <a:t>), [items, </a:t>
            </a:r>
            <a:pPr indent="0" marL="0">
              <a:buNone/>
            </a:pPr>
            <a:r>
              <a:rPr lang="en-US" sz="1200" dirty="0">
                <a:solidFill>
                  <a:srgbClr val="9CDCFE"/>
                </a:solidFill>
                <a:latin typeface="Courier New" pitchFamily="34" charset="0"/>
                <a:ea typeface="Courier New" pitchFamily="34" charset="-122"/>
                <a:cs typeface="Courier New" pitchFamily="34" charset="-120"/>
              </a:rPr>
              <a:t>f</a:t>
            </a:r>
            <a:pPr indent="0" marL="0">
              <a:buNone/>
            </a:pPr>
            <a:r>
              <a:rPr lang="en-US" sz="1200" dirty="0">
                <a:solidFill>
                  <a:srgbClr val="FFFFFF"/>
                </a:solidFill>
                <a:latin typeface="Courier New" pitchFamily="34" charset="0"/>
                <a:ea typeface="Courier New" pitchFamily="34" charset="-122"/>
                <a:cs typeface="Courier New" pitchFamily="34" charset="-120"/>
              </a:rPr>
              <a:t>]
);
</a:t>
            </a:r>
            <a:pPr indent="0" marL="0">
              <a:buNone/>
            </a:pPr>
            <a:r>
              <a:rPr lang="en-US" sz="1200" dirty="0">
                <a:solidFill>
                  <a:srgbClr val="FFFFFF"/>
                </a:solidFill>
                <a:latin typeface="Courier New" pitchFamily="34" charset="0"/>
                <a:ea typeface="Courier New" pitchFamily="34" charset="-122"/>
                <a:cs typeface="Courier New" pitchFamily="34" charset="-120"/>
              </a:rPr>
              <a:t>const onClick = </a:t>
            </a:r>
            <a:pPr indent="0" marL="0">
              <a:buNone/>
            </a:pPr>
            <a:r>
              <a:rPr lang="en-US" sz="1200" dirty="0">
                <a:solidFill>
                  <a:srgbClr val="DCDCAA"/>
                </a:solidFill>
                <a:latin typeface="Courier New" pitchFamily="34" charset="0"/>
                <a:ea typeface="Courier New" pitchFamily="34" charset="-122"/>
                <a:cs typeface="Courier New" pitchFamily="34" charset="-120"/>
              </a:rPr>
              <a:t>useCallback</a:t>
            </a:r>
            <a:pPr indent="0" marL="0">
              <a:buNone/>
            </a:pPr>
            <a:r>
              <a:rPr lang="en-US" sz="1200" dirty="0">
                <a:solidFill>
                  <a:srgbClr val="FFFFFF"/>
                </a:solidFill>
                <a:latin typeface="Courier New" pitchFamily="34" charset="0"/>
                <a:ea typeface="Courier New" pitchFamily="34" charset="-122"/>
                <a:cs typeface="Courier New" pitchFamily="34" charset="-120"/>
              </a:rPr>
              <a:t>(
  (e) =&gt; save(e), [save]
);
</a:t>
            </a:r>
            <a:pPr indent="0" marL="0">
              <a:buNone/>
            </a:pPr>
            <a:r>
              <a:rPr lang="en-US" sz="1200" dirty="0">
                <a:solidFill>
                  <a:srgbClr val="FFFFFF"/>
                </a:solidFill>
                <a:latin typeface="Courier New" pitchFamily="34" charset="0"/>
                <a:ea typeface="Courier New" pitchFamily="34" charset="-122"/>
                <a:cs typeface="Courier New" pitchFamily="34" charset="-120"/>
              </a:rPr>
              <a:t>export default </a:t>
            </a:r>
            <a:pPr indent="0" marL="0">
              <a:buNone/>
            </a:pPr>
            <a:r>
              <a:rPr lang="en-US" sz="1200" dirty="0">
                <a:solidFill>
                  <a:srgbClr val="DCDCAA"/>
                </a:solidFill>
                <a:latin typeface="Courier New" pitchFamily="34" charset="0"/>
                <a:ea typeface="Courier New" pitchFamily="34" charset="-122"/>
                <a:cs typeface="Courier New" pitchFamily="34" charset="-120"/>
              </a:rPr>
              <a:t>memo</a:t>
            </a:r>
            <a:pPr indent="0" marL="0">
              <a:buNone/>
            </a:pPr>
            <a:r>
              <a:rPr lang="en-US" sz="1200" dirty="0">
                <a:solidFill>
                  <a:srgbClr val="FFFFFF"/>
                </a:solidFill>
                <a:latin typeface="Courier New" pitchFamily="34" charset="0"/>
                <a:ea typeface="Courier New" pitchFamily="34" charset="-122"/>
                <a:cs typeface="Courier New" pitchFamily="34" charset="-120"/>
              </a:rPr>
              <a:t>(MyList);</a:t>
            </a:r>
            <a:endParaRPr lang="en-US" sz="1200" dirty="0"/>
          </a:p>
        </p:txBody>
      </p:sp>
      <p:sp>
        <p:nvSpPr>
          <p:cNvPr id="8" name="Text 6"/>
          <p:cNvSpPr/>
          <p:nvPr/>
        </p:nvSpPr>
        <p:spPr>
          <a:xfrm>
            <a:off x="6355080" y="1508760"/>
            <a:ext cx="5029200" cy="365760"/>
          </a:xfrm>
          <a:prstGeom prst="rect">
            <a:avLst/>
          </a:prstGeom>
          <a:noFill/>
          <a:ln/>
        </p:spPr>
        <p:txBody>
          <a:bodyPr wrap="square" lIns="0" tIns="0" rIns="0" bIns="0" rtlCol="0" anchor="ctr"/>
          <a:lstStyle/>
          <a:p>
            <a:pPr indent="0" marL="0">
              <a:buNone/>
            </a:pPr>
            <a:r>
              <a:rPr lang="en-US" sz="1300" b="1" dirty="0">
                <a:solidFill>
                  <a:srgbClr val="059669"/>
                </a:solidFill>
                <a:latin typeface="Trebuchet MS" pitchFamily="34" charset="0"/>
                <a:ea typeface="Trebuchet MS" pitchFamily="34" charset="-122"/>
                <a:cs typeface="Trebuchet MS" pitchFamily="34" charset="-120"/>
              </a:rPr>
              <a:t>After — Compiler enabled</a:t>
            </a:r>
            <a:endParaRPr lang="en-US" sz="1300" dirty="0"/>
          </a:p>
        </p:txBody>
      </p:sp>
      <p:sp>
        <p:nvSpPr>
          <p:cNvPr id="9" name="Shape 7"/>
          <p:cNvSpPr/>
          <p:nvPr/>
        </p:nvSpPr>
        <p:spPr>
          <a:xfrm>
            <a:off x="6355080" y="1874520"/>
            <a:ext cx="5029200" cy="2743200"/>
          </a:xfrm>
          <a:prstGeom prst="rect">
            <a:avLst/>
          </a:prstGeom>
          <a:solidFill>
            <a:srgbClr val="1E2A47"/>
          </a:solidFill>
          <a:ln w="12700">
            <a:solidFill>
              <a:srgbClr val="1E2A47"/>
            </a:solidFill>
            <a:prstDash val="solid"/>
          </a:ln>
        </p:spPr>
      </p:sp>
      <p:sp>
        <p:nvSpPr>
          <p:cNvPr id="10" name="Text 8"/>
          <p:cNvSpPr/>
          <p:nvPr/>
        </p:nvSpPr>
        <p:spPr>
          <a:xfrm>
            <a:off x="6537960" y="2011680"/>
            <a:ext cx="4754880" cy="2468880"/>
          </a:xfrm>
          <a:prstGeom prst="rect">
            <a:avLst/>
          </a:prstGeom>
          <a:noFill/>
          <a:ln/>
        </p:spPr>
        <p:txBody>
          <a:bodyPr wrap="square" lIns="0" tIns="0" rIns="0" bIns="0" rtlCol="0" anchor="t"/>
          <a:lstStyle/>
          <a:p>
            <a:pPr indent="0" marL="0">
              <a:buNone/>
            </a:pPr>
            <a:r>
              <a:rPr lang="en-US" sz="1200" dirty="0">
                <a:solidFill>
                  <a:srgbClr val="FFFFFF"/>
                </a:solidFill>
                <a:latin typeface="Courier New" pitchFamily="34" charset="0"/>
                <a:ea typeface="Courier New" pitchFamily="34" charset="-122"/>
                <a:cs typeface="Courier New" pitchFamily="34" charset="-120"/>
              </a:rPr>
              <a:t>const filtered = items.filter(</a:t>
            </a:r>
            <a:pPr indent="0" marL="0">
              <a:buNone/>
            </a:pPr>
            <a:r>
              <a:rPr lang="en-US" sz="1200" dirty="0">
                <a:solidFill>
                  <a:srgbClr val="9CDCFE"/>
                </a:solidFill>
                <a:latin typeface="Courier New" pitchFamily="34" charset="0"/>
                <a:ea typeface="Courier New" pitchFamily="34" charset="-122"/>
                <a:cs typeface="Courier New" pitchFamily="34" charset="-120"/>
              </a:rPr>
              <a:t>f</a:t>
            </a:r>
            <a:pPr indent="0" marL="0">
              <a:buNone/>
            </a:pPr>
            <a:r>
              <a:rPr lang="en-US" sz="1200" dirty="0">
                <a:solidFill>
                  <a:srgbClr val="FFFFFF"/>
                </a:solidFill>
                <a:latin typeface="Courier New" pitchFamily="34" charset="0"/>
                <a:ea typeface="Courier New" pitchFamily="34" charset="-122"/>
                <a:cs typeface="Courier New" pitchFamily="34" charset="-120"/>
              </a:rPr>
              <a:t>);
</a:t>
            </a:r>
            <a:pPr indent="0" marL="0">
              <a:buNone/>
            </a:pPr>
            <a:r>
              <a:rPr lang="en-US" sz="1200" dirty="0">
                <a:solidFill>
                  <a:srgbClr val="FFFFFF"/>
                </a:solidFill>
                <a:latin typeface="Courier New" pitchFamily="34" charset="0"/>
                <a:ea typeface="Courier New" pitchFamily="34" charset="-122"/>
                <a:cs typeface="Courier New" pitchFamily="34" charset="-120"/>
              </a:rPr>
              <a:t>const onClick = (</a:t>
            </a:r>
            <a:pPr indent="0" marL="0">
              <a:buNone/>
            </a:pPr>
            <a:r>
              <a:rPr lang="en-US" sz="1200" dirty="0">
                <a:solidFill>
                  <a:srgbClr val="9CDCFE"/>
                </a:solidFill>
                <a:latin typeface="Courier New" pitchFamily="34" charset="0"/>
                <a:ea typeface="Courier New" pitchFamily="34" charset="-122"/>
                <a:cs typeface="Courier New" pitchFamily="34" charset="-120"/>
              </a:rPr>
              <a:t>e</a:t>
            </a:r>
            <a:pPr indent="0" marL="0">
              <a:buNone/>
            </a:pPr>
            <a:r>
              <a:rPr lang="en-US" sz="1200" dirty="0">
                <a:solidFill>
                  <a:srgbClr val="FFFFFF"/>
                </a:solidFill>
                <a:latin typeface="Courier New" pitchFamily="34" charset="0"/>
                <a:ea typeface="Courier New" pitchFamily="34" charset="-122"/>
                <a:cs typeface="Courier New" pitchFamily="34" charset="-120"/>
              </a:rPr>
              <a:t>) =&gt; save(e);
</a:t>
            </a:r>
            <a:pPr indent="0" marL="0">
              <a:buNone/>
            </a:pPr>
            <a:r>
              <a:rPr lang="en-US" sz="1200" dirty="0">
                <a:solidFill>
                  <a:srgbClr val="FFFFFF"/>
                </a:solidFill>
                <a:latin typeface="Courier New" pitchFamily="34" charset="0"/>
                <a:ea typeface="Courier New" pitchFamily="34" charset="-122"/>
                <a:cs typeface="Courier New" pitchFamily="34" charset="-120"/>
              </a:rPr>
              <a:t>export default MyList;
</a:t>
            </a:r>
            <a:pPr indent="0" marL="0">
              <a:buNone/>
            </a:pPr>
            <a:r>
              <a:rPr lang="en-US" sz="1200" dirty="0">
                <a:solidFill>
                  <a:srgbClr val="6A9955"/>
                </a:solidFill>
                <a:latin typeface="Courier New" pitchFamily="34" charset="0"/>
                <a:ea typeface="Courier New" pitchFamily="34" charset="-122"/>
                <a:cs typeface="Courier New" pitchFamily="34" charset="-120"/>
              </a:rPr>
              <a:t>// Compiler memoizes</a:t>
            </a:r>
            <a:endParaRPr lang="en-US" sz="1200" dirty="0"/>
          </a:p>
        </p:txBody>
      </p:sp>
      <p:sp>
        <p:nvSpPr>
          <p:cNvPr id="11" name="Shape 9"/>
          <p:cNvSpPr/>
          <p:nvPr/>
        </p:nvSpPr>
        <p:spPr>
          <a:xfrm>
            <a:off x="777240" y="4937760"/>
            <a:ext cx="10607040" cy="1280160"/>
          </a:xfrm>
          <a:prstGeom prst="rect">
            <a:avLst/>
          </a:prstGeom>
          <a:solidFill>
            <a:srgbClr val="CBF1F6"/>
          </a:solidFill>
          <a:ln w="12700">
            <a:solidFill>
              <a:srgbClr val="CBF1F6"/>
            </a:solidFill>
            <a:prstDash val="solid"/>
          </a:ln>
        </p:spPr>
      </p:sp>
      <p:pic>
        <p:nvPicPr>
          <p:cNvPr id="12" name="Image 0" descr="preencoded.png">    </p:cNvPr>
          <p:cNvPicPr>
            <a:picLocks noChangeAspect="1"/>
          </p:cNvPicPr>
          <p:nvPr/>
        </p:nvPicPr>
        <p:blipFill>
          <a:blip r:embed="rId1"/>
          <a:stretch>
            <a:fillRect/>
          </a:stretch>
        </p:blipFill>
        <p:spPr>
          <a:xfrm>
            <a:off x="1005840" y="5212080"/>
            <a:ext cx="502920" cy="502920"/>
          </a:xfrm>
          <a:prstGeom prst="rect">
            <a:avLst/>
          </a:prstGeom>
        </p:spPr>
      </p:pic>
      <p:sp>
        <p:nvSpPr>
          <p:cNvPr id="13" name="Text 10"/>
          <p:cNvSpPr/>
          <p:nvPr/>
        </p:nvSpPr>
        <p:spPr>
          <a:xfrm>
            <a:off x="1691640" y="4983480"/>
            <a:ext cx="9601200" cy="1188720"/>
          </a:xfrm>
          <a:prstGeom prst="rect">
            <a:avLst/>
          </a:prstGeom>
          <a:noFill/>
          <a:ln/>
        </p:spPr>
        <p:txBody>
          <a:bodyPr wrap="square" lIns="0" tIns="0" rIns="0" bIns="0" rtlCol="0" anchor="ctr"/>
          <a:lstStyle/>
          <a:p>
            <a:pPr indent="0" marL="0">
              <a:buNone/>
            </a:pPr>
            <a:r>
              <a:rPr lang="en-US" sz="1300" i="1" dirty="0">
                <a:solidFill>
                  <a:srgbClr val="0F172A"/>
                </a:solidFill>
                <a:latin typeface="Arial" pitchFamily="34" charset="0"/>
                <a:ea typeface="Arial" pitchFamily="34" charset="-122"/>
                <a:cs typeface="Arial" pitchFamily="34" charset="-120"/>
              </a:rPr>
              <a:t>Enabled per-project. Pair with the eslint plugin so it tells you which components opted out.</a:t>
            </a:r>
            <a:endParaRPr lang="en-US" sz="1300" dirty="0"/>
          </a:p>
        </p:txBody>
      </p:sp>
      <p:sp>
        <p:nvSpPr>
          <p:cNvPr id="14" name="Text 11"/>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15" name="Text 12"/>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18 / 30</a:t>
            </a:r>
            <a:endParaRPr lang="en-US" sz="90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What the Compiler doesn't do for you</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Knowing the limits is what keeps performance work honest.</a:t>
            </a:r>
            <a:endParaRPr lang="en-US" sz="1400" dirty="0"/>
          </a:p>
        </p:txBody>
      </p:sp>
      <p:sp>
        <p:nvSpPr>
          <p:cNvPr id="5" name="Shape 3"/>
          <p:cNvSpPr/>
          <p:nvPr/>
        </p:nvSpPr>
        <p:spPr>
          <a:xfrm>
            <a:off x="777240" y="1554480"/>
            <a:ext cx="10607040" cy="86868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737360"/>
            <a:ext cx="502920" cy="502920"/>
          </a:xfrm>
          <a:prstGeom prst="rect">
            <a:avLst/>
          </a:prstGeom>
        </p:spPr>
      </p:pic>
      <p:sp>
        <p:nvSpPr>
          <p:cNvPr id="7" name="Text 4"/>
          <p:cNvSpPr/>
          <p:nvPr/>
        </p:nvSpPr>
        <p:spPr>
          <a:xfrm>
            <a:off x="1691640" y="1645920"/>
            <a:ext cx="96012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Doesn't fix Rules of Hooks violations</a:t>
            </a:r>
            <a:endParaRPr lang="en-US" sz="1400" dirty="0"/>
          </a:p>
        </p:txBody>
      </p:sp>
      <p:sp>
        <p:nvSpPr>
          <p:cNvPr id="8" name="Text 5"/>
          <p:cNvSpPr/>
          <p:nvPr/>
        </p:nvSpPr>
        <p:spPr>
          <a:xfrm>
            <a:off x="1691640" y="1965960"/>
            <a:ext cx="9601200" cy="45720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Same rules as before. If anything, the eslint plugin gets stricter — opt-in violations bail out of memoization.</a:t>
            </a:r>
            <a:endParaRPr lang="en-US" sz="1150" dirty="0"/>
          </a:p>
        </p:txBody>
      </p:sp>
      <p:sp>
        <p:nvSpPr>
          <p:cNvPr id="9" name="Shape 6"/>
          <p:cNvSpPr/>
          <p:nvPr/>
        </p:nvSpPr>
        <p:spPr>
          <a:xfrm>
            <a:off x="777240" y="2606040"/>
            <a:ext cx="10607040" cy="868680"/>
          </a:xfrm>
          <a:prstGeom prst="rect">
            <a:avLst/>
          </a:prstGeom>
          <a:solidFill>
            <a:srgbClr val="FFFFFF"/>
          </a:solidFill>
          <a:ln w="12700">
            <a:solidFill>
              <a:srgbClr val="E2E8F0"/>
            </a:solidFill>
            <a:prstDash val="solid"/>
          </a:ln>
        </p:spPr>
      </p:sp>
      <p:pic>
        <p:nvPicPr>
          <p:cNvPr id="10" name="Image 1" descr="preencoded.png">    </p:cNvPr>
          <p:cNvPicPr>
            <a:picLocks noChangeAspect="1"/>
          </p:cNvPicPr>
          <p:nvPr/>
        </p:nvPicPr>
        <p:blipFill>
          <a:blip r:embed="rId2"/>
          <a:stretch>
            <a:fillRect/>
          </a:stretch>
        </p:blipFill>
        <p:spPr>
          <a:xfrm>
            <a:off x="960120" y="2788920"/>
            <a:ext cx="502920" cy="502920"/>
          </a:xfrm>
          <a:prstGeom prst="rect">
            <a:avLst/>
          </a:prstGeom>
        </p:spPr>
      </p:pic>
      <p:sp>
        <p:nvSpPr>
          <p:cNvPr id="11" name="Text 7"/>
          <p:cNvSpPr/>
          <p:nvPr/>
        </p:nvSpPr>
        <p:spPr>
          <a:xfrm>
            <a:off x="1691640" y="2697480"/>
            <a:ext cx="96012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Doesn't memoize across mutation</a:t>
            </a:r>
            <a:endParaRPr lang="en-US" sz="1400" dirty="0"/>
          </a:p>
        </p:txBody>
      </p:sp>
      <p:sp>
        <p:nvSpPr>
          <p:cNvPr id="12" name="Text 8"/>
          <p:cNvSpPr/>
          <p:nvPr/>
        </p:nvSpPr>
        <p:spPr>
          <a:xfrm>
            <a:off x="1691640" y="3017520"/>
            <a:ext cx="9601200" cy="45720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Mutating an object and reusing it still breaks memoization. Use immutable updates.</a:t>
            </a:r>
            <a:endParaRPr lang="en-US" sz="1150" dirty="0"/>
          </a:p>
        </p:txBody>
      </p:sp>
      <p:sp>
        <p:nvSpPr>
          <p:cNvPr id="13" name="Shape 9"/>
          <p:cNvSpPr/>
          <p:nvPr/>
        </p:nvSpPr>
        <p:spPr>
          <a:xfrm>
            <a:off x="777240" y="3657600"/>
            <a:ext cx="10607040" cy="868680"/>
          </a:xfrm>
          <a:prstGeom prst="rect">
            <a:avLst/>
          </a:prstGeom>
          <a:solidFill>
            <a:srgbClr val="FFFFFF"/>
          </a:solidFill>
          <a:ln w="12700">
            <a:solidFill>
              <a:srgbClr val="E2E8F0"/>
            </a:solidFill>
            <a:prstDash val="solid"/>
          </a:ln>
        </p:spPr>
      </p:sp>
      <p:pic>
        <p:nvPicPr>
          <p:cNvPr id="14" name="Image 2" descr="preencoded.png">    </p:cNvPr>
          <p:cNvPicPr>
            <a:picLocks noChangeAspect="1"/>
          </p:cNvPicPr>
          <p:nvPr/>
        </p:nvPicPr>
        <p:blipFill>
          <a:blip r:embed="rId3"/>
          <a:stretch>
            <a:fillRect/>
          </a:stretch>
        </p:blipFill>
        <p:spPr>
          <a:xfrm>
            <a:off x="960120" y="3840480"/>
            <a:ext cx="502920" cy="502920"/>
          </a:xfrm>
          <a:prstGeom prst="rect">
            <a:avLst/>
          </a:prstGeom>
        </p:spPr>
      </p:pic>
      <p:sp>
        <p:nvSpPr>
          <p:cNvPr id="15" name="Text 10"/>
          <p:cNvSpPr/>
          <p:nvPr/>
        </p:nvSpPr>
        <p:spPr>
          <a:xfrm>
            <a:off x="1691640" y="3749040"/>
            <a:ext cx="96012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Doesn't replace algorithmic optimization</a:t>
            </a:r>
            <a:endParaRPr lang="en-US" sz="1400" dirty="0"/>
          </a:p>
        </p:txBody>
      </p:sp>
      <p:sp>
        <p:nvSpPr>
          <p:cNvPr id="16" name="Text 11"/>
          <p:cNvSpPr/>
          <p:nvPr/>
        </p:nvSpPr>
        <p:spPr>
          <a:xfrm>
            <a:off x="1691640" y="4069080"/>
            <a:ext cx="9601200" cy="45720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If your filter is O(n²), the Compiler can't save you. Look at the data, not just the renders.</a:t>
            </a:r>
            <a:endParaRPr lang="en-US" sz="1150" dirty="0"/>
          </a:p>
        </p:txBody>
      </p:sp>
      <p:sp>
        <p:nvSpPr>
          <p:cNvPr id="17" name="Shape 12"/>
          <p:cNvSpPr/>
          <p:nvPr/>
        </p:nvSpPr>
        <p:spPr>
          <a:xfrm>
            <a:off x="777240" y="4709160"/>
            <a:ext cx="10607040" cy="868680"/>
          </a:xfrm>
          <a:prstGeom prst="rect">
            <a:avLst/>
          </a:prstGeom>
          <a:solidFill>
            <a:srgbClr val="FFFFFF"/>
          </a:solidFill>
          <a:ln w="12700">
            <a:solidFill>
              <a:srgbClr val="E2E8F0"/>
            </a:solidFill>
            <a:prstDash val="solid"/>
          </a:ln>
        </p:spPr>
      </p:sp>
      <p:pic>
        <p:nvPicPr>
          <p:cNvPr id="18" name="Image 3" descr="preencoded.png">    </p:cNvPr>
          <p:cNvPicPr>
            <a:picLocks noChangeAspect="1"/>
          </p:cNvPicPr>
          <p:nvPr/>
        </p:nvPicPr>
        <p:blipFill>
          <a:blip r:embed="rId4"/>
          <a:stretch>
            <a:fillRect/>
          </a:stretch>
        </p:blipFill>
        <p:spPr>
          <a:xfrm>
            <a:off x="960120" y="4892040"/>
            <a:ext cx="502920" cy="502920"/>
          </a:xfrm>
          <a:prstGeom prst="rect">
            <a:avLst/>
          </a:prstGeom>
        </p:spPr>
      </p:pic>
      <p:sp>
        <p:nvSpPr>
          <p:cNvPr id="19" name="Text 13"/>
          <p:cNvSpPr/>
          <p:nvPr/>
        </p:nvSpPr>
        <p:spPr>
          <a:xfrm>
            <a:off x="1691640" y="4800600"/>
            <a:ext cx="96012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Doesn't help with non-React work</a:t>
            </a:r>
            <a:endParaRPr lang="en-US" sz="1400" dirty="0"/>
          </a:p>
        </p:txBody>
      </p:sp>
      <p:sp>
        <p:nvSpPr>
          <p:cNvPr id="20" name="Text 14"/>
          <p:cNvSpPr/>
          <p:nvPr/>
        </p:nvSpPr>
        <p:spPr>
          <a:xfrm>
            <a:off x="1691640" y="5120640"/>
            <a:ext cx="9601200" cy="457200"/>
          </a:xfrm>
          <a:prstGeom prst="rect">
            <a:avLst/>
          </a:prstGeom>
          <a:noFill/>
          <a:ln/>
        </p:spPr>
        <p:txBody>
          <a:bodyPr wrap="square" lIns="0" tIns="0" rIns="0" bIns="0" rtlCol="0" anchor="ctr"/>
          <a:lstStyle/>
          <a:p>
            <a:pPr indent="0" marL="0">
              <a:buNone/>
            </a:pPr>
            <a:r>
              <a:rPr lang="en-US" sz="1150" dirty="0">
                <a:solidFill>
                  <a:srgbClr val="475569"/>
                </a:solidFill>
                <a:latin typeface="Arial" pitchFamily="34" charset="0"/>
                <a:ea typeface="Arial" pitchFamily="34" charset="-122"/>
                <a:cs typeface="Arial" pitchFamily="34" charset="-120"/>
              </a:rPr>
              <a:t>A blocking 200ms request is still a blocking 200ms request. Web Workers, Suspense, and streaming still apply.</a:t>
            </a:r>
            <a:endParaRPr lang="en-US" sz="1150" dirty="0"/>
          </a:p>
        </p:txBody>
      </p:sp>
      <p:sp>
        <p:nvSpPr>
          <p:cNvPr id="21" name="Text 15"/>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22" name="Text 16"/>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19 / 30</a:t>
            </a:r>
            <a:endParaRPr lang="en-US" sz="9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1E2A47"/>
        </a:solidFill>
      </p:bgPr>
    </p:bg>
    <p:spTree>
      <p:nvGrpSpPr>
        <p:cNvPr id="1" name=""/>
        <p:cNvGrpSpPr/>
        <p:nvPr/>
      </p:nvGrpSpPr>
      <p:grpSpPr>
        <a:xfrm>
          <a:off x="0" y="0"/>
          <a:ext cx="0" cy="0"/>
          <a:chOff x="0" y="0"/>
          <a:chExt cx="0" cy="0"/>
        </a:xfrm>
      </p:grpSpPr>
      <p:sp>
        <p:nvSpPr>
          <p:cNvPr id="2" name="Shape 0"/>
          <p:cNvSpPr/>
          <p:nvPr/>
        </p:nvSpPr>
        <p:spPr>
          <a:xfrm>
            <a:off x="640080" y="2743200"/>
            <a:ext cx="548640" cy="73152"/>
          </a:xfrm>
          <a:prstGeom prst="rect">
            <a:avLst/>
          </a:prstGeom>
          <a:solidFill>
            <a:srgbClr val="00B8D9"/>
          </a:solidFill>
          <a:ln w="12700">
            <a:solidFill>
              <a:srgbClr val="00B8D9"/>
            </a:solidFill>
            <a:prstDash val="solid"/>
          </a:ln>
        </p:spPr>
      </p:sp>
      <p:sp>
        <p:nvSpPr>
          <p:cNvPr id="3" name="Text 1"/>
          <p:cNvSpPr/>
          <p:nvPr/>
        </p:nvSpPr>
        <p:spPr>
          <a:xfrm>
            <a:off x="640080" y="2880360"/>
            <a:ext cx="3657600" cy="457200"/>
          </a:xfrm>
          <a:prstGeom prst="rect">
            <a:avLst/>
          </a:prstGeom>
          <a:noFill/>
          <a:ln/>
        </p:spPr>
        <p:txBody>
          <a:bodyPr wrap="square" lIns="0" tIns="0" rIns="0" bIns="0" rtlCol="0" anchor="ctr"/>
          <a:lstStyle/>
          <a:p>
            <a:pPr indent="0" marL="0">
              <a:buNone/>
            </a:pPr>
            <a:r>
              <a:rPr lang="en-US" sz="1600" dirty="0">
                <a:solidFill>
                  <a:srgbClr val="00B8D9"/>
                </a:solidFill>
                <a:latin typeface="Trebuchet MS" pitchFamily="34" charset="0"/>
                <a:ea typeface="Trebuchet MS" pitchFamily="34" charset="-122"/>
                <a:cs typeface="Trebuchet MS" pitchFamily="34" charset="-120"/>
              </a:rPr>
              <a:t>Part 2</a:t>
            </a:r>
            <a:endParaRPr lang="en-US" sz="1600" dirty="0"/>
          </a:p>
        </p:txBody>
      </p:sp>
      <p:sp>
        <p:nvSpPr>
          <p:cNvPr id="4" name="Text 2"/>
          <p:cNvSpPr/>
          <p:nvPr/>
        </p:nvSpPr>
        <p:spPr>
          <a:xfrm>
            <a:off x="640080" y="3291840"/>
            <a:ext cx="10972800" cy="1097280"/>
          </a:xfrm>
          <a:prstGeom prst="rect">
            <a:avLst/>
          </a:prstGeom>
          <a:noFill/>
          <a:ln/>
        </p:spPr>
        <p:txBody>
          <a:bodyPr wrap="square" lIns="0" tIns="0" rIns="0" bIns="0" rtlCol="0" anchor="ctr"/>
          <a:lstStyle/>
          <a:p>
            <a:pPr indent="0" marL="0">
              <a:buNone/>
            </a:pPr>
            <a:r>
              <a:rPr lang="en-US" sz="4800" b="1" dirty="0">
                <a:solidFill>
                  <a:srgbClr val="FFFFFF"/>
                </a:solidFill>
                <a:latin typeface="Trebuchet MS" pitchFamily="34" charset="0"/>
                <a:ea typeface="Trebuchet MS" pitchFamily="34" charset="-122"/>
                <a:cs typeface="Trebuchet MS" pitchFamily="34" charset="-120"/>
              </a:rPr>
              <a:t>Bootstrapping in 2026</a:t>
            </a:r>
            <a:endParaRPr lang="en-US" sz="4800" dirty="0"/>
          </a:p>
        </p:txBody>
      </p:sp>
      <p:sp>
        <p:nvSpPr>
          <p:cNvPr id="5" name="Text 3"/>
          <p:cNvSpPr/>
          <p:nvPr/>
        </p:nvSpPr>
        <p:spPr>
          <a:xfrm>
            <a:off x="640080" y="4434840"/>
            <a:ext cx="10972800" cy="548640"/>
          </a:xfrm>
          <a:prstGeom prst="rect">
            <a:avLst/>
          </a:prstGeom>
          <a:noFill/>
          <a:ln/>
        </p:spPr>
        <p:txBody>
          <a:bodyPr wrap="square" lIns="0" tIns="0" rIns="0" bIns="0" rtlCol="0" anchor="ctr"/>
          <a:lstStyle/>
          <a:p>
            <a:pPr indent="0" marL="0">
              <a:buNone/>
            </a:pPr>
            <a:r>
              <a:rPr lang="en-US" sz="1800" i="1" dirty="0">
                <a:solidFill>
                  <a:srgbClr val="CBF1F6"/>
                </a:solidFill>
                <a:latin typeface="Arial" pitchFamily="34" charset="0"/>
                <a:ea typeface="Arial" pitchFamily="34" charset="-122"/>
                <a:cs typeface="Arial" pitchFamily="34" charset="-120"/>
              </a:rPr>
              <a:t>Vite, frameworks, and choosing not to choose a framework.</a:t>
            </a:r>
            <a:endParaRPr lang="en-US" sz="1800" dirty="0"/>
          </a:p>
        </p:txBody>
      </p:sp>
      <p:pic>
        <p:nvPicPr>
          <p:cNvPr id="6" name="Image 0" descr="preencoded.png">    </p:cNvPr>
          <p:cNvPicPr>
            <a:picLocks noChangeAspect="1"/>
          </p:cNvPicPr>
          <p:nvPr/>
        </p:nvPicPr>
        <p:blipFill>
          <a:blip r:embed="rId1"/>
          <a:stretch>
            <a:fillRect/>
          </a:stretch>
        </p:blipFill>
        <p:spPr>
          <a:xfrm>
            <a:off x="9905695" y="640080"/>
            <a:ext cx="1371600" cy="1371600"/>
          </a:xfrm>
          <a:prstGeom prst="rect">
            <a:avLst/>
          </a:prstGeom>
        </p:spPr>
      </p:pic>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Create React App is gone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Officially deprecated by the React team in February 2025.</a:t>
            </a:r>
            <a:endParaRPr lang="en-US" sz="1400" dirty="0"/>
          </a:p>
        </p:txBody>
      </p:sp>
      <p:sp>
        <p:nvSpPr>
          <p:cNvPr id="5" name="Shape 3"/>
          <p:cNvSpPr/>
          <p:nvPr/>
        </p:nvSpPr>
        <p:spPr>
          <a:xfrm>
            <a:off x="777240" y="1645920"/>
            <a:ext cx="10607040" cy="1828800"/>
          </a:xfrm>
          <a:prstGeom prst="rect">
            <a:avLst/>
          </a:prstGeom>
          <a:solidFill>
            <a:srgbClr val="CBF1F6"/>
          </a:solidFill>
          <a:ln w="12700">
            <a:solidFill>
              <a:srgbClr val="CBF1F6"/>
            </a:solidFill>
            <a:prstDash val="solid"/>
          </a:ln>
        </p:spPr>
      </p:sp>
      <p:sp>
        <p:nvSpPr>
          <p:cNvPr id="6" name="Text 4"/>
          <p:cNvSpPr/>
          <p:nvPr/>
        </p:nvSpPr>
        <p:spPr>
          <a:xfrm>
            <a:off x="1005840" y="1783080"/>
            <a:ext cx="10149840" cy="1554480"/>
          </a:xfrm>
          <a:prstGeom prst="rect">
            <a:avLst/>
          </a:prstGeom>
          <a:noFill/>
          <a:ln/>
        </p:spPr>
        <p:txBody>
          <a:bodyPr wrap="square" lIns="0" tIns="0" rIns="0" bIns="0" rtlCol="0" anchor="ctr"/>
          <a:lstStyle/>
          <a:p>
            <a:pPr indent="0" marL="0">
              <a:buNone/>
            </a:pPr>
            <a:r>
              <a:rPr lang="en-US" sz="3800" b="1" dirty="0">
                <a:solidFill>
                  <a:srgbClr val="0F172A"/>
                </a:solidFill>
                <a:latin typeface="Courier New" pitchFamily="34" charset="0"/>
                <a:ea typeface="Courier New" pitchFamily="34" charset="-122"/>
                <a:cs typeface="Courier New" pitchFamily="34" charset="-120"/>
              </a:rPr>
              <a:t>create-react-app</a:t>
            </a:r>
            <a:pPr indent="0" marL="0">
              <a:buNone/>
            </a:pPr>
            <a:r>
              <a:rPr lang="en-US" sz="2800" dirty="0">
                <a:solidFill>
                  <a:srgbClr val="475569"/>
                </a:solidFill>
              </a:rPr>
              <a:t>  →  </a:t>
            </a:r>
            <a:pPr indent="0" marL="0">
              <a:buNone/>
            </a:pPr>
            <a:r>
              <a:rPr lang="en-US" sz="3800" b="1" dirty="0">
                <a:solidFill>
                  <a:srgbClr val="DC2626"/>
                </a:solidFill>
                <a:latin typeface="Trebuchet MS" pitchFamily="34" charset="0"/>
                <a:ea typeface="Trebuchet MS" pitchFamily="34" charset="-122"/>
                <a:cs typeface="Trebuchet MS" pitchFamily="34" charset="-120"/>
              </a:rPr>
              <a:t>deprecated</a:t>
            </a:r>
            <a:endParaRPr lang="en-US" sz="3800" dirty="0"/>
          </a:p>
        </p:txBody>
      </p:sp>
      <p:sp>
        <p:nvSpPr>
          <p:cNvPr id="7" name="Text 5"/>
          <p:cNvSpPr/>
          <p:nvPr/>
        </p:nvSpPr>
        <p:spPr>
          <a:xfrm>
            <a:off x="777240" y="3657600"/>
            <a:ext cx="1060704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Why now:</a:t>
            </a:r>
            <a:endParaRPr lang="en-US" sz="1400" dirty="0"/>
          </a:p>
        </p:txBody>
      </p:sp>
      <p:sp>
        <p:nvSpPr>
          <p:cNvPr id="8" name="Text 6"/>
          <p:cNvSpPr/>
          <p:nvPr/>
        </p:nvSpPr>
        <p:spPr>
          <a:xfrm>
            <a:off x="777240" y="4023360"/>
            <a:ext cx="10607040" cy="21945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475569"/>
                </a:solidFill>
                <a:latin typeface="Arial" pitchFamily="34" charset="0"/>
                <a:ea typeface="Arial" pitchFamily="34" charset="-122"/>
                <a:cs typeface="Arial" pitchFamily="34" charset="-120"/>
              </a:rPr>
              <a:t>Webpack-based build couldn't keep up with modern dev-server expectations (HMR, ESM)</a:t>
            </a:r>
            <a:endParaRPr lang="en-US" sz="1300" dirty="0"/>
          </a:p>
          <a:p>
            <a:pPr marL="342900" indent="-342900">
              <a:spcAft>
                <a:spcPts val="600"/>
              </a:spcAft>
              <a:buSzPct val="100000"/>
              <a:buChar char="•"/>
            </a:pPr>
            <a:r>
              <a:rPr lang="en-US" sz="1300" dirty="0">
                <a:solidFill>
                  <a:srgbClr val="475569"/>
                </a:solidFill>
                <a:latin typeface="Arial" pitchFamily="34" charset="0"/>
                <a:ea typeface="Arial" pitchFamily="34" charset="-122"/>
                <a:cs typeface="Arial" pitchFamily="34" charset="-120"/>
              </a:rPr>
              <a:t>React 19's server-driven features need a framework or a Vite-style native build</a:t>
            </a:r>
            <a:endParaRPr lang="en-US" sz="1300" dirty="0"/>
          </a:p>
          <a:p>
            <a:pPr marL="342900" indent="-342900">
              <a:spcAft>
                <a:spcPts val="600"/>
              </a:spcAft>
              <a:buSzPct val="100000"/>
              <a:buChar char="•"/>
            </a:pPr>
            <a:r>
              <a:rPr lang="en-US" sz="1300" dirty="0">
                <a:solidFill>
                  <a:srgbClr val="475569"/>
                </a:solidFill>
                <a:latin typeface="Arial" pitchFamily="34" charset="0"/>
                <a:ea typeface="Arial" pitchFamily="34" charset="-122"/>
                <a:cs typeface="Arial" pitchFamily="34" charset="-120"/>
              </a:rPr>
              <a:t>Maintenance burden on the React team without strategic upside</a:t>
            </a:r>
            <a:endParaRPr lang="en-US" sz="1300" dirty="0"/>
          </a:p>
          <a:p>
            <a:pPr marL="342900" indent="-342900">
              <a:spcAft>
                <a:spcPts val="600"/>
              </a:spcAft>
              <a:buSzPct val="100000"/>
              <a:buChar char="•"/>
            </a:pPr>
            <a:r>
              <a:rPr lang="en-US" sz="1300" dirty="0">
                <a:solidFill>
                  <a:srgbClr val="475569"/>
                </a:solidFill>
                <a:latin typeface="Arial" pitchFamily="34" charset="0"/>
                <a:ea typeface="Arial" pitchFamily="34" charset="-122"/>
                <a:cs typeface="Arial" pitchFamily="34" charset="-120"/>
              </a:rPr>
              <a:t>Existing CRA projects keep working — but new projects shouldn't start there</a:t>
            </a:r>
            <a:endParaRPr lang="en-US" sz="1300" dirty="0"/>
          </a:p>
        </p:txBody>
      </p:sp>
      <p:sp>
        <p:nvSpPr>
          <p:cNvPr id="9" name="Text 7"/>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10" name="Text 8"/>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21 / 30</a:t>
            </a:r>
            <a:endParaRPr lang="en-US" sz="90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Vite is the new default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If you're not using a framework, you're probably using Vite.</a:t>
            </a:r>
            <a:endParaRPr lang="en-US" sz="1400" dirty="0"/>
          </a:p>
        </p:txBody>
      </p:sp>
      <p:sp>
        <p:nvSpPr>
          <p:cNvPr id="5" name="Shape 3"/>
          <p:cNvSpPr/>
          <p:nvPr/>
        </p:nvSpPr>
        <p:spPr>
          <a:xfrm>
            <a:off x="777240" y="1645920"/>
            <a:ext cx="5943600" cy="1828800"/>
          </a:xfrm>
          <a:prstGeom prst="rect">
            <a:avLst/>
          </a:prstGeom>
          <a:solidFill>
            <a:srgbClr val="1E2A47"/>
          </a:solidFill>
          <a:ln w="12700">
            <a:solidFill>
              <a:srgbClr val="1E2A47"/>
            </a:solidFill>
            <a:prstDash val="solid"/>
          </a:ln>
        </p:spPr>
      </p:sp>
      <p:sp>
        <p:nvSpPr>
          <p:cNvPr id="6" name="Text 4"/>
          <p:cNvSpPr/>
          <p:nvPr/>
        </p:nvSpPr>
        <p:spPr>
          <a:xfrm>
            <a:off x="960120" y="1828800"/>
            <a:ext cx="5577840" cy="457200"/>
          </a:xfrm>
          <a:prstGeom prst="rect">
            <a:avLst/>
          </a:prstGeom>
          <a:noFill/>
          <a:ln/>
        </p:spPr>
        <p:txBody>
          <a:bodyPr wrap="square" lIns="0" tIns="0" rIns="0" bIns="0" rtlCol="0" anchor="ctr"/>
          <a:lstStyle/>
          <a:p>
            <a:pPr indent="0" marL="0">
              <a:buNone/>
            </a:pPr>
            <a:r>
              <a:rPr lang="en-US" sz="1800" dirty="0">
                <a:solidFill>
                  <a:srgbClr val="6A9955"/>
                </a:solidFill>
                <a:latin typeface="Courier New" pitchFamily="34" charset="0"/>
                <a:ea typeface="Courier New" pitchFamily="34" charset="-122"/>
                <a:cs typeface="Courier New" pitchFamily="34" charset="-120"/>
              </a:rPr>
              <a:t>$ </a:t>
            </a:r>
            <a:pPr indent="0" marL="0">
              <a:buNone/>
            </a:pPr>
            <a:r>
              <a:rPr lang="en-US" sz="1800" dirty="0">
                <a:solidFill>
                  <a:srgbClr val="FFFFFF"/>
                </a:solidFill>
                <a:latin typeface="Courier New" pitchFamily="34" charset="0"/>
                <a:ea typeface="Courier New" pitchFamily="34" charset="-122"/>
                <a:cs typeface="Courier New" pitchFamily="34" charset="-120"/>
              </a:rPr>
              <a:t>npm create vite@latest</a:t>
            </a:r>
            <a:endParaRPr lang="en-US" sz="1800" dirty="0"/>
          </a:p>
        </p:txBody>
      </p:sp>
      <p:sp>
        <p:nvSpPr>
          <p:cNvPr id="7" name="Text 5"/>
          <p:cNvSpPr/>
          <p:nvPr/>
        </p:nvSpPr>
        <p:spPr>
          <a:xfrm>
            <a:off x="960120" y="2377440"/>
            <a:ext cx="5577840" cy="1005840"/>
          </a:xfrm>
          <a:prstGeom prst="rect">
            <a:avLst/>
          </a:prstGeom>
          <a:noFill/>
          <a:ln/>
        </p:spPr>
        <p:txBody>
          <a:bodyPr wrap="square" lIns="0" tIns="0" rIns="0" bIns="0" rtlCol="0" anchor="ctr"/>
          <a:lstStyle/>
          <a:p>
            <a:pPr indent="0" marL="0">
              <a:buNone/>
            </a:pPr>
            <a:r>
              <a:rPr lang="en-US" sz="1300" dirty="0">
                <a:solidFill>
                  <a:srgbClr val="CBF1F6"/>
                </a:solidFill>
                <a:latin typeface="Courier New" pitchFamily="34" charset="0"/>
                <a:ea typeface="Courier New" pitchFamily="34" charset="-122"/>
                <a:cs typeface="Courier New" pitchFamily="34" charset="-120"/>
              </a:rPr>
              <a:t>✓ Project name … my-app
</a:t>
            </a:r>
            <a:pPr indent="0" marL="0">
              <a:buNone/>
            </a:pPr>
            <a:r>
              <a:rPr lang="en-US" sz="1300" dirty="0">
                <a:solidFill>
                  <a:srgbClr val="CBF1F6"/>
                </a:solidFill>
                <a:latin typeface="Courier New" pitchFamily="34" charset="0"/>
                <a:ea typeface="Courier New" pitchFamily="34" charset="-122"/>
                <a:cs typeface="Courier New" pitchFamily="34" charset="-120"/>
              </a:rPr>
              <a:t>✓ Framework … React
</a:t>
            </a:r>
            <a:pPr indent="0" marL="0">
              <a:buNone/>
            </a:pPr>
            <a:r>
              <a:rPr lang="en-US" sz="1300" dirty="0">
                <a:solidFill>
                  <a:srgbClr val="CBF1F6"/>
                </a:solidFill>
                <a:latin typeface="Courier New" pitchFamily="34" charset="0"/>
                <a:ea typeface="Courier New" pitchFamily="34" charset="-122"/>
                <a:cs typeface="Courier New" pitchFamily="34" charset="-120"/>
              </a:rPr>
              <a:t>✓ Variant … JavaScript</a:t>
            </a:r>
            <a:endParaRPr lang="en-US" sz="1300" dirty="0"/>
          </a:p>
        </p:txBody>
      </p:sp>
      <p:sp>
        <p:nvSpPr>
          <p:cNvPr id="8" name="Text 6"/>
          <p:cNvSpPr/>
          <p:nvPr/>
        </p:nvSpPr>
        <p:spPr>
          <a:xfrm>
            <a:off x="6949440" y="1554480"/>
            <a:ext cx="45720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What you get:</a:t>
            </a:r>
            <a:endParaRPr lang="en-US" sz="1400" dirty="0"/>
          </a:p>
        </p:txBody>
      </p:sp>
      <p:sp>
        <p:nvSpPr>
          <p:cNvPr id="9" name="Text 7"/>
          <p:cNvSpPr/>
          <p:nvPr/>
        </p:nvSpPr>
        <p:spPr>
          <a:xfrm>
            <a:off x="6949440" y="1920240"/>
            <a:ext cx="4572000" cy="2377440"/>
          </a:xfrm>
          <a:prstGeom prst="rect">
            <a:avLst/>
          </a:prstGeom>
          <a:noFill/>
          <a:ln/>
        </p:spPr>
        <p:txBody>
          <a:bodyPr wrap="square" lIns="0" tIns="0" rIns="0" bIns="0" rtlCol="0" anchor="t"/>
          <a:lstStyle/>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Native ESM dev server (instant cold start)</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Rollup-based production builds</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Sensible HMR out of the box</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JS, TS, JSX, TSX support without config</a:t>
            </a:r>
            <a:endParaRPr lang="en-US" sz="1250" dirty="0"/>
          </a:p>
          <a:p>
            <a:pPr marL="342900" indent="-342900">
              <a:spcAft>
                <a:spcPts val="400"/>
              </a:spcAft>
              <a:buSzPct val="100000"/>
              <a:buChar char="•"/>
            </a:pPr>
            <a:r>
              <a:rPr lang="en-US" sz="1250" dirty="0">
                <a:solidFill>
                  <a:srgbClr val="475569"/>
                </a:solidFill>
                <a:latin typeface="Arial" pitchFamily="34" charset="0"/>
                <a:ea typeface="Arial" pitchFamily="34" charset="-122"/>
                <a:cs typeface="Arial" pitchFamily="34" charset="-120"/>
              </a:rPr>
              <a:t>Plugin ecosystem covers everything CRA used to plus React Router</a:t>
            </a:r>
            <a:endParaRPr lang="en-US" sz="1250" dirty="0"/>
          </a:p>
        </p:txBody>
      </p:sp>
      <p:sp>
        <p:nvSpPr>
          <p:cNvPr id="10" name="Shape 8"/>
          <p:cNvSpPr/>
          <p:nvPr/>
        </p:nvSpPr>
        <p:spPr>
          <a:xfrm>
            <a:off x="777240" y="4206240"/>
            <a:ext cx="10607040" cy="1371600"/>
          </a:xfrm>
          <a:prstGeom prst="rect">
            <a:avLst/>
          </a:prstGeom>
          <a:solidFill>
            <a:srgbClr val="CBF1F6"/>
          </a:solidFill>
          <a:ln w="12700">
            <a:solidFill>
              <a:srgbClr val="CBF1F6"/>
            </a:solidFill>
            <a:prstDash val="solid"/>
          </a:ln>
        </p:spPr>
      </p:sp>
      <p:pic>
        <p:nvPicPr>
          <p:cNvPr id="11" name="Image 0" descr="preencoded.png">    </p:cNvPr>
          <p:cNvPicPr>
            <a:picLocks noChangeAspect="1"/>
          </p:cNvPicPr>
          <p:nvPr/>
        </p:nvPicPr>
        <p:blipFill>
          <a:blip r:embed="rId1"/>
          <a:stretch>
            <a:fillRect/>
          </a:stretch>
        </p:blipFill>
        <p:spPr>
          <a:xfrm>
            <a:off x="1005840" y="4526280"/>
            <a:ext cx="548640" cy="548640"/>
          </a:xfrm>
          <a:prstGeom prst="rect">
            <a:avLst/>
          </a:prstGeom>
        </p:spPr>
      </p:pic>
      <p:sp>
        <p:nvSpPr>
          <p:cNvPr id="12" name="Text 9"/>
          <p:cNvSpPr/>
          <p:nvPr/>
        </p:nvSpPr>
        <p:spPr>
          <a:xfrm>
            <a:off x="1783080" y="4251960"/>
            <a:ext cx="9509760" cy="1280160"/>
          </a:xfrm>
          <a:prstGeom prst="rect">
            <a:avLst/>
          </a:prstGeom>
          <a:noFill/>
          <a:ln/>
        </p:spPr>
        <p:txBody>
          <a:bodyPr wrap="square" lIns="0" tIns="0" rIns="0" bIns="0" rtlCol="0" anchor="ctr"/>
          <a:lstStyle/>
          <a:p>
            <a:pPr indent="0" marL="0">
              <a:buNone/>
            </a:pPr>
            <a:r>
              <a:rPr lang="en-US" sz="1300" i="1" dirty="0">
                <a:solidFill>
                  <a:srgbClr val="0F172A"/>
                </a:solidFill>
                <a:latin typeface="Arial" pitchFamily="34" charset="0"/>
                <a:ea typeface="Arial" pitchFamily="34" charset="-122"/>
                <a:cs typeface="Arial" pitchFamily="34" charset="-120"/>
              </a:rPr>
              <a:t>Add the React Compiler with babel-plugin-react-compiler in your Vite config. The eslint plugin tells you which components opted out.</a:t>
            </a:r>
            <a:endParaRPr lang="en-US" sz="1300" dirty="0"/>
          </a:p>
        </p:txBody>
      </p:sp>
      <p:sp>
        <p:nvSpPr>
          <p:cNvPr id="13" name="Text 10"/>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14" name="Text 11"/>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22 / 30</a:t>
            </a:r>
            <a:endParaRPr lang="en-US" sz="90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When plain Vite + React is enough</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Don't reach for a framework reflexively. Sometimes Vite is the right answer.</a:t>
            </a:r>
            <a:endParaRPr lang="en-US" sz="1400" dirty="0"/>
          </a:p>
        </p:txBody>
      </p:sp>
      <p:sp>
        <p:nvSpPr>
          <p:cNvPr id="5" name="Shape 3"/>
          <p:cNvSpPr/>
          <p:nvPr/>
        </p:nvSpPr>
        <p:spPr>
          <a:xfrm>
            <a:off x="777240" y="1554480"/>
            <a:ext cx="10607040" cy="713232"/>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700784"/>
            <a:ext cx="411480" cy="411480"/>
          </a:xfrm>
          <a:prstGeom prst="rect">
            <a:avLst/>
          </a:prstGeom>
        </p:spPr>
      </p:pic>
      <p:sp>
        <p:nvSpPr>
          <p:cNvPr id="7" name="Text 4"/>
          <p:cNvSpPr/>
          <p:nvPr/>
        </p:nvSpPr>
        <p:spPr>
          <a:xfrm>
            <a:off x="1554480" y="1645920"/>
            <a:ext cx="9784080" cy="54864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Internal tools and dashboards behind auth — SEO doesn't matter, server rendering doesn't matter</a:t>
            </a:r>
            <a:endParaRPr lang="en-US" sz="1250" dirty="0"/>
          </a:p>
        </p:txBody>
      </p:sp>
      <p:sp>
        <p:nvSpPr>
          <p:cNvPr id="8" name="Shape 5"/>
          <p:cNvSpPr/>
          <p:nvPr/>
        </p:nvSpPr>
        <p:spPr>
          <a:xfrm>
            <a:off x="777240" y="2423160"/>
            <a:ext cx="10607040" cy="713232"/>
          </a:xfrm>
          <a:prstGeom prst="rect">
            <a:avLst/>
          </a:prstGeom>
          <a:solidFill>
            <a:srgbClr val="FFFFFF"/>
          </a:solidFill>
          <a:ln w="12700">
            <a:solidFill>
              <a:srgbClr val="E2E8F0"/>
            </a:solidFill>
            <a:prstDash val="solid"/>
          </a:ln>
        </p:spPr>
      </p:sp>
      <p:pic>
        <p:nvPicPr>
          <p:cNvPr id="9" name="Image 1" descr="preencoded.png">    </p:cNvPr>
          <p:cNvPicPr>
            <a:picLocks noChangeAspect="1"/>
          </p:cNvPicPr>
          <p:nvPr/>
        </p:nvPicPr>
        <p:blipFill>
          <a:blip r:embed="rId2"/>
          <a:stretch>
            <a:fillRect/>
          </a:stretch>
        </p:blipFill>
        <p:spPr>
          <a:xfrm>
            <a:off x="960120" y="2569464"/>
            <a:ext cx="411480" cy="411480"/>
          </a:xfrm>
          <a:prstGeom prst="rect">
            <a:avLst/>
          </a:prstGeom>
        </p:spPr>
      </p:pic>
      <p:sp>
        <p:nvSpPr>
          <p:cNvPr id="10" name="Text 6"/>
          <p:cNvSpPr/>
          <p:nvPr/>
        </p:nvSpPr>
        <p:spPr>
          <a:xfrm>
            <a:off x="1554480" y="2514600"/>
            <a:ext cx="9784080" cy="54864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Single-page applications where the data model is mostly client-side state</a:t>
            </a:r>
            <a:endParaRPr lang="en-US" sz="1250" dirty="0"/>
          </a:p>
        </p:txBody>
      </p:sp>
      <p:sp>
        <p:nvSpPr>
          <p:cNvPr id="11" name="Shape 7"/>
          <p:cNvSpPr/>
          <p:nvPr/>
        </p:nvSpPr>
        <p:spPr>
          <a:xfrm>
            <a:off x="777240" y="3291840"/>
            <a:ext cx="10607040" cy="713232"/>
          </a:xfrm>
          <a:prstGeom prst="rect">
            <a:avLst/>
          </a:prstGeom>
          <a:solidFill>
            <a:srgbClr val="FFFFFF"/>
          </a:solidFill>
          <a:ln w="12700">
            <a:solidFill>
              <a:srgbClr val="E2E8F0"/>
            </a:solidFill>
            <a:prstDash val="solid"/>
          </a:ln>
        </p:spPr>
      </p:sp>
      <p:pic>
        <p:nvPicPr>
          <p:cNvPr id="12" name="Image 2" descr="preencoded.png">    </p:cNvPr>
          <p:cNvPicPr>
            <a:picLocks noChangeAspect="1"/>
          </p:cNvPicPr>
          <p:nvPr/>
        </p:nvPicPr>
        <p:blipFill>
          <a:blip r:embed="rId3"/>
          <a:stretch>
            <a:fillRect/>
          </a:stretch>
        </p:blipFill>
        <p:spPr>
          <a:xfrm>
            <a:off x="960120" y="3438144"/>
            <a:ext cx="411480" cy="411480"/>
          </a:xfrm>
          <a:prstGeom prst="rect">
            <a:avLst/>
          </a:prstGeom>
        </p:spPr>
      </p:pic>
      <p:sp>
        <p:nvSpPr>
          <p:cNvPr id="13" name="Text 8"/>
          <p:cNvSpPr/>
          <p:nvPr/>
        </p:nvSpPr>
        <p:spPr>
          <a:xfrm>
            <a:off x="1554480" y="3383280"/>
            <a:ext cx="9784080" cy="54864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Embeddable widgets shipped as a single bundle into a host page</a:t>
            </a:r>
            <a:endParaRPr lang="en-US" sz="1250" dirty="0"/>
          </a:p>
        </p:txBody>
      </p:sp>
      <p:sp>
        <p:nvSpPr>
          <p:cNvPr id="14" name="Shape 9"/>
          <p:cNvSpPr/>
          <p:nvPr/>
        </p:nvSpPr>
        <p:spPr>
          <a:xfrm>
            <a:off x="777240" y="4160520"/>
            <a:ext cx="10607040" cy="713232"/>
          </a:xfrm>
          <a:prstGeom prst="rect">
            <a:avLst/>
          </a:prstGeom>
          <a:solidFill>
            <a:srgbClr val="FFFFFF"/>
          </a:solidFill>
          <a:ln w="12700">
            <a:solidFill>
              <a:srgbClr val="E2E8F0"/>
            </a:solidFill>
            <a:prstDash val="solid"/>
          </a:ln>
        </p:spPr>
      </p:sp>
      <p:pic>
        <p:nvPicPr>
          <p:cNvPr id="15" name="Image 3" descr="preencoded.png">    </p:cNvPr>
          <p:cNvPicPr>
            <a:picLocks noChangeAspect="1"/>
          </p:cNvPicPr>
          <p:nvPr/>
        </p:nvPicPr>
        <p:blipFill>
          <a:blip r:embed="rId4"/>
          <a:stretch>
            <a:fillRect/>
          </a:stretch>
        </p:blipFill>
        <p:spPr>
          <a:xfrm>
            <a:off x="960120" y="4306824"/>
            <a:ext cx="411480" cy="411480"/>
          </a:xfrm>
          <a:prstGeom prst="rect">
            <a:avLst/>
          </a:prstGeom>
        </p:spPr>
      </p:pic>
      <p:sp>
        <p:nvSpPr>
          <p:cNvPr id="16" name="Text 10"/>
          <p:cNvSpPr/>
          <p:nvPr/>
        </p:nvSpPr>
        <p:spPr>
          <a:xfrm>
            <a:off x="1554480" y="4251960"/>
            <a:ext cx="9784080" cy="54864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Prototypes and proofs-of-concept where shipping speed beats architectural perfection</a:t>
            </a:r>
            <a:endParaRPr lang="en-US" sz="1250" dirty="0"/>
          </a:p>
        </p:txBody>
      </p:sp>
      <p:sp>
        <p:nvSpPr>
          <p:cNvPr id="17" name="Shape 11"/>
          <p:cNvSpPr/>
          <p:nvPr/>
        </p:nvSpPr>
        <p:spPr>
          <a:xfrm>
            <a:off x="777240" y="5029200"/>
            <a:ext cx="10607040" cy="713232"/>
          </a:xfrm>
          <a:prstGeom prst="rect">
            <a:avLst/>
          </a:prstGeom>
          <a:solidFill>
            <a:srgbClr val="FFFFFF"/>
          </a:solidFill>
          <a:ln w="12700">
            <a:solidFill>
              <a:srgbClr val="E2E8F0"/>
            </a:solidFill>
            <a:prstDash val="solid"/>
          </a:ln>
        </p:spPr>
      </p:sp>
      <p:pic>
        <p:nvPicPr>
          <p:cNvPr id="18" name="Image 4" descr="preencoded.png">    </p:cNvPr>
          <p:cNvPicPr>
            <a:picLocks noChangeAspect="1"/>
          </p:cNvPicPr>
          <p:nvPr/>
        </p:nvPicPr>
        <p:blipFill>
          <a:blip r:embed="rId5"/>
          <a:stretch>
            <a:fillRect/>
          </a:stretch>
        </p:blipFill>
        <p:spPr>
          <a:xfrm>
            <a:off x="960120" y="5175504"/>
            <a:ext cx="411480" cy="411480"/>
          </a:xfrm>
          <a:prstGeom prst="rect">
            <a:avLst/>
          </a:prstGeom>
        </p:spPr>
      </p:pic>
      <p:sp>
        <p:nvSpPr>
          <p:cNvPr id="19" name="Text 12"/>
          <p:cNvSpPr/>
          <p:nvPr/>
        </p:nvSpPr>
        <p:spPr>
          <a:xfrm>
            <a:off x="1554480" y="5120640"/>
            <a:ext cx="9784080" cy="54864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Storybooks, design systems, component libraries — not really apps in the framework sense</a:t>
            </a:r>
            <a:endParaRPr lang="en-US" sz="1250" dirty="0"/>
          </a:p>
        </p:txBody>
      </p:sp>
      <p:sp>
        <p:nvSpPr>
          <p:cNvPr id="20" name="Text 13"/>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21" name="Text 14"/>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23 / 30</a:t>
            </a:r>
            <a:endParaRPr lang="en-US" sz="90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When you do need a framework</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Most consumer-facing apps land here.</a:t>
            </a:r>
            <a:endParaRPr lang="en-US" sz="1400" dirty="0"/>
          </a:p>
        </p:txBody>
      </p:sp>
      <p:sp>
        <p:nvSpPr>
          <p:cNvPr id="5" name="Shape 3"/>
          <p:cNvSpPr/>
          <p:nvPr/>
        </p:nvSpPr>
        <p:spPr>
          <a:xfrm>
            <a:off x="777240" y="1554480"/>
            <a:ext cx="10607040" cy="713232"/>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960120" y="1700784"/>
            <a:ext cx="411480" cy="411480"/>
          </a:xfrm>
          <a:prstGeom prst="rect">
            <a:avLst/>
          </a:prstGeom>
        </p:spPr>
      </p:pic>
      <p:sp>
        <p:nvSpPr>
          <p:cNvPr id="7" name="Text 4"/>
          <p:cNvSpPr/>
          <p:nvPr/>
        </p:nvSpPr>
        <p:spPr>
          <a:xfrm>
            <a:off x="1554480" y="1645920"/>
            <a:ext cx="9784080" cy="54864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Public-facing pages that need SEO and shareable URLs</a:t>
            </a:r>
            <a:endParaRPr lang="en-US" sz="1250" dirty="0"/>
          </a:p>
        </p:txBody>
      </p:sp>
      <p:sp>
        <p:nvSpPr>
          <p:cNvPr id="8" name="Shape 5"/>
          <p:cNvSpPr/>
          <p:nvPr/>
        </p:nvSpPr>
        <p:spPr>
          <a:xfrm>
            <a:off x="777240" y="2423160"/>
            <a:ext cx="10607040" cy="713232"/>
          </a:xfrm>
          <a:prstGeom prst="rect">
            <a:avLst/>
          </a:prstGeom>
          <a:solidFill>
            <a:srgbClr val="FFFFFF"/>
          </a:solidFill>
          <a:ln w="12700">
            <a:solidFill>
              <a:srgbClr val="E2E8F0"/>
            </a:solidFill>
            <a:prstDash val="solid"/>
          </a:ln>
        </p:spPr>
      </p:sp>
      <p:pic>
        <p:nvPicPr>
          <p:cNvPr id="9" name="Image 1" descr="preencoded.png">    </p:cNvPr>
          <p:cNvPicPr>
            <a:picLocks noChangeAspect="1"/>
          </p:cNvPicPr>
          <p:nvPr/>
        </p:nvPicPr>
        <p:blipFill>
          <a:blip r:embed="rId2"/>
          <a:stretch>
            <a:fillRect/>
          </a:stretch>
        </p:blipFill>
        <p:spPr>
          <a:xfrm>
            <a:off x="960120" y="2569464"/>
            <a:ext cx="411480" cy="411480"/>
          </a:xfrm>
          <a:prstGeom prst="rect">
            <a:avLst/>
          </a:prstGeom>
        </p:spPr>
      </p:pic>
      <p:sp>
        <p:nvSpPr>
          <p:cNvPr id="10" name="Text 6"/>
          <p:cNvSpPr/>
          <p:nvPr/>
        </p:nvSpPr>
        <p:spPr>
          <a:xfrm>
            <a:off x="1554480" y="2514600"/>
            <a:ext cx="9784080" cy="54864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Server Components and Server Actions — they require a framework runtime</a:t>
            </a:r>
            <a:endParaRPr lang="en-US" sz="1250" dirty="0"/>
          </a:p>
        </p:txBody>
      </p:sp>
      <p:sp>
        <p:nvSpPr>
          <p:cNvPr id="11" name="Shape 7"/>
          <p:cNvSpPr/>
          <p:nvPr/>
        </p:nvSpPr>
        <p:spPr>
          <a:xfrm>
            <a:off x="777240" y="3291840"/>
            <a:ext cx="10607040" cy="713232"/>
          </a:xfrm>
          <a:prstGeom prst="rect">
            <a:avLst/>
          </a:prstGeom>
          <a:solidFill>
            <a:srgbClr val="FFFFFF"/>
          </a:solidFill>
          <a:ln w="12700">
            <a:solidFill>
              <a:srgbClr val="E2E8F0"/>
            </a:solidFill>
            <a:prstDash val="solid"/>
          </a:ln>
        </p:spPr>
      </p:sp>
      <p:pic>
        <p:nvPicPr>
          <p:cNvPr id="12" name="Image 2" descr="preencoded.png">    </p:cNvPr>
          <p:cNvPicPr>
            <a:picLocks noChangeAspect="1"/>
          </p:cNvPicPr>
          <p:nvPr/>
        </p:nvPicPr>
        <p:blipFill>
          <a:blip r:embed="rId3"/>
          <a:stretch>
            <a:fillRect/>
          </a:stretch>
        </p:blipFill>
        <p:spPr>
          <a:xfrm>
            <a:off x="960120" y="3438144"/>
            <a:ext cx="411480" cy="411480"/>
          </a:xfrm>
          <a:prstGeom prst="rect">
            <a:avLst/>
          </a:prstGeom>
        </p:spPr>
      </p:pic>
      <p:sp>
        <p:nvSpPr>
          <p:cNvPr id="13" name="Text 8"/>
          <p:cNvSpPr/>
          <p:nvPr/>
        </p:nvSpPr>
        <p:spPr>
          <a:xfrm>
            <a:off x="1554480" y="3383280"/>
            <a:ext cx="9784080" cy="54864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Streaming SSR with sensible defaults (the renderToPipeableStream-by-hand path is a sharp edge)</a:t>
            </a:r>
            <a:endParaRPr lang="en-US" sz="1250" dirty="0"/>
          </a:p>
        </p:txBody>
      </p:sp>
      <p:sp>
        <p:nvSpPr>
          <p:cNvPr id="14" name="Shape 9"/>
          <p:cNvSpPr/>
          <p:nvPr/>
        </p:nvSpPr>
        <p:spPr>
          <a:xfrm>
            <a:off x="777240" y="4160520"/>
            <a:ext cx="10607040" cy="713232"/>
          </a:xfrm>
          <a:prstGeom prst="rect">
            <a:avLst/>
          </a:prstGeom>
          <a:solidFill>
            <a:srgbClr val="FFFFFF"/>
          </a:solidFill>
          <a:ln w="12700">
            <a:solidFill>
              <a:srgbClr val="E2E8F0"/>
            </a:solidFill>
            <a:prstDash val="solid"/>
          </a:ln>
        </p:spPr>
      </p:sp>
      <p:pic>
        <p:nvPicPr>
          <p:cNvPr id="15" name="Image 3" descr="preencoded.png">    </p:cNvPr>
          <p:cNvPicPr>
            <a:picLocks noChangeAspect="1"/>
          </p:cNvPicPr>
          <p:nvPr/>
        </p:nvPicPr>
        <p:blipFill>
          <a:blip r:embed="rId4"/>
          <a:stretch>
            <a:fillRect/>
          </a:stretch>
        </p:blipFill>
        <p:spPr>
          <a:xfrm>
            <a:off x="960120" y="4306824"/>
            <a:ext cx="411480" cy="411480"/>
          </a:xfrm>
          <a:prstGeom prst="rect">
            <a:avLst/>
          </a:prstGeom>
        </p:spPr>
      </p:pic>
      <p:sp>
        <p:nvSpPr>
          <p:cNvPr id="16" name="Text 10"/>
          <p:cNvSpPr/>
          <p:nvPr/>
        </p:nvSpPr>
        <p:spPr>
          <a:xfrm>
            <a:off x="1554480" y="4251960"/>
            <a:ext cx="9784080" cy="54864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File-based routing, route loaders, and built-in data fetching conventions</a:t>
            </a:r>
            <a:endParaRPr lang="en-US" sz="1250" dirty="0"/>
          </a:p>
        </p:txBody>
      </p:sp>
      <p:sp>
        <p:nvSpPr>
          <p:cNvPr id="17" name="Shape 11"/>
          <p:cNvSpPr/>
          <p:nvPr/>
        </p:nvSpPr>
        <p:spPr>
          <a:xfrm>
            <a:off x="777240" y="5029200"/>
            <a:ext cx="10607040" cy="713232"/>
          </a:xfrm>
          <a:prstGeom prst="rect">
            <a:avLst/>
          </a:prstGeom>
          <a:solidFill>
            <a:srgbClr val="FFFFFF"/>
          </a:solidFill>
          <a:ln w="12700">
            <a:solidFill>
              <a:srgbClr val="E2E8F0"/>
            </a:solidFill>
            <a:prstDash val="solid"/>
          </a:ln>
        </p:spPr>
      </p:sp>
      <p:pic>
        <p:nvPicPr>
          <p:cNvPr id="18" name="Image 4" descr="preencoded.png">    </p:cNvPr>
          <p:cNvPicPr>
            <a:picLocks noChangeAspect="1"/>
          </p:cNvPicPr>
          <p:nvPr/>
        </p:nvPicPr>
        <p:blipFill>
          <a:blip r:embed="rId5"/>
          <a:stretch>
            <a:fillRect/>
          </a:stretch>
        </p:blipFill>
        <p:spPr>
          <a:xfrm>
            <a:off x="960120" y="5175504"/>
            <a:ext cx="411480" cy="411480"/>
          </a:xfrm>
          <a:prstGeom prst="rect">
            <a:avLst/>
          </a:prstGeom>
        </p:spPr>
      </p:pic>
      <p:sp>
        <p:nvSpPr>
          <p:cNvPr id="19" name="Text 12"/>
          <p:cNvSpPr/>
          <p:nvPr/>
        </p:nvSpPr>
        <p:spPr>
          <a:xfrm>
            <a:off x="1554480" y="5120640"/>
            <a:ext cx="9784080" cy="54864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Production deployment story: edge runtime, ISR, partial prerendering</a:t>
            </a:r>
            <a:endParaRPr lang="en-US" sz="1250" dirty="0"/>
          </a:p>
        </p:txBody>
      </p:sp>
      <p:sp>
        <p:nvSpPr>
          <p:cNvPr id="20" name="Text 13"/>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21" name="Text 14"/>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24 / 30</a:t>
            </a:r>
            <a:endParaRPr lang="en-US" sz="90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Framework picks in 2026</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We'll teach in two of these. The others are useful to recognize.</a:t>
            </a:r>
            <a:endParaRPr lang="en-US" sz="1400" dirty="0"/>
          </a:p>
        </p:txBody>
      </p:sp>
      <p:sp>
        <p:nvSpPr>
          <p:cNvPr id="5" name="Shape 3"/>
          <p:cNvSpPr/>
          <p:nvPr/>
        </p:nvSpPr>
        <p:spPr>
          <a:xfrm>
            <a:off x="777240" y="1554480"/>
            <a:ext cx="10607040" cy="841248"/>
          </a:xfrm>
          <a:prstGeom prst="rect">
            <a:avLst/>
          </a:prstGeom>
          <a:solidFill>
            <a:srgbClr val="CBF1F6"/>
          </a:solidFill>
          <a:ln w="12700">
            <a:solidFill>
              <a:srgbClr val="E2E8F0"/>
            </a:solidFill>
            <a:prstDash val="solid"/>
          </a:ln>
        </p:spPr>
      </p:sp>
      <p:sp>
        <p:nvSpPr>
          <p:cNvPr id="6" name="Text 4"/>
          <p:cNvSpPr/>
          <p:nvPr/>
        </p:nvSpPr>
        <p:spPr>
          <a:xfrm>
            <a:off x="960120" y="1664208"/>
            <a:ext cx="4114800" cy="548640"/>
          </a:xfrm>
          <a:prstGeom prst="rect">
            <a:avLst/>
          </a:prstGeom>
          <a:noFill/>
          <a:ln/>
        </p:spPr>
        <p:txBody>
          <a:bodyPr wrap="square" lIns="0" tIns="0" rIns="0" bIns="0" rtlCol="0" anchor="ctr"/>
          <a:lstStyle/>
          <a:p>
            <a:pPr indent="0" marL="0">
              <a:buNone/>
            </a:pPr>
            <a:r>
              <a:rPr lang="en-US" sz="1600" b="1" dirty="0">
                <a:solidFill>
                  <a:srgbClr val="0F172A"/>
                </a:solidFill>
                <a:latin typeface="Trebuchet MS" pitchFamily="34" charset="0"/>
                <a:ea typeface="Trebuchet MS" pitchFamily="34" charset="-122"/>
                <a:cs typeface="Trebuchet MS" pitchFamily="34" charset="-120"/>
              </a:rPr>
              <a:t>Next.js 15</a:t>
            </a:r>
            <a:endParaRPr lang="en-US" sz="1600" dirty="0"/>
          </a:p>
        </p:txBody>
      </p:sp>
      <p:sp>
        <p:nvSpPr>
          <p:cNvPr id="7" name="Text 5"/>
          <p:cNvSpPr/>
          <p:nvPr/>
        </p:nvSpPr>
        <p:spPr>
          <a:xfrm>
            <a:off x="5120640" y="1664208"/>
            <a:ext cx="6126480" cy="64008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Vercel-led. App Router + Server Components + Server Actions. Largest ecosystem.</a:t>
            </a:r>
            <a:endParaRPr lang="en-US" sz="1250" dirty="0"/>
          </a:p>
        </p:txBody>
      </p:sp>
      <p:sp>
        <p:nvSpPr>
          <p:cNvPr id="8" name="Text 6"/>
          <p:cNvSpPr/>
          <p:nvPr/>
        </p:nvSpPr>
        <p:spPr>
          <a:xfrm>
            <a:off x="10149840" y="1609344"/>
            <a:ext cx="1097280" cy="320040"/>
          </a:xfrm>
          <a:prstGeom prst="rect">
            <a:avLst/>
          </a:prstGeom>
          <a:noFill/>
          <a:ln/>
        </p:spPr>
        <p:txBody>
          <a:bodyPr wrap="square" lIns="0" tIns="0" rIns="0" bIns="0" rtlCol="0" anchor="ctr"/>
          <a:lstStyle/>
          <a:p>
            <a:pPr algn="r" indent="0" marL="0">
              <a:buNone/>
            </a:pPr>
            <a:r>
              <a:rPr lang="en-US" sz="950" b="1" dirty="0">
                <a:solidFill>
                  <a:srgbClr val="00B8D9"/>
                </a:solidFill>
                <a:latin typeface="Trebuchet MS" pitchFamily="34" charset="0"/>
                <a:ea typeface="Trebuchet MS" pitchFamily="34" charset="-122"/>
                <a:cs typeface="Trebuchet MS" pitchFamily="34" charset="-120"/>
              </a:rPr>
              <a:t>taught</a:t>
            </a:r>
            <a:endParaRPr lang="en-US" sz="950" dirty="0"/>
          </a:p>
        </p:txBody>
      </p:sp>
      <p:sp>
        <p:nvSpPr>
          <p:cNvPr id="9" name="Shape 7"/>
          <p:cNvSpPr/>
          <p:nvPr/>
        </p:nvSpPr>
        <p:spPr>
          <a:xfrm>
            <a:off x="777240" y="2560320"/>
            <a:ext cx="10607040" cy="841248"/>
          </a:xfrm>
          <a:prstGeom prst="rect">
            <a:avLst/>
          </a:prstGeom>
          <a:solidFill>
            <a:srgbClr val="CBF1F6"/>
          </a:solidFill>
          <a:ln w="12700">
            <a:solidFill>
              <a:srgbClr val="E2E8F0"/>
            </a:solidFill>
            <a:prstDash val="solid"/>
          </a:ln>
        </p:spPr>
      </p:sp>
      <p:sp>
        <p:nvSpPr>
          <p:cNvPr id="10" name="Text 8"/>
          <p:cNvSpPr/>
          <p:nvPr/>
        </p:nvSpPr>
        <p:spPr>
          <a:xfrm>
            <a:off x="960120" y="2670048"/>
            <a:ext cx="4114800" cy="548640"/>
          </a:xfrm>
          <a:prstGeom prst="rect">
            <a:avLst/>
          </a:prstGeom>
          <a:noFill/>
          <a:ln/>
        </p:spPr>
        <p:txBody>
          <a:bodyPr wrap="square" lIns="0" tIns="0" rIns="0" bIns="0" rtlCol="0" anchor="ctr"/>
          <a:lstStyle/>
          <a:p>
            <a:pPr indent="0" marL="0">
              <a:buNone/>
            </a:pPr>
            <a:r>
              <a:rPr lang="en-US" sz="1600" b="1" dirty="0">
                <a:solidFill>
                  <a:srgbClr val="0F172A"/>
                </a:solidFill>
                <a:latin typeface="Trebuchet MS" pitchFamily="34" charset="0"/>
                <a:ea typeface="Trebuchet MS" pitchFamily="34" charset="-122"/>
                <a:cs typeface="Trebuchet MS" pitchFamily="34" charset="-120"/>
              </a:rPr>
              <a:t>React Router v7 (framework)</a:t>
            </a:r>
            <a:endParaRPr lang="en-US" sz="1600" dirty="0"/>
          </a:p>
        </p:txBody>
      </p:sp>
      <p:sp>
        <p:nvSpPr>
          <p:cNvPr id="11" name="Text 9"/>
          <p:cNvSpPr/>
          <p:nvPr/>
        </p:nvSpPr>
        <p:spPr>
          <a:xfrm>
            <a:off x="5120640" y="2670048"/>
            <a:ext cx="6126480" cy="64008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Merged with Remix in late 2024. Loaders, actions, framework mode. Strong fit for app-style sites.</a:t>
            </a:r>
            <a:endParaRPr lang="en-US" sz="1250" dirty="0"/>
          </a:p>
        </p:txBody>
      </p:sp>
      <p:sp>
        <p:nvSpPr>
          <p:cNvPr id="12" name="Text 10"/>
          <p:cNvSpPr/>
          <p:nvPr/>
        </p:nvSpPr>
        <p:spPr>
          <a:xfrm>
            <a:off x="10149840" y="2615184"/>
            <a:ext cx="1097280" cy="320040"/>
          </a:xfrm>
          <a:prstGeom prst="rect">
            <a:avLst/>
          </a:prstGeom>
          <a:noFill/>
          <a:ln/>
        </p:spPr>
        <p:txBody>
          <a:bodyPr wrap="square" lIns="0" tIns="0" rIns="0" bIns="0" rtlCol="0" anchor="ctr"/>
          <a:lstStyle/>
          <a:p>
            <a:pPr algn="r" indent="0" marL="0">
              <a:buNone/>
            </a:pPr>
            <a:r>
              <a:rPr lang="en-US" sz="950" b="1" dirty="0">
                <a:solidFill>
                  <a:srgbClr val="00B8D9"/>
                </a:solidFill>
                <a:latin typeface="Trebuchet MS" pitchFamily="34" charset="0"/>
                <a:ea typeface="Trebuchet MS" pitchFamily="34" charset="-122"/>
                <a:cs typeface="Trebuchet MS" pitchFamily="34" charset="-120"/>
              </a:rPr>
              <a:t>taught</a:t>
            </a:r>
            <a:endParaRPr lang="en-US" sz="950" dirty="0"/>
          </a:p>
        </p:txBody>
      </p:sp>
      <p:sp>
        <p:nvSpPr>
          <p:cNvPr id="13" name="Shape 11"/>
          <p:cNvSpPr/>
          <p:nvPr/>
        </p:nvSpPr>
        <p:spPr>
          <a:xfrm>
            <a:off x="777240" y="3566160"/>
            <a:ext cx="10607040" cy="841248"/>
          </a:xfrm>
          <a:prstGeom prst="rect">
            <a:avLst/>
          </a:prstGeom>
          <a:solidFill>
            <a:srgbClr val="FFFFFF"/>
          </a:solidFill>
          <a:ln w="12700">
            <a:solidFill>
              <a:srgbClr val="E2E8F0"/>
            </a:solidFill>
            <a:prstDash val="solid"/>
          </a:ln>
        </p:spPr>
      </p:sp>
      <p:sp>
        <p:nvSpPr>
          <p:cNvPr id="14" name="Text 12"/>
          <p:cNvSpPr/>
          <p:nvPr/>
        </p:nvSpPr>
        <p:spPr>
          <a:xfrm>
            <a:off x="960120" y="3675888"/>
            <a:ext cx="4114800" cy="548640"/>
          </a:xfrm>
          <a:prstGeom prst="rect">
            <a:avLst/>
          </a:prstGeom>
          <a:noFill/>
          <a:ln/>
        </p:spPr>
        <p:txBody>
          <a:bodyPr wrap="square" lIns="0" tIns="0" rIns="0" bIns="0" rtlCol="0" anchor="ctr"/>
          <a:lstStyle/>
          <a:p>
            <a:pPr indent="0" marL="0">
              <a:buNone/>
            </a:pPr>
            <a:r>
              <a:rPr lang="en-US" sz="1600" b="1" dirty="0">
                <a:solidFill>
                  <a:srgbClr val="0F172A"/>
                </a:solidFill>
                <a:latin typeface="Trebuchet MS" pitchFamily="34" charset="0"/>
                <a:ea typeface="Trebuchet MS" pitchFamily="34" charset="-122"/>
                <a:cs typeface="Trebuchet MS" pitchFamily="34" charset="-120"/>
              </a:rPr>
              <a:t>TanStack Start</a:t>
            </a:r>
            <a:endParaRPr lang="en-US" sz="1600" dirty="0"/>
          </a:p>
        </p:txBody>
      </p:sp>
      <p:sp>
        <p:nvSpPr>
          <p:cNvPr id="15" name="Text 13"/>
          <p:cNvSpPr/>
          <p:nvPr/>
        </p:nvSpPr>
        <p:spPr>
          <a:xfrm>
            <a:off x="5120640" y="3675888"/>
            <a:ext cx="6126480" cy="64008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Built on TanStack Router + TanStack Query. Newer; appealing if you live in TanStack land.</a:t>
            </a:r>
            <a:endParaRPr lang="en-US" sz="1250" dirty="0"/>
          </a:p>
        </p:txBody>
      </p:sp>
      <p:sp>
        <p:nvSpPr>
          <p:cNvPr id="16" name="Shape 14"/>
          <p:cNvSpPr/>
          <p:nvPr/>
        </p:nvSpPr>
        <p:spPr>
          <a:xfrm>
            <a:off x="777240" y="4572000"/>
            <a:ext cx="10607040" cy="841248"/>
          </a:xfrm>
          <a:prstGeom prst="rect">
            <a:avLst/>
          </a:prstGeom>
          <a:solidFill>
            <a:srgbClr val="FFFFFF"/>
          </a:solidFill>
          <a:ln w="12700">
            <a:solidFill>
              <a:srgbClr val="E2E8F0"/>
            </a:solidFill>
            <a:prstDash val="solid"/>
          </a:ln>
        </p:spPr>
      </p:sp>
      <p:sp>
        <p:nvSpPr>
          <p:cNvPr id="17" name="Text 15"/>
          <p:cNvSpPr/>
          <p:nvPr/>
        </p:nvSpPr>
        <p:spPr>
          <a:xfrm>
            <a:off x="960120" y="4681728"/>
            <a:ext cx="4114800" cy="548640"/>
          </a:xfrm>
          <a:prstGeom prst="rect">
            <a:avLst/>
          </a:prstGeom>
          <a:noFill/>
          <a:ln/>
        </p:spPr>
        <p:txBody>
          <a:bodyPr wrap="square" lIns="0" tIns="0" rIns="0" bIns="0" rtlCol="0" anchor="ctr"/>
          <a:lstStyle/>
          <a:p>
            <a:pPr indent="0" marL="0">
              <a:buNone/>
            </a:pPr>
            <a:r>
              <a:rPr lang="en-US" sz="1600" b="1" dirty="0">
                <a:solidFill>
                  <a:srgbClr val="0F172A"/>
                </a:solidFill>
                <a:latin typeface="Trebuchet MS" pitchFamily="34" charset="0"/>
                <a:ea typeface="Trebuchet MS" pitchFamily="34" charset="-122"/>
                <a:cs typeface="Trebuchet MS" pitchFamily="34" charset="-120"/>
              </a:rPr>
              <a:t>Astro</a:t>
            </a:r>
            <a:endParaRPr lang="en-US" sz="1600" dirty="0"/>
          </a:p>
        </p:txBody>
      </p:sp>
      <p:sp>
        <p:nvSpPr>
          <p:cNvPr id="18" name="Text 16"/>
          <p:cNvSpPr/>
          <p:nvPr/>
        </p:nvSpPr>
        <p:spPr>
          <a:xfrm>
            <a:off x="5120640" y="4681728"/>
            <a:ext cx="6126480" cy="640080"/>
          </a:xfrm>
          <a:prstGeom prst="rect">
            <a:avLst/>
          </a:prstGeom>
          <a:noFill/>
          <a:ln/>
        </p:spPr>
        <p:txBody>
          <a:bodyPr wrap="square" lIns="0" tIns="0" rIns="0" bIns="0" rtlCol="0" anchor="ctr"/>
          <a:lstStyle/>
          <a:p>
            <a:pPr indent="0" marL="0">
              <a:buNone/>
            </a:pPr>
            <a:r>
              <a:rPr lang="en-US" sz="1250" dirty="0">
                <a:solidFill>
                  <a:srgbClr val="475569"/>
                </a:solidFill>
                <a:latin typeface="Arial" pitchFamily="34" charset="0"/>
                <a:ea typeface="Arial" pitchFamily="34" charset="-122"/>
                <a:cs typeface="Arial" pitchFamily="34" charset="-120"/>
              </a:rPr>
              <a:t>Content-first. React as one of many island flavors. Great for marketing sites and docs.</a:t>
            </a:r>
            <a:endParaRPr lang="en-US" sz="1250" dirty="0"/>
          </a:p>
        </p:txBody>
      </p:sp>
      <p:sp>
        <p:nvSpPr>
          <p:cNvPr id="19" name="Text 17"/>
          <p:cNvSpPr/>
          <p:nvPr/>
        </p:nvSpPr>
        <p:spPr>
          <a:xfrm>
            <a:off x="777240" y="5760720"/>
            <a:ext cx="10607040" cy="457200"/>
          </a:xfrm>
          <a:prstGeom prst="rect">
            <a:avLst/>
          </a:prstGeom>
          <a:noFill/>
          <a:ln/>
        </p:spPr>
        <p:txBody>
          <a:bodyPr wrap="square" lIns="0" tIns="0" rIns="0" bIns="0" rtlCol="0" anchor="ctr"/>
          <a:lstStyle/>
          <a:p>
            <a:pPr indent="0" marL="0">
              <a:buNone/>
            </a:pPr>
            <a:r>
              <a:rPr lang="en-US" sz="1250" i="1" dirty="0">
                <a:solidFill>
                  <a:srgbClr val="475569"/>
                </a:solidFill>
                <a:latin typeface="Arial" pitchFamily="34" charset="0"/>
                <a:ea typeface="Arial" pitchFamily="34" charset="-122"/>
                <a:cs typeface="Arial" pitchFamily="34" charset="-120"/>
              </a:rPr>
              <a:t>Lab 2 implements the same auth flow in both Next.js 15 and React Router v7 framework mode. You'll see them side-by-side.</a:t>
            </a:r>
            <a:endParaRPr lang="en-US" sz="1250" dirty="0"/>
          </a:p>
        </p:txBody>
      </p:sp>
      <p:sp>
        <p:nvSpPr>
          <p:cNvPr id="20" name="Text 18"/>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21" name="Text 19"/>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25 / 30</a:t>
            </a:r>
            <a:endParaRPr lang="en-US" sz="9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Next.js 15</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Most popular React framework. App Router + RSC by default in new projects.</a:t>
            </a:r>
            <a:endParaRPr lang="en-US" sz="1400" dirty="0"/>
          </a:p>
        </p:txBody>
      </p:sp>
      <p:sp>
        <p:nvSpPr>
          <p:cNvPr id="5" name="Shape 3"/>
          <p:cNvSpPr/>
          <p:nvPr/>
        </p:nvSpPr>
        <p:spPr>
          <a:xfrm>
            <a:off x="777240" y="1691640"/>
            <a:ext cx="5349240" cy="4389120"/>
          </a:xfrm>
          <a:prstGeom prst="rect">
            <a:avLst/>
          </a:prstGeom>
          <a:solidFill>
            <a:srgbClr val="FFFFFF"/>
          </a:solidFill>
          <a:ln w="12700">
            <a:solidFill>
              <a:srgbClr val="E2E8F0"/>
            </a:solidFill>
            <a:prstDash val="solid"/>
          </a:ln>
        </p:spPr>
      </p:sp>
      <p:sp>
        <p:nvSpPr>
          <p:cNvPr id="6" name="Text 4"/>
          <p:cNvSpPr/>
          <p:nvPr/>
        </p:nvSpPr>
        <p:spPr>
          <a:xfrm>
            <a:off x="960120" y="1874520"/>
            <a:ext cx="5029200" cy="365760"/>
          </a:xfrm>
          <a:prstGeom prst="rect">
            <a:avLst/>
          </a:prstGeom>
          <a:noFill/>
          <a:ln/>
        </p:spPr>
        <p:txBody>
          <a:bodyPr wrap="square" lIns="0" tIns="0" rIns="0" bIns="0" rtlCol="0" anchor="ctr"/>
          <a:lstStyle/>
          <a:p>
            <a:pPr indent="0" marL="0">
              <a:buNone/>
            </a:pPr>
            <a:r>
              <a:rPr lang="en-US" sz="1600" b="1" dirty="0">
                <a:solidFill>
                  <a:srgbClr val="059669"/>
                </a:solidFill>
                <a:latin typeface="Trebuchet MS" pitchFamily="34" charset="0"/>
                <a:ea typeface="Trebuchet MS" pitchFamily="34" charset="-122"/>
                <a:cs typeface="Trebuchet MS" pitchFamily="34" charset="-120"/>
              </a:rPr>
              <a:t>Strengths</a:t>
            </a:r>
            <a:endParaRPr lang="en-US" sz="1600" dirty="0"/>
          </a:p>
        </p:txBody>
      </p:sp>
      <p:sp>
        <p:nvSpPr>
          <p:cNvPr id="7" name="Text 5"/>
          <p:cNvSpPr/>
          <p:nvPr/>
        </p:nvSpPr>
        <p:spPr>
          <a:xfrm>
            <a:off x="960120" y="2377440"/>
            <a:ext cx="5029200" cy="36576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First-class Server Components and Server Actions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Streaming + Suspense baked into the rendering path</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Partial prerendering for hybrid static/dynamic pages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Turbopack stable for dev — fast builds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Vercel deployment story is genuinely good</a:t>
            </a:r>
            <a:endParaRPr lang="en-US" sz="1250" dirty="0"/>
          </a:p>
        </p:txBody>
      </p:sp>
      <p:sp>
        <p:nvSpPr>
          <p:cNvPr id="8" name="Shape 6"/>
          <p:cNvSpPr/>
          <p:nvPr/>
        </p:nvSpPr>
        <p:spPr>
          <a:xfrm>
            <a:off x="6355080" y="1691640"/>
            <a:ext cx="5029200" cy="4389120"/>
          </a:xfrm>
          <a:prstGeom prst="rect">
            <a:avLst/>
          </a:prstGeom>
          <a:solidFill>
            <a:srgbClr val="FFFFFF"/>
          </a:solidFill>
          <a:ln w="12700">
            <a:solidFill>
              <a:srgbClr val="E2E8F0"/>
            </a:solidFill>
            <a:prstDash val="solid"/>
          </a:ln>
        </p:spPr>
      </p:sp>
      <p:sp>
        <p:nvSpPr>
          <p:cNvPr id="9" name="Text 7"/>
          <p:cNvSpPr/>
          <p:nvPr/>
        </p:nvSpPr>
        <p:spPr>
          <a:xfrm>
            <a:off x="6537960" y="1874520"/>
            <a:ext cx="4754880" cy="365760"/>
          </a:xfrm>
          <a:prstGeom prst="rect">
            <a:avLst/>
          </a:prstGeom>
          <a:noFill/>
          <a:ln/>
        </p:spPr>
        <p:txBody>
          <a:bodyPr wrap="square" lIns="0" tIns="0" rIns="0" bIns="0" rtlCol="0" anchor="ctr"/>
          <a:lstStyle/>
          <a:p>
            <a:pPr indent="0" marL="0">
              <a:buNone/>
            </a:pPr>
            <a:r>
              <a:rPr lang="en-US" sz="1600" b="1" dirty="0">
                <a:solidFill>
                  <a:srgbClr val="D97706"/>
                </a:solidFill>
                <a:latin typeface="Trebuchet MS" pitchFamily="34" charset="0"/>
                <a:ea typeface="Trebuchet MS" pitchFamily="34" charset="-122"/>
                <a:cs typeface="Trebuchet MS" pitchFamily="34" charset="-120"/>
              </a:rPr>
              <a:t>Watch-outs</a:t>
            </a:r>
            <a:endParaRPr lang="en-US" sz="1600" dirty="0"/>
          </a:p>
        </p:txBody>
      </p:sp>
      <p:sp>
        <p:nvSpPr>
          <p:cNvPr id="10" name="Text 8"/>
          <p:cNvSpPr/>
          <p:nvPr/>
        </p:nvSpPr>
        <p:spPr>
          <a:xfrm>
            <a:off x="6537960" y="2377440"/>
            <a:ext cx="4754880" cy="365760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App Router conventions are non-trivial — file-as-API takes getting used to</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Caching defaults change between minor versions; read the release notes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Vercel-flavored runtime — works elsewhere but the polish is uneven</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Easy to over-reach for server features when a Vite SPA would do</a:t>
            </a:r>
            <a:endParaRPr lang="en-US" sz="1250" dirty="0"/>
          </a:p>
        </p:txBody>
      </p:sp>
      <p:sp>
        <p:nvSpPr>
          <p:cNvPr id="11" name="Text 9"/>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12" name="Text 10"/>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26 / 30</a:t>
            </a:r>
            <a:endParaRPr lang="en-US" sz="90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React Router v7 — framework mode</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RR + Remix merged in November 2024. One product, two modes.</a:t>
            </a:r>
            <a:endParaRPr lang="en-US" sz="1400" dirty="0"/>
          </a:p>
        </p:txBody>
      </p:sp>
      <p:sp>
        <p:nvSpPr>
          <p:cNvPr id="5" name="Shape 3"/>
          <p:cNvSpPr/>
          <p:nvPr/>
        </p:nvSpPr>
        <p:spPr>
          <a:xfrm>
            <a:off x="777240" y="1645920"/>
            <a:ext cx="10607040" cy="1097280"/>
          </a:xfrm>
          <a:prstGeom prst="rect">
            <a:avLst/>
          </a:prstGeom>
          <a:solidFill>
            <a:srgbClr val="CBF1F6"/>
          </a:solidFill>
          <a:ln w="12700">
            <a:solidFill>
              <a:srgbClr val="CBF1F6"/>
            </a:solidFill>
            <a:prstDash val="solid"/>
          </a:ln>
        </p:spPr>
      </p:sp>
      <p:pic>
        <p:nvPicPr>
          <p:cNvPr id="6" name="Image 0" descr="preencoded.png">    </p:cNvPr>
          <p:cNvPicPr>
            <a:picLocks noChangeAspect="1"/>
          </p:cNvPicPr>
          <p:nvPr/>
        </p:nvPicPr>
        <p:blipFill>
          <a:blip r:embed="rId1"/>
          <a:stretch>
            <a:fillRect/>
          </a:stretch>
        </p:blipFill>
        <p:spPr>
          <a:xfrm>
            <a:off x="1005840" y="1874520"/>
            <a:ext cx="548640" cy="548640"/>
          </a:xfrm>
          <a:prstGeom prst="rect">
            <a:avLst/>
          </a:prstGeom>
        </p:spPr>
      </p:pic>
      <p:sp>
        <p:nvSpPr>
          <p:cNvPr id="7" name="Text 4"/>
          <p:cNvSpPr/>
          <p:nvPr/>
        </p:nvSpPr>
        <p:spPr>
          <a:xfrm>
            <a:off x="1737360" y="1691640"/>
            <a:ext cx="9509760" cy="1005840"/>
          </a:xfrm>
          <a:prstGeom prst="rect">
            <a:avLst/>
          </a:prstGeom>
          <a:noFill/>
          <a:ln/>
        </p:spPr>
        <p:txBody>
          <a:bodyPr wrap="square" lIns="0" tIns="0" rIns="0" bIns="0" rtlCol="0" anchor="ctr"/>
          <a:lstStyle/>
          <a:p>
            <a:pPr indent="0" marL="0">
              <a:buNone/>
            </a:pPr>
            <a:r>
              <a:rPr lang="en-US" sz="1300" i="1" dirty="0">
                <a:solidFill>
                  <a:srgbClr val="0F172A"/>
                </a:solidFill>
                <a:latin typeface="Arial" pitchFamily="34" charset="0"/>
                <a:ea typeface="Arial" pitchFamily="34" charset="-122"/>
                <a:cs typeface="Arial" pitchFamily="34" charset="-120"/>
              </a:rPr>
              <a:t>Library mode = the React Router you know. Framework mode = Remix-style loaders, actions, and conventions, with Vite under the hood.</a:t>
            </a:r>
            <a:endParaRPr lang="en-US" sz="1300" dirty="0"/>
          </a:p>
        </p:txBody>
      </p:sp>
      <p:sp>
        <p:nvSpPr>
          <p:cNvPr id="8" name="Shape 5"/>
          <p:cNvSpPr/>
          <p:nvPr/>
        </p:nvSpPr>
        <p:spPr>
          <a:xfrm>
            <a:off x="777240" y="3108960"/>
            <a:ext cx="5349240" cy="3108960"/>
          </a:xfrm>
          <a:prstGeom prst="rect">
            <a:avLst/>
          </a:prstGeom>
          <a:solidFill>
            <a:srgbClr val="FFFFFF"/>
          </a:solidFill>
          <a:ln w="12700">
            <a:solidFill>
              <a:srgbClr val="E2E8F0"/>
            </a:solidFill>
            <a:prstDash val="solid"/>
          </a:ln>
        </p:spPr>
      </p:sp>
      <p:sp>
        <p:nvSpPr>
          <p:cNvPr id="9" name="Text 6"/>
          <p:cNvSpPr/>
          <p:nvPr/>
        </p:nvSpPr>
        <p:spPr>
          <a:xfrm>
            <a:off x="960120" y="3291840"/>
            <a:ext cx="5029200" cy="365760"/>
          </a:xfrm>
          <a:prstGeom prst="rect">
            <a:avLst/>
          </a:prstGeom>
          <a:noFill/>
          <a:ln/>
        </p:spPr>
        <p:txBody>
          <a:bodyPr wrap="square" lIns="0" tIns="0" rIns="0" bIns="0" rtlCol="0" anchor="ctr"/>
          <a:lstStyle/>
          <a:p>
            <a:pPr indent="0" marL="0">
              <a:buNone/>
            </a:pPr>
            <a:r>
              <a:rPr lang="en-US" sz="1600" b="1" dirty="0">
                <a:solidFill>
                  <a:srgbClr val="059669"/>
                </a:solidFill>
                <a:latin typeface="Trebuchet MS" pitchFamily="34" charset="0"/>
                <a:ea typeface="Trebuchet MS" pitchFamily="34" charset="-122"/>
                <a:cs typeface="Trebuchet MS" pitchFamily="34" charset="-120"/>
              </a:rPr>
              <a:t>Strengths</a:t>
            </a:r>
            <a:endParaRPr lang="en-US" sz="1600" dirty="0"/>
          </a:p>
        </p:txBody>
      </p:sp>
      <p:sp>
        <p:nvSpPr>
          <p:cNvPr id="10" name="Text 7"/>
          <p:cNvSpPr/>
          <p:nvPr/>
        </p:nvSpPr>
        <p:spPr>
          <a:xfrm>
            <a:off x="960120" y="3749040"/>
            <a:ext cx="5029200" cy="23774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Closer to vanilla React than Next.js — fewer conventions to memorize</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Loaders + actions = a clean data-on-the-server story</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Deploy anywhere Node runs — no vendor pull</a:t>
            </a:r>
            <a:endParaRPr lang="en-US" sz="1250" dirty="0"/>
          </a:p>
        </p:txBody>
      </p:sp>
      <p:sp>
        <p:nvSpPr>
          <p:cNvPr id="11" name="Shape 8"/>
          <p:cNvSpPr/>
          <p:nvPr/>
        </p:nvSpPr>
        <p:spPr>
          <a:xfrm>
            <a:off x="6355080" y="3108960"/>
            <a:ext cx="5029200" cy="3108960"/>
          </a:xfrm>
          <a:prstGeom prst="rect">
            <a:avLst/>
          </a:prstGeom>
          <a:solidFill>
            <a:srgbClr val="FFFFFF"/>
          </a:solidFill>
          <a:ln w="12700">
            <a:solidFill>
              <a:srgbClr val="E2E8F0"/>
            </a:solidFill>
            <a:prstDash val="solid"/>
          </a:ln>
        </p:spPr>
      </p:sp>
      <p:sp>
        <p:nvSpPr>
          <p:cNvPr id="12" name="Text 9"/>
          <p:cNvSpPr/>
          <p:nvPr/>
        </p:nvSpPr>
        <p:spPr>
          <a:xfrm>
            <a:off x="6537960" y="3291840"/>
            <a:ext cx="4754880" cy="365760"/>
          </a:xfrm>
          <a:prstGeom prst="rect">
            <a:avLst/>
          </a:prstGeom>
          <a:noFill/>
          <a:ln/>
        </p:spPr>
        <p:txBody>
          <a:bodyPr wrap="square" lIns="0" tIns="0" rIns="0" bIns="0" rtlCol="0" anchor="ctr"/>
          <a:lstStyle/>
          <a:p>
            <a:pPr indent="0" marL="0">
              <a:buNone/>
            </a:pPr>
            <a:r>
              <a:rPr lang="en-US" sz="1600" b="1" dirty="0">
                <a:solidFill>
                  <a:srgbClr val="D97706"/>
                </a:solidFill>
                <a:latin typeface="Trebuchet MS" pitchFamily="34" charset="0"/>
                <a:ea typeface="Trebuchet MS" pitchFamily="34" charset="-122"/>
                <a:cs typeface="Trebuchet MS" pitchFamily="34" charset="-120"/>
              </a:rPr>
              <a:t>Watch-outs</a:t>
            </a:r>
            <a:endParaRPr lang="en-US" sz="1600" dirty="0"/>
          </a:p>
        </p:txBody>
      </p:sp>
      <p:sp>
        <p:nvSpPr>
          <p:cNvPr id="13" name="Text 10"/>
          <p:cNvSpPr/>
          <p:nvPr/>
        </p:nvSpPr>
        <p:spPr>
          <a:xfrm>
            <a:off x="6537960" y="3749040"/>
            <a:ext cx="4754880" cy="2377440"/>
          </a:xfrm>
          <a:prstGeom prst="rect">
            <a:avLst/>
          </a:prstGeom>
          <a:noFill/>
          <a:ln/>
        </p:spPr>
        <p:txBody>
          <a:bodyPr wrap="square" lIns="0" tIns="0" rIns="0" bIns="0" rtlCol="0" anchor="t"/>
          <a:lstStyle/>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Smaller ecosystem of third-party RSC integrations than Next.js</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Less material online — search results still mix RR v6 and Remix v2 advice</a:t>
            </a:r>
            <a:endParaRPr lang="en-US" sz="1250" dirty="0"/>
          </a:p>
          <a:p>
            <a:pPr marL="342900" indent="-342900">
              <a:spcAft>
                <a:spcPts val="600"/>
              </a:spcAft>
              <a:buSzPct val="100000"/>
              <a:buChar char="•"/>
            </a:pPr>
            <a:r>
              <a:rPr lang="en-US" sz="1250" dirty="0">
                <a:solidFill>
                  <a:srgbClr val="475569"/>
                </a:solidFill>
                <a:latin typeface="Arial" pitchFamily="34" charset="0"/>
                <a:ea typeface="Arial" pitchFamily="34" charset="-122"/>
                <a:cs typeface="Arial" pitchFamily="34" charset="-120"/>
              </a:rPr>
              <a:t>Server Components support is solid but newer than Next.js's</a:t>
            </a:r>
            <a:endParaRPr lang="en-US" sz="1250" dirty="0"/>
          </a:p>
        </p:txBody>
      </p:sp>
      <p:sp>
        <p:nvSpPr>
          <p:cNvPr id="14" name="Text 11"/>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15" name="Text 12"/>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27 / 30</a:t>
            </a:r>
            <a:endParaRPr lang="en-US" sz="90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Worth knowing about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Not what we'll teach, but worth knowing the shape of.</a:t>
            </a:r>
            <a:endParaRPr lang="en-US" sz="1400" dirty="0"/>
          </a:p>
        </p:txBody>
      </p:sp>
      <p:sp>
        <p:nvSpPr>
          <p:cNvPr id="5" name="Shape 3"/>
          <p:cNvSpPr/>
          <p:nvPr/>
        </p:nvSpPr>
        <p:spPr>
          <a:xfrm>
            <a:off x="777240" y="1691640"/>
            <a:ext cx="10607040" cy="1920240"/>
          </a:xfrm>
          <a:prstGeom prst="rect">
            <a:avLst/>
          </a:prstGeom>
          <a:solidFill>
            <a:srgbClr val="FFFFFF"/>
          </a:solidFill>
          <a:ln w="12700">
            <a:solidFill>
              <a:srgbClr val="E2E8F0"/>
            </a:solidFill>
            <a:prstDash val="solid"/>
          </a:ln>
        </p:spPr>
      </p:sp>
      <p:sp>
        <p:nvSpPr>
          <p:cNvPr id="6" name="Shape 4"/>
          <p:cNvSpPr/>
          <p:nvPr/>
        </p:nvSpPr>
        <p:spPr>
          <a:xfrm>
            <a:off x="777240" y="1691640"/>
            <a:ext cx="109728" cy="1920240"/>
          </a:xfrm>
          <a:prstGeom prst="rect">
            <a:avLst/>
          </a:prstGeom>
          <a:solidFill>
            <a:srgbClr val="00B8D9"/>
          </a:solidFill>
          <a:ln w="12700">
            <a:solidFill>
              <a:srgbClr val="00B8D9"/>
            </a:solidFill>
            <a:prstDash val="solid"/>
          </a:ln>
        </p:spPr>
      </p:sp>
      <p:sp>
        <p:nvSpPr>
          <p:cNvPr id="7" name="Text 5"/>
          <p:cNvSpPr/>
          <p:nvPr/>
        </p:nvSpPr>
        <p:spPr>
          <a:xfrm>
            <a:off x="1051560" y="1874520"/>
            <a:ext cx="10058400" cy="457200"/>
          </a:xfrm>
          <a:prstGeom prst="rect">
            <a:avLst/>
          </a:prstGeom>
          <a:noFill/>
          <a:ln/>
        </p:spPr>
        <p:txBody>
          <a:bodyPr wrap="square" lIns="0" tIns="0" rIns="0" bIns="0" rtlCol="0" anchor="ctr"/>
          <a:lstStyle/>
          <a:p>
            <a:pPr indent="0" marL="0">
              <a:buNone/>
            </a:pPr>
            <a:r>
              <a:rPr lang="en-US" sz="1800" b="1" dirty="0">
                <a:solidFill>
                  <a:srgbClr val="0F172A"/>
                </a:solidFill>
                <a:latin typeface="Trebuchet MS" pitchFamily="34" charset="0"/>
                <a:ea typeface="Trebuchet MS" pitchFamily="34" charset="-122"/>
                <a:cs typeface="Trebuchet MS" pitchFamily="34" charset="-120"/>
              </a:rPr>
              <a:t>TanStack Start</a:t>
            </a:r>
            <a:endParaRPr lang="en-US" sz="1800" dirty="0"/>
          </a:p>
        </p:txBody>
      </p:sp>
      <p:sp>
        <p:nvSpPr>
          <p:cNvPr id="8" name="Text 6"/>
          <p:cNvSpPr/>
          <p:nvPr/>
        </p:nvSpPr>
        <p:spPr>
          <a:xfrm>
            <a:off x="1051560" y="2377440"/>
            <a:ext cx="10058400" cy="1097280"/>
          </a:xfrm>
          <a:prstGeom prst="rect">
            <a:avLst/>
          </a:prstGeom>
          <a:noFill/>
          <a:ln/>
        </p:spPr>
        <p:txBody>
          <a:bodyPr wrap="square" lIns="0" tIns="0" rIns="0" bIns="0" rtlCol="0" anchor="ctr"/>
          <a:lstStyle/>
          <a:p>
            <a:pPr indent="0" marL="0">
              <a:buNone/>
            </a:pPr>
            <a:r>
              <a:rPr lang="en-US" sz="1300" dirty="0">
                <a:solidFill>
                  <a:srgbClr val="475569"/>
                </a:solidFill>
                <a:latin typeface="Arial" pitchFamily="34" charset="0"/>
                <a:ea typeface="Arial" pitchFamily="34" charset="-122"/>
                <a:cs typeface="Arial" pitchFamily="34" charset="-120"/>
              </a:rPr>
              <a:t>Newer entrant. Built on TanStack Router + TanStack Query. Type-safe, file-based routing, server functions. Worth a look if you're already TanStack-heavy or you want type safety as a first-class feature.</a:t>
            </a:r>
            <a:endParaRPr lang="en-US" sz="1300" dirty="0"/>
          </a:p>
        </p:txBody>
      </p:sp>
      <p:sp>
        <p:nvSpPr>
          <p:cNvPr id="9" name="Shape 7"/>
          <p:cNvSpPr/>
          <p:nvPr/>
        </p:nvSpPr>
        <p:spPr>
          <a:xfrm>
            <a:off x="777240" y="3886200"/>
            <a:ext cx="10607040" cy="1920240"/>
          </a:xfrm>
          <a:prstGeom prst="rect">
            <a:avLst/>
          </a:prstGeom>
          <a:solidFill>
            <a:srgbClr val="FFFFFF"/>
          </a:solidFill>
          <a:ln w="12700">
            <a:solidFill>
              <a:srgbClr val="E2E8F0"/>
            </a:solidFill>
            <a:prstDash val="solid"/>
          </a:ln>
        </p:spPr>
      </p:sp>
      <p:sp>
        <p:nvSpPr>
          <p:cNvPr id="10" name="Shape 8"/>
          <p:cNvSpPr/>
          <p:nvPr/>
        </p:nvSpPr>
        <p:spPr>
          <a:xfrm>
            <a:off x="777240" y="3886200"/>
            <a:ext cx="109728" cy="1920240"/>
          </a:xfrm>
          <a:prstGeom prst="rect">
            <a:avLst/>
          </a:prstGeom>
          <a:solidFill>
            <a:srgbClr val="00B8D9"/>
          </a:solidFill>
          <a:ln w="12700">
            <a:solidFill>
              <a:srgbClr val="00B8D9"/>
            </a:solidFill>
            <a:prstDash val="solid"/>
          </a:ln>
        </p:spPr>
      </p:sp>
      <p:sp>
        <p:nvSpPr>
          <p:cNvPr id="11" name="Text 9"/>
          <p:cNvSpPr/>
          <p:nvPr/>
        </p:nvSpPr>
        <p:spPr>
          <a:xfrm>
            <a:off x="1051560" y="4069080"/>
            <a:ext cx="10058400" cy="457200"/>
          </a:xfrm>
          <a:prstGeom prst="rect">
            <a:avLst/>
          </a:prstGeom>
          <a:noFill/>
          <a:ln/>
        </p:spPr>
        <p:txBody>
          <a:bodyPr wrap="square" lIns="0" tIns="0" rIns="0" bIns="0" rtlCol="0" anchor="ctr"/>
          <a:lstStyle/>
          <a:p>
            <a:pPr indent="0" marL="0">
              <a:buNone/>
            </a:pPr>
            <a:r>
              <a:rPr lang="en-US" sz="1800" b="1" dirty="0">
                <a:solidFill>
                  <a:srgbClr val="0F172A"/>
                </a:solidFill>
                <a:latin typeface="Trebuchet MS" pitchFamily="34" charset="0"/>
                <a:ea typeface="Trebuchet MS" pitchFamily="34" charset="-122"/>
                <a:cs typeface="Trebuchet MS" pitchFamily="34" charset="-120"/>
              </a:rPr>
              <a:t>Astro</a:t>
            </a:r>
            <a:endParaRPr lang="en-US" sz="1800" dirty="0"/>
          </a:p>
        </p:txBody>
      </p:sp>
      <p:sp>
        <p:nvSpPr>
          <p:cNvPr id="12" name="Text 10"/>
          <p:cNvSpPr/>
          <p:nvPr/>
        </p:nvSpPr>
        <p:spPr>
          <a:xfrm>
            <a:off x="1051560" y="4572000"/>
            <a:ext cx="10058400" cy="1097280"/>
          </a:xfrm>
          <a:prstGeom prst="rect">
            <a:avLst/>
          </a:prstGeom>
          <a:noFill/>
          <a:ln/>
        </p:spPr>
        <p:txBody>
          <a:bodyPr wrap="square" lIns="0" tIns="0" rIns="0" bIns="0" rtlCol="0" anchor="ctr"/>
          <a:lstStyle/>
          <a:p>
            <a:pPr indent="0" marL="0">
              <a:buNone/>
            </a:pPr>
            <a:r>
              <a:rPr lang="en-US" sz="1300" dirty="0">
                <a:solidFill>
                  <a:srgbClr val="475569"/>
                </a:solidFill>
                <a:latin typeface="Arial" pitchFamily="34" charset="0"/>
                <a:ea typeface="Arial" pitchFamily="34" charset="-122"/>
                <a:cs typeface="Arial" pitchFamily="34" charset="-120"/>
              </a:rPr>
              <a:t>Content-first framework. React renders as 'islands' inside otherwise-static pages. Best for marketing sites, docs, and content-heavy apps where most pages don't need much JS at all.</a:t>
            </a:r>
            <a:endParaRPr lang="en-US" sz="1300" dirty="0"/>
          </a:p>
        </p:txBody>
      </p:sp>
      <p:sp>
        <p:nvSpPr>
          <p:cNvPr id="13" name="Text 11"/>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14" name="Text 12"/>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28 / 30</a:t>
            </a:r>
            <a:endParaRPr lang="en-US" sz="90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AI assistants are part of the workflow now</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And React is one of the things they get most-frequently-wrong.</a:t>
            </a:r>
            <a:endParaRPr lang="en-US" sz="1400" dirty="0"/>
          </a:p>
        </p:txBody>
      </p:sp>
      <p:sp>
        <p:nvSpPr>
          <p:cNvPr id="5" name="Shape 3"/>
          <p:cNvSpPr/>
          <p:nvPr/>
        </p:nvSpPr>
        <p:spPr>
          <a:xfrm>
            <a:off x="777240" y="1645920"/>
            <a:ext cx="10607040" cy="1097280"/>
          </a:xfrm>
          <a:prstGeom prst="rect">
            <a:avLst/>
          </a:prstGeom>
          <a:solidFill>
            <a:srgbClr val="CBF1F6"/>
          </a:solidFill>
          <a:ln w="12700">
            <a:solidFill>
              <a:srgbClr val="CBF1F6"/>
            </a:solidFill>
            <a:prstDash val="solid"/>
          </a:ln>
        </p:spPr>
      </p:sp>
      <p:pic>
        <p:nvPicPr>
          <p:cNvPr id="6" name="Image 0" descr="preencoded.png">    </p:cNvPr>
          <p:cNvPicPr>
            <a:picLocks noChangeAspect="1"/>
          </p:cNvPicPr>
          <p:nvPr/>
        </p:nvPicPr>
        <p:blipFill>
          <a:blip r:embed="rId1"/>
          <a:stretch>
            <a:fillRect/>
          </a:stretch>
        </p:blipFill>
        <p:spPr>
          <a:xfrm>
            <a:off x="1005840" y="1874520"/>
            <a:ext cx="640080" cy="640080"/>
          </a:xfrm>
          <a:prstGeom prst="rect">
            <a:avLst/>
          </a:prstGeom>
        </p:spPr>
      </p:pic>
      <p:sp>
        <p:nvSpPr>
          <p:cNvPr id="7" name="Text 4"/>
          <p:cNvSpPr/>
          <p:nvPr/>
        </p:nvSpPr>
        <p:spPr>
          <a:xfrm>
            <a:off x="1783080" y="1691640"/>
            <a:ext cx="9509760" cy="1005840"/>
          </a:xfrm>
          <a:prstGeom prst="rect">
            <a:avLst/>
          </a:prstGeom>
          <a:noFill/>
          <a:ln/>
        </p:spPr>
        <p:txBody>
          <a:bodyPr wrap="square" lIns="0" tIns="0" rIns="0" bIns="0" rtlCol="0" anchor="ctr"/>
          <a:lstStyle/>
          <a:p>
            <a:pPr indent="0" marL="0">
              <a:buNone/>
            </a:pPr>
            <a:r>
              <a:rPr lang="en-US" sz="1400" i="1" dirty="0">
                <a:solidFill>
                  <a:srgbClr val="0F172A"/>
                </a:solidFill>
                <a:latin typeface="Arial" pitchFamily="34" charset="0"/>
                <a:ea typeface="Arial" pitchFamily="34" charset="-122"/>
                <a:cs typeface="Arial" pitchFamily="34" charset="-120"/>
              </a:rPr>
              <a:t>Most students in this room used an AI assistant to help with at least one React component this week.</a:t>
            </a:r>
            <a:endParaRPr lang="en-US" sz="1400" dirty="0"/>
          </a:p>
        </p:txBody>
      </p:sp>
      <p:sp>
        <p:nvSpPr>
          <p:cNvPr id="8" name="Text 5"/>
          <p:cNvSpPr/>
          <p:nvPr/>
        </p:nvSpPr>
        <p:spPr>
          <a:xfrm>
            <a:off x="777240" y="3017520"/>
            <a:ext cx="10607040" cy="365760"/>
          </a:xfrm>
          <a:prstGeom prst="rect">
            <a:avLst/>
          </a:prstGeom>
          <a:noFill/>
          <a:ln/>
        </p:spPr>
        <p:txBody>
          <a:bodyPr wrap="square" lIns="0" tIns="0" rIns="0" bIns="0" rtlCol="0" anchor="ctr"/>
          <a:lstStyle/>
          <a:p>
            <a:pPr indent="0" marL="0">
              <a:buNone/>
            </a:pPr>
            <a:r>
              <a:rPr lang="en-US" sz="1300" b="1" dirty="0">
                <a:solidFill>
                  <a:srgbClr val="0F172A"/>
                </a:solidFill>
                <a:latin typeface="Trebuchet MS" pitchFamily="34" charset="0"/>
                <a:ea typeface="Trebuchet MS" pitchFamily="34" charset="-122"/>
                <a:cs typeface="Trebuchet MS" pitchFamily="34" charset="-120"/>
              </a:rPr>
              <a:t>React-specific failure modes you'll see across all the major tools:</a:t>
            </a:r>
            <a:endParaRPr lang="en-US" sz="1300" dirty="0"/>
          </a:p>
        </p:txBody>
      </p:sp>
      <p:sp>
        <p:nvSpPr>
          <p:cNvPr id="9" name="Shape 6"/>
          <p:cNvSpPr/>
          <p:nvPr/>
        </p:nvSpPr>
        <p:spPr>
          <a:xfrm>
            <a:off x="777240" y="3520440"/>
            <a:ext cx="5212080" cy="685800"/>
          </a:xfrm>
          <a:prstGeom prst="rect">
            <a:avLst/>
          </a:prstGeom>
          <a:solidFill>
            <a:srgbClr val="FFFFFF"/>
          </a:solidFill>
          <a:ln w="12700">
            <a:solidFill>
              <a:srgbClr val="E2E8F0"/>
            </a:solidFill>
            <a:prstDash val="solid"/>
          </a:ln>
        </p:spPr>
      </p:sp>
      <p:pic>
        <p:nvPicPr>
          <p:cNvPr id="10" name="Image 1" descr="preencoded.png">    </p:cNvPr>
          <p:cNvPicPr>
            <a:picLocks noChangeAspect="1"/>
          </p:cNvPicPr>
          <p:nvPr/>
        </p:nvPicPr>
        <p:blipFill>
          <a:blip r:embed="rId2"/>
          <a:stretch>
            <a:fillRect/>
          </a:stretch>
        </p:blipFill>
        <p:spPr>
          <a:xfrm>
            <a:off x="960120" y="3703320"/>
            <a:ext cx="320040" cy="320040"/>
          </a:xfrm>
          <a:prstGeom prst="rect">
            <a:avLst/>
          </a:prstGeom>
        </p:spPr>
      </p:pic>
      <p:sp>
        <p:nvSpPr>
          <p:cNvPr id="11" name="Text 7"/>
          <p:cNvSpPr/>
          <p:nvPr/>
        </p:nvSpPr>
        <p:spPr>
          <a:xfrm>
            <a:off x="1417320" y="3611880"/>
            <a:ext cx="4572000" cy="54864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Stale closures inside useEffect callbacks</a:t>
            </a:r>
            <a:endParaRPr lang="en-US" sz="1200" dirty="0"/>
          </a:p>
        </p:txBody>
      </p:sp>
      <p:sp>
        <p:nvSpPr>
          <p:cNvPr id="12" name="Shape 8"/>
          <p:cNvSpPr/>
          <p:nvPr/>
        </p:nvSpPr>
        <p:spPr>
          <a:xfrm>
            <a:off x="6126480" y="3520440"/>
            <a:ext cx="5212080" cy="685800"/>
          </a:xfrm>
          <a:prstGeom prst="rect">
            <a:avLst/>
          </a:prstGeom>
          <a:solidFill>
            <a:srgbClr val="FFFFFF"/>
          </a:solidFill>
          <a:ln w="12700">
            <a:solidFill>
              <a:srgbClr val="E2E8F0"/>
            </a:solidFill>
            <a:prstDash val="solid"/>
          </a:ln>
        </p:spPr>
      </p:sp>
      <p:pic>
        <p:nvPicPr>
          <p:cNvPr id="13" name="Image 2" descr="preencoded.png">    </p:cNvPr>
          <p:cNvPicPr>
            <a:picLocks noChangeAspect="1"/>
          </p:cNvPicPr>
          <p:nvPr/>
        </p:nvPicPr>
        <p:blipFill>
          <a:blip r:embed="rId3"/>
          <a:stretch>
            <a:fillRect/>
          </a:stretch>
        </p:blipFill>
        <p:spPr>
          <a:xfrm>
            <a:off x="6309360" y="3703320"/>
            <a:ext cx="320040" cy="320040"/>
          </a:xfrm>
          <a:prstGeom prst="rect">
            <a:avLst/>
          </a:prstGeom>
        </p:spPr>
      </p:pic>
      <p:sp>
        <p:nvSpPr>
          <p:cNvPr id="14" name="Text 9"/>
          <p:cNvSpPr/>
          <p:nvPr/>
        </p:nvSpPr>
        <p:spPr>
          <a:xfrm>
            <a:off x="6766560" y="3611880"/>
            <a:ext cx="4572000" cy="54864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Missing or over-eager dependency arrays</a:t>
            </a:r>
            <a:endParaRPr lang="en-US" sz="1200" dirty="0"/>
          </a:p>
        </p:txBody>
      </p:sp>
      <p:sp>
        <p:nvSpPr>
          <p:cNvPr id="15" name="Shape 10"/>
          <p:cNvSpPr/>
          <p:nvPr/>
        </p:nvSpPr>
        <p:spPr>
          <a:xfrm>
            <a:off x="777240" y="4343400"/>
            <a:ext cx="5212080" cy="685800"/>
          </a:xfrm>
          <a:prstGeom prst="rect">
            <a:avLst/>
          </a:prstGeom>
          <a:solidFill>
            <a:srgbClr val="FFFFFF"/>
          </a:solidFill>
          <a:ln w="12700">
            <a:solidFill>
              <a:srgbClr val="E2E8F0"/>
            </a:solidFill>
            <a:prstDash val="solid"/>
          </a:ln>
        </p:spPr>
      </p:sp>
      <p:pic>
        <p:nvPicPr>
          <p:cNvPr id="16" name="Image 3" descr="preencoded.png">    </p:cNvPr>
          <p:cNvPicPr>
            <a:picLocks noChangeAspect="1"/>
          </p:cNvPicPr>
          <p:nvPr/>
        </p:nvPicPr>
        <p:blipFill>
          <a:blip r:embed="rId4"/>
          <a:stretch>
            <a:fillRect/>
          </a:stretch>
        </p:blipFill>
        <p:spPr>
          <a:xfrm>
            <a:off x="960120" y="4526280"/>
            <a:ext cx="320040" cy="320040"/>
          </a:xfrm>
          <a:prstGeom prst="rect">
            <a:avLst/>
          </a:prstGeom>
        </p:spPr>
      </p:pic>
      <p:sp>
        <p:nvSpPr>
          <p:cNvPr id="17" name="Text 11"/>
          <p:cNvSpPr/>
          <p:nvPr/>
        </p:nvSpPr>
        <p:spPr>
          <a:xfrm>
            <a:off x="1417320" y="4434840"/>
            <a:ext cx="4572000" cy="54864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useEffect for derived state (should be plain calculation)</a:t>
            </a:r>
            <a:endParaRPr lang="en-US" sz="1200" dirty="0"/>
          </a:p>
        </p:txBody>
      </p:sp>
      <p:sp>
        <p:nvSpPr>
          <p:cNvPr id="18" name="Shape 12"/>
          <p:cNvSpPr/>
          <p:nvPr/>
        </p:nvSpPr>
        <p:spPr>
          <a:xfrm>
            <a:off x="6126480" y="4343400"/>
            <a:ext cx="5212080" cy="685800"/>
          </a:xfrm>
          <a:prstGeom prst="rect">
            <a:avLst/>
          </a:prstGeom>
          <a:solidFill>
            <a:srgbClr val="FFFFFF"/>
          </a:solidFill>
          <a:ln w="12700">
            <a:solidFill>
              <a:srgbClr val="E2E8F0"/>
            </a:solidFill>
            <a:prstDash val="solid"/>
          </a:ln>
        </p:spPr>
      </p:sp>
      <p:pic>
        <p:nvPicPr>
          <p:cNvPr id="19" name="Image 4" descr="preencoded.png">    </p:cNvPr>
          <p:cNvPicPr>
            <a:picLocks noChangeAspect="1"/>
          </p:cNvPicPr>
          <p:nvPr/>
        </p:nvPicPr>
        <p:blipFill>
          <a:blip r:embed="rId5"/>
          <a:stretch>
            <a:fillRect/>
          </a:stretch>
        </p:blipFill>
        <p:spPr>
          <a:xfrm>
            <a:off x="6309360" y="4526280"/>
            <a:ext cx="320040" cy="320040"/>
          </a:xfrm>
          <a:prstGeom prst="rect">
            <a:avLst/>
          </a:prstGeom>
        </p:spPr>
      </p:pic>
      <p:sp>
        <p:nvSpPr>
          <p:cNvPr id="20" name="Text 13"/>
          <p:cNvSpPr/>
          <p:nvPr/>
        </p:nvSpPr>
        <p:spPr>
          <a:xfrm>
            <a:off x="6766560" y="4434840"/>
            <a:ext cx="4572000" cy="54864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Server/client boundary leaks (importing server code into 'use client')</a:t>
            </a:r>
            <a:endParaRPr lang="en-US" sz="1200" dirty="0"/>
          </a:p>
        </p:txBody>
      </p:sp>
      <p:sp>
        <p:nvSpPr>
          <p:cNvPr id="21" name="Shape 14"/>
          <p:cNvSpPr/>
          <p:nvPr/>
        </p:nvSpPr>
        <p:spPr>
          <a:xfrm>
            <a:off x="777240" y="5166360"/>
            <a:ext cx="5212080" cy="685800"/>
          </a:xfrm>
          <a:prstGeom prst="rect">
            <a:avLst/>
          </a:prstGeom>
          <a:solidFill>
            <a:srgbClr val="FFFFFF"/>
          </a:solidFill>
          <a:ln w="12700">
            <a:solidFill>
              <a:srgbClr val="E2E8F0"/>
            </a:solidFill>
            <a:prstDash val="solid"/>
          </a:ln>
        </p:spPr>
      </p:sp>
      <p:pic>
        <p:nvPicPr>
          <p:cNvPr id="22" name="Image 5" descr="preencoded.png">    </p:cNvPr>
          <p:cNvPicPr>
            <a:picLocks noChangeAspect="1"/>
          </p:cNvPicPr>
          <p:nvPr/>
        </p:nvPicPr>
        <p:blipFill>
          <a:blip r:embed="rId6"/>
          <a:stretch>
            <a:fillRect/>
          </a:stretch>
        </p:blipFill>
        <p:spPr>
          <a:xfrm>
            <a:off x="960120" y="5349240"/>
            <a:ext cx="320040" cy="320040"/>
          </a:xfrm>
          <a:prstGeom prst="rect">
            <a:avLst/>
          </a:prstGeom>
        </p:spPr>
      </p:pic>
      <p:sp>
        <p:nvSpPr>
          <p:cNvPr id="23" name="Text 15"/>
          <p:cNvSpPr/>
          <p:nvPr/>
        </p:nvSpPr>
        <p:spPr>
          <a:xfrm>
            <a:off x="1417320" y="5257800"/>
            <a:ext cx="4572000" cy="54864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Outdated React Router APIs from pre-v6.4 era</a:t>
            </a:r>
            <a:endParaRPr lang="en-US" sz="1200" dirty="0"/>
          </a:p>
        </p:txBody>
      </p:sp>
      <p:sp>
        <p:nvSpPr>
          <p:cNvPr id="24" name="Shape 16"/>
          <p:cNvSpPr/>
          <p:nvPr/>
        </p:nvSpPr>
        <p:spPr>
          <a:xfrm>
            <a:off x="6126480" y="5166360"/>
            <a:ext cx="5212080" cy="685800"/>
          </a:xfrm>
          <a:prstGeom prst="rect">
            <a:avLst/>
          </a:prstGeom>
          <a:solidFill>
            <a:srgbClr val="FFFFFF"/>
          </a:solidFill>
          <a:ln w="12700">
            <a:solidFill>
              <a:srgbClr val="E2E8F0"/>
            </a:solidFill>
            <a:prstDash val="solid"/>
          </a:ln>
        </p:spPr>
      </p:sp>
      <p:pic>
        <p:nvPicPr>
          <p:cNvPr id="25" name="Image 6" descr="preencoded.png">    </p:cNvPr>
          <p:cNvPicPr>
            <a:picLocks noChangeAspect="1"/>
          </p:cNvPicPr>
          <p:nvPr/>
        </p:nvPicPr>
        <p:blipFill>
          <a:blip r:embed="rId7"/>
          <a:stretch>
            <a:fillRect/>
          </a:stretch>
        </p:blipFill>
        <p:spPr>
          <a:xfrm>
            <a:off x="6309360" y="5349240"/>
            <a:ext cx="320040" cy="320040"/>
          </a:xfrm>
          <a:prstGeom prst="rect">
            <a:avLst/>
          </a:prstGeom>
        </p:spPr>
      </p:pic>
      <p:sp>
        <p:nvSpPr>
          <p:cNvPr id="26" name="Text 17"/>
          <p:cNvSpPr/>
          <p:nvPr/>
        </p:nvSpPr>
        <p:spPr>
          <a:xfrm>
            <a:off x="6766560" y="5257800"/>
            <a:ext cx="4572000" cy="548640"/>
          </a:xfrm>
          <a:prstGeom prst="rect">
            <a:avLst/>
          </a:prstGeom>
          <a:noFill/>
          <a:ln/>
        </p:spPr>
        <p:txBody>
          <a:bodyPr wrap="square" lIns="0" tIns="0" rIns="0" bIns="0" rtlCol="0" anchor="ctr"/>
          <a:lstStyle/>
          <a:p>
            <a:pPr indent="0" marL="0">
              <a:buNone/>
            </a:pPr>
            <a:r>
              <a:rPr lang="en-US" sz="1200" dirty="0">
                <a:solidFill>
                  <a:srgbClr val="475569"/>
                </a:solidFill>
                <a:latin typeface="Arial" pitchFamily="34" charset="0"/>
                <a:ea typeface="Arial" pitchFamily="34" charset="-122"/>
                <a:cs typeface="Arial" pitchFamily="34" charset="-120"/>
              </a:rPr>
              <a:t>Hydration mismatches from non-deterministic renders</a:t>
            </a:r>
            <a:endParaRPr lang="en-US" sz="1200" dirty="0"/>
          </a:p>
        </p:txBody>
      </p:sp>
      <p:sp>
        <p:nvSpPr>
          <p:cNvPr id="27" name="Text 18"/>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28" name="Text 19"/>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29 / 30</a:t>
            </a:r>
            <a:endParaRPr lang="en-US" sz="90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F8FAFC"/>
        </a:solidFill>
      </p:bgPr>
    </p:bg>
    <p:spTree>
      <p:nvGrpSpPr>
        <p:cNvPr id="1" name=""/>
        <p:cNvGrpSpPr/>
        <p:nvPr/>
      </p:nvGrpSpPr>
      <p:grpSpPr>
        <a:xfrm>
          <a:off x="0" y="0"/>
          <a:ext cx="0" cy="0"/>
          <a:chOff x="0" y="0"/>
          <a:chExt cx="0" cy="0"/>
        </a:xfrm>
      </p:grpSpPr>
      <p:sp>
        <p:nvSpPr>
          <p:cNvPr id="2" name="Shape 0"/>
          <p:cNvSpPr/>
          <p:nvPr/>
        </p:nvSpPr>
        <p:spPr>
          <a:xfrm>
            <a:off x="365760" y="365760"/>
            <a:ext cx="164592" cy="164592"/>
          </a:xfrm>
          <a:prstGeom prst="rect">
            <a:avLst/>
          </a:prstGeom>
          <a:solidFill>
            <a:srgbClr val="00B8D9"/>
          </a:solidFill>
          <a:ln w="12700">
            <a:solidFill>
              <a:srgbClr val="00B8D9"/>
            </a:solidFill>
            <a:prstDash val="solid"/>
          </a:ln>
        </p:spPr>
      </p:sp>
      <p:sp>
        <p:nvSpPr>
          <p:cNvPr id="3" name="Text 1"/>
          <p:cNvSpPr/>
          <p:nvPr/>
        </p:nvSpPr>
        <p:spPr>
          <a:xfrm>
            <a:off x="777240" y="292608"/>
            <a:ext cx="10972800" cy="640080"/>
          </a:xfrm>
          <a:prstGeom prst="rect">
            <a:avLst/>
          </a:prstGeom>
          <a:noFill/>
          <a:ln/>
        </p:spPr>
        <p:txBody>
          <a:bodyPr wrap="square" lIns="0" tIns="0" rIns="0" bIns="0" rtlCol="0" anchor="ctr"/>
          <a:lstStyle/>
          <a:p>
            <a:pPr indent="0" marL="0">
              <a:buNone/>
            </a:pPr>
            <a:r>
              <a:rPr lang="en-US" sz="2800" b="1" dirty="0">
                <a:solidFill>
                  <a:srgbClr val="0F172A"/>
                </a:solidFill>
                <a:latin typeface="Trebuchet MS" pitchFamily="34" charset="0"/>
                <a:ea typeface="Trebuchet MS" pitchFamily="34" charset="-122"/>
                <a:cs typeface="Trebuchet MS" pitchFamily="34" charset="-120"/>
              </a:rPr>
              <a:t>Coming up next</a:t>
            </a:r>
            <a:endParaRPr lang="en-US" sz="2800" dirty="0"/>
          </a:p>
        </p:txBody>
      </p:sp>
      <p:sp>
        <p:nvSpPr>
          <p:cNvPr id="4" name="Text 2"/>
          <p:cNvSpPr/>
          <p:nvPr/>
        </p:nvSpPr>
        <p:spPr>
          <a:xfrm>
            <a:off x="777240" y="914400"/>
            <a:ext cx="10972800" cy="411480"/>
          </a:xfrm>
          <a:prstGeom prst="rect">
            <a:avLst/>
          </a:prstGeom>
          <a:noFill/>
          <a:ln/>
        </p:spPr>
        <p:txBody>
          <a:bodyPr wrap="square" lIns="0" tIns="0" rIns="0" bIns="0" rtlCol="0" anchor="ctr"/>
          <a:lstStyle/>
          <a:p>
            <a:pPr indent="0" marL="0">
              <a:buNone/>
            </a:pPr>
            <a:r>
              <a:rPr lang="en-US" sz="1400" i="1" dirty="0">
                <a:solidFill>
                  <a:srgbClr val="475569"/>
                </a:solidFill>
                <a:latin typeface="Arial" pitchFamily="34" charset="0"/>
                <a:ea typeface="Arial" pitchFamily="34" charset="-122"/>
                <a:cs typeface="Arial" pitchFamily="34" charset="-120"/>
              </a:rPr>
              <a:t>Module 2 — Hooks That Matter in 2026.</a:t>
            </a:r>
            <a:endParaRPr lang="en-US" sz="1400" dirty="0"/>
          </a:p>
        </p:txBody>
      </p:sp>
      <p:sp>
        <p:nvSpPr>
          <p:cNvPr id="5" name="Shape 3"/>
          <p:cNvSpPr/>
          <p:nvPr/>
        </p:nvSpPr>
        <p:spPr>
          <a:xfrm>
            <a:off x="777240" y="1645920"/>
            <a:ext cx="10607040" cy="4206240"/>
          </a:xfrm>
          <a:prstGeom prst="rect">
            <a:avLst/>
          </a:prstGeom>
          <a:solidFill>
            <a:srgbClr val="FFFFFF"/>
          </a:solidFill>
          <a:ln w="12700">
            <a:solidFill>
              <a:srgbClr val="E2E8F0"/>
            </a:solidFill>
            <a:prstDash val="solid"/>
          </a:ln>
        </p:spPr>
      </p:sp>
      <p:pic>
        <p:nvPicPr>
          <p:cNvPr id="6" name="Image 0" descr="preencoded.png">    </p:cNvPr>
          <p:cNvPicPr>
            <a:picLocks noChangeAspect="1"/>
          </p:cNvPicPr>
          <p:nvPr/>
        </p:nvPicPr>
        <p:blipFill>
          <a:blip r:embed="rId1"/>
          <a:stretch>
            <a:fillRect/>
          </a:stretch>
        </p:blipFill>
        <p:spPr>
          <a:xfrm>
            <a:off x="1097280" y="1828800"/>
            <a:ext cx="822960" cy="822960"/>
          </a:xfrm>
          <a:prstGeom prst="rect">
            <a:avLst/>
          </a:prstGeom>
        </p:spPr>
      </p:pic>
      <p:sp>
        <p:nvSpPr>
          <p:cNvPr id="7" name="Text 4"/>
          <p:cNvSpPr/>
          <p:nvPr/>
        </p:nvSpPr>
        <p:spPr>
          <a:xfrm>
            <a:off x="2194560" y="1874520"/>
            <a:ext cx="9144000" cy="640080"/>
          </a:xfrm>
          <a:prstGeom prst="rect">
            <a:avLst/>
          </a:prstGeom>
          <a:noFill/>
          <a:ln/>
        </p:spPr>
        <p:txBody>
          <a:bodyPr wrap="square" lIns="0" tIns="0" rIns="0" bIns="0" rtlCol="0" anchor="ctr"/>
          <a:lstStyle/>
          <a:p>
            <a:pPr indent="0" marL="0">
              <a:buNone/>
            </a:pPr>
            <a:r>
              <a:rPr lang="en-US" sz="2400" b="1" dirty="0">
                <a:solidFill>
                  <a:srgbClr val="0F172A"/>
                </a:solidFill>
                <a:latin typeface="Trebuchet MS" pitchFamily="34" charset="0"/>
                <a:ea typeface="Trebuchet MS" pitchFamily="34" charset="-122"/>
                <a:cs typeface="Trebuchet MS" pitchFamily="34" charset="-120"/>
              </a:rPr>
              <a:t>Module 2 — Hooks That Matter in 2026</a:t>
            </a:r>
            <a:endParaRPr lang="en-US" sz="2400" dirty="0"/>
          </a:p>
        </p:txBody>
      </p:sp>
      <p:sp>
        <p:nvSpPr>
          <p:cNvPr id="8" name="Text 5"/>
          <p:cNvSpPr/>
          <p:nvPr/>
        </p:nvSpPr>
        <p:spPr>
          <a:xfrm>
            <a:off x="2194560" y="2468880"/>
            <a:ext cx="9144000" cy="365760"/>
          </a:xfrm>
          <a:prstGeom prst="rect">
            <a:avLst/>
          </a:prstGeom>
          <a:noFill/>
          <a:ln/>
        </p:spPr>
        <p:txBody>
          <a:bodyPr wrap="square" lIns="0" tIns="0" rIns="0" bIns="0" rtlCol="0" anchor="ctr"/>
          <a:lstStyle/>
          <a:p>
            <a:pPr indent="0" marL="0">
              <a:buNone/>
            </a:pPr>
            <a:r>
              <a:rPr lang="en-US" sz="1300" i="1" dirty="0">
                <a:solidFill>
                  <a:srgbClr val="475569"/>
                </a:solidFill>
                <a:latin typeface="Arial" pitchFamily="34" charset="0"/>
                <a:ea typeface="Arial" pitchFamily="34" charset="-122"/>
                <a:cs typeface="Arial" pitchFamily="34" charset="-120"/>
              </a:rPr>
              <a:t>75 minutes  ·  Lecture + live demos</a:t>
            </a:r>
            <a:endParaRPr lang="en-US" sz="1300" dirty="0"/>
          </a:p>
        </p:txBody>
      </p:sp>
      <p:sp>
        <p:nvSpPr>
          <p:cNvPr id="9" name="Text 6"/>
          <p:cNvSpPr/>
          <p:nvPr/>
        </p:nvSpPr>
        <p:spPr>
          <a:xfrm>
            <a:off x="1097280" y="3200400"/>
            <a:ext cx="10058400" cy="365760"/>
          </a:xfrm>
          <a:prstGeom prst="rect">
            <a:avLst/>
          </a:prstGeom>
          <a:noFill/>
          <a:ln/>
        </p:spPr>
        <p:txBody>
          <a:bodyPr wrap="square" lIns="0" tIns="0" rIns="0" bIns="0" rtlCol="0" anchor="ctr"/>
          <a:lstStyle/>
          <a:p>
            <a:pPr indent="0" marL="0">
              <a:buNone/>
            </a:pPr>
            <a:r>
              <a:rPr lang="en-US" sz="1400" b="1" dirty="0">
                <a:solidFill>
                  <a:srgbClr val="0F172A"/>
                </a:solidFill>
                <a:latin typeface="Trebuchet MS" pitchFamily="34" charset="0"/>
                <a:ea typeface="Trebuchet MS" pitchFamily="34" charset="-122"/>
                <a:cs typeface="Trebuchet MS" pitchFamily="34" charset="-120"/>
              </a:rPr>
              <a:t>In the next module:</a:t>
            </a:r>
            <a:endParaRPr lang="en-US" sz="1400" dirty="0"/>
          </a:p>
        </p:txBody>
      </p:sp>
      <p:sp>
        <p:nvSpPr>
          <p:cNvPr id="10" name="Text 7"/>
          <p:cNvSpPr/>
          <p:nvPr/>
        </p:nvSpPr>
        <p:spPr>
          <a:xfrm>
            <a:off x="1097280" y="3566160"/>
            <a:ext cx="10058400" cy="2194560"/>
          </a:xfrm>
          <a:prstGeom prst="rect">
            <a:avLst/>
          </a:prstGeom>
          <a:noFill/>
          <a:ln/>
        </p:spPr>
        <p:txBody>
          <a:bodyPr wrap="square" lIns="0" tIns="0" rIns="0" bIns="0" rtlCol="0" anchor="t"/>
          <a:lstStyle/>
          <a:p>
            <a:pPr marL="342900" indent="-342900">
              <a:spcAft>
                <a:spcPts val="600"/>
              </a:spcAft>
              <a:buSzPct val="100000"/>
              <a:buChar char="•"/>
            </a:pPr>
            <a:r>
              <a:rPr lang="en-US" sz="1300" dirty="0">
                <a:solidFill>
                  <a:srgbClr val="475569"/>
                </a:solidFill>
                <a:latin typeface="Arial" pitchFamily="34" charset="0"/>
                <a:ea typeface="Arial" pitchFamily="34" charset="-122"/>
                <a:cs typeface="Arial" pitchFamily="34" charset="-120"/>
              </a:rPr>
              <a:t>The hooks rulebook — and why AI assistants violate it constantly</a:t>
            </a:r>
            <a:endParaRPr lang="en-US" sz="1300" dirty="0"/>
          </a:p>
          <a:p>
            <a:pPr marL="342900" indent="-342900">
              <a:spcAft>
                <a:spcPts val="600"/>
              </a:spcAft>
              <a:buSzPct val="100000"/>
              <a:buChar char="•"/>
            </a:pPr>
            <a:r>
              <a:rPr lang="en-US" sz="1300" dirty="0">
                <a:solidFill>
                  <a:srgbClr val="475569"/>
                </a:solidFill>
                <a:latin typeface="Arial" pitchFamily="34" charset="0"/>
                <a:ea typeface="Arial" pitchFamily="34" charset="-122"/>
                <a:cs typeface="Arial" pitchFamily="34" charset="-120"/>
              </a:rPr>
              <a:t>When not to reach for useEffect</a:t>
            </a:r>
            <a:endParaRPr lang="en-US" sz="1300" dirty="0"/>
          </a:p>
          <a:p>
            <a:pPr marL="342900" indent="-342900">
              <a:spcAft>
                <a:spcPts val="600"/>
              </a:spcAft>
              <a:buSzPct val="100000"/>
              <a:buChar char="•"/>
            </a:pPr>
            <a:r>
              <a:rPr lang="en-US" sz="1300" dirty="0">
                <a:solidFill>
                  <a:srgbClr val="475569"/>
                </a:solidFill>
                <a:latin typeface="Arial" pitchFamily="34" charset="0"/>
                <a:ea typeface="Arial" pitchFamily="34" charset="-122"/>
                <a:cs typeface="Arial" pitchFamily="34" charset="-120"/>
              </a:rPr>
              <a:t>use(), useActionState, useFormStatus, useOptimistic — with real code</a:t>
            </a:r>
            <a:endParaRPr lang="en-US" sz="1300" dirty="0"/>
          </a:p>
          <a:p>
            <a:pPr marL="342900" indent="-342900">
              <a:spcAft>
                <a:spcPts val="600"/>
              </a:spcAft>
              <a:buSzPct val="100000"/>
              <a:buChar char="•"/>
            </a:pPr>
            <a:r>
              <a:rPr lang="en-US" sz="1300" dirty="0">
                <a:solidFill>
                  <a:srgbClr val="475569"/>
                </a:solidFill>
                <a:latin typeface="Arial" pitchFamily="34" charset="0"/>
                <a:ea typeface="Arial" pitchFamily="34" charset="-122"/>
                <a:cs typeface="Arial" pitchFamily="34" charset="-120"/>
              </a:rPr>
              <a:t>useSyncExternalStore, useDeferredValue, useTransition, useLayoutEffect</a:t>
            </a:r>
            <a:endParaRPr lang="en-US" sz="1300" dirty="0"/>
          </a:p>
          <a:p>
            <a:pPr marL="342900" indent="-342900">
              <a:spcAft>
                <a:spcPts val="600"/>
              </a:spcAft>
              <a:buSzPct val="100000"/>
              <a:buChar char="•"/>
            </a:pPr>
            <a:r>
              <a:rPr lang="en-US" sz="1300" dirty="0">
                <a:solidFill>
                  <a:srgbClr val="475569"/>
                </a:solidFill>
                <a:latin typeface="Arial" pitchFamily="34" charset="0"/>
                <a:ea typeface="Arial" pitchFamily="34" charset="-122"/>
                <a:cs typeface="Arial" pitchFamily="34" charset="-120"/>
              </a:rPr>
              <a:t>Then Lab 1: modernize the chat app — your first AI-review exercise</a:t>
            </a:r>
            <a:endParaRPr lang="en-US" sz="1300" dirty="0"/>
          </a:p>
        </p:txBody>
      </p:sp>
      <p:sp>
        <p:nvSpPr>
          <p:cNvPr id="11" name="Text 8"/>
          <p:cNvSpPr/>
          <p:nvPr/>
        </p:nvSpPr>
        <p:spPr>
          <a:xfrm>
            <a:off x="457200" y="6492240"/>
            <a:ext cx="9144000" cy="274320"/>
          </a:xfrm>
          <a:prstGeom prst="rect">
            <a:avLst/>
          </a:prstGeom>
          <a:noFill/>
          <a:ln/>
        </p:spPr>
        <p:txBody>
          <a:bodyPr wrap="square" lIns="0" tIns="0" rIns="0" bIns="0" rtlCol="0" anchor="ctr"/>
          <a:lstStyle/>
          <a:p>
            <a:pPr indent="0" marL="0">
              <a:buNone/>
            </a:pPr>
            <a:r>
              <a:rPr lang="en-US" sz="900" dirty="0">
                <a:solidFill>
                  <a:srgbClr val="94A3B8"/>
                </a:solidFill>
                <a:latin typeface="Arial" pitchFamily="34" charset="0"/>
                <a:ea typeface="Arial" pitchFamily="34" charset="-122"/>
                <a:cs typeface="Arial" pitchFamily="34" charset="-120"/>
              </a:rPr>
              <a:t>Advanced React Development  </a:t>
            </a:r>
            <a:pPr indent="0" marL="0">
              <a:buNone/>
            </a:pPr>
            <a:r>
              <a:rPr lang="en-US" sz="900" dirty="0">
                <a:solidFill>
                  <a:srgbClr val="94A3B8"/>
                </a:solidFill>
                <a:latin typeface="Arial" pitchFamily="34" charset="0"/>
                <a:ea typeface="Arial" pitchFamily="34" charset="-122"/>
                <a:cs typeface="Arial" pitchFamily="34" charset="-120"/>
              </a:rPr>
              <a:t>v2.0  </a:t>
            </a:r>
            <a:pPr indent="0" marL="0">
              <a:buNone/>
            </a:pPr>
            <a:r>
              <a:rPr lang="en-US" sz="900" dirty="0">
                <a:solidFill>
                  <a:srgbClr val="94A3B8"/>
                </a:solidFill>
                <a:latin typeface="Arial" pitchFamily="34" charset="0"/>
                <a:ea typeface="Arial" pitchFamily="34" charset="-122"/>
                <a:cs typeface="Arial" pitchFamily="34" charset="-120"/>
              </a:rPr>
              <a:t>Module 1 — The 2026 Landscape</a:t>
            </a:r>
            <a:endParaRPr lang="en-US" sz="900" dirty="0"/>
          </a:p>
        </p:txBody>
      </p:sp>
      <p:sp>
        <p:nvSpPr>
          <p:cNvPr id="12" name="Text 9"/>
          <p:cNvSpPr/>
          <p:nvPr/>
        </p:nvSpPr>
        <p:spPr>
          <a:xfrm>
            <a:off x="11094415" y="6492240"/>
            <a:ext cx="640080" cy="274320"/>
          </a:xfrm>
          <a:prstGeom prst="rect">
            <a:avLst/>
          </a:prstGeom>
          <a:noFill/>
          <a:ln/>
        </p:spPr>
        <p:txBody>
          <a:bodyPr wrap="square" lIns="0" tIns="0" rIns="0" bIns="0" rtlCol="0" anchor="ctr"/>
          <a:lstStyle/>
          <a:p>
            <a:pPr algn="r" indent="0" marL="0">
              <a:buNone/>
            </a:pPr>
            <a:r>
              <a:rPr lang="en-US" sz="900" dirty="0">
                <a:solidFill>
                  <a:srgbClr val="94A3B8"/>
                </a:solidFill>
                <a:latin typeface="Arial" pitchFamily="34" charset="0"/>
                <a:ea typeface="Arial" pitchFamily="34" charset="-122"/>
                <a:cs typeface="Arial" pitchFamily="34" charset="-120"/>
              </a:rPr>
              <a:t>30 / 30</a:t>
            </a:r>
            <a:endParaRPr lang="en-US" sz="9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30</Slides>
  <Notes>30</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30</vt:i4>
      </vt:variant>
    </vt:vector>
  </HeadingPairs>
  <TitlesOfParts>
    <vt:vector size="33"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vector>
  </TitlesOfParts>
  <Company>WatzThis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Advanced React — Module 1: Welcome + 2026 Landscape</dc:title>
  <dc:subject>PptxGenJS Presentation</dc:subject>
  <dc:creator>Chris Minnick</dc:creator>
  <cp:lastModifiedBy>Chris Minnick</cp:lastModifiedBy>
  <cp:revision>1</cp:revision>
  <dcterms:created xsi:type="dcterms:W3CDTF">2026-05-06T23:50:09Z</dcterms:created>
  <dcterms:modified xsi:type="dcterms:W3CDTF">2026-05-06T23:50:09Z</dcterms:modified>
</cp:coreProperties>
</file>