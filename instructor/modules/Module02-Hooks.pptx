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minutes is a lot of ground. Plan: ~5 min on rules, ~15 on the foundational hooks revisited, ~30 on the four new hooks (this is the meat), ~15 on specialty hooks, ~10 on cheat sheet and lab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scene-setter. Tell students if they want exhaustive hook reference, react.dev is the place — this module is about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section. The point is to remind students the rules exist before showing AI mistakes that violate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read-through. Every senior in the room has these memorized. The mid-level half might benefit from a 30-second 'why' on rule 1 (call-order tracking).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slides on rules is enough. Move briskly to AI-and-the-rules.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room: when you read AI-generated component code, RUN your eyes through every hook call before anything else. Lint catches most of these but sometimes the lint config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minutes here. Most students know the syntax — focus on the judgment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 updater is the most-skipped one. Show students the race-prone version is the AI-default; the safe version is the senior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alone is worth the module. Hammer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dwell — point is to flag when it's worth reaching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slide stick. The right column is the most useful 'unlearning' content in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punchline of the foundational section. If students leave the course knowing only this slide, the course paid for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closure issue verbally. The interval captures count=0 from the first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students aren't using the eslint plugin, this is the slide where you tell them to install it before lab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meat of the module — about 30 minutes. Don't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 slide. Each one gets two slides of detail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conditional-allowed bit is the headline. It bends the first hook rule, but only for use()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server/client boundary. This is also a good preview for Module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dive into code yet — that's the next slide. Make sure the three return values land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through. The big win: no useState for email/password/error/loading. Four useStates collapse into one useActionState.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it's for *descendants* of a form, not the form itself. This is the gotcha.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reusability is the win. SubmitButton works inside any form anywhere in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'don't use when' card is important. Optimistic updates are a UX choice, not a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pattern lands well. Lab 1 stretch task is to add this exact thing to the chat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SLOWLY. This is the canonical 2026 form pattern and students will refer back to it in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content section. ~15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will use this through a library, not directly. But knowing it exists matters when debugging tearing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Underused hook. Worth flagging.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paired with Suspense. The startTransition wrapper makes the state update interruptible if the user clicks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mnemonic: deferred = wrap the value you receive; transition = wrap the call you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to skip on a first read. Mention the SSR warning explicitly — that one trips students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this slide is the takeaway. Screenshot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every one — point at them. Lab 1 is about exercising this checklist on real AI-generated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lab on screen. Run the starter, show students the React 18/CRA legacy state. Then break for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That Matter in 2026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right hook for the job. Spot the wrong one in AI-generated code.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minutes  ·  Lecture + live demos  ·  Lab 1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hooks does React 19 have?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Twenty-ish. We won't cover them all. We'll cover the ones that earn their keep.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32918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20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hooks in React 19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are new since React 18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~6 framework- or compiler-only hooks not covered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this module: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210312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hooks rulebook (and how AI breaks it)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hooks revisited — useState, useReducer, useEffect (and when not to)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new arrivals — use, useActionState, useFormStatus, useOptimistic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hooks — useSyncExternalStore, useDeferredValue, useTransition, useLayoutEffect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Lab 1: modernize the chat app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Rules of Hooks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minutes. AI assistants violate these constantly — knowing them is part of the review skill.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Rules of Hooks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rules. The eslint plugin enforces them. Most AI tools eventually break them anyway.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594360" cy="5943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71907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call hooks at the top level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14884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inside loops, conditions, nested functions, or after early returns. React tracks hooks by call order; conditional calls break that order.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10607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291840"/>
            <a:ext cx="594360" cy="5943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313639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Only call hooks from React functions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356616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components, custom hooks (functions that start with use). Not regular functions, not class methods, not event handlers.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389120"/>
            <a:ext cx="106070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709160"/>
            <a:ext cx="594360" cy="594360"/>
          </a:xfrm>
          <a:prstGeom prst="ellipse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45537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hooks compose by calling other hooks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83080" y="498348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find yourself wanting to call a hook conditionally, lift the conditionality into the component using the custom hook.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rules exist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tracks hook state by call order, not by name. Conditionals would scramble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Breaks the rules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27432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name })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(!name) return null;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Hook called only when name truthy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&lt;h1&gt;Hello {name}&lt;/h1&gt;;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Plays by the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27432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name }) {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Hook called every render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(!name) return null;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&lt;h1&gt;Hello {name}&lt;/h1&gt;;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937760"/>
            <a:ext cx="10607040" cy="128016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21208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91640" y="5029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React's reconciler relies on hooks being called in the same order every render. Break the order, get a confusing 'Rendered fewer hooks than expected' error.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assistants violate these constantly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review skill matters more than typing skill.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 inside a conditional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916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to 'only run this when X', AI tools wrap a useEffect in if (X) {} more often than they reach for the dependency array.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69748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803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2788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 in a callback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91640" y="3108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inside an onClick handler is depressingly common in AI-generated code.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77240" y="3703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862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 ordering changes between renders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69164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hook called depending on a prop value — silently breaks state across re-renders.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77240" y="47091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920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hook called conditionally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691640" y="5120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AI is told 'use this when…', it produces useMyThing() inside an if. Same problem.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Foundational Hooks Revisited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useState, useReducer, useEffect — and the situations where useEffect is the wrong tool.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— what most people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patterns worth being deliberate about.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updater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new state depends on previous state — always.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2788920"/>
            <a:ext cx="3246120" cy="324612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926080"/>
            <a:ext cx="2880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race-prone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setCount(count + 1);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setCount(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+ 1);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5544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91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Lazy initialization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20574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initial value is expensive to compute.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2788920"/>
            <a:ext cx="3246120" cy="324612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926080"/>
            <a:ext cx="2880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every render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expensive()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once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expensive()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58200" y="155448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41080" y="1691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updater batching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41080" y="20574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batches all updates in event handlers, effects, and timers automatically.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41080" y="2788920"/>
            <a:ext cx="3246120" cy="324612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926080"/>
            <a:ext cx="28803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render, count =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n + 1);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n + 1);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n + 1);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 trap: derived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 compute it from props, don't put it in state.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31089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items, query })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[filtered, setFiltered]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(items);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bug: filtered lags items by one render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setFiltered(items.filter(i =&gt; i.includes(query)));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[items, query]);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&lt;ul&gt;{filtered.map(...)}&lt;/ul&gt;;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31089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items, query }) {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just compute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filtered = items.filter(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=&gt; i.includes(query)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&lt;ul&gt;{filtered.map(...)}&lt;/ul&gt;;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Compiler memoizes if needed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212080"/>
            <a:ext cx="10607040" cy="10058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4068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91640" y="5257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single most common AI-generated React mistake. State + useEffect to track props is almost always wrong.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useReducer — when state has multiple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useState when transitions are complex or related states change together.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useReducer when: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state values change together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transitions are non-trivial (validation, side-effect dispatch)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test the transition logic in isolation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modeling a state machine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02920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(state, action)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(action.type)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'add'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 ...state,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items: [...state.items, action.item]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'reset'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initialState;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[state, dispatch]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useReducer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reducer, initialState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5212080"/>
            <a:ext cx="5349240" cy="10058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525780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tip: action.type as a discriminated union gives you exhaustive checks.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— what it's actually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Synchronizing your component with something outside React.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 — synchronize external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349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116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Subscribing to an external store (event bus, websocket, browser API)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743200"/>
            <a:ext cx="5349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80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788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timers or animation frames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3520440"/>
            <a:ext cx="5349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5661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Imperatively mutating a third-party widget (a chart, a map, a video player)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77240" y="4297680"/>
            <a:ext cx="5349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348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3434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to analytics on mount or unmount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35508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— these are not effects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355080" y="196596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1031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2011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values you can derive from props or state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355080" y="274320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88036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40880" y="27889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Resetting state when props change (use a key prop instead)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355080" y="352044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657600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40880" y="35661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Fetching data (use Suspense + use(), or TanStack Query)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6355080" y="4297680"/>
            <a:ext cx="5029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434840"/>
            <a:ext cx="365760" cy="36576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40880" y="43434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Triggering events in response to user actions (use event handlers)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not to useEffect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patterns that look like effects but aren't. Use these instead.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to compute derived data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84248"/>
            <a:ext cx="274320" cy="2743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74520"/>
            <a:ext cx="502920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2360" y="1783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it inline in render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1640" y="2834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to reset state on prop change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035808"/>
            <a:ext cx="274320" cy="27432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926080"/>
            <a:ext cx="502920" cy="5029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52360" y="2834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a key prop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977640"/>
            <a:ext cx="502920" cy="5029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691640" y="3886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to fetch data</a:t>
            </a:r>
            <a:endParaRPr lang="en-US" sz="14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087368"/>
            <a:ext cx="274320" cy="27432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977640"/>
            <a:ext cx="502920" cy="50292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452360" y="3886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Suspense + use() or TanStack Query</a:t>
            </a:r>
            <a:endParaRPr lang="en-US" sz="1300" dirty="0"/>
          </a:p>
        </p:txBody>
      </p:sp>
      <p:sp>
        <p:nvSpPr>
          <p:cNvPr id="23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" y="5029200"/>
            <a:ext cx="502920" cy="50292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691640" y="49377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useEffect to dispatch on user action</a:t>
            </a:r>
            <a:endParaRPr lang="en-US" sz="140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5138928"/>
            <a:ext cx="274320" cy="27432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60" y="5029200"/>
            <a:ext cx="502920" cy="50292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452360" y="4937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dispatch into the event handler</a:t>
            </a:r>
            <a:endParaRPr lang="en-US" sz="1300" dirty="0"/>
          </a:p>
        </p:txBody>
      </p:sp>
      <p:sp>
        <p:nvSpPr>
          <p:cNvPr id="29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30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Stale closures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 eslint catches and AI tools cause.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id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count is always 0!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.log(count);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1000);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clearInterval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missing [count]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id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reads current 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setCount(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=&gt; n + 1);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 1000);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clearInterval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dep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dependency array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react-hooks/exhaustive-deps catches almost all of these. Don't disable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109728" cy="868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83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reactive value used inside the effect must be in the array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2103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props, state, context, derived values from those — not refs (refs don't trigger re-renders)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97480"/>
            <a:ext cx="109728" cy="868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88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disable the lint rule to silence warnings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3108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exhaustive-deps complains, the code is probably wrong. Fix the underlying issue.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703320"/>
            <a:ext cx="109728" cy="868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794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Object/function dependencies will re-run the effect every render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4114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Memoize them, or move them inside the effect, or refactor to avoid the dependency.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7091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709160"/>
            <a:ext cx="109728" cy="8686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800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Empty array means 'on mount/unmount only'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want that, double-check that nothing reactive is captured. Consider whether you really need an effect at all.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New Arrivals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use, useActionState, useFormStatus, useOptimistic — the React 19 form &amp; async story.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hooks worth circling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didn't exist in the 2024 course. They will be in your reviewer's mental model now.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562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use(promise | context)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8562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async values inline. Suspends the component until the promise resolves.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07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useActionState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9077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with form Actions. Gives you state, the wrapped action, and a pending flag.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useFormStatus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39593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pending/data/method from inside any descendant of a &lt;form&gt;. No prop drilling.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0109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useOptimistic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501091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eventual state immediately. React reverts on error.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use() — read promises and contexts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hook that's allowed inside conditionals. Suspends instead of returning a value.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acceptable inputs: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109728" cy="40233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use(promise)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Suspends the component until the promise resolves. Pair with a &lt;Suspense&gt; boundary above.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3520440"/>
            <a:ext cx="4937760" cy="233172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57600"/>
            <a:ext cx="4572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userPromise })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(userPromise);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&lt;h1&gt;{user.name}&lt;/h1&gt;;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96596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965960"/>
            <a:ext cx="109728" cy="402336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use(context)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useContext, but legal inside if/loop/early-return. Quietly the unsung benefit.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3520440"/>
            <a:ext cx="4663440" cy="233172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3657600"/>
            <a:ext cx="4297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(!hasAuth)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null;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theme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(ThemeContext);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&lt;nav style={theme.nav} /&gt;;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use(promise)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&lt;Suspense&gt; above. Don't create the promise inside the component that calls use().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page.jsx — Server Component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ProfilePage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params }) {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fetch starts here, but we don't await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userPromise = fetchUser(params.id);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Suspense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fallback={&lt;Spinner /&gt;}&gt;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userPromise={userPromise}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Suspense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Profile.jsx — Client Component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client'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userPromise })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(userPromise);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&lt;h1&gt;{user.name}&lt;/h1&gt;;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5897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mistake: creating the promise inside the component that calls use(). New promise every render → infinite suspense loop.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useActionState — anatomy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a form action. Gives you state, the action, and isPending in one tuple.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1828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[state, action, isPending] =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useActionState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fn,       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 (prevState, formData) =&gt; newState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initialState,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permalink,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optional, for progressive enhancement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657600"/>
            <a:ext cx="3611880" cy="4572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703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fn returned last time it ran. The classic form-state pattern: { errors, fieldValues, success }.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365760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3657600"/>
            <a:ext cx="3611880" cy="4572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703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42062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wrapped version of fn. Pass it to &lt;form action&gt;. React calls it on submit and updates state automatically.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365760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3657600"/>
            <a:ext cx="3611880" cy="4572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37033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41080" y="420624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while the wrapped action is running. Use for spinners and disabling submit.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useActionState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form with validation, error display, and a pending state — no useState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(prevState, formData)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email =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password =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'password'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await authApi.login(email, password);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(result.error)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email, error: result.error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redirect(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'/home'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LoginForm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[state, action, isPending]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useActionState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(login, {});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action={action}&gt;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defaultValue={state.email}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'password'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'password'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{state.error &amp;&amp; &lt;p className=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&gt;{state.error}&lt;/p&gt;}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disabled={isPending}&gt;Sign in&lt;/button&gt;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useFormStatus — the inside-form hook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pending/data/method/action from any descendant of a form. Replaces prop drilling.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943600" cy="10972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pending, data, method, action } =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useFormStatus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9202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— true while the parent form's action is running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— the FormData being submitted (or null)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— 'get' or 'post'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— the function the form will run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389120"/>
            <a:ext cx="10607040" cy="137160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7091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443484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called from inside a component rendered as a descendant of &lt;form&gt;. Calling it on the form itself returns null.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useFormStatus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submit button that knows when its form is submitting — without any props.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38912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reusable, no props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SubmitButton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children })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pending }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useFormStatus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'submit'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disabled={pending}&gt;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{pending ? 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'Saving…'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children}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elsewhere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action={savePost}&gt;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name=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&lt;SubmitButton&gt;Post&lt;/SubmitButton&gt;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useOptimistic — show the future, revert on error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the eventual state immediately. React reconciles when the real action completes.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1828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[optimisticState, addOptimistic] = </a:t>
            </a:r>
            <a:pPr indent="0" marL="0">
              <a:buNone/>
            </a:pPr>
            <a:r>
              <a:rPr lang="en-US" sz="14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useOptimistic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state,            </a:t>
            </a:r>
            <a:pPr indent="0" marL="0">
              <a:buNone/>
            </a:pPr>
            <a:r>
              <a:rPr lang="en-US" sz="14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'real' 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(currentState, optimisticValue) =&gt; newState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657600"/>
            <a:ext cx="109728" cy="24688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when…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actions that have a small chance of failing — sending a message, liking a post, marking a todo done.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365760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3657600"/>
            <a:ext cx="109728" cy="24688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use when…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42062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that are slow or likely to fail (uploads, payments). The reversal feels worse than just showing pending.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3657600"/>
            <a:ext cx="3611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3657600"/>
            <a:ext cx="109728" cy="246888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3794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with…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42062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 Action or async handler. The optimistic state is replaced when the real state updates.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useOptimistic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message; it appears in the list instantly. If the server rejects it, it disappears.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messages, send })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[optimistic, addOptimistic] =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useOptimistic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(current, newMsg) =&gt; [...current, { ...newMsg, sending: 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(formData)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text = formData.get(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addOptimistic({ text });          </a:t>
            </a:r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send(text);                  </a:t>
            </a:r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 call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action={submit}&gt;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{optimistic.map(m =&gt; &lt;Bubble msg={m} /&gt;)}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'text'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/&gt;&lt;button&gt;Send&lt;/button&gt;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them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posting form using all four new hooks. This is the pattern to remember.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posts })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[state, action, isPending]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useActionState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(createPost, { ok: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[optimisticPosts, addOptimistic] =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useOptimistic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(current, newPost) =&gt; [{ ...newPost, sending: 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...current]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&lt;form action={async (fd)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addOptimistic({ body: fd.get(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action(fd);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&lt;textarea name=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&lt;SubmitButton /&gt;            </a:t>
            </a:r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uses useFormStatus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{state.error &amp;&amp; &lt;Error /&gt;}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&lt;/form&gt;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&lt;PostList posts={optimisticPosts} 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Specialty Hooks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useSyncExternalStore, useDeferredValue, useTransition, useLayoutEffect — when each one earns its keep.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useSyncExternalStore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to a non-React store safely — without tearing during concurrent renders.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when: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a Zustand/Redux/Jotai-style store you wrote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window.matchMedia, navigator.online, etc.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a third-party event emitter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Anywhere the value can change outside of React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02920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useOnline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useSyncExternalStore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(notify) =&gt;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window.addEventListener(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'online'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notify);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window.addEventListener(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'offline'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notify);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() =&gt; { /* cleanup */ 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navigator.onLine,        </a:t>
            </a:r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pPr indent="0" marL="0">
              <a:buNone/>
            </a:pPr>
            <a:r>
              <a:rPr lang="en-US" sz="11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useDeferredValue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stale content during expensive renders. Like a built-in stale-while-revalidate for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94360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5577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SearchPage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[query, setQuery]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deferred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useDeferredValue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(query);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value={query}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onChange={(e) =&gt; setQuery(e.target.value)}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&lt;Results query={deferred} 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9202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stays responsive — query updates immediately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may lag a render or two — deferred value catches up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React.memo or useMemo on Results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 you can't move the work to a worker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useTransition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 state update as non-blocking. Updates that would freeze the UI become interruptible.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36576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[tab, setTab]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'home'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[isPending, startTransition] =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useTransition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selectTab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(next)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startTransition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setTab(next));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&lt;Layout busy={isPending}&gt;&lt;Pane tab={tab} /&gt;&lt;/Layout&gt;;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useDeferredValue vs useTransition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solve adjacent problems. Pick by what you control.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useDeferredValue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a value you receive (props or state) so consumers see a delayed copy.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you don't own the setter — e.g., wrapping query from props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deferred value silently lags during expensive renders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isPending flag (compare deferred === actual instead)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useTransition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a setter call so the resulting work is interruptible.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you own the setter — wrap setX in startTransition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isPending — surface it as a spinner or busy indicator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transitions interrupt older ones automatically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useLayoutEffect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useEffect, but synchronous — fires before the browser paints. Use it sparingly.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when: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measure DOM and adjust layout before paint (e.g., a tooltip's position)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to sync DOM mutations across reads/writes that would flicker otherwise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writing a component library that has to interop with imperative DOM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use when: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useEffect would do — it blocks paint, hurting perceived performance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Subscribing to data — neither hook should fetch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rendering — useLayoutEffect doesn't run on the server, gets noisy warnings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4572000"/>
            <a:ext cx="10607040" cy="164592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07492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4663440"/>
            <a:ext cx="9418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reach for useEffect first. If you see a flicker between paint and effect, then upgrade to useLayoutEffect.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 selection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doubt: which hook fits the situation?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component value that changes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600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267712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related state values, complex transitions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23134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useReducer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980944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2666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async data inline (Server Components)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30266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use(promise)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694176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398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context, possibly conditionally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37398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use(context)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407408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53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action + state + pending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4453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useActionState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5120640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66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button needing form pending state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useFormStatus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1554480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600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eventual state immediately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0" y="1600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useOptimistic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55080" y="2267712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3134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to non-React store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09760" y="231343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useSyncExternalStore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55080" y="2980944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02666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input responsive during expensive renders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0" y="302666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useDeferredValue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55080" y="3694176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7398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state update interruptible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9760" y="373989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useTransition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355080" y="4407408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453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to an external system on render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09760" y="4453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55080" y="5120640"/>
            <a:ext cx="5349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51663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DOM before paint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509760" y="5166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useLayoutEffect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hook mistakes — your review 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for when reviewing AI-generated React.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for derived data that should be a plain calculation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 to reset state on prop change (use a key prop instead)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724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 to fetch data (use Suspense + use, or TanStack Query)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26480" y="297180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063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closure in useEffect (missing dep, or use functional setState)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7724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5720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inside a conditional (lift the conditionality outside)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126480" y="4251960"/>
            <a:ext cx="5212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7200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343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hook called conditionally (lift the conditionality)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Modernize a legacy class-component chat app — your first AI-review exercise.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1: Modernize the Chat App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minutes  ·  Hands-on  ·  Stretch task: add useOptimistic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real-time-chat in the lab repo — class components, React 18, CRA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AI assistant to do a first-pass conversion to function components and modern hooks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what the AI produced — spot at least three mistakes from the checklist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 working modernized chat app on a feature branch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add useOptimistic so messages appear instantly while the round-trip completes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Hooks That Matter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2: Hooks That Matter in 2026</dc:title>
  <dc:subject>PptxGenJS Presentation</dc:subject>
  <dc:creator>Chris Minnick</dc:creator>
  <cp:lastModifiedBy>Chris Minnick</cp:lastModifiedBy>
  <cp:revision>1</cp:revision>
  <dcterms:created xsi:type="dcterms:W3CDTF">2026-05-07T00:05:36Z</dcterms:created>
  <dcterms:modified xsi:type="dcterms:W3CDTF">2026-05-07T00:05:36Z</dcterms:modified>
</cp:coreProperties>
</file>