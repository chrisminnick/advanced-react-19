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75 minutes is a lot of ground. Plan: ~5 min on rules, ~15 on the foundational hooks revisited, ~30 on the four new hooks (this is the meat), ~15 on specialty hooks, ~10 on cheat sheet and lab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scene-setter. Tell students if they want exhaustive hook reference, react.dev is the place — this module is about judgment.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 section. The point is to remind students the rules exist before showing AI mistakes that violate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read-through. Every senior in the room has these memorized. The mid-level half might benefit from a 30-second 'why' on rule 1 (call-order tracking).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slides on rules is enough. Move briskly to AI-and-the-rules.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Tell the room: when you read AI-generated component code, RUN your eyes through every hook call before anything else. Lint catches most of these but sometimes the lint config is missing.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~15 minutes here. Most students know the syntax — focus on the judgment calls.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Functional updater is the most-skipped one. Show students the race-prone version is the AI-default; the safe version is the senior 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alone is worth the module. Hammer on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dwell — point is to flag when it's worth reaching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this slide stick. The right column is the most useful 'unlearning' content in the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punchline of the foundational section. If students leave the course knowing only this slide, the course paid for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closure issue verbally. The interval captures count=0 from the first render.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your students aren't using the eslint plugin, this is the slide where you tell them to install it before lab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meat of the module — about 30 minutes. Don't rush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overview slide. Each one gets two slides of detail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conditional-allowed bit is the headline. It bends the first hook rule, but only for use()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server/client boundary. This is also a good preview for Module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dive into code yet — that's the next slide. Make sure the three return values land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students through. The big win: no useState for email/password/error/loading. Four useStates collapse into one useActionState.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Stress: it's for *descendants* of a form, not the form itself. This is the gotcha.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reusability is the win. SubmitButton works inside any form anywhere in the 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'don't use when' card is important. Optimistic updates are a UX choice, not a default.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pattern lands well. Lab 1 stretch task is to add this exact thing to the chat 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SLOWLY. This is the canonical 2026 form pattern and students will refer back to it in labs.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Last content section. ~15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students will use this through a library, not directly. But knowing it exists matters when debugging tearing issues.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Underused hook. Worth flagging.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Often paired with Suspense. The startTransition wrapper makes the state update interruptible if the user clicks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mnemonic: deferred = wrap the value you receive; transition = wrap the call you make.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Easy to skip on a first read. Mention the SSR warning explicitly — that one trips students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Tell students: this slide is the takeaway. Screenshot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read every one — point at them. Lab 1 is about exercising this checklist on real AI-generated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up the lab on screen. Run the starter, show students the React 18/CRA legacy state. Then break for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image" Target="../media/image-3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377440"/>
            <a:ext cx="548640" cy="7315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54203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301752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Hooks That Matter in 2026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right hook for the job. Spot the wrong one in AI-generated code.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 minutes  ·  Lecture + live demos  ·  Lab 1 follows</a:t>
            </a:r>
            <a:endParaRPr lang="en-US" sz="14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10728655" y="466344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many hooks does React 19 have?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Twenty-ish. We won't cover them all. We'll cover the ones that earn their keep.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5349240" cy="3291840"/>
          </a:xfrm>
          <a:prstGeom prst="rect">
            <a:avLst/>
          </a:prstGeom>
          <a:solidFill>
            <a:srgbClr val="CBF1F6"/>
          </a:solidFill>
          <a:ln w="12700">
            <a:solidFill>
              <a:srgbClr val="CBF1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83080"/>
            <a:ext cx="5349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≈ 20</a:t>
            </a:r>
            <a:endParaRPr lang="en-US" sz="9600" dirty="0"/>
          </a:p>
        </p:txBody>
      </p:sp>
      <p:sp>
        <p:nvSpPr>
          <p:cNvPr id="7" name="Text 5"/>
          <p:cNvSpPr/>
          <p:nvPr/>
        </p:nvSpPr>
        <p:spPr>
          <a:xfrm>
            <a:off x="777240" y="324612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built-in hooks in React 19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37947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are new since React 18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429768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~6 framework- or compiler-only hooks not covered today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76656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 this module: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766560" y="210312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hooks rulebook (and how AI breaks it)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Foundational hooks revisited — useState, useReducer, useEffect (and when not to)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four new arrivals — use, useActionState, useFormStatus, useOptimistic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Specialty hooks — useSyncExternalStore, useDeferredValue, useTransition, useLayoutEffect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Lab 1: modernize the chat app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2 — Hooks That Matter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34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743200"/>
            <a:ext cx="548640" cy="7315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880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 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Rules of Hooks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4348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minutes. AI assistants violate these constantly — knowing them is part of the review skill.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6400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Rules of Hooks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rules. The eslint plugin enforces them. Most AI tools eventually break them anyway.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106070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1874520"/>
            <a:ext cx="594360" cy="594360"/>
          </a:xfrm>
          <a:prstGeom prst="ellipse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8745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783080" y="1719072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Only call hooks at the top level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783080" y="214884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inside loops, conditions, nested functions, or after early returns. React tracks hooks by call order; conditional calls break that order.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2971800"/>
            <a:ext cx="106070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3291840"/>
            <a:ext cx="594360" cy="594360"/>
          </a:xfrm>
          <a:prstGeom prst="ellipse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2918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783080" y="3136392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Only call hooks from React functions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783080" y="356616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 components, custom hooks (functions that start with use). Not regular functions, not class methods, not event handlers.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77240" y="4389120"/>
            <a:ext cx="106070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" y="4709160"/>
            <a:ext cx="594360" cy="594360"/>
          </a:xfrm>
          <a:prstGeom prst="ellipse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47091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783080" y="4553712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Custom hooks compose by calling other hooks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783080" y="498348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find yourself wanting to call a hook conditionally, lift the conditionality into the component using the custom hook.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2 — Hooks That Matter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34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the rules exist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tracks hook state by call order, not by name. Conditionals would scramble it.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Breaks the rules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5349240" cy="274320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057400"/>
            <a:ext cx="49834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Greeting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 name })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(!name) return null;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Hook called only when name truthy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[count, setCount] =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useState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(0);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&lt;h1&gt;Hello {name}&lt;/h1&gt;;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55080" y="1554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Plays by the rules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55080" y="1920240"/>
            <a:ext cx="5029200" cy="274320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2057400"/>
            <a:ext cx="4663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Greeting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 name }) {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Hook called every render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[count, setCount] =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useState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(0);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(!name) return null;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&lt;h1&gt;Hello {name}&lt;/h1&gt;;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4937760"/>
            <a:ext cx="10607040" cy="1280160"/>
          </a:xfrm>
          <a:prstGeom prst="rect">
            <a:avLst/>
          </a:prstGeom>
          <a:solidFill>
            <a:srgbClr val="CBF1F6"/>
          </a:solidFill>
          <a:ln w="12700">
            <a:solidFill>
              <a:srgbClr val="CBF1F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5212080"/>
            <a:ext cx="502920" cy="50292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691640" y="502920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React's reconciler relies on hooks being called in the same order every render. Break the order, get a confusing 'Rendered fewer hooks than expected' error.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2 — Hooks That Matter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34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assistants violate these constantly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review skill matters more than typing skill.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7830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Hook inside a conditional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691640" y="21031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Asked to 'only run this when X', AI tools wrap a useEffect in if (X) {} more often than they reach for the dependency array.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77240" y="269748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880360"/>
            <a:ext cx="5029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27889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Hook in a callback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1691640" y="31089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useState inside an onClick handler is depressingly common in AI-generated code.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777240" y="370332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886200"/>
            <a:ext cx="502920" cy="5029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37947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Hook ordering changes between renders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1691640" y="41148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 hook called depending on a prop value — silently breaks state across re-renders.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777240" y="470916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892040"/>
            <a:ext cx="502920" cy="5029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48006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Custom hook called conditionally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1691640" y="51206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AI is told 'use this when…', it produces useMyThing() inside an if. Same problem.</a:t>
            </a:r>
            <a:endParaRPr lang="en-US" sz="1150" dirty="0"/>
          </a:p>
        </p:txBody>
      </p:sp>
      <p:sp>
        <p:nvSpPr>
          <p:cNvPr id="21" name="Text 1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2 — Hooks That Matter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34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743200"/>
            <a:ext cx="548640" cy="7315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880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 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Foundational Hooks Revisited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4348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useState, useReducer, useEffect — and the situations where useEffect is the wrong tool.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6400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useState — what most people know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patterns worth being deliberate about.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361188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Functional updater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60120" y="2057400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new state depends on previous state — always.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60120" y="2788920"/>
            <a:ext cx="3246120" cy="324612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43000" y="2926080"/>
            <a:ext cx="288036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race-prone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setCount(count + 1);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safe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setCount(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+ 1);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17720" y="1554480"/>
            <a:ext cx="361188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0600" y="169164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Lazy initialization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800600" y="2057400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initial value is expensive to compute.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800600" y="2788920"/>
            <a:ext cx="3246120" cy="324612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83480" y="2926080"/>
            <a:ext cx="288036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runs every render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useState(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expensive()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runs once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useState(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=&gt; expensive()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458200" y="1554480"/>
            <a:ext cx="361188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41080" y="169164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State updater batching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641080" y="2057400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19 batches all updates in event handlers, effects, and timers automatically.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641080" y="2788920"/>
            <a:ext cx="3246120" cy="324612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23960" y="2926080"/>
            <a:ext cx="288036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one render, count = 3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onClick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setCount(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n + 1);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setCount(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n + 1);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setCount(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n + 1);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2 — Hooks That Matter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34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useState trap: derived state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can compute it from props, don't put it in state.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trap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5349240" cy="310896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057400"/>
            <a:ext cx="4983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 items, query })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[filtered, setFiltered] =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useState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(items);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bug: filtered lags items by one render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useEffect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(() =&gt;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setFiltered(items.filter(i =&gt; i.includes(query)));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 [items, query]);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&lt;ul&gt;{filtered.map(...)}&lt;/ul&gt;;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55080" y="1554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fix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55080" y="1920240"/>
            <a:ext cx="5029200" cy="310896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205740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 items, query }) {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just compute 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filtered = items.filter(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 =&gt; i.includes(query)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&lt;ul&gt;{filtered.map(...)}&lt;/ul&gt;;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Compiler memoizes if needed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5212080"/>
            <a:ext cx="10607040" cy="1005840"/>
          </a:xfrm>
          <a:prstGeom prst="rect">
            <a:avLst/>
          </a:prstGeom>
          <a:solidFill>
            <a:srgbClr val="CBF1F6"/>
          </a:solidFill>
          <a:ln w="12700">
            <a:solidFill>
              <a:srgbClr val="CBF1F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5440680"/>
            <a:ext cx="502920" cy="50292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691640" y="52578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single most common AI-generated React mistake. State + useEffect to track props is almost always wrong.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2 — Hooks That Matter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34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useReducer — when state has multiple actions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 than useState when transitions are complex or related states change together.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 useReducer when: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1920240"/>
            <a:ext cx="5349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state values change together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transitions are non-trivial (validation, side-effect dispatch)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want to test the transition logic in isolation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You're modeling a state machine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55080" y="1554480"/>
            <a:ext cx="5029200" cy="420624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1691640"/>
            <a:ext cx="46634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reducer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(state, action)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switch (action.type)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case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'add'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return { ...state,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items: [...state.items, action.item]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};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case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'reset'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return initialState;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[state, dispatch] =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useReducer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reducer, initialState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77240" y="5212080"/>
            <a:ext cx="5349240" cy="1005840"/>
          </a:xfrm>
          <a:prstGeom prst="rect">
            <a:avLst/>
          </a:prstGeom>
          <a:solidFill>
            <a:srgbClr val="CBF1F6"/>
          </a:solidFill>
          <a:ln w="12700">
            <a:solidFill>
              <a:srgbClr val="CBF1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5257800"/>
            <a:ext cx="5166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 tip: action.type as a discriminated union gives you exhaustive checks.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2 — Hooks That Matter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34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useEffect — what it's actually for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Synchronizing your component with something outside React.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50876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Yes — synchronize external systems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1965960"/>
            <a:ext cx="53492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10312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63040" y="201168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Subscribing to an external store (event bus, websocket, browser API)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77240" y="2743200"/>
            <a:ext cx="53492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88036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63040" y="278892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Setting up timers or animation frames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777240" y="3520440"/>
            <a:ext cx="53492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657600"/>
            <a:ext cx="365760" cy="3657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63040" y="356616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Imperatively mutating a third-party widget (a chart, a map, a video player)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777240" y="4297680"/>
            <a:ext cx="53492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434840"/>
            <a:ext cx="365760" cy="36576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463040" y="434340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Logging to analytics on mount or unmount</a:t>
            </a:r>
            <a:endParaRPr lang="en-US" sz="1150" dirty="0"/>
          </a:p>
        </p:txBody>
      </p:sp>
      <p:sp>
        <p:nvSpPr>
          <p:cNvPr id="18" name="Text 12"/>
          <p:cNvSpPr/>
          <p:nvPr/>
        </p:nvSpPr>
        <p:spPr>
          <a:xfrm>
            <a:off x="6355080" y="1508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— these are not effects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6355080" y="1965960"/>
            <a:ext cx="50292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0" y="2103120"/>
            <a:ext cx="365760" cy="36576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040880" y="201168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Computing values you can derive from props or state</a:t>
            </a:r>
            <a:endParaRPr lang="en-US" sz="1150" dirty="0"/>
          </a:p>
        </p:txBody>
      </p:sp>
      <p:sp>
        <p:nvSpPr>
          <p:cNvPr id="22" name="Shape 15"/>
          <p:cNvSpPr/>
          <p:nvPr/>
        </p:nvSpPr>
        <p:spPr>
          <a:xfrm>
            <a:off x="6355080" y="2743200"/>
            <a:ext cx="50292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0" y="2880360"/>
            <a:ext cx="365760" cy="36576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7040880" y="278892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Resetting state when props change (use a key prop instead)</a:t>
            </a:r>
            <a:endParaRPr lang="en-US" sz="1150" dirty="0"/>
          </a:p>
        </p:txBody>
      </p:sp>
      <p:sp>
        <p:nvSpPr>
          <p:cNvPr id="25" name="Shape 17"/>
          <p:cNvSpPr/>
          <p:nvPr/>
        </p:nvSpPr>
        <p:spPr>
          <a:xfrm>
            <a:off x="6355080" y="3520440"/>
            <a:ext cx="50292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7960" y="3657600"/>
            <a:ext cx="365760" cy="365760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7040880" y="356616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Fetching data (use Suspense + use(), or TanStack Query)</a:t>
            </a:r>
            <a:endParaRPr lang="en-US" sz="1150" dirty="0"/>
          </a:p>
        </p:txBody>
      </p:sp>
      <p:sp>
        <p:nvSpPr>
          <p:cNvPr id="28" name="Shape 19"/>
          <p:cNvSpPr/>
          <p:nvPr/>
        </p:nvSpPr>
        <p:spPr>
          <a:xfrm>
            <a:off x="6355080" y="4297680"/>
            <a:ext cx="50292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37960" y="4434840"/>
            <a:ext cx="365760" cy="365760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7040880" y="434340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Triggering events in response to user actions (use event handlers)</a:t>
            </a:r>
            <a:endParaRPr lang="en-US" sz="1150" dirty="0"/>
          </a:p>
        </p:txBody>
      </p:sp>
      <p:sp>
        <p:nvSpPr>
          <p:cNvPr id="31" name="Text 21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2 — Hooks That Matter</a:t>
            </a:r>
            <a:endParaRPr lang="en-US" sz="900" dirty="0"/>
          </a:p>
        </p:txBody>
      </p:sp>
      <p:sp>
        <p:nvSpPr>
          <p:cNvPr id="32" name="Text 22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34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When not to useEffect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patterns that look like effects but aren't. Use these instead.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7830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useEffect to compute derived data</a:t>
            </a:r>
            <a:endParaRPr lang="en-US" sz="14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984248"/>
            <a:ext cx="274320" cy="274320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1874520"/>
            <a:ext cx="502920" cy="50292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452360" y="1783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 it inline in render</a:t>
            </a:r>
            <a:endParaRPr lang="en-US" sz="1300" dirty="0"/>
          </a:p>
        </p:txBody>
      </p:sp>
      <p:sp>
        <p:nvSpPr>
          <p:cNvPr id="11" name="Shape 6"/>
          <p:cNvSpPr/>
          <p:nvPr/>
        </p:nvSpPr>
        <p:spPr>
          <a:xfrm>
            <a:off x="777240" y="274320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926080"/>
            <a:ext cx="502920" cy="50292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691640" y="28346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useEffect to reset state on prop change</a:t>
            </a:r>
            <a:endParaRPr lang="en-US" sz="14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3035808"/>
            <a:ext cx="274320" cy="274320"/>
          </a:xfrm>
          <a:prstGeom prst="rect">
            <a:avLst/>
          </a:prstGeom>
        </p:spPr>
      </p:pic>
      <p:pic>
        <p:nvPicPr>
          <p:cNvPr id="1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60" y="2926080"/>
            <a:ext cx="502920" cy="502920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7452360" y="283464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a key prop</a:t>
            </a:r>
            <a:endParaRPr lang="en-US" sz="1300" dirty="0"/>
          </a:p>
        </p:txBody>
      </p:sp>
      <p:sp>
        <p:nvSpPr>
          <p:cNvPr id="17" name="Shape 9"/>
          <p:cNvSpPr/>
          <p:nvPr/>
        </p:nvSpPr>
        <p:spPr>
          <a:xfrm>
            <a:off x="777240" y="379476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3977640"/>
            <a:ext cx="502920" cy="502920"/>
          </a:xfrm>
          <a:prstGeom prst="rect">
            <a:avLst/>
          </a:prstGeom>
        </p:spPr>
      </p:pic>
      <p:sp>
        <p:nvSpPr>
          <p:cNvPr id="19" name="Text 10"/>
          <p:cNvSpPr/>
          <p:nvPr/>
        </p:nvSpPr>
        <p:spPr>
          <a:xfrm>
            <a:off x="1691640" y="388620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useEffect to fetch data</a:t>
            </a:r>
            <a:endParaRPr lang="en-US" sz="1400" dirty="0"/>
          </a:p>
        </p:txBody>
      </p:sp>
      <p:pic>
        <p:nvPicPr>
          <p:cNvPr id="2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9360" y="4087368"/>
            <a:ext cx="274320" cy="274320"/>
          </a:xfrm>
          <a:prstGeom prst="rect">
            <a:avLst/>
          </a:prstGeom>
        </p:spPr>
      </p:pic>
      <p:pic>
        <p:nvPicPr>
          <p:cNvPr id="2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66560" y="3977640"/>
            <a:ext cx="502920" cy="502920"/>
          </a:xfrm>
          <a:prstGeom prst="rect">
            <a:avLst/>
          </a:prstGeom>
        </p:spPr>
      </p:pic>
      <p:sp>
        <p:nvSpPr>
          <p:cNvPr id="22" name="Text 11"/>
          <p:cNvSpPr/>
          <p:nvPr/>
        </p:nvSpPr>
        <p:spPr>
          <a:xfrm>
            <a:off x="7452360" y="3886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Suspense + use() or TanStack Query</a:t>
            </a:r>
            <a:endParaRPr lang="en-US" sz="1300" dirty="0"/>
          </a:p>
        </p:txBody>
      </p:sp>
      <p:sp>
        <p:nvSpPr>
          <p:cNvPr id="23" name="Shape 12"/>
          <p:cNvSpPr/>
          <p:nvPr/>
        </p:nvSpPr>
        <p:spPr>
          <a:xfrm>
            <a:off x="777240" y="484632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0120" y="5029200"/>
            <a:ext cx="502920" cy="502920"/>
          </a:xfrm>
          <a:prstGeom prst="rect">
            <a:avLst/>
          </a:prstGeom>
        </p:spPr>
      </p:pic>
      <p:sp>
        <p:nvSpPr>
          <p:cNvPr id="25" name="Text 13"/>
          <p:cNvSpPr/>
          <p:nvPr/>
        </p:nvSpPr>
        <p:spPr>
          <a:xfrm>
            <a:off x="1691640" y="493776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useEffect to dispatch on user action</a:t>
            </a:r>
            <a:endParaRPr lang="en-US" sz="1400" dirty="0"/>
          </a:p>
        </p:txBody>
      </p:sp>
      <p:pic>
        <p:nvPicPr>
          <p:cNvPr id="2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09360" y="5138928"/>
            <a:ext cx="274320" cy="274320"/>
          </a:xfrm>
          <a:prstGeom prst="rect">
            <a:avLst/>
          </a:prstGeom>
        </p:spPr>
      </p:pic>
      <p:pic>
        <p:nvPicPr>
          <p:cNvPr id="27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66560" y="5029200"/>
            <a:ext cx="502920" cy="502920"/>
          </a:xfrm>
          <a:prstGeom prst="rect">
            <a:avLst/>
          </a:prstGeom>
        </p:spPr>
      </p:pic>
      <p:sp>
        <p:nvSpPr>
          <p:cNvPr id="28" name="Text 14"/>
          <p:cNvSpPr/>
          <p:nvPr/>
        </p:nvSpPr>
        <p:spPr>
          <a:xfrm>
            <a:off x="7452360" y="49377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 the dispatch into the event handler</a:t>
            </a:r>
            <a:endParaRPr lang="en-US" sz="1300" dirty="0"/>
          </a:p>
        </p:txBody>
      </p:sp>
      <p:sp>
        <p:nvSpPr>
          <p:cNvPr id="29" name="Text 1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2 — Hooks That Matter</a:t>
            </a:r>
            <a:endParaRPr lang="en-US" sz="900" dirty="0"/>
          </a:p>
        </p:txBody>
      </p:sp>
      <p:sp>
        <p:nvSpPr>
          <p:cNvPr id="30" name="Text 1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34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Stale closures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bug eslint catches and AI tools cause.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bug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5349240" cy="365760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057400"/>
            <a:ext cx="49834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Counter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[count, setCount] =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useState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(0);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useEffect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(() =&gt;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id =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setInterval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(() =&gt; {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// count is always 0!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.log(count);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 1000);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() =&gt;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clearInterval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(id);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 []); </a:t>
            </a:r>
            <a:pPr indent="0" marL="0">
              <a:buNone/>
            </a:pPr>
            <a:r>
              <a:rPr lang="en-US" sz="13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missing [count]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55080" y="1554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fix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55080" y="1920240"/>
            <a:ext cx="5029200" cy="365760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20574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Counter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[count, setCount] =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useState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(0);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useEffect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(() =&gt;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id =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setInterval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(() =&gt; {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// reads current count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setCount(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n + 1);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 1000);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() =&gt;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clearInterval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(id);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 []); </a:t>
            </a:r>
            <a:pPr indent="0" marL="0">
              <a:buNone/>
            </a:pPr>
            <a:r>
              <a:rPr lang="en-US" sz="13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no dep needed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2 — Hooks That Matter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34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dependency array rules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react-hooks/exhaustive-deps catches almost all of these. Don't disable it.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691640"/>
            <a:ext cx="109728" cy="868680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7830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reactive value used inside the effect must be in the array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051560" y="21031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props, state, context, derived values from those — not refs (refs don't trigger re-renders)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77240" y="269748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2697480"/>
            <a:ext cx="109728" cy="868680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278892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Don't disable the lint rule to silence warnings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051560" y="31089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exhaustive-deps complains, the code is probably wrong. Fix the underlying issue.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77240" y="370332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3703320"/>
            <a:ext cx="109728" cy="868680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379476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Object/function dependencies will re-run the effect every render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1051560" y="41148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Memoize them, or move them inside the effect, or refactor to avoid the dependency.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77240" y="470916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7240" y="4709160"/>
            <a:ext cx="109728" cy="868680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" y="480060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Empty array means 'on mount/unmount only'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051560" y="51206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want that, double-check that nothing reactive is captured. Consider whether you really need an effect at all.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2 — Hooks That Matter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34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743200"/>
            <a:ext cx="548640" cy="7315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880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 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Four New Arrivals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4348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use, useActionState, useFormStatus, useOptimistic — the React 19 form &amp; async story.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6400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four hooks worth circling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didn't exist in the 2024 course. They will be in your reviewer's mental model now.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85623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use(promise | context)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212080" y="1856232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async values inline. Suspends the component until the promise resolves.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274320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90779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useActionState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212080" y="2907792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 with form Actions. Gives you state, the wrapped action, and a pending flag.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379476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95935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useFormStatus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212080" y="3959352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pending/data/method from inside any descendant of a &lt;form&gt;. No prop drilling.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4846320"/>
            <a:ext cx="106070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50109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useOptimistic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5010912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the eventual state immediately. React reverts on error.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2 — Hooks That Matter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34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use() — read promises and contexts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hook that's allowed inside conditionals. Suspends instead of returning a value.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acceptable inputs: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1965960"/>
            <a:ext cx="53492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965960"/>
            <a:ext cx="109728" cy="4023360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1031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use(promise)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51560" y="26060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Suspends the component until the promise resolves. Pair with a &lt;Suspense&gt; boundary above.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051560" y="3520440"/>
            <a:ext cx="4937760" cy="233172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34440" y="3657600"/>
            <a:ext cx="45720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Profile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 userPromise })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user =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(userPromise);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&lt;h1&gt;{user.name}&lt;/h1&gt;;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355080" y="1965960"/>
            <a:ext cx="502920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55080" y="1965960"/>
            <a:ext cx="109728" cy="4023360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29400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use(context)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629400" y="260604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 useContext, but legal inside if/loop/early-return. Quietly the unsung benefit.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629400" y="3520440"/>
            <a:ext cx="4663440" cy="233172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12280" y="3657600"/>
            <a:ext cx="42976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Header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(!hasAuth)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null;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theme =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(ThemeContext);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&lt;nav style={theme.nav} /&gt;;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2 — Hooks That Matter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34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use(promise) in practice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 with &lt;Suspense&gt; above. Don't create the promise inside the component that calls use().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10607040" cy="420624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102412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page.jsx — Server Component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ProfilePage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 params }) {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fetch starts here, but we don't await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userPromise = fetchUser(params.id);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Suspense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fallback={&lt;Spinner /&gt;}&gt;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Profile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userPromise={userPromise} /&gt;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Suspense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Profile.jsx — Client Component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'use client'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function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Profile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 userPromise })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user =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(userPromise);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&lt;h1&gt;{user.name}&lt;/h1&gt;;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77240" y="5897880"/>
            <a:ext cx="10607040" cy="365760"/>
          </a:xfrm>
          <a:prstGeom prst="rect">
            <a:avLst/>
          </a:prstGeom>
          <a:solidFill>
            <a:srgbClr val="CBF1F6"/>
          </a:solidFill>
          <a:ln w="12700">
            <a:solidFill>
              <a:srgbClr val="CBF1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589788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mistake: creating the promise inside the component that calls use(). New promise every render → infinite suspense loop.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2 — Hooks That Matter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34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useActionState — anatomy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Wraps a form action. Gives you state, the action, and isPending in one tuple.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10607040" cy="182880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10241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[state, action, isPending] = </a:t>
            </a:r>
            <a:pPr indent="0" marL="0">
              <a:buNone/>
            </a:pPr>
            <a:r>
              <a:rPr lang="en-US" sz="14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useActionState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fn,        </a:t>
            </a:r>
            <a:pPr indent="0" marL="0">
              <a:buNone/>
            </a:pPr>
            <a:r>
              <a:rPr lang="en-US" sz="14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async (prevState, formData) =&gt; newState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initialState,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permalink, </a:t>
            </a:r>
            <a:pPr indent="0" marL="0">
              <a:buNone/>
            </a:pPr>
            <a:r>
              <a:rPr lang="en-US" sz="14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optional, for progressive enhancement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77240" y="3657600"/>
            <a:ext cx="36118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657600"/>
            <a:ext cx="3611880" cy="457200"/>
          </a:xfrm>
          <a:prstGeom prst="rect">
            <a:avLst/>
          </a:prstGeom>
          <a:solidFill>
            <a:srgbClr val="CBF1F6"/>
          </a:solidFill>
          <a:ln w="12700">
            <a:solidFill>
              <a:srgbClr val="CBF1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370332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0120" y="4206240"/>
            <a:ext cx="33375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Whatever fn returned last time it ran. The classic form-state pattern: { errors, fieldValues, success }.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17720" y="3657600"/>
            <a:ext cx="36118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17720" y="3657600"/>
            <a:ext cx="3611880" cy="457200"/>
          </a:xfrm>
          <a:prstGeom prst="rect">
            <a:avLst/>
          </a:prstGeom>
          <a:solidFill>
            <a:srgbClr val="CBF1F6"/>
          </a:solidFill>
          <a:ln w="12700">
            <a:solidFill>
              <a:srgbClr val="CBF1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370332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00600" y="4206240"/>
            <a:ext cx="33375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wrapped version of fn. Pass it to &lt;form action&gt;. React calls it on submit and updates state automatically.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458200" y="3657600"/>
            <a:ext cx="36118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58200" y="3657600"/>
            <a:ext cx="3611880" cy="457200"/>
          </a:xfrm>
          <a:prstGeom prst="rect">
            <a:avLst/>
          </a:prstGeom>
          <a:solidFill>
            <a:srgbClr val="CBF1F6"/>
          </a:solidFill>
          <a:ln w="12700">
            <a:solidFill>
              <a:srgbClr val="CBF1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41080" y="370332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isPending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641080" y="4206240"/>
            <a:ext cx="33375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 while the wrapped action is running. Use for spinners and disabling submit.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2 — Hooks That Matter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34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useActionState in practice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form with validation, error display, and a pending state — no useState needed.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1024128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function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login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(prevState, formData)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email = formData.get(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'email'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password = formData.get(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'password'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result = await authApi.login(email, password);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(result.error)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email, error: result.error };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redirect(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'/home'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LoginForm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[state, action, isPending] =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useActionState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(login, {});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&lt;form action={action}&gt;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&lt;input name=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'email'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defaultValue={state.email} /&gt;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&lt;input name=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'password'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type=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'password'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{state.error &amp;&amp; &lt;p className=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'error'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&gt;{state.error}&lt;/p&gt;}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&lt;button disabled={isPending}&gt;Sign in&lt;/button&gt;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&lt;/form&gt;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2 — Hooks That Matter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34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useFormStatus — the inside-form hook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pending/data/method/action from any descendant of a form. Replaces prop drilling.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5943600" cy="109728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{ pending, data, method, action } =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useFormStatus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();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949440" y="1554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Returns: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949440" y="192024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— true while the parent form's action is running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— the FormData being submitted (or null)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 — 'get' or 'post'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— the function the form will run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4389120"/>
            <a:ext cx="10607040" cy="1371600"/>
          </a:xfrm>
          <a:prstGeom prst="rect">
            <a:avLst/>
          </a:prstGeom>
          <a:solidFill>
            <a:srgbClr val="CBF1F6"/>
          </a:solidFill>
          <a:ln w="12700">
            <a:solidFill>
              <a:srgbClr val="CBF1F6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709160"/>
            <a:ext cx="548640" cy="5486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783080" y="4434840"/>
            <a:ext cx="9509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 be called from inside a component rendered as a descendant of &lt;form&gt;. Calling it on the form itself returns null.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2 — Hooks That Matter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34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useFormStatus in practice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submit button that knows when its form is submitting — without any props.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10607040" cy="438912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102412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reusable, no props needed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SubmitButton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 children })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{ pending } =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useFormStatus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&lt;button type=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'submit'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disabled={pending}&gt;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{pending ?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'Saving…'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children}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&lt;/button&gt;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elsewhere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&lt;form action={savePost}&gt;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&lt;textarea name=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'body'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&lt;SubmitButton&gt;Post&lt;/SubmitButton&gt;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&lt;/form&gt;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2 — Hooks That Matter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34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useOptimistic — show the future, revert on error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 the eventual state immediately. React reconciles when the real action completes.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10607040" cy="182880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10241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[optimisticState, addOptimistic] = </a:t>
            </a:r>
            <a:pPr indent="0" marL="0">
              <a:buNone/>
            </a:pPr>
            <a:r>
              <a:rPr lang="en-US" sz="14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useOptimistic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state,            </a:t>
            </a:r>
            <a:pPr indent="0" marL="0">
              <a:buNone/>
            </a:pPr>
            <a:r>
              <a:rPr lang="en-US" sz="14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'real' state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(currentState, optimisticValue) =&gt; newState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77240" y="3657600"/>
            <a:ext cx="36118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657600"/>
            <a:ext cx="109728" cy="2468880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7947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 when…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05840" y="420624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actions that have a small chance of failing — sending a message, liking a post, marking a todo done.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17720" y="3657600"/>
            <a:ext cx="36118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17720" y="3657600"/>
            <a:ext cx="109728" cy="2468880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37947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Don't use when…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46320" y="420624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 that are slow or likely to fail (uploads, payments). The reversal feels worse than just showing pending.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458200" y="3657600"/>
            <a:ext cx="36118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58200" y="3657600"/>
            <a:ext cx="109728" cy="2468880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0" y="37947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Pair with…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686800" y="420624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Server Action or async handler. The optimistic state is replaced when the real state updates.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2 — Hooks That Matter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34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useOptimistic in practice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 a message; it appears in the list instantly. If the server rejects it, it disappears.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1024128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</a:t>
            </a:r>
            <a:pPr indent="0" marL="0"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Thread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 messages, send }) 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[optimistic, addOptimistic] = </a:t>
            </a:r>
            <a:pPr indent="0" marL="0"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useOptimistic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messages,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(current, newMsg) =&gt; [...current, { ...newMsg, sending: </a:t>
            </a:r>
            <a:pPr indent="0" marL="0">
              <a:buNone/>
            </a:pPr>
            <a:r>
              <a:rPr lang="en-US" sz="11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 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async function </a:t>
            </a:r>
            <a:pPr indent="0" marL="0"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submit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(formData) 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text = formData.get(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'text'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addOptimistic({ text });          </a:t>
            </a:r>
            <a:pPr indent="0" marL="0">
              <a:buNone/>
            </a:pPr>
            <a:r>
              <a:rPr lang="en-US" sz="11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instant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send(text);                  </a:t>
            </a:r>
            <a:pPr indent="0" marL="0">
              <a:buNone/>
            </a:pPr>
            <a:r>
              <a:rPr lang="en-US" sz="11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real call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&lt;form action={submit}&gt;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{optimistic.map(m =&gt; &lt;Bubble msg={m} /&gt;)}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&lt;input name=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'text'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/&gt;&lt;button&gt;Send&lt;/button&gt;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&lt;/form&gt;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2 — Hooks That Matter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34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Putting them together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complete posting form using all four new hooks. This is the pattern to remember.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10607040" cy="475488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1024128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Composer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 posts })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[state, action, isPending] =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useActionState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(createPost, { ok: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[optimisticPosts, addOptimistic] =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useOptimistic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posts,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(current, newPost) =&gt; [{ ...newPost, sending: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 ...current]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&lt;&gt;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&lt;form action={async (fd) =&gt;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addOptimistic({ body: fd.get(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'body'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});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await action(fd);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}}&gt;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&lt;textarea name=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'body'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/&gt;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&lt;SubmitButton /&gt;            </a:t>
            </a:r>
            <a:pPr indent="0" marL="0">
              <a:buNone/>
            </a:pPr>
            <a:r>
              <a:rPr lang="en-US" sz="110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uses useFormStatus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{state.error &amp;&amp; &lt;Error /&gt;}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&lt;/form&gt;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&lt;PostList posts={optimisticPosts} /&gt;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&lt;/&gt;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2 — Hooks That Matter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/ 34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743200"/>
            <a:ext cx="548640" cy="7315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880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 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Specialty Hooks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4348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useSyncExternalStore, useDeferredValue, useTransition, useLayoutEffect — when each one earns its keep.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6400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useSyncExternalStore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Subscribe to a non-React store safely — without tearing during concurrent renders.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 when: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1920240"/>
            <a:ext cx="53492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Wrapping a Zustand/Redux/Jotai-style store you wrote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window.matchMedia, navigator.online, etc.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Wrapping a third-party event emitter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Anywhere the value can change outside of React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55080" y="1554480"/>
            <a:ext cx="5029200" cy="420624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1691640"/>
            <a:ext cx="46634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</a:t>
            </a:r>
            <a:pPr indent="0" marL="0"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useOnline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</a:t>
            </a:r>
            <a:pPr indent="0" marL="0">
              <a:buNone/>
            </a:pPr>
            <a:r>
              <a:rPr lang="en-US" sz="11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useSyncExternalStore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(notify) =&gt; 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window.addEventListener(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'online'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notify);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window.addEventListener(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'offline'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notify);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return () =&gt; { /* cleanup */ };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() =&gt; navigator.onLine,        </a:t>
            </a:r>
            <a:pPr indent="0" marL="0">
              <a:buNone/>
            </a:pPr>
            <a:r>
              <a:rPr lang="en-US" sz="11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client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() =&gt; </a:t>
            </a:r>
            <a:pPr indent="0" marL="0">
              <a:buNone/>
            </a:pPr>
            <a:r>
              <a:rPr lang="en-US" sz="11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buNone/>
            </a:pPr>
            <a:r>
              <a:rPr lang="en-US" sz="11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</a:t>
            </a:r>
            <a:pPr indent="0" marL="0">
              <a:buNone/>
            </a:pPr>
            <a:r>
              <a:rPr lang="en-US" sz="11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server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2 — Hooks That Matter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/ 34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useDeferredValue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stale content during expensive renders. Like a built-in stale-while-revalidate for state.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5943600" cy="365760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5577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SearchPage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[query, setQuery] =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useState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deferred =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useDeferredValue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(query);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&lt;input value={query}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onChange={(e) =&gt; setQuery(e.target.value)} /&gt;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&lt;Results query={deferred} /&gt;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49440" y="1554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you get: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949440" y="1920240"/>
            <a:ext cx="4572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stays responsive — query updates immediately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may lag a render or two — deferred value catches up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 with React.memo or useMemo on Results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Useful when you can't move the work to a worker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2 — Hooks That Matter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/ 34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useTransition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a state update as non-blocking. Updates that would freeze the UI become interruptible.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10607040" cy="3657600"/>
          </a:xfrm>
          <a:prstGeom prst="rect">
            <a:avLst/>
          </a:prstGeom>
          <a:solidFill>
            <a:srgbClr val="1E2A47"/>
          </a:solidFill>
          <a:ln w="12700">
            <a:solidFill>
              <a:srgbClr val="1E2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91640"/>
            <a:ext cx="102412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Tabs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[tab, setTab] =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useState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'home'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[isPending, startTransition] =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useTransition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function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selectTab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(next)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startTransition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(() =&gt; setTab(next));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&lt;Layout busy={isPending}&gt;&lt;Pane tab={tab} /&gt;&lt;/Layout&gt;;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2 — Hooks That Matter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/ 34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useDeferredValue vs useTransition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solve adjacent problems. Pick by what you control.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534924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8745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B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useDeferredValue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246888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Wrap a value you receive (props or state) so consumers see a delayed copy.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0120" y="3246120"/>
            <a:ext cx="49377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when you don't own the setter — e.g., wrapping query from props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deferred value silently lags during expensive renders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isPending flag (compare deferred === actual instead)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55080" y="1691640"/>
            <a:ext cx="502920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18745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B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useTransition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537960" y="246888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Wrap a setter call so the resulting work is interruptible.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37960" y="3246120"/>
            <a:ext cx="4663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when you own the setter — wrap setX in startTransition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Returns isPending — surface it as a spinner or busy indicator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Newer transitions interrupt older ones automatically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2 — Hooks That Matter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/ 34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useLayoutEffect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 useEffect, but synchronous — fires before the browser paints. Use it sparingly.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 when: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1920240"/>
            <a:ext cx="5349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need to measure DOM and adjust layout before paint (e.g., a tooltip's position)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need to sync DOM mutations across reads/writes that would flicker otherwise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You're writing a component library that has to interop with imperative DOM code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55080" y="1554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Don't use when: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355080" y="1920240"/>
            <a:ext cx="5029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 useEffect would do — it blocks paint, hurting perceived performance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Subscribing to data — neither hook should fetch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rendering — useLayoutEffect doesn't run on the server, gets noisy warnings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4572000"/>
            <a:ext cx="10607040" cy="1645920"/>
          </a:xfrm>
          <a:prstGeom prst="rect">
            <a:avLst/>
          </a:prstGeom>
          <a:solidFill>
            <a:srgbClr val="CBF1F6"/>
          </a:solidFill>
          <a:ln w="12700">
            <a:solidFill>
              <a:srgbClr val="CBF1F6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5074920"/>
            <a:ext cx="640080" cy="6400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828800" y="4663440"/>
            <a:ext cx="9418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of thumb: reach for useEffect first. If you see a flicker between paint and effect, then upgrade to useLayoutEffect.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2 — Hooks That Matter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/ 34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Hook selection cheat sheet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in doubt: which hook fits the situation?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5349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0020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component value that changes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931920" y="16002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B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useState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77240" y="2267712"/>
            <a:ext cx="5349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313432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related state values, complex transitions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931920" y="2313432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B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useReducer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77240" y="2980944"/>
            <a:ext cx="5349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026664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async data inline (Server Components)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931920" y="3026664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B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use(promise)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77240" y="3694176"/>
            <a:ext cx="5349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739896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context, possibly conditionally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931920" y="3739896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B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use(context)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77240" y="4407408"/>
            <a:ext cx="5349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453128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 action + state + pending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931920" y="4453128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B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useActionState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77240" y="5120640"/>
            <a:ext cx="5349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516636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button needing form pending state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931920" y="516636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B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useFormStatus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355080" y="1554480"/>
            <a:ext cx="5349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0" y="160020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eventual state immediately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509760" y="16002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B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useOptimistic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355080" y="2267712"/>
            <a:ext cx="5349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92240" y="2313432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Subscribe to non-React store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509760" y="2313432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B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useSyncExternalStore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355080" y="2980944"/>
            <a:ext cx="5349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026664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input responsive during expensive renders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509760" y="3026664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B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useDeferredValue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355080" y="3694176"/>
            <a:ext cx="5349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92240" y="3739896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a state update interruptible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509760" y="3739896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B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useTransition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355080" y="4407408"/>
            <a:ext cx="5349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92240" y="4453128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Sync to an external system on render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509760" y="4453128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B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useEffect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355080" y="5120640"/>
            <a:ext cx="53492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92240" y="516636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DOM before paint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9509760" y="516636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B8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useLayoutEffect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2 — Hooks That Matter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/ 34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hook mistakes — your review checklist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look for when reviewing AI-generated React.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01168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78308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useState for derived data that should be a plain calculation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0" y="169164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1168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903720" y="178308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useEffect to reset state on prop change (use a key prop instead)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77240" y="297180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291840"/>
            <a:ext cx="457200" cy="4572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554480" y="306324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useEffect to fetch data (use Suspense + use, or TanStack Query)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6126480" y="297180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3291840"/>
            <a:ext cx="457200" cy="45720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903720" y="306324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Stale closure in useEffect (missing dep, or use functional setState)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777240" y="425196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572000"/>
            <a:ext cx="457200" cy="45720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554480" y="434340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inside a conditional (lift the conditionality outside)</a:t>
            </a:r>
            <a:endParaRPr lang="en-US" sz="1200" dirty="0"/>
          </a:p>
        </p:txBody>
      </p:sp>
      <p:sp>
        <p:nvSpPr>
          <p:cNvPr id="20" name="Shape 13"/>
          <p:cNvSpPr/>
          <p:nvPr/>
        </p:nvSpPr>
        <p:spPr>
          <a:xfrm>
            <a:off x="6126480" y="425196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4572000"/>
            <a:ext cx="457200" cy="457200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6903720" y="434340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hook called conditionally (lift the conditionality)</a:t>
            </a:r>
            <a:endParaRPr lang="en-US" sz="1200" dirty="0"/>
          </a:p>
        </p:txBody>
      </p:sp>
      <p:sp>
        <p:nvSpPr>
          <p:cNvPr id="23" name="Text 15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2 — Hooks That Matter</a:t>
            </a:r>
            <a:endParaRPr lang="en-US" sz="900" dirty="0"/>
          </a:p>
        </p:txBody>
      </p:sp>
      <p:sp>
        <p:nvSpPr>
          <p:cNvPr id="24" name="Text 16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/ 34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64592" cy="164592"/>
          </a:xfrm>
          <a:prstGeom prst="rect">
            <a:avLst/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2926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Coming up: Lab 1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Modernize a legacy class-component chat app — your first AI-review exercise.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920240"/>
            <a:ext cx="822960" cy="822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194560" y="192024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 1: Modernize the Chat App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21945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minutes  ·  Hands-on  ·  Stretch task: add useOptimistic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097280" y="3200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you'll do: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097280" y="3611880"/>
            <a:ext cx="10058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lab-files/lab-01/real-time-chat — class components, React 18, CRA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an AI assistant to do a first-pass conversion to function components and modern hooks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what the AI produced — spot at least three mistakes from the checklist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 with a working modernized chat app and a short written review of the AI's mistakes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Stretch: add useOptimistic so messages appear instantly while the round-trip completes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React Development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v2.0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2 — Hooks That Matter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094415" y="6492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/ 34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WatzThis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Advanced React — Module 2: Hooks That Matter in 2026</dc:title>
  <dc:subject>PptxGenJS Presentation</dc:subject>
  <dc:creator>Chris Minnick</dc:creator>
  <cp:lastModifiedBy>Chris Minnick</cp:lastModifiedBy>
  <cp:revision>1</cp:revision>
  <dcterms:created xsi:type="dcterms:W3CDTF">2026-05-14T16:45:00Z</dcterms:created>
  <dcterms:modified xsi:type="dcterms:W3CDTF">2026-05-14T16:45:00Z</dcterms:modified>
</cp:coreProperties>
</file>