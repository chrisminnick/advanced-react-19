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Slides/notesSlide52.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3.xml" ContentType="application/vnd.openxmlformats-officedocument.presentationml.notesSlide+xml"/>
  <Override PartName="/ppt/notesSlides/notesSlide45.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4.xml" ContentType="application/vnd.openxmlformats-officedocument.presentationml.notesSlide+xml"/>
  <Override PartName="/ppt/notesSlides/notesSlide40.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41.xml" ContentType="application/vnd.openxmlformats-officedocument.presentationml.notesSlide+xml"/>
  <Override PartName="/ppt/notesSlides/notesSlide57.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56.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64.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49.xml" ContentType="application/vnd.openxmlformats-officedocument.presentationml.notesSlide+xml"/>
  <Override PartName="/ppt/notesSlides/notesSlide61.xml" ContentType="application/vnd.openxmlformats-officedocument.presentationml.notesSlide+xml"/>
  <Override PartName="/ppt/notesSlides/notesSlide60.xml" ContentType="application/vnd.openxmlformats-officedocument.presentationml.notesSlide+xml"/>
  <Override PartName="/ppt/notesSlides/notesSlide48.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Slides/notesSlide91.xml" ContentType="application/vnd.openxmlformats-officedocument.presentationml.notesSlide+xml"/>
  <Override PartName="/ppt/notesSlides/notesSlide85.xml" ContentType="application/vnd.openxmlformats-officedocument.presentationml.notesSlide+xml"/>
  <Override PartName="/ppt/notesSlides/notesSlide84.xml" ContentType="application/vnd.openxmlformats-officedocument.presentationml.notesSlide+xml"/>
  <Override PartName="/ppt/notesSlides/notesSlide90.xml" ContentType="application/vnd.openxmlformats-officedocument.presentationml.notesSlide+xml"/>
  <Override PartName="/ppt/notesSlides/notesSlide79.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78.xml" ContentType="application/vnd.openxmlformats-officedocument.presentationml.notesSlide+xml"/>
  <Override PartName="/ppt/notesSlides/notesSlide68.xml" ContentType="application/vnd.openxmlformats-officedocument.presentationml.notesSlide+xml"/>
  <Override PartName="/ppt/notesSlides/notesSlide83.xml" ContentType="application/vnd.openxmlformats-officedocument.presentationml.notesSlide+xml"/>
  <Override PartName="/ppt/notesSlides/notesSlide82.xml" ContentType="application/vnd.openxmlformats-officedocument.presentationml.notesSlide+xml"/>
  <Override PartName="/ppt/notesSlides/notesSlide6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73.xml" ContentType="application/vnd.openxmlformats-officedocument.presentationml.notesSlide+xml"/>
  <Override PartName="/ppt/notesSlides/notesSlide67.xml" ContentType="application/vnd.openxmlformats-officedocument.presentationml.notesSlide+xml"/>
  <Override PartName="/ppt/notesSlides/notesSlide66.xml" ContentType="application/vnd.openxmlformats-officedocument.presentationml.notesSlide+xml"/>
  <Override PartName="/ppt/notesSlides/notesSlide72.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65.xml" ContentType="application/vnd.openxmlformats-officedocument.presentationml.notesSlide+xml"/>
  <Override PartName="/ppt/notesSlides/notesSlide75.xml" ContentType="application/vnd.openxmlformats-officedocument.presentationml.notesSlide+xml"/>
  <Override PartName="/ppt/notesSlides/notesSlide74.xml" ContentType="application/vnd.openxmlformats-officedocument.presentationml.notesSlide+xml"/>
  <Override PartName="/ppt/notesSlides/notesSlide76.xml" ContentType="application/vnd.openxmlformats-officedocument.presentationml.notesSlide+xml"/>
  <Override PartName="/ppt/notesSlides/notesSlide89.xml" ContentType="application/vnd.openxmlformats-officedocument.presentationml.notesSlide+xml"/>
  <Override PartName="/ppt/notesSlides/notesSlide88.xml" ContentType="application/vnd.openxmlformats-officedocument.presentationml.notesSlide+xml"/>
  <Override PartName="/ppt/notesSlides/notesSlide77.xml" ContentType="application/vnd.openxmlformats-officedocument.presentationml.notes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Slides/notesSlide106.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07.xml" ContentType="application/vnd.openxmlformats-officedocument.presentationml.notesSlide+xml"/>
  <Override PartName="/ppt/notesSlides/notesSlide111.xml" ContentType="application/vnd.openxmlformats-officedocument.presentationml.notesSlide+xml"/>
  <Override PartName="/ppt/notesSlides/notesSlide105.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104.xml" ContentType="application/vnd.openxmlformats-officedocument.presentationml.notesSlide+xml"/>
  <Override PartName="/ppt/notesSlides/notesSlide110.xml" ContentType="application/vnd.openxmlformats-officedocument.presentationml.notesSlide+xml"/>
  <Override PartName="/ppt/notesSlides/notesSlide114.xml" ContentType="application/vnd.openxmlformats-officedocument.presentationml.notesSlide+xml"/>
  <Override PartName="/ppt/notesSlides/notesSlide100.xml" ContentType="application/vnd.openxmlformats-officedocument.presentationml.notesSlide+xml"/>
  <Override PartName="/ppt/notesSlides/notesSlide97.xml" ContentType="application/vnd.openxmlformats-officedocument.presentationml.notesSlide+xml"/>
  <Override PartName="/ppt/notesSlides/notesSlide96.xml" ContentType="application/vnd.openxmlformats-officedocument.presentationml.notesSlide+xml"/>
  <Override PartName="/ppt/notesSlides/notesSlide101.xml" ContentType="application/vnd.openxmlformats-officedocument.presentationml.notesSlide+xml"/>
  <Override PartName="/ppt/notesSlides/notesSlide115.xml" ContentType="application/vnd.openxmlformats-officedocument.presentationml.notesSlide+xml"/>
  <Override PartName="/ppt/notesSlides/notesSlide103.xml" ContentType="application/vnd.openxmlformats-officedocument.presentationml.notesSlide+xml"/>
  <Override PartName="/ppt/notesSlides/notesSlide117.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116.xml" ContentType="application/vnd.openxmlformats-officedocument.presentationml.notesSlide+xml"/>
  <Override PartName="/ppt/notesSlides/notesSlide102.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09.xml" ContentType="application/vnd.openxmlformats-officedocument.presentationml.notesSlide+xml"/>
  <Override PartName="/ppt/notesSlides/notesSlide108.xml" ContentType="application/vnd.openxmlformats-officedocument.presentationml.notes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notesSlides/notesSlide139.xml" ContentType="application/vnd.openxmlformats-officedocument.presentationml.notesSlide+xml"/>
  <Override PartName="/ppt/notesSlides/notesSlide138.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1.xml" ContentType="application/vnd.openxmlformats-officedocument.presentationml.notesSlide+xml"/>
  <Override PartName="/ppt/notesSlides/notesSlide140.xml" ContentType="application/vnd.openxmlformats-officedocument.presentationml.notesSlide+xml"/>
  <Override PartName="/ppt/notesSlides/notesSlide127.xml" ContentType="application/vnd.openxmlformats-officedocument.presentationml.notesSlide+xml"/>
  <Override PartName="/ppt/notesSlides/notesSlide133.xml" ContentType="application/vnd.openxmlformats-officedocument.presentationml.notesSlide+xml"/>
  <Override PartName="/ppt/notesSlides/notesSlide132.xml" ContentType="application/vnd.openxmlformats-officedocument.presentationml.notesSlide+xml"/>
  <Override PartName="/ppt/notesSlides/notesSlide126.xml" ContentType="application/vnd.openxmlformats-officedocument.presentationml.notesSlide+xml"/>
  <Override PartName="/ppt/notesSlides/notesSlide130.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31.xml" ContentType="application/vnd.openxmlformats-officedocument.presentationml.notesSlide+xml"/>
  <Override PartName="/ppt/notesSlides/notesSlide135.xml" ContentType="application/vnd.openxmlformats-officedocument.presentationml.notesSlide+xml"/>
  <Override PartName="/ppt/notesSlides/notesSlide121.xml" ContentType="application/vnd.openxmlformats-officedocument.presentationml.notesSlide+xml"/>
  <Override PartName="/ppt/notesSlides/notesSlide120.xml" ContentType="application/vnd.openxmlformats-officedocument.presentationml.notesSlide+xml"/>
  <Override PartName="/ppt/notesSlides/notesSlide134.xml" ContentType="application/vnd.openxmlformats-officedocument.presentationml.notesSlide+xml"/>
  <Override PartName="/ppt/notesSlides/notesSlide122.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23.xml" ContentType="application/vnd.openxmlformats-officedocument.presentationml.notes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notesSlides/notesSlide165.xml" ContentType="application/vnd.openxmlformats-officedocument.presentationml.notesSlide+xml"/>
  <Override PartName="/ppt/notesSlides/notesSlide171.xml" ContentType="application/vnd.openxmlformats-officedocument.presentationml.notesSlide+xml"/>
  <Override PartName="/ppt/notesSlides/notesSlide159.xml" ContentType="application/vnd.openxmlformats-officedocument.presentationml.notesSlide+xml"/>
  <Override PartName="/ppt/notesSlides/notesSlide158.xml" ContentType="application/vnd.openxmlformats-officedocument.presentationml.notesSlide+xml"/>
  <Override PartName="/ppt/notesSlides/notesSlide170.xml" ContentType="application/vnd.openxmlformats-officedocument.presentationml.notesSlide+xml"/>
  <Override PartName="/ppt/notesSlides/notesSlide164.xml" ContentType="application/vnd.openxmlformats-officedocument.presentationml.notesSlide+xml"/>
  <Override PartName="/ppt/notesSlides/notesSlide172.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73.xml" ContentType="application/vnd.openxmlformats-officedocument.presentationml.notesSlide+xml"/>
  <Override PartName="/ppt/notesSlides/notesSlide177.xml" ContentType="application/vnd.openxmlformats-officedocument.presentationml.notesSlide+xml"/>
  <Override PartName="/ppt/notesSlides/notesSlide163.xml" ContentType="application/vnd.openxmlformats-officedocument.presentationml.notesSlide+xml"/>
  <Override PartName="/ppt/notesSlides/notesSlide162.xml" ContentType="application/vnd.openxmlformats-officedocument.presentationml.notesSlide+xml"/>
  <Override PartName="/ppt/notesSlides/notesSlide176.xml" ContentType="application/vnd.openxmlformats-officedocument.presentationml.notesSlide+xml"/>
  <Override PartName="/ppt/notesSlides/notesSlide148.xml" ContentType="application/vnd.openxmlformats-officedocument.presentationml.notesSlide+xml"/>
  <Override PartName="/ppt/notesSlides/notesSlide160.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61.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3.xml" ContentType="application/vnd.openxmlformats-officedocument.presentationml.notesSlide+xml"/>
  <Override PartName="/ppt/notesSlides/notesSlide147.xml" ContentType="application/vnd.openxmlformats-officedocument.presentationml.notesSlide+xml"/>
  <Override PartName="/ppt/notesSlides/notesSlide152.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69.xml" ContentType="application/vnd.openxmlformats-officedocument.presentationml.notesSlide+xml"/>
  <Override PartName="/ppt/notesSlides/notesSlide155.xml" ContentType="application/vnd.openxmlformats-officedocument.presentationml.notesSlide+xml"/>
  <Override PartName="/ppt/notesSlides/notesSlide154.xml" ContentType="application/vnd.openxmlformats-officedocument.presentationml.notesSlide+xml"/>
  <Override PartName="/ppt/notesSlides/notesSlide168.xml" ContentType="application/vnd.openxmlformats-officedocument.presentationml.notes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notesSlides/notesSlide199.xml" ContentType="application/vnd.openxmlformats-officedocument.presentationml.notesSlide+xml"/>
  <Override PartName="/ppt/notesSlides/notesSlide198.xml" ContentType="application/vnd.openxmlformats-officedocument.presentationml.notesSlide+xml"/>
  <Override PartName="/ppt/notesSlides/notesSlide188.xml" ContentType="application/vnd.openxmlformats-officedocument.presentationml.notesSlide+xml"/>
  <Override PartName="/ppt/notesSlides/notesSlide201.xml" ContentType="application/vnd.openxmlformats-officedocument.presentationml.notesSlide+xml"/>
  <Override PartName="/ppt/notesSlides/notesSlide200.xml" ContentType="application/vnd.openxmlformats-officedocument.presentationml.notesSlide+xml"/>
  <Override PartName="/ppt/notesSlides/notesSlide189.xml" ContentType="application/vnd.openxmlformats-officedocument.presentationml.notesSlide+xml"/>
  <Override PartName="/ppt/notesSlides/notesSlide202.xml" ContentType="application/vnd.openxmlformats-officedocument.presentationml.notesSlide+xml"/>
  <Override PartName="/ppt/notesSlides/notesSlide178.xml" ContentType="application/vnd.openxmlformats-officedocument.presentationml.notesSlide+xml"/>
  <Override PartName="/ppt/notesSlides/notesSlide187.xml" ContentType="application/vnd.openxmlformats-officedocument.presentationml.notesSlide+xml"/>
  <Override PartName="/ppt/notesSlides/notesSlide193.xml" ContentType="application/vnd.openxmlformats-officedocument.presentationml.notesSlide+xml"/>
  <Override PartName="/ppt/notesSlides/notesSlide192.xml" ContentType="application/vnd.openxmlformats-officedocument.presentationml.notesSlide+xml"/>
  <Override PartName="/ppt/notesSlides/notesSlide186.xml" ContentType="application/vnd.openxmlformats-officedocument.presentationml.notesSlide+xml"/>
  <Override PartName="/ppt/notesSlides/notesSlide179.xml" ContentType="application/vnd.openxmlformats-officedocument.presentationml.notesSlide+xml"/>
  <Override PartName="/ppt/notesSlides/notesSlide190.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91.xml" ContentType="application/vnd.openxmlformats-officedocument.presentationml.notesSlide+xml"/>
  <Override PartName="/ppt/notesSlides/notesSlide195.xml" ContentType="application/vnd.openxmlformats-officedocument.presentationml.notesSlide+xml"/>
  <Override PartName="/ppt/notesSlides/notesSlide181.xml" ContentType="application/vnd.openxmlformats-officedocument.presentationml.notesSlide+xml"/>
  <Override PartName="/ppt/notesSlides/notesSlide180.xml" ContentType="application/vnd.openxmlformats-officedocument.presentationml.notesSlide+xml"/>
  <Override PartName="/ppt/notesSlides/notesSlide194.xml" ContentType="application/vnd.openxmlformats-officedocument.presentationml.notesSlide+xml"/>
  <Override PartName="/ppt/notesSlides/notesSlide182.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83.xml" ContentType="application/vnd.openxmlformats-officedocument.presentationml.notes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notesSlides/notesSlide213.xml" ContentType="application/vnd.openxmlformats-officedocument.presentationml.notesSlide+xml"/>
  <Override PartName="/ppt/notesSlides/notesSlide207.xml" ContentType="application/vnd.openxmlformats-officedocument.presentationml.notesSlide+xml"/>
  <Override PartName="/ppt/notesSlides/notesSlide206.xml" ContentType="application/vnd.openxmlformats-officedocument.presentationml.notesSlide+xml"/>
  <Override PartName="/ppt/notesSlides/notesSlide212.xml" ContentType="application/vnd.openxmlformats-officedocument.presentationml.notesSlide+xml"/>
  <Override PartName="/ppt/notesSlides/notesSlide204.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05.xml" ContentType="application/vnd.openxmlformats-officedocument.presentationml.notesSlide+xml"/>
  <Override PartName="/ppt/notesSlides/notesSlide229.xml" ContentType="application/vnd.openxmlformats-officedocument.presentationml.notesSlide+xml"/>
  <Override PartName="/ppt/notesSlides/notesSlide215.xml" ContentType="application/vnd.openxmlformats-officedocument.presentationml.notesSlide+xml"/>
  <Override PartName="/ppt/notesSlides/notesSlide214.xml" ContentType="application/vnd.openxmlformats-officedocument.presentationml.notesSlide+xml"/>
  <Override PartName="/ppt/notesSlides/notesSlide228.xml" ContentType="application/vnd.openxmlformats-officedocument.presentationml.notesSlide+xml"/>
  <Override PartName="/ppt/notesSlides/notesSlide216.xml" ContentType="application/vnd.openxmlformats-officedocument.presentationml.notesSlide+xml"/>
  <Override PartName="/ppt/notesSlides/notesSlide203.xml" ContentType="application/vnd.openxmlformats-officedocument.presentationml.notesSlide+xml"/>
  <Override PartName="/ppt/notesSlides/notesSlide217.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5.xml" ContentType="application/vnd.openxmlformats-officedocument.presentationml.notesSlide+xml"/>
  <Override PartName="/ppt/notesSlides/notesSlide219.xml" ContentType="application/vnd.openxmlformats-officedocument.presentationml.notesSlide+xml"/>
  <Override PartName="/ppt/notesSlides/notesSlide218.xml" ContentType="application/vnd.openxmlformats-officedocument.presentationml.notesSlide+xml"/>
  <Override PartName="/ppt/notesSlides/notesSlide224.xml" ContentType="application/vnd.openxmlformats-officedocument.presentationml.notesSlide+xml"/>
  <Override PartName="/ppt/notesSlides/notesSlide208.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09.xml" ContentType="application/vnd.openxmlformats-officedocument.presentationml.notesSlide+xml"/>
  <Override PartName="/ppt/notesSlides/notesSlide223.xml" ContentType="application/vnd.openxmlformats-officedocument.presentationml.notesSlide+xml"/>
  <Override PartName="/ppt/notesSlides/notesSlide222.xml" ContentType="application/vnd.openxmlformats-officedocument.presentationml.notes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notesSlides/notesSlide258.xml" ContentType="application/vnd.openxmlformats-officedocument.presentationml.notesSlide+xml"/>
  <Override PartName="/ppt/notesSlides/notesSlide249.xml" ContentType="application/vnd.openxmlformats-officedocument.presentationml.notesSlide+xml"/>
  <Override PartName="/ppt/notesSlides/notesSlide248.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1.xml" ContentType="application/vnd.openxmlformats-officedocument.presentationml.notesSlide+xml"/>
  <Override PartName="/ppt/notesSlides/notesSlide230.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7.xml" ContentType="application/vnd.openxmlformats-officedocument.presentationml.notesSlide+xml"/>
  <Override PartName="/ppt/notesSlides/notesSlide236.xml" ContentType="application/vnd.openxmlformats-officedocument.presentationml.notesSlide+xml"/>
  <Override PartName="/ppt/notesSlides/notesSlide251.xml" ContentType="application/vnd.openxmlformats-officedocument.presentationml.notesSlide+xml"/>
  <Override PartName="/ppt/notesSlides/notesSlide245.xml" ContentType="application/vnd.openxmlformats-officedocument.presentationml.notesSlide+xml"/>
  <Override PartName="/ppt/notesSlides/notesSlide244.xml" ContentType="application/vnd.openxmlformats-officedocument.presentationml.notesSlide+xml"/>
  <Override PartName="/ppt/notesSlides/notesSlide250.xml" ContentType="application/vnd.openxmlformats-officedocument.presentationml.notesSlide+xml"/>
  <Override PartName="/ppt/notesSlides/notesSlide246.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47.xml" ContentType="application/vnd.openxmlformats-officedocument.presentationml.notesSlide+xml"/>
  <Override PartName="/ppt/notesSlides/notesSlide243.xml" ContentType="application/vnd.openxmlformats-officedocument.presentationml.notesSlide+xml"/>
  <Override PartName="/ppt/notesSlides/notesSlide257.xml" ContentType="application/vnd.openxmlformats-officedocument.presentationml.notesSlide+xml"/>
  <Override PartName="/ppt/notesSlides/notesSlide256.xml" ContentType="application/vnd.openxmlformats-officedocument.presentationml.notesSlide+xml"/>
  <Override PartName="/ppt/notesSlides/notesSlide242.xml" ContentType="application/vnd.openxmlformats-officedocument.presentationml.notesSlide+xml"/>
  <Override PartName="/ppt/notesSlides/notesSlide25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55.xml" ContentType="application/vnd.openxmlformats-officedocument.presentationml.notes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notesSlides/notesSlide270.xml" ContentType="application/vnd.openxmlformats-officedocument.presentationml.notesSlide+xml"/>
  <Override PartName="/ppt/notesSlides/notesSlide264.xml" ContentType="application/vnd.openxmlformats-officedocument.presentationml.notesSlide+xml"/>
  <Override PartName="/ppt/notesSlides/notesSlide259.xml" ContentType="application/vnd.openxmlformats-officedocument.presentationml.notesSlide+xml"/>
  <Override PartName="/ppt/notesSlides/notesSlide265.xml" ContentType="application/vnd.openxmlformats-officedocument.presentationml.notesSlide+xml"/>
  <Override PartName="/ppt/notesSlides/notesSlide271.xml" ContentType="application/vnd.openxmlformats-officedocument.presentationml.notesSlide+xml"/>
  <Override PartName="/ppt/notesSlides/notesSlide267.xml" ContentType="application/vnd.openxmlformats-officedocument.presentationml.notesSlide+xml"/>
  <Override PartName="/ppt/notesSlides/notesSlide273.xml" ContentType="application/vnd.openxmlformats-officedocument.presentationml.notesSlide+xml"/>
  <Override PartName="/ppt/notesSlides/notesSlide272.xml" ContentType="application/vnd.openxmlformats-officedocument.presentationml.notesSlide+xml"/>
  <Override PartName="/ppt/notesSlides/notesSlide266.xml" ContentType="application/vnd.openxmlformats-officedocument.presentationml.notesSlide+xml"/>
  <Override PartName="/ppt/notesSlides/notesSlide262.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63.xml" ContentType="application/vnd.openxmlformats-officedocument.presentationml.notesSlide+xml"/>
  <Override PartName="/ppt/notesSlides/notesSlide275.xml" ContentType="application/vnd.openxmlformats-officedocument.presentationml.notesSlide+xml"/>
  <Override PartName="/ppt/notesSlides/notesSlide261.xml" ContentType="application/vnd.openxmlformats-officedocument.presentationml.notesSlide+xml"/>
  <Override PartName="/ppt/notesSlides/notesSlide260.xml" ContentType="application/vnd.openxmlformats-officedocument.presentationml.notesSlide+xml"/>
  <Override PartName="/ppt/notesSlides/notesSlide274.xml" ContentType="application/vnd.openxmlformats-officedocument.presentationml.notesSlide+xml"/>
  <Override PartName="/ppt/notesSlides/notesSlide279.xml" ContentType="application/vnd.openxmlformats-officedocument.presentationml.notesSlide+xml"/>
  <Override PartName="/ppt/notesSlides/notesSlide278.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resentation xmlns="http://schemas.openxmlformats.org/presentationml/2006/main" xmlns:a="http://schemas.openxmlformats.org/drawingml/2006/main" xmlns:r="http://schemas.openxmlformats.org/officeDocument/2006/relationships" saveSubsetFonts="1" autoCompressPictures="0">
  <sldMasterIdLst>
    <sldMasterId id="2147483648" r:id="rId1"/>
  </sldMasterIdLst>
  <sldIdLst>
    <sldId id="256" r:id="rId2"/>
    <sldId id="257" r:id="rId3"/>
    <sldId id="258" r:id="rId4"/>
    <sldId id="259" r:id="rId5"/>
    <sldId id="260" r:id="rId6"/>
    <sldId id="261" r:id="rId7"/>
    <sldId id="262" r:id="rId8"/>
    <sldId id="263" r:id="rId9"/>
    <sldId id="264" r:id="rId10"/>
    <sldId id="265" r:id="rId11"/>
    <sldId id="266" r:id="rId12"/>
    <sldId id="267" r:id="rId13"/>
    <sldId id="268" r:id="rId14"/>
    <sldId id="269" r:id="rId15"/>
    <sldId id="270" r:id="rId16"/>
    <sldId id="271" r:id="rId17"/>
    <sldId id="272" r:id="rId18"/>
    <sldId id="273" r:id="rId19"/>
    <sldId id="274" r:id="rId20"/>
    <sldId id="275" r:id="rId21"/>
    <sldId id="276" r:id="rId22"/>
    <sldId id="277" r:id="rId23"/>
    <sldId id="278" r:id="rId24"/>
    <sldId id="279" r:id="rId25"/>
    <sldId id="280" r:id="rId26"/>
    <sldId id="281" r:id="rId27"/>
    <sldId id="282" r:id="rId28"/>
    <sldId id="283" r:id="rId29"/>
    <sldId id="284" r:id="rId30"/>
    <sldId id="285" r:id="rId31"/>
    <sldId id="286" r:id="rId37"/>
    <sldId id="287" r:id="rId38"/>
    <sldId id="288" r:id="rId39"/>
    <sldId id="289" r:id="rId40"/>
    <sldId id="290" r:id="rId41"/>
    <sldId id="291" r:id="rId42"/>
    <sldId id="292" r:id="rId43"/>
    <sldId id="293" r:id="rId44"/>
    <sldId id="294" r:id="rId45"/>
    <sldId id="295" r:id="rId46"/>
    <sldId id="296" r:id="rId47"/>
    <sldId id="297" r:id="rId48"/>
    <sldId id="298" r:id="rId49"/>
    <sldId id="299" r:id="rId50"/>
    <sldId id="300" r:id="rId51"/>
    <sldId id="301" r:id="rId52"/>
    <sldId id="302" r:id="rId53"/>
    <sldId id="303" r:id="rId54"/>
    <sldId id="304" r:id="rId55"/>
    <sldId id="305" r:id="rId56"/>
    <sldId id="306" r:id="rId57"/>
    <sldId id="307" r:id="rId58"/>
    <sldId id="308" r:id="rId59"/>
    <sldId id="309" r:id="rId60"/>
    <sldId id="310" r:id="rId61"/>
    <sldId id="311" r:id="rId62"/>
    <sldId id="312" r:id="rId63"/>
    <sldId id="313" r:id="rId64"/>
    <sldId id="314" r:id="rId65"/>
    <sldId id="315" r:id="rId66"/>
    <sldId id="316" r:id="rId67"/>
    <sldId id="317" r:id="rId68"/>
    <sldId id="318" r:id="rId69"/>
    <sldId id="319" r:id="rId70"/>
    <sldId id="320" r:id="rId71"/>
    <sldId id="321" r:id="rId72"/>
    <sldId id="322" r:id="rId73"/>
    <sldId id="323" r:id="rId74"/>
    <sldId id="324" r:id="rId75"/>
    <sldId id="325" r:id="rId76"/>
    <sldId id="326" r:id="rId77"/>
    <sldId id="327" r:id="rId78"/>
    <sldId id="328" r:id="rId79"/>
    <sldId id="329" r:id="rId80"/>
    <sldId id="330" r:id="rId81"/>
    <sldId id="331" r:id="rId82"/>
    <sldId id="332" r:id="rId83"/>
    <sldId id="333" r:id="rId84"/>
    <sldId id="334" r:id="rId85"/>
    <sldId id="335" r:id="rId86"/>
    <sldId id="336" r:id="rId87"/>
    <sldId id="337" r:id="rId88"/>
    <sldId id="338" r:id="rId89"/>
    <sldId id="339" r:id="rId90"/>
    <sldId id="340" r:id="rId91"/>
    <sldId id="341" r:id="rId92"/>
    <sldId id="342" r:id="rId93"/>
    <sldId id="343" r:id="rId94"/>
    <sldId id="344" r:id="rId95"/>
    <sldId id="345" r:id="rId96"/>
    <sldId id="346" r:id="rId97"/>
    <sldId id="347" r:id="rId98"/>
    <sldId id="348" r:id="rId99"/>
    <sldId id="349" r:id="rId100"/>
    <sldId id="350" r:id="rId101"/>
    <sldId id="351" r:id="rId102"/>
    <sldId id="352" r:id="rId103"/>
    <sldId id="353" r:id="rId104"/>
    <sldId id="354" r:id="rId105"/>
    <sldId id="355" r:id="rId106"/>
    <sldId id="356" r:id="rId107"/>
    <sldId id="357" r:id="rId108"/>
    <sldId id="358" r:id="rId109"/>
    <sldId id="359" r:id="rId110"/>
    <sldId id="360" r:id="rId111"/>
    <sldId id="361" r:id="rId112"/>
    <sldId id="362" r:id="rId113"/>
    <sldId id="363" r:id="rId114"/>
    <sldId id="364" r:id="rId115"/>
    <sldId id="365" r:id="rId116"/>
    <sldId id="366" r:id="rId117"/>
    <sldId id="367" r:id="rId118"/>
    <sldId id="368" r:id="rId119"/>
    <sldId id="369" r:id="rId120"/>
    <sldId id="370" r:id="rId121"/>
    <sldId id="371" r:id="rId122"/>
    <sldId id="372" r:id="rId123"/>
    <sldId id="373" r:id="rId124"/>
    <sldId id="374" r:id="rId125"/>
    <sldId id="375" r:id="rId126"/>
    <sldId id="376" r:id="rId127"/>
    <sldId id="377" r:id="rId128"/>
    <sldId id="378" r:id="rId129"/>
    <sldId id="379" r:id="rId130"/>
    <sldId id="380" r:id="rId131"/>
    <sldId id="381" r:id="rId132"/>
    <sldId id="382" r:id="rId133"/>
    <sldId id="383" r:id="rId134"/>
    <sldId id="384" r:id="rId135"/>
    <sldId id="385" r:id="rId136"/>
    <sldId id="386" r:id="rId137"/>
    <sldId id="387" r:id="rId138"/>
    <sldId id="388" r:id="rId139"/>
    <sldId id="389" r:id="rId140"/>
    <sldId id="390" r:id="rId141"/>
    <sldId id="391" r:id="rId142"/>
    <sldId id="392" r:id="rId143"/>
    <sldId id="393" r:id="rId144"/>
    <sldId id="394" r:id="rId145"/>
    <sldId id="395" r:id="rId146"/>
    <sldId id="396" r:id="rId147"/>
    <sldId id="397" r:id="rId148"/>
    <sldId id="398" r:id="rId149"/>
    <sldId id="399" r:id="rId150"/>
    <sldId id="400" r:id="rId151"/>
    <sldId id="401" r:id="rId152"/>
    <sldId id="402" r:id="rId153"/>
    <sldId id="403" r:id="rId154"/>
    <sldId id="404" r:id="rId155"/>
    <sldId id="405" r:id="rId156"/>
    <sldId id="406" r:id="rId157"/>
    <sldId id="407" r:id="rId158"/>
    <sldId id="408" r:id="rId159"/>
    <sldId id="409" r:id="rId160"/>
    <sldId id="410" r:id="rId161"/>
    <sldId id="411" r:id="rId162"/>
    <sldId id="412" r:id="rId163"/>
    <sldId id="413" r:id="rId164"/>
    <sldId id="414" r:id="rId165"/>
    <sldId id="415" r:id="rId166"/>
    <sldId id="416" r:id="rId167"/>
    <sldId id="417" r:id="rId168"/>
    <sldId id="418" r:id="rId169"/>
    <sldId id="419" r:id="rId170"/>
    <sldId id="420" r:id="rId171"/>
    <sldId id="421" r:id="rId172"/>
    <sldId id="422" r:id="rId173"/>
    <sldId id="423" r:id="rId174"/>
    <sldId id="424" r:id="rId175"/>
    <sldId id="425" r:id="rId176"/>
    <sldId id="426" r:id="rId177"/>
    <sldId id="427" r:id="rId178"/>
    <sldId id="428" r:id="rId179"/>
    <sldId id="429" r:id="rId180"/>
    <sldId id="430" r:id="rId181"/>
    <sldId id="431" r:id="rId182"/>
    <sldId id="432" r:id="rId183"/>
    <sldId id="433" r:id="rId184"/>
    <sldId id="434" r:id="rId185"/>
    <sldId id="435" r:id="rId186"/>
    <sldId id="436" r:id="rId187"/>
    <sldId id="437" r:id="rId188"/>
    <sldId id="438" r:id="rId189"/>
    <sldId id="439" r:id="rId190"/>
    <sldId id="440" r:id="rId191"/>
    <sldId id="441" r:id="rId192"/>
    <sldId id="442" r:id="rId193"/>
    <sldId id="443" r:id="rId194"/>
    <sldId id="444" r:id="rId195"/>
    <sldId id="445" r:id="rId196"/>
    <sldId id="446" r:id="rId197"/>
    <sldId id="447" r:id="rId198"/>
    <sldId id="448" r:id="rId199"/>
    <sldId id="449" r:id="rId200"/>
    <sldId id="450" r:id="rId201"/>
    <sldId id="451" r:id="rId202"/>
    <sldId id="452" r:id="rId203"/>
    <sldId id="453" r:id="rId204"/>
    <sldId id="454" r:id="rId205"/>
    <sldId id="455" r:id="rId206"/>
    <sldId id="456" r:id="rId207"/>
    <sldId id="457" r:id="rId208"/>
    <sldId id="458" r:id="rId209"/>
    <sldId id="459" r:id="rId210"/>
    <sldId id="460" r:id="rId211"/>
    <sldId id="461" r:id="rId212"/>
    <sldId id="462" r:id="rId213"/>
    <sldId id="463" r:id="rId214"/>
    <sldId id="464" r:id="rId215"/>
    <sldId id="465" r:id="rId216"/>
    <sldId id="466" r:id="rId217"/>
    <sldId id="467" r:id="rId218"/>
    <sldId id="468" r:id="rId219"/>
    <sldId id="469" r:id="rId220"/>
    <sldId id="470" r:id="rId221"/>
    <sldId id="471" r:id="rId222"/>
    <sldId id="472" r:id="rId223"/>
    <sldId id="473" r:id="rId224"/>
    <sldId id="474" r:id="rId225"/>
    <sldId id="475" r:id="rId226"/>
    <sldId id="476" r:id="rId227"/>
    <sldId id="477" r:id="rId228"/>
    <sldId id="478" r:id="rId229"/>
    <sldId id="479" r:id="rId230"/>
    <sldId id="480" r:id="rId231"/>
    <sldId id="481" r:id="rId232"/>
    <sldId id="482" r:id="rId233"/>
    <sldId id="483" r:id="rId234"/>
    <sldId id="484" r:id="rId235"/>
    <sldId id="485" r:id="rId236"/>
    <sldId id="486" r:id="rId237"/>
    <sldId id="487" r:id="rId238"/>
    <sldId id="488" r:id="rId239"/>
    <sldId id="489" r:id="rId240"/>
    <sldId id="490" r:id="rId241"/>
    <sldId id="491" r:id="rId242"/>
    <sldId id="492" r:id="rId243"/>
    <sldId id="493" r:id="rId244"/>
    <sldId id="494" r:id="rId245"/>
    <sldId id="495" r:id="rId246"/>
    <sldId id="496" r:id="rId247"/>
    <sldId id="497" r:id="rId248"/>
    <sldId id="498" r:id="rId249"/>
    <sldId id="499" r:id="rId250"/>
    <sldId id="500" r:id="rId251"/>
    <sldId id="501" r:id="rId252"/>
    <sldId id="502" r:id="rId253"/>
    <sldId id="503" r:id="rId254"/>
    <sldId id="504" r:id="rId255"/>
    <sldId id="505" r:id="rId256"/>
    <sldId id="506" r:id="rId257"/>
    <sldId id="507" r:id="rId258"/>
    <sldId id="508" r:id="rId259"/>
    <sldId id="509" r:id="rId260"/>
    <sldId id="510" r:id="rId261"/>
    <sldId id="511" r:id="rId262"/>
    <sldId id="512" r:id="rId263"/>
    <sldId id="513" r:id="rId264"/>
    <sldId id="514" r:id="rId265"/>
    <sldId id="515" r:id="rId266"/>
    <sldId id="516" r:id="rId267"/>
    <sldId id="517" r:id="rId268"/>
    <sldId id="518" r:id="rId269"/>
    <sldId id="519" r:id="rId270"/>
    <sldId id="520" r:id="rId271"/>
    <sldId id="521" r:id="rId272"/>
    <sldId id="522" r:id="rId273"/>
    <sldId id="523" r:id="rId274"/>
    <sldId id="524" r:id="rId275"/>
    <sldId id="525" r:id="rId276"/>
    <sldId id="526" r:id="rId277"/>
    <sldId id="527" r:id="rId278"/>
    <sldId id="528" r:id="rId279"/>
    <sldId id="529" r:id="rId280"/>
    <sldId id="530" r:id="rId281"/>
    <sldId id="531" r:id="rId282"/>
    <sldId id="532" r:id="rId283"/>
    <sldId id="533" r:id="rId284"/>
    <sldId id="534" r:id="rId285"/>
  </sldIdLst>
  <notesMasterIdLst>
    <notesMasterId r:id="rId32"/>
  </notesMasterIdLst>
  <sldSz cx="12192000" cy="6858000"/>
  <notesSz cx="6858000" cy="12192000"/>
  <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defaultTextStyle>
</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notesMaster" Target="notesMasters/notesMaster1.xml" /><Relationship Id="rId33" Type="http://schemas.openxmlformats.org/officeDocument/2006/relationships/presProps" Target="presProps.xml" /><Relationship Id="rId34" Type="http://schemas.openxmlformats.org/officeDocument/2006/relationships/viewProps" Target="viewProps.xml" /><Relationship Id="rId35" Type="http://schemas.openxmlformats.org/officeDocument/2006/relationships/theme" Target="theme/theme1.xml" /><Relationship Id="rId36" Type="http://schemas.openxmlformats.org/officeDocument/2006/relationships/tableStyles" Target="tableStyles.xml" /><Relationship Id="rId37" Type="http://schemas.openxmlformats.org/officeDocument/2006/relationships/slide" Target="slides/slide31.xml" /><Relationship Id="rId38" Type="http://schemas.openxmlformats.org/officeDocument/2006/relationships/slide" Target="slides/slide32.xml" /><Relationship Id="rId39" Type="http://schemas.openxmlformats.org/officeDocument/2006/relationships/slide" Target="slides/slide33.xml" /><Relationship Id="rId40" Type="http://schemas.openxmlformats.org/officeDocument/2006/relationships/slide" Target="slides/slide34.xml" /><Relationship Id="rId41" Type="http://schemas.openxmlformats.org/officeDocument/2006/relationships/slide" Target="slides/slide35.xml" /><Relationship Id="rId42" Type="http://schemas.openxmlformats.org/officeDocument/2006/relationships/slide" Target="slides/slide36.xml" /><Relationship Id="rId43" Type="http://schemas.openxmlformats.org/officeDocument/2006/relationships/slide" Target="slides/slide37.xml" /><Relationship Id="rId44" Type="http://schemas.openxmlformats.org/officeDocument/2006/relationships/slide" Target="slides/slide38.xml" /><Relationship Id="rId45" Type="http://schemas.openxmlformats.org/officeDocument/2006/relationships/slide" Target="slides/slide39.xml" /><Relationship Id="rId46" Type="http://schemas.openxmlformats.org/officeDocument/2006/relationships/slide" Target="slides/slide40.xml" /><Relationship Id="rId47" Type="http://schemas.openxmlformats.org/officeDocument/2006/relationships/slide" Target="slides/slide41.xml" /><Relationship Id="rId48" Type="http://schemas.openxmlformats.org/officeDocument/2006/relationships/slide" Target="slides/slide42.xml" /><Relationship Id="rId49" Type="http://schemas.openxmlformats.org/officeDocument/2006/relationships/slide" Target="slides/slide43.xml" /><Relationship Id="rId50" Type="http://schemas.openxmlformats.org/officeDocument/2006/relationships/slide" Target="slides/slide44.xml" /><Relationship Id="rId51" Type="http://schemas.openxmlformats.org/officeDocument/2006/relationships/slide" Target="slides/slide45.xml" /><Relationship Id="rId52" Type="http://schemas.openxmlformats.org/officeDocument/2006/relationships/slide" Target="slides/slide46.xml" /><Relationship Id="rId53" Type="http://schemas.openxmlformats.org/officeDocument/2006/relationships/slide" Target="slides/slide47.xml" /><Relationship Id="rId54" Type="http://schemas.openxmlformats.org/officeDocument/2006/relationships/slide" Target="slides/slide48.xml" /><Relationship Id="rId55" Type="http://schemas.openxmlformats.org/officeDocument/2006/relationships/slide" Target="slides/slide49.xml" /><Relationship Id="rId56" Type="http://schemas.openxmlformats.org/officeDocument/2006/relationships/slide" Target="slides/slide50.xml" /><Relationship Id="rId57" Type="http://schemas.openxmlformats.org/officeDocument/2006/relationships/slide" Target="slides/slide51.xml" /><Relationship Id="rId58" Type="http://schemas.openxmlformats.org/officeDocument/2006/relationships/slide" Target="slides/slide52.xml" /><Relationship Id="rId59" Type="http://schemas.openxmlformats.org/officeDocument/2006/relationships/slide" Target="slides/slide53.xml" /><Relationship Id="rId60" Type="http://schemas.openxmlformats.org/officeDocument/2006/relationships/slide" Target="slides/slide54.xml" /><Relationship Id="rId61" Type="http://schemas.openxmlformats.org/officeDocument/2006/relationships/slide" Target="slides/slide55.xml" /><Relationship Id="rId62" Type="http://schemas.openxmlformats.org/officeDocument/2006/relationships/slide" Target="slides/slide56.xml" /><Relationship Id="rId63" Type="http://schemas.openxmlformats.org/officeDocument/2006/relationships/slide" Target="slides/slide57.xml" /><Relationship Id="rId64" Type="http://schemas.openxmlformats.org/officeDocument/2006/relationships/slide" Target="slides/slide58.xml" /><Relationship Id="rId65" Type="http://schemas.openxmlformats.org/officeDocument/2006/relationships/slide" Target="slides/slide59.xml" /><Relationship Id="rId66" Type="http://schemas.openxmlformats.org/officeDocument/2006/relationships/slide" Target="slides/slide60.xml" /><Relationship Id="rId67" Type="http://schemas.openxmlformats.org/officeDocument/2006/relationships/slide" Target="slides/slide61.xml" /><Relationship Id="rId68" Type="http://schemas.openxmlformats.org/officeDocument/2006/relationships/slide" Target="slides/slide62.xml" /><Relationship Id="rId69" Type="http://schemas.openxmlformats.org/officeDocument/2006/relationships/slide" Target="slides/slide63.xml" /><Relationship Id="rId70" Type="http://schemas.openxmlformats.org/officeDocument/2006/relationships/slide" Target="slides/slide64.xml" /><Relationship Id="rId71" Type="http://schemas.openxmlformats.org/officeDocument/2006/relationships/slide" Target="slides/slide65.xml" /><Relationship Id="rId72" Type="http://schemas.openxmlformats.org/officeDocument/2006/relationships/slide" Target="slides/slide66.xml" /><Relationship Id="rId73" Type="http://schemas.openxmlformats.org/officeDocument/2006/relationships/slide" Target="slides/slide67.xml" /><Relationship Id="rId74" Type="http://schemas.openxmlformats.org/officeDocument/2006/relationships/slide" Target="slides/slide68.xml" /><Relationship Id="rId75" Type="http://schemas.openxmlformats.org/officeDocument/2006/relationships/slide" Target="slides/slide69.xml" /><Relationship Id="rId76" Type="http://schemas.openxmlformats.org/officeDocument/2006/relationships/slide" Target="slides/slide70.xml" /><Relationship Id="rId77" Type="http://schemas.openxmlformats.org/officeDocument/2006/relationships/slide" Target="slides/slide71.xml" /><Relationship Id="rId78" Type="http://schemas.openxmlformats.org/officeDocument/2006/relationships/slide" Target="slides/slide72.xml" /><Relationship Id="rId79" Type="http://schemas.openxmlformats.org/officeDocument/2006/relationships/slide" Target="slides/slide73.xml" /><Relationship Id="rId80" Type="http://schemas.openxmlformats.org/officeDocument/2006/relationships/slide" Target="slides/slide74.xml" /><Relationship Id="rId81" Type="http://schemas.openxmlformats.org/officeDocument/2006/relationships/slide" Target="slides/slide75.xml" /><Relationship Id="rId82" Type="http://schemas.openxmlformats.org/officeDocument/2006/relationships/slide" Target="slides/slide76.xml" /><Relationship Id="rId83" Type="http://schemas.openxmlformats.org/officeDocument/2006/relationships/slide" Target="slides/slide77.xml" /><Relationship Id="rId84" Type="http://schemas.openxmlformats.org/officeDocument/2006/relationships/slide" Target="slides/slide78.xml" /><Relationship Id="rId85" Type="http://schemas.openxmlformats.org/officeDocument/2006/relationships/slide" Target="slides/slide79.xml" /><Relationship Id="rId86" Type="http://schemas.openxmlformats.org/officeDocument/2006/relationships/slide" Target="slides/slide80.xml" /><Relationship Id="rId87" Type="http://schemas.openxmlformats.org/officeDocument/2006/relationships/slide" Target="slides/slide81.xml" /><Relationship Id="rId88" Type="http://schemas.openxmlformats.org/officeDocument/2006/relationships/slide" Target="slides/slide82.xml" /><Relationship Id="rId89" Type="http://schemas.openxmlformats.org/officeDocument/2006/relationships/slide" Target="slides/slide83.xml" /><Relationship Id="rId90" Type="http://schemas.openxmlformats.org/officeDocument/2006/relationships/slide" Target="slides/slide84.xml" /><Relationship Id="rId91" Type="http://schemas.openxmlformats.org/officeDocument/2006/relationships/slide" Target="slides/slide85.xml" /><Relationship Id="rId92" Type="http://schemas.openxmlformats.org/officeDocument/2006/relationships/slide" Target="slides/slide86.xml" /><Relationship Id="rId93" Type="http://schemas.openxmlformats.org/officeDocument/2006/relationships/slide" Target="slides/slide87.xml" /><Relationship Id="rId94" Type="http://schemas.openxmlformats.org/officeDocument/2006/relationships/slide" Target="slides/slide88.xml" /><Relationship Id="rId95" Type="http://schemas.openxmlformats.org/officeDocument/2006/relationships/slide" Target="slides/slide89.xml" /><Relationship Id="rId96" Type="http://schemas.openxmlformats.org/officeDocument/2006/relationships/slide" Target="slides/slide90.xml" /><Relationship Id="rId97" Type="http://schemas.openxmlformats.org/officeDocument/2006/relationships/slide" Target="slides/slide91.xml" /><Relationship Id="rId98" Type="http://schemas.openxmlformats.org/officeDocument/2006/relationships/slide" Target="slides/slide92.xml" /><Relationship Id="rId99" Type="http://schemas.openxmlformats.org/officeDocument/2006/relationships/slide" Target="slides/slide93.xml" /><Relationship Id="rId100" Type="http://schemas.openxmlformats.org/officeDocument/2006/relationships/slide" Target="slides/slide94.xml" /><Relationship Id="rId101" Type="http://schemas.openxmlformats.org/officeDocument/2006/relationships/slide" Target="slides/slide95.xml" /><Relationship Id="rId102" Type="http://schemas.openxmlformats.org/officeDocument/2006/relationships/slide" Target="slides/slide96.xml" /><Relationship Id="rId103" Type="http://schemas.openxmlformats.org/officeDocument/2006/relationships/slide" Target="slides/slide97.xml" /><Relationship Id="rId104" Type="http://schemas.openxmlformats.org/officeDocument/2006/relationships/slide" Target="slides/slide98.xml" /><Relationship Id="rId105" Type="http://schemas.openxmlformats.org/officeDocument/2006/relationships/slide" Target="slides/slide99.xml" /><Relationship Id="rId106" Type="http://schemas.openxmlformats.org/officeDocument/2006/relationships/slide" Target="slides/slide100.xml" /><Relationship Id="rId107" Type="http://schemas.openxmlformats.org/officeDocument/2006/relationships/slide" Target="slides/slide101.xml" /><Relationship Id="rId108" Type="http://schemas.openxmlformats.org/officeDocument/2006/relationships/slide" Target="slides/slide102.xml" /><Relationship Id="rId109" Type="http://schemas.openxmlformats.org/officeDocument/2006/relationships/slide" Target="slides/slide103.xml" /><Relationship Id="rId110" Type="http://schemas.openxmlformats.org/officeDocument/2006/relationships/slide" Target="slides/slide104.xml" /><Relationship Id="rId111" Type="http://schemas.openxmlformats.org/officeDocument/2006/relationships/slide" Target="slides/slide105.xml" /><Relationship Id="rId112" Type="http://schemas.openxmlformats.org/officeDocument/2006/relationships/slide" Target="slides/slide106.xml" /><Relationship Id="rId113" Type="http://schemas.openxmlformats.org/officeDocument/2006/relationships/slide" Target="slides/slide107.xml" /><Relationship Id="rId114" Type="http://schemas.openxmlformats.org/officeDocument/2006/relationships/slide" Target="slides/slide108.xml" /><Relationship Id="rId115" Type="http://schemas.openxmlformats.org/officeDocument/2006/relationships/slide" Target="slides/slide109.xml" /><Relationship Id="rId116" Type="http://schemas.openxmlformats.org/officeDocument/2006/relationships/slide" Target="slides/slide110.xml" /><Relationship Id="rId117" Type="http://schemas.openxmlformats.org/officeDocument/2006/relationships/slide" Target="slides/slide111.xml" /><Relationship Id="rId118" Type="http://schemas.openxmlformats.org/officeDocument/2006/relationships/slide" Target="slides/slide112.xml" /><Relationship Id="rId119" Type="http://schemas.openxmlformats.org/officeDocument/2006/relationships/slide" Target="slides/slide113.xml" /><Relationship Id="rId120" Type="http://schemas.openxmlformats.org/officeDocument/2006/relationships/slide" Target="slides/slide114.xml" /><Relationship Id="rId121" Type="http://schemas.openxmlformats.org/officeDocument/2006/relationships/slide" Target="slides/slide115.xml" /><Relationship Id="rId122" Type="http://schemas.openxmlformats.org/officeDocument/2006/relationships/slide" Target="slides/slide116.xml" /><Relationship Id="rId123" Type="http://schemas.openxmlformats.org/officeDocument/2006/relationships/slide" Target="slides/slide117.xml" /><Relationship Id="rId124" Type="http://schemas.openxmlformats.org/officeDocument/2006/relationships/slide" Target="slides/slide118.xml" /><Relationship Id="rId125" Type="http://schemas.openxmlformats.org/officeDocument/2006/relationships/slide" Target="slides/slide119.xml" /><Relationship Id="rId126" Type="http://schemas.openxmlformats.org/officeDocument/2006/relationships/slide" Target="slides/slide120.xml" /><Relationship Id="rId127" Type="http://schemas.openxmlformats.org/officeDocument/2006/relationships/slide" Target="slides/slide121.xml" /><Relationship Id="rId128" Type="http://schemas.openxmlformats.org/officeDocument/2006/relationships/slide" Target="slides/slide122.xml" /><Relationship Id="rId129" Type="http://schemas.openxmlformats.org/officeDocument/2006/relationships/slide" Target="slides/slide123.xml" /><Relationship Id="rId130" Type="http://schemas.openxmlformats.org/officeDocument/2006/relationships/slide" Target="slides/slide124.xml" /><Relationship Id="rId131" Type="http://schemas.openxmlformats.org/officeDocument/2006/relationships/slide" Target="slides/slide125.xml" /><Relationship Id="rId132" Type="http://schemas.openxmlformats.org/officeDocument/2006/relationships/slide" Target="slides/slide126.xml" /><Relationship Id="rId133" Type="http://schemas.openxmlformats.org/officeDocument/2006/relationships/slide" Target="slides/slide127.xml" /><Relationship Id="rId134" Type="http://schemas.openxmlformats.org/officeDocument/2006/relationships/slide" Target="slides/slide128.xml" /><Relationship Id="rId135" Type="http://schemas.openxmlformats.org/officeDocument/2006/relationships/slide" Target="slides/slide129.xml" /><Relationship Id="rId136" Type="http://schemas.openxmlformats.org/officeDocument/2006/relationships/slide" Target="slides/slide130.xml" /><Relationship Id="rId137" Type="http://schemas.openxmlformats.org/officeDocument/2006/relationships/slide" Target="slides/slide131.xml" /><Relationship Id="rId138" Type="http://schemas.openxmlformats.org/officeDocument/2006/relationships/slide" Target="slides/slide132.xml" /><Relationship Id="rId139" Type="http://schemas.openxmlformats.org/officeDocument/2006/relationships/slide" Target="slides/slide133.xml" /><Relationship Id="rId140" Type="http://schemas.openxmlformats.org/officeDocument/2006/relationships/slide" Target="slides/slide134.xml" /><Relationship Id="rId141" Type="http://schemas.openxmlformats.org/officeDocument/2006/relationships/slide" Target="slides/slide135.xml" /><Relationship Id="rId142" Type="http://schemas.openxmlformats.org/officeDocument/2006/relationships/slide" Target="slides/slide136.xml" /><Relationship Id="rId143" Type="http://schemas.openxmlformats.org/officeDocument/2006/relationships/slide" Target="slides/slide137.xml" /><Relationship Id="rId144" Type="http://schemas.openxmlformats.org/officeDocument/2006/relationships/slide" Target="slides/slide138.xml" /><Relationship Id="rId145" Type="http://schemas.openxmlformats.org/officeDocument/2006/relationships/slide" Target="slides/slide139.xml" /><Relationship Id="rId146" Type="http://schemas.openxmlformats.org/officeDocument/2006/relationships/slide" Target="slides/slide140.xml" /><Relationship Id="rId147" Type="http://schemas.openxmlformats.org/officeDocument/2006/relationships/slide" Target="slides/slide141.xml" /><Relationship Id="rId148" Type="http://schemas.openxmlformats.org/officeDocument/2006/relationships/slide" Target="slides/slide142.xml" /><Relationship Id="rId149" Type="http://schemas.openxmlformats.org/officeDocument/2006/relationships/slide" Target="slides/slide143.xml" /><Relationship Id="rId150" Type="http://schemas.openxmlformats.org/officeDocument/2006/relationships/slide" Target="slides/slide144.xml" /><Relationship Id="rId151" Type="http://schemas.openxmlformats.org/officeDocument/2006/relationships/slide" Target="slides/slide145.xml" /><Relationship Id="rId152" Type="http://schemas.openxmlformats.org/officeDocument/2006/relationships/slide" Target="slides/slide146.xml" /><Relationship Id="rId153" Type="http://schemas.openxmlformats.org/officeDocument/2006/relationships/slide" Target="slides/slide147.xml" /><Relationship Id="rId154" Type="http://schemas.openxmlformats.org/officeDocument/2006/relationships/slide" Target="slides/slide148.xml" /><Relationship Id="rId155" Type="http://schemas.openxmlformats.org/officeDocument/2006/relationships/slide" Target="slides/slide149.xml" /><Relationship Id="rId156" Type="http://schemas.openxmlformats.org/officeDocument/2006/relationships/slide" Target="slides/slide150.xml" /><Relationship Id="rId157" Type="http://schemas.openxmlformats.org/officeDocument/2006/relationships/slide" Target="slides/slide151.xml" /><Relationship Id="rId158" Type="http://schemas.openxmlformats.org/officeDocument/2006/relationships/slide" Target="slides/slide152.xml" /><Relationship Id="rId159" Type="http://schemas.openxmlformats.org/officeDocument/2006/relationships/slide" Target="slides/slide153.xml" /><Relationship Id="rId160" Type="http://schemas.openxmlformats.org/officeDocument/2006/relationships/slide" Target="slides/slide154.xml" /><Relationship Id="rId161" Type="http://schemas.openxmlformats.org/officeDocument/2006/relationships/slide" Target="slides/slide155.xml" /><Relationship Id="rId162" Type="http://schemas.openxmlformats.org/officeDocument/2006/relationships/slide" Target="slides/slide156.xml" /><Relationship Id="rId163" Type="http://schemas.openxmlformats.org/officeDocument/2006/relationships/slide" Target="slides/slide157.xml" /><Relationship Id="rId164" Type="http://schemas.openxmlformats.org/officeDocument/2006/relationships/slide" Target="slides/slide158.xml" /><Relationship Id="rId165" Type="http://schemas.openxmlformats.org/officeDocument/2006/relationships/slide" Target="slides/slide159.xml" /><Relationship Id="rId166" Type="http://schemas.openxmlformats.org/officeDocument/2006/relationships/slide" Target="slides/slide160.xml" /><Relationship Id="rId167" Type="http://schemas.openxmlformats.org/officeDocument/2006/relationships/slide" Target="slides/slide161.xml" /><Relationship Id="rId168" Type="http://schemas.openxmlformats.org/officeDocument/2006/relationships/slide" Target="slides/slide162.xml" /><Relationship Id="rId169" Type="http://schemas.openxmlformats.org/officeDocument/2006/relationships/slide" Target="slides/slide163.xml" /><Relationship Id="rId170" Type="http://schemas.openxmlformats.org/officeDocument/2006/relationships/slide" Target="slides/slide164.xml" /><Relationship Id="rId171" Type="http://schemas.openxmlformats.org/officeDocument/2006/relationships/slide" Target="slides/slide165.xml" /><Relationship Id="rId172" Type="http://schemas.openxmlformats.org/officeDocument/2006/relationships/slide" Target="slides/slide166.xml" /><Relationship Id="rId173" Type="http://schemas.openxmlformats.org/officeDocument/2006/relationships/slide" Target="slides/slide167.xml" /><Relationship Id="rId174" Type="http://schemas.openxmlformats.org/officeDocument/2006/relationships/slide" Target="slides/slide168.xml" /><Relationship Id="rId175" Type="http://schemas.openxmlformats.org/officeDocument/2006/relationships/slide" Target="slides/slide169.xml" /><Relationship Id="rId176" Type="http://schemas.openxmlformats.org/officeDocument/2006/relationships/slide" Target="slides/slide170.xml" /><Relationship Id="rId177" Type="http://schemas.openxmlformats.org/officeDocument/2006/relationships/slide" Target="slides/slide171.xml" /><Relationship Id="rId178" Type="http://schemas.openxmlformats.org/officeDocument/2006/relationships/slide" Target="slides/slide172.xml" /><Relationship Id="rId179" Type="http://schemas.openxmlformats.org/officeDocument/2006/relationships/slide" Target="slides/slide173.xml" /><Relationship Id="rId180" Type="http://schemas.openxmlformats.org/officeDocument/2006/relationships/slide" Target="slides/slide174.xml" /><Relationship Id="rId181" Type="http://schemas.openxmlformats.org/officeDocument/2006/relationships/slide" Target="slides/slide175.xml" /><Relationship Id="rId182" Type="http://schemas.openxmlformats.org/officeDocument/2006/relationships/slide" Target="slides/slide176.xml" /><Relationship Id="rId183" Type="http://schemas.openxmlformats.org/officeDocument/2006/relationships/slide" Target="slides/slide177.xml" /><Relationship Id="rId184" Type="http://schemas.openxmlformats.org/officeDocument/2006/relationships/slide" Target="slides/slide178.xml" /><Relationship Id="rId185" Type="http://schemas.openxmlformats.org/officeDocument/2006/relationships/slide" Target="slides/slide179.xml" /><Relationship Id="rId186" Type="http://schemas.openxmlformats.org/officeDocument/2006/relationships/slide" Target="slides/slide180.xml" /><Relationship Id="rId187" Type="http://schemas.openxmlformats.org/officeDocument/2006/relationships/slide" Target="slides/slide181.xml" /><Relationship Id="rId188" Type="http://schemas.openxmlformats.org/officeDocument/2006/relationships/slide" Target="slides/slide182.xml" /><Relationship Id="rId189" Type="http://schemas.openxmlformats.org/officeDocument/2006/relationships/slide" Target="slides/slide183.xml" /><Relationship Id="rId190" Type="http://schemas.openxmlformats.org/officeDocument/2006/relationships/slide" Target="slides/slide184.xml" /><Relationship Id="rId191" Type="http://schemas.openxmlformats.org/officeDocument/2006/relationships/slide" Target="slides/slide185.xml" /><Relationship Id="rId192" Type="http://schemas.openxmlformats.org/officeDocument/2006/relationships/slide" Target="slides/slide186.xml" /><Relationship Id="rId193" Type="http://schemas.openxmlformats.org/officeDocument/2006/relationships/slide" Target="slides/slide187.xml" /><Relationship Id="rId194" Type="http://schemas.openxmlformats.org/officeDocument/2006/relationships/slide" Target="slides/slide188.xml" /><Relationship Id="rId195" Type="http://schemas.openxmlformats.org/officeDocument/2006/relationships/slide" Target="slides/slide189.xml" /><Relationship Id="rId196" Type="http://schemas.openxmlformats.org/officeDocument/2006/relationships/slide" Target="slides/slide190.xml" /><Relationship Id="rId197" Type="http://schemas.openxmlformats.org/officeDocument/2006/relationships/slide" Target="slides/slide191.xml" /><Relationship Id="rId198" Type="http://schemas.openxmlformats.org/officeDocument/2006/relationships/slide" Target="slides/slide192.xml" /><Relationship Id="rId199" Type="http://schemas.openxmlformats.org/officeDocument/2006/relationships/slide" Target="slides/slide193.xml" /><Relationship Id="rId200" Type="http://schemas.openxmlformats.org/officeDocument/2006/relationships/slide" Target="slides/slide194.xml" /><Relationship Id="rId201" Type="http://schemas.openxmlformats.org/officeDocument/2006/relationships/slide" Target="slides/slide195.xml" /><Relationship Id="rId202" Type="http://schemas.openxmlformats.org/officeDocument/2006/relationships/slide" Target="slides/slide196.xml" /><Relationship Id="rId203" Type="http://schemas.openxmlformats.org/officeDocument/2006/relationships/slide" Target="slides/slide197.xml" /><Relationship Id="rId204" Type="http://schemas.openxmlformats.org/officeDocument/2006/relationships/slide" Target="slides/slide198.xml" /><Relationship Id="rId205" Type="http://schemas.openxmlformats.org/officeDocument/2006/relationships/slide" Target="slides/slide199.xml" /><Relationship Id="rId206" Type="http://schemas.openxmlformats.org/officeDocument/2006/relationships/slide" Target="slides/slide200.xml" /><Relationship Id="rId207" Type="http://schemas.openxmlformats.org/officeDocument/2006/relationships/slide" Target="slides/slide201.xml" /><Relationship Id="rId208" Type="http://schemas.openxmlformats.org/officeDocument/2006/relationships/slide" Target="slides/slide202.xml" /><Relationship Id="rId209" Type="http://schemas.openxmlformats.org/officeDocument/2006/relationships/slide" Target="slides/slide203.xml" /><Relationship Id="rId210" Type="http://schemas.openxmlformats.org/officeDocument/2006/relationships/slide" Target="slides/slide204.xml" /><Relationship Id="rId211" Type="http://schemas.openxmlformats.org/officeDocument/2006/relationships/slide" Target="slides/slide205.xml" /><Relationship Id="rId212" Type="http://schemas.openxmlformats.org/officeDocument/2006/relationships/slide" Target="slides/slide206.xml" /><Relationship Id="rId213" Type="http://schemas.openxmlformats.org/officeDocument/2006/relationships/slide" Target="slides/slide207.xml" /><Relationship Id="rId214" Type="http://schemas.openxmlformats.org/officeDocument/2006/relationships/slide" Target="slides/slide208.xml" /><Relationship Id="rId215" Type="http://schemas.openxmlformats.org/officeDocument/2006/relationships/slide" Target="slides/slide209.xml" /><Relationship Id="rId216" Type="http://schemas.openxmlformats.org/officeDocument/2006/relationships/slide" Target="slides/slide210.xml" /><Relationship Id="rId217" Type="http://schemas.openxmlformats.org/officeDocument/2006/relationships/slide" Target="slides/slide211.xml" /><Relationship Id="rId218" Type="http://schemas.openxmlformats.org/officeDocument/2006/relationships/slide" Target="slides/slide212.xml" /><Relationship Id="rId219" Type="http://schemas.openxmlformats.org/officeDocument/2006/relationships/slide" Target="slides/slide213.xml" /><Relationship Id="rId220" Type="http://schemas.openxmlformats.org/officeDocument/2006/relationships/slide" Target="slides/slide214.xml" /><Relationship Id="rId221" Type="http://schemas.openxmlformats.org/officeDocument/2006/relationships/slide" Target="slides/slide215.xml" /><Relationship Id="rId222" Type="http://schemas.openxmlformats.org/officeDocument/2006/relationships/slide" Target="slides/slide216.xml" /><Relationship Id="rId223" Type="http://schemas.openxmlformats.org/officeDocument/2006/relationships/slide" Target="slides/slide217.xml" /><Relationship Id="rId224" Type="http://schemas.openxmlformats.org/officeDocument/2006/relationships/slide" Target="slides/slide218.xml" /><Relationship Id="rId225" Type="http://schemas.openxmlformats.org/officeDocument/2006/relationships/slide" Target="slides/slide219.xml" /><Relationship Id="rId226" Type="http://schemas.openxmlformats.org/officeDocument/2006/relationships/slide" Target="slides/slide220.xml" /><Relationship Id="rId227" Type="http://schemas.openxmlformats.org/officeDocument/2006/relationships/slide" Target="slides/slide221.xml" /><Relationship Id="rId228" Type="http://schemas.openxmlformats.org/officeDocument/2006/relationships/slide" Target="slides/slide222.xml" /><Relationship Id="rId229" Type="http://schemas.openxmlformats.org/officeDocument/2006/relationships/slide" Target="slides/slide223.xml" /><Relationship Id="rId230" Type="http://schemas.openxmlformats.org/officeDocument/2006/relationships/slide" Target="slides/slide224.xml" /><Relationship Id="rId231" Type="http://schemas.openxmlformats.org/officeDocument/2006/relationships/slide" Target="slides/slide225.xml" /><Relationship Id="rId232" Type="http://schemas.openxmlformats.org/officeDocument/2006/relationships/slide" Target="slides/slide226.xml" /><Relationship Id="rId233" Type="http://schemas.openxmlformats.org/officeDocument/2006/relationships/slide" Target="slides/slide227.xml" /><Relationship Id="rId234" Type="http://schemas.openxmlformats.org/officeDocument/2006/relationships/slide" Target="slides/slide228.xml" /><Relationship Id="rId235" Type="http://schemas.openxmlformats.org/officeDocument/2006/relationships/slide" Target="slides/slide229.xml" /><Relationship Id="rId236" Type="http://schemas.openxmlformats.org/officeDocument/2006/relationships/slide" Target="slides/slide230.xml" /><Relationship Id="rId237" Type="http://schemas.openxmlformats.org/officeDocument/2006/relationships/slide" Target="slides/slide231.xml" /><Relationship Id="rId238" Type="http://schemas.openxmlformats.org/officeDocument/2006/relationships/slide" Target="slides/slide232.xml" /><Relationship Id="rId239" Type="http://schemas.openxmlformats.org/officeDocument/2006/relationships/slide" Target="slides/slide233.xml" /><Relationship Id="rId240" Type="http://schemas.openxmlformats.org/officeDocument/2006/relationships/slide" Target="slides/slide234.xml" /><Relationship Id="rId241" Type="http://schemas.openxmlformats.org/officeDocument/2006/relationships/slide" Target="slides/slide235.xml" /><Relationship Id="rId242" Type="http://schemas.openxmlformats.org/officeDocument/2006/relationships/slide" Target="slides/slide236.xml" /><Relationship Id="rId243" Type="http://schemas.openxmlformats.org/officeDocument/2006/relationships/slide" Target="slides/slide237.xml" /><Relationship Id="rId244" Type="http://schemas.openxmlformats.org/officeDocument/2006/relationships/slide" Target="slides/slide238.xml" /><Relationship Id="rId245" Type="http://schemas.openxmlformats.org/officeDocument/2006/relationships/slide" Target="slides/slide239.xml" /><Relationship Id="rId246" Type="http://schemas.openxmlformats.org/officeDocument/2006/relationships/slide" Target="slides/slide240.xml" /><Relationship Id="rId247" Type="http://schemas.openxmlformats.org/officeDocument/2006/relationships/slide" Target="slides/slide241.xml" /><Relationship Id="rId248" Type="http://schemas.openxmlformats.org/officeDocument/2006/relationships/slide" Target="slides/slide242.xml" /><Relationship Id="rId249" Type="http://schemas.openxmlformats.org/officeDocument/2006/relationships/slide" Target="slides/slide243.xml" /><Relationship Id="rId250" Type="http://schemas.openxmlformats.org/officeDocument/2006/relationships/slide" Target="slides/slide244.xml" /><Relationship Id="rId251" Type="http://schemas.openxmlformats.org/officeDocument/2006/relationships/slide" Target="slides/slide245.xml" /><Relationship Id="rId252" Type="http://schemas.openxmlformats.org/officeDocument/2006/relationships/slide" Target="slides/slide246.xml" /><Relationship Id="rId253" Type="http://schemas.openxmlformats.org/officeDocument/2006/relationships/slide" Target="slides/slide247.xml" /><Relationship Id="rId254" Type="http://schemas.openxmlformats.org/officeDocument/2006/relationships/slide" Target="slides/slide248.xml" /><Relationship Id="rId255" Type="http://schemas.openxmlformats.org/officeDocument/2006/relationships/slide" Target="slides/slide249.xml" /><Relationship Id="rId256" Type="http://schemas.openxmlformats.org/officeDocument/2006/relationships/slide" Target="slides/slide250.xml" /><Relationship Id="rId257" Type="http://schemas.openxmlformats.org/officeDocument/2006/relationships/slide" Target="slides/slide251.xml" /><Relationship Id="rId258" Type="http://schemas.openxmlformats.org/officeDocument/2006/relationships/slide" Target="slides/slide252.xml" /><Relationship Id="rId259" Type="http://schemas.openxmlformats.org/officeDocument/2006/relationships/slide" Target="slides/slide253.xml" /><Relationship Id="rId260" Type="http://schemas.openxmlformats.org/officeDocument/2006/relationships/slide" Target="slides/slide254.xml" /><Relationship Id="rId261" Type="http://schemas.openxmlformats.org/officeDocument/2006/relationships/slide" Target="slides/slide255.xml" /><Relationship Id="rId262" Type="http://schemas.openxmlformats.org/officeDocument/2006/relationships/slide" Target="slides/slide256.xml" /><Relationship Id="rId263" Type="http://schemas.openxmlformats.org/officeDocument/2006/relationships/slide" Target="slides/slide257.xml" /><Relationship Id="rId264" Type="http://schemas.openxmlformats.org/officeDocument/2006/relationships/slide" Target="slides/slide258.xml" /><Relationship Id="rId265" Type="http://schemas.openxmlformats.org/officeDocument/2006/relationships/slide" Target="slides/slide259.xml" /><Relationship Id="rId266" Type="http://schemas.openxmlformats.org/officeDocument/2006/relationships/slide" Target="slides/slide260.xml" /><Relationship Id="rId267" Type="http://schemas.openxmlformats.org/officeDocument/2006/relationships/slide" Target="slides/slide261.xml" /><Relationship Id="rId268" Type="http://schemas.openxmlformats.org/officeDocument/2006/relationships/slide" Target="slides/slide262.xml" /><Relationship Id="rId269" Type="http://schemas.openxmlformats.org/officeDocument/2006/relationships/slide" Target="slides/slide263.xml" /><Relationship Id="rId270" Type="http://schemas.openxmlformats.org/officeDocument/2006/relationships/slide" Target="slides/slide264.xml" /><Relationship Id="rId271" Type="http://schemas.openxmlformats.org/officeDocument/2006/relationships/slide" Target="slides/slide265.xml" /><Relationship Id="rId272" Type="http://schemas.openxmlformats.org/officeDocument/2006/relationships/slide" Target="slides/slide266.xml" /><Relationship Id="rId273" Type="http://schemas.openxmlformats.org/officeDocument/2006/relationships/slide" Target="slides/slide267.xml" /><Relationship Id="rId274" Type="http://schemas.openxmlformats.org/officeDocument/2006/relationships/slide" Target="slides/slide268.xml" /><Relationship Id="rId275" Type="http://schemas.openxmlformats.org/officeDocument/2006/relationships/slide" Target="slides/slide269.xml" /><Relationship Id="rId276" Type="http://schemas.openxmlformats.org/officeDocument/2006/relationships/slide" Target="slides/slide270.xml" /><Relationship Id="rId277" Type="http://schemas.openxmlformats.org/officeDocument/2006/relationships/slide" Target="slides/slide271.xml" /><Relationship Id="rId278" Type="http://schemas.openxmlformats.org/officeDocument/2006/relationships/slide" Target="slides/slide272.xml" /><Relationship Id="rId279" Type="http://schemas.openxmlformats.org/officeDocument/2006/relationships/slide" Target="slides/slide273.xml" /><Relationship Id="rId280" Type="http://schemas.openxmlformats.org/officeDocument/2006/relationships/slide" Target="slides/slide274.xml" /><Relationship Id="rId281" Type="http://schemas.openxmlformats.org/officeDocument/2006/relationships/slide" Target="slides/slide275.xml" /><Relationship Id="rId282" Type="http://schemas.openxmlformats.org/officeDocument/2006/relationships/slide" Target="slides/slide276.xml" /><Relationship Id="rId283" Type="http://schemas.openxmlformats.org/officeDocument/2006/relationships/slide" Target="slides/slide277.xml" /><Relationship Id="rId284" Type="http://schemas.openxmlformats.org/officeDocument/2006/relationships/slide" Target="slides/slide278.xml" /><Relationship Id="rId285" Type="http://schemas.openxmlformats.org/officeDocument/2006/relationships/slide" Target="slides/slide279.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_rels/notesSlide2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0.xml"/>
		</Relationships>
</file>

<file path=ppt/notesSlides/_rels/notesSlide2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1.xml"/>
		</Relationships>
</file>

<file path=ppt/notesSlides/_rels/notesSlide2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2.xml"/>
		</Relationships>
</file>

<file path=ppt/notesSlides/_rels/notesSlide2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3.xml"/>
		</Relationships>
</file>

<file path=ppt/notesSlides/_rels/notesSlide2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4.xml"/>
		</Relationships>
</file>

<file path=ppt/notesSlides/_rels/notesSlide2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5.xml"/>
		</Relationships>
</file>

<file path=ppt/notesSlides/_rels/notesSlide2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6.xml"/>
		</Relationships>
</file>

<file path=ppt/notesSlides/_rels/notesSlide2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7.xml"/>
		</Relationships>
</file>

<file path=ppt/notesSlides/_rels/notesSlide2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8.xml"/>
		</Relationships>
</file>

<file path=ppt/notesSlides/_rels/notesSlide2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9.xml"/>
		</Relationships>
</file>

<file path=ppt/notesSlides/_rels/notesSlide2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0.xml"/>
		</Relationships>
</file>

<file path=ppt/notesSlides/_rels/notesSlide2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1.xml"/>
		</Relationships>
</file>

<file path=ppt/notesSlides/_rels/notesSlide2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2.xml"/>
		</Relationships>
</file>

<file path=ppt/notesSlides/_rels/notesSlide2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3.xml"/>
		</Relationships>
</file>

<file path=ppt/notesSlides/_rels/notesSlide2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4.xml"/>
		</Relationships>
</file>

<file path=ppt/notesSlides/_rels/notesSlide2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5.xml"/>
		</Relationships>
</file>

<file path=ppt/notesSlides/_rels/notesSlide2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6.xml"/>
		</Relationships>
</file>

<file path=ppt/notesSlides/_rels/notesSlide2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7.xml"/>
		</Relationships>
</file>

<file path=ppt/notesSlides/_rels/notesSlide2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8.xml"/>
		</Relationships>
</file>

<file path=ppt/notesSlides/_rels/notesSlide2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9.xml"/>
		</Relationships>
</file>

<file path=ppt/notesSlides/_rels/notesSlide2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0.xml"/>
		</Relationships>
</file>

<file path=ppt/notesSlides/_rels/notesSlide2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1.xml"/>
		</Relationships>
</file>

<file path=ppt/notesSlides/_rels/notesSlide2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2.xml"/>
		</Relationships>
</file>

<file path=ppt/notesSlides/_rels/notesSlide2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3.xml"/>
		</Relationships>
</file>

<file path=ppt/notesSlides/_rels/notesSlide2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4.xml"/>
		</Relationships>
</file>

<file path=ppt/notesSlides/_rels/notesSlide2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5.xml"/>
		</Relationships>
</file>

<file path=ppt/notesSlides/_rels/notesSlide2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6.xml"/>
		</Relationships>
</file>

<file path=ppt/notesSlides/_rels/notesSlide2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7.xml"/>
		</Relationships>
</file>

<file path=ppt/notesSlides/_rels/notesSlide2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8.xml"/>
		</Relationships>
</file>

<file path=ppt/notesSlides/_rels/notesSlide2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This module is 45 minutes total. Spend 8-10 minutes on intro/orientation, then ~30 minutes on the React landscape, then ~5 minutes setting up the AI thread. Keep energy high — Day 1 mornings set the tone for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~5 min here. Capture each student's stated goal — ideally on a whiteboard or a shared doc — so you can refer back at the end of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each of these in 15-20 seconds. The point isn't to teach the content yet, it's to set the frame: what you knew in 2024 isn't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aren't aspirations — they map directly to the modules and labs. Tell students this list is the rubric for whether the course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full daily flow. Note that each day has multiple labs — lab time is more than half of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promise students an answer to every problem they hit in lab. The point is to wrestle with it. You'll circulate and unstick people, but the discomfort is part of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anyone hasn't cloned, give them 2 minutes now. Setup-check script is in the setup-check/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tone-setter for the AI thread. If anyone's worried that the course is going to be 'how to use Cursor' — reassure them. Likewise, if anyone is anti-AI — they still get value because review skills matter regardless.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Take a sip of coffee. The next ~25 minutes are the real meat of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You can tell the room: if you're comfortable with all four of these, you're ready for what's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timeline is to ground students: yes, much has changed, but it's been gradual. They've probably encountered some of these in canary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hit the highlights — this is the menu, the deep dive comes next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deep-dive into the API yet. The point is: the form story has become much simpler. Module 2 is where students write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naming them. Module 2 has the real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those changes that just feels good once you've done it. Worth showing students it's a quick codemod, not a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mental-model shift in React 19. Don't try to teach the whole boundary here — just make sure students know the two kinds of components exist and have different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dwell — these are conveniences, not paradigm shifts. Mention them, then move to the Compiler.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slide. Most of the code on the left is what students wrote yesterday. Ask the room: how many of you have a useMemo in your current project that you're not 100% sure earns its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prevents over-trust. Module 7 (Performance) returns to the Compiler with concrete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Halftime check. Spend the next ~10 minutes on bootstrapping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slide. Most students will already know CRA is gone, but it sets up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have probably used Vite. Just confirm: yes, this is the default. If anyone asks about Webpack, acknowledge it's still around but starting from a CRA-style baseline isn't a thing 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pushes back on the assumption that 'modern React = Next.js'. Frameworks are a means, not a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previous slide. Both are short — together they form a decision-making prompt students will use in Lab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menu. Highlight that 'taught' doesn't mean 'best' — the course teaches both because they reflect different sensibilities.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watch-outs. Next.js is great but it isn't free of trade-offs, and pretending otherwise sets students up to be surprised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merge. Some students may still think of Remix as a separate product. It isn't anymore.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deep-dive. The point is shape-recognition: students should be able to evaluate whether one of these fits a given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 up: who's seen one of these from an AI tool this week? Always lots of hands. Sets up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hand-off. Take a 5-minute break before Module 2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minutes is a lot of ground. Plan: ~5 min on rules, ~15 on the foundational hooks revisited, ~30 on the four new hooks (this is the meat), ~15 on specialty hooks, ~10 on cheat sheet and lab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scene-setter. Tell students if they want exhaustive hook reference, react.dev is the place — this module is about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section. The point is to remind students the rules exist before showing AI mistakes that violate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read-through. Every senior in the room has these memorized. The mid-level half might benefit from a 30-second 'why' on rule 1 (call-order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slides on rules is enough. Move briskly to AI-and-the-rules.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room: when you read AI-generated component code, RUN your eyes through every hook call before anything else. Lint catches most of these but sometimes the lint config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here. Most students know the syntax — focus on the judgment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 updater is the most-skipped one. Show students the race-prone version is the AI-default; the safe version is the senior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alone is worth the module. Hammer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dwell — point is to flag when it's worth reaching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this slide stick. The right column is the most useful 'unlearning' content in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punchline of the foundational section. If students leave the course knowing only this slide, the course paid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closure issue verbally. The interval captures count=0 from the first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students aren't using the eslint plugin, this is the slide where you tell them to install it before lab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meat of the module — about 30 minutes. Don't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overview slide. Each one gets two slides of detail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conditional-allowed bit is the headline. It bends the first hook rule, but only for use()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server/client boundary. This is also a good preview for Module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dive into code yet — that's the next slide. Make sure the three return values land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The big win: no useState for email/password/error/loading. Four useStates collapse into one useActionState.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it's for *descendants* of a form, not the form itself. This is the gotcha.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reusability is the win. SubmitButton works inside any form anywhere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'don't use when' card is important. Optimistic updates are a UX choice, not a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pattern lands well. Lab 1 stretch task is to add this exact thing to the chat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SLOWLY. This is the canonical 2026 form pattern and students will refer back to it in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content section.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will use this through a library, not directly. But knowing it exists matters when debugging tearing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Underused hook. Worth flagging.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Often paired with Suspense. The startTransition wrapper makes the state update interruptible if the user clicks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mnemonic: deferred = wrap the value you receive; transition = wrap the call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Easy to skip on a first read. Mention the SSR warning explicitly — that one trips students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this slide is the takeaway. Screenshot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every one — point at them. Lab 1 is about exercising this checklist on real AI-generated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lab on screen. Run the starter, show students the React 18/CRA legacy state. Then break for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min — about 25 min on RR v7, 20 min on Next.js, 15 min on side-by-side and decision-making. Stay disciplined: students will want to deep-dive on one or the other; keep it shaped as a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this module is about how the RR ecosystem and Next.js have converged on similar primitives, and how to think about the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The framework mode part is where most of the new content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students still calling it 'Remix', that's now wrong terminology — the product is React Router v7, framework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Library mode in v7 still works exactly like v6. The big news is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names map to URLs. The $ prefix is for params. The _ prefix is for layout/index files. The convention is similar to Next.js but the syntax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Loaders are the data-loading primitive. Highlight: throwing a Response is how you signal HTTP errors — the framework converts it into the right boundary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&lt;Form&gt; from react-router is special. It posts to the action, then revalidates the route's loaders. Like a server-rendered form, but client-side enhanced.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Outlet is unchanged from RR v6. The big shift is that layouts are now declared in routes.ts instead of being implicit in the JSX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canonical RR v7 protected-route pattern. Compare to the Next.js middleware pattern coming in a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minutes. The shape of the conventions is the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will know this layout. The route group syntax (parens) is the one that surprises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template.jsx and default.jsx exist too but they're niche. Mention them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async function is the headline. Most students see this and ask 'wait, you can do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directive 'use server' is the magic. Without it, this would just be a normal client function with a closure over server bindings — and would fail at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Layouts are the canonical way to share UI across siblings. They DON'T re-render on navigation within the segment — that's a key perf win over rendering the same chrome inside each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Middleware runs at the edge by default — keep it light. Don't try to hit the database from middleware; just check the cookie and redirect.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The point of this section is the comparison, not the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patterns, similar outcome. RR v7's loader is per-route. Next's middleware is global with matcher config — better for app-wide auth, awkward for per-page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structural similarity. The Next.js version is shorter because the page itself is async — no separate loader.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identical shape. The 'use server' directive in Next.js maps to the action export in RR v7. Both rely on a regular HTML form posting FormData.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NEITHER is universally better. The choice depends on the project's deploy story, the team's framework experience, and the size of the ecosystem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lists are valid. Don't pretend one is objectively better. Your students' employers have made this decision already; this slide is for context, not advocacy.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mention. Don't dwell — this is shape-recognition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both starter projects on screen before breaking. Show students they can run all three things at once (server + RR v7 client + Next.js client). Then break for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wrap-up before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slide AFTER Lab 2 if you can. It's the official Day 1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opener. The biggest mindset shift from 2024: stop reaching for one global store by default. Start from 'where does this state actually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proliferation isn't accidental — each tool has a real reason to exist. The skill is matching the tool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module — about 12 minutes. Get this framework into students' hands and the tool choices become almost mechanical.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biggest 2026 shift: a lot of what teams put in Redux in 2020 was actually server state. TanStack Query gave it a better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tree isn't religion — there are exceptions. But it filters out the bad reflex of 'spin up a Redux store for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Most students know the syntax — the value here is in the trap-spotting.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covered the hooks themselves. This slide is about *defaulting*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'bad fits' column is the one to slow down on. Context-as-store is the most common 2024-era antipattern still in production code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to client stores. If you can show students the antipattern, the next section's tools land naturally.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The lab right after this is pick-your-tool, so this section is the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most apps don't need a store at all. Don't add one until you're hitting the cases on this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selector function (s) =&gt; s.items.length is the win. Only renders when the length changes, not when other store fields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Zustand is the right default for most teams that need a client store. Don't reach further unless you have a specific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derived-atom pattern is the killer feature. Each atom is independently subscribable. Easy to model complex relationships.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Jotai is a 'fits beautifully when the shoe fits' tool. Don't force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createSlice is the modern Redux. The 'verbosity' people complain about is the createStore + manual action creators path — that's not what RTK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RTK Query is RTK's answer to TanStack Query. Same caching, invalidation, and hooks shape — but bundled with the rest of RTK. Worth picking if you're already on Redux.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students will photograph. Don't pretend any of these is universally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section but it's the most important framing in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student leaves Module 4 with one idea, it's this slide: server state has different rules. Don't treat it like client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deep-dive — Module 5 is for that. This slide just makes the shape visible so students can place it relative to client 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takeaway visualization. Half the store gone. The other half might not even need a store — useState would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Sets up Lab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Photograph-this slide. Students will refer back to this for the pick-your-tool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as Module 2's checklist — give students a frame for spotting AI mistakes specific to state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wrap-up before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students understand the 60-second pitch is a real deliverable. The defense forces them to commit to a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hand-off slide. Don't dwell.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Picks up where Module 4's server-state framing ended. Most of this module is TanStack Query, but the framing matters: when use() is the right fit, when Server Components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menu before deep-diving into any one. Most apps use 2-3 of these together, not just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The point is the comparison, not the deep dive 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motivates the rest of the module. Every problem in the right column is something the next three flavors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pitch. Same code surface, vastly more capability. The rest of the module deepens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is great when you have a route or a Server Component that owns the promise. Less good as a general client-side fetcher.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deep-dives Server Components. This slide just places them next to the other flavors so students see them as part of the same decision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Photograph-this slide. Students reference this throughout Lab 4 and beyond.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minutes — the meat of the module. Don't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through the defaults. staleTime is the most important knob — it controls how aggressive the cache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isPending replaced isLoading in v5. If a student sees isLoading in older code, mention it's still around for the 'first fetch in flight' meaning, but isPending is the clearer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key-factory tip is gold. In any non-trivial app, centralizing keys saves hours of refactor pain.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mutate fires the mutation. mutateAsync returns a promise if you need to await it inside a Server Action or chained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invalidateQueries marks data as stale; the next time anyone reads it, TanStack refetches. refetchQueries is the bigger hammer — fires immediately even if no one's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pattern is how TanStack Query implements optimistic updates. Don't memorize it — recognize the four phases. The next slide shows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line by line. cancelQueries prevents a stale fetch from overwriting your optimistic write. The snapshot in ctx is the rollback safety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Loading and errors are first-class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flags are the default. Suspense mode is great when the surrounding architecture is already Suspense-shaped (Server Components, route loaders).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react-error-boundary is the canonical lib. throwOnError=true makes useQuery surface errors to the nearest boundary instead of returning them as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'don't retry mutations' point is critical. Default retry of 3 on a POST is a real bug waiting to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Mostly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can coexist. A Server Component creates a promise, passes it to a Client Component that uses use() for one piece, and TanStack Query for the parts that need a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The Lab 4 preview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as previous modules' AI checklists. Lab 4 is where students put this into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lab on screen — show the existing fetch + useEffect call in the social-media client, point at the smell, then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hand-off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progress check. Skip if running tight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minutes — the heaviest conceptual module in the course. ~25 min on Server Components, ~20 on Server Actions, ~10 on streaming, ~15 on pitfalls + AI mistakes + lab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foundation of everything that follows. If a student leaves with only one mental model from this module, it's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here. Establish the definition first, then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three things: async function, direct DB access, zero JS shipped. The third is the hidden win — the rendered HTML is all the user 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 out, not opt in' framing is critical. Most students from the React-18-SPA world are used to thinking about client components as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wins that justify Server Components existing. Query the DB without an API endpoint is the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these (useState, useEffect, event handlers) are the ones students hit first. The error messages are clearer in 19 than they were in 18-canary.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caveat: 'use client' is per-file. If you import a server-only module into a 'use client' file, you'll get a build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asymmetry is the key: server -&gt; client direction, never client -&gt; server. A client component can RECEIVE a server component as children prop, but can't import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passed inline' restriction is the trip-up. Students try to pass an onClick handler from a Server Component to a Client Component — that fails. The fix is to make the handler a Server Action ('use server') or to define it inside the Client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most-misunderstood pattern. The key: AccordionPanel doesn't IMPORT PostsList — it RECEIVES it as children, already rendered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highlight: 'use server' inside the function (vs 'use client' at file top), and the form action receives a function reference but executes it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progressive enhancement bullet is the sleeper hit. The form works even before JS loads — that's a real accessibility and resilience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covered useActionState. This slide is the reminder that it's the natural pair for Server Actions — the state argument gives errors and validation a place to live without useState.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with startTransition to keep the UI responsive. Without it, the click handler awaits and the button feels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Less new conceptual content if students already know Suspense.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the page is a series of nested boundaries, each shipping when ready. No more 'the whole page waits for the slowest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Granularity matters. One boundary around the whole page = no streaming benefit. Boundaries around individual slow components = real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The pitfalls section is where real production code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most-common-by-far Server Component mistake in real code. Push the boundary as low as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 imports — 'server-only' and 'client-only' — turn opaque build errors into clear ones. Strongly recommend including them in starter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 server' inside the function is what makes it serializable. Without it, React can't ship a reference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Hydration mismatches are pernicious because they often work locally and fail in production with weird bugs. The four causes here cover most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AI mistake to learn to spot. Every code review of AI-generated server code should ask: was 'use client' here a deliberate choice, or an escape hatch?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Mostly the same primitives, surface differences. The conceptual model travels.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to take a screenshot of this slide. They'll need it during Lab 5 and any future Server Components code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before lab. The 'render but never import' bullet is the tricky one — worth re-emphasizing.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'document why each 'use client' was necessary' deliverable is the load-bearing part. It forces students to defend each boundary they 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Day 2 close-out slide. Deliver this only after Lab 5 wraps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opener. The headline shift since 2024: half of what students used to write manually is now done by the Compiler. The skill is knowing what's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Measurement before any optimization. Compiler before manual. Code splitting before virtualization. Off-main-thread is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The most-skipped step in the most-discussed phase. Hammer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students this is the cultural norm being challenged. Senior devs in particular have habits to unlearn.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room hasn't used the Profiler tab, this is a good moment for a 30-second screen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 replacing FID in 2024 is the headline. Old Lighthouse audits cite FID — modern ones use INP.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here. The Compiler is what changes the answer to most of 2024's perf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end result, less code. The Compiler doesn't 'try harder' — it does the same memoization you'd write by hand, but it does it on every component without you having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prevents over-trust in the Compiler. The Compiler is a tool, not a magic wand.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eslint plugin is what makes the Compiler usable in a team. Without it, bail-outs are silent. With it, they're build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this as 'never use manual memo.' Read it as: when you reach for it, have a specific reason that the Compiler can't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Settings bundle isn't fetched until showSettings becomes true. Pair with Suspense for the loading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bundle analyzer is what tells you which of these to attack first. Run it before optimizing.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if your list has more than ~100 items and they're non-trivial to render, virtualize.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Vite has first-class worker support — `new Worker(new URL('./worker.js', import.meta.url))` just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'continuous sampled' vs 'final state' framing helps students pick. Both are in lodash; both are also one-line custom hooks.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Photograph-this slide. The ordering matters — most teams skip step 1 and over-do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especially prone to performance theater. The 'optimize without measuring' habit is what students must unlearn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 before/after numbers are a hard deliverable. No vibes — actual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Hand-off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progress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minutes. ~5 on landscape, ~10 each on Vitest, RTL, MSW, ~5 each on Playwright + Server Components, ~10 on AI-generated tests + lab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team is on Jest, the migration to Vitest is real but small. Same `expect`, same `describe`/`it`. Mostly a config swap.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oversell. Vitest is a ~30% improvement on Jest for most teams. The big win is sharing one config with Vite.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Globals: true means describe/it/expect are global like Jest. Set false if you prefer explicit imports.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here. The philosophy slide is the load-bearing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moral foundation. AI-generated tests violate it constantly — that's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Photograph-this slide. The hierarchy is what makes a test resilient to refactors.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user-event is async — students forget to await it constantly. Watch for missing awaits in submitted lab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Arbitrary setTimeout-based waits are the #1 cause of flaky tests. Always use findBy or waitFor — they retry under the 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test. Note: nothing references useState, no spies on internal functions. The test would pass against a class component, a hooks component, or a Server Action — the behavior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mocks for dev and tests' is the underrated win. Frontend devs often hit a wonky backend in dev and wish for a mock; MSW lets them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v2 of MSW uses http.get/post syntax. Older v1 used rest.get/post. If students see different syntax in older blog posts, that's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resetHandlers between tests is critical — without it, one test's override pollutes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Overview only — the lab uses RTL/Vitest as the primary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pyramid heuristic is old but still right. Lab 7 stretch task is one Playwright e2e — that's the right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Codegen is the lifeline. Click around the app, get a working test scaffold. Then refactor for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with students: this is the area of testing that's still moving. Tooling will likely look different in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 this is the lab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heart of the module. Hammer it. AI writes the left side by default unless you tell it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to take a screenshot — they'll need this checklist for Lab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lab. The keep/refactor/delete framing is the deliverable that forces the review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Hand-off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progress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centerpiece module of the AI thread. Students have seen AI mistakes throughout the week — this is where it gets formalized. ~75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Some students may not have noticed the pattern across labs — surfacing it makes the module's purpose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The point is to land 'pick what you'll actually use' rather than 'use this specific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every diff' is the load-bearing one. If students leave the module remembering only that, the module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endorse any one tool. The course is tool-agnostic on purpose — students from different shops will be using different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modes have their place. Most engineers use both, in different proportions, depending on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minutes here. The taxonomy is the durable skill — tools change, the mistake patterns persist.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gets a slide of its own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found this. Reinforce: this category is solved by lint + functional setState.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covered this in detail. AI gravitates to useEffect because it's overrepresented in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show up because RSC is the newest part of React's surface — older training data doesn't have it, newer data is sometimes contradictory.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tools love putting Date.now() in JSX. Watch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AGENTS.md / CLAUDE.md is the antidote — telling the AI 'we use RR v7' overrides the training-data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7 hammered this. The pattern repeats: AI defaults to implementation tests; you push it to behavior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The AGENTS.md / CLAUDE.md slides land hard for senior devs.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AGENTS.md is becoming the common ground. Even tools that prefer their own filename usually fall back to AGENTS.md.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example — short, specific, names files. Avoid 'follow best practices' — that's not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don't disable lint rules to let the AI's code compile. Fix the underlying issue. The lint plugin is your code review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 names and locations — when documented in AGENTS.md — are how AI inherits your codebase's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8 is exactly this — spec a feature, build with AI, review yourself. The spec part is the highest-leverage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Refactors are where AI shines. The verification discipline is what makes them safe — without tests, you're hoping.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 → Vite, Pages Router → App Router, RR v6 → v7 are all AI-friendly migrations IF you go small. Whole-repo prompts produce whole-repo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 slide. This is what students take into Lab 8 and back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capstone hands-on. The self-review is what makes the lab summative — students are exercising the review skill on their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Hand-off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progress check before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minutes total: ~15 on security, ~10 on a11y, ~5 on i18n, ~15 on wrap-up + Q&amp;A. Don't rush the wrap-up — it's the moment students reflect on what they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here. Focus on what's React-specific. Generic 'use HTTPS' is table stakes; we cover the React-flavored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tools love dangerouslySetInnerHTML when they could just use children. Watch for it in code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team is on Next.js or RR v7, this is mostly handled. If you've rolled your own SSR, this is a real production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Server Actions security gotcha. Capture vars vs read-inside-action makes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tools default to localStorage with depressing regularity. Push back hard. The fix is server-set HttpOnly cookies — see Lab 2's auth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Most senior devs know a11y basics; the AI-specific failures are the new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are the table-stakes. Not exhaustive — just the ones a senior dev should never ship without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ship AI-generated UI without checking for these, you ship inaccessible UI. The patterns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keyboard testing is the one most students skip. It takes 30 seconds and catches the most pernicious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Not a deep dive — just enough to know where to start when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team isn't shipping internationally, skip i18n entirely. If there's any chance, add it on day one — retrofit is a quarter-long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here. The wrap-up matters — students reflect, ask questions, and leave with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Ask the room which day landed hardest — usually Day 2 (RSC) or Day 3 (the AI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photograph slide. Tell students explicitly: this is what you take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thing' is the load-bearing advice. Students who try to do everything do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list every blog and YouTube channel. These six are the ones that stay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students to keep a personal fork. The repo is the artifact they take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 at least 10 minutes for this. If the room is quiet, use the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slide. Don't say much — let it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final slide. Student feedback is the input for next cohort's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slideLayout" Target="../slideLayouts/slideLayout1.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1_2.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6-1_2.png"/><Relationship Id="rId2" Type="http://schemas.openxmlformats.org/officeDocument/2006/relationships/image" Target="../media/image-6-2_2.png"/><Relationship Id="rId3" Type="http://schemas.openxmlformats.org/officeDocument/2006/relationships/image" Target="../media/image-6-3_2.png"/><Relationship Id="rId4" Type="http://schemas.openxmlformats.org/officeDocument/2006/relationships/image" Target="../media/image-6-4_2.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7-1_2.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9-1_2.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12-1_2.png"/><Relationship Id="rId2" Type="http://schemas.openxmlformats.org/officeDocument/2006/relationships/image" Target="../media/image-12-2_2.png"/><Relationship Id="rId3" Type="http://schemas.openxmlformats.org/officeDocument/2006/relationships/image" Target="../media/image-12-3_2.png"/><Relationship Id="rId4" Type="http://schemas.openxmlformats.org/officeDocument/2006/relationships/image" Target="../media/image-12-4_2.png"/><Relationship Id="rId5" Type="http://schemas.openxmlformats.org/officeDocument/2006/relationships/image" Target="../media/image-12-5_2.png"/><Relationship Id="rId6" Type="http://schemas.openxmlformats.org/officeDocument/2006/relationships/image" Target="../media/image-12-6_2.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slideLayout" Target="../slideLayouts/slideLayout1.xml"/><Relationship Id="rId1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15-1_2.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1-1_3.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2-1_2.png"/><Relationship Id="rId2" Type="http://schemas.openxmlformats.org/officeDocument/2006/relationships/image" Target="../media/image-2-2_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3-1_2.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11-1_2.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18-1_2.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24-1_2.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26-1_2.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1-1_4.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3-1_3.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6-1_3.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7-1_3.png"/><Relationship Id="rId2" Type="http://schemas.openxmlformats.org/officeDocument/2006/relationships/image" Target="../media/image-7-2_2.png"/><Relationship Id="rId3" Type="http://schemas.openxmlformats.org/officeDocument/2006/relationships/image" Target="../media/image-7-3_2.png"/><Relationship Id="rId4" Type="http://schemas.openxmlformats.org/officeDocument/2006/relationships/image" Target="../media/image-7-4_2.png"/><Relationship Id="rId5" Type="http://schemas.openxmlformats.org/officeDocument/2006/relationships/slideLayout" Target="../slideLayouts/slideLayout1.xml"/><Relationship Id="rId6"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9-1_3.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_2.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1-1_3.png"/><Relationship Id="rId2" Type="http://schemas.openxmlformats.org/officeDocument/2006/relationships/image" Target="../media/image-11-2_2.png"/><Relationship Id="rId3" Type="http://schemas.openxmlformats.org/officeDocument/2006/relationships/image" Target="../media/image-11-3_2.png"/><Relationship Id="rId4" Type="http://schemas.openxmlformats.org/officeDocument/2006/relationships/image" Target="../media/image-11-4_2.png"/><Relationship Id="rId5" Type="http://schemas.openxmlformats.org/officeDocument/2006/relationships/image" Target="../media/image-11-5_2.png"/><Relationship Id="rId6" Type="http://schemas.openxmlformats.org/officeDocument/2006/relationships/slideLayout" Target="../slideLayouts/slideLayout1.xml"/><Relationship Id="rId7"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9-1_2.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20-1_2.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23-1_2.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25-1_2.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26-1_3.png"/><Relationship Id="rId2" Type="http://schemas.openxmlformats.org/officeDocument/2006/relationships/image" Target="../media/image-26-2_2.png"/><Relationship Id="rId3" Type="http://schemas.openxmlformats.org/officeDocument/2006/relationships/image" Target="../media/image-26-3_2.png"/><Relationship Id="rId4" Type="http://schemas.openxmlformats.org/officeDocument/2006/relationships/image" Target="../media/image-26-4_2.png"/><Relationship Id="rId5" Type="http://schemas.openxmlformats.org/officeDocument/2006/relationships/image" Target="../media/image-26-5_2.png"/><Relationship Id="rId6" Type="http://schemas.openxmlformats.org/officeDocument/2006/relationships/slideLayout" Target="../slideLayouts/slideLayout1.xml"/><Relationship Id="rId7"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27-1_2.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1_5.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2-1_3.png"/><Relationship Id="rId2" Type="http://schemas.openxmlformats.org/officeDocument/2006/relationships/image" Target="../media/image-2-2_3.png"/><Relationship Id="rId3" Type="http://schemas.openxmlformats.org/officeDocument/2006/relationships/image" Target="../media/image-2-3_2.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3-1_4.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5-1_2.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6-1_4.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9-1_4.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2-1_3.png"/><Relationship Id="rId2" Type="http://schemas.openxmlformats.org/officeDocument/2006/relationships/image" Target="../media/image-12-2_3.png"/><Relationship Id="rId3" Type="http://schemas.openxmlformats.org/officeDocument/2006/relationships/image" Target="../media/image-12-3_3.png"/><Relationship Id="rId4" Type="http://schemas.openxmlformats.org/officeDocument/2006/relationships/image" Target="../media/image-12-4_3.png"/><Relationship Id="rId5" Type="http://schemas.openxmlformats.org/officeDocument/2006/relationships/slideLayout" Target="../slideLayouts/slideLayout1.xml"/><Relationship Id="rId6"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7-1_2.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20-1_3.png"/><Relationship Id="rId2" Type="http://schemas.openxmlformats.org/officeDocument/2006/relationships/image" Target="../media/image-20-2_2.png"/><Relationship Id="rId3" Type="http://schemas.openxmlformats.org/officeDocument/2006/relationships/image" Target="../media/image-20-3_2.png"/><Relationship Id="rId4" Type="http://schemas.openxmlformats.org/officeDocument/2006/relationships/image" Target="../media/image-20-4_2.png"/><Relationship Id="rId5" Type="http://schemas.openxmlformats.org/officeDocument/2006/relationships/slideLayout" Target="../slideLayouts/slideLayout1.xml"/><Relationship Id="rId6"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21-1_2.pn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23-1_3.png"/><Relationship Id="rId2" Type="http://schemas.openxmlformats.org/officeDocument/2006/relationships/image" Target="../media/image-23-2_2.png"/><Relationship Id="rId3" Type="http://schemas.openxmlformats.org/officeDocument/2006/relationships/image" Target="../media/image-23-3_2.png"/><Relationship Id="rId4" Type="http://schemas.openxmlformats.org/officeDocument/2006/relationships/image" Target="../media/image-23-4_2.png"/><Relationship Id="rId5" Type="http://schemas.openxmlformats.org/officeDocument/2006/relationships/image" Target="../media/image-23-5_2.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24-1_3.png"/><Relationship Id="rId2" Type="http://schemas.openxmlformats.org/officeDocument/2006/relationships/image" Target="../media/image-24-2_2.png"/><Relationship Id="rId3" Type="http://schemas.openxmlformats.org/officeDocument/2006/relationships/image" Target="../media/image-24-3_2.png"/><Relationship Id="rId4" Type="http://schemas.openxmlformats.org/officeDocument/2006/relationships/image" Target="../media/image-24-4_2.png"/><Relationship Id="rId5" Type="http://schemas.openxmlformats.org/officeDocument/2006/relationships/image" Target="../media/image-24-5_2.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25-1_3.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image-1-1_6.pn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2-1_4.png"/><Relationship Id="rId2" Type="http://schemas.openxmlformats.org/officeDocument/2006/relationships/image" Target="../media/image-2-2_4.png"/><Relationship Id="rId3" Type="http://schemas.openxmlformats.org/officeDocument/2006/relationships/slideLayout" Target="../slideLayouts/slideLayout1.xml"/><Relationship Id="rId4"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3-1_5.pn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4-1_2.pn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5-1_3.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image-6-1_5.png"/><Relationship Id="rId2" Type="http://schemas.openxmlformats.org/officeDocument/2006/relationships/image" Target="../media/image-6-2_3.png"/><Relationship Id="rId3" Type="http://schemas.openxmlformats.org/officeDocument/2006/relationships/image" Target="../media/image-6-3_3.png"/><Relationship Id="rId4" Type="http://schemas.openxmlformats.org/officeDocument/2006/relationships/image" Target="../media/image-6-4_3.png"/><Relationship Id="rId5" Type="http://schemas.openxmlformats.org/officeDocument/2006/relationships/image" Target="../media/image-6-5_2.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7-1_4.png"/><Relationship Id="rId2" Type="http://schemas.openxmlformats.org/officeDocument/2006/relationships/image" Target="../media/image-7-2_3.png"/><Relationship Id="rId3" Type="http://schemas.openxmlformats.org/officeDocument/2006/relationships/image" Target="../media/image-7-3_3.png"/><Relationship Id="rId4" Type="http://schemas.openxmlformats.org/officeDocument/2006/relationships/image" Target="../media/image-7-4_3.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image-9-1_5.pn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image-12-1_4.pn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image" Target="../media/image-17-1_3.png"/><Relationship Id="rId2" Type="http://schemas.openxmlformats.org/officeDocument/2006/relationships/slideLayout" Target="../slideLayouts/slideLayout1.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image" Target="../media/image-20-1_4.png"/><Relationship Id="rId2" Type="http://schemas.openxmlformats.org/officeDocument/2006/relationships/slideLayout" Target="../slideLayouts/slideLayout1.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image" Target="../media/image-22-1_2.png"/><Relationship Id="rId2" Type="http://schemas.openxmlformats.org/officeDocument/2006/relationships/slideLayout" Target="../slideLayouts/slideLayout1.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image-24-1_4.png"/><Relationship Id="rId2" Type="http://schemas.openxmlformats.org/officeDocument/2006/relationships/image" Target="../media/image-24-2_3.png"/><Relationship Id="rId3" Type="http://schemas.openxmlformats.org/officeDocument/2006/relationships/image" Target="../media/image-24-3_3.png"/><Relationship Id="rId4" Type="http://schemas.openxmlformats.org/officeDocument/2006/relationships/image" Target="../media/image-24-4_3.png"/><Relationship Id="rId5" Type="http://schemas.openxmlformats.org/officeDocument/2006/relationships/slideLayout" Target="../slideLayouts/slideLayout1.xml"/><Relationship Id="rId6"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image" Target="../media/image-25-1_4.png"/><Relationship Id="rId2" Type="http://schemas.openxmlformats.org/officeDocument/2006/relationships/slideLayout" Target="../slideLayouts/slideLayout1.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image" Target="../media/image-26-1_4.png"/><Relationship Id="rId2" Type="http://schemas.openxmlformats.org/officeDocument/2006/relationships/slideLayout" Target="../slideLayouts/slideLayout1.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image" Target="../media/image-29-1_2.png"/><Relationship Id="rId2" Type="http://schemas.openxmlformats.org/officeDocument/2006/relationships/image" Target="../media/image-29-2_2.png"/><Relationship Id="rId3" Type="http://schemas.openxmlformats.org/officeDocument/2006/relationships/image" Target="../media/image-29-3_2.png"/><Relationship Id="rId4" Type="http://schemas.openxmlformats.org/officeDocument/2006/relationships/image" Target="../media/image-29-4_2.png"/><Relationship Id="rId5" Type="http://schemas.openxmlformats.org/officeDocument/2006/relationships/image" Target="../media/image-29-5_2.png"/><Relationship Id="rId6" Type="http://schemas.openxmlformats.org/officeDocument/2006/relationships/image" Target="../media/image-29-6_2.png"/><Relationship Id="rId7" Type="http://schemas.openxmlformats.org/officeDocument/2006/relationships/slideLayout" Target="../slideLayouts/slideLayout1.xml"/><Relationship Id="rId8"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image" Target="../media/image-30-1_2.png"/><Relationship Id="rId2" Type="http://schemas.openxmlformats.org/officeDocument/2006/relationships/slideLayout" Target="../slideLayouts/slideLayout1.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image" Target="../media/image-1-1_7.png"/><Relationship Id="rId2" Type="http://schemas.openxmlformats.org/officeDocument/2006/relationships/slideLayout" Target="../slideLayouts/slideLayout1.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image" Target="../media/image-2-1_5.png"/><Relationship Id="rId2" Type="http://schemas.openxmlformats.org/officeDocument/2006/relationships/image" Target="../media/image-2-2_5.png"/><Relationship Id="rId3" Type="http://schemas.openxmlformats.org/officeDocument/2006/relationships/image" Target="../media/image-2-3_3.png"/><Relationship Id="rId4" Type="http://schemas.openxmlformats.org/officeDocument/2006/relationships/image" Target="../media/image-2-4_2.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image" Target="../media/image-3-1_6.png"/><Relationship Id="rId2" Type="http://schemas.openxmlformats.org/officeDocument/2006/relationships/slideLayout" Target="../slideLayouts/slideLayout1.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image" Target="../media/image-4-1_3.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image" Target="../media/image-7-1_5.png"/><Relationship Id="rId2" Type="http://schemas.openxmlformats.org/officeDocument/2006/relationships/slideLayout" Target="../slideLayouts/slideLayout1.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image" Target="../media/image-9-1_6.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image" Target="../media/image-11-1_4.png"/><Relationship Id="rId2" Type="http://schemas.openxmlformats.org/officeDocument/2006/relationships/image" Target="../media/image-11-2_3.png"/><Relationship Id="rId3" Type="http://schemas.openxmlformats.org/officeDocument/2006/relationships/image" Target="../media/image-11-3_3.png"/><Relationship Id="rId4" Type="http://schemas.openxmlformats.org/officeDocument/2006/relationships/image" Target="../media/image-11-4_3.png"/><Relationship Id="rId5" Type="http://schemas.openxmlformats.org/officeDocument/2006/relationships/slideLayout" Target="../slideLayouts/slideLayout1.xml"/><Relationship Id="rId6"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image" Target="../media/image-12-1_5.png"/><Relationship Id="rId2" Type="http://schemas.openxmlformats.org/officeDocument/2006/relationships/slideLayout" Target="../slideLayouts/slideLayout1.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image" Target="../media/image-14-1_2.png"/><Relationship Id="rId2" Type="http://schemas.openxmlformats.org/officeDocument/2006/relationships/image" Target="../media/image-14-2_2.png"/><Relationship Id="rId3" Type="http://schemas.openxmlformats.org/officeDocument/2006/relationships/image" Target="../media/image-14-3_2.png"/><Relationship Id="rId4" Type="http://schemas.openxmlformats.org/officeDocument/2006/relationships/image" Target="../media/image-14-4_2.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image" Target="../media/image-15-1_3.png"/><Relationship Id="rId2" Type="http://schemas.openxmlformats.org/officeDocument/2006/relationships/slideLayout" Target="../slideLayouts/slideLayout1.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image" Target="../media/image-17-1_4.png"/><Relationship Id="rId2" Type="http://schemas.openxmlformats.org/officeDocument/2006/relationships/slideLayout" Target="../slideLayouts/slideLayout1.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image" Target="../media/image-19-1_3.png"/><Relationship Id="rId2" Type="http://schemas.openxmlformats.org/officeDocument/2006/relationships/slideLayout" Target="../slideLayouts/slideLayout1.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image" Target="../media/image-21-1_3.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image" Target="../media/image-22-1_3.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image" Target="../media/image-23-1_4.png"/><Relationship Id="rId2" Type="http://schemas.openxmlformats.org/officeDocument/2006/relationships/slideLayout" Target="../slideLayouts/slideLayout1.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image" Target="../media/image-1-1_8.png"/><Relationship Id="rId2" Type="http://schemas.openxmlformats.org/officeDocument/2006/relationships/slideLayout" Target="../slideLayouts/slideLayout1.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image" Target="../media/image-2-1_6.png"/><Relationship Id="rId2" Type="http://schemas.openxmlformats.org/officeDocument/2006/relationships/image" Target="../media/image-2-2_6.png"/><Relationship Id="rId3" Type="http://schemas.openxmlformats.org/officeDocument/2006/relationships/image" Target="../media/image-2-3_4.png"/><Relationship Id="rId4" Type="http://schemas.openxmlformats.org/officeDocument/2006/relationships/image" Target="../media/image-2-4_3.png"/><Relationship Id="rId5" Type="http://schemas.openxmlformats.org/officeDocument/2006/relationships/slideLayout" Target="../slideLayouts/slideLayout1.xml"/><Relationship Id="rId6"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image" Target="../media/image-3-1_7.png"/><Relationship Id="rId2" Type="http://schemas.openxmlformats.org/officeDocument/2006/relationships/slideLayout" Target="../slideLayouts/slideLayout1.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image" Target="../media/image-4-1_4.png"/><Relationship Id="rId2" Type="http://schemas.openxmlformats.org/officeDocument/2006/relationships/image" Target="../media/image-4-2_2.png"/><Relationship Id="rId3" Type="http://schemas.openxmlformats.org/officeDocument/2006/relationships/image" Target="../media/image-4-3_2.png"/><Relationship Id="rId4" Type="http://schemas.openxmlformats.org/officeDocument/2006/relationships/image" Target="../media/image-4-4_2.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image" Target="../media/image-6-1_6.png"/><Relationship Id="rId2" Type="http://schemas.openxmlformats.org/officeDocument/2006/relationships/slideLayout" Target="../slideLayouts/slideLayout1.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image" Target="../media/image-9-1_7.png"/><Relationship Id="rId2" Type="http://schemas.openxmlformats.org/officeDocument/2006/relationships/slideLayout" Target="../slideLayouts/slideLayout1.xml"/><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image" Target="../media/image-12-1_6.png"/><Relationship Id="rId2" Type="http://schemas.openxmlformats.org/officeDocument/2006/relationships/slideLayout" Target="../slideLayouts/slideLayout1.xml"/><Relationship Id="rId3"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image" Target="../media/image-16-1_2.png"/><Relationship Id="rId2" Type="http://schemas.openxmlformats.org/officeDocument/2006/relationships/slideLayout" Target="../slideLayouts/slideLayout1.xml"/><Relationship Id="rId3"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image" Target="../media/image-17-1_5.png"/><Relationship Id="rId2" Type="http://schemas.openxmlformats.org/officeDocument/2006/relationships/slideLayout" Target="../slideLayouts/slideLayout1.xml"/><Relationship Id="rId3"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image" Target="../media/image-19-1_4.png"/><Relationship Id="rId2" Type="http://schemas.openxmlformats.org/officeDocument/2006/relationships/slideLayout" Target="../slideLayouts/slideLayout1.xml"/><Relationship Id="rId3"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image" Target="../media/image-20-1_5.png"/><Relationship Id="rId2" Type="http://schemas.openxmlformats.org/officeDocument/2006/relationships/image" Target="../media/image-20-2_3.png"/><Relationship Id="rId3" Type="http://schemas.openxmlformats.org/officeDocument/2006/relationships/image" Target="../media/image-20-3_3.png"/><Relationship Id="rId4" Type="http://schemas.openxmlformats.org/officeDocument/2006/relationships/image" Target="../media/image-20-4_3.png"/><Relationship Id="rId5" Type="http://schemas.openxmlformats.org/officeDocument/2006/relationships/slideLayout" Target="../slideLayouts/slideLayout1.xml"/><Relationship Id="rId6"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image" Target="../media/image-21-1_4.png"/><Relationship Id="rId2" Type="http://schemas.openxmlformats.org/officeDocument/2006/relationships/slideLayout" Target="../slideLayouts/slideLayout1.xml"/><Relationship Id="rId3"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image" Target="../media/image-23-1_5.png"/><Relationship Id="rId2" Type="http://schemas.openxmlformats.org/officeDocument/2006/relationships/image" Target="../media/image-23-2_3.png"/><Relationship Id="rId3" Type="http://schemas.openxmlformats.org/officeDocument/2006/relationships/image" Target="../media/image-23-3_3.png"/><Relationship Id="rId4" Type="http://schemas.openxmlformats.org/officeDocument/2006/relationships/image" Target="../media/image-23-4_3.png"/><Relationship Id="rId5" Type="http://schemas.openxmlformats.org/officeDocument/2006/relationships/image" Target="../media/image-23-5_3.png"/><Relationship Id="rId6" Type="http://schemas.openxmlformats.org/officeDocument/2006/relationships/image" Target="../media/image-23-6_2.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1.xml"/><Relationship Id="rId10"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image" Target="../media/image-24-1_5.png"/><Relationship Id="rId2" Type="http://schemas.openxmlformats.org/officeDocument/2006/relationships/image" Target="../media/image-24-2_4.png"/><Relationship Id="rId3" Type="http://schemas.openxmlformats.org/officeDocument/2006/relationships/image" Target="../media/image-24-3_4.png"/><Relationship Id="rId4" Type="http://schemas.openxmlformats.org/officeDocument/2006/relationships/image" Target="../media/image-24-4_4.png"/><Relationship Id="rId5" Type="http://schemas.openxmlformats.org/officeDocument/2006/relationships/image" Target="../media/image-24-5_3.png"/><Relationship Id="rId6" Type="http://schemas.openxmlformats.org/officeDocument/2006/relationships/image" Target="../media/image-24-6_2.png"/><Relationship Id="rId7" Type="http://schemas.openxmlformats.org/officeDocument/2006/relationships/slideLayout" Target="../slideLayouts/slideLayout1.xml"/><Relationship Id="rId8"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image" Target="../media/image-25-1_5.png"/><Relationship Id="rId2" Type="http://schemas.openxmlformats.org/officeDocument/2006/relationships/slideLayout" Target="../slideLayouts/slideLayout1.xml"/><Relationship Id="rId3"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image" Target="../media/image-1-1_9.png"/><Relationship Id="rId2" Type="http://schemas.openxmlformats.org/officeDocument/2006/relationships/slideLayout" Target="../slideLayouts/slideLayout1.xml"/><Relationship Id="rId3"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image" Target="../media/image-3-1_8.png"/><Relationship Id="rId2" Type="http://schemas.openxmlformats.org/officeDocument/2006/relationships/slideLayout" Target="../slideLayouts/slideLayout1.xml"/><Relationship Id="rId3"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image" Target="../media/image-4-1_5.png"/><Relationship Id="rId2" Type="http://schemas.openxmlformats.org/officeDocument/2006/relationships/image" Target="../media/image-4-2_3.png"/><Relationship Id="rId3" Type="http://schemas.openxmlformats.org/officeDocument/2006/relationships/image" Target="../media/image-4-3_3.png"/><Relationship Id="rId4" Type="http://schemas.openxmlformats.org/officeDocument/2006/relationships/image" Target="../media/image-4-4_3.png"/><Relationship Id="rId5" Type="http://schemas.openxmlformats.org/officeDocument/2006/relationships/image" Target="../media/image-4-5_2.png"/><Relationship Id="rId6" Type="http://schemas.openxmlformats.org/officeDocument/2006/relationships/slideLayout" Target="../slideLayouts/slideLayout1.xml"/><Relationship Id="rId7"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image" Target="../media/image-5-1_4.png"/><Relationship Id="rId2" Type="http://schemas.openxmlformats.org/officeDocument/2006/relationships/slideLayout" Target="../slideLayouts/slideLayout1.xml"/><Relationship Id="rId3"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image" Target="../media/image-7-1_6.png"/><Relationship Id="rId2" Type="http://schemas.openxmlformats.org/officeDocument/2006/relationships/slideLayout" Target="../slideLayouts/slideLayout1.xml"/><Relationship Id="rId3"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image" Target="../media/image-9-1_8.png"/><Relationship Id="rId2" Type="http://schemas.openxmlformats.org/officeDocument/2006/relationships/slideLayout" Target="../slideLayouts/slideLayout1.xml"/><Relationship Id="rId3"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image" Target="../media/image-10-1_3.png"/><Relationship Id="rId2" Type="http://schemas.openxmlformats.org/officeDocument/2006/relationships/image" Target="../media/image-10-2_2.png"/><Relationship Id="rId3" Type="http://schemas.openxmlformats.org/officeDocument/2006/relationships/image" Target="../media/image-10-3_2.png"/><Relationship Id="rId4" Type="http://schemas.openxmlformats.org/officeDocument/2006/relationships/image" Target="../media/image-10-4_2.png"/><Relationship Id="rId5" Type="http://schemas.openxmlformats.org/officeDocument/2006/relationships/slideLayout" Target="../slideLayouts/slideLayout1.xml"/><Relationship Id="rId6"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image" Target="../media/image-11-1_5.png"/><Relationship Id="rId2" Type="http://schemas.openxmlformats.org/officeDocument/2006/relationships/image" Target="../media/image-11-2_4.png"/><Relationship Id="rId3" Type="http://schemas.openxmlformats.org/officeDocument/2006/relationships/image" Target="../media/image-11-3_4.png"/><Relationship Id="rId4" Type="http://schemas.openxmlformats.org/officeDocument/2006/relationships/image" Target="../media/image-11-4_4.png"/><Relationship Id="rId5" Type="http://schemas.openxmlformats.org/officeDocument/2006/relationships/image" Target="../media/image-11-5_3.png"/><Relationship Id="rId6" Type="http://schemas.openxmlformats.org/officeDocument/2006/relationships/image" Target="../media/image-11-6_2.png"/><Relationship Id="rId7" Type="http://schemas.openxmlformats.org/officeDocument/2006/relationships/slideLayout" Target="../slideLayouts/slideLayout1.xml"/><Relationship Id="rId8"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image" Target="../media/image-12-1_7.png"/><Relationship Id="rId2" Type="http://schemas.openxmlformats.org/officeDocument/2006/relationships/image" Target="../media/image-12-2_4.png"/><Relationship Id="rId3" Type="http://schemas.openxmlformats.org/officeDocument/2006/relationships/image" Target="../media/image-12-3_4.png"/><Relationship Id="rId4" Type="http://schemas.openxmlformats.org/officeDocument/2006/relationships/image" Target="../media/image-12-4_4.png"/><Relationship Id="rId5" Type="http://schemas.openxmlformats.org/officeDocument/2006/relationships/slideLayout" Target="../slideLayouts/slideLayout1.xml"/><Relationship Id="rId6"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image" Target="../media/image-13-1_2.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image" Target="../media/image-14-1_3.png"/><Relationship Id="rId2" Type="http://schemas.openxmlformats.org/officeDocument/2006/relationships/image" Target="../media/image-14-2_3.png"/><Relationship Id="rId3" Type="http://schemas.openxmlformats.org/officeDocument/2006/relationships/image" Target="../media/image-14-3_3.png"/><Relationship Id="rId4" Type="http://schemas.openxmlformats.org/officeDocument/2006/relationships/image" Target="../media/image-14-4_3.png"/><Relationship Id="rId5" Type="http://schemas.openxmlformats.org/officeDocument/2006/relationships/image" Target="../media/image-14-5_2.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image" Target="../media/image-15-1_4.png"/><Relationship Id="rId2" Type="http://schemas.openxmlformats.org/officeDocument/2006/relationships/slideLayout" Target="../slideLayouts/slideLayout1.xml"/><Relationship Id="rId3"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image" Target="../media/image-16-1_3.png"/><Relationship Id="rId2" Type="http://schemas.openxmlformats.org/officeDocument/2006/relationships/slideLayout" Target="../slideLayouts/slideLayout1.xml"/><Relationship Id="rId3"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image" Target="../media/image-19-1_5.png"/><Relationship Id="rId2" Type="http://schemas.openxmlformats.org/officeDocument/2006/relationships/image" Target="../media/image-19-2_2.png"/><Relationship Id="rId3" Type="http://schemas.openxmlformats.org/officeDocument/2006/relationships/image" Target="../media/image-19-3_2.png"/><Relationship Id="rId4" Type="http://schemas.openxmlformats.org/officeDocument/2006/relationships/image" Target="../media/image-19-4_2.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image" Target="../media/image-20-1_6.png"/><Relationship Id="rId2" Type="http://schemas.openxmlformats.org/officeDocument/2006/relationships/slideLayout" Target="../slideLayouts/slideLayout1.xml"/><Relationship Id="rId3"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image" Target="../media/image-22-1_4.png"/><Relationship Id="rId2" Type="http://schemas.openxmlformats.org/officeDocument/2006/relationships/image" Target="../media/image-22-2_2.png"/><Relationship Id="rId3" Type="http://schemas.openxmlformats.org/officeDocument/2006/relationships/image" Target="../media/image-22-3_2.png"/><Relationship Id="rId4" Type="http://schemas.openxmlformats.org/officeDocument/2006/relationships/image" Target="../media/image-22-4_2.png"/><Relationship Id="rId5" Type="http://schemas.openxmlformats.org/officeDocument/2006/relationships/slideLayout" Target="../slideLayouts/slideLayout1.xml"/><Relationship Id="rId6"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image" Target="../media/image-23-1_6.png"/><Relationship Id="rId2" Type="http://schemas.openxmlformats.org/officeDocument/2006/relationships/image" Target="../media/image-23-2_4.png"/><Relationship Id="rId3" Type="http://schemas.openxmlformats.org/officeDocument/2006/relationships/image" Target="../media/image-23-3_4.png"/><Relationship Id="rId4" Type="http://schemas.openxmlformats.org/officeDocument/2006/relationships/image" Target="../media/image-23-4_4.png"/><Relationship Id="rId5" Type="http://schemas.openxmlformats.org/officeDocument/2006/relationships/image" Target="../media/image-23-5_4.png"/><Relationship Id="rId6" Type="http://schemas.openxmlformats.org/officeDocument/2006/relationships/image" Target="../media/image-23-6_3.png"/><Relationship Id="rId7" Type="http://schemas.openxmlformats.org/officeDocument/2006/relationships/slideLayout" Target="../slideLayouts/slideLayout1.xml"/><Relationship Id="rId8"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image" Target="../media/image-24-1_6.png"/><Relationship Id="rId2" Type="http://schemas.openxmlformats.org/officeDocument/2006/relationships/slideLayout" Target="../slideLayouts/slideLayout1.xml"/><Relationship Id="rId3"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image" Target="../media/image-26-1_5.png"/><Relationship Id="rId2" Type="http://schemas.openxmlformats.org/officeDocument/2006/relationships/image" Target="../media/image-26-2_3.png"/><Relationship Id="rId3" Type="http://schemas.openxmlformats.org/officeDocument/2006/relationships/image" Target="../media/image-26-3_3.png"/><Relationship Id="rId4" Type="http://schemas.openxmlformats.org/officeDocument/2006/relationships/image" Target="../media/image-26-4_3.png"/><Relationship Id="rId5" Type="http://schemas.openxmlformats.org/officeDocument/2006/relationships/image" Target="../media/image-26-5_3.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image" Target="../media/image-27-1_3.png"/><Relationship Id="rId2" Type="http://schemas.openxmlformats.org/officeDocument/2006/relationships/slideLayout" Target="../slideLayouts/slideLayout1.xml"/><Relationship Id="rId3"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image" Target="../media/image-1-1_10.png"/><Relationship Id="rId2" Type="http://schemas.openxmlformats.org/officeDocument/2006/relationships/slideLayout" Target="../slideLayouts/slideLayout1.xml"/><Relationship Id="rId3"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image" Target="../media/image-2-1_7.png"/><Relationship Id="rId2" Type="http://schemas.openxmlformats.org/officeDocument/2006/relationships/slideLayout" Target="../slideLayouts/slideLayout1.xml"/><Relationship Id="rId3"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image" Target="../media/image-3-1_9.png"/><Relationship Id="rId2" Type="http://schemas.openxmlformats.org/officeDocument/2006/relationships/slideLayout" Target="../slideLayouts/slideLayout1.xml"/><Relationship Id="rId3"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image" Target="../media/image-4-1_6.png"/><Relationship Id="rId2" Type="http://schemas.openxmlformats.org/officeDocument/2006/relationships/image" Target="../media/image-4-2_4.png"/><Relationship Id="rId3" Type="http://schemas.openxmlformats.org/officeDocument/2006/relationships/image" Target="../media/image-4-3_4.png"/><Relationship Id="rId4" Type="http://schemas.openxmlformats.org/officeDocument/2006/relationships/image" Target="../media/image-4-4_4.png"/><Relationship Id="rId5" Type="http://schemas.openxmlformats.org/officeDocument/2006/relationships/slideLayout" Target="../slideLayouts/slideLayout1.xml"/><Relationship Id="rId6"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image" Target="../media/image-6-1_7.png"/><Relationship Id="rId2" Type="http://schemas.openxmlformats.org/officeDocument/2006/relationships/image" Target="../media/image-6-2_4.png"/><Relationship Id="rId3" Type="http://schemas.openxmlformats.org/officeDocument/2006/relationships/image" Target="../media/image-6-3_4.png"/><Relationship Id="rId4" Type="http://schemas.openxmlformats.org/officeDocument/2006/relationships/image" Target="../media/image-6-4_4.png"/><Relationship Id="rId5" Type="http://schemas.openxmlformats.org/officeDocument/2006/relationships/slideLayout" Target="../slideLayouts/slideLayout1.xml"/><Relationship Id="rId6"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image" Target="../media/image-7-1_7.png"/><Relationship Id="rId2" Type="http://schemas.openxmlformats.org/officeDocument/2006/relationships/slideLayout" Target="../slideLayouts/slideLayout1.xml"/><Relationship Id="rId3"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image" Target="../media/image-9-1_9.png"/><Relationship Id="rId2" Type="http://schemas.openxmlformats.org/officeDocument/2006/relationships/image" Target="../media/image-9-2_2.png"/><Relationship Id="rId3" Type="http://schemas.openxmlformats.org/officeDocument/2006/relationships/image" Target="../media/image-9-3_2.png"/><Relationship Id="rId4" Type="http://schemas.openxmlformats.org/officeDocument/2006/relationships/image" Target="../media/image-9-4_2.png"/><Relationship Id="rId5" Type="http://schemas.openxmlformats.org/officeDocument/2006/relationships/image" Target="../media/image-9-5_2.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image" Target="../media/image-10-1_4.png"/><Relationship Id="rId2" Type="http://schemas.openxmlformats.org/officeDocument/2006/relationships/image" Target="../media/image-10-2_3.png"/><Relationship Id="rId3" Type="http://schemas.openxmlformats.org/officeDocument/2006/relationships/image" Target="../media/image-10-3_3.png"/><Relationship Id="rId4" Type="http://schemas.openxmlformats.org/officeDocument/2006/relationships/slideLayout" Target="../slideLayouts/slideLayout1.xml"/><Relationship Id="rId5"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image" Target="../media/image-11-1_6.png"/><Relationship Id="rId2" Type="http://schemas.openxmlformats.org/officeDocument/2006/relationships/slideLayout" Target="../slideLayouts/slideLayout1.xml"/><Relationship Id="rId3"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image" Target="../media/image-13-1_3.png"/><Relationship Id="rId2" Type="http://schemas.openxmlformats.org/officeDocument/2006/relationships/slideLayout" Target="../slideLayouts/slideLayout1.xml"/><Relationship Id="rId3"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image" Target="../media/image-16-1_4.png"/><Relationship Id="rId2" Type="http://schemas.openxmlformats.org/officeDocument/2006/relationships/image" Target="../media/image-16-2_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image" Target="../media/image-20-1_7.png"/><Relationship Id="rId2" Type="http://schemas.openxmlformats.org/officeDocument/2006/relationships/slideLayout" Target="../slideLayouts/slideLayout1.xml"/><Relationship Id="rId3"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377440"/>
            <a:ext cx="548640" cy="73152"/>
          </a:xfrm>
          <a:prstGeom prst="rect">
            <a:avLst/>
          </a:prstGeom>
          <a:solidFill>
            <a:srgbClr val="00B8D9"/>
          </a:solidFill>
          <a:ln w="12700">
            <a:solidFill>
              <a:srgbClr val="00B8D9"/>
            </a:solidFill>
            <a:prstDash val="solid"/>
          </a:ln>
        </p:spPr>
      </p:sp>
      <p:sp>
        <p:nvSpPr>
          <p:cNvPr id="3" name="Text 1"/>
          <p:cNvSpPr/>
          <p:nvPr/>
        </p:nvSpPr>
        <p:spPr>
          <a:xfrm>
            <a:off x="640080" y="2560320"/>
            <a:ext cx="10972800" cy="1005840"/>
          </a:xfrm>
          <a:prstGeom prst="rect">
            <a:avLst/>
          </a:prstGeom>
          <a:noFill/>
          <a:ln/>
        </p:spPr>
        <p:txBody>
          <a:bodyPr wrap="square" lIns="0" tIns="0" rIns="0" bIns="0" rtlCol="0" anchor="ctr"/>
          <a:lstStyle/>
          <a:p>
            <a:pPr indent="0" marL="0">
              <a:buNone/>
            </a:pPr>
            <a:r>
              <a:rPr lang="en-US" sz="4800" b="1" dirty="0">
                <a:solidFill>
                  <a:srgbClr val="FFFFFF"/>
                </a:solidFill>
                <a:latin typeface="Trebuchet MS" pitchFamily="34" charset="0"/>
                <a:ea typeface="Trebuchet MS" pitchFamily="34" charset="-122"/>
                <a:cs typeface="Trebuchet MS" pitchFamily="34" charset="-120"/>
              </a:rPr>
              <a:t>Advanced React Development</a:t>
            </a:r>
            <a:endParaRPr lang="en-US" sz="4800" dirty="0"/>
          </a:p>
        </p:txBody>
      </p:sp>
      <p:sp>
        <p:nvSpPr>
          <p:cNvPr id="4" name="Text 2"/>
          <p:cNvSpPr/>
          <p:nvPr/>
        </p:nvSpPr>
        <p:spPr>
          <a:xfrm>
            <a:off x="640080" y="3657600"/>
            <a:ext cx="10972800" cy="548640"/>
          </a:xfrm>
          <a:prstGeom prst="rect">
            <a:avLst/>
          </a:prstGeom>
          <a:noFill/>
          <a:ln/>
        </p:spPr>
        <p:txBody>
          <a:bodyPr wrap="square" lIns="0" tIns="0" rIns="0" bIns="0" rtlCol="0" anchor="ctr"/>
          <a:lstStyle/>
          <a:p>
            <a:pPr indent="0" marL="0">
              <a:buNone/>
            </a:pPr>
            <a:r>
              <a:rPr lang="en-US" sz="2200" i="1" dirty="0">
                <a:solidFill>
                  <a:srgbClr val="CBF1F6"/>
                </a:solidFill>
                <a:latin typeface="Arial" pitchFamily="34" charset="0"/>
                <a:ea typeface="Arial" pitchFamily="34" charset="-122"/>
                <a:cs typeface="Arial" pitchFamily="34" charset="-120"/>
              </a:rPr>
              <a:t>Modern React for 2026 — and the developers who use it</a:t>
            </a:r>
            <a:endParaRPr lang="en-US" sz="2200" dirty="0"/>
          </a:p>
        </p:txBody>
      </p:sp>
      <p:sp>
        <p:nvSpPr>
          <p:cNvPr id="5" name="Text 3"/>
          <p:cNvSpPr/>
          <p:nvPr/>
        </p:nvSpPr>
        <p:spPr>
          <a:xfrm>
            <a:off x="640080" y="4663440"/>
            <a:ext cx="109728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Module 1: Welcome + The 2026 React Landscape</a:t>
            </a:r>
            <a:endParaRPr lang="en-US" sz="1600" dirty="0"/>
          </a:p>
        </p:txBody>
      </p:sp>
      <p:sp>
        <p:nvSpPr>
          <p:cNvPr id="6" name="Text 4"/>
          <p:cNvSpPr/>
          <p:nvPr/>
        </p:nvSpPr>
        <p:spPr>
          <a:xfrm>
            <a:off x="640080" y="6126480"/>
            <a:ext cx="10972800" cy="36576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Chris Minnick  ·  WatzThis  ·  v2.0  ·  May 2026</a:t>
            </a:r>
            <a:endParaRPr lang="en-US" sz="1200" dirty="0"/>
          </a:p>
        </p:txBody>
      </p:sp>
      <p:pic>
        <p:nvPicPr>
          <p:cNvPr id="7" name="Image 0" descr="preencoded.png">    </p:cNvPr>
          <p:cNvPicPr>
            <a:picLocks noChangeAspect="1"/>
          </p:cNvPicPr>
          <p:nvPr/>
        </p:nvPicPr>
        <p:blipFill>
          <a:blip r:embed="rId1">
            <a:alphaModFix amt="75000"/>
          </a:blip>
          <a:stretch>
            <a:fillRect/>
          </a:stretch>
        </p:blipFill>
        <p:spPr>
          <a:xfrm>
            <a:off x="10728655" y="466344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Welcome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Three days. Eight labs. A lot of new React.</a:t>
            </a:r>
            <a:endParaRPr lang="en-US" sz="1400" dirty="0"/>
          </a:p>
        </p:txBody>
      </p:sp>
      <p:sp>
        <p:nvSpPr>
          <p:cNvPr id="5" name="Shape 3"/>
          <p:cNvSpPr/>
          <p:nvPr/>
        </p:nvSpPr>
        <p:spPr>
          <a:xfrm>
            <a:off x="777240" y="1645920"/>
            <a:ext cx="5212080" cy="4297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457200" cy="457200"/>
          </a:xfrm>
          <a:prstGeom prst="rect">
            <a:avLst/>
          </a:prstGeom>
        </p:spPr>
      </p:pic>
      <p:sp>
        <p:nvSpPr>
          <p:cNvPr id="7" name="Text 4"/>
          <p:cNvSpPr/>
          <p:nvPr/>
        </p:nvSpPr>
        <p:spPr>
          <a:xfrm>
            <a:off x="1554480" y="1874520"/>
            <a:ext cx="4297680" cy="45720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Your instructor</a:t>
            </a:r>
            <a:endParaRPr lang="en-US" sz="1800" dirty="0"/>
          </a:p>
        </p:txBody>
      </p:sp>
      <p:sp>
        <p:nvSpPr>
          <p:cNvPr id="8" name="Text 5"/>
          <p:cNvSpPr/>
          <p:nvPr/>
        </p:nvSpPr>
        <p:spPr>
          <a:xfrm>
            <a:off x="960120" y="2560320"/>
            <a:ext cx="4937760" cy="3200400"/>
          </a:xfrm>
          <a:prstGeom prst="rect">
            <a:avLst/>
          </a:prstGeom>
          <a:noFill/>
          <a:ln/>
        </p:spPr>
        <p:txBody>
          <a:bodyPr wrap="square" lIns="0" tIns="0" rIns="0" bIns="0" rtlCol="0" anchor="t"/>
          <a:lstStyle/>
          <a:p>
            <a:pPr indent="0" marL="0">
              <a:spcAft>
                <a:spcPts val="600"/>
              </a:spcAft>
              <a:buNone/>
            </a:pPr>
            <a:r>
              <a:rPr lang="en-US" sz="1300" b="1" dirty="0">
                <a:solidFill>
                  <a:srgbClr val="475569"/>
                </a:solidFill>
                <a:latin typeface="Arial" pitchFamily="34" charset="0"/>
                <a:ea typeface="Arial" pitchFamily="34" charset="-122"/>
                <a:cs typeface="Arial" pitchFamily="34" charset="-120"/>
              </a:rPr>
              <a:t>Chris Minnick</a:t>
            </a:r>
            <a:endParaRPr lang="en-US" sz="1300" dirty="0"/>
          </a:p>
          <a:p>
            <a:pPr indent="0" marL="0">
              <a:spcAft>
                <a:spcPts val="600"/>
              </a:spcAft>
              <a:buNone/>
            </a:pPr>
            <a:r>
              <a:rPr lang="en-US" sz="1300" dirty="0">
                <a:solidFill>
                  <a:srgbClr val="475569"/>
                </a:solidFill>
                <a:latin typeface="Arial" pitchFamily="34" charset="0"/>
                <a:ea typeface="Arial" pitchFamily="34" charset="-122"/>
                <a:cs typeface="Arial" pitchFamily="34" charset="-120"/>
              </a:rPr>
              <a:t>Founder, WatzThis</a:t>
            </a:r>
            <a:endParaRPr lang="en-US" sz="1300" dirty="0"/>
          </a:p>
          <a:p>
            <a:pPr indent="0" marL="0">
              <a:spcAft>
                <a:spcPts val="600"/>
              </a:spcAft>
              <a:buNone/>
            </a:pPr>
            <a:r>
              <a:rPr lang="en-US" sz="1300" dirty="0">
                <a:solidFill>
                  <a:srgbClr val="475569"/>
                </a:solidFill>
                <a:latin typeface="Arial" pitchFamily="34" charset="0"/>
                <a:ea typeface="Arial" pitchFamily="34" charset="-122"/>
                <a:cs typeface="Arial" pitchFamily="34" charset="-120"/>
              </a:rPr>
              <a:t>25+ years building for the web</a:t>
            </a:r>
            <a:endParaRPr lang="en-US" sz="1300" dirty="0"/>
          </a:p>
          <a:p>
            <a:pPr indent="0" marL="0">
              <a:spcAft>
                <a:spcPts val="600"/>
              </a:spcAft>
              <a:buNone/>
            </a:pPr>
            <a:r>
              <a:rPr lang="en-US" sz="1300" dirty="0">
                <a:solidFill>
                  <a:srgbClr val="475569"/>
                </a:solidFill>
                <a:latin typeface="Arial" pitchFamily="34" charset="0"/>
                <a:ea typeface="Arial" pitchFamily="34" charset="-122"/>
                <a:cs typeface="Arial" pitchFamily="34" charset="-120"/>
              </a:rPr>
              <a:t>Author: JavaScript All-In-One For Dummies, Beginning ReactJS Foundations, others</a:t>
            </a:r>
            <a:endParaRPr lang="en-US" sz="1300" dirty="0"/>
          </a:p>
          <a:p>
            <a:pPr indent="0" marL="0">
              <a:spcAft>
                <a:spcPts val="600"/>
              </a:spcAft>
              <a:buNone/>
            </a:pPr>
            <a:r>
              <a:rPr lang="en-US" sz="1300" dirty="0">
                <a:solidFill>
                  <a:srgbClr val="475569"/>
                </a:solidFill>
                <a:latin typeface="Arial" pitchFamily="34" charset="0"/>
                <a:ea typeface="Arial" pitchFamily="34" charset="-122"/>
                <a:cs typeface="Arial" pitchFamily="34" charset="-120"/>
              </a:rPr>
              <a:t>Teaching React since 2015</a:t>
            </a:r>
            <a:endParaRPr lang="en-US" sz="1300" dirty="0"/>
          </a:p>
        </p:txBody>
      </p:sp>
      <p:sp>
        <p:nvSpPr>
          <p:cNvPr id="9" name="Shape 6"/>
          <p:cNvSpPr/>
          <p:nvPr/>
        </p:nvSpPr>
        <p:spPr>
          <a:xfrm>
            <a:off x="6355080" y="1645920"/>
            <a:ext cx="5212080" cy="4297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6537960" y="1874520"/>
            <a:ext cx="457200" cy="457200"/>
          </a:xfrm>
          <a:prstGeom prst="rect">
            <a:avLst/>
          </a:prstGeom>
        </p:spPr>
      </p:pic>
      <p:sp>
        <p:nvSpPr>
          <p:cNvPr id="11" name="Text 7"/>
          <p:cNvSpPr/>
          <p:nvPr/>
        </p:nvSpPr>
        <p:spPr>
          <a:xfrm>
            <a:off x="7132320" y="1874520"/>
            <a:ext cx="4297680" cy="45720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And you?</a:t>
            </a:r>
            <a:endParaRPr lang="en-US" sz="1800" dirty="0"/>
          </a:p>
        </p:txBody>
      </p:sp>
      <p:sp>
        <p:nvSpPr>
          <p:cNvPr id="12" name="Text 8"/>
          <p:cNvSpPr/>
          <p:nvPr/>
        </p:nvSpPr>
        <p:spPr>
          <a:xfrm>
            <a:off x="6537960" y="2560320"/>
            <a:ext cx="4937760" cy="3200400"/>
          </a:xfrm>
          <a:prstGeom prst="rect">
            <a:avLst/>
          </a:prstGeom>
          <a:noFill/>
          <a:ln/>
        </p:spPr>
        <p:txBody>
          <a:bodyPr wrap="square" lIns="0" tIns="0" rIns="0" bIns="0" rtlCol="0" anchor="t"/>
          <a:lstStyle/>
          <a:p>
            <a:pPr indent="0" marL="0">
              <a:spcAft>
                <a:spcPts val="400"/>
              </a:spcAft>
              <a:buNone/>
            </a:pPr>
            <a:r>
              <a:rPr lang="en-US" sz="1300" i="1" dirty="0">
                <a:solidFill>
                  <a:srgbClr val="475569"/>
                </a:solidFill>
                <a:latin typeface="Arial" pitchFamily="34" charset="0"/>
                <a:ea typeface="Arial" pitchFamily="34" charset="-122"/>
                <a:cs typeface="Arial" pitchFamily="34" charset="-120"/>
              </a:rPr>
              <a:t>Quick round of intros — 30 seconds each:</a:t>
            </a:r>
            <a:endParaRPr lang="en-US" sz="1300" dirty="0"/>
          </a:p>
          <a:p>
            <a:pPr indent="0" marL="0">
              <a:spcAft>
                <a:spcPts val="400"/>
              </a:spcAft>
              <a:buNone/>
            </a:pPr>
            <a:r>
              <a:rPr lang="en-US" sz="1300" dirty="0">
                <a:solidFill>
                  <a:srgbClr val="475569"/>
                </a:solidFill>
                <a:latin typeface="Arial" pitchFamily="34" charset="0"/>
                <a:ea typeface="Arial" pitchFamily="34" charset="-122"/>
                <a:cs typeface="Arial" pitchFamily="34" charset="-120"/>
              </a:rPr>
              <a:t> </a:t>
            </a:r>
            <a:endParaRPr lang="en-US" sz="1300" dirty="0"/>
          </a:p>
          <a:p>
            <a:pPr marL="342900" indent="-342900">
              <a:spcAft>
                <a:spcPts val="400"/>
              </a:spcAft>
              <a:buSzPct val="100000"/>
              <a:buChar char="•"/>
            </a:pPr>
            <a:r>
              <a:rPr lang="en-US" sz="1300" dirty="0">
                <a:solidFill>
                  <a:srgbClr val="475569"/>
                </a:solidFill>
                <a:latin typeface="Arial" pitchFamily="34" charset="0"/>
                <a:ea typeface="Arial" pitchFamily="34" charset="-122"/>
                <a:cs typeface="Arial" pitchFamily="34" charset="-120"/>
              </a:rPr>
              <a:t>Your name and role</a:t>
            </a:r>
            <a:endParaRPr lang="en-US" sz="1300" dirty="0"/>
          </a:p>
          <a:p>
            <a:pPr marL="342900" indent="-342900">
              <a:spcAft>
                <a:spcPts val="400"/>
              </a:spcAft>
              <a:buSzPct val="100000"/>
              <a:buChar char="•"/>
            </a:pPr>
            <a:r>
              <a:rPr lang="en-US" sz="1300" dirty="0">
                <a:solidFill>
                  <a:srgbClr val="475569"/>
                </a:solidFill>
                <a:latin typeface="Arial" pitchFamily="34" charset="0"/>
                <a:ea typeface="Arial" pitchFamily="34" charset="-122"/>
                <a:cs typeface="Arial" pitchFamily="34" charset="-120"/>
              </a:rPr>
              <a:t>How long you've worked with React</a:t>
            </a:r>
            <a:endParaRPr lang="en-US" sz="1300" dirty="0"/>
          </a:p>
          <a:p>
            <a:pPr marL="342900" indent="-342900">
              <a:spcAft>
                <a:spcPts val="400"/>
              </a:spcAft>
              <a:buSzPct val="100000"/>
              <a:buChar char="•"/>
            </a:pPr>
            <a:r>
              <a:rPr lang="en-US" sz="1300" dirty="0">
                <a:solidFill>
                  <a:srgbClr val="475569"/>
                </a:solidFill>
                <a:latin typeface="Arial" pitchFamily="34" charset="0"/>
                <a:ea typeface="Arial" pitchFamily="34" charset="-122"/>
                <a:cs typeface="Arial" pitchFamily="34" charset="-120"/>
              </a:rPr>
              <a:t>What you're building right now</a:t>
            </a:r>
            <a:endParaRPr lang="en-US" sz="1300" dirty="0"/>
          </a:p>
          <a:p>
            <a:pPr marL="342900" indent="-342900">
              <a:spcAft>
                <a:spcPts val="400"/>
              </a:spcAft>
              <a:buSzPct val="100000"/>
              <a:buChar char="•"/>
            </a:pPr>
            <a:r>
              <a:rPr lang="en-US" sz="1300" dirty="0">
                <a:solidFill>
                  <a:srgbClr val="475569"/>
                </a:solidFill>
                <a:latin typeface="Arial" pitchFamily="34" charset="0"/>
                <a:ea typeface="Arial" pitchFamily="34" charset="-122"/>
                <a:cs typeface="Arial" pitchFamily="34" charset="-120"/>
              </a:rPr>
              <a:t>One thing you want to leave this class knowing</a:t>
            </a:r>
            <a:endParaRPr lang="en-US" sz="1300" dirty="0"/>
          </a:p>
        </p:txBody>
      </p:sp>
      <p:sp>
        <p:nvSpPr>
          <p:cNvPr id="13"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4"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 / 30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Why this course was rewritten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The 2024 version is barely two years old, but React has moved a lot.</a:t>
            </a:r>
            <a:endParaRPr lang="en-US" sz="1400" dirty="0"/>
          </a:p>
        </p:txBody>
      </p:sp>
      <p:sp>
        <p:nvSpPr>
          <p:cNvPr id="5" name="Shape 3"/>
          <p:cNvSpPr/>
          <p:nvPr/>
        </p:nvSpPr>
        <p:spPr>
          <a:xfrm>
            <a:off x="777240" y="1554480"/>
            <a:ext cx="10607040" cy="914400"/>
          </a:xfrm>
          <a:prstGeom prst="rect">
            <a:avLst/>
          </a:prstGeom>
          <a:solidFill>
            <a:srgbClr val="FFFFFF"/>
          </a:solidFill>
          <a:ln w="12700">
            <a:solidFill>
              <a:srgbClr val="E2E8F0"/>
            </a:solidFill>
            <a:prstDash val="solid"/>
          </a:ln>
        </p:spPr>
      </p:sp>
      <p:sp>
        <p:nvSpPr>
          <p:cNvPr id="6" name="Shape 4"/>
          <p:cNvSpPr/>
          <p:nvPr/>
        </p:nvSpPr>
        <p:spPr>
          <a:xfrm>
            <a:off x="777240" y="1554480"/>
            <a:ext cx="109728" cy="914400"/>
          </a:xfrm>
          <a:prstGeom prst="rect">
            <a:avLst/>
          </a:prstGeom>
          <a:solidFill>
            <a:srgbClr val="00B8D9"/>
          </a:solidFill>
          <a:ln w="12700">
            <a:solidFill>
              <a:srgbClr val="00B8D9"/>
            </a:solidFill>
            <a:prstDash val="solid"/>
          </a:ln>
        </p:spPr>
      </p:sp>
      <p:sp>
        <p:nvSpPr>
          <p:cNvPr id="7" name="Text 5"/>
          <p:cNvSpPr/>
          <p:nvPr/>
        </p:nvSpPr>
        <p:spPr>
          <a:xfrm>
            <a:off x="1051560" y="1664208"/>
            <a:ext cx="10241280" cy="36576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React 19 shipped</a:t>
            </a:r>
            <a:endParaRPr lang="en-US" sz="1600" dirty="0"/>
          </a:p>
        </p:txBody>
      </p:sp>
      <p:sp>
        <p:nvSpPr>
          <p:cNvPr id="8" name="Text 6"/>
          <p:cNvSpPr/>
          <p:nvPr/>
        </p:nvSpPr>
        <p:spPr>
          <a:xfrm>
            <a:off x="1051560" y="2011680"/>
            <a:ext cx="10241280" cy="4114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Server Components production-ready, the Actions story, and a half-dozen new hooks worth knowing.</a:t>
            </a:r>
            <a:endParaRPr lang="en-US" sz="1250" dirty="0"/>
          </a:p>
        </p:txBody>
      </p:sp>
      <p:sp>
        <p:nvSpPr>
          <p:cNvPr id="9" name="Shape 7"/>
          <p:cNvSpPr/>
          <p:nvPr/>
        </p:nvSpPr>
        <p:spPr>
          <a:xfrm>
            <a:off x="777240" y="2651760"/>
            <a:ext cx="10607040" cy="914400"/>
          </a:xfrm>
          <a:prstGeom prst="rect">
            <a:avLst/>
          </a:prstGeom>
          <a:solidFill>
            <a:srgbClr val="FFFFFF"/>
          </a:solidFill>
          <a:ln w="12700">
            <a:solidFill>
              <a:srgbClr val="E2E8F0"/>
            </a:solidFill>
            <a:prstDash val="solid"/>
          </a:ln>
        </p:spPr>
      </p:sp>
      <p:sp>
        <p:nvSpPr>
          <p:cNvPr id="10" name="Shape 8"/>
          <p:cNvSpPr/>
          <p:nvPr/>
        </p:nvSpPr>
        <p:spPr>
          <a:xfrm>
            <a:off x="777240" y="2651760"/>
            <a:ext cx="109728" cy="914400"/>
          </a:xfrm>
          <a:prstGeom prst="rect">
            <a:avLst/>
          </a:prstGeom>
          <a:solidFill>
            <a:srgbClr val="00B8D9"/>
          </a:solidFill>
          <a:ln w="12700">
            <a:solidFill>
              <a:srgbClr val="00B8D9"/>
            </a:solidFill>
            <a:prstDash val="solid"/>
          </a:ln>
        </p:spPr>
      </p:sp>
      <p:sp>
        <p:nvSpPr>
          <p:cNvPr id="11" name="Text 9"/>
          <p:cNvSpPr/>
          <p:nvPr/>
        </p:nvSpPr>
        <p:spPr>
          <a:xfrm>
            <a:off x="1051560" y="2761488"/>
            <a:ext cx="10241280" cy="36576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The React Compiler is real</a:t>
            </a:r>
            <a:endParaRPr lang="en-US" sz="1600" dirty="0"/>
          </a:p>
        </p:txBody>
      </p:sp>
      <p:sp>
        <p:nvSpPr>
          <p:cNvPr id="12" name="Text 10"/>
          <p:cNvSpPr/>
          <p:nvPr/>
        </p:nvSpPr>
        <p:spPr>
          <a:xfrm>
            <a:off x="1051560" y="3108960"/>
            <a:ext cx="10241280" cy="4114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Most of the manual useMemo / useCallback / React.memo gymnastics from 2024 is now optional.</a:t>
            </a:r>
            <a:endParaRPr lang="en-US" sz="1250" dirty="0"/>
          </a:p>
        </p:txBody>
      </p:sp>
      <p:sp>
        <p:nvSpPr>
          <p:cNvPr id="13" name="Shape 11"/>
          <p:cNvSpPr/>
          <p:nvPr/>
        </p:nvSpPr>
        <p:spPr>
          <a:xfrm>
            <a:off x="777240" y="3749040"/>
            <a:ext cx="10607040" cy="914400"/>
          </a:xfrm>
          <a:prstGeom prst="rect">
            <a:avLst/>
          </a:prstGeom>
          <a:solidFill>
            <a:srgbClr val="FFFFFF"/>
          </a:solidFill>
          <a:ln w="12700">
            <a:solidFill>
              <a:srgbClr val="E2E8F0"/>
            </a:solidFill>
            <a:prstDash val="solid"/>
          </a:ln>
        </p:spPr>
      </p:sp>
      <p:sp>
        <p:nvSpPr>
          <p:cNvPr id="14" name="Shape 12"/>
          <p:cNvSpPr/>
          <p:nvPr/>
        </p:nvSpPr>
        <p:spPr>
          <a:xfrm>
            <a:off x="777240" y="3749040"/>
            <a:ext cx="109728" cy="914400"/>
          </a:xfrm>
          <a:prstGeom prst="rect">
            <a:avLst/>
          </a:prstGeom>
          <a:solidFill>
            <a:srgbClr val="00B8D9"/>
          </a:solidFill>
          <a:ln w="12700">
            <a:solidFill>
              <a:srgbClr val="00B8D9"/>
            </a:solidFill>
            <a:prstDash val="solid"/>
          </a:ln>
        </p:spPr>
      </p:sp>
      <p:sp>
        <p:nvSpPr>
          <p:cNvPr id="15" name="Text 13"/>
          <p:cNvSpPr/>
          <p:nvPr/>
        </p:nvSpPr>
        <p:spPr>
          <a:xfrm>
            <a:off x="1051560" y="3858768"/>
            <a:ext cx="10241280" cy="36576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Create React App is gone</a:t>
            </a:r>
            <a:endParaRPr lang="en-US" sz="1600" dirty="0"/>
          </a:p>
        </p:txBody>
      </p:sp>
      <p:sp>
        <p:nvSpPr>
          <p:cNvPr id="16" name="Text 14"/>
          <p:cNvSpPr/>
          <p:nvPr/>
        </p:nvSpPr>
        <p:spPr>
          <a:xfrm>
            <a:off x="1051560" y="4206240"/>
            <a:ext cx="10241280" cy="4114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Officially deprecated in 2025. Vite is the default; frameworks own the rest.</a:t>
            </a:r>
            <a:endParaRPr lang="en-US" sz="1250" dirty="0"/>
          </a:p>
        </p:txBody>
      </p:sp>
      <p:sp>
        <p:nvSpPr>
          <p:cNvPr id="17" name="Shape 15"/>
          <p:cNvSpPr/>
          <p:nvPr/>
        </p:nvSpPr>
        <p:spPr>
          <a:xfrm>
            <a:off x="777240" y="4846320"/>
            <a:ext cx="10607040" cy="914400"/>
          </a:xfrm>
          <a:prstGeom prst="rect">
            <a:avLst/>
          </a:prstGeom>
          <a:solidFill>
            <a:srgbClr val="FFFFFF"/>
          </a:solidFill>
          <a:ln w="12700">
            <a:solidFill>
              <a:srgbClr val="E2E8F0"/>
            </a:solidFill>
            <a:prstDash val="solid"/>
          </a:ln>
        </p:spPr>
      </p:sp>
      <p:sp>
        <p:nvSpPr>
          <p:cNvPr id="18" name="Shape 16"/>
          <p:cNvSpPr/>
          <p:nvPr/>
        </p:nvSpPr>
        <p:spPr>
          <a:xfrm>
            <a:off x="777240" y="4846320"/>
            <a:ext cx="109728" cy="914400"/>
          </a:xfrm>
          <a:prstGeom prst="rect">
            <a:avLst/>
          </a:prstGeom>
          <a:solidFill>
            <a:srgbClr val="00B8D9"/>
          </a:solidFill>
          <a:ln w="12700">
            <a:solidFill>
              <a:srgbClr val="00B8D9"/>
            </a:solidFill>
            <a:prstDash val="solid"/>
          </a:ln>
        </p:spPr>
      </p:sp>
      <p:sp>
        <p:nvSpPr>
          <p:cNvPr id="19" name="Text 17"/>
          <p:cNvSpPr/>
          <p:nvPr/>
        </p:nvSpPr>
        <p:spPr>
          <a:xfrm>
            <a:off x="1051560" y="4956048"/>
            <a:ext cx="10241280" cy="36576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AI assistants are in every editor</a:t>
            </a:r>
            <a:endParaRPr lang="en-US" sz="1600" dirty="0"/>
          </a:p>
        </p:txBody>
      </p:sp>
      <p:sp>
        <p:nvSpPr>
          <p:cNvPr id="20" name="Text 18"/>
          <p:cNvSpPr/>
          <p:nvPr/>
        </p:nvSpPr>
        <p:spPr>
          <a:xfrm>
            <a:off x="1051560" y="5303520"/>
            <a:ext cx="10241280" cy="4114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The 2024 course didn't mention them. The 2026 course is built around the skills you need to use them well.</a:t>
            </a:r>
            <a:endParaRPr lang="en-US" sz="1250" dirty="0"/>
          </a:p>
        </p:txBody>
      </p:sp>
      <p:sp>
        <p:nvSpPr>
          <p:cNvPr id="21" name="Text 1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2" name="Text 2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3 / 30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 you'll be able to do by Friday</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Ten course-level outcomes. The labs are how you get there.</a:t>
            </a:r>
            <a:endParaRPr lang="en-US" sz="1400" dirty="0"/>
          </a:p>
        </p:txBody>
      </p:sp>
      <p:sp>
        <p:nvSpPr>
          <p:cNvPr id="5" name="Shape 3"/>
          <p:cNvSpPr/>
          <p:nvPr/>
        </p:nvSpPr>
        <p:spPr>
          <a:xfrm>
            <a:off x="777240" y="1554480"/>
            <a:ext cx="411480" cy="411480"/>
          </a:xfrm>
          <a:prstGeom prst="ellipse">
            <a:avLst/>
          </a:prstGeom>
          <a:solidFill>
            <a:srgbClr val="00B8D9"/>
          </a:solidFill>
          <a:ln w="12700">
            <a:solidFill>
              <a:srgbClr val="00B8D9"/>
            </a:solidFill>
            <a:prstDash val="solid"/>
          </a:ln>
        </p:spPr>
      </p:sp>
      <p:sp>
        <p:nvSpPr>
          <p:cNvPr id="6" name="Text 4"/>
          <p:cNvSpPr/>
          <p:nvPr/>
        </p:nvSpPr>
        <p:spPr>
          <a:xfrm>
            <a:off x="777240" y="15544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7" name="Text 5"/>
          <p:cNvSpPr/>
          <p:nvPr/>
        </p:nvSpPr>
        <p:spPr>
          <a:xfrm>
            <a:off x="1325880" y="160020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Recognize what's new in React 19 and explain when each piece matters</a:t>
            </a:r>
            <a:endParaRPr lang="en-US" sz="1250" dirty="0"/>
          </a:p>
        </p:txBody>
      </p:sp>
      <p:sp>
        <p:nvSpPr>
          <p:cNvPr id="8" name="Shape 6"/>
          <p:cNvSpPr/>
          <p:nvPr/>
        </p:nvSpPr>
        <p:spPr>
          <a:xfrm>
            <a:off x="777240" y="2331720"/>
            <a:ext cx="411480" cy="411480"/>
          </a:xfrm>
          <a:prstGeom prst="ellipse">
            <a:avLst/>
          </a:prstGeom>
          <a:solidFill>
            <a:srgbClr val="00B8D9"/>
          </a:solidFill>
          <a:ln w="12700">
            <a:solidFill>
              <a:srgbClr val="00B8D9"/>
            </a:solidFill>
            <a:prstDash val="solid"/>
          </a:ln>
        </p:spPr>
      </p:sp>
      <p:sp>
        <p:nvSpPr>
          <p:cNvPr id="9" name="Text 7"/>
          <p:cNvSpPr/>
          <p:nvPr/>
        </p:nvSpPr>
        <p:spPr>
          <a:xfrm>
            <a:off x="777240" y="23317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0" name="Text 8"/>
          <p:cNvSpPr/>
          <p:nvPr/>
        </p:nvSpPr>
        <p:spPr>
          <a:xfrm>
            <a:off x="1325880" y="237744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Choose between Vite, Next.js 15, React Router v7, and the rest based on project needs</a:t>
            </a:r>
            <a:endParaRPr lang="en-US" sz="1250" dirty="0"/>
          </a:p>
        </p:txBody>
      </p:sp>
      <p:sp>
        <p:nvSpPr>
          <p:cNvPr id="11" name="Shape 9"/>
          <p:cNvSpPr/>
          <p:nvPr/>
        </p:nvSpPr>
        <p:spPr>
          <a:xfrm>
            <a:off x="777240" y="3108960"/>
            <a:ext cx="411480" cy="411480"/>
          </a:xfrm>
          <a:prstGeom prst="ellipse">
            <a:avLst/>
          </a:prstGeom>
          <a:solidFill>
            <a:srgbClr val="00B8D9"/>
          </a:solidFill>
          <a:ln w="12700">
            <a:solidFill>
              <a:srgbClr val="00B8D9"/>
            </a:solidFill>
            <a:prstDash val="solid"/>
          </a:ln>
        </p:spPr>
      </p:sp>
      <p:sp>
        <p:nvSpPr>
          <p:cNvPr id="12" name="Text 10"/>
          <p:cNvSpPr/>
          <p:nvPr/>
        </p:nvSpPr>
        <p:spPr>
          <a:xfrm>
            <a:off x="777240" y="3108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13" name="Text 11"/>
          <p:cNvSpPr/>
          <p:nvPr/>
        </p:nvSpPr>
        <p:spPr>
          <a:xfrm>
            <a:off x="1325880" y="315468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Apply the right hook for the job — and spot the hook mistakes AI tools make</a:t>
            </a:r>
            <a:endParaRPr lang="en-US" sz="1250" dirty="0"/>
          </a:p>
        </p:txBody>
      </p:sp>
      <p:sp>
        <p:nvSpPr>
          <p:cNvPr id="14" name="Shape 12"/>
          <p:cNvSpPr/>
          <p:nvPr/>
        </p:nvSpPr>
        <p:spPr>
          <a:xfrm>
            <a:off x="777240" y="3886200"/>
            <a:ext cx="411480" cy="411480"/>
          </a:xfrm>
          <a:prstGeom prst="ellipse">
            <a:avLst/>
          </a:prstGeom>
          <a:solidFill>
            <a:srgbClr val="00B8D9"/>
          </a:solidFill>
          <a:ln w="12700">
            <a:solidFill>
              <a:srgbClr val="00B8D9"/>
            </a:solidFill>
            <a:prstDash val="solid"/>
          </a:ln>
        </p:spPr>
      </p:sp>
      <p:sp>
        <p:nvSpPr>
          <p:cNvPr id="15" name="Text 13"/>
          <p:cNvSpPr/>
          <p:nvPr/>
        </p:nvSpPr>
        <p:spPr>
          <a:xfrm>
            <a:off x="777240" y="38862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16" name="Text 14"/>
          <p:cNvSpPr/>
          <p:nvPr/>
        </p:nvSpPr>
        <p:spPr>
          <a:xfrm>
            <a:off x="1325880" y="393192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Implement modern routing in both React Router v7 and Next.js App Router</a:t>
            </a:r>
            <a:endParaRPr lang="en-US" sz="1250" dirty="0"/>
          </a:p>
        </p:txBody>
      </p:sp>
      <p:sp>
        <p:nvSpPr>
          <p:cNvPr id="17" name="Shape 15"/>
          <p:cNvSpPr/>
          <p:nvPr/>
        </p:nvSpPr>
        <p:spPr>
          <a:xfrm>
            <a:off x="777240" y="4663440"/>
            <a:ext cx="411480" cy="411480"/>
          </a:xfrm>
          <a:prstGeom prst="ellipse">
            <a:avLst/>
          </a:prstGeom>
          <a:solidFill>
            <a:srgbClr val="00B8D9"/>
          </a:solidFill>
          <a:ln w="12700">
            <a:solidFill>
              <a:srgbClr val="00B8D9"/>
            </a:solidFill>
            <a:prstDash val="solid"/>
          </a:ln>
        </p:spPr>
      </p:sp>
      <p:sp>
        <p:nvSpPr>
          <p:cNvPr id="18" name="Text 16"/>
          <p:cNvSpPr/>
          <p:nvPr/>
        </p:nvSpPr>
        <p:spPr>
          <a:xfrm>
            <a:off x="777240" y="4663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5</a:t>
            </a:r>
            <a:endParaRPr lang="en-US" sz="1400" dirty="0"/>
          </a:p>
        </p:txBody>
      </p:sp>
      <p:sp>
        <p:nvSpPr>
          <p:cNvPr id="19" name="Text 17"/>
          <p:cNvSpPr/>
          <p:nvPr/>
        </p:nvSpPr>
        <p:spPr>
          <a:xfrm>
            <a:off x="1325880" y="470916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Pick the right state-management approach for each kind of state</a:t>
            </a:r>
            <a:endParaRPr lang="en-US" sz="1250" dirty="0"/>
          </a:p>
        </p:txBody>
      </p:sp>
      <p:sp>
        <p:nvSpPr>
          <p:cNvPr id="20" name="Shape 18"/>
          <p:cNvSpPr/>
          <p:nvPr/>
        </p:nvSpPr>
        <p:spPr>
          <a:xfrm>
            <a:off x="6400800" y="1554480"/>
            <a:ext cx="411480" cy="411480"/>
          </a:xfrm>
          <a:prstGeom prst="ellipse">
            <a:avLst/>
          </a:prstGeom>
          <a:solidFill>
            <a:srgbClr val="00B8D9"/>
          </a:solidFill>
          <a:ln w="12700">
            <a:solidFill>
              <a:srgbClr val="00B8D9"/>
            </a:solidFill>
            <a:prstDash val="solid"/>
          </a:ln>
        </p:spPr>
      </p:sp>
      <p:sp>
        <p:nvSpPr>
          <p:cNvPr id="21" name="Text 19"/>
          <p:cNvSpPr/>
          <p:nvPr/>
        </p:nvSpPr>
        <p:spPr>
          <a:xfrm>
            <a:off x="6400800" y="15544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6</a:t>
            </a:r>
            <a:endParaRPr lang="en-US" sz="1400" dirty="0"/>
          </a:p>
        </p:txBody>
      </p:sp>
      <p:sp>
        <p:nvSpPr>
          <p:cNvPr id="22" name="Text 20"/>
          <p:cNvSpPr/>
          <p:nvPr/>
        </p:nvSpPr>
        <p:spPr>
          <a:xfrm>
            <a:off x="6949440" y="160020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Build with TanStack Query for client data and Server Components for server-driven UI</a:t>
            </a:r>
            <a:endParaRPr lang="en-US" sz="1250" dirty="0"/>
          </a:p>
        </p:txBody>
      </p:sp>
      <p:sp>
        <p:nvSpPr>
          <p:cNvPr id="23" name="Shape 21"/>
          <p:cNvSpPr/>
          <p:nvPr/>
        </p:nvSpPr>
        <p:spPr>
          <a:xfrm>
            <a:off x="6400800" y="2331720"/>
            <a:ext cx="411480" cy="411480"/>
          </a:xfrm>
          <a:prstGeom prst="ellipse">
            <a:avLst/>
          </a:prstGeom>
          <a:solidFill>
            <a:srgbClr val="00B8D9"/>
          </a:solidFill>
          <a:ln w="12700">
            <a:solidFill>
              <a:srgbClr val="00B8D9"/>
            </a:solidFill>
            <a:prstDash val="solid"/>
          </a:ln>
        </p:spPr>
      </p:sp>
      <p:sp>
        <p:nvSpPr>
          <p:cNvPr id="24" name="Text 22"/>
          <p:cNvSpPr/>
          <p:nvPr/>
        </p:nvSpPr>
        <p:spPr>
          <a:xfrm>
            <a:off x="6400800" y="23317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7</a:t>
            </a:r>
            <a:endParaRPr lang="en-US" sz="1400" dirty="0"/>
          </a:p>
        </p:txBody>
      </p:sp>
      <p:sp>
        <p:nvSpPr>
          <p:cNvPr id="25" name="Text 23"/>
          <p:cNvSpPr/>
          <p:nvPr/>
        </p:nvSpPr>
        <p:spPr>
          <a:xfrm>
            <a:off x="6949440" y="237744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Profile and optimize a React app in the React Compiler era</a:t>
            </a:r>
            <a:endParaRPr lang="en-US" sz="1250" dirty="0"/>
          </a:p>
        </p:txBody>
      </p:sp>
      <p:sp>
        <p:nvSpPr>
          <p:cNvPr id="26" name="Shape 24"/>
          <p:cNvSpPr/>
          <p:nvPr/>
        </p:nvSpPr>
        <p:spPr>
          <a:xfrm>
            <a:off x="6400800" y="3108960"/>
            <a:ext cx="411480" cy="411480"/>
          </a:xfrm>
          <a:prstGeom prst="ellipse">
            <a:avLst/>
          </a:prstGeom>
          <a:solidFill>
            <a:srgbClr val="00B8D9"/>
          </a:solidFill>
          <a:ln w="12700">
            <a:solidFill>
              <a:srgbClr val="00B8D9"/>
            </a:solidFill>
            <a:prstDash val="solid"/>
          </a:ln>
        </p:spPr>
      </p:sp>
      <p:sp>
        <p:nvSpPr>
          <p:cNvPr id="27" name="Text 25"/>
          <p:cNvSpPr/>
          <p:nvPr/>
        </p:nvSpPr>
        <p:spPr>
          <a:xfrm>
            <a:off x="6400800" y="3108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8</a:t>
            </a:r>
            <a:endParaRPr lang="en-US" sz="1400" dirty="0"/>
          </a:p>
        </p:txBody>
      </p:sp>
      <p:sp>
        <p:nvSpPr>
          <p:cNvPr id="28" name="Text 26"/>
          <p:cNvSpPr/>
          <p:nvPr/>
        </p:nvSpPr>
        <p:spPr>
          <a:xfrm>
            <a:off x="6949440" y="315468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Write meaningful tests with Vitest, React Testing Library, MSW, and Playwright</a:t>
            </a:r>
            <a:endParaRPr lang="en-US" sz="1250" dirty="0"/>
          </a:p>
        </p:txBody>
      </p:sp>
      <p:sp>
        <p:nvSpPr>
          <p:cNvPr id="29" name="Shape 27"/>
          <p:cNvSpPr/>
          <p:nvPr/>
        </p:nvSpPr>
        <p:spPr>
          <a:xfrm>
            <a:off x="6400800" y="3886200"/>
            <a:ext cx="411480" cy="411480"/>
          </a:xfrm>
          <a:prstGeom prst="ellipse">
            <a:avLst/>
          </a:prstGeom>
          <a:solidFill>
            <a:srgbClr val="00B8D9"/>
          </a:solidFill>
          <a:ln w="12700">
            <a:solidFill>
              <a:srgbClr val="00B8D9"/>
            </a:solidFill>
            <a:prstDash val="solid"/>
          </a:ln>
        </p:spPr>
      </p:sp>
      <p:sp>
        <p:nvSpPr>
          <p:cNvPr id="30" name="Text 28"/>
          <p:cNvSpPr/>
          <p:nvPr/>
        </p:nvSpPr>
        <p:spPr>
          <a:xfrm>
            <a:off x="6400800" y="38862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9</a:t>
            </a:r>
            <a:endParaRPr lang="en-US" sz="1400" dirty="0"/>
          </a:p>
        </p:txBody>
      </p:sp>
      <p:sp>
        <p:nvSpPr>
          <p:cNvPr id="31" name="Text 29"/>
          <p:cNvSpPr/>
          <p:nvPr/>
        </p:nvSpPr>
        <p:spPr>
          <a:xfrm>
            <a:off x="6949440" y="393192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Work productively with AI assistants while spotting their typical React mistakes</a:t>
            </a:r>
            <a:endParaRPr lang="en-US" sz="1250" dirty="0"/>
          </a:p>
        </p:txBody>
      </p:sp>
      <p:sp>
        <p:nvSpPr>
          <p:cNvPr id="32" name="Shape 30"/>
          <p:cNvSpPr/>
          <p:nvPr/>
        </p:nvSpPr>
        <p:spPr>
          <a:xfrm>
            <a:off x="6400800" y="4663440"/>
            <a:ext cx="411480" cy="411480"/>
          </a:xfrm>
          <a:prstGeom prst="ellipse">
            <a:avLst/>
          </a:prstGeom>
          <a:solidFill>
            <a:srgbClr val="00B8D9"/>
          </a:solidFill>
          <a:ln w="12700">
            <a:solidFill>
              <a:srgbClr val="00B8D9"/>
            </a:solidFill>
            <a:prstDash val="solid"/>
          </a:ln>
        </p:spPr>
      </p:sp>
      <p:sp>
        <p:nvSpPr>
          <p:cNvPr id="33" name="Text 31"/>
          <p:cNvSpPr/>
          <p:nvPr/>
        </p:nvSpPr>
        <p:spPr>
          <a:xfrm>
            <a:off x="6400800" y="4663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10</a:t>
            </a:r>
            <a:endParaRPr lang="en-US" sz="1400" dirty="0"/>
          </a:p>
        </p:txBody>
      </p:sp>
      <p:sp>
        <p:nvSpPr>
          <p:cNvPr id="34" name="Text 32"/>
          <p:cNvSpPr/>
          <p:nvPr/>
        </p:nvSpPr>
        <p:spPr>
          <a:xfrm>
            <a:off x="6949440" y="470916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Apply React-specific security and accessibility practices</a:t>
            </a:r>
            <a:endParaRPr lang="en-US" sz="1250" dirty="0"/>
          </a:p>
        </p:txBody>
      </p:sp>
      <p:sp>
        <p:nvSpPr>
          <p:cNvPr id="35" name="Text 33"/>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36" name="Text 34"/>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4 / 30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Daily schedule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~7 hours of instruction per day. Lunch is one hour. Two breaks each day.</a:t>
            </a:r>
            <a:endParaRPr lang="en-US" sz="1400" dirty="0"/>
          </a:p>
        </p:txBody>
      </p:sp>
      <p:sp>
        <p:nvSpPr>
          <p:cNvPr id="5" name="Shape 3"/>
          <p:cNvSpPr/>
          <p:nvPr/>
        </p:nvSpPr>
        <p:spPr>
          <a:xfrm>
            <a:off x="777240" y="1554480"/>
            <a:ext cx="3611880" cy="4389120"/>
          </a:xfrm>
          <a:prstGeom prst="rect">
            <a:avLst/>
          </a:prstGeom>
          <a:solidFill>
            <a:srgbClr val="FFFFFF"/>
          </a:solidFill>
          <a:ln w="12700">
            <a:solidFill>
              <a:srgbClr val="E2E8F0"/>
            </a:solidFill>
            <a:prstDash val="solid"/>
          </a:ln>
        </p:spPr>
      </p:sp>
      <p:sp>
        <p:nvSpPr>
          <p:cNvPr id="6" name="Shape 4"/>
          <p:cNvSpPr/>
          <p:nvPr/>
        </p:nvSpPr>
        <p:spPr>
          <a:xfrm>
            <a:off x="777240" y="1554480"/>
            <a:ext cx="3611880" cy="457200"/>
          </a:xfrm>
          <a:prstGeom prst="rect">
            <a:avLst/>
          </a:prstGeom>
          <a:solidFill>
            <a:srgbClr val="1E2A47"/>
          </a:solidFill>
          <a:ln w="12700">
            <a:solidFill>
              <a:srgbClr val="1E2A47"/>
            </a:solidFill>
            <a:prstDash val="solid"/>
          </a:ln>
        </p:spPr>
      </p:sp>
      <p:sp>
        <p:nvSpPr>
          <p:cNvPr id="7" name="Text 5"/>
          <p:cNvSpPr/>
          <p:nvPr/>
        </p:nvSpPr>
        <p:spPr>
          <a:xfrm>
            <a:off x="960120" y="1627632"/>
            <a:ext cx="3383280" cy="329184"/>
          </a:xfrm>
          <a:prstGeom prst="rect">
            <a:avLst/>
          </a:prstGeom>
          <a:noFill/>
          <a:ln/>
        </p:spPr>
        <p:txBody>
          <a:bodyPr wrap="square" lIns="0" tIns="0" rIns="0" bIns="0" rtlCol="0" anchor="ctr"/>
          <a:lstStyle/>
          <a:p>
            <a:pPr indent="0" marL="0">
              <a:buNone/>
            </a:pPr>
            <a:r>
              <a:rPr lang="en-US" sz="1400" b="1" dirty="0">
                <a:solidFill>
                  <a:srgbClr val="00B8D9"/>
                </a:solidFill>
                <a:latin typeface="Trebuchet MS" pitchFamily="34" charset="0"/>
                <a:ea typeface="Trebuchet MS" pitchFamily="34" charset="-122"/>
                <a:cs typeface="Trebuchet MS" pitchFamily="34" charset="-120"/>
              </a:rPr>
              <a:t>Day 1</a:t>
            </a:r>
            <a:endParaRPr lang="en-US" sz="1400" dirty="0"/>
          </a:p>
        </p:txBody>
      </p:sp>
      <p:sp>
        <p:nvSpPr>
          <p:cNvPr id="8" name="Text 6"/>
          <p:cNvSpPr/>
          <p:nvPr/>
        </p:nvSpPr>
        <p:spPr>
          <a:xfrm>
            <a:off x="960120" y="2194560"/>
            <a:ext cx="338328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Foundations for 2026</a:t>
            </a:r>
            <a:endParaRPr lang="en-US" sz="1400" dirty="0"/>
          </a:p>
        </p:txBody>
      </p:sp>
      <p:sp>
        <p:nvSpPr>
          <p:cNvPr id="9" name="Text 7"/>
          <p:cNvSpPr/>
          <p:nvPr/>
        </p:nvSpPr>
        <p:spPr>
          <a:xfrm>
            <a:off x="960120" y="2697480"/>
            <a:ext cx="3291840" cy="3017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Modern React landscape</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Hooks that matter in 2026</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Routing — RR v7 + Next.js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Labs 1 &amp; 2</a:t>
            </a:r>
            <a:endParaRPr lang="en-US" sz="1200" dirty="0"/>
          </a:p>
        </p:txBody>
      </p:sp>
      <p:sp>
        <p:nvSpPr>
          <p:cNvPr id="10" name="Shape 8"/>
          <p:cNvSpPr/>
          <p:nvPr/>
        </p:nvSpPr>
        <p:spPr>
          <a:xfrm>
            <a:off x="4617720" y="1554480"/>
            <a:ext cx="3611880" cy="4389120"/>
          </a:xfrm>
          <a:prstGeom prst="rect">
            <a:avLst/>
          </a:prstGeom>
          <a:solidFill>
            <a:srgbClr val="FFFFFF"/>
          </a:solidFill>
          <a:ln w="12700">
            <a:solidFill>
              <a:srgbClr val="E2E8F0"/>
            </a:solidFill>
            <a:prstDash val="solid"/>
          </a:ln>
        </p:spPr>
      </p:sp>
      <p:sp>
        <p:nvSpPr>
          <p:cNvPr id="11" name="Shape 9"/>
          <p:cNvSpPr/>
          <p:nvPr/>
        </p:nvSpPr>
        <p:spPr>
          <a:xfrm>
            <a:off x="4617720" y="1554480"/>
            <a:ext cx="3611880" cy="457200"/>
          </a:xfrm>
          <a:prstGeom prst="rect">
            <a:avLst/>
          </a:prstGeom>
          <a:solidFill>
            <a:srgbClr val="1E2A47"/>
          </a:solidFill>
          <a:ln w="12700">
            <a:solidFill>
              <a:srgbClr val="1E2A47"/>
            </a:solidFill>
            <a:prstDash val="solid"/>
          </a:ln>
        </p:spPr>
      </p:sp>
      <p:sp>
        <p:nvSpPr>
          <p:cNvPr id="12" name="Text 10"/>
          <p:cNvSpPr/>
          <p:nvPr/>
        </p:nvSpPr>
        <p:spPr>
          <a:xfrm>
            <a:off x="4800600" y="1627632"/>
            <a:ext cx="3383280" cy="329184"/>
          </a:xfrm>
          <a:prstGeom prst="rect">
            <a:avLst/>
          </a:prstGeom>
          <a:noFill/>
          <a:ln/>
        </p:spPr>
        <p:txBody>
          <a:bodyPr wrap="square" lIns="0" tIns="0" rIns="0" bIns="0" rtlCol="0" anchor="ctr"/>
          <a:lstStyle/>
          <a:p>
            <a:pPr indent="0" marL="0">
              <a:buNone/>
            </a:pPr>
            <a:r>
              <a:rPr lang="en-US" sz="1400" b="1" dirty="0">
                <a:solidFill>
                  <a:srgbClr val="00B8D9"/>
                </a:solidFill>
                <a:latin typeface="Trebuchet MS" pitchFamily="34" charset="0"/>
                <a:ea typeface="Trebuchet MS" pitchFamily="34" charset="-122"/>
                <a:cs typeface="Trebuchet MS" pitchFamily="34" charset="-120"/>
              </a:rPr>
              <a:t>Day 2</a:t>
            </a:r>
            <a:endParaRPr lang="en-US" sz="1400" dirty="0"/>
          </a:p>
        </p:txBody>
      </p:sp>
      <p:sp>
        <p:nvSpPr>
          <p:cNvPr id="13" name="Text 11"/>
          <p:cNvSpPr/>
          <p:nvPr/>
        </p:nvSpPr>
        <p:spPr>
          <a:xfrm>
            <a:off x="4800600" y="2194560"/>
            <a:ext cx="338328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Data, State, and the Server</a:t>
            </a:r>
            <a:endParaRPr lang="en-US" sz="1400" dirty="0"/>
          </a:p>
        </p:txBody>
      </p:sp>
      <p:sp>
        <p:nvSpPr>
          <p:cNvPr id="14" name="Text 12"/>
          <p:cNvSpPr/>
          <p:nvPr/>
        </p:nvSpPr>
        <p:spPr>
          <a:xfrm>
            <a:off x="4800600" y="2697480"/>
            <a:ext cx="3291840" cy="3017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State management decisions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Modern data fetching</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Server Components + Actions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Labs 3, 4, &amp; 5</a:t>
            </a:r>
            <a:endParaRPr lang="en-US" sz="1200" dirty="0"/>
          </a:p>
        </p:txBody>
      </p:sp>
      <p:sp>
        <p:nvSpPr>
          <p:cNvPr id="15" name="Shape 13"/>
          <p:cNvSpPr/>
          <p:nvPr/>
        </p:nvSpPr>
        <p:spPr>
          <a:xfrm>
            <a:off x="8458200" y="1554480"/>
            <a:ext cx="3611880" cy="4389120"/>
          </a:xfrm>
          <a:prstGeom prst="rect">
            <a:avLst/>
          </a:prstGeom>
          <a:solidFill>
            <a:srgbClr val="FFFFFF"/>
          </a:solidFill>
          <a:ln w="12700">
            <a:solidFill>
              <a:srgbClr val="E2E8F0"/>
            </a:solidFill>
            <a:prstDash val="solid"/>
          </a:ln>
        </p:spPr>
      </p:sp>
      <p:sp>
        <p:nvSpPr>
          <p:cNvPr id="16" name="Shape 14"/>
          <p:cNvSpPr/>
          <p:nvPr/>
        </p:nvSpPr>
        <p:spPr>
          <a:xfrm>
            <a:off x="8458200" y="1554480"/>
            <a:ext cx="3611880" cy="457200"/>
          </a:xfrm>
          <a:prstGeom prst="rect">
            <a:avLst/>
          </a:prstGeom>
          <a:solidFill>
            <a:srgbClr val="1E2A47"/>
          </a:solidFill>
          <a:ln w="12700">
            <a:solidFill>
              <a:srgbClr val="1E2A47"/>
            </a:solidFill>
            <a:prstDash val="solid"/>
          </a:ln>
        </p:spPr>
      </p:sp>
      <p:sp>
        <p:nvSpPr>
          <p:cNvPr id="17" name="Text 15"/>
          <p:cNvSpPr/>
          <p:nvPr/>
        </p:nvSpPr>
        <p:spPr>
          <a:xfrm>
            <a:off x="8641080" y="1627632"/>
            <a:ext cx="3383280" cy="329184"/>
          </a:xfrm>
          <a:prstGeom prst="rect">
            <a:avLst/>
          </a:prstGeom>
          <a:noFill/>
          <a:ln/>
        </p:spPr>
        <p:txBody>
          <a:bodyPr wrap="square" lIns="0" tIns="0" rIns="0" bIns="0" rtlCol="0" anchor="ctr"/>
          <a:lstStyle/>
          <a:p>
            <a:pPr indent="0" marL="0">
              <a:buNone/>
            </a:pPr>
            <a:r>
              <a:rPr lang="en-US" sz="1400" b="1" dirty="0">
                <a:solidFill>
                  <a:srgbClr val="00B8D9"/>
                </a:solidFill>
                <a:latin typeface="Trebuchet MS" pitchFamily="34" charset="0"/>
                <a:ea typeface="Trebuchet MS" pitchFamily="34" charset="-122"/>
                <a:cs typeface="Trebuchet MS" pitchFamily="34" charset="-120"/>
              </a:rPr>
              <a:t>Day 3</a:t>
            </a:r>
            <a:endParaRPr lang="en-US" sz="1400" dirty="0"/>
          </a:p>
        </p:txBody>
      </p:sp>
      <p:sp>
        <p:nvSpPr>
          <p:cNvPr id="18" name="Text 16"/>
          <p:cNvSpPr/>
          <p:nvPr/>
        </p:nvSpPr>
        <p:spPr>
          <a:xfrm>
            <a:off x="8641080" y="2194560"/>
            <a:ext cx="338328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Performance, Quality, and AI</a:t>
            </a:r>
            <a:endParaRPr lang="en-US" sz="1400" dirty="0"/>
          </a:p>
        </p:txBody>
      </p:sp>
      <p:sp>
        <p:nvSpPr>
          <p:cNvPr id="19" name="Text 17"/>
          <p:cNvSpPr/>
          <p:nvPr/>
        </p:nvSpPr>
        <p:spPr>
          <a:xfrm>
            <a:off x="8641080" y="2697480"/>
            <a:ext cx="3291840" cy="3017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Performance in the Compiler era</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Testing in 2026</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Working with AI assistants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Labs 6, 7, &amp; 8</a:t>
            </a:r>
            <a:endParaRPr lang="en-US" sz="1200" dirty="0"/>
          </a:p>
        </p:txBody>
      </p:sp>
      <p:sp>
        <p:nvSpPr>
          <p:cNvPr id="20" name="Text 1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1" name="Text 1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5 / 30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How the days are structured</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Concept → quick demo → substantial lab. Repeat.</a:t>
            </a:r>
            <a:endParaRPr lang="en-US" sz="1400" dirty="0"/>
          </a:p>
        </p:txBody>
      </p:sp>
      <p:sp>
        <p:nvSpPr>
          <p:cNvPr id="5" name="Shape 3"/>
          <p:cNvSpPr/>
          <p:nvPr/>
        </p:nvSpPr>
        <p:spPr>
          <a:xfrm>
            <a:off x="777240" y="1737360"/>
            <a:ext cx="3611880" cy="30175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51560" y="1920240"/>
            <a:ext cx="640080" cy="640080"/>
          </a:xfrm>
          <a:prstGeom prst="rect">
            <a:avLst/>
          </a:prstGeom>
        </p:spPr>
      </p:pic>
      <p:sp>
        <p:nvSpPr>
          <p:cNvPr id="7" name="Text 4"/>
          <p:cNvSpPr/>
          <p:nvPr/>
        </p:nvSpPr>
        <p:spPr>
          <a:xfrm>
            <a:off x="1051560" y="2697480"/>
            <a:ext cx="3200400" cy="45720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Concept</a:t>
            </a:r>
            <a:endParaRPr lang="en-US" sz="2200" dirty="0"/>
          </a:p>
        </p:txBody>
      </p:sp>
      <p:sp>
        <p:nvSpPr>
          <p:cNvPr id="8" name="Text 5"/>
          <p:cNvSpPr/>
          <p:nvPr/>
        </p:nvSpPr>
        <p:spPr>
          <a:xfrm>
            <a:off x="1051560" y="3200400"/>
            <a:ext cx="3200400" cy="14630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Short lecture (15-30 min) with live coding, not just slides.</a:t>
            </a:r>
            <a:endParaRPr lang="en-US" sz="1250" dirty="0"/>
          </a:p>
        </p:txBody>
      </p:sp>
      <p:pic>
        <p:nvPicPr>
          <p:cNvPr id="9" name="Image 1" descr="preencoded.png">    </p:cNvPr>
          <p:cNvPicPr>
            <a:picLocks noChangeAspect="1"/>
          </p:cNvPicPr>
          <p:nvPr/>
        </p:nvPicPr>
        <p:blipFill>
          <a:blip r:embed="rId2"/>
          <a:stretch>
            <a:fillRect/>
          </a:stretch>
        </p:blipFill>
        <p:spPr>
          <a:xfrm>
            <a:off x="4434840" y="3017520"/>
            <a:ext cx="228600" cy="228600"/>
          </a:xfrm>
          <a:prstGeom prst="rect">
            <a:avLst/>
          </a:prstGeom>
        </p:spPr>
      </p:pic>
      <p:sp>
        <p:nvSpPr>
          <p:cNvPr id="10" name="Shape 6"/>
          <p:cNvSpPr/>
          <p:nvPr/>
        </p:nvSpPr>
        <p:spPr>
          <a:xfrm>
            <a:off x="4617720" y="1737360"/>
            <a:ext cx="3611880" cy="3017520"/>
          </a:xfrm>
          <a:prstGeom prst="rect">
            <a:avLst/>
          </a:prstGeom>
          <a:solidFill>
            <a:srgbClr val="FFFFFF"/>
          </a:solidFill>
          <a:ln w="12700">
            <a:solidFill>
              <a:srgbClr val="E2E8F0"/>
            </a:solidFill>
            <a:prstDash val="solid"/>
          </a:ln>
        </p:spPr>
      </p:sp>
      <p:pic>
        <p:nvPicPr>
          <p:cNvPr id="11" name="Image 2" descr="preencoded.png">    </p:cNvPr>
          <p:cNvPicPr>
            <a:picLocks noChangeAspect="1"/>
          </p:cNvPicPr>
          <p:nvPr/>
        </p:nvPicPr>
        <p:blipFill>
          <a:blip r:embed="rId3"/>
          <a:stretch>
            <a:fillRect/>
          </a:stretch>
        </p:blipFill>
        <p:spPr>
          <a:xfrm>
            <a:off x="4892040" y="1920240"/>
            <a:ext cx="640080" cy="640080"/>
          </a:xfrm>
          <a:prstGeom prst="rect">
            <a:avLst/>
          </a:prstGeom>
        </p:spPr>
      </p:pic>
      <p:sp>
        <p:nvSpPr>
          <p:cNvPr id="12" name="Text 7"/>
          <p:cNvSpPr/>
          <p:nvPr/>
        </p:nvSpPr>
        <p:spPr>
          <a:xfrm>
            <a:off x="4892040" y="2697480"/>
            <a:ext cx="3200400" cy="45720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Demo</a:t>
            </a:r>
            <a:endParaRPr lang="en-US" sz="2200" dirty="0"/>
          </a:p>
        </p:txBody>
      </p:sp>
      <p:sp>
        <p:nvSpPr>
          <p:cNvPr id="13" name="Text 8"/>
          <p:cNvSpPr/>
          <p:nvPr/>
        </p:nvSpPr>
        <p:spPr>
          <a:xfrm>
            <a:off x="4892040" y="3200400"/>
            <a:ext cx="3200400" cy="14630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5-10 min hands-on demo so the syntax lands before you write any.</a:t>
            </a:r>
            <a:endParaRPr lang="en-US" sz="1250" dirty="0"/>
          </a:p>
        </p:txBody>
      </p:sp>
      <p:pic>
        <p:nvPicPr>
          <p:cNvPr id="14" name="Image 3" descr="preencoded.png">    </p:cNvPr>
          <p:cNvPicPr>
            <a:picLocks noChangeAspect="1"/>
          </p:cNvPicPr>
          <p:nvPr/>
        </p:nvPicPr>
        <p:blipFill>
          <a:blip r:embed="rId4"/>
          <a:stretch>
            <a:fillRect/>
          </a:stretch>
        </p:blipFill>
        <p:spPr>
          <a:xfrm>
            <a:off x="8275320" y="3017520"/>
            <a:ext cx="228600" cy="228600"/>
          </a:xfrm>
          <a:prstGeom prst="rect">
            <a:avLst/>
          </a:prstGeom>
        </p:spPr>
      </p:pic>
      <p:sp>
        <p:nvSpPr>
          <p:cNvPr id="15" name="Shape 9"/>
          <p:cNvSpPr/>
          <p:nvPr/>
        </p:nvSpPr>
        <p:spPr>
          <a:xfrm>
            <a:off x="8458200" y="1737360"/>
            <a:ext cx="3611880" cy="3017520"/>
          </a:xfrm>
          <a:prstGeom prst="rect">
            <a:avLst/>
          </a:prstGeom>
          <a:solidFill>
            <a:srgbClr val="FFFFFF"/>
          </a:solidFill>
          <a:ln w="12700">
            <a:solidFill>
              <a:srgbClr val="E2E8F0"/>
            </a:solidFill>
            <a:prstDash val="solid"/>
          </a:ln>
        </p:spPr>
      </p:sp>
      <p:pic>
        <p:nvPicPr>
          <p:cNvPr id="16" name="Image 4" descr="preencoded.png">    </p:cNvPr>
          <p:cNvPicPr>
            <a:picLocks noChangeAspect="1"/>
          </p:cNvPicPr>
          <p:nvPr/>
        </p:nvPicPr>
        <p:blipFill>
          <a:blip r:embed="rId5"/>
          <a:stretch>
            <a:fillRect/>
          </a:stretch>
        </p:blipFill>
        <p:spPr>
          <a:xfrm>
            <a:off x="8732520" y="1920240"/>
            <a:ext cx="640080" cy="640080"/>
          </a:xfrm>
          <a:prstGeom prst="rect">
            <a:avLst/>
          </a:prstGeom>
        </p:spPr>
      </p:pic>
      <p:sp>
        <p:nvSpPr>
          <p:cNvPr id="17" name="Text 10"/>
          <p:cNvSpPr/>
          <p:nvPr/>
        </p:nvSpPr>
        <p:spPr>
          <a:xfrm>
            <a:off x="8732520" y="2697480"/>
            <a:ext cx="3200400" cy="45720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Lab</a:t>
            </a:r>
            <a:endParaRPr lang="en-US" sz="2200" dirty="0"/>
          </a:p>
        </p:txBody>
      </p:sp>
      <p:sp>
        <p:nvSpPr>
          <p:cNvPr id="18" name="Text 11"/>
          <p:cNvSpPr/>
          <p:nvPr/>
        </p:nvSpPr>
        <p:spPr>
          <a:xfrm>
            <a:off x="8732520" y="3200400"/>
            <a:ext cx="3200400" cy="14630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60-90 min hands-on. Every lab has a stretch task for fast finishers.</a:t>
            </a:r>
            <a:endParaRPr lang="en-US" sz="1250" dirty="0"/>
          </a:p>
        </p:txBody>
      </p:sp>
      <p:sp>
        <p:nvSpPr>
          <p:cNvPr id="19" name="Shape 12"/>
          <p:cNvSpPr/>
          <p:nvPr/>
        </p:nvSpPr>
        <p:spPr>
          <a:xfrm>
            <a:off x="777240" y="5029200"/>
            <a:ext cx="10607040" cy="1280160"/>
          </a:xfrm>
          <a:prstGeom prst="rect">
            <a:avLst/>
          </a:prstGeom>
          <a:solidFill>
            <a:srgbClr val="CBF1F6"/>
          </a:solidFill>
          <a:ln w="12700">
            <a:solidFill>
              <a:srgbClr val="CBF1F6"/>
            </a:solidFill>
            <a:prstDash val="solid"/>
          </a:ln>
        </p:spPr>
      </p:sp>
      <p:sp>
        <p:nvSpPr>
          <p:cNvPr id="20" name="Text 13"/>
          <p:cNvSpPr/>
          <p:nvPr/>
        </p:nvSpPr>
        <p:spPr>
          <a:xfrm>
            <a:off x="1097280" y="5166360"/>
            <a:ext cx="10241280" cy="1005840"/>
          </a:xfrm>
          <a:prstGeom prst="rect">
            <a:avLst/>
          </a:prstGeom>
          <a:noFill/>
          <a:ln/>
        </p:spPr>
        <p:txBody>
          <a:bodyPr wrap="square" lIns="0" tIns="0" rIns="0" bIns="0" rtlCol="0" anchor="ctr"/>
          <a:lstStyle/>
          <a:p>
            <a:pPr indent="0" marL="0">
              <a:buNone/>
            </a:pPr>
            <a:r>
              <a:rPr lang="en-US" sz="4400" b="1" dirty="0">
                <a:solidFill>
                  <a:srgbClr val="0F172A"/>
                </a:solidFill>
                <a:latin typeface="Trebuchet MS" pitchFamily="34" charset="0"/>
                <a:ea typeface="Trebuchet MS" pitchFamily="34" charset="-122"/>
                <a:cs typeface="Trebuchet MS" pitchFamily="34" charset="-120"/>
              </a:rPr>
              <a:t>51%</a:t>
            </a:r>
            <a:pPr indent="0" marL="0">
              <a:buNone/>
            </a:pPr>
            <a:r>
              <a:rPr lang="en-US" sz="1800" dirty="0">
                <a:solidFill>
                  <a:srgbClr val="475569"/>
                </a:solidFill>
                <a:latin typeface="Arial" pitchFamily="34" charset="0"/>
                <a:ea typeface="Arial" pitchFamily="34" charset="-122"/>
                <a:cs typeface="Arial" pitchFamily="34" charset="-120"/>
              </a:rPr>
              <a:t>  hands-on labs across the course</a:t>
            </a:r>
            <a:endParaRPr lang="en-US" sz="4400" dirty="0"/>
          </a:p>
        </p:txBody>
      </p:sp>
      <p:sp>
        <p:nvSpPr>
          <p:cNvPr id="21" name="Text 14"/>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2" name="Text 15"/>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6 / 30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lab repo</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Clone it now if you haven't already.</a:t>
            </a:r>
            <a:endParaRPr lang="en-US" sz="1400" dirty="0"/>
          </a:p>
        </p:txBody>
      </p:sp>
      <p:sp>
        <p:nvSpPr>
          <p:cNvPr id="5" name="Shape 3"/>
          <p:cNvSpPr/>
          <p:nvPr/>
        </p:nvSpPr>
        <p:spPr>
          <a:xfrm>
            <a:off x="777240" y="1645920"/>
            <a:ext cx="10607040" cy="1463040"/>
          </a:xfrm>
          <a:prstGeom prst="rect">
            <a:avLst/>
          </a:prstGeom>
          <a:solidFill>
            <a:srgbClr val="1E2A47"/>
          </a:solidFill>
          <a:ln w="12700">
            <a:solidFill>
              <a:srgbClr val="1E2A47"/>
            </a:solidFill>
            <a:prstDash val="solid"/>
          </a:ln>
        </p:spPr>
      </p:sp>
      <p:pic>
        <p:nvPicPr>
          <p:cNvPr id="6" name="Image 0" descr="preencoded.png">    </p:cNvPr>
          <p:cNvPicPr>
            <a:picLocks noChangeAspect="1"/>
          </p:cNvPicPr>
          <p:nvPr/>
        </p:nvPicPr>
        <p:blipFill>
          <a:blip r:embed="rId1"/>
          <a:stretch>
            <a:fillRect/>
          </a:stretch>
        </p:blipFill>
        <p:spPr>
          <a:xfrm>
            <a:off x="1005840" y="1874520"/>
            <a:ext cx="914400" cy="914400"/>
          </a:xfrm>
          <a:prstGeom prst="rect">
            <a:avLst/>
          </a:prstGeom>
        </p:spPr>
      </p:pic>
      <p:sp>
        <p:nvSpPr>
          <p:cNvPr id="7" name="Text 4"/>
          <p:cNvSpPr/>
          <p:nvPr/>
        </p:nvSpPr>
        <p:spPr>
          <a:xfrm>
            <a:off x="2194560" y="1828800"/>
            <a:ext cx="9144000" cy="548640"/>
          </a:xfrm>
          <a:prstGeom prst="rect">
            <a:avLst/>
          </a:prstGeom>
          <a:noFill/>
          <a:ln/>
        </p:spPr>
        <p:txBody>
          <a:bodyPr wrap="square" lIns="0" tIns="0" rIns="0" bIns="0" rtlCol="0" anchor="t"/>
          <a:lstStyle/>
          <a:p>
            <a:pPr indent="0" marL="0">
              <a:buNone/>
            </a:pPr>
            <a:r>
              <a:rPr lang="en-US" sz="2200" b="1" dirty="0">
                <a:solidFill>
                  <a:srgbClr val="FFFFFF"/>
                </a:solidFill>
                <a:latin typeface="Courier New" pitchFamily="34" charset="0"/>
                <a:ea typeface="Courier New" pitchFamily="34" charset="-122"/>
                <a:cs typeface="Courier New" pitchFamily="34" charset="-120"/>
              </a:rPr>
              <a:t>github.com/chrisminnick/advanced-react-19</a:t>
            </a:r>
            <a:endParaRPr lang="en-US" sz="2200" dirty="0"/>
          </a:p>
        </p:txBody>
      </p:sp>
      <p:sp>
        <p:nvSpPr>
          <p:cNvPr id="8" name="Text 5"/>
          <p:cNvSpPr/>
          <p:nvPr/>
        </p:nvSpPr>
        <p:spPr>
          <a:xfrm>
            <a:off x="2194560" y="2377440"/>
            <a:ext cx="9144000" cy="457200"/>
          </a:xfrm>
          <a:prstGeom prst="rect">
            <a:avLst/>
          </a:prstGeom>
          <a:noFill/>
          <a:ln/>
        </p:spPr>
        <p:txBody>
          <a:bodyPr wrap="square" lIns="0" tIns="0" rIns="0" bIns="0" rtlCol="0" anchor="ctr"/>
          <a:lstStyle/>
          <a:p>
            <a:pPr indent="0" marL="0">
              <a:buNone/>
            </a:pPr>
            <a:r>
              <a:rPr lang="en-US" sz="1300" i="1" dirty="0">
                <a:solidFill>
                  <a:srgbClr val="CBF1F6"/>
                </a:solidFill>
                <a:latin typeface="Arial" pitchFamily="34" charset="0"/>
                <a:ea typeface="Arial" pitchFamily="34" charset="-122"/>
                <a:cs typeface="Arial" pitchFamily="34" charset="-120"/>
              </a:rPr>
              <a:t>Version 2.0   ·   Lab starters in lab-files/lab-01 .. lab-08   ·   Reference solutions in solutions/</a:t>
            </a:r>
            <a:endParaRPr lang="en-US" sz="1300" dirty="0"/>
          </a:p>
        </p:txBody>
      </p:sp>
      <p:sp>
        <p:nvSpPr>
          <p:cNvPr id="9" name="Shape 6"/>
          <p:cNvSpPr/>
          <p:nvPr/>
        </p:nvSpPr>
        <p:spPr>
          <a:xfrm>
            <a:off x="777240" y="3383280"/>
            <a:ext cx="3611880" cy="24688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1005840" y="3566160"/>
            <a:ext cx="502920" cy="502920"/>
          </a:xfrm>
          <a:prstGeom prst="rect">
            <a:avLst/>
          </a:prstGeom>
        </p:spPr>
      </p:pic>
      <p:sp>
        <p:nvSpPr>
          <p:cNvPr id="11" name="Text 7"/>
          <p:cNvSpPr/>
          <p:nvPr/>
        </p:nvSpPr>
        <p:spPr>
          <a:xfrm>
            <a:off x="1645920" y="3566160"/>
            <a:ext cx="274320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Starter projects</a:t>
            </a:r>
            <a:endParaRPr lang="en-US" sz="1400" dirty="0"/>
          </a:p>
        </p:txBody>
      </p:sp>
      <p:sp>
        <p:nvSpPr>
          <p:cNvPr id="12" name="Text 8"/>
          <p:cNvSpPr/>
          <p:nvPr/>
        </p:nvSpPr>
        <p:spPr>
          <a:xfrm>
            <a:off x="1005840" y="4206240"/>
            <a:ext cx="3291840" cy="155448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Per-lab folders in lab-files/lab-01 through lab-08 — each fully self-contained</a:t>
            </a:r>
            <a:endParaRPr lang="en-US" sz="1200" dirty="0"/>
          </a:p>
        </p:txBody>
      </p:sp>
      <p:sp>
        <p:nvSpPr>
          <p:cNvPr id="13" name="Shape 9"/>
          <p:cNvSpPr/>
          <p:nvPr/>
        </p:nvSpPr>
        <p:spPr>
          <a:xfrm>
            <a:off x="4617720" y="3383280"/>
            <a:ext cx="3611880" cy="24688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4846320" y="3566160"/>
            <a:ext cx="502920" cy="502920"/>
          </a:xfrm>
          <a:prstGeom prst="rect">
            <a:avLst/>
          </a:prstGeom>
        </p:spPr>
      </p:pic>
      <p:sp>
        <p:nvSpPr>
          <p:cNvPr id="15" name="Text 10"/>
          <p:cNvSpPr/>
          <p:nvPr/>
        </p:nvSpPr>
        <p:spPr>
          <a:xfrm>
            <a:off x="5486400" y="3566160"/>
            <a:ext cx="274320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Reference solutions</a:t>
            </a:r>
            <a:endParaRPr lang="en-US" sz="1400" dirty="0"/>
          </a:p>
        </p:txBody>
      </p:sp>
      <p:sp>
        <p:nvSpPr>
          <p:cNvPr id="16" name="Text 11"/>
          <p:cNvSpPr/>
          <p:nvPr/>
        </p:nvSpPr>
        <p:spPr>
          <a:xfrm>
            <a:off x="4846320" y="4206240"/>
            <a:ext cx="3291840" cy="155448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One folder per lab under solutions/ — sometimes more than one when there's a pick-your-tool moment</a:t>
            </a:r>
            <a:endParaRPr lang="en-US" sz="1200" dirty="0"/>
          </a:p>
        </p:txBody>
      </p:sp>
      <p:sp>
        <p:nvSpPr>
          <p:cNvPr id="17" name="Shape 12"/>
          <p:cNvSpPr/>
          <p:nvPr/>
        </p:nvSpPr>
        <p:spPr>
          <a:xfrm>
            <a:off x="8458200" y="3383280"/>
            <a:ext cx="3611880" cy="24688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8686800" y="3566160"/>
            <a:ext cx="502920" cy="502920"/>
          </a:xfrm>
          <a:prstGeom prst="rect">
            <a:avLst/>
          </a:prstGeom>
        </p:spPr>
      </p:pic>
      <p:sp>
        <p:nvSpPr>
          <p:cNvPr id="19" name="Text 13"/>
          <p:cNvSpPr/>
          <p:nvPr/>
        </p:nvSpPr>
        <p:spPr>
          <a:xfrm>
            <a:off x="9326880" y="3566160"/>
            <a:ext cx="274320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Per-project READMEs</a:t>
            </a:r>
            <a:endParaRPr lang="en-US" sz="1400" dirty="0"/>
          </a:p>
        </p:txBody>
      </p:sp>
      <p:sp>
        <p:nvSpPr>
          <p:cNvPr id="20" name="Text 14"/>
          <p:cNvSpPr/>
          <p:nvPr/>
        </p:nvSpPr>
        <p:spPr>
          <a:xfrm>
            <a:off x="8686800" y="4206240"/>
            <a:ext cx="3291840" cy="155448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Setup, run instructions, and what each lab folder contains</a:t>
            </a:r>
            <a:endParaRPr lang="en-US" sz="120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7 / 30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AI assistants in this course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Tool-agnostic. Use what you use.</a:t>
            </a:r>
            <a:endParaRPr lang="en-US" sz="1400" dirty="0"/>
          </a:p>
        </p:txBody>
      </p:sp>
      <p:sp>
        <p:nvSpPr>
          <p:cNvPr id="5" name="Shape 3"/>
          <p:cNvSpPr/>
          <p:nvPr/>
        </p:nvSpPr>
        <p:spPr>
          <a:xfrm>
            <a:off x="777240" y="1691640"/>
            <a:ext cx="5349240" cy="4206240"/>
          </a:xfrm>
          <a:prstGeom prst="rect">
            <a:avLst/>
          </a:prstGeom>
          <a:solidFill>
            <a:srgbClr val="FFFFFF"/>
          </a:solidFill>
          <a:ln w="12700">
            <a:solidFill>
              <a:srgbClr val="E2E8F0"/>
            </a:solidFill>
            <a:prstDash val="solid"/>
          </a:ln>
        </p:spPr>
      </p:sp>
      <p:sp>
        <p:nvSpPr>
          <p:cNvPr id="6" name="Text 4"/>
          <p:cNvSpPr/>
          <p:nvPr/>
        </p:nvSpPr>
        <p:spPr>
          <a:xfrm>
            <a:off x="960120" y="1874520"/>
            <a:ext cx="5029200" cy="457200"/>
          </a:xfrm>
          <a:prstGeom prst="rect">
            <a:avLst/>
          </a:prstGeom>
          <a:noFill/>
          <a:ln/>
        </p:spPr>
        <p:txBody>
          <a:bodyPr wrap="square" lIns="0" tIns="0" rIns="0" bIns="0" rtlCol="0" anchor="ctr"/>
          <a:lstStyle/>
          <a:p>
            <a:pPr indent="0" marL="0">
              <a:buNone/>
            </a:pPr>
            <a:r>
              <a:rPr lang="en-US" sz="1800" b="1" dirty="0">
                <a:solidFill>
                  <a:srgbClr val="059669"/>
                </a:solidFill>
                <a:latin typeface="Trebuchet MS" pitchFamily="34" charset="0"/>
                <a:ea typeface="Trebuchet MS" pitchFamily="34" charset="-122"/>
                <a:cs typeface="Trebuchet MS" pitchFamily="34" charset="-120"/>
              </a:rPr>
              <a:t>What we're doing</a:t>
            </a:r>
            <a:endParaRPr lang="en-US" sz="1800" dirty="0"/>
          </a:p>
        </p:txBody>
      </p:sp>
      <p:sp>
        <p:nvSpPr>
          <p:cNvPr id="7" name="Text 5"/>
          <p:cNvSpPr/>
          <p:nvPr/>
        </p:nvSpPr>
        <p:spPr>
          <a:xfrm>
            <a:off x="960120" y="2514600"/>
            <a:ext cx="502920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475569"/>
                </a:solidFill>
                <a:latin typeface="Arial" pitchFamily="34" charset="0"/>
                <a:ea typeface="Arial" pitchFamily="34" charset="-122"/>
                <a:cs typeface="Arial" pitchFamily="34" charset="-120"/>
              </a:rPr>
              <a:t>Treating AI as a real part of the workflow — every day</a:t>
            </a:r>
            <a:endParaRPr lang="en-US" sz="1300" dirty="0"/>
          </a:p>
          <a:p>
            <a:pPr marL="342900" indent="-342900">
              <a:spcAft>
                <a:spcPts val="800"/>
              </a:spcAft>
              <a:buSzPct val="100000"/>
              <a:buChar char="•"/>
            </a:pPr>
            <a:r>
              <a:rPr lang="en-US" sz="1300" dirty="0">
                <a:solidFill>
                  <a:srgbClr val="475569"/>
                </a:solidFill>
                <a:latin typeface="Arial" pitchFamily="34" charset="0"/>
                <a:ea typeface="Arial" pitchFamily="34" charset="-122"/>
                <a:cs typeface="Arial" pitchFamily="34" charset="-120"/>
              </a:rPr>
              <a:t>Building review skills: spotting what AI gets wrong about React</a:t>
            </a:r>
            <a:endParaRPr lang="en-US" sz="1300" dirty="0"/>
          </a:p>
          <a:p>
            <a:pPr marL="342900" indent="-342900">
              <a:spcAft>
                <a:spcPts val="800"/>
              </a:spcAft>
              <a:buSzPct val="100000"/>
              <a:buChar char="•"/>
            </a:pPr>
            <a:r>
              <a:rPr lang="en-US" sz="1300" dirty="0">
                <a:solidFill>
                  <a:srgbClr val="475569"/>
                </a:solidFill>
                <a:latin typeface="Arial" pitchFamily="34" charset="0"/>
                <a:ea typeface="Arial" pitchFamily="34" charset="-122"/>
                <a:cs typeface="Arial" pitchFamily="34" charset="-120"/>
              </a:rPr>
              <a:t>A focused module on Day 3 about working with AI well</a:t>
            </a:r>
            <a:endParaRPr lang="en-US" sz="1300" dirty="0"/>
          </a:p>
          <a:p>
            <a:pPr marL="342900" indent="-342900">
              <a:spcAft>
                <a:spcPts val="800"/>
              </a:spcAft>
              <a:buSzPct val="100000"/>
              <a:buChar char="•"/>
            </a:pPr>
            <a:r>
              <a:rPr lang="en-US" sz="1300" dirty="0">
                <a:solidFill>
                  <a:srgbClr val="475569"/>
                </a:solidFill>
                <a:latin typeface="Arial" pitchFamily="34" charset="0"/>
                <a:ea typeface="Arial" pitchFamily="34" charset="-122"/>
                <a:cs typeface="Arial" pitchFamily="34" charset="-120"/>
              </a:rPr>
              <a:t>Comparing tools when it's instructive, but not picking favorites</a:t>
            </a:r>
            <a:endParaRPr lang="en-US" sz="1300" dirty="0"/>
          </a:p>
        </p:txBody>
      </p:sp>
      <p:sp>
        <p:nvSpPr>
          <p:cNvPr id="8" name="Shape 6"/>
          <p:cNvSpPr/>
          <p:nvPr/>
        </p:nvSpPr>
        <p:spPr>
          <a:xfrm>
            <a:off x="6355080" y="1691640"/>
            <a:ext cx="5029200" cy="4206240"/>
          </a:xfrm>
          <a:prstGeom prst="rect">
            <a:avLst/>
          </a:prstGeom>
          <a:solidFill>
            <a:srgbClr val="FFFFFF"/>
          </a:solidFill>
          <a:ln w="12700">
            <a:solidFill>
              <a:srgbClr val="E2E8F0"/>
            </a:solidFill>
            <a:prstDash val="solid"/>
          </a:ln>
        </p:spPr>
      </p:sp>
      <p:sp>
        <p:nvSpPr>
          <p:cNvPr id="9" name="Text 7"/>
          <p:cNvSpPr/>
          <p:nvPr/>
        </p:nvSpPr>
        <p:spPr>
          <a:xfrm>
            <a:off x="6537960" y="1874520"/>
            <a:ext cx="4754880" cy="457200"/>
          </a:xfrm>
          <a:prstGeom prst="rect">
            <a:avLst/>
          </a:prstGeom>
          <a:noFill/>
          <a:ln/>
        </p:spPr>
        <p:txBody>
          <a:bodyPr wrap="square" lIns="0" tIns="0" rIns="0" bIns="0" rtlCol="0" anchor="ctr"/>
          <a:lstStyle/>
          <a:p>
            <a:pPr indent="0" marL="0">
              <a:buNone/>
            </a:pPr>
            <a:r>
              <a:rPr lang="en-US" sz="1800" b="1" dirty="0">
                <a:solidFill>
                  <a:srgbClr val="DC2626"/>
                </a:solidFill>
                <a:latin typeface="Trebuchet MS" pitchFamily="34" charset="0"/>
                <a:ea typeface="Trebuchet MS" pitchFamily="34" charset="-122"/>
                <a:cs typeface="Trebuchet MS" pitchFamily="34" charset="-120"/>
              </a:rPr>
              <a:t>What we're not doing</a:t>
            </a:r>
            <a:endParaRPr lang="en-US" sz="1800" dirty="0"/>
          </a:p>
        </p:txBody>
      </p:sp>
      <p:sp>
        <p:nvSpPr>
          <p:cNvPr id="10" name="Text 8"/>
          <p:cNvSpPr/>
          <p:nvPr/>
        </p:nvSpPr>
        <p:spPr>
          <a:xfrm>
            <a:off x="6537960" y="2514600"/>
            <a:ext cx="475488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475569"/>
                </a:solidFill>
                <a:latin typeface="Arial" pitchFamily="34" charset="0"/>
                <a:ea typeface="Arial" pitchFamily="34" charset="-122"/>
                <a:cs typeface="Arial" pitchFamily="34" charset="-120"/>
              </a:rPr>
              <a:t>Banning AI in labs — that would be teaching to a 2022 reality</a:t>
            </a:r>
            <a:endParaRPr lang="en-US" sz="1300" dirty="0"/>
          </a:p>
          <a:p>
            <a:pPr marL="342900" indent="-342900">
              <a:spcAft>
                <a:spcPts val="800"/>
              </a:spcAft>
              <a:buSzPct val="100000"/>
              <a:buChar char="•"/>
            </a:pPr>
            <a:r>
              <a:rPr lang="en-US" sz="1300" dirty="0">
                <a:solidFill>
                  <a:srgbClr val="475569"/>
                </a:solidFill>
                <a:latin typeface="Arial" pitchFamily="34" charset="0"/>
                <a:ea typeface="Arial" pitchFamily="34" charset="-122"/>
                <a:cs typeface="Arial" pitchFamily="34" charset="-120"/>
              </a:rPr>
              <a:t>Required tooling — bring Cursor, Copilot, Claude Code, or whatever</a:t>
            </a:r>
            <a:endParaRPr lang="en-US" sz="1300" dirty="0"/>
          </a:p>
          <a:p>
            <a:pPr marL="342900" indent="-342900">
              <a:spcAft>
                <a:spcPts val="800"/>
              </a:spcAft>
              <a:buSzPct val="100000"/>
              <a:buChar char="•"/>
            </a:pPr>
            <a:r>
              <a:rPr lang="en-US" sz="1300" dirty="0">
                <a:solidFill>
                  <a:srgbClr val="475569"/>
                </a:solidFill>
                <a:latin typeface="Arial" pitchFamily="34" charset="0"/>
                <a:ea typeface="Arial" pitchFamily="34" charset="-122"/>
                <a:cs typeface="Arial" pitchFamily="34" charset="-120"/>
              </a:rPr>
              <a:t>Treating AI output as authoritative — we'll review every line</a:t>
            </a:r>
            <a:endParaRPr lang="en-US" sz="1300" dirty="0"/>
          </a:p>
          <a:p>
            <a:pPr marL="342900" indent="-342900">
              <a:spcAft>
                <a:spcPts val="800"/>
              </a:spcAft>
              <a:buSzPct val="100000"/>
              <a:buChar char="•"/>
            </a:pPr>
            <a:r>
              <a:rPr lang="en-US" sz="1300" dirty="0">
                <a:solidFill>
                  <a:srgbClr val="475569"/>
                </a:solidFill>
                <a:latin typeface="Arial" pitchFamily="34" charset="0"/>
                <a:ea typeface="Arial" pitchFamily="34" charset="-122"/>
                <a:cs typeface="Arial" pitchFamily="34" charset="-120"/>
              </a:rPr>
              <a:t>Pretending AI replaces understanding the framework</a:t>
            </a:r>
            <a:endParaRPr lang="en-US" sz="1300" dirty="0"/>
          </a:p>
        </p:txBody>
      </p:sp>
      <p:sp>
        <p:nvSpPr>
          <p:cNvPr id="11"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2"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8 / 30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1</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800" b="1" dirty="0">
                <a:solidFill>
                  <a:srgbClr val="FFFFFF"/>
                </a:solidFill>
                <a:latin typeface="Trebuchet MS" pitchFamily="34" charset="0"/>
                <a:ea typeface="Trebuchet MS" pitchFamily="34" charset="-122"/>
                <a:cs typeface="Trebuchet MS" pitchFamily="34" charset="-120"/>
              </a:rPr>
              <a:t>The 2026 React Landscape</a:t>
            </a:r>
            <a:endParaRPr lang="en-US" sz="48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React 19, the Compiler, frameworks, and the AI layer on top.</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Where we left off — React 18</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Released March 2022. The era most production code is still written for.</a:t>
            </a:r>
            <a:endParaRPr lang="en-US" sz="1400" dirty="0"/>
          </a:p>
        </p:txBody>
      </p:sp>
      <p:sp>
        <p:nvSpPr>
          <p:cNvPr id="5" name="Shape 3"/>
          <p:cNvSpPr/>
          <p:nvPr/>
        </p:nvSpPr>
        <p:spPr>
          <a:xfrm>
            <a:off x="777240" y="155448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719072"/>
            <a:ext cx="548640" cy="548640"/>
          </a:xfrm>
          <a:prstGeom prst="rect">
            <a:avLst/>
          </a:prstGeom>
        </p:spPr>
      </p:pic>
      <p:sp>
        <p:nvSpPr>
          <p:cNvPr id="7" name="Text 4"/>
          <p:cNvSpPr/>
          <p:nvPr/>
        </p:nvSpPr>
        <p:spPr>
          <a:xfrm>
            <a:off x="1691640" y="1645920"/>
            <a:ext cx="960120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Concurrent rendering</a:t>
            </a:r>
            <a:endParaRPr lang="en-US" sz="1500" dirty="0"/>
          </a:p>
        </p:txBody>
      </p:sp>
      <p:sp>
        <p:nvSpPr>
          <p:cNvPr id="8" name="Text 5"/>
          <p:cNvSpPr/>
          <p:nvPr/>
        </p:nvSpPr>
        <p:spPr>
          <a:xfrm>
            <a:off x="1691640" y="1965960"/>
            <a:ext cx="9601200" cy="41148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Suspense for code splitting, useTransition, useDeferredValue</a:t>
            </a:r>
            <a:endParaRPr lang="en-US" sz="1200" dirty="0"/>
          </a:p>
        </p:txBody>
      </p:sp>
      <p:sp>
        <p:nvSpPr>
          <p:cNvPr id="9" name="Shape 6"/>
          <p:cNvSpPr/>
          <p:nvPr/>
        </p:nvSpPr>
        <p:spPr>
          <a:xfrm>
            <a:off x="777240" y="260604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770632"/>
            <a:ext cx="548640" cy="548640"/>
          </a:xfrm>
          <a:prstGeom prst="rect">
            <a:avLst/>
          </a:prstGeom>
        </p:spPr>
      </p:pic>
      <p:sp>
        <p:nvSpPr>
          <p:cNvPr id="11" name="Text 7"/>
          <p:cNvSpPr/>
          <p:nvPr/>
        </p:nvSpPr>
        <p:spPr>
          <a:xfrm>
            <a:off x="1691640" y="2697480"/>
            <a:ext cx="960120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Automatic batching</a:t>
            </a:r>
            <a:endParaRPr lang="en-US" sz="1500" dirty="0"/>
          </a:p>
        </p:txBody>
      </p:sp>
      <p:sp>
        <p:nvSpPr>
          <p:cNvPr id="12" name="Text 8"/>
          <p:cNvSpPr/>
          <p:nvPr/>
        </p:nvSpPr>
        <p:spPr>
          <a:xfrm>
            <a:off x="1691640" y="3017520"/>
            <a:ext cx="9601200" cy="41148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Promise callbacks, timeouts, and native handlers all batch updates</a:t>
            </a:r>
            <a:endParaRPr lang="en-US" sz="1200" dirty="0"/>
          </a:p>
        </p:txBody>
      </p:sp>
      <p:sp>
        <p:nvSpPr>
          <p:cNvPr id="13" name="Shape 9"/>
          <p:cNvSpPr/>
          <p:nvPr/>
        </p:nvSpPr>
        <p:spPr>
          <a:xfrm>
            <a:off x="777240" y="365760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822192"/>
            <a:ext cx="548640" cy="548640"/>
          </a:xfrm>
          <a:prstGeom prst="rect">
            <a:avLst/>
          </a:prstGeom>
        </p:spPr>
      </p:pic>
      <p:sp>
        <p:nvSpPr>
          <p:cNvPr id="15" name="Text 10"/>
          <p:cNvSpPr/>
          <p:nvPr/>
        </p:nvSpPr>
        <p:spPr>
          <a:xfrm>
            <a:off x="1691640" y="3749040"/>
            <a:ext cx="960120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Streaming SSR</a:t>
            </a:r>
            <a:endParaRPr lang="en-US" sz="1500" dirty="0"/>
          </a:p>
        </p:txBody>
      </p:sp>
      <p:sp>
        <p:nvSpPr>
          <p:cNvPr id="16" name="Text 11"/>
          <p:cNvSpPr/>
          <p:nvPr/>
        </p:nvSpPr>
        <p:spPr>
          <a:xfrm>
            <a:off x="1691640" y="4069080"/>
            <a:ext cx="9601200" cy="41148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renderToPipeableStream — but you wired everything yourself</a:t>
            </a:r>
            <a:endParaRPr lang="en-US" sz="1200" dirty="0"/>
          </a:p>
        </p:txBody>
      </p:sp>
      <p:sp>
        <p:nvSpPr>
          <p:cNvPr id="17" name="Shape 12"/>
          <p:cNvSpPr/>
          <p:nvPr/>
        </p:nvSpPr>
        <p:spPr>
          <a:xfrm>
            <a:off x="777240" y="470916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4873752"/>
            <a:ext cx="548640" cy="548640"/>
          </a:xfrm>
          <a:prstGeom prst="rect">
            <a:avLst/>
          </a:prstGeom>
        </p:spPr>
      </p:pic>
      <p:sp>
        <p:nvSpPr>
          <p:cNvPr id="19" name="Text 13"/>
          <p:cNvSpPr/>
          <p:nvPr/>
        </p:nvSpPr>
        <p:spPr>
          <a:xfrm>
            <a:off x="1691640" y="4800600"/>
            <a:ext cx="960120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useId, useSyncExternalStore</a:t>
            </a:r>
            <a:endParaRPr lang="en-US" sz="1500" dirty="0"/>
          </a:p>
        </p:txBody>
      </p:sp>
      <p:sp>
        <p:nvSpPr>
          <p:cNvPr id="20" name="Text 14"/>
          <p:cNvSpPr/>
          <p:nvPr/>
        </p:nvSpPr>
        <p:spPr>
          <a:xfrm>
            <a:off x="1691640" y="5120640"/>
            <a:ext cx="9601200" cy="41148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Hydration-safe IDs and clean integration with non-React state</a:t>
            </a:r>
            <a:endParaRPr lang="en-US" sz="120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10 / 30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React 19 — what shipped, when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From experimental Server Components to a stable platform.</a:t>
            </a:r>
            <a:endParaRPr lang="en-US" sz="1400" dirty="0"/>
          </a:p>
        </p:txBody>
      </p:sp>
      <p:sp>
        <p:nvSpPr>
          <p:cNvPr id="5" name="Shape 3"/>
          <p:cNvSpPr/>
          <p:nvPr/>
        </p:nvSpPr>
        <p:spPr>
          <a:xfrm>
            <a:off x="1417320" y="3108960"/>
            <a:ext cx="9326880" cy="36576"/>
          </a:xfrm>
          <a:prstGeom prst="rect">
            <a:avLst/>
          </a:prstGeom>
          <a:solidFill>
            <a:srgbClr val="00B8D9"/>
          </a:solidFill>
          <a:ln w="12700">
            <a:solidFill>
              <a:srgbClr val="00B8D9"/>
            </a:solidFill>
            <a:prstDash val="solid"/>
          </a:ln>
        </p:spPr>
      </p:sp>
      <p:sp>
        <p:nvSpPr>
          <p:cNvPr id="6" name="Shape 4"/>
          <p:cNvSpPr/>
          <p:nvPr/>
        </p:nvSpPr>
        <p:spPr>
          <a:xfrm>
            <a:off x="1417320" y="2990088"/>
            <a:ext cx="274320" cy="274320"/>
          </a:xfrm>
          <a:prstGeom prst="ellipse">
            <a:avLst/>
          </a:prstGeom>
          <a:solidFill>
            <a:srgbClr val="00B8D9"/>
          </a:solidFill>
          <a:ln w="12700">
            <a:solidFill>
              <a:srgbClr val="1E2A47"/>
            </a:solidFill>
            <a:prstDash val="solid"/>
          </a:ln>
        </p:spPr>
      </p:sp>
      <p:sp>
        <p:nvSpPr>
          <p:cNvPr id="7" name="Text 5"/>
          <p:cNvSpPr/>
          <p:nvPr/>
        </p:nvSpPr>
        <p:spPr>
          <a:xfrm>
            <a:off x="320040" y="2331720"/>
            <a:ext cx="246888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Trebuchet MS" pitchFamily="34" charset="0"/>
                <a:ea typeface="Trebuchet MS" pitchFamily="34" charset="-122"/>
                <a:cs typeface="Trebuchet MS" pitchFamily="34" charset="-120"/>
              </a:rPr>
              <a:t>March 2022</a:t>
            </a:r>
            <a:endParaRPr lang="en-US" sz="1200" dirty="0"/>
          </a:p>
        </p:txBody>
      </p:sp>
      <p:sp>
        <p:nvSpPr>
          <p:cNvPr id="8" name="Text 6"/>
          <p:cNvSpPr/>
          <p:nvPr/>
        </p:nvSpPr>
        <p:spPr>
          <a:xfrm>
            <a:off x="320040" y="3383280"/>
            <a:ext cx="2468880" cy="640080"/>
          </a:xfrm>
          <a:prstGeom prst="rect">
            <a:avLst/>
          </a:prstGeom>
          <a:noFill/>
          <a:ln/>
        </p:spPr>
        <p:txBody>
          <a:bodyPr wrap="square" lIns="0" tIns="0" rIns="0" bIns="0" rtlCol="0" anchor="ctr"/>
          <a:lstStyle/>
          <a:p>
            <a:pPr algn="ctr" indent="0" marL="0">
              <a:buNone/>
            </a:pPr>
            <a:r>
              <a:rPr lang="en-US" sz="1100" dirty="0">
                <a:solidFill>
                  <a:srgbClr val="475569"/>
                </a:solidFill>
                <a:latin typeface="Arial" pitchFamily="34" charset="0"/>
                <a:ea typeface="Arial" pitchFamily="34" charset="-122"/>
                <a:cs typeface="Arial" pitchFamily="34" charset="-120"/>
              </a:rPr>
              <a:t>React 18 stable</a:t>
            </a:r>
            <a:endParaRPr lang="en-US" sz="1100" dirty="0"/>
          </a:p>
        </p:txBody>
      </p:sp>
      <p:sp>
        <p:nvSpPr>
          <p:cNvPr id="9" name="Shape 7"/>
          <p:cNvSpPr/>
          <p:nvPr/>
        </p:nvSpPr>
        <p:spPr>
          <a:xfrm>
            <a:off x="3749040" y="2990088"/>
            <a:ext cx="274320" cy="274320"/>
          </a:xfrm>
          <a:prstGeom prst="ellipse">
            <a:avLst/>
          </a:prstGeom>
          <a:solidFill>
            <a:srgbClr val="00B8D9"/>
          </a:solidFill>
          <a:ln w="12700">
            <a:solidFill>
              <a:srgbClr val="1E2A47"/>
            </a:solidFill>
            <a:prstDash val="solid"/>
          </a:ln>
        </p:spPr>
      </p:sp>
      <p:sp>
        <p:nvSpPr>
          <p:cNvPr id="10" name="Text 8"/>
          <p:cNvSpPr/>
          <p:nvPr/>
        </p:nvSpPr>
        <p:spPr>
          <a:xfrm>
            <a:off x="2651760" y="2331720"/>
            <a:ext cx="246888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Trebuchet MS" pitchFamily="34" charset="0"/>
                <a:ea typeface="Trebuchet MS" pitchFamily="34" charset="-122"/>
                <a:cs typeface="Trebuchet MS" pitchFamily="34" charset="-120"/>
              </a:rPr>
              <a:t>Late 2023</a:t>
            </a:r>
            <a:endParaRPr lang="en-US" sz="1200" dirty="0"/>
          </a:p>
        </p:txBody>
      </p:sp>
      <p:sp>
        <p:nvSpPr>
          <p:cNvPr id="11" name="Text 9"/>
          <p:cNvSpPr/>
          <p:nvPr/>
        </p:nvSpPr>
        <p:spPr>
          <a:xfrm>
            <a:off x="2651760" y="3383280"/>
            <a:ext cx="2468880" cy="640080"/>
          </a:xfrm>
          <a:prstGeom prst="rect">
            <a:avLst/>
          </a:prstGeom>
          <a:noFill/>
          <a:ln/>
        </p:spPr>
        <p:txBody>
          <a:bodyPr wrap="square" lIns="0" tIns="0" rIns="0" bIns="0" rtlCol="0" anchor="ctr"/>
          <a:lstStyle/>
          <a:p>
            <a:pPr algn="ctr" indent="0" marL="0">
              <a:buNone/>
            </a:pPr>
            <a:r>
              <a:rPr lang="en-US" sz="1100" dirty="0">
                <a:solidFill>
                  <a:srgbClr val="475569"/>
                </a:solidFill>
                <a:latin typeface="Arial" pitchFamily="34" charset="0"/>
                <a:ea typeface="Arial" pitchFamily="34" charset="-122"/>
                <a:cs typeface="Arial" pitchFamily="34" charset="-120"/>
              </a:rPr>
              <a:t>Server Components in canary</a:t>
            </a:r>
            <a:endParaRPr lang="en-US" sz="1100" dirty="0"/>
          </a:p>
        </p:txBody>
      </p:sp>
      <p:sp>
        <p:nvSpPr>
          <p:cNvPr id="12" name="Shape 10"/>
          <p:cNvSpPr/>
          <p:nvPr/>
        </p:nvSpPr>
        <p:spPr>
          <a:xfrm>
            <a:off x="6080760" y="2990088"/>
            <a:ext cx="274320" cy="274320"/>
          </a:xfrm>
          <a:prstGeom prst="ellipse">
            <a:avLst/>
          </a:prstGeom>
          <a:solidFill>
            <a:srgbClr val="00B8D9"/>
          </a:solidFill>
          <a:ln w="12700">
            <a:solidFill>
              <a:srgbClr val="1E2A47"/>
            </a:solidFill>
            <a:prstDash val="solid"/>
          </a:ln>
        </p:spPr>
      </p:sp>
      <p:sp>
        <p:nvSpPr>
          <p:cNvPr id="13" name="Text 11"/>
          <p:cNvSpPr/>
          <p:nvPr/>
        </p:nvSpPr>
        <p:spPr>
          <a:xfrm>
            <a:off x="4983480" y="2331720"/>
            <a:ext cx="246888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Trebuchet MS" pitchFamily="34" charset="0"/>
                <a:ea typeface="Trebuchet MS" pitchFamily="34" charset="-122"/>
                <a:cs typeface="Trebuchet MS" pitchFamily="34" charset="-120"/>
              </a:rPr>
              <a:t>April 2024</a:t>
            </a:r>
            <a:endParaRPr lang="en-US" sz="1200" dirty="0"/>
          </a:p>
        </p:txBody>
      </p:sp>
      <p:sp>
        <p:nvSpPr>
          <p:cNvPr id="14" name="Text 12"/>
          <p:cNvSpPr/>
          <p:nvPr/>
        </p:nvSpPr>
        <p:spPr>
          <a:xfrm>
            <a:off x="4983480" y="3383280"/>
            <a:ext cx="2468880" cy="640080"/>
          </a:xfrm>
          <a:prstGeom prst="rect">
            <a:avLst/>
          </a:prstGeom>
          <a:noFill/>
          <a:ln/>
        </p:spPr>
        <p:txBody>
          <a:bodyPr wrap="square" lIns="0" tIns="0" rIns="0" bIns="0" rtlCol="0" anchor="ctr"/>
          <a:lstStyle/>
          <a:p>
            <a:pPr algn="ctr" indent="0" marL="0">
              <a:buNone/>
            </a:pPr>
            <a:r>
              <a:rPr lang="en-US" sz="1100" dirty="0">
                <a:solidFill>
                  <a:srgbClr val="475569"/>
                </a:solidFill>
                <a:latin typeface="Arial" pitchFamily="34" charset="0"/>
                <a:ea typeface="Arial" pitchFamily="34" charset="-122"/>
                <a:cs typeface="Arial" pitchFamily="34" charset="-120"/>
              </a:rPr>
              <a:t>React 19 RC announced</a:t>
            </a:r>
            <a:endParaRPr lang="en-US" sz="1100" dirty="0"/>
          </a:p>
        </p:txBody>
      </p:sp>
      <p:sp>
        <p:nvSpPr>
          <p:cNvPr id="15" name="Shape 13"/>
          <p:cNvSpPr/>
          <p:nvPr/>
        </p:nvSpPr>
        <p:spPr>
          <a:xfrm>
            <a:off x="8412480" y="2990088"/>
            <a:ext cx="274320" cy="274320"/>
          </a:xfrm>
          <a:prstGeom prst="ellipse">
            <a:avLst/>
          </a:prstGeom>
          <a:solidFill>
            <a:srgbClr val="00B8D9"/>
          </a:solidFill>
          <a:ln w="12700">
            <a:solidFill>
              <a:srgbClr val="1E2A47"/>
            </a:solidFill>
            <a:prstDash val="solid"/>
          </a:ln>
        </p:spPr>
      </p:sp>
      <p:sp>
        <p:nvSpPr>
          <p:cNvPr id="16" name="Text 14"/>
          <p:cNvSpPr/>
          <p:nvPr/>
        </p:nvSpPr>
        <p:spPr>
          <a:xfrm>
            <a:off x="7315200" y="2331720"/>
            <a:ext cx="246888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Trebuchet MS" pitchFamily="34" charset="0"/>
                <a:ea typeface="Trebuchet MS" pitchFamily="34" charset="-122"/>
                <a:cs typeface="Trebuchet MS" pitchFamily="34" charset="-120"/>
              </a:rPr>
              <a:t>Dec 5, 2024</a:t>
            </a:r>
            <a:endParaRPr lang="en-US" sz="1200" dirty="0"/>
          </a:p>
        </p:txBody>
      </p:sp>
      <p:sp>
        <p:nvSpPr>
          <p:cNvPr id="17" name="Text 15"/>
          <p:cNvSpPr/>
          <p:nvPr/>
        </p:nvSpPr>
        <p:spPr>
          <a:xfrm>
            <a:off x="7315200" y="3383280"/>
            <a:ext cx="2468880" cy="640080"/>
          </a:xfrm>
          <a:prstGeom prst="rect">
            <a:avLst/>
          </a:prstGeom>
          <a:noFill/>
          <a:ln/>
        </p:spPr>
        <p:txBody>
          <a:bodyPr wrap="square" lIns="0" tIns="0" rIns="0" bIns="0" rtlCol="0" anchor="ctr"/>
          <a:lstStyle/>
          <a:p>
            <a:pPr algn="ctr" indent="0" marL="0">
              <a:buNone/>
            </a:pPr>
            <a:r>
              <a:rPr lang="en-US" sz="1100" dirty="0">
                <a:solidFill>
                  <a:srgbClr val="475569"/>
                </a:solidFill>
                <a:latin typeface="Arial" pitchFamily="34" charset="0"/>
                <a:ea typeface="Arial" pitchFamily="34" charset="-122"/>
                <a:cs typeface="Arial" pitchFamily="34" charset="-120"/>
              </a:rPr>
              <a:t>React 19 stable</a:t>
            </a:r>
            <a:endParaRPr lang="en-US" sz="1100" dirty="0"/>
          </a:p>
        </p:txBody>
      </p:sp>
      <p:sp>
        <p:nvSpPr>
          <p:cNvPr id="18" name="Shape 16"/>
          <p:cNvSpPr/>
          <p:nvPr/>
        </p:nvSpPr>
        <p:spPr>
          <a:xfrm>
            <a:off x="10744200" y="2990088"/>
            <a:ext cx="274320" cy="274320"/>
          </a:xfrm>
          <a:prstGeom prst="ellipse">
            <a:avLst/>
          </a:prstGeom>
          <a:solidFill>
            <a:srgbClr val="00B8D9"/>
          </a:solidFill>
          <a:ln w="12700">
            <a:solidFill>
              <a:srgbClr val="1E2A47"/>
            </a:solidFill>
            <a:prstDash val="solid"/>
          </a:ln>
        </p:spPr>
      </p:sp>
      <p:sp>
        <p:nvSpPr>
          <p:cNvPr id="19" name="Text 17"/>
          <p:cNvSpPr/>
          <p:nvPr/>
        </p:nvSpPr>
        <p:spPr>
          <a:xfrm>
            <a:off x="9646920" y="2331720"/>
            <a:ext cx="246888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Trebuchet MS" pitchFamily="34" charset="0"/>
                <a:ea typeface="Trebuchet MS" pitchFamily="34" charset="-122"/>
                <a:cs typeface="Trebuchet MS" pitchFamily="34" charset="-120"/>
              </a:rPr>
              <a:t>2025+</a:t>
            </a:r>
            <a:endParaRPr lang="en-US" sz="1200" dirty="0"/>
          </a:p>
        </p:txBody>
      </p:sp>
      <p:sp>
        <p:nvSpPr>
          <p:cNvPr id="20" name="Text 18"/>
          <p:cNvSpPr/>
          <p:nvPr/>
        </p:nvSpPr>
        <p:spPr>
          <a:xfrm>
            <a:off x="9646920" y="3383280"/>
            <a:ext cx="2468880" cy="640080"/>
          </a:xfrm>
          <a:prstGeom prst="rect">
            <a:avLst/>
          </a:prstGeom>
          <a:noFill/>
          <a:ln/>
        </p:spPr>
        <p:txBody>
          <a:bodyPr wrap="square" lIns="0" tIns="0" rIns="0" bIns="0" rtlCol="0" anchor="ctr"/>
          <a:lstStyle/>
          <a:p>
            <a:pPr algn="ctr" indent="0" marL="0">
              <a:buNone/>
            </a:pPr>
            <a:r>
              <a:rPr lang="en-US" sz="1100" dirty="0">
                <a:solidFill>
                  <a:srgbClr val="475569"/>
                </a:solidFill>
                <a:latin typeface="Arial" pitchFamily="34" charset="0"/>
                <a:ea typeface="Arial" pitchFamily="34" charset="-122"/>
                <a:cs typeface="Arial" pitchFamily="34" charset="-120"/>
              </a:rPr>
              <a:t>Compiler GA, ecosystem catches up</a:t>
            </a:r>
            <a:endParaRPr lang="en-US" sz="1100" dirty="0"/>
          </a:p>
        </p:txBody>
      </p:sp>
      <p:sp>
        <p:nvSpPr>
          <p:cNvPr id="21" name="Shape 19"/>
          <p:cNvSpPr/>
          <p:nvPr/>
        </p:nvSpPr>
        <p:spPr>
          <a:xfrm>
            <a:off x="777240" y="4937760"/>
            <a:ext cx="10607040" cy="1280160"/>
          </a:xfrm>
          <a:prstGeom prst="rect">
            <a:avLst/>
          </a:prstGeom>
          <a:solidFill>
            <a:srgbClr val="CBF1F6"/>
          </a:solidFill>
          <a:ln w="12700">
            <a:solidFill>
              <a:srgbClr val="CBF1F6"/>
            </a:solidFill>
            <a:prstDash val="solid"/>
          </a:ln>
        </p:spPr>
      </p:sp>
      <p:sp>
        <p:nvSpPr>
          <p:cNvPr id="22" name="Text 20"/>
          <p:cNvSpPr/>
          <p:nvPr/>
        </p:nvSpPr>
        <p:spPr>
          <a:xfrm>
            <a:off x="1005840" y="4983480"/>
            <a:ext cx="10149840" cy="1188720"/>
          </a:xfrm>
          <a:prstGeom prst="rect">
            <a:avLst/>
          </a:prstGeom>
          <a:noFill/>
          <a:ln/>
        </p:spPr>
        <p:txBody>
          <a:bodyPr wrap="square" lIns="0" tIns="0" rIns="0" bIns="0" rtlCol="0" anchor="ctr"/>
          <a:lstStyle/>
          <a:p>
            <a:pPr indent="0" marL="0">
              <a:buNone/>
            </a:pPr>
            <a:r>
              <a:rPr lang="en-US" sz="1600" i="1" dirty="0">
                <a:solidFill>
                  <a:srgbClr val="0F172A"/>
                </a:solidFill>
                <a:latin typeface="Arial" pitchFamily="34" charset="0"/>
                <a:ea typeface="Arial" pitchFamily="34" charset="-122"/>
                <a:cs typeface="Arial" pitchFamily="34" charset="-120"/>
              </a:rPr>
              <a:t>React 19 is the first release with a coherent server story baked in. That's the headline.</a:t>
            </a:r>
            <a:endParaRPr lang="en-US" sz="1600" dirty="0"/>
          </a:p>
        </p:txBody>
      </p:sp>
      <p:sp>
        <p:nvSpPr>
          <p:cNvPr id="23" name="Text 2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4" name="Text 2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11 / 30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What's new in React 19</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We'll touch each of these today. Hooks deep dive is next module.</a:t>
            </a:r>
            <a:endParaRPr lang="en-US" sz="1400" dirty="0"/>
          </a:p>
        </p:txBody>
      </p:sp>
      <p:sp>
        <p:nvSpPr>
          <p:cNvPr id="5" name="Shape 3"/>
          <p:cNvSpPr/>
          <p:nvPr/>
        </p:nvSpPr>
        <p:spPr>
          <a:xfrm>
            <a:off x="777240" y="1554480"/>
            <a:ext cx="3520440" cy="2011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05840" y="1783080"/>
            <a:ext cx="502920" cy="502920"/>
          </a:xfrm>
          <a:prstGeom prst="rect">
            <a:avLst/>
          </a:prstGeom>
        </p:spPr>
      </p:pic>
      <p:sp>
        <p:nvSpPr>
          <p:cNvPr id="7" name="Text 4"/>
          <p:cNvSpPr/>
          <p:nvPr/>
        </p:nvSpPr>
        <p:spPr>
          <a:xfrm>
            <a:off x="1645920" y="1783080"/>
            <a:ext cx="256032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Actions</a:t>
            </a:r>
            <a:endParaRPr lang="en-US" sz="1400" dirty="0"/>
          </a:p>
        </p:txBody>
      </p:sp>
      <p:sp>
        <p:nvSpPr>
          <p:cNvPr id="8" name="Text 5"/>
          <p:cNvSpPr/>
          <p:nvPr/>
        </p:nvSpPr>
        <p:spPr>
          <a:xfrm>
            <a:off x="1005840" y="2423160"/>
            <a:ext cx="3108960" cy="105156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Functions you pass to &lt;form&gt; action props. Mutations + pending state without ceremony.</a:t>
            </a:r>
            <a:endParaRPr lang="en-US" sz="1150" dirty="0"/>
          </a:p>
        </p:txBody>
      </p:sp>
      <p:sp>
        <p:nvSpPr>
          <p:cNvPr id="9" name="Shape 6"/>
          <p:cNvSpPr/>
          <p:nvPr/>
        </p:nvSpPr>
        <p:spPr>
          <a:xfrm>
            <a:off x="4434840" y="1554480"/>
            <a:ext cx="3520440" cy="2011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4663440" y="1783080"/>
            <a:ext cx="502920" cy="502920"/>
          </a:xfrm>
          <a:prstGeom prst="rect">
            <a:avLst/>
          </a:prstGeom>
        </p:spPr>
      </p:pic>
      <p:sp>
        <p:nvSpPr>
          <p:cNvPr id="11" name="Text 7"/>
          <p:cNvSpPr/>
          <p:nvPr/>
        </p:nvSpPr>
        <p:spPr>
          <a:xfrm>
            <a:off x="5303520" y="1783080"/>
            <a:ext cx="256032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New hooks</a:t>
            </a:r>
            <a:endParaRPr lang="en-US" sz="1400" dirty="0"/>
          </a:p>
        </p:txBody>
      </p:sp>
      <p:sp>
        <p:nvSpPr>
          <p:cNvPr id="12" name="Text 8"/>
          <p:cNvSpPr/>
          <p:nvPr/>
        </p:nvSpPr>
        <p:spPr>
          <a:xfrm>
            <a:off x="4663440" y="2423160"/>
            <a:ext cx="3108960" cy="105156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use(), useActionState, useFormStatus, useOptimistic — covered in Module 2.</a:t>
            </a:r>
            <a:endParaRPr lang="en-US" sz="1150" dirty="0"/>
          </a:p>
        </p:txBody>
      </p:sp>
      <p:sp>
        <p:nvSpPr>
          <p:cNvPr id="13" name="Shape 9"/>
          <p:cNvSpPr/>
          <p:nvPr/>
        </p:nvSpPr>
        <p:spPr>
          <a:xfrm>
            <a:off x="8092440" y="1554480"/>
            <a:ext cx="3520440" cy="2011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8321040" y="1783080"/>
            <a:ext cx="502920" cy="502920"/>
          </a:xfrm>
          <a:prstGeom prst="rect">
            <a:avLst/>
          </a:prstGeom>
        </p:spPr>
      </p:pic>
      <p:sp>
        <p:nvSpPr>
          <p:cNvPr id="15" name="Text 10"/>
          <p:cNvSpPr/>
          <p:nvPr/>
        </p:nvSpPr>
        <p:spPr>
          <a:xfrm>
            <a:off x="8961120" y="1783080"/>
            <a:ext cx="256032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ref as a prop</a:t>
            </a:r>
            <a:endParaRPr lang="en-US" sz="1400" dirty="0"/>
          </a:p>
        </p:txBody>
      </p:sp>
      <p:sp>
        <p:nvSpPr>
          <p:cNvPr id="16" name="Text 11"/>
          <p:cNvSpPr/>
          <p:nvPr/>
        </p:nvSpPr>
        <p:spPr>
          <a:xfrm>
            <a:off x="8321040" y="2423160"/>
            <a:ext cx="3108960" cy="105156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forwardRef is no longer required. Pass ref like any other prop.</a:t>
            </a:r>
            <a:endParaRPr lang="en-US" sz="1150" dirty="0"/>
          </a:p>
        </p:txBody>
      </p:sp>
      <p:sp>
        <p:nvSpPr>
          <p:cNvPr id="17" name="Shape 12"/>
          <p:cNvSpPr/>
          <p:nvPr/>
        </p:nvSpPr>
        <p:spPr>
          <a:xfrm>
            <a:off x="777240" y="3749040"/>
            <a:ext cx="3520440" cy="2011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1005840" y="3977640"/>
            <a:ext cx="502920" cy="502920"/>
          </a:xfrm>
          <a:prstGeom prst="rect">
            <a:avLst/>
          </a:prstGeom>
        </p:spPr>
      </p:pic>
      <p:sp>
        <p:nvSpPr>
          <p:cNvPr id="19" name="Text 13"/>
          <p:cNvSpPr/>
          <p:nvPr/>
        </p:nvSpPr>
        <p:spPr>
          <a:xfrm>
            <a:off x="1645920" y="3977640"/>
            <a:ext cx="256032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Server Components</a:t>
            </a:r>
            <a:endParaRPr lang="en-US" sz="1400" dirty="0"/>
          </a:p>
        </p:txBody>
      </p:sp>
      <p:sp>
        <p:nvSpPr>
          <p:cNvPr id="20" name="Text 14"/>
          <p:cNvSpPr/>
          <p:nvPr/>
        </p:nvSpPr>
        <p:spPr>
          <a:xfrm>
            <a:off x="1005840" y="4617720"/>
            <a:ext cx="3108960" cy="105156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Stable. Component code that runs only on the server. Module 6 covers this.</a:t>
            </a:r>
            <a:endParaRPr lang="en-US" sz="1150" dirty="0"/>
          </a:p>
        </p:txBody>
      </p:sp>
      <p:sp>
        <p:nvSpPr>
          <p:cNvPr id="21" name="Shape 15"/>
          <p:cNvSpPr/>
          <p:nvPr/>
        </p:nvSpPr>
        <p:spPr>
          <a:xfrm>
            <a:off x="4434840" y="3749040"/>
            <a:ext cx="3520440" cy="2011680"/>
          </a:xfrm>
          <a:prstGeom prst="rect">
            <a:avLst/>
          </a:prstGeom>
          <a:solidFill>
            <a:srgbClr val="FFFFFF"/>
          </a:solidFill>
          <a:ln w="12700">
            <a:solidFill>
              <a:srgbClr val="E2E8F0"/>
            </a:solidFill>
            <a:prstDash val="solid"/>
          </a:ln>
        </p:spPr>
      </p:sp>
      <p:pic>
        <p:nvPicPr>
          <p:cNvPr id="22" name="Image 4" descr="preencoded.png">    </p:cNvPr>
          <p:cNvPicPr>
            <a:picLocks noChangeAspect="1"/>
          </p:cNvPicPr>
          <p:nvPr/>
        </p:nvPicPr>
        <p:blipFill>
          <a:blip r:embed="rId5"/>
          <a:stretch>
            <a:fillRect/>
          </a:stretch>
        </p:blipFill>
        <p:spPr>
          <a:xfrm>
            <a:off x="4663440" y="3977640"/>
            <a:ext cx="502920" cy="502920"/>
          </a:xfrm>
          <a:prstGeom prst="rect">
            <a:avLst/>
          </a:prstGeom>
        </p:spPr>
      </p:pic>
      <p:sp>
        <p:nvSpPr>
          <p:cNvPr id="23" name="Text 16"/>
          <p:cNvSpPr/>
          <p:nvPr/>
        </p:nvSpPr>
        <p:spPr>
          <a:xfrm>
            <a:off x="5303520" y="3977640"/>
            <a:ext cx="256032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Asset preloading</a:t>
            </a:r>
            <a:endParaRPr lang="en-US" sz="1400" dirty="0"/>
          </a:p>
        </p:txBody>
      </p:sp>
      <p:sp>
        <p:nvSpPr>
          <p:cNvPr id="24" name="Text 17"/>
          <p:cNvSpPr/>
          <p:nvPr/>
        </p:nvSpPr>
        <p:spPr>
          <a:xfrm>
            <a:off x="4663440" y="4617720"/>
            <a:ext cx="3108960" cy="105156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preload, preinit, preconnect — fine-grained control over what loads when.</a:t>
            </a:r>
            <a:endParaRPr lang="en-US" sz="1150" dirty="0"/>
          </a:p>
        </p:txBody>
      </p:sp>
      <p:sp>
        <p:nvSpPr>
          <p:cNvPr id="25" name="Shape 18"/>
          <p:cNvSpPr/>
          <p:nvPr/>
        </p:nvSpPr>
        <p:spPr>
          <a:xfrm>
            <a:off x="8092440" y="3749040"/>
            <a:ext cx="3520440" cy="2011680"/>
          </a:xfrm>
          <a:prstGeom prst="rect">
            <a:avLst/>
          </a:prstGeom>
          <a:solidFill>
            <a:srgbClr val="FFFFFF"/>
          </a:solidFill>
          <a:ln w="12700">
            <a:solidFill>
              <a:srgbClr val="E2E8F0"/>
            </a:solidFill>
            <a:prstDash val="solid"/>
          </a:ln>
        </p:spPr>
      </p:sp>
      <p:pic>
        <p:nvPicPr>
          <p:cNvPr id="26" name="Image 5" descr="preencoded.png">    </p:cNvPr>
          <p:cNvPicPr>
            <a:picLocks noChangeAspect="1"/>
          </p:cNvPicPr>
          <p:nvPr/>
        </p:nvPicPr>
        <p:blipFill>
          <a:blip r:embed="rId6"/>
          <a:stretch>
            <a:fillRect/>
          </a:stretch>
        </p:blipFill>
        <p:spPr>
          <a:xfrm>
            <a:off x="8321040" y="3977640"/>
            <a:ext cx="502920" cy="502920"/>
          </a:xfrm>
          <a:prstGeom prst="rect">
            <a:avLst/>
          </a:prstGeom>
        </p:spPr>
      </p:pic>
      <p:sp>
        <p:nvSpPr>
          <p:cNvPr id="27" name="Text 19"/>
          <p:cNvSpPr/>
          <p:nvPr/>
        </p:nvSpPr>
        <p:spPr>
          <a:xfrm>
            <a:off x="8961120" y="3977640"/>
            <a:ext cx="256032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Document metadata</a:t>
            </a:r>
            <a:endParaRPr lang="en-US" sz="1400" dirty="0"/>
          </a:p>
        </p:txBody>
      </p:sp>
      <p:sp>
        <p:nvSpPr>
          <p:cNvPr id="28" name="Text 20"/>
          <p:cNvSpPr/>
          <p:nvPr/>
        </p:nvSpPr>
        <p:spPr>
          <a:xfrm>
            <a:off x="8321040" y="4617720"/>
            <a:ext cx="3108960" cy="105156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&lt;title&gt; and &lt;meta&gt; tags work as plain JSX inside components.</a:t>
            </a:r>
            <a:endParaRPr lang="en-US" sz="1150" dirty="0"/>
          </a:p>
        </p:txBody>
      </p:sp>
      <p:sp>
        <p:nvSpPr>
          <p:cNvPr id="29" name="Text 2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30" name="Text 2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12 / 30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Actions: forms without the wiring</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Pass a function to &lt;form action&gt;. React handles pending, errors, and resets.</a:t>
            </a:r>
            <a:endParaRPr lang="en-US" sz="1400" dirty="0"/>
          </a:p>
        </p:txBody>
      </p:sp>
      <p:sp>
        <p:nvSpPr>
          <p:cNvPr id="5" name="Shape 3"/>
          <p:cNvSpPr/>
          <p:nvPr/>
        </p:nvSpPr>
        <p:spPr>
          <a:xfrm>
            <a:off x="777240" y="1554480"/>
            <a:ext cx="5943600" cy="4297680"/>
          </a:xfrm>
          <a:prstGeom prst="rect">
            <a:avLst/>
          </a:prstGeom>
          <a:solidFill>
            <a:srgbClr val="1E2A47"/>
          </a:solidFill>
          <a:ln w="12700">
            <a:solidFill>
              <a:srgbClr val="1E2A47"/>
            </a:solidFill>
            <a:prstDash val="solid"/>
          </a:ln>
        </p:spPr>
      </p:sp>
      <p:sp>
        <p:nvSpPr>
          <p:cNvPr id="6" name="Text 4"/>
          <p:cNvSpPr/>
          <p:nvPr/>
        </p:nvSpPr>
        <p:spPr>
          <a:xfrm>
            <a:off x="960120" y="1691640"/>
            <a:ext cx="5577840" cy="4023360"/>
          </a:xfrm>
          <a:prstGeom prst="rect">
            <a:avLst/>
          </a:prstGeom>
          <a:noFill/>
          <a:ln/>
        </p:spPr>
        <p:txBody>
          <a:bodyPr wrap="square" lIns="0" tIns="0" rIns="0" bIns="0" rtlCol="0" anchor="t"/>
          <a:lstStyle/>
          <a:p>
            <a:pPr indent="0" marL="0">
              <a:buNone/>
            </a:pPr>
            <a:r>
              <a:rPr lang="en-US" sz="1300" dirty="0">
                <a:solidFill>
                  <a:srgbClr val="FFFFFF"/>
                </a:solidFill>
                <a:latin typeface="Courier New" pitchFamily="34" charset="0"/>
                <a:ea typeface="Courier New" pitchFamily="34" charset="-122"/>
                <a:cs typeface="Courier New" pitchFamily="34" charset="-120"/>
              </a:rPr>
              <a:t>function NewPostForm() {
</a:t>
            </a:r>
            <a:pPr indent="0" marL="0">
              <a:buNone/>
            </a:pPr>
            <a:r>
              <a:rPr lang="en-US" sz="1300" dirty="0">
                <a:solidFill>
                  <a:srgbClr val="000000"/>
                </a:solidFill>
                <a:latin typeface="Courier New" pitchFamily="34" charset="0"/>
                <a:ea typeface="Courier New" pitchFamily="34" charset="-122"/>
                <a:cs typeface="Courier New" pitchFamily="34" charset="-120"/>
              </a:rPr>
              <a:t>  </a:t>
            </a:r>
            <a:pPr indent="0" marL="0">
              <a:buNone/>
            </a:pPr>
            <a:r>
              <a:rPr lang="en-US" sz="1300" dirty="0">
                <a:solidFill>
                  <a:srgbClr val="C586C0"/>
                </a:solidFill>
                <a:latin typeface="Courier New" pitchFamily="34" charset="0"/>
                <a:ea typeface="Courier New" pitchFamily="34" charset="-122"/>
                <a:cs typeface="Courier New" pitchFamily="34" charset="-120"/>
              </a:rPr>
              <a:t>async function </a:t>
            </a:r>
            <a:pPr indent="0" marL="0">
              <a:buNone/>
            </a:pPr>
            <a:r>
              <a:rPr lang="en-US" sz="1300" dirty="0">
                <a:solidFill>
                  <a:srgbClr val="DCDCAA"/>
                </a:solidFill>
                <a:latin typeface="Courier New" pitchFamily="34" charset="0"/>
                <a:ea typeface="Courier New" pitchFamily="34" charset="-122"/>
                <a:cs typeface="Courier New" pitchFamily="34" charset="-120"/>
              </a:rPr>
              <a:t>createPost</a:t>
            </a:r>
            <a:pPr indent="0" marL="0">
              <a:buNone/>
            </a:pPr>
            <a:r>
              <a:rPr lang="en-US" sz="1300" dirty="0">
                <a:solidFill>
                  <a:srgbClr val="FFFFFF"/>
                </a:solidFill>
                <a:latin typeface="Courier New" pitchFamily="34" charset="0"/>
                <a:ea typeface="Courier New" pitchFamily="34" charset="-122"/>
                <a:cs typeface="Courier New" pitchFamily="34" charset="-120"/>
              </a:rPr>
              <a:t>(formData) {
</a:t>
            </a:r>
            <a:pPr indent="0" marL="0">
              <a:buNone/>
            </a:pPr>
            <a:r>
              <a:rPr lang="en-US" sz="1300" dirty="0">
                <a:solidFill>
                  <a:srgbClr val="000000"/>
                </a:solidFill>
                <a:latin typeface="Courier New" pitchFamily="34" charset="0"/>
                <a:ea typeface="Courier New" pitchFamily="34" charset="-122"/>
                <a:cs typeface="Courier New" pitchFamily="34" charset="-120"/>
              </a:rPr>
              <a:t>    </a:t>
            </a:r>
            <a:pPr indent="0" marL="0">
              <a:buNone/>
            </a:pPr>
            <a:r>
              <a:rPr lang="en-US" sz="1300" dirty="0">
                <a:solidFill>
                  <a:srgbClr val="C586C0"/>
                </a:solidFill>
                <a:latin typeface="Courier New" pitchFamily="34" charset="0"/>
                <a:ea typeface="Courier New" pitchFamily="34" charset="-122"/>
                <a:cs typeface="Courier New" pitchFamily="34" charset="-120"/>
              </a:rPr>
              <a:t>await </a:t>
            </a:r>
            <a:pPr indent="0" marL="0">
              <a:buNone/>
            </a:pPr>
            <a:r>
              <a:rPr lang="en-US" sz="1300" dirty="0">
                <a:solidFill>
                  <a:srgbClr val="9CDCFE"/>
                </a:solidFill>
                <a:latin typeface="Courier New" pitchFamily="34" charset="0"/>
                <a:ea typeface="Courier New" pitchFamily="34" charset="-122"/>
                <a:cs typeface="Courier New" pitchFamily="34" charset="-120"/>
              </a:rPr>
              <a:t>savePost(formData.get("body"));
</a:t>
            </a:r>
            <a:pPr indent="0" marL="0">
              <a:buNone/>
            </a:pPr>
            <a:r>
              <a:rPr lang="en-US" sz="1300" dirty="0">
                <a:solidFill>
                  <a:srgbClr val="FFFFFF"/>
                </a:solidFill>
                <a:latin typeface="Courier New" pitchFamily="34" charset="0"/>
                <a:ea typeface="Courier New" pitchFamily="34" charset="-122"/>
                <a:cs typeface="Courier New" pitchFamily="34" charset="-120"/>
              </a:rPr>
              <a:t>  }
</a:t>
            </a:r>
            <a:pPr indent="0" marL="0">
              <a:buNone/>
            </a:pPr>
            <a:r>
              <a:rPr lang="en-US" sz="1300" dirty="0">
                <a:solidFill>
                  <a:srgbClr val="000000"/>
                </a:solidFill>
                <a:latin typeface="Courier New" pitchFamily="34" charset="0"/>
                <a:ea typeface="Courier New" pitchFamily="34" charset="-122"/>
                <a:cs typeface="Courier New" pitchFamily="34" charset="-120"/>
              </a:rPr>
              <a:t>  </a:t>
            </a:r>
            <a:pPr indent="0" marL="0">
              <a:buNone/>
            </a:pPr>
            <a:r>
              <a:rPr lang="en-US" sz="1300" dirty="0">
                <a:solidFill>
                  <a:srgbClr val="C586C0"/>
                </a:solidFill>
                <a:latin typeface="Courier New" pitchFamily="34" charset="0"/>
                <a:ea typeface="Courier New" pitchFamily="34" charset="-122"/>
                <a:cs typeface="Courier New" pitchFamily="34" charset="-120"/>
              </a:rPr>
              <a:t>return </a:t>
            </a:r>
            <a:pPr indent="0" marL="0">
              <a:buNone/>
            </a:pPr>
            <a:r>
              <a:rPr lang="en-US" sz="1300" dirty="0">
                <a:solidFill>
                  <a:srgbClr val="FFFFFF"/>
                </a:solidFill>
                <a:latin typeface="Courier New" pitchFamily="34" charset="0"/>
                <a:ea typeface="Courier New" pitchFamily="34" charset="-122"/>
                <a:cs typeface="Courier New" pitchFamily="34" charset="-120"/>
              </a:rPr>
              <a:t>(
</a:t>
            </a:r>
            <a:pPr indent="0" marL="0">
              <a:buNone/>
            </a:pPr>
            <a:r>
              <a:rPr lang="en-US" sz="1300" dirty="0">
                <a:solidFill>
                  <a:srgbClr val="9CDCFE"/>
                </a:solidFill>
                <a:latin typeface="Courier New" pitchFamily="34" charset="0"/>
                <a:ea typeface="Courier New" pitchFamily="34" charset="-122"/>
                <a:cs typeface="Courier New" pitchFamily="34" charset="-120"/>
              </a:rPr>
              <a:t>    &lt;form action={createPost}&gt;
</a:t>
            </a:r>
            <a:pPr indent="0" marL="0">
              <a:buNone/>
            </a:pPr>
            <a:r>
              <a:rPr lang="en-US" sz="1300" dirty="0">
                <a:solidFill>
                  <a:srgbClr val="9CDCFE"/>
                </a:solidFill>
                <a:latin typeface="Courier New" pitchFamily="34" charset="0"/>
                <a:ea typeface="Courier New" pitchFamily="34" charset="-122"/>
                <a:cs typeface="Courier New" pitchFamily="34" charset="-120"/>
              </a:rPr>
              <a:t>      &lt;textarea name="body" /&gt;
</a:t>
            </a:r>
            <a:pPr indent="0" marL="0">
              <a:buNone/>
            </a:pPr>
            <a:r>
              <a:rPr lang="en-US" sz="1300" dirty="0">
                <a:solidFill>
                  <a:srgbClr val="9CDCFE"/>
                </a:solidFill>
                <a:latin typeface="Courier New" pitchFamily="34" charset="0"/>
                <a:ea typeface="Courier New" pitchFamily="34" charset="-122"/>
                <a:cs typeface="Courier New" pitchFamily="34" charset="-120"/>
              </a:rPr>
              <a:t>      &lt;SubmitButton /&gt;
</a:t>
            </a:r>
            <a:pPr indent="0" marL="0">
              <a:buNone/>
            </a:pPr>
            <a:r>
              <a:rPr lang="en-US" sz="1300" dirty="0">
                <a:solidFill>
                  <a:srgbClr val="9CDCFE"/>
                </a:solidFill>
                <a:latin typeface="Courier New" pitchFamily="34" charset="0"/>
                <a:ea typeface="Courier New" pitchFamily="34" charset="-122"/>
                <a:cs typeface="Courier New" pitchFamily="34" charset="-120"/>
              </a:rPr>
              <a:t>    &lt;/form&gt;
</a:t>
            </a:r>
            <a:pPr indent="0" marL="0">
              <a:buNone/>
            </a:pPr>
            <a:r>
              <a:rPr lang="en-US" sz="1300" dirty="0">
                <a:solidFill>
                  <a:srgbClr val="FFFFFF"/>
                </a:solidFill>
                <a:latin typeface="Courier New" pitchFamily="34" charset="0"/>
                <a:ea typeface="Courier New" pitchFamily="34" charset="-122"/>
                <a:cs typeface="Courier New" pitchFamily="34" charset="-120"/>
              </a:rPr>
              <a:t>  );
</a:t>
            </a:r>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p:txBody>
      </p:sp>
      <p:sp>
        <p:nvSpPr>
          <p:cNvPr id="7" name="Text 5"/>
          <p:cNvSpPr/>
          <p:nvPr/>
        </p:nvSpPr>
        <p:spPr>
          <a:xfrm>
            <a:off x="6949440" y="1691640"/>
            <a:ext cx="4572000" cy="4023360"/>
          </a:xfrm>
          <a:prstGeom prst="rect">
            <a:avLst/>
          </a:prstGeom>
          <a:noFill/>
          <a:ln/>
        </p:spPr>
        <p:txBody>
          <a:bodyPr wrap="square" lIns="0" tIns="0" rIns="0" bIns="0" rtlCol="0" anchor="t"/>
          <a:lstStyle/>
          <a:p>
            <a:pPr indent="0" marL="0">
              <a:spcAft>
                <a:spcPts val="400"/>
              </a:spcAft>
              <a:buNone/>
            </a:pPr>
            <a:r>
              <a:rPr lang="en-US" sz="1400" b="1" dirty="0">
                <a:solidFill>
                  <a:srgbClr val="0F172A"/>
                </a:solidFill>
                <a:latin typeface="Arial" pitchFamily="34" charset="0"/>
                <a:ea typeface="Arial" pitchFamily="34" charset="-122"/>
                <a:cs typeface="Arial" pitchFamily="34" charset="-120"/>
              </a:rPr>
              <a:t>What you don't write anymore:</a:t>
            </a:r>
            <a:endParaRPr lang="en-US" sz="1250" dirty="0"/>
          </a:p>
          <a:p>
            <a:pPr indent="0" marL="0">
              <a:spcAft>
                <a:spcPts val="400"/>
              </a:spcAft>
              <a:buNone/>
            </a:pPr>
            <a:r>
              <a:rPr lang="en-US" sz="1250" dirty="0">
                <a:solidFill>
                  <a:srgbClr val="475569"/>
                </a:solidFill>
                <a:latin typeface="Arial" pitchFamily="34" charset="0"/>
                <a:ea typeface="Arial" pitchFamily="34" charset="-122"/>
                <a:cs typeface="Arial" pitchFamily="34" charset="-120"/>
              </a:rPr>
              <a:t> </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isPending state — React tracks it (use useFormStatus inside)</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preventDefault — Actions intercept submit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Manual reset — form clears on success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Race-condition handling — newer submissions win</a:t>
            </a:r>
            <a:endParaRPr lang="en-US" sz="1250" dirty="0"/>
          </a:p>
          <a:p>
            <a:pPr indent="0" marL="0">
              <a:spcAft>
                <a:spcPts val="400"/>
              </a:spcAft>
              <a:buNone/>
            </a:pPr>
            <a:r>
              <a:rPr lang="en-US" sz="1250" dirty="0">
                <a:solidFill>
                  <a:srgbClr val="475569"/>
                </a:solidFill>
                <a:latin typeface="Arial" pitchFamily="34" charset="0"/>
                <a:ea typeface="Arial" pitchFamily="34" charset="-122"/>
                <a:cs typeface="Arial" pitchFamily="34" charset="-120"/>
              </a:rPr>
              <a:t> </a:t>
            </a:r>
            <a:endParaRPr lang="en-US" sz="1250" dirty="0"/>
          </a:p>
          <a:p>
            <a:pPr indent="0" marL="0">
              <a:spcAft>
                <a:spcPts val="400"/>
              </a:spcAft>
              <a:buNone/>
            </a:pPr>
            <a:r>
              <a:rPr lang="en-US" sz="1200" i="1" dirty="0">
                <a:solidFill>
                  <a:srgbClr val="475569"/>
                </a:solidFill>
                <a:latin typeface="Arial" pitchFamily="34" charset="0"/>
                <a:ea typeface="Arial" pitchFamily="34" charset="-122"/>
                <a:cs typeface="Arial" pitchFamily="34" charset="-120"/>
              </a:rPr>
              <a:t>Pair with useActionState for return values, errors, and validation. Module 2.</a:t>
            </a:r>
            <a:endParaRPr lang="en-US" sz="1250" dirty="0"/>
          </a:p>
        </p:txBody>
      </p:sp>
      <p:sp>
        <p:nvSpPr>
          <p:cNvPr id="8" name="Text 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9" name="Text 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13 / 30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Four hooks worth circling</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We'll use each of them in Lab 1. Coverage in Module 2.</a:t>
            </a:r>
            <a:endParaRPr lang="en-US" sz="1400" dirty="0"/>
          </a:p>
        </p:txBody>
      </p:sp>
      <p:sp>
        <p:nvSpPr>
          <p:cNvPr id="5" name="Shape 3"/>
          <p:cNvSpPr/>
          <p:nvPr/>
        </p:nvSpPr>
        <p:spPr>
          <a:xfrm>
            <a:off x="777240" y="1554480"/>
            <a:ext cx="10607040" cy="868680"/>
          </a:xfrm>
          <a:prstGeom prst="rect">
            <a:avLst/>
          </a:prstGeom>
          <a:solidFill>
            <a:srgbClr val="FFFFFF"/>
          </a:solidFill>
          <a:ln w="12700">
            <a:solidFill>
              <a:srgbClr val="E2E8F0"/>
            </a:solidFill>
            <a:prstDash val="solid"/>
          </a:ln>
        </p:spPr>
      </p:sp>
      <p:sp>
        <p:nvSpPr>
          <p:cNvPr id="6" name="Text 4"/>
          <p:cNvSpPr/>
          <p:nvPr/>
        </p:nvSpPr>
        <p:spPr>
          <a:xfrm>
            <a:off x="960120" y="1719072"/>
            <a:ext cx="3657600" cy="548640"/>
          </a:xfrm>
          <a:prstGeom prst="rect">
            <a:avLst/>
          </a:prstGeom>
          <a:noFill/>
          <a:ln/>
        </p:spPr>
        <p:txBody>
          <a:bodyPr wrap="square" lIns="0" tIns="0" rIns="0" bIns="0" rtlCol="0" anchor="ctr"/>
          <a:lstStyle/>
          <a:p>
            <a:pPr indent="0" marL="0">
              <a:buNone/>
            </a:pPr>
            <a:r>
              <a:rPr lang="en-US" sz="1700" b="1" dirty="0">
                <a:solidFill>
                  <a:srgbClr val="00B8D9"/>
                </a:solidFill>
                <a:latin typeface="Courier New" pitchFamily="34" charset="0"/>
                <a:ea typeface="Courier New" pitchFamily="34" charset="-122"/>
                <a:cs typeface="Courier New" pitchFamily="34" charset="-120"/>
              </a:rPr>
              <a:t>use(promise)</a:t>
            </a:r>
            <a:endParaRPr lang="en-US" sz="1700" dirty="0"/>
          </a:p>
        </p:txBody>
      </p:sp>
      <p:sp>
        <p:nvSpPr>
          <p:cNvPr id="7" name="Text 5"/>
          <p:cNvSpPr/>
          <p:nvPr/>
        </p:nvSpPr>
        <p:spPr>
          <a:xfrm>
            <a:off x="4754880" y="1719072"/>
            <a:ext cx="6492240" cy="54864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Suspends until a promise resolves. The new way to read async data.</a:t>
            </a:r>
            <a:endParaRPr lang="en-US" sz="1300" dirty="0"/>
          </a:p>
        </p:txBody>
      </p:sp>
      <p:sp>
        <p:nvSpPr>
          <p:cNvPr id="8" name="Shape 6"/>
          <p:cNvSpPr/>
          <p:nvPr/>
        </p:nvSpPr>
        <p:spPr>
          <a:xfrm>
            <a:off x="777240" y="2606040"/>
            <a:ext cx="10607040" cy="868680"/>
          </a:xfrm>
          <a:prstGeom prst="rect">
            <a:avLst/>
          </a:prstGeom>
          <a:solidFill>
            <a:srgbClr val="FFFFFF"/>
          </a:solidFill>
          <a:ln w="12700">
            <a:solidFill>
              <a:srgbClr val="E2E8F0"/>
            </a:solidFill>
            <a:prstDash val="solid"/>
          </a:ln>
        </p:spPr>
      </p:sp>
      <p:sp>
        <p:nvSpPr>
          <p:cNvPr id="9" name="Text 7"/>
          <p:cNvSpPr/>
          <p:nvPr/>
        </p:nvSpPr>
        <p:spPr>
          <a:xfrm>
            <a:off x="960120" y="2770632"/>
            <a:ext cx="3657600" cy="548640"/>
          </a:xfrm>
          <a:prstGeom prst="rect">
            <a:avLst/>
          </a:prstGeom>
          <a:noFill/>
          <a:ln/>
        </p:spPr>
        <p:txBody>
          <a:bodyPr wrap="square" lIns="0" tIns="0" rIns="0" bIns="0" rtlCol="0" anchor="ctr"/>
          <a:lstStyle/>
          <a:p>
            <a:pPr indent="0" marL="0">
              <a:buNone/>
            </a:pPr>
            <a:r>
              <a:rPr lang="en-US" sz="1700" b="1" dirty="0">
                <a:solidFill>
                  <a:srgbClr val="00B8D9"/>
                </a:solidFill>
                <a:latin typeface="Courier New" pitchFamily="34" charset="0"/>
                <a:ea typeface="Courier New" pitchFamily="34" charset="-122"/>
                <a:cs typeface="Courier New" pitchFamily="34" charset="-120"/>
              </a:rPr>
              <a:t>useActionState</a:t>
            </a:r>
            <a:endParaRPr lang="en-US" sz="1700" dirty="0"/>
          </a:p>
        </p:txBody>
      </p:sp>
      <p:sp>
        <p:nvSpPr>
          <p:cNvPr id="10" name="Text 8"/>
          <p:cNvSpPr/>
          <p:nvPr/>
        </p:nvSpPr>
        <p:spPr>
          <a:xfrm>
            <a:off x="4754880" y="2770632"/>
            <a:ext cx="6492240" cy="54864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Pairs with Actions. Gives you state, the action, and a pending flag.</a:t>
            </a:r>
            <a:endParaRPr lang="en-US" sz="1300" dirty="0"/>
          </a:p>
        </p:txBody>
      </p:sp>
      <p:sp>
        <p:nvSpPr>
          <p:cNvPr id="11" name="Shape 9"/>
          <p:cNvSpPr/>
          <p:nvPr/>
        </p:nvSpPr>
        <p:spPr>
          <a:xfrm>
            <a:off x="777240" y="3657600"/>
            <a:ext cx="10607040" cy="868680"/>
          </a:xfrm>
          <a:prstGeom prst="rect">
            <a:avLst/>
          </a:prstGeom>
          <a:solidFill>
            <a:srgbClr val="FFFFFF"/>
          </a:solidFill>
          <a:ln w="12700">
            <a:solidFill>
              <a:srgbClr val="E2E8F0"/>
            </a:solidFill>
            <a:prstDash val="solid"/>
          </a:ln>
        </p:spPr>
      </p:sp>
      <p:sp>
        <p:nvSpPr>
          <p:cNvPr id="12" name="Text 10"/>
          <p:cNvSpPr/>
          <p:nvPr/>
        </p:nvSpPr>
        <p:spPr>
          <a:xfrm>
            <a:off x="960120" y="3822192"/>
            <a:ext cx="3657600" cy="548640"/>
          </a:xfrm>
          <a:prstGeom prst="rect">
            <a:avLst/>
          </a:prstGeom>
          <a:noFill/>
          <a:ln/>
        </p:spPr>
        <p:txBody>
          <a:bodyPr wrap="square" lIns="0" tIns="0" rIns="0" bIns="0" rtlCol="0" anchor="ctr"/>
          <a:lstStyle/>
          <a:p>
            <a:pPr indent="0" marL="0">
              <a:buNone/>
            </a:pPr>
            <a:r>
              <a:rPr lang="en-US" sz="1700" b="1" dirty="0">
                <a:solidFill>
                  <a:srgbClr val="00B8D9"/>
                </a:solidFill>
                <a:latin typeface="Courier New" pitchFamily="34" charset="0"/>
                <a:ea typeface="Courier New" pitchFamily="34" charset="-122"/>
                <a:cs typeface="Courier New" pitchFamily="34" charset="-120"/>
              </a:rPr>
              <a:t>useFormStatus</a:t>
            </a:r>
            <a:endParaRPr lang="en-US" sz="1700" dirty="0"/>
          </a:p>
        </p:txBody>
      </p:sp>
      <p:sp>
        <p:nvSpPr>
          <p:cNvPr id="13" name="Text 11"/>
          <p:cNvSpPr/>
          <p:nvPr/>
        </p:nvSpPr>
        <p:spPr>
          <a:xfrm>
            <a:off x="4754880" y="3822192"/>
            <a:ext cx="6492240" cy="54864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Read pending/data/method from inside a child of &lt;form&gt;. No prop drilling.</a:t>
            </a:r>
            <a:endParaRPr lang="en-US" sz="1300" dirty="0"/>
          </a:p>
        </p:txBody>
      </p:sp>
      <p:sp>
        <p:nvSpPr>
          <p:cNvPr id="14" name="Shape 12"/>
          <p:cNvSpPr/>
          <p:nvPr/>
        </p:nvSpPr>
        <p:spPr>
          <a:xfrm>
            <a:off x="777240" y="4709160"/>
            <a:ext cx="10607040" cy="868680"/>
          </a:xfrm>
          <a:prstGeom prst="rect">
            <a:avLst/>
          </a:prstGeom>
          <a:solidFill>
            <a:srgbClr val="FFFFFF"/>
          </a:solidFill>
          <a:ln w="12700">
            <a:solidFill>
              <a:srgbClr val="E2E8F0"/>
            </a:solidFill>
            <a:prstDash val="solid"/>
          </a:ln>
        </p:spPr>
      </p:sp>
      <p:sp>
        <p:nvSpPr>
          <p:cNvPr id="15" name="Text 13"/>
          <p:cNvSpPr/>
          <p:nvPr/>
        </p:nvSpPr>
        <p:spPr>
          <a:xfrm>
            <a:off x="960120" y="4873752"/>
            <a:ext cx="3657600" cy="548640"/>
          </a:xfrm>
          <a:prstGeom prst="rect">
            <a:avLst/>
          </a:prstGeom>
          <a:noFill/>
          <a:ln/>
        </p:spPr>
        <p:txBody>
          <a:bodyPr wrap="square" lIns="0" tIns="0" rIns="0" bIns="0" rtlCol="0" anchor="ctr"/>
          <a:lstStyle/>
          <a:p>
            <a:pPr indent="0" marL="0">
              <a:buNone/>
            </a:pPr>
            <a:r>
              <a:rPr lang="en-US" sz="1700" b="1" dirty="0">
                <a:solidFill>
                  <a:srgbClr val="00B8D9"/>
                </a:solidFill>
                <a:latin typeface="Courier New" pitchFamily="34" charset="0"/>
                <a:ea typeface="Courier New" pitchFamily="34" charset="-122"/>
                <a:cs typeface="Courier New" pitchFamily="34" charset="-120"/>
              </a:rPr>
              <a:t>useOptimistic</a:t>
            </a:r>
            <a:endParaRPr lang="en-US" sz="1700" dirty="0"/>
          </a:p>
        </p:txBody>
      </p:sp>
      <p:sp>
        <p:nvSpPr>
          <p:cNvPr id="16" name="Text 14"/>
          <p:cNvSpPr/>
          <p:nvPr/>
        </p:nvSpPr>
        <p:spPr>
          <a:xfrm>
            <a:off x="4754880" y="4873752"/>
            <a:ext cx="6492240" cy="54864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Show the eventual state immediately. Reverts on error.</a:t>
            </a:r>
            <a:endParaRPr lang="en-US" sz="1300" dirty="0"/>
          </a:p>
        </p:txBody>
      </p:sp>
      <p:sp>
        <p:nvSpPr>
          <p:cNvPr id="17"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8"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14 / 30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ref as a prop</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forwardRef is gone. ref behaves like any other prop in React 19.</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400" b="1" dirty="0">
                <a:solidFill>
                  <a:srgbClr val="DC2626"/>
                </a:solidFill>
                <a:latin typeface="Trebuchet MS" pitchFamily="34" charset="0"/>
                <a:ea typeface="Trebuchet MS" pitchFamily="34" charset="-122"/>
                <a:cs typeface="Trebuchet MS" pitchFamily="34" charset="-120"/>
              </a:rPr>
              <a:t>Before — React 18</a:t>
            </a:r>
            <a:endParaRPr lang="en-US" sz="1400" dirty="0"/>
          </a:p>
        </p:txBody>
      </p:sp>
      <p:sp>
        <p:nvSpPr>
          <p:cNvPr id="6" name="Shape 4"/>
          <p:cNvSpPr/>
          <p:nvPr/>
        </p:nvSpPr>
        <p:spPr>
          <a:xfrm>
            <a:off x="777240" y="1965960"/>
            <a:ext cx="5349240" cy="2743200"/>
          </a:xfrm>
          <a:prstGeom prst="rect">
            <a:avLst/>
          </a:prstGeom>
          <a:solidFill>
            <a:srgbClr val="1E2A47"/>
          </a:solidFill>
          <a:ln w="12700">
            <a:solidFill>
              <a:srgbClr val="1E2A47"/>
            </a:solidFill>
            <a:prstDash val="solid"/>
          </a:ln>
        </p:spPr>
      </p:sp>
      <p:sp>
        <p:nvSpPr>
          <p:cNvPr id="7" name="Text 5"/>
          <p:cNvSpPr/>
          <p:nvPr/>
        </p:nvSpPr>
        <p:spPr>
          <a:xfrm>
            <a:off x="960120" y="2103120"/>
            <a:ext cx="5074920" cy="246888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const Input = </a:t>
            </a:r>
            <a:pPr indent="0" marL="0">
              <a:buNone/>
            </a:pPr>
            <a:r>
              <a:rPr lang="en-US" sz="1200" dirty="0">
                <a:solidFill>
                  <a:srgbClr val="DCDCAA"/>
                </a:solidFill>
                <a:latin typeface="Courier New" pitchFamily="34" charset="0"/>
                <a:ea typeface="Courier New" pitchFamily="34" charset="-122"/>
                <a:cs typeface="Courier New" pitchFamily="34" charset="-120"/>
              </a:rPr>
              <a:t>forwardRef</a:t>
            </a:r>
            <a:pPr indent="0" marL="0">
              <a:buNone/>
            </a:pPr>
            <a:r>
              <a:rPr lang="en-US" sz="1200" dirty="0">
                <a:solidFill>
                  <a:srgbClr val="FFFFFF"/>
                </a:solidFill>
                <a:latin typeface="Courier New" pitchFamily="34" charset="0"/>
                <a:ea typeface="Courier New" pitchFamily="34" charset="-122"/>
                <a:cs typeface="Courier New" pitchFamily="34" charset="-120"/>
              </a:rPr>
              <a:t>(
  (props, ref) =&gt; (
    &lt;input ref={ref} ...props /&gt;
  )
);
</a:t>
            </a:r>
            <a:endParaRPr lang="en-US" sz="1200" dirty="0"/>
          </a:p>
        </p:txBody>
      </p:sp>
      <p:sp>
        <p:nvSpPr>
          <p:cNvPr id="8" name="Text 6"/>
          <p:cNvSpPr/>
          <p:nvPr/>
        </p:nvSpPr>
        <p:spPr>
          <a:xfrm>
            <a:off x="6355080" y="1554480"/>
            <a:ext cx="5029200" cy="365760"/>
          </a:xfrm>
          <a:prstGeom prst="rect">
            <a:avLst/>
          </a:prstGeom>
          <a:noFill/>
          <a:ln/>
        </p:spPr>
        <p:txBody>
          <a:bodyPr wrap="square" lIns="0" tIns="0" rIns="0" bIns="0" rtlCol="0" anchor="ctr"/>
          <a:lstStyle/>
          <a:p>
            <a:pPr indent="0" marL="0">
              <a:buNone/>
            </a:pPr>
            <a:r>
              <a:rPr lang="en-US" sz="1400" b="1" dirty="0">
                <a:solidFill>
                  <a:srgbClr val="059669"/>
                </a:solidFill>
                <a:latin typeface="Trebuchet MS" pitchFamily="34" charset="0"/>
                <a:ea typeface="Trebuchet MS" pitchFamily="34" charset="-122"/>
                <a:cs typeface="Trebuchet MS" pitchFamily="34" charset="-120"/>
              </a:rPr>
              <a:t>After — React 19</a:t>
            </a:r>
            <a:endParaRPr lang="en-US" sz="1400" dirty="0"/>
          </a:p>
        </p:txBody>
      </p:sp>
      <p:sp>
        <p:nvSpPr>
          <p:cNvPr id="9" name="Shape 7"/>
          <p:cNvSpPr/>
          <p:nvPr/>
        </p:nvSpPr>
        <p:spPr>
          <a:xfrm>
            <a:off x="6355080" y="1965960"/>
            <a:ext cx="5029200" cy="2743200"/>
          </a:xfrm>
          <a:prstGeom prst="rect">
            <a:avLst/>
          </a:prstGeom>
          <a:solidFill>
            <a:srgbClr val="1E2A47"/>
          </a:solidFill>
          <a:ln w="12700">
            <a:solidFill>
              <a:srgbClr val="1E2A47"/>
            </a:solidFill>
            <a:prstDash val="solid"/>
          </a:ln>
        </p:spPr>
      </p:sp>
      <p:sp>
        <p:nvSpPr>
          <p:cNvPr id="10" name="Text 8"/>
          <p:cNvSpPr/>
          <p:nvPr/>
        </p:nvSpPr>
        <p:spPr>
          <a:xfrm>
            <a:off x="6537960" y="2103120"/>
            <a:ext cx="4754880" cy="2468880"/>
          </a:xfrm>
          <a:prstGeom prst="rect">
            <a:avLst/>
          </a:prstGeom>
          <a:noFill/>
          <a:ln/>
        </p:spPr>
        <p:txBody>
          <a:bodyPr wrap="square" lIns="0" tIns="0" rIns="0" bIns="0" rtlCol="0" anchor="t"/>
          <a:lstStyle/>
          <a:p>
            <a:pPr indent="0" marL="0">
              <a:buNone/>
            </a:pPr>
            <a:r>
              <a:rPr lang="en-US" sz="1200" dirty="0">
                <a:solidFill>
                  <a:srgbClr val="DCDCAA"/>
                </a:solidFill>
                <a:latin typeface="Courier New" pitchFamily="34" charset="0"/>
                <a:ea typeface="Courier New" pitchFamily="34" charset="-122"/>
                <a:cs typeface="Courier New" pitchFamily="34" charset="-120"/>
              </a:rPr>
              <a:t>function Input</a:t>
            </a:r>
            <a:pPr indent="0" marL="0">
              <a:buNone/>
            </a:pPr>
            <a:r>
              <a:rPr lang="en-US" sz="1200" dirty="0">
                <a:solidFill>
                  <a:srgbClr val="FFFFFF"/>
                </a:solidFill>
                <a:latin typeface="Courier New" pitchFamily="34" charset="0"/>
                <a:ea typeface="Courier New" pitchFamily="34" charset="-122"/>
                <a:cs typeface="Courier New" pitchFamily="34" charset="-120"/>
              </a:rPr>
              <a:t>({ ref, ...props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&lt;input ref={ref}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{...props}</a:t>
            </a:r>
            <a:pPr indent="0" marL="0">
              <a:buNone/>
            </a:pPr>
            <a:r>
              <a:rPr lang="en-US" sz="1200" dirty="0">
                <a:solidFill>
                  <a:srgbClr val="FFFFFF"/>
                </a:solidFill>
                <a:latin typeface="Courier New" pitchFamily="34" charset="0"/>
                <a:ea typeface="Courier New" pitchFamily="34" charset="-122"/>
                <a:cs typeface="Courier New" pitchFamily="34" charset="-120"/>
              </a:rPr>
              <a:t> /&gt;;
}
</a:t>
            </a:r>
            <a:endParaRPr lang="en-US" sz="1200" dirty="0"/>
          </a:p>
        </p:txBody>
      </p:sp>
      <p:sp>
        <p:nvSpPr>
          <p:cNvPr id="11" name="Shape 9"/>
          <p:cNvSpPr/>
          <p:nvPr/>
        </p:nvSpPr>
        <p:spPr>
          <a:xfrm>
            <a:off x="777240" y="5029200"/>
            <a:ext cx="10607040" cy="1188720"/>
          </a:xfrm>
          <a:prstGeom prst="rect">
            <a:avLst/>
          </a:prstGeom>
          <a:solidFill>
            <a:srgbClr val="CBF1F6"/>
          </a:solidFill>
          <a:ln w="12700">
            <a:solidFill>
              <a:srgbClr val="CBF1F6"/>
            </a:solidFill>
            <a:prstDash val="solid"/>
          </a:ln>
        </p:spPr>
      </p:sp>
      <p:pic>
        <p:nvPicPr>
          <p:cNvPr id="12" name="Image 0" descr="preencoded.png">    </p:cNvPr>
          <p:cNvPicPr>
            <a:picLocks noChangeAspect="1"/>
          </p:cNvPicPr>
          <p:nvPr/>
        </p:nvPicPr>
        <p:blipFill>
          <a:blip r:embed="rId1"/>
          <a:stretch>
            <a:fillRect/>
          </a:stretch>
        </p:blipFill>
        <p:spPr>
          <a:xfrm>
            <a:off x="1005840" y="5349240"/>
            <a:ext cx="502920" cy="502920"/>
          </a:xfrm>
          <a:prstGeom prst="rect">
            <a:avLst/>
          </a:prstGeom>
        </p:spPr>
      </p:pic>
      <p:sp>
        <p:nvSpPr>
          <p:cNvPr id="13" name="Text 10"/>
          <p:cNvSpPr/>
          <p:nvPr/>
        </p:nvSpPr>
        <p:spPr>
          <a:xfrm>
            <a:off x="1691640" y="5074920"/>
            <a:ext cx="9601200" cy="109728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Codemod available — but legacy forwardRef still works through a deprecation warning. Plan, don't panic.</a:t>
            </a:r>
            <a:endParaRPr lang="en-US" sz="1300" dirty="0"/>
          </a:p>
        </p:txBody>
      </p:sp>
      <p:sp>
        <p:nvSpPr>
          <p:cNvPr id="14" name="Text 1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5" name="Text 1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15 / 30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Server Components — production-ready</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Components that run on the server only. Zero JS shipped to the browser.</a:t>
            </a:r>
            <a:endParaRPr lang="en-US" sz="1400" dirty="0"/>
          </a:p>
        </p:txBody>
      </p:sp>
      <p:sp>
        <p:nvSpPr>
          <p:cNvPr id="5" name="Shape 3"/>
          <p:cNvSpPr/>
          <p:nvPr/>
        </p:nvSpPr>
        <p:spPr>
          <a:xfrm>
            <a:off x="777240" y="1691640"/>
            <a:ext cx="5349240" cy="3931920"/>
          </a:xfrm>
          <a:prstGeom prst="rect">
            <a:avLst/>
          </a:prstGeom>
          <a:solidFill>
            <a:srgbClr val="1E2A47"/>
          </a:solidFill>
          <a:ln w="12700">
            <a:solidFill>
              <a:srgbClr val="1E2A47"/>
            </a:solidFill>
            <a:prstDash val="solid"/>
          </a:ln>
        </p:spPr>
      </p:sp>
      <p:pic>
        <p:nvPicPr>
          <p:cNvPr id="6" name="Image 0" descr="preencoded.png">    </p:cNvPr>
          <p:cNvPicPr>
            <a:picLocks noChangeAspect="1"/>
          </p:cNvPicPr>
          <p:nvPr/>
        </p:nvPicPr>
        <p:blipFill>
          <a:blip r:embed="rId1"/>
          <a:stretch>
            <a:fillRect/>
          </a:stretch>
        </p:blipFill>
        <p:spPr>
          <a:xfrm>
            <a:off x="1005840" y="1874520"/>
            <a:ext cx="548640" cy="548640"/>
          </a:xfrm>
          <a:prstGeom prst="rect">
            <a:avLst/>
          </a:prstGeom>
        </p:spPr>
      </p:pic>
      <p:sp>
        <p:nvSpPr>
          <p:cNvPr id="7" name="Text 4"/>
          <p:cNvSpPr/>
          <p:nvPr/>
        </p:nvSpPr>
        <p:spPr>
          <a:xfrm>
            <a:off x="1691640" y="1920240"/>
            <a:ext cx="4114800" cy="457200"/>
          </a:xfrm>
          <a:prstGeom prst="rect">
            <a:avLst/>
          </a:prstGeom>
          <a:noFill/>
          <a:ln/>
        </p:spPr>
        <p:txBody>
          <a:bodyPr wrap="square" lIns="0" tIns="0" rIns="0" bIns="0" rtlCol="0" anchor="ctr"/>
          <a:lstStyle/>
          <a:p>
            <a:pPr indent="0" marL="0">
              <a:buNone/>
            </a:pPr>
            <a:r>
              <a:rPr lang="en-US" sz="1600" b="1" dirty="0">
                <a:solidFill>
                  <a:srgbClr val="00B8D9"/>
                </a:solidFill>
                <a:latin typeface="Trebuchet MS" pitchFamily="34" charset="0"/>
                <a:ea typeface="Trebuchet MS" pitchFamily="34" charset="-122"/>
                <a:cs typeface="Trebuchet MS" pitchFamily="34" charset="-120"/>
              </a:rPr>
              <a:t>Server Component</a:t>
            </a:r>
            <a:endParaRPr lang="en-US" sz="1600" dirty="0"/>
          </a:p>
        </p:txBody>
      </p:sp>
      <p:sp>
        <p:nvSpPr>
          <p:cNvPr id="8" name="Text 5"/>
          <p:cNvSpPr/>
          <p:nvPr/>
        </p:nvSpPr>
        <p:spPr>
          <a:xfrm>
            <a:off x="1005840" y="2606040"/>
            <a:ext cx="4937760" cy="29260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Runs on the server only</a:t>
            </a:r>
            <a:endParaRPr lang="en-US" sz="1250" dirty="0"/>
          </a:p>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Can fetch directly — DB, file system, API</a:t>
            </a:r>
            <a:endParaRPr lang="en-US" sz="1250" dirty="0"/>
          </a:p>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Imports stay on the server</a:t>
            </a:r>
            <a:endParaRPr lang="en-US" sz="1250" dirty="0"/>
          </a:p>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No useState, useEffect, or browser APIs</a:t>
            </a:r>
            <a:endParaRPr lang="en-US" sz="1250" dirty="0"/>
          </a:p>
        </p:txBody>
      </p:sp>
      <p:sp>
        <p:nvSpPr>
          <p:cNvPr id="9" name="Shape 6"/>
          <p:cNvSpPr/>
          <p:nvPr/>
        </p:nvSpPr>
        <p:spPr>
          <a:xfrm>
            <a:off x="6355080" y="1691640"/>
            <a:ext cx="5029200" cy="393192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6583680" y="1874520"/>
            <a:ext cx="548640" cy="548640"/>
          </a:xfrm>
          <a:prstGeom prst="rect">
            <a:avLst/>
          </a:prstGeom>
        </p:spPr>
      </p:pic>
      <p:sp>
        <p:nvSpPr>
          <p:cNvPr id="11" name="Text 7"/>
          <p:cNvSpPr/>
          <p:nvPr/>
        </p:nvSpPr>
        <p:spPr>
          <a:xfrm>
            <a:off x="7269480" y="1920240"/>
            <a:ext cx="4023360" cy="45720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Client Component</a:t>
            </a:r>
            <a:endParaRPr lang="en-US" sz="1600" dirty="0"/>
          </a:p>
        </p:txBody>
      </p:sp>
      <p:sp>
        <p:nvSpPr>
          <p:cNvPr id="12" name="Text 8"/>
          <p:cNvSpPr/>
          <p:nvPr/>
        </p:nvSpPr>
        <p:spPr>
          <a:xfrm>
            <a:off x="6583680" y="2606040"/>
            <a:ext cx="4663440" cy="29260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Marked with 'use client' directive</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Hydrates in the browser</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Interactive — handlers, state, effects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Receives props (incl. children) from Server Components</a:t>
            </a:r>
            <a:endParaRPr lang="en-US" sz="1250" dirty="0"/>
          </a:p>
        </p:txBody>
      </p:sp>
      <p:sp>
        <p:nvSpPr>
          <p:cNvPr id="13" name="Text 9"/>
          <p:cNvSpPr/>
          <p:nvPr/>
        </p:nvSpPr>
        <p:spPr>
          <a:xfrm>
            <a:off x="777240" y="5760720"/>
            <a:ext cx="10607040" cy="365760"/>
          </a:xfrm>
          <a:prstGeom prst="rect">
            <a:avLst/>
          </a:prstGeom>
          <a:noFill/>
          <a:ln/>
        </p:spPr>
        <p:txBody>
          <a:bodyPr wrap="square" lIns="0" tIns="0" rIns="0" bIns="0" rtlCol="0" anchor="ctr"/>
          <a:lstStyle/>
          <a:p>
            <a:pPr indent="0" marL="0">
              <a:buNone/>
            </a:pPr>
            <a:r>
              <a:rPr lang="en-US" sz="1200" i="1" dirty="0">
                <a:solidFill>
                  <a:srgbClr val="475569"/>
                </a:solidFill>
                <a:latin typeface="Arial" pitchFamily="34" charset="0"/>
                <a:ea typeface="Arial" pitchFamily="34" charset="-122"/>
                <a:cs typeface="Arial" pitchFamily="34" charset="-120"/>
              </a:rPr>
              <a:t>Module 6 covers Server Components in depth, including the boundary mistakes AI tools love to make.</a:t>
            </a:r>
            <a:endParaRPr lang="en-US" sz="1200" dirty="0"/>
          </a:p>
        </p:txBody>
      </p:sp>
      <p:sp>
        <p:nvSpPr>
          <p:cNvPr id="14" name="Text 10"/>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5" name="Text 11"/>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16 / 30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Two smaller wins worth knowing</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Asset preloading and document metadata are now first-class in React 19.</a:t>
            </a:r>
            <a:endParaRPr lang="en-US" sz="1400" dirty="0"/>
          </a:p>
        </p:txBody>
      </p:sp>
      <p:sp>
        <p:nvSpPr>
          <p:cNvPr id="5" name="Shape 3"/>
          <p:cNvSpPr/>
          <p:nvPr/>
        </p:nvSpPr>
        <p:spPr>
          <a:xfrm>
            <a:off x="777240" y="1691640"/>
            <a:ext cx="5349240" cy="420624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05840" y="1920240"/>
            <a:ext cx="502920" cy="502920"/>
          </a:xfrm>
          <a:prstGeom prst="rect">
            <a:avLst/>
          </a:prstGeom>
        </p:spPr>
      </p:pic>
      <p:sp>
        <p:nvSpPr>
          <p:cNvPr id="7" name="Text 4"/>
          <p:cNvSpPr/>
          <p:nvPr/>
        </p:nvSpPr>
        <p:spPr>
          <a:xfrm>
            <a:off x="1645920" y="1874520"/>
            <a:ext cx="4297680" cy="50292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Asset preloading</a:t>
            </a:r>
            <a:endParaRPr lang="en-US" sz="1600" dirty="0"/>
          </a:p>
        </p:txBody>
      </p:sp>
      <p:sp>
        <p:nvSpPr>
          <p:cNvPr id="8" name="Text 5"/>
          <p:cNvSpPr/>
          <p:nvPr/>
        </p:nvSpPr>
        <p:spPr>
          <a:xfrm>
            <a:off x="1005840" y="2606040"/>
            <a:ext cx="5029200" cy="1188720"/>
          </a:xfrm>
          <a:prstGeom prst="rect">
            <a:avLst/>
          </a:prstGeom>
          <a:noFill/>
          <a:ln/>
        </p:spPr>
        <p:txBody>
          <a:bodyPr wrap="square" lIns="0" tIns="0" rIns="0" bIns="0" rtlCol="0" anchor="ctr"/>
          <a:lstStyle/>
          <a:p>
            <a:pPr indent="0" marL="0">
              <a:buNone/>
            </a:pPr>
            <a:r>
              <a:rPr lang="en-US" sz="1300" dirty="0">
                <a:solidFill>
                  <a:srgbClr val="00B8D9"/>
                </a:solidFill>
                <a:latin typeface="Courier New" pitchFamily="34" charset="0"/>
                <a:ea typeface="Courier New" pitchFamily="34" charset="-122"/>
                <a:cs typeface="Courier New" pitchFamily="34" charset="-120"/>
              </a:rPr>
              <a:t>preload(</a:t>
            </a:r>
            <a:pPr indent="0" marL="0">
              <a:buNone/>
            </a:pPr>
            <a:r>
              <a:rPr lang="en-US" sz="1300" dirty="0">
                <a:solidFill>
                  <a:srgbClr val="475569"/>
                </a:solidFill>
                <a:latin typeface="Courier New" pitchFamily="34" charset="0"/>
                <a:ea typeface="Courier New" pitchFamily="34" charset="-122"/>
                <a:cs typeface="Courier New" pitchFamily="34" charset="-120"/>
              </a:rPr>
              <a:t>url, options</a:t>
            </a:r>
            <a:pPr indent="0" marL="0">
              <a:buNone/>
            </a:pPr>
            <a:r>
              <a:rPr lang="en-US" sz="1300" dirty="0">
                <a:solidFill>
                  <a:srgbClr val="00B8D9"/>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00B8D9"/>
                </a:solidFill>
                <a:latin typeface="Courier New" pitchFamily="34" charset="0"/>
                <a:ea typeface="Courier New" pitchFamily="34" charset="-122"/>
                <a:cs typeface="Courier New" pitchFamily="34" charset="-120"/>
              </a:rPr>
              <a:t>preinit(</a:t>
            </a:r>
            <a:pPr indent="0" marL="0">
              <a:buNone/>
            </a:pPr>
            <a:r>
              <a:rPr lang="en-US" sz="1300" dirty="0">
                <a:solidFill>
                  <a:srgbClr val="475569"/>
                </a:solidFill>
                <a:latin typeface="Courier New" pitchFamily="34" charset="0"/>
                <a:ea typeface="Courier New" pitchFamily="34" charset="-122"/>
                <a:cs typeface="Courier New" pitchFamily="34" charset="-120"/>
              </a:rPr>
              <a:t>url, options</a:t>
            </a:r>
            <a:pPr indent="0" marL="0">
              <a:buNone/>
            </a:pPr>
            <a:r>
              <a:rPr lang="en-US" sz="1300" dirty="0">
                <a:solidFill>
                  <a:srgbClr val="00B8D9"/>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00B8D9"/>
                </a:solidFill>
                <a:latin typeface="Courier New" pitchFamily="34" charset="0"/>
                <a:ea typeface="Courier New" pitchFamily="34" charset="-122"/>
                <a:cs typeface="Courier New" pitchFamily="34" charset="-120"/>
              </a:rPr>
              <a:t>preconnect(</a:t>
            </a:r>
            <a:pPr indent="0" marL="0">
              <a:buNone/>
            </a:pPr>
            <a:r>
              <a:rPr lang="en-US" sz="1300" dirty="0">
                <a:solidFill>
                  <a:srgbClr val="475569"/>
                </a:solidFill>
                <a:latin typeface="Courier New" pitchFamily="34" charset="0"/>
                <a:ea typeface="Courier New" pitchFamily="34" charset="-122"/>
                <a:cs typeface="Courier New" pitchFamily="34" charset="-120"/>
              </a:rPr>
              <a:t>url</a:t>
            </a:r>
            <a:pPr indent="0" marL="0">
              <a:buNone/>
            </a:pPr>
            <a:r>
              <a:rPr lang="en-US" sz="1300" dirty="0">
                <a:solidFill>
                  <a:srgbClr val="00B8D9"/>
                </a:solidFill>
                <a:latin typeface="Courier New" pitchFamily="34" charset="0"/>
                <a:ea typeface="Courier New" pitchFamily="34" charset="-122"/>
                <a:cs typeface="Courier New" pitchFamily="34" charset="-120"/>
              </a:rPr>
              <a:t>)</a:t>
            </a:r>
            <a:endParaRPr lang="en-US" sz="1300" dirty="0"/>
          </a:p>
        </p:txBody>
      </p:sp>
      <p:sp>
        <p:nvSpPr>
          <p:cNvPr id="9" name="Text 6"/>
          <p:cNvSpPr/>
          <p:nvPr/>
        </p:nvSpPr>
        <p:spPr>
          <a:xfrm>
            <a:off x="1005840" y="3886200"/>
            <a:ext cx="5029200" cy="182880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Move resource-loading hints into the components that actually need them — no more &lt;Helmet&gt; or framework-specific shenanigans.</a:t>
            </a:r>
            <a:endParaRPr lang="en-US" sz="1250" dirty="0"/>
          </a:p>
        </p:txBody>
      </p:sp>
      <p:sp>
        <p:nvSpPr>
          <p:cNvPr id="10" name="Shape 7"/>
          <p:cNvSpPr/>
          <p:nvPr/>
        </p:nvSpPr>
        <p:spPr>
          <a:xfrm>
            <a:off x="6355080" y="1691640"/>
            <a:ext cx="5029200" cy="4206240"/>
          </a:xfrm>
          <a:prstGeom prst="rect">
            <a:avLst/>
          </a:prstGeom>
          <a:solidFill>
            <a:srgbClr val="FFFFFF"/>
          </a:solidFill>
          <a:ln w="12700">
            <a:solidFill>
              <a:srgbClr val="E2E8F0"/>
            </a:solidFill>
            <a:prstDash val="solid"/>
          </a:ln>
        </p:spPr>
      </p:sp>
      <p:pic>
        <p:nvPicPr>
          <p:cNvPr id="11" name="Image 1" descr="preencoded.png">    </p:cNvPr>
          <p:cNvPicPr>
            <a:picLocks noChangeAspect="1"/>
          </p:cNvPicPr>
          <p:nvPr/>
        </p:nvPicPr>
        <p:blipFill>
          <a:blip r:embed="rId2"/>
          <a:stretch>
            <a:fillRect/>
          </a:stretch>
        </p:blipFill>
        <p:spPr>
          <a:xfrm>
            <a:off x="6583680" y="1920240"/>
            <a:ext cx="502920" cy="502920"/>
          </a:xfrm>
          <a:prstGeom prst="rect">
            <a:avLst/>
          </a:prstGeom>
        </p:spPr>
      </p:pic>
      <p:sp>
        <p:nvSpPr>
          <p:cNvPr id="12" name="Text 8"/>
          <p:cNvSpPr/>
          <p:nvPr/>
        </p:nvSpPr>
        <p:spPr>
          <a:xfrm>
            <a:off x="7223760" y="1874520"/>
            <a:ext cx="4023360" cy="50292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Document metadata</a:t>
            </a:r>
            <a:endParaRPr lang="en-US" sz="1600" dirty="0"/>
          </a:p>
        </p:txBody>
      </p:sp>
      <p:sp>
        <p:nvSpPr>
          <p:cNvPr id="13" name="Shape 9"/>
          <p:cNvSpPr/>
          <p:nvPr/>
        </p:nvSpPr>
        <p:spPr>
          <a:xfrm>
            <a:off x="6583680" y="2606040"/>
            <a:ext cx="4663440" cy="1188720"/>
          </a:xfrm>
          <a:prstGeom prst="rect">
            <a:avLst/>
          </a:prstGeom>
          <a:solidFill>
            <a:srgbClr val="1E2A47"/>
          </a:solidFill>
          <a:ln w="12700">
            <a:solidFill>
              <a:srgbClr val="1E2A47"/>
            </a:solidFill>
            <a:prstDash val="solid"/>
          </a:ln>
        </p:spPr>
      </p:sp>
      <p:sp>
        <p:nvSpPr>
          <p:cNvPr id="14" name="Text 10"/>
          <p:cNvSpPr/>
          <p:nvPr/>
        </p:nvSpPr>
        <p:spPr>
          <a:xfrm>
            <a:off x="6766560" y="2697480"/>
            <a:ext cx="4297680" cy="1005840"/>
          </a:xfrm>
          <a:prstGeom prst="rect">
            <a:avLst/>
          </a:prstGeom>
          <a:noFill/>
          <a:ln/>
        </p:spPr>
        <p:txBody>
          <a:bodyPr wrap="square" lIns="0" tIns="0" rIns="0" bIns="0" rtlCol="0" anchor="t"/>
          <a:lstStyle/>
          <a:p>
            <a:pPr indent="0" marL="0">
              <a:buNone/>
            </a:pPr>
            <a:r>
              <a:rPr lang="en-US" sz="1200" dirty="0">
                <a:solidFill>
                  <a:srgbClr val="00B8D9"/>
                </a:solidFill>
                <a:latin typeface="Courier New" pitchFamily="34" charset="0"/>
                <a:ea typeface="Courier New" pitchFamily="34" charset="-122"/>
                <a:cs typeface="Courier New" pitchFamily="34" charset="-120"/>
              </a:rPr>
              <a:t>&lt;title&gt;About&lt;/title&gt;
</a:t>
            </a:r>
            <a:pPr indent="0" marL="0">
              <a:buNone/>
            </a:pPr>
            <a:r>
              <a:rPr lang="en-US" sz="1200" dirty="0">
                <a:solidFill>
                  <a:srgbClr val="FFFFFF"/>
                </a:solidFill>
                <a:latin typeface="Courier New" pitchFamily="34" charset="0"/>
                <a:ea typeface="Courier New" pitchFamily="34" charset="-122"/>
                <a:cs typeface="Courier New" pitchFamily="34" charset="-120"/>
              </a:rPr>
              <a:t>&lt;meta </a:t>
            </a:r>
            <a:pPr indent="0" marL="0">
              <a:buNone/>
            </a:pPr>
            <a:r>
              <a:rPr lang="en-US" sz="1200" dirty="0">
                <a:solidFill>
                  <a:srgbClr val="9CDCFE"/>
                </a:solidFill>
                <a:latin typeface="Courier New" pitchFamily="34" charset="0"/>
                <a:ea typeface="Courier New" pitchFamily="34" charset="-122"/>
                <a:cs typeface="Courier New" pitchFamily="34" charset="-120"/>
              </a:rPr>
              <a:t>name="description"</a:t>
            </a:r>
            <a:pPr indent="0" marL="0">
              <a:buNone/>
            </a:pPr>
            <a:r>
              <a:rPr lang="en-US" sz="1200" dirty="0">
                <a:solidFill>
                  <a:srgbClr val="FFFFFF"/>
                </a:solidFill>
                <a:latin typeface="Courier New" pitchFamily="34" charset="0"/>
                <a:ea typeface="Courier New" pitchFamily="34" charset="-122"/>
                <a:cs typeface="Courier New" pitchFamily="34" charset="-120"/>
              </a:rPr>
              <a:t> ... /&gt;
</a:t>
            </a:r>
            <a:endParaRPr lang="en-US" sz="1200" dirty="0"/>
          </a:p>
        </p:txBody>
      </p:sp>
      <p:sp>
        <p:nvSpPr>
          <p:cNvPr id="15" name="Text 11"/>
          <p:cNvSpPr/>
          <p:nvPr/>
        </p:nvSpPr>
        <p:spPr>
          <a:xfrm>
            <a:off x="6583680" y="3886200"/>
            <a:ext cx="4663440" cy="182880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Drop title and meta tags inline anywhere in your component tree. React deduplicates and hoists.</a:t>
            </a:r>
            <a:endParaRPr lang="en-US" sz="1250" dirty="0"/>
          </a:p>
        </p:txBody>
      </p:sp>
      <p:sp>
        <p:nvSpPr>
          <p:cNvPr id="16" name="Text 12"/>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7" name="Text 13"/>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17 / 30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React Compiler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Auto-memoization for components and hooks. Most useMemo/useCallback becomes optional.</a:t>
            </a:r>
            <a:endParaRPr lang="en-US" sz="1400" dirty="0"/>
          </a:p>
        </p:txBody>
      </p:sp>
      <p:sp>
        <p:nvSpPr>
          <p:cNvPr id="5" name="Text 3"/>
          <p:cNvSpPr/>
          <p:nvPr/>
        </p:nvSpPr>
        <p:spPr>
          <a:xfrm>
            <a:off x="777240" y="1508760"/>
            <a:ext cx="5349240" cy="365760"/>
          </a:xfrm>
          <a:prstGeom prst="rect">
            <a:avLst/>
          </a:prstGeom>
          <a:noFill/>
          <a:ln/>
        </p:spPr>
        <p:txBody>
          <a:bodyPr wrap="square" lIns="0" tIns="0" rIns="0" bIns="0" rtlCol="0" anchor="ctr"/>
          <a:lstStyle/>
          <a:p>
            <a:pPr indent="0" marL="0">
              <a:buNone/>
            </a:pPr>
            <a:r>
              <a:rPr lang="en-US" sz="1300" b="1" dirty="0">
                <a:solidFill>
                  <a:srgbClr val="DC2626"/>
                </a:solidFill>
                <a:latin typeface="Trebuchet MS" pitchFamily="34" charset="0"/>
                <a:ea typeface="Trebuchet MS" pitchFamily="34" charset="-122"/>
                <a:cs typeface="Trebuchet MS" pitchFamily="34" charset="-120"/>
              </a:rPr>
              <a:t>Before — manual memo</a:t>
            </a:r>
            <a:endParaRPr lang="en-US" sz="1300" dirty="0"/>
          </a:p>
        </p:txBody>
      </p:sp>
      <p:sp>
        <p:nvSpPr>
          <p:cNvPr id="6" name="Shape 4"/>
          <p:cNvSpPr/>
          <p:nvPr/>
        </p:nvSpPr>
        <p:spPr>
          <a:xfrm>
            <a:off x="777240" y="1874520"/>
            <a:ext cx="5349240" cy="2743200"/>
          </a:xfrm>
          <a:prstGeom prst="rect">
            <a:avLst/>
          </a:prstGeom>
          <a:solidFill>
            <a:srgbClr val="1E2A47"/>
          </a:solidFill>
          <a:ln w="12700">
            <a:solidFill>
              <a:srgbClr val="1E2A47"/>
            </a:solidFill>
            <a:prstDash val="solid"/>
          </a:ln>
        </p:spPr>
      </p:sp>
      <p:sp>
        <p:nvSpPr>
          <p:cNvPr id="7" name="Text 5"/>
          <p:cNvSpPr/>
          <p:nvPr/>
        </p:nvSpPr>
        <p:spPr>
          <a:xfrm>
            <a:off x="960120" y="2011680"/>
            <a:ext cx="5074920" cy="246888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const filtered = </a:t>
            </a:r>
            <a:pPr indent="0" marL="0">
              <a:buNone/>
            </a:pPr>
            <a:r>
              <a:rPr lang="en-US" sz="1200" dirty="0">
                <a:solidFill>
                  <a:srgbClr val="DCDCAA"/>
                </a:solidFill>
                <a:latin typeface="Courier New" pitchFamily="34" charset="0"/>
                <a:ea typeface="Courier New" pitchFamily="34" charset="-122"/>
                <a:cs typeface="Courier New" pitchFamily="34" charset="-120"/>
              </a:rPr>
              <a:t>useMemo</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 =&gt; items.filter(</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f</a:t>
            </a:r>
            <a:pPr indent="0" marL="0">
              <a:buNone/>
            </a:pPr>
            <a:r>
              <a:rPr lang="en-US" sz="1200" dirty="0">
                <a:solidFill>
                  <a:srgbClr val="FFFFFF"/>
                </a:solidFill>
                <a:latin typeface="Courier New" pitchFamily="34" charset="0"/>
                <a:ea typeface="Courier New" pitchFamily="34" charset="-122"/>
                <a:cs typeface="Courier New" pitchFamily="34" charset="-120"/>
              </a:rPr>
              <a:t>), [items, </a:t>
            </a:r>
            <a:pPr indent="0" marL="0">
              <a:buNone/>
            </a:pPr>
            <a:r>
              <a:rPr lang="en-US" sz="1200" dirty="0">
                <a:solidFill>
                  <a:srgbClr val="9CDCFE"/>
                </a:solidFill>
                <a:latin typeface="Courier New" pitchFamily="34" charset="0"/>
                <a:ea typeface="Courier New" pitchFamily="34" charset="-122"/>
                <a:cs typeface="Courier New" pitchFamily="34" charset="-120"/>
              </a:rPr>
              <a:t>f</a:t>
            </a:r>
            <a:pPr indent="0" marL="0">
              <a:buNone/>
            </a:pPr>
            <a:r>
              <a:rPr lang="en-US" sz="1200" dirty="0">
                <a:solidFill>
                  <a:srgbClr val="FFFFFF"/>
                </a:solidFill>
                <a:latin typeface="Courier New" pitchFamily="34" charset="0"/>
                <a:ea typeface="Courier New" pitchFamily="34" charset="-122"/>
                <a:cs typeface="Courier New" pitchFamily="34" charset="-120"/>
              </a:rPr>
              <a:t>]
);
</a:t>
            </a:r>
            <a:pPr indent="0" marL="0">
              <a:buNone/>
            </a:pPr>
            <a:r>
              <a:rPr lang="en-US" sz="1200" dirty="0">
                <a:solidFill>
                  <a:srgbClr val="FFFFFF"/>
                </a:solidFill>
                <a:latin typeface="Courier New" pitchFamily="34" charset="0"/>
                <a:ea typeface="Courier New" pitchFamily="34" charset="-122"/>
                <a:cs typeface="Courier New" pitchFamily="34" charset="-120"/>
              </a:rPr>
              <a:t>const onClick = </a:t>
            </a:r>
            <a:pPr indent="0" marL="0">
              <a:buNone/>
            </a:pPr>
            <a:r>
              <a:rPr lang="en-US" sz="1200" dirty="0">
                <a:solidFill>
                  <a:srgbClr val="DCDCAA"/>
                </a:solidFill>
                <a:latin typeface="Courier New" pitchFamily="34" charset="0"/>
                <a:ea typeface="Courier New" pitchFamily="34" charset="-122"/>
                <a:cs typeface="Courier New" pitchFamily="34" charset="-120"/>
              </a:rPr>
              <a:t>useCallback</a:t>
            </a:r>
            <a:pPr indent="0" marL="0">
              <a:buNone/>
            </a:pPr>
            <a:r>
              <a:rPr lang="en-US" sz="1200" dirty="0">
                <a:solidFill>
                  <a:srgbClr val="FFFFFF"/>
                </a:solidFill>
                <a:latin typeface="Courier New" pitchFamily="34" charset="0"/>
                <a:ea typeface="Courier New" pitchFamily="34" charset="-122"/>
                <a:cs typeface="Courier New" pitchFamily="34" charset="-120"/>
              </a:rPr>
              <a:t>(
  (e) =&gt; save(e), [save]
);
</a:t>
            </a:r>
            <a:pPr indent="0" marL="0">
              <a:buNone/>
            </a:pPr>
            <a:r>
              <a:rPr lang="en-US" sz="1200" dirty="0">
                <a:solidFill>
                  <a:srgbClr val="FFFFFF"/>
                </a:solidFill>
                <a:latin typeface="Courier New" pitchFamily="34" charset="0"/>
                <a:ea typeface="Courier New" pitchFamily="34" charset="-122"/>
                <a:cs typeface="Courier New" pitchFamily="34" charset="-120"/>
              </a:rPr>
              <a:t>export default </a:t>
            </a:r>
            <a:pPr indent="0" marL="0">
              <a:buNone/>
            </a:pPr>
            <a:r>
              <a:rPr lang="en-US" sz="1200" dirty="0">
                <a:solidFill>
                  <a:srgbClr val="DCDCAA"/>
                </a:solidFill>
                <a:latin typeface="Courier New" pitchFamily="34" charset="0"/>
                <a:ea typeface="Courier New" pitchFamily="34" charset="-122"/>
                <a:cs typeface="Courier New" pitchFamily="34" charset="-120"/>
              </a:rPr>
              <a:t>memo</a:t>
            </a:r>
            <a:pPr indent="0" marL="0">
              <a:buNone/>
            </a:pPr>
            <a:r>
              <a:rPr lang="en-US" sz="1200" dirty="0">
                <a:solidFill>
                  <a:srgbClr val="FFFFFF"/>
                </a:solidFill>
                <a:latin typeface="Courier New" pitchFamily="34" charset="0"/>
                <a:ea typeface="Courier New" pitchFamily="34" charset="-122"/>
                <a:cs typeface="Courier New" pitchFamily="34" charset="-120"/>
              </a:rPr>
              <a:t>(MyList);</a:t>
            </a:r>
            <a:endParaRPr lang="en-US" sz="1200" dirty="0"/>
          </a:p>
        </p:txBody>
      </p:sp>
      <p:sp>
        <p:nvSpPr>
          <p:cNvPr id="8" name="Text 6"/>
          <p:cNvSpPr/>
          <p:nvPr/>
        </p:nvSpPr>
        <p:spPr>
          <a:xfrm>
            <a:off x="6355080" y="1508760"/>
            <a:ext cx="5029200" cy="365760"/>
          </a:xfrm>
          <a:prstGeom prst="rect">
            <a:avLst/>
          </a:prstGeom>
          <a:noFill/>
          <a:ln/>
        </p:spPr>
        <p:txBody>
          <a:bodyPr wrap="square" lIns="0" tIns="0" rIns="0" bIns="0" rtlCol="0" anchor="ctr"/>
          <a:lstStyle/>
          <a:p>
            <a:pPr indent="0" marL="0">
              <a:buNone/>
            </a:pPr>
            <a:r>
              <a:rPr lang="en-US" sz="1300" b="1" dirty="0">
                <a:solidFill>
                  <a:srgbClr val="059669"/>
                </a:solidFill>
                <a:latin typeface="Trebuchet MS" pitchFamily="34" charset="0"/>
                <a:ea typeface="Trebuchet MS" pitchFamily="34" charset="-122"/>
                <a:cs typeface="Trebuchet MS" pitchFamily="34" charset="-120"/>
              </a:rPr>
              <a:t>After — Compiler enabled</a:t>
            </a:r>
            <a:endParaRPr lang="en-US" sz="1300" dirty="0"/>
          </a:p>
        </p:txBody>
      </p:sp>
      <p:sp>
        <p:nvSpPr>
          <p:cNvPr id="9" name="Shape 7"/>
          <p:cNvSpPr/>
          <p:nvPr/>
        </p:nvSpPr>
        <p:spPr>
          <a:xfrm>
            <a:off x="6355080" y="1874520"/>
            <a:ext cx="5029200" cy="2743200"/>
          </a:xfrm>
          <a:prstGeom prst="rect">
            <a:avLst/>
          </a:prstGeom>
          <a:solidFill>
            <a:srgbClr val="1E2A47"/>
          </a:solidFill>
          <a:ln w="12700">
            <a:solidFill>
              <a:srgbClr val="1E2A47"/>
            </a:solidFill>
            <a:prstDash val="solid"/>
          </a:ln>
        </p:spPr>
      </p:sp>
      <p:sp>
        <p:nvSpPr>
          <p:cNvPr id="10" name="Text 8"/>
          <p:cNvSpPr/>
          <p:nvPr/>
        </p:nvSpPr>
        <p:spPr>
          <a:xfrm>
            <a:off x="6537960" y="2011680"/>
            <a:ext cx="4754880" cy="246888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const filtered = items.filter(</a:t>
            </a:r>
            <a:pPr indent="0" marL="0">
              <a:buNone/>
            </a:pPr>
            <a:r>
              <a:rPr lang="en-US" sz="1200" dirty="0">
                <a:solidFill>
                  <a:srgbClr val="9CDCFE"/>
                </a:solidFill>
                <a:latin typeface="Courier New" pitchFamily="34" charset="0"/>
                <a:ea typeface="Courier New" pitchFamily="34" charset="-122"/>
                <a:cs typeface="Courier New" pitchFamily="34" charset="-120"/>
              </a:rPr>
              <a:t>f</a:t>
            </a:r>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FFFFFF"/>
                </a:solidFill>
                <a:latin typeface="Courier New" pitchFamily="34" charset="0"/>
                <a:ea typeface="Courier New" pitchFamily="34" charset="-122"/>
                <a:cs typeface="Courier New" pitchFamily="34" charset="-120"/>
              </a:rPr>
              <a:t>const onClick = (</a:t>
            </a:r>
            <a:pPr indent="0" marL="0">
              <a:buNone/>
            </a:pPr>
            <a:r>
              <a:rPr lang="en-US" sz="1200" dirty="0">
                <a:solidFill>
                  <a:srgbClr val="9CDCFE"/>
                </a:solidFill>
                <a:latin typeface="Courier New" pitchFamily="34" charset="0"/>
                <a:ea typeface="Courier New" pitchFamily="34" charset="-122"/>
                <a:cs typeface="Courier New" pitchFamily="34" charset="-120"/>
              </a:rPr>
              <a:t>e</a:t>
            </a:r>
            <a:pPr indent="0" marL="0">
              <a:buNone/>
            </a:pPr>
            <a:r>
              <a:rPr lang="en-US" sz="1200" dirty="0">
                <a:solidFill>
                  <a:srgbClr val="FFFFFF"/>
                </a:solidFill>
                <a:latin typeface="Courier New" pitchFamily="34" charset="0"/>
                <a:ea typeface="Courier New" pitchFamily="34" charset="-122"/>
                <a:cs typeface="Courier New" pitchFamily="34" charset="-120"/>
              </a:rPr>
              <a:t>) =&gt; save(e);
</a:t>
            </a:r>
            <a:pPr indent="0" marL="0">
              <a:buNone/>
            </a:pPr>
            <a:r>
              <a:rPr lang="en-US" sz="1200" dirty="0">
                <a:solidFill>
                  <a:srgbClr val="FFFFFF"/>
                </a:solidFill>
                <a:latin typeface="Courier New" pitchFamily="34" charset="0"/>
                <a:ea typeface="Courier New" pitchFamily="34" charset="-122"/>
                <a:cs typeface="Courier New" pitchFamily="34" charset="-120"/>
              </a:rPr>
              <a:t>export default MyList;
</a:t>
            </a:r>
            <a:pPr indent="0" marL="0">
              <a:buNone/>
            </a:pPr>
            <a:r>
              <a:rPr lang="en-US" sz="1200" dirty="0">
                <a:solidFill>
                  <a:srgbClr val="6A9955"/>
                </a:solidFill>
                <a:latin typeface="Courier New" pitchFamily="34" charset="0"/>
                <a:ea typeface="Courier New" pitchFamily="34" charset="-122"/>
                <a:cs typeface="Courier New" pitchFamily="34" charset="-120"/>
              </a:rPr>
              <a:t>// Compiler memoizes</a:t>
            </a:r>
            <a:endParaRPr lang="en-US" sz="1200" dirty="0"/>
          </a:p>
        </p:txBody>
      </p:sp>
      <p:sp>
        <p:nvSpPr>
          <p:cNvPr id="11" name="Shape 9"/>
          <p:cNvSpPr/>
          <p:nvPr/>
        </p:nvSpPr>
        <p:spPr>
          <a:xfrm>
            <a:off x="777240" y="4937760"/>
            <a:ext cx="10607040" cy="1280160"/>
          </a:xfrm>
          <a:prstGeom prst="rect">
            <a:avLst/>
          </a:prstGeom>
          <a:solidFill>
            <a:srgbClr val="CBF1F6"/>
          </a:solidFill>
          <a:ln w="12700">
            <a:solidFill>
              <a:srgbClr val="CBF1F6"/>
            </a:solidFill>
            <a:prstDash val="solid"/>
          </a:ln>
        </p:spPr>
      </p:sp>
      <p:pic>
        <p:nvPicPr>
          <p:cNvPr id="12" name="Image 0" descr="preencoded.png">    </p:cNvPr>
          <p:cNvPicPr>
            <a:picLocks noChangeAspect="1"/>
          </p:cNvPicPr>
          <p:nvPr/>
        </p:nvPicPr>
        <p:blipFill>
          <a:blip r:embed="rId1"/>
          <a:stretch>
            <a:fillRect/>
          </a:stretch>
        </p:blipFill>
        <p:spPr>
          <a:xfrm>
            <a:off x="1005840" y="5212080"/>
            <a:ext cx="502920" cy="502920"/>
          </a:xfrm>
          <a:prstGeom prst="rect">
            <a:avLst/>
          </a:prstGeom>
        </p:spPr>
      </p:pic>
      <p:sp>
        <p:nvSpPr>
          <p:cNvPr id="13" name="Text 10"/>
          <p:cNvSpPr/>
          <p:nvPr/>
        </p:nvSpPr>
        <p:spPr>
          <a:xfrm>
            <a:off x="1691640" y="4983480"/>
            <a:ext cx="9601200" cy="118872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Enabled per-project. Pair with the eslint plugin so it tells you which components opted out.</a:t>
            </a:r>
            <a:endParaRPr lang="en-US" sz="1300" dirty="0"/>
          </a:p>
        </p:txBody>
      </p:sp>
      <p:sp>
        <p:nvSpPr>
          <p:cNvPr id="14" name="Text 1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5" name="Text 1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18 / 30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 the Compiler doesn't do for you</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Knowing the limits is what keeps performance work honest.</a:t>
            </a:r>
            <a:endParaRPr lang="en-US" sz="1400" dirty="0"/>
          </a:p>
        </p:txBody>
      </p:sp>
      <p:sp>
        <p:nvSpPr>
          <p:cNvPr id="5" name="Shape 3"/>
          <p:cNvSpPr/>
          <p:nvPr/>
        </p:nvSpPr>
        <p:spPr>
          <a:xfrm>
            <a:off x="777240" y="155448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737360"/>
            <a:ext cx="502920" cy="502920"/>
          </a:xfrm>
          <a:prstGeom prst="rect">
            <a:avLst/>
          </a:prstGeom>
        </p:spPr>
      </p:pic>
      <p:sp>
        <p:nvSpPr>
          <p:cNvPr id="7" name="Text 4"/>
          <p:cNvSpPr/>
          <p:nvPr/>
        </p:nvSpPr>
        <p:spPr>
          <a:xfrm>
            <a:off x="1691640" y="164592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Doesn't fix Rules of Hooks violations</a:t>
            </a:r>
            <a:endParaRPr lang="en-US" sz="1400" dirty="0"/>
          </a:p>
        </p:txBody>
      </p:sp>
      <p:sp>
        <p:nvSpPr>
          <p:cNvPr id="8" name="Text 5"/>
          <p:cNvSpPr/>
          <p:nvPr/>
        </p:nvSpPr>
        <p:spPr>
          <a:xfrm>
            <a:off x="1691640" y="1965960"/>
            <a:ext cx="9601200" cy="4572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Same rules as before. If anything, the eslint plugin gets stricter — opt-in violations bail out of memoization.</a:t>
            </a:r>
            <a:endParaRPr lang="en-US" sz="1150" dirty="0"/>
          </a:p>
        </p:txBody>
      </p:sp>
      <p:sp>
        <p:nvSpPr>
          <p:cNvPr id="9" name="Shape 6"/>
          <p:cNvSpPr/>
          <p:nvPr/>
        </p:nvSpPr>
        <p:spPr>
          <a:xfrm>
            <a:off x="777240" y="260604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788920"/>
            <a:ext cx="502920" cy="502920"/>
          </a:xfrm>
          <a:prstGeom prst="rect">
            <a:avLst/>
          </a:prstGeom>
        </p:spPr>
      </p:pic>
      <p:sp>
        <p:nvSpPr>
          <p:cNvPr id="11" name="Text 7"/>
          <p:cNvSpPr/>
          <p:nvPr/>
        </p:nvSpPr>
        <p:spPr>
          <a:xfrm>
            <a:off x="1691640" y="269748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Doesn't memoize across mutation</a:t>
            </a:r>
            <a:endParaRPr lang="en-US" sz="1400" dirty="0"/>
          </a:p>
        </p:txBody>
      </p:sp>
      <p:sp>
        <p:nvSpPr>
          <p:cNvPr id="12" name="Text 8"/>
          <p:cNvSpPr/>
          <p:nvPr/>
        </p:nvSpPr>
        <p:spPr>
          <a:xfrm>
            <a:off x="1691640" y="3017520"/>
            <a:ext cx="9601200" cy="4572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Mutating an object and reusing it still breaks memoization. Use immutable updates.</a:t>
            </a:r>
            <a:endParaRPr lang="en-US" sz="1150" dirty="0"/>
          </a:p>
        </p:txBody>
      </p:sp>
      <p:sp>
        <p:nvSpPr>
          <p:cNvPr id="13" name="Shape 9"/>
          <p:cNvSpPr/>
          <p:nvPr/>
        </p:nvSpPr>
        <p:spPr>
          <a:xfrm>
            <a:off x="777240" y="365760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840480"/>
            <a:ext cx="502920" cy="502920"/>
          </a:xfrm>
          <a:prstGeom prst="rect">
            <a:avLst/>
          </a:prstGeom>
        </p:spPr>
      </p:pic>
      <p:sp>
        <p:nvSpPr>
          <p:cNvPr id="15" name="Text 10"/>
          <p:cNvSpPr/>
          <p:nvPr/>
        </p:nvSpPr>
        <p:spPr>
          <a:xfrm>
            <a:off x="1691640" y="374904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Doesn't replace algorithmic optimization</a:t>
            </a:r>
            <a:endParaRPr lang="en-US" sz="1400" dirty="0"/>
          </a:p>
        </p:txBody>
      </p:sp>
      <p:sp>
        <p:nvSpPr>
          <p:cNvPr id="16" name="Text 11"/>
          <p:cNvSpPr/>
          <p:nvPr/>
        </p:nvSpPr>
        <p:spPr>
          <a:xfrm>
            <a:off x="1691640" y="4069080"/>
            <a:ext cx="9601200" cy="4572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If your filter is O(n²), the Compiler can't save you. Look at the data, not just the renders.</a:t>
            </a:r>
            <a:endParaRPr lang="en-US" sz="1150" dirty="0"/>
          </a:p>
        </p:txBody>
      </p:sp>
      <p:sp>
        <p:nvSpPr>
          <p:cNvPr id="17" name="Shape 12"/>
          <p:cNvSpPr/>
          <p:nvPr/>
        </p:nvSpPr>
        <p:spPr>
          <a:xfrm>
            <a:off x="777240" y="470916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4892040"/>
            <a:ext cx="502920" cy="502920"/>
          </a:xfrm>
          <a:prstGeom prst="rect">
            <a:avLst/>
          </a:prstGeom>
        </p:spPr>
      </p:pic>
      <p:sp>
        <p:nvSpPr>
          <p:cNvPr id="19" name="Text 13"/>
          <p:cNvSpPr/>
          <p:nvPr/>
        </p:nvSpPr>
        <p:spPr>
          <a:xfrm>
            <a:off x="1691640" y="480060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Doesn't help with non-React work</a:t>
            </a:r>
            <a:endParaRPr lang="en-US" sz="1400" dirty="0"/>
          </a:p>
        </p:txBody>
      </p:sp>
      <p:sp>
        <p:nvSpPr>
          <p:cNvPr id="20" name="Text 14"/>
          <p:cNvSpPr/>
          <p:nvPr/>
        </p:nvSpPr>
        <p:spPr>
          <a:xfrm>
            <a:off x="1691640" y="5120640"/>
            <a:ext cx="9601200" cy="4572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A blocking 200ms request is still a blocking 200ms request. Web Workers, Suspense, and streaming still apply.</a:t>
            </a:r>
            <a:endParaRPr lang="en-US" sz="11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19 / 30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2</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800" b="1" dirty="0">
                <a:solidFill>
                  <a:srgbClr val="FFFFFF"/>
                </a:solidFill>
                <a:latin typeface="Trebuchet MS" pitchFamily="34" charset="0"/>
                <a:ea typeface="Trebuchet MS" pitchFamily="34" charset="-122"/>
                <a:cs typeface="Trebuchet MS" pitchFamily="34" charset="-120"/>
              </a:rPr>
              <a:t>Bootstrapping in 2026</a:t>
            </a:r>
            <a:endParaRPr lang="en-US" sz="48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Vite, frameworks, and choosing not to choose a framework.</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Create React App is gone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Officially deprecated by the React team in February 2025.</a:t>
            </a:r>
            <a:endParaRPr lang="en-US" sz="1400" dirty="0"/>
          </a:p>
        </p:txBody>
      </p:sp>
      <p:sp>
        <p:nvSpPr>
          <p:cNvPr id="5" name="Shape 3"/>
          <p:cNvSpPr/>
          <p:nvPr/>
        </p:nvSpPr>
        <p:spPr>
          <a:xfrm>
            <a:off x="777240" y="1645920"/>
            <a:ext cx="10607040" cy="1828800"/>
          </a:xfrm>
          <a:prstGeom prst="rect">
            <a:avLst/>
          </a:prstGeom>
          <a:solidFill>
            <a:srgbClr val="CBF1F6"/>
          </a:solidFill>
          <a:ln w="12700">
            <a:solidFill>
              <a:srgbClr val="CBF1F6"/>
            </a:solidFill>
            <a:prstDash val="solid"/>
          </a:ln>
        </p:spPr>
      </p:sp>
      <p:sp>
        <p:nvSpPr>
          <p:cNvPr id="6" name="Text 4"/>
          <p:cNvSpPr/>
          <p:nvPr/>
        </p:nvSpPr>
        <p:spPr>
          <a:xfrm>
            <a:off x="1005840" y="1783080"/>
            <a:ext cx="10149840" cy="1554480"/>
          </a:xfrm>
          <a:prstGeom prst="rect">
            <a:avLst/>
          </a:prstGeom>
          <a:noFill/>
          <a:ln/>
        </p:spPr>
        <p:txBody>
          <a:bodyPr wrap="square" lIns="0" tIns="0" rIns="0" bIns="0" rtlCol="0" anchor="ctr"/>
          <a:lstStyle/>
          <a:p>
            <a:pPr indent="0" marL="0">
              <a:buNone/>
            </a:pPr>
            <a:r>
              <a:rPr lang="en-US" sz="3800" b="1" dirty="0">
                <a:solidFill>
                  <a:srgbClr val="0F172A"/>
                </a:solidFill>
                <a:latin typeface="Courier New" pitchFamily="34" charset="0"/>
                <a:ea typeface="Courier New" pitchFamily="34" charset="-122"/>
                <a:cs typeface="Courier New" pitchFamily="34" charset="-120"/>
              </a:rPr>
              <a:t>create-react-app</a:t>
            </a:r>
            <a:pPr indent="0" marL="0">
              <a:buNone/>
            </a:pPr>
            <a:r>
              <a:rPr lang="en-US" sz="2800" dirty="0">
                <a:solidFill>
                  <a:srgbClr val="475569"/>
                </a:solidFill>
              </a:rPr>
              <a:t>  →  </a:t>
            </a:r>
            <a:pPr indent="0" marL="0">
              <a:buNone/>
            </a:pPr>
            <a:r>
              <a:rPr lang="en-US" sz="3800" b="1" dirty="0">
                <a:solidFill>
                  <a:srgbClr val="DC2626"/>
                </a:solidFill>
                <a:latin typeface="Trebuchet MS" pitchFamily="34" charset="0"/>
                <a:ea typeface="Trebuchet MS" pitchFamily="34" charset="-122"/>
                <a:cs typeface="Trebuchet MS" pitchFamily="34" charset="-120"/>
              </a:rPr>
              <a:t>deprecated</a:t>
            </a:r>
            <a:endParaRPr lang="en-US" sz="3800" dirty="0"/>
          </a:p>
        </p:txBody>
      </p:sp>
      <p:sp>
        <p:nvSpPr>
          <p:cNvPr id="7" name="Text 5"/>
          <p:cNvSpPr/>
          <p:nvPr/>
        </p:nvSpPr>
        <p:spPr>
          <a:xfrm>
            <a:off x="777240" y="3657600"/>
            <a:ext cx="1060704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Why now:</a:t>
            </a:r>
            <a:endParaRPr lang="en-US" sz="1400" dirty="0"/>
          </a:p>
        </p:txBody>
      </p:sp>
      <p:sp>
        <p:nvSpPr>
          <p:cNvPr id="8" name="Text 6"/>
          <p:cNvSpPr/>
          <p:nvPr/>
        </p:nvSpPr>
        <p:spPr>
          <a:xfrm>
            <a:off x="777240" y="4023360"/>
            <a:ext cx="1060704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Webpack-based build couldn't keep up with modern dev-server expectations (HMR, ESM)</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React 19's server-driven features need a framework or a Vite-style native build</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Maintenance burden on the React team without strategic upside</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Existing CRA projects keep working — but new projects shouldn't start there</a:t>
            </a:r>
            <a:endParaRPr lang="en-US" sz="130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21 / 30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Vite is the new default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If you're not using a framework, you're probably using Vite.</a:t>
            </a:r>
            <a:endParaRPr lang="en-US" sz="1400" dirty="0"/>
          </a:p>
        </p:txBody>
      </p:sp>
      <p:sp>
        <p:nvSpPr>
          <p:cNvPr id="5" name="Shape 3"/>
          <p:cNvSpPr/>
          <p:nvPr/>
        </p:nvSpPr>
        <p:spPr>
          <a:xfrm>
            <a:off x="777240" y="1645920"/>
            <a:ext cx="5943600" cy="1828800"/>
          </a:xfrm>
          <a:prstGeom prst="rect">
            <a:avLst/>
          </a:prstGeom>
          <a:solidFill>
            <a:srgbClr val="1E2A47"/>
          </a:solidFill>
          <a:ln w="12700">
            <a:solidFill>
              <a:srgbClr val="1E2A47"/>
            </a:solidFill>
            <a:prstDash val="solid"/>
          </a:ln>
        </p:spPr>
      </p:sp>
      <p:sp>
        <p:nvSpPr>
          <p:cNvPr id="6" name="Text 4"/>
          <p:cNvSpPr/>
          <p:nvPr/>
        </p:nvSpPr>
        <p:spPr>
          <a:xfrm>
            <a:off x="960120" y="1828800"/>
            <a:ext cx="5577840" cy="457200"/>
          </a:xfrm>
          <a:prstGeom prst="rect">
            <a:avLst/>
          </a:prstGeom>
          <a:noFill/>
          <a:ln/>
        </p:spPr>
        <p:txBody>
          <a:bodyPr wrap="square" lIns="0" tIns="0" rIns="0" bIns="0" rtlCol="0" anchor="ctr"/>
          <a:lstStyle/>
          <a:p>
            <a:pPr indent="0" marL="0">
              <a:buNone/>
            </a:pPr>
            <a:r>
              <a:rPr lang="en-US" sz="1800" dirty="0">
                <a:solidFill>
                  <a:srgbClr val="6A9955"/>
                </a:solidFill>
                <a:latin typeface="Courier New" pitchFamily="34" charset="0"/>
                <a:ea typeface="Courier New" pitchFamily="34" charset="-122"/>
                <a:cs typeface="Courier New" pitchFamily="34" charset="-120"/>
              </a:rPr>
              <a:t>$ </a:t>
            </a:r>
            <a:pPr indent="0" marL="0">
              <a:buNone/>
            </a:pPr>
            <a:r>
              <a:rPr lang="en-US" sz="1800" dirty="0">
                <a:solidFill>
                  <a:srgbClr val="FFFFFF"/>
                </a:solidFill>
                <a:latin typeface="Courier New" pitchFamily="34" charset="0"/>
                <a:ea typeface="Courier New" pitchFamily="34" charset="-122"/>
                <a:cs typeface="Courier New" pitchFamily="34" charset="-120"/>
              </a:rPr>
              <a:t>npm create vite@latest</a:t>
            </a:r>
            <a:endParaRPr lang="en-US" sz="1800" dirty="0"/>
          </a:p>
        </p:txBody>
      </p:sp>
      <p:sp>
        <p:nvSpPr>
          <p:cNvPr id="7" name="Text 5"/>
          <p:cNvSpPr/>
          <p:nvPr/>
        </p:nvSpPr>
        <p:spPr>
          <a:xfrm>
            <a:off x="960120" y="2377440"/>
            <a:ext cx="5577840" cy="1005840"/>
          </a:xfrm>
          <a:prstGeom prst="rect">
            <a:avLst/>
          </a:prstGeom>
          <a:noFill/>
          <a:ln/>
        </p:spPr>
        <p:txBody>
          <a:bodyPr wrap="square" lIns="0" tIns="0" rIns="0" bIns="0" rtlCol="0" anchor="ctr"/>
          <a:lstStyle/>
          <a:p>
            <a:pPr indent="0" marL="0">
              <a:buNone/>
            </a:pPr>
            <a:r>
              <a:rPr lang="en-US" sz="1300" dirty="0">
                <a:solidFill>
                  <a:srgbClr val="CBF1F6"/>
                </a:solidFill>
                <a:latin typeface="Courier New" pitchFamily="34" charset="0"/>
                <a:ea typeface="Courier New" pitchFamily="34" charset="-122"/>
                <a:cs typeface="Courier New" pitchFamily="34" charset="-120"/>
              </a:rPr>
              <a:t>✓ Project name … my-app
</a:t>
            </a:r>
            <a:pPr indent="0" marL="0">
              <a:buNone/>
            </a:pPr>
            <a:r>
              <a:rPr lang="en-US" sz="1300" dirty="0">
                <a:solidFill>
                  <a:srgbClr val="CBF1F6"/>
                </a:solidFill>
                <a:latin typeface="Courier New" pitchFamily="34" charset="0"/>
                <a:ea typeface="Courier New" pitchFamily="34" charset="-122"/>
                <a:cs typeface="Courier New" pitchFamily="34" charset="-120"/>
              </a:rPr>
              <a:t>✓ Framework … React
</a:t>
            </a:r>
            <a:pPr indent="0" marL="0">
              <a:buNone/>
            </a:pPr>
            <a:r>
              <a:rPr lang="en-US" sz="1300" dirty="0">
                <a:solidFill>
                  <a:srgbClr val="CBF1F6"/>
                </a:solidFill>
                <a:latin typeface="Courier New" pitchFamily="34" charset="0"/>
                <a:ea typeface="Courier New" pitchFamily="34" charset="-122"/>
                <a:cs typeface="Courier New" pitchFamily="34" charset="-120"/>
              </a:rPr>
              <a:t>✓ Variant … JavaScript</a:t>
            </a:r>
            <a:endParaRPr lang="en-US" sz="1300" dirty="0"/>
          </a:p>
        </p:txBody>
      </p:sp>
      <p:sp>
        <p:nvSpPr>
          <p:cNvPr id="8" name="Text 6"/>
          <p:cNvSpPr/>
          <p:nvPr/>
        </p:nvSpPr>
        <p:spPr>
          <a:xfrm>
            <a:off x="6949440" y="1554480"/>
            <a:ext cx="45720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What you get:</a:t>
            </a:r>
            <a:endParaRPr lang="en-US" sz="1400" dirty="0"/>
          </a:p>
        </p:txBody>
      </p:sp>
      <p:sp>
        <p:nvSpPr>
          <p:cNvPr id="9" name="Text 7"/>
          <p:cNvSpPr/>
          <p:nvPr/>
        </p:nvSpPr>
        <p:spPr>
          <a:xfrm>
            <a:off x="6949440" y="1920240"/>
            <a:ext cx="4572000" cy="2377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Native ESM dev server (instant cold start)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Rollup-based production builds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Sensible HMR out of the box</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JS, TS, JSX, TSX support without config</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Plugin ecosystem covers everything CRA used to plus React Router</a:t>
            </a:r>
            <a:endParaRPr lang="en-US" sz="1250" dirty="0"/>
          </a:p>
        </p:txBody>
      </p:sp>
      <p:sp>
        <p:nvSpPr>
          <p:cNvPr id="10" name="Shape 8"/>
          <p:cNvSpPr/>
          <p:nvPr/>
        </p:nvSpPr>
        <p:spPr>
          <a:xfrm>
            <a:off x="777240" y="4206240"/>
            <a:ext cx="10607040" cy="1371600"/>
          </a:xfrm>
          <a:prstGeom prst="rect">
            <a:avLst/>
          </a:prstGeom>
          <a:solidFill>
            <a:srgbClr val="CBF1F6"/>
          </a:solidFill>
          <a:ln w="12700">
            <a:solidFill>
              <a:srgbClr val="CBF1F6"/>
            </a:solidFill>
            <a:prstDash val="solid"/>
          </a:ln>
        </p:spPr>
      </p:sp>
      <p:pic>
        <p:nvPicPr>
          <p:cNvPr id="11" name="Image 0" descr="preencoded.png">    </p:cNvPr>
          <p:cNvPicPr>
            <a:picLocks noChangeAspect="1"/>
          </p:cNvPicPr>
          <p:nvPr/>
        </p:nvPicPr>
        <p:blipFill>
          <a:blip r:embed="rId1"/>
          <a:stretch>
            <a:fillRect/>
          </a:stretch>
        </p:blipFill>
        <p:spPr>
          <a:xfrm>
            <a:off x="1005840" y="4526280"/>
            <a:ext cx="548640" cy="548640"/>
          </a:xfrm>
          <a:prstGeom prst="rect">
            <a:avLst/>
          </a:prstGeom>
        </p:spPr>
      </p:pic>
      <p:sp>
        <p:nvSpPr>
          <p:cNvPr id="12" name="Text 9"/>
          <p:cNvSpPr/>
          <p:nvPr/>
        </p:nvSpPr>
        <p:spPr>
          <a:xfrm>
            <a:off x="1783080" y="4251960"/>
            <a:ext cx="9509760" cy="128016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Add the React Compiler with babel-plugin-react-compiler in your Vite config. The eslint plugin tells you which components opted out.</a:t>
            </a:r>
            <a:endParaRPr lang="en-US" sz="1300" dirty="0"/>
          </a:p>
        </p:txBody>
      </p:sp>
      <p:sp>
        <p:nvSpPr>
          <p:cNvPr id="13" name="Text 10"/>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4" name="Text 11"/>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22 / 30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When plain Vite + React is enough</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Don't reach for a framework reflexively. Sometimes Vite is the right answer.</a:t>
            </a:r>
            <a:endParaRPr lang="en-US" sz="1400" dirty="0"/>
          </a:p>
        </p:txBody>
      </p:sp>
      <p:sp>
        <p:nvSpPr>
          <p:cNvPr id="5" name="Shape 3"/>
          <p:cNvSpPr/>
          <p:nvPr/>
        </p:nvSpPr>
        <p:spPr>
          <a:xfrm>
            <a:off x="777240" y="1554480"/>
            <a:ext cx="10607040" cy="713232"/>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700784"/>
            <a:ext cx="411480" cy="411480"/>
          </a:xfrm>
          <a:prstGeom prst="rect">
            <a:avLst/>
          </a:prstGeom>
        </p:spPr>
      </p:pic>
      <p:sp>
        <p:nvSpPr>
          <p:cNvPr id="7" name="Text 4"/>
          <p:cNvSpPr/>
          <p:nvPr/>
        </p:nvSpPr>
        <p:spPr>
          <a:xfrm>
            <a:off x="1554480" y="164592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Internal tools and dashboards behind auth — SEO doesn't matter, server rendering doesn't matter</a:t>
            </a:r>
            <a:endParaRPr lang="en-US" sz="1250" dirty="0"/>
          </a:p>
        </p:txBody>
      </p:sp>
      <p:sp>
        <p:nvSpPr>
          <p:cNvPr id="8" name="Shape 5"/>
          <p:cNvSpPr/>
          <p:nvPr/>
        </p:nvSpPr>
        <p:spPr>
          <a:xfrm>
            <a:off x="777240" y="2423160"/>
            <a:ext cx="10607040" cy="713232"/>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960120" y="2569464"/>
            <a:ext cx="411480" cy="411480"/>
          </a:xfrm>
          <a:prstGeom prst="rect">
            <a:avLst/>
          </a:prstGeom>
        </p:spPr>
      </p:pic>
      <p:sp>
        <p:nvSpPr>
          <p:cNvPr id="10" name="Text 6"/>
          <p:cNvSpPr/>
          <p:nvPr/>
        </p:nvSpPr>
        <p:spPr>
          <a:xfrm>
            <a:off x="1554480" y="251460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Single-page applications where the data model is mostly client-side state</a:t>
            </a:r>
            <a:endParaRPr lang="en-US" sz="1250" dirty="0"/>
          </a:p>
        </p:txBody>
      </p:sp>
      <p:sp>
        <p:nvSpPr>
          <p:cNvPr id="11" name="Shape 7"/>
          <p:cNvSpPr/>
          <p:nvPr/>
        </p:nvSpPr>
        <p:spPr>
          <a:xfrm>
            <a:off x="777240" y="3291840"/>
            <a:ext cx="10607040" cy="713232"/>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438144"/>
            <a:ext cx="411480" cy="411480"/>
          </a:xfrm>
          <a:prstGeom prst="rect">
            <a:avLst/>
          </a:prstGeom>
        </p:spPr>
      </p:pic>
      <p:sp>
        <p:nvSpPr>
          <p:cNvPr id="13" name="Text 8"/>
          <p:cNvSpPr/>
          <p:nvPr/>
        </p:nvSpPr>
        <p:spPr>
          <a:xfrm>
            <a:off x="1554480" y="338328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Embeddable widgets shipped as a single bundle into a host page</a:t>
            </a:r>
            <a:endParaRPr lang="en-US" sz="1250" dirty="0"/>
          </a:p>
        </p:txBody>
      </p:sp>
      <p:sp>
        <p:nvSpPr>
          <p:cNvPr id="14" name="Shape 9"/>
          <p:cNvSpPr/>
          <p:nvPr/>
        </p:nvSpPr>
        <p:spPr>
          <a:xfrm>
            <a:off x="777240" y="4160520"/>
            <a:ext cx="10607040" cy="713232"/>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960120" y="4306824"/>
            <a:ext cx="411480" cy="411480"/>
          </a:xfrm>
          <a:prstGeom prst="rect">
            <a:avLst/>
          </a:prstGeom>
        </p:spPr>
      </p:pic>
      <p:sp>
        <p:nvSpPr>
          <p:cNvPr id="16" name="Text 10"/>
          <p:cNvSpPr/>
          <p:nvPr/>
        </p:nvSpPr>
        <p:spPr>
          <a:xfrm>
            <a:off x="1554480" y="425196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Prototypes and proofs-of-concept where shipping speed beats architectural perfection</a:t>
            </a:r>
            <a:endParaRPr lang="en-US" sz="1250" dirty="0"/>
          </a:p>
        </p:txBody>
      </p:sp>
      <p:sp>
        <p:nvSpPr>
          <p:cNvPr id="17" name="Shape 11"/>
          <p:cNvSpPr/>
          <p:nvPr/>
        </p:nvSpPr>
        <p:spPr>
          <a:xfrm>
            <a:off x="777240" y="5029200"/>
            <a:ext cx="10607040" cy="713232"/>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5175504"/>
            <a:ext cx="411480" cy="411480"/>
          </a:xfrm>
          <a:prstGeom prst="rect">
            <a:avLst/>
          </a:prstGeom>
        </p:spPr>
      </p:pic>
      <p:sp>
        <p:nvSpPr>
          <p:cNvPr id="19" name="Text 12"/>
          <p:cNvSpPr/>
          <p:nvPr/>
        </p:nvSpPr>
        <p:spPr>
          <a:xfrm>
            <a:off x="1554480" y="512064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Storybooks, design systems, component libraries — not really apps in the framework sense</a:t>
            </a:r>
            <a:endParaRPr lang="en-US" sz="1250" dirty="0"/>
          </a:p>
        </p:txBody>
      </p:sp>
      <p:sp>
        <p:nvSpPr>
          <p:cNvPr id="20" name="Text 13"/>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1" name="Text 14"/>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23 / 30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When you do need a framework</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Most consumer-facing apps land here.</a:t>
            </a:r>
            <a:endParaRPr lang="en-US" sz="1400" dirty="0"/>
          </a:p>
        </p:txBody>
      </p:sp>
      <p:sp>
        <p:nvSpPr>
          <p:cNvPr id="5" name="Shape 3"/>
          <p:cNvSpPr/>
          <p:nvPr/>
        </p:nvSpPr>
        <p:spPr>
          <a:xfrm>
            <a:off x="777240" y="1554480"/>
            <a:ext cx="10607040" cy="713232"/>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700784"/>
            <a:ext cx="411480" cy="411480"/>
          </a:xfrm>
          <a:prstGeom prst="rect">
            <a:avLst/>
          </a:prstGeom>
        </p:spPr>
      </p:pic>
      <p:sp>
        <p:nvSpPr>
          <p:cNvPr id="7" name="Text 4"/>
          <p:cNvSpPr/>
          <p:nvPr/>
        </p:nvSpPr>
        <p:spPr>
          <a:xfrm>
            <a:off x="1554480" y="164592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Public-facing pages that need SEO and shareable URLs</a:t>
            </a:r>
            <a:endParaRPr lang="en-US" sz="1250" dirty="0"/>
          </a:p>
        </p:txBody>
      </p:sp>
      <p:sp>
        <p:nvSpPr>
          <p:cNvPr id="8" name="Shape 5"/>
          <p:cNvSpPr/>
          <p:nvPr/>
        </p:nvSpPr>
        <p:spPr>
          <a:xfrm>
            <a:off x="777240" y="2423160"/>
            <a:ext cx="10607040" cy="713232"/>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960120" y="2569464"/>
            <a:ext cx="411480" cy="411480"/>
          </a:xfrm>
          <a:prstGeom prst="rect">
            <a:avLst/>
          </a:prstGeom>
        </p:spPr>
      </p:pic>
      <p:sp>
        <p:nvSpPr>
          <p:cNvPr id="10" name="Text 6"/>
          <p:cNvSpPr/>
          <p:nvPr/>
        </p:nvSpPr>
        <p:spPr>
          <a:xfrm>
            <a:off x="1554480" y="251460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Server Components and Server Actions — they require a framework runtime</a:t>
            </a:r>
            <a:endParaRPr lang="en-US" sz="1250" dirty="0"/>
          </a:p>
        </p:txBody>
      </p:sp>
      <p:sp>
        <p:nvSpPr>
          <p:cNvPr id="11" name="Shape 7"/>
          <p:cNvSpPr/>
          <p:nvPr/>
        </p:nvSpPr>
        <p:spPr>
          <a:xfrm>
            <a:off x="777240" y="3291840"/>
            <a:ext cx="10607040" cy="713232"/>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438144"/>
            <a:ext cx="411480" cy="411480"/>
          </a:xfrm>
          <a:prstGeom prst="rect">
            <a:avLst/>
          </a:prstGeom>
        </p:spPr>
      </p:pic>
      <p:sp>
        <p:nvSpPr>
          <p:cNvPr id="13" name="Text 8"/>
          <p:cNvSpPr/>
          <p:nvPr/>
        </p:nvSpPr>
        <p:spPr>
          <a:xfrm>
            <a:off x="1554480" y="338328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Streaming SSR with sensible defaults (the renderToPipeableStream-by-hand path is a sharp edge)</a:t>
            </a:r>
            <a:endParaRPr lang="en-US" sz="1250" dirty="0"/>
          </a:p>
        </p:txBody>
      </p:sp>
      <p:sp>
        <p:nvSpPr>
          <p:cNvPr id="14" name="Shape 9"/>
          <p:cNvSpPr/>
          <p:nvPr/>
        </p:nvSpPr>
        <p:spPr>
          <a:xfrm>
            <a:off x="777240" y="4160520"/>
            <a:ext cx="10607040" cy="713232"/>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960120" y="4306824"/>
            <a:ext cx="411480" cy="411480"/>
          </a:xfrm>
          <a:prstGeom prst="rect">
            <a:avLst/>
          </a:prstGeom>
        </p:spPr>
      </p:pic>
      <p:sp>
        <p:nvSpPr>
          <p:cNvPr id="16" name="Text 10"/>
          <p:cNvSpPr/>
          <p:nvPr/>
        </p:nvSpPr>
        <p:spPr>
          <a:xfrm>
            <a:off x="1554480" y="425196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File-based routing, route loaders, and built-in data fetching conventions</a:t>
            </a:r>
            <a:endParaRPr lang="en-US" sz="1250" dirty="0"/>
          </a:p>
        </p:txBody>
      </p:sp>
      <p:sp>
        <p:nvSpPr>
          <p:cNvPr id="17" name="Shape 11"/>
          <p:cNvSpPr/>
          <p:nvPr/>
        </p:nvSpPr>
        <p:spPr>
          <a:xfrm>
            <a:off x="777240" y="5029200"/>
            <a:ext cx="10607040" cy="713232"/>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5175504"/>
            <a:ext cx="411480" cy="411480"/>
          </a:xfrm>
          <a:prstGeom prst="rect">
            <a:avLst/>
          </a:prstGeom>
        </p:spPr>
      </p:pic>
      <p:sp>
        <p:nvSpPr>
          <p:cNvPr id="19" name="Text 12"/>
          <p:cNvSpPr/>
          <p:nvPr/>
        </p:nvSpPr>
        <p:spPr>
          <a:xfrm>
            <a:off x="1554480" y="512064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Production deployment story: edge runtime, ISR, partial prerendering</a:t>
            </a:r>
            <a:endParaRPr lang="en-US" sz="1250" dirty="0"/>
          </a:p>
        </p:txBody>
      </p:sp>
      <p:sp>
        <p:nvSpPr>
          <p:cNvPr id="20" name="Text 13"/>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1" name="Text 14"/>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24 / 30</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Framework picks in 2026</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We'll teach in two of these. The others are useful to recognize.</a:t>
            </a:r>
            <a:endParaRPr lang="en-US" sz="1400" dirty="0"/>
          </a:p>
        </p:txBody>
      </p:sp>
      <p:sp>
        <p:nvSpPr>
          <p:cNvPr id="5" name="Shape 3"/>
          <p:cNvSpPr/>
          <p:nvPr/>
        </p:nvSpPr>
        <p:spPr>
          <a:xfrm>
            <a:off x="777240" y="1554480"/>
            <a:ext cx="10607040" cy="841248"/>
          </a:xfrm>
          <a:prstGeom prst="rect">
            <a:avLst/>
          </a:prstGeom>
          <a:solidFill>
            <a:srgbClr val="CBF1F6"/>
          </a:solidFill>
          <a:ln w="12700">
            <a:solidFill>
              <a:srgbClr val="E2E8F0"/>
            </a:solidFill>
            <a:prstDash val="solid"/>
          </a:ln>
        </p:spPr>
      </p:sp>
      <p:sp>
        <p:nvSpPr>
          <p:cNvPr id="6" name="Text 4"/>
          <p:cNvSpPr/>
          <p:nvPr/>
        </p:nvSpPr>
        <p:spPr>
          <a:xfrm>
            <a:off x="960120" y="1664208"/>
            <a:ext cx="4114800" cy="54864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Next.js 15</a:t>
            </a:r>
            <a:endParaRPr lang="en-US" sz="1600" dirty="0"/>
          </a:p>
        </p:txBody>
      </p:sp>
      <p:sp>
        <p:nvSpPr>
          <p:cNvPr id="7" name="Text 5"/>
          <p:cNvSpPr/>
          <p:nvPr/>
        </p:nvSpPr>
        <p:spPr>
          <a:xfrm>
            <a:off x="5120640" y="1664208"/>
            <a:ext cx="6126480" cy="6400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Vercel-led. App Router + Server Components + Server Actions. Largest ecosystem.</a:t>
            </a:r>
            <a:endParaRPr lang="en-US" sz="1250" dirty="0"/>
          </a:p>
        </p:txBody>
      </p:sp>
      <p:sp>
        <p:nvSpPr>
          <p:cNvPr id="8" name="Text 6"/>
          <p:cNvSpPr/>
          <p:nvPr/>
        </p:nvSpPr>
        <p:spPr>
          <a:xfrm>
            <a:off x="10149840" y="1609344"/>
            <a:ext cx="1097280" cy="320040"/>
          </a:xfrm>
          <a:prstGeom prst="rect">
            <a:avLst/>
          </a:prstGeom>
          <a:noFill/>
          <a:ln/>
        </p:spPr>
        <p:txBody>
          <a:bodyPr wrap="square" lIns="0" tIns="0" rIns="0" bIns="0" rtlCol="0" anchor="ctr"/>
          <a:lstStyle/>
          <a:p>
            <a:pPr algn="r" indent="0" marL="0">
              <a:buNone/>
            </a:pPr>
            <a:r>
              <a:rPr lang="en-US" sz="950" b="1" dirty="0">
                <a:solidFill>
                  <a:srgbClr val="00B8D9"/>
                </a:solidFill>
                <a:latin typeface="Trebuchet MS" pitchFamily="34" charset="0"/>
                <a:ea typeface="Trebuchet MS" pitchFamily="34" charset="-122"/>
                <a:cs typeface="Trebuchet MS" pitchFamily="34" charset="-120"/>
              </a:rPr>
              <a:t>taught</a:t>
            </a:r>
            <a:endParaRPr lang="en-US" sz="950" dirty="0"/>
          </a:p>
        </p:txBody>
      </p:sp>
      <p:sp>
        <p:nvSpPr>
          <p:cNvPr id="9" name="Shape 7"/>
          <p:cNvSpPr/>
          <p:nvPr/>
        </p:nvSpPr>
        <p:spPr>
          <a:xfrm>
            <a:off x="777240" y="2560320"/>
            <a:ext cx="10607040" cy="841248"/>
          </a:xfrm>
          <a:prstGeom prst="rect">
            <a:avLst/>
          </a:prstGeom>
          <a:solidFill>
            <a:srgbClr val="CBF1F6"/>
          </a:solidFill>
          <a:ln w="12700">
            <a:solidFill>
              <a:srgbClr val="E2E8F0"/>
            </a:solidFill>
            <a:prstDash val="solid"/>
          </a:ln>
        </p:spPr>
      </p:sp>
      <p:sp>
        <p:nvSpPr>
          <p:cNvPr id="10" name="Text 8"/>
          <p:cNvSpPr/>
          <p:nvPr/>
        </p:nvSpPr>
        <p:spPr>
          <a:xfrm>
            <a:off x="960120" y="2670048"/>
            <a:ext cx="4114800" cy="54864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React Router v7 (framework)</a:t>
            </a:r>
            <a:endParaRPr lang="en-US" sz="1600" dirty="0"/>
          </a:p>
        </p:txBody>
      </p:sp>
      <p:sp>
        <p:nvSpPr>
          <p:cNvPr id="11" name="Text 9"/>
          <p:cNvSpPr/>
          <p:nvPr/>
        </p:nvSpPr>
        <p:spPr>
          <a:xfrm>
            <a:off x="5120640" y="2670048"/>
            <a:ext cx="6126480" cy="6400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Merged with Remix in late 2024. Loaders, actions, framework mode. Strong fit for app-style sites.</a:t>
            </a:r>
            <a:endParaRPr lang="en-US" sz="1250" dirty="0"/>
          </a:p>
        </p:txBody>
      </p:sp>
      <p:sp>
        <p:nvSpPr>
          <p:cNvPr id="12" name="Text 10"/>
          <p:cNvSpPr/>
          <p:nvPr/>
        </p:nvSpPr>
        <p:spPr>
          <a:xfrm>
            <a:off x="10149840" y="2615184"/>
            <a:ext cx="1097280" cy="320040"/>
          </a:xfrm>
          <a:prstGeom prst="rect">
            <a:avLst/>
          </a:prstGeom>
          <a:noFill/>
          <a:ln/>
        </p:spPr>
        <p:txBody>
          <a:bodyPr wrap="square" lIns="0" tIns="0" rIns="0" bIns="0" rtlCol="0" anchor="ctr"/>
          <a:lstStyle/>
          <a:p>
            <a:pPr algn="r" indent="0" marL="0">
              <a:buNone/>
            </a:pPr>
            <a:r>
              <a:rPr lang="en-US" sz="950" b="1" dirty="0">
                <a:solidFill>
                  <a:srgbClr val="00B8D9"/>
                </a:solidFill>
                <a:latin typeface="Trebuchet MS" pitchFamily="34" charset="0"/>
                <a:ea typeface="Trebuchet MS" pitchFamily="34" charset="-122"/>
                <a:cs typeface="Trebuchet MS" pitchFamily="34" charset="-120"/>
              </a:rPr>
              <a:t>taught</a:t>
            </a:r>
            <a:endParaRPr lang="en-US" sz="950" dirty="0"/>
          </a:p>
        </p:txBody>
      </p:sp>
      <p:sp>
        <p:nvSpPr>
          <p:cNvPr id="13" name="Shape 11"/>
          <p:cNvSpPr/>
          <p:nvPr/>
        </p:nvSpPr>
        <p:spPr>
          <a:xfrm>
            <a:off x="777240" y="3566160"/>
            <a:ext cx="10607040" cy="841248"/>
          </a:xfrm>
          <a:prstGeom prst="rect">
            <a:avLst/>
          </a:prstGeom>
          <a:solidFill>
            <a:srgbClr val="FFFFFF"/>
          </a:solidFill>
          <a:ln w="12700">
            <a:solidFill>
              <a:srgbClr val="E2E8F0"/>
            </a:solidFill>
            <a:prstDash val="solid"/>
          </a:ln>
        </p:spPr>
      </p:sp>
      <p:sp>
        <p:nvSpPr>
          <p:cNvPr id="14" name="Text 12"/>
          <p:cNvSpPr/>
          <p:nvPr/>
        </p:nvSpPr>
        <p:spPr>
          <a:xfrm>
            <a:off x="960120" y="3675888"/>
            <a:ext cx="4114800" cy="54864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TanStack Start</a:t>
            </a:r>
            <a:endParaRPr lang="en-US" sz="1600" dirty="0"/>
          </a:p>
        </p:txBody>
      </p:sp>
      <p:sp>
        <p:nvSpPr>
          <p:cNvPr id="15" name="Text 13"/>
          <p:cNvSpPr/>
          <p:nvPr/>
        </p:nvSpPr>
        <p:spPr>
          <a:xfrm>
            <a:off x="5120640" y="3675888"/>
            <a:ext cx="6126480" cy="6400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Built on TanStack Router + TanStack Query. Newer; appealing if you live in TanStack land.</a:t>
            </a:r>
            <a:endParaRPr lang="en-US" sz="1250" dirty="0"/>
          </a:p>
        </p:txBody>
      </p:sp>
      <p:sp>
        <p:nvSpPr>
          <p:cNvPr id="16" name="Shape 14"/>
          <p:cNvSpPr/>
          <p:nvPr/>
        </p:nvSpPr>
        <p:spPr>
          <a:xfrm>
            <a:off x="777240" y="4572000"/>
            <a:ext cx="10607040" cy="841248"/>
          </a:xfrm>
          <a:prstGeom prst="rect">
            <a:avLst/>
          </a:prstGeom>
          <a:solidFill>
            <a:srgbClr val="FFFFFF"/>
          </a:solidFill>
          <a:ln w="12700">
            <a:solidFill>
              <a:srgbClr val="E2E8F0"/>
            </a:solidFill>
            <a:prstDash val="solid"/>
          </a:ln>
        </p:spPr>
      </p:sp>
      <p:sp>
        <p:nvSpPr>
          <p:cNvPr id="17" name="Text 15"/>
          <p:cNvSpPr/>
          <p:nvPr/>
        </p:nvSpPr>
        <p:spPr>
          <a:xfrm>
            <a:off x="960120" y="4681728"/>
            <a:ext cx="4114800" cy="54864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Astro</a:t>
            </a:r>
            <a:endParaRPr lang="en-US" sz="1600" dirty="0"/>
          </a:p>
        </p:txBody>
      </p:sp>
      <p:sp>
        <p:nvSpPr>
          <p:cNvPr id="18" name="Text 16"/>
          <p:cNvSpPr/>
          <p:nvPr/>
        </p:nvSpPr>
        <p:spPr>
          <a:xfrm>
            <a:off x="5120640" y="4681728"/>
            <a:ext cx="6126480" cy="6400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Content-first. React as one of many island flavors. Great for marketing sites and docs.</a:t>
            </a:r>
            <a:endParaRPr lang="en-US" sz="1250" dirty="0"/>
          </a:p>
        </p:txBody>
      </p:sp>
      <p:sp>
        <p:nvSpPr>
          <p:cNvPr id="19" name="Text 17"/>
          <p:cNvSpPr/>
          <p:nvPr/>
        </p:nvSpPr>
        <p:spPr>
          <a:xfrm>
            <a:off x="777240" y="5760720"/>
            <a:ext cx="10607040" cy="457200"/>
          </a:xfrm>
          <a:prstGeom prst="rect">
            <a:avLst/>
          </a:prstGeom>
          <a:noFill/>
          <a:ln/>
        </p:spPr>
        <p:txBody>
          <a:bodyPr wrap="square" lIns="0" tIns="0" rIns="0" bIns="0" rtlCol="0" anchor="ctr"/>
          <a:lstStyle/>
          <a:p>
            <a:pPr indent="0" marL="0">
              <a:buNone/>
            </a:pPr>
            <a:r>
              <a:rPr lang="en-US" sz="1250" i="1" dirty="0">
                <a:solidFill>
                  <a:srgbClr val="475569"/>
                </a:solidFill>
                <a:latin typeface="Arial" pitchFamily="34" charset="0"/>
                <a:ea typeface="Arial" pitchFamily="34" charset="-122"/>
                <a:cs typeface="Arial" pitchFamily="34" charset="-120"/>
              </a:rPr>
              <a:t>Lab 2 implements the same auth flow in both Next.js 15 and React Router v7 framework mode. You'll see them side-by-side.</a:t>
            </a:r>
            <a:endParaRPr lang="en-US" sz="1250" dirty="0"/>
          </a:p>
        </p:txBody>
      </p:sp>
      <p:sp>
        <p:nvSpPr>
          <p:cNvPr id="20" name="Text 1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1" name="Text 1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25 / 30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Next.js 15</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Most popular React framework. App Router + RSC by default in new projects.</a:t>
            </a:r>
            <a:endParaRPr lang="en-US" sz="1400" dirty="0"/>
          </a:p>
        </p:txBody>
      </p:sp>
      <p:sp>
        <p:nvSpPr>
          <p:cNvPr id="5" name="Shape 3"/>
          <p:cNvSpPr/>
          <p:nvPr/>
        </p:nvSpPr>
        <p:spPr>
          <a:xfrm>
            <a:off x="777240" y="1691640"/>
            <a:ext cx="5349240" cy="4389120"/>
          </a:xfrm>
          <a:prstGeom prst="rect">
            <a:avLst/>
          </a:prstGeom>
          <a:solidFill>
            <a:srgbClr val="FFFFFF"/>
          </a:solidFill>
          <a:ln w="12700">
            <a:solidFill>
              <a:srgbClr val="E2E8F0"/>
            </a:solidFill>
            <a:prstDash val="solid"/>
          </a:ln>
        </p:spPr>
      </p:sp>
      <p:sp>
        <p:nvSpPr>
          <p:cNvPr id="6" name="Text 4"/>
          <p:cNvSpPr/>
          <p:nvPr/>
        </p:nvSpPr>
        <p:spPr>
          <a:xfrm>
            <a:off x="960120" y="1874520"/>
            <a:ext cx="5029200" cy="365760"/>
          </a:xfrm>
          <a:prstGeom prst="rect">
            <a:avLst/>
          </a:prstGeom>
          <a:noFill/>
          <a:ln/>
        </p:spPr>
        <p:txBody>
          <a:bodyPr wrap="square" lIns="0" tIns="0" rIns="0" bIns="0" rtlCol="0" anchor="ctr"/>
          <a:lstStyle/>
          <a:p>
            <a:pPr indent="0" marL="0">
              <a:buNone/>
            </a:pPr>
            <a:r>
              <a:rPr lang="en-US" sz="1600" b="1" dirty="0">
                <a:solidFill>
                  <a:srgbClr val="059669"/>
                </a:solidFill>
                <a:latin typeface="Trebuchet MS" pitchFamily="34" charset="0"/>
                <a:ea typeface="Trebuchet MS" pitchFamily="34" charset="-122"/>
                <a:cs typeface="Trebuchet MS" pitchFamily="34" charset="-120"/>
              </a:rPr>
              <a:t>Strengths</a:t>
            </a:r>
            <a:endParaRPr lang="en-US" sz="1600" dirty="0"/>
          </a:p>
        </p:txBody>
      </p:sp>
      <p:sp>
        <p:nvSpPr>
          <p:cNvPr id="7" name="Text 5"/>
          <p:cNvSpPr/>
          <p:nvPr/>
        </p:nvSpPr>
        <p:spPr>
          <a:xfrm>
            <a:off x="960120" y="2377440"/>
            <a:ext cx="5029200" cy="36576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First-class Server Components and Server Actions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Streaming + Suspense baked into the rendering path</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Partial prerendering for hybrid static/dynamic pages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Turbopack stable for dev — fast builds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Vercel deployment story is genuinely good</a:t>
            </a:r>
            <a:endParaRPr lang="en-US" sz="1250" dirty="0"/>
          </a:p>
        </p:txBody>
      </p:sp>
      <p:sp>
        <p:nvSpPr>
          <p:cNvPr id="8" name="Shape 6"/>
          <p:cNvSpPr/>
          <p:nvPr/>
        </p:nvSpPr>
        <p:spPr>
          <a:xfrm>
            <a:off x="6355080" y="1691640"/>
            <a:ext cx="5029200" cy="4389120"/>
          </a:xfrm>
          <a:prstGeom prst="rect">
            <a:avLst/>
          </a:prstGeom>
          <a:solidFill>
            <a:srgbClr val="FFFFFF"/>
          </a:solidFill>
          <a:ln w="12700">
            <a:solidFill>
              <a:srgbClr val="E2E8F0"/>
            </a:solidFill>
            <a:prstDash val="solid"/>
          </a:ln>
        </p:spPr>
      </p:sp>
      <p:sp>
        <p:nvSpPr>
          <p:cNvPr id="9" name="Text 7"/>
          <p:cNvSpPr/>
          <p:nvPr/>
        </p:nvSpPr>
        <p:spPr>
          <a:xfrm>
            <a:off x="6537960" y="1874520"/>
            <a:ext cx="4754880" cy="365760"/>
          </a:xfrm>
          <a:prstGeom prst="rect">
            <a:avLst/>
          </a:prstGeom>
          <a:noFill/>
          <a:ln/>
        </p:spPr>
        <p:txBody>
          <a:bodyPr wrap="square" lIns="0" tIns="0" rIns="0" bIns="0" rtlCol="0" anchor="ctr"/>
          <a:lstStyle/>
          <a:p>
            <a:pPr indent="0" marL="0">
              <a:buNone/>
            </a:pPr>
            <a:r>
              <a:rPr lang="en-US" sz="1600" b="1" dirty="0">
                <a:solidFill>
                  <a:srgbClr val="D97706"/>
                </a:solidFill>
                <a:latin typeface="Trebuchet MS" pitchFamily="34" charset="0"/>
                <a:ea typeface="Trebuchet MS" pitchFamily="34" charset="-122"/>
                <a:cs typeface="Trebuchet MS" pitchFamily="34" charset="-120"/>
              </a:rPr>
              <a:t>Watch-outs</a:t>
            </a:r>
            <a:endParaRPr lang="en-US" sz="1600" dirty="0"/>
          </a:p>
        </p:txBody>
      </p:sp>
      <p:sp>
        <p:nvSpPr>
          <p:cNvPr id="10" name="Text 8"/>
          <p:cNvSpPr/>
          <p:nvPr/>
        </p:nvSpPr>
        <p:spPr>
          <a:xfrm>
            <a:off x="6537960" y="2377440"/>
            <a:ext cx="4754880" cy="36576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App Router conventions are non-trivial — file-as-API takes getting used to</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Caching defaults change between minor versions; read the release notes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Vercel-flavored runtime — works elsewhere but the polish is uneven</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Easy to over-reach for server features when a Vite SPA would do</a:t>
            </a:r>
            <a:endParaRPr lang="en-US" sz="1250" dirty="0"/>
          </a:p>
        </p:txBody>
      </p:sp>
      <p:sp>
        <p:nvSpPr>
          <p:cNvPr id="11"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2"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26 / 30</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React Router v7 — framework mode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RR + Remix merged in November 2024. One product, two modes.</a:t>
            </a:r>
            <a:endParaRPr lang="en-US" sz="1400" dirty="0"/>
          </a:p>
        </p:txBody>
      </p:sp>
      <p:sp>
        <p:nvSpPr>
          <p:cNvPr id="5" name="Shape 3"/>
          <p:cNvSpPr/>
          <p:nvPr/>
        </p:nvSpPr>
        <p:spPr>
          <a:xfrm>
            <a:off x="777240" y="1645920"/>
            <a:ext cx="10607040" cy="1097280"/>
          </a:xfrm>
          <a:prstGeom prst="rect">
            <a:avLst/>
          </a:prstGeom>
          <a:solidFill>
            <a:srgbClr val="CBF1F6"/>
          </a:solidFill>
          <a:ln w="12700">
            <a:solidFill>
              <a:srgbClr val="CBF1F6"/>
            </a:solidFill>
            <a:prstDash val="solid"/>
          </a:ln>
        </p:spPr>
      </p:sp>
      <p:pic>
        <p:nvPicPr>
          <p:cNvPr id="6" name="Image 0" descr="preencoded.png">    </p:cNvPr>
          <p:cNvPicPr>
            <a:picLocks noChangeAspect="1"/>
          </p:cNvPicPr>
          <p:nvPr/>
        </p:nvPicPr>
        <p:blipFill>
          <a:blip r:embed="rId1"/>
          <a:stretch>
            <a:fillRect/>
          </a:stretch>
        </p:blipFill>
        <p:spPr>
          <a:xfrm>
            <a:off x="1005840" y="1874520"/>
            <a:ext cx="548640" cy="548640"/>
          </a:xfrm>
          <a:prstGeom prst="rect">
            <a:avLst/>
          </a:prstGeom>
        </p:spPr>
      </p:pic>
      <p:sp>
        <p:nvSpPr>
          <p:cNvPr id="7" name="Text 4"/>
          <p:cNvSpPr/>
          <p:nvPr/>
        </p:nvSpPr>
        <p:spPr>
          <a:xfrm>
            <a:off x="1737360" y="1691640"/>
            <a:ext cx="9509760" cy="100584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Library mode = the React Router you know. Framework mode = Remix-style loaders, actions, and conventions, with Vite under the hood.</a:t>
            </a:r>
            <a:endParaRPr lang="en-US" sz="1300" dirty="0"/>
          </a:p>
        </p:txBody>
      </p:sp>
      <p:sp>
        <p:nvSpPr>
          <p:cNvPr id="8" name="Shape 5"/>
          <p:cNvSpPr/>
          <p:nvPr/>
        </p:nvSpPr>
        <p:spPr>
          <a:xfrm>
            <a:off x="777240" y="3108960"/>
            <a:ext cx="5349240" cy="3108960"/>
          </a:xfrm>
          <a:prstGeom prst="rect">
            <a:avLst/>
          </a:prstGeom>
          <a:solidFill>
            <a:srgbClr val="FFFFFF"/>
          </a:solidFill>
          <a:ln w="12700">
            <a:solidFill>
              <a:srgbClr val="E2E8F0"/>
            </a:solidFill>
            <a:prstDash val="solid"/>
          </a:ln>
        </p:spPr>
      </p:sp>
      <p:sp>
        <p:nvSpPr>
          <p:cNvPr id="9" name="Text 6"/>
          <p:cNvSpPr/>
          <p:nvPr/>
        </p:nvSpPr>
        <p:spPr>
          <a:xfrm>
            <a:off x="960120" y="3291840"/>
            <a:ext cx="5029200" cy="365760"/>
          </a:xfrm>
          <a:prstGeom prst="rect">
            <a:avLst/>
          </a:prstGeom>
          <a:noFill/>
          <a:ln/>
        </p:spPr>
        <p:txBody>
          <a:bodyPr wrap="square" lIns="0" tIns="0" rIns="0" bIns="0" rtlCol="0" anchor="ctr"/>
          <a:lstStyle/>
          <a:p>
            <a:pPr indent="0" marL="0">
              <a:buNone/>
            </a:pPr>
            <a:r>
              <a:rPr lang="en-US" sz="1600" b="1" dirty="0">
                <a:solidFill>
                  <a:srgbClr val="059669"/>
                </a:solidFill>
                <a:latin typeface="Trebuchet MS" pitchFamily="34" charset="0"/>
                <a:ea typeface="Trebuchet MS" pitchFamily="34" charset="-122"/>
                <a:cs typeface="Trebuchet MS" pitchFamily="34" charset="-120"/>
              </a:rPr>
              <a:t>Strengths</a:t>
            </a:r>
            <a:endParaRPr lang="en-US" sz="1600" dirty="0"/>
          </a:p>
        </p:txBody>
      </p:sp>
      <p:sp>
        <p:nvSpPr>
          <p:cNvPr id="10" name="Text 7"/>
          <p:cNvSpPr/>
          <p:nvPr/>
        </p:nvSpPr>
        <p:spPr>
          <a:xfrm>
            <a:off x="960120" y="3749040"/>
            <a:ext cx="502920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Closer to vanilla React than Next.js — fewer conventions to memorize</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Loaders + actions = a clean data-on-the-server story</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Deploy anywhere Node runs — no vendor pull</a:t>
            </a:r>
            <a:endParaRPr lang="en-US" sz="1250" dirty="0"/>
          </a:p>
        </p:txBody>
      </p:sp>
      <p:sp>
        <p:nvSpPr>
          <p:cNvPr id="11" name="Shape 8"/>
          <p:cNvSpPr/>
          <p:nvPr/>
        </p:nvSpPr>
        <p:spPr>
          <a:xfrm>
            <a:off x="6355080" y="3108960"/>
            <a:ext cx="5029200" cy="3108960"/>
          </a:xfrm>
          <a:prstGeom prst="rect">
            <a:avLst/>
          </a:prstGeom>
          <a:solidFill>
            <a:srgbClr val="FFFFFF"/>
          </a:solidFill>
          <a:ln w="12700">
            <a:solidFill>
              <a:srgbClr val="E2E8F0"/>
            </a:solidFill>
            <a:prstDash val="solid"/>
          </a:ln>
        </p:spPr>
      </p:sp>
      <p:sp>
        <p:nvSpPr>
          <p:cNvPr id="12" name="Text 9"/>
          <p:cNvSpPr/>
          <p:nvPr/>
        </p:nvSpPr>
        <p:spPr>
          <a:xfrm>
            <a:off x="6537960" y="3291840"/>
            <a:ext cx="4754880" cy="365760"/>
          </a:xfrm>
          <a:prstGeom prst="rect">
            <a:avLst/>
          </a:prstGeom>
          <a:noFill/>
          <a:ln/>
        </p:spPr>
        <p:txBody>
          <a:bodyPr wrap="square" lIns="0" tIns="0" rIns="0" bIns="0" rtlCol="0" anchor="ctr"/>
          <a:lstStyle/>
          <a:p>
            <a:pPr indent="0" marL="0">
              <a:buNone/>
            </a:pPr>
            <a:r>
              <a:rPr lang="en-US" sz="1600" b="1" dirty="0">
                <a:solidFill>
                  <a:srgbClr val="D97706"/>
                </a:solidFill>
                <a:latin typeface="Trebuchet MS" pitchFamily="34" charset="0"/>
                <a:ea typeface="Trebuchet MS" pitchFamily="34" charset="-122"/>
                <a:cs typeface="Trebuchet MS" pitchFamily="34" charset="-120"/>
              </a:rPr>
              <a:t>Watch-outs</a:t>
            </a:r>
            <a:endParaRPr lang="en-US" sz="1600" dirty="0"/>
          </a:p>
        </p:txBody>
      </p:sp>
      <p:sp>
        <p:nvSpPr>
          <p:cNvPr id="13" name="Text 10"/>
          <p:cNvSpPr/>
          <p:nvPr/>
        </p:nvSpPr>
        <p:spPr>
          <a:xfrm>
            <a:off x="6537960" y="3749040"/>
            <a:ext cx="475488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Smaller ecosystem of third-party RSC integrations than Next.js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Less material online — search results still mix RR v6 and Remix v2 advice</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Server Components support is solid but newer than Next.js's</a:t>
            </a:r>
            <a:endParaRPr lang="en-US" sz="1250" dirty="0"/>
          </a:p>
        </p:txBody>
      </p:sp>
      <p:sp>
        <p:nvSpPr>
          <p:cNvPr id="14" name="Text 1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5" name="Text 1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27 / 30</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Worth knowing about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Not what we'll teach, but worth knowing the shape of.</a:t>
            </a:r>
            <a:endParaRPr lang="en-US" sz="1400" dirty="0"/>
          </a:p>
        </p:txBody>
      </p:sp>
      <p:sp>
        <p:nvSpPr>
          <p:cNvPr id="5" name="Shape 3"/>
          <p:cNvSpPr/>
          <p:nvPr/>
        </p:nvSpPr>
        <p:spPr>
          <a:xfrm>
            <a:off x="777240" y="1691640"/>
            <a:ext cx="10607040" cy="1920240"/>
          </a:xfrm>
          <a:prstGeom prst="rect">
            <a:avLst/>
          </a:prstGeom>
          <a:solidFill>
            <a:srgbClr val="FFFFFF"/>
          </a:solidFill>
          <a:ln w="12700">
            <a:solidFill>
              <a:srgbClr val="E2E8F0"/>
            </a:solidFill>
            <a:prstDash val="solid"/>
          </a:ln>
        </p:spPr>
      </p:sp>
      <p:sp>
        <p:nvSpPr>
          <p:cNvPr id="6" name="Shape 4"/>
          <p:cNvSpPr/>
          <p:nvPr/>
        </p:nvSpPr>
        <p:spPr>
          <a:xfrm>
            <a:off x="777240" y="1691640"/>
            <a:ext cx="109728" cy="1920240"/>
          </a:xfrm>
          <a:prstGeom prst="rect">
            <a:avLst/>
          </a:prstGeom>
          <a:solidFill>
            <a:srgbClr val="00B8D9"/>
          </a:solidFill>
          <a:ln w="12700">
            <a:solidFill>
              <a:srgbClr val="00B8D9"/>
            </a:solidFill>
            <a:prstDash val="solid"/>
          </a:ln>
        </p:spPr>
      </p:sp>
      <p:sp>
        <p:nvSpPr>
          <p:cNvPr id="7" name="Text 5"/>
          <p:cNvSpPr/>
          <p:nvPr/>
        </p:nvSpPr>
        <p:spPr>
          <a:xfrm>
            <a:off x="1051560" y="1874520"/>
            <a:ext cx="10058400" cy="45720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TanStack Start</a:t>
            </a:r>
            <a:endParaRPr lang="en-US" sz="1800" dirty="0"/>
          </a:p>
        </p:txBody>
      </p:sp>
      <p:sp>
        <p:nvSpPr>
          <p:cNvPr id="8" name="Text 6"/>
          <p:cNvSpPr/>
          <p:nvPr/>
        </p:nvSpPr>
        <p:spPr>
          <a:xfrm>
            <a:off x="1051560" y="2377440"/>
            <a:ext cx="10058400" cy="109728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Newer entrant. Built on TanStack Router + TanStack Query. Type-safe, file-based routing, server functions. Worth a look if you're already TanStack-heavy or you want type safety as a first-class feature.</a:t>
            </a:r>
            <a:endParaRPr lang="en-US" sz="1300" dirty="0"/>
          </a:p>
        </p:txBody>
      </p:sp>
      <p:sp>
        <p:nvSpPr>
          <p:cNvPr id="9" name="Shape 7"/>
          <p:cNvSpPr/>
          <p:nvPr/>
        </p:nvSpPr>
        <p:spPr>
          <a:xfrm>
            <a:off x="777240" y="3886200"/>
            <a:ext cx="10607040" cy="1920240"/>
          </a:xfrm>
          <a:prstGeom prst="rect">
            <a:avLst/>
          </a:prstGeom>
          <a:solidFill>
            <a:srgbClr val="FFFFFF"/>
          </a:solidFill>
          <a:ln w="12700">
            <a:solidFill>
              <a:srgbClr val="E2E8F0"/>
            </a:solidFill>
            <a:prstDash val="solid"/>
          </a:ln>
        </p:spPr>
      </p:sp>
      <p:sp>
        <p:nvSpPr>
          <p:cNvPr id="10" name="Shape 8"/>
          <p:cNvSpPr/>
          <p:nvPr/>
        </p:nvSpPr>
        <p:spPr>
          <a:xfrm>
            <a:off x="777240" y="3886200"/>
            <a:ext cx="109728" cy="1920240"/>
          </a:xfrm>
          <a:prstGeom prst="rect">
            <a:avLst/>
          </a:prstGeom>
          <a:solidFill>
            <a:srgbClr val="00B8D9"/>
          </a:solidFill>
          <a:ln w="12700">
            <a:solidFill>
              <a:srgbClr val="00B8D9"/>
            </a:solidFill>
            <a:prstDash val="solid"/>
          </a:ln>
        </p:spPr>
      </p:sp>
      <p:sp>
        <p:nvSpPr>
          <p:cNvPr id="11" name="Text 9"/>
          <p:cNvSpPr/>
          <p:nvPr/>
        </p:nvSpPr>
        <p:spPr>
          <a:xfrm>
            <a:off x="1051560" y="4069080"/>
            <a:ext cx="10058400" cy="45720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Astro</a:t>
            </a:r>
            <a:endParaRPr lang="en-US" sz="1800" dirty="0"/>
          </a:p>
        </p:txBody>
      </p:sp>
      <p:sp>
        <p:nvSpPr>
          <p:cNvPr id="12" name="Text 10"/>
          <p:cNvSpPr/>
          <p:nvPr/>
        </p:nvSpPr>
        <p:spPr>
          <a:xfrm>
            <a:off x="1051560" y="4572000"/>
            <a:ext cx="10058400" cy="109728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Content-first framework. React renders as 'islands' inside otherwise-static pages. Best for marketing sites, docs, and content-heavy apps where most pages don't need much JS at all.</a:t>
            </a:r>
            <a:endParaRPr lang="en-US" sz="1300" dirty="0"/>
          </a:p>
        </p:txBody>
      </p:sp>
      <p:sp>
        <p:nvSpPr>
          <p:cNvPr id="13" name="Text 1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4" name="Text 1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28 / 30</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AI assistants are part of the workflow now</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And React is one of the things they get most-frequently-wrong.</a:t>
            </a:r>
            <a:endParaRPr lang="en-US" sz="1400" dirty="0"/>
          </a:p>
        </p:txBody>
      </p:sp>
      <p:sp>
        <p:nvSpPr>
          <p:cNvPr id="5" name="Shape 3"/>
          <p:cNvSpPr/>
          <p:nvPr/>
        </p:nvSpPr>
        <p:spPr>
          <a:xfrm>
            <a:off x="777240" y="1645920"/>
            <a:ext cx="10607040" cy="1097280"/>
          </a:xfrm>
          <a:prstGeom prst="rect">
            <a:avLst/>
          </a:prstGeom>
          <a:solidFill>
            <a:srgbClr val="CBF1F6"/>
          </a:solidFill>
          <a:ln w="12700">
            <a:solidFill>
              <a:srgbClr val="CBF1F6"/>
            </a:solidFill>
            <a:prstDash val="solid"/>
          </a:ln>
        </p:spPr>
      </p:sp>
      <p:pic>
        <p:nvPicPr>
          <p:cNvPr id="6" name="Image 0" descr="preencoded.png">    </p:cNvPr>
          <p:cNvPicPr>
            <a:picLocks noChangeAspect="1"/>
          </p:cNvPicPr>
          <p:nvPr/>
        </p:nvPicPr>
        <p:blipFill>
          <a:blip r:embed="rId1"/>
          <a:stretch>
            <a:fillRect/>
          </a:stretch>
        </p:blipFill>
        <p:spPr>
          <a:xfrm>
            <a:off x="1005840" y="1874520"/>
            <a:ext cx="640080" cy="640080"/>
          </a:xfrm>
          <a:prstGeom prst="rect">
            <a:avLst/>
          </a:prstGeom>
        </p:spPr>
      </p:pic>
      <p:sp>
        <p:nvSpPr>
          <p:cNvPr id="7" name="Text 4"/>
          <p:cNvSpPr/>
          <p:nvPr/>
        </p:nvSpPr>
        <p:spPr>
          <a:xfrm>
            <a:off x="1783080" y="1691640"/>
            <a:ext cx="9509760" cy="1005840"/>
          </a:xfrm>
          <a:prstGeom prst="rect">
            <a:avLst/>
          </a:prstGeom>
          <a:noFill/>
          <a:ln/>
        </p:spPr>
        <p:txBody>
          <a:bodyPr wrap="square" lIns="0" tIns="0" rIns="0" bIns="0" rtlCol="0" anchor="ctr"/>
          <a:lstStyle/>
          <a:p>
            <a:pPr indent="0" marL="0">
              <a:buNone/>
            </a:pPr>
            <a:r>
              <a:rPr lang="en-US" sz="1400" i="1" dirty="0">
                <a:solidFill>
                  <a:srgbClr val="0F172A"/>
                </a:solidFill>
                <a:latin typeface="Arial" pitchFamily="34" charset="0"/>
                <a:ea typeface="Arial" pitchFamily="34" charset="-122"/>
                <a:cs typeface="Arial" pitchFamily="34" charset="-120"/>
              </a:rPr>
              <a:t>Most students in this room used an AI assistant to help with at least one React component this week.</a:t>
            </a:r>
            <a:endParaRPr lang="en-US" sz="1400" dirty="0"/>
          </a:p>
        </p:txBody>
      </p:sp>
      <p:sp>
        <p:nvSpPr>
          <p:cNvPr id="8" name="Text 5"/>
          <p:cNvSpPr/>
          <p:nvPr/>
        </p:nvSpPr>
        <p:spPr>
          <a:xfrm>
            <a:off x="777240" y="3017520"/>
            <a:ext cx="10607040" cy="36576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React-specific failure modes you'll see across all the major tools:</a:t>
            </a:r>
            <a:endParaRPr lang="en-US" sz="1300" dirty="0"/>
          </a:p>
        </p:txBody>
      </p:sp>
      <p:sp>
        <p:nvSpPr>
          <p:cNvPr id="9" name="Shape 6"/>
          <p:cNvSpPr/>
          <p:nvPr/>
        </p:nvSpPr>
        <p:spPr>
          <a:xfrm>
            <a:off x="777240" y="3520440"/>
            <a:ext cx="5212080" cy="68580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3703320"/>
            <a:ext cx="320040" cy="320040"/>
          </a:xfrm>
          <a:prstGeom prst="rect">
            <a:avLst/>
          </a:prstGeom>
        </p:spPr>
      </p:pic>
      <p:sp>
        <p:nvSpPr>
          <p:cNvPr id="11" name="Text 7"/>
          <p:cNvSpPr/>
          <p:nvPr/>
        </p:nvSpPr>
        <p:spPr>
          <a:xfrm>
            <a:off x="1417320" y="3611880"/>
            <a:ext cx="4572000" cy="54864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Stale closures inside useEffect callbacks</a:t>
            </a:r>
            <a:endParaRPr lang="en-US" sz="1200" dirty="0"/>
          </a:p>
        </p:txBody>
      </p:sp>
      <p:sp>
        <p:nvSpPr>
          <p:cNvPr id="12" name="Shape 8"/>
          <p:cNvSpPr/>
          <p:nvPr/>
        </p:nvSpPr>
        <p:spPr>
          <a:xfrm>
            <a:off x="6126480" y="3520440"/>
            <a:ext cx="5212080" cy="685800"/>
          </a:xfrm>
          <a:prstGeom prst="rect">
            <a:avLst/>
          </a:prstGeom>
          <a:solidFill>
            <a:srgbClr val="FFFFFF"/>
          </a:solidFill>
          <a:ln w="12700">
            <a:solidFill>
              <a:srgbClr val="E2E8F0"/>
            </a:solidFill>
            <a:prstDash val="solid"/>
          </a:ln>
        </p:spPr>
      </p:sp>
      <p:pic>
        <p:nvPicPr>
          <p:cNvPr id="13" name="Image 2" descr="preencoded.png">    </p:cNvPr>
          <p:cNvPicPr>
            <a:picLocks noChangeAspect="1"/>
          </p:cNvPicPr>
          <p:nvPr/>
        </p:nvPicPr>
        <p:blipFill>
          <a:blip r:embed="rId3"/>
          <a:stretch>
            <a:fillRect/>
          </a:stretch>
        </p:blipFill>
        <p:spPr>
          <a:xfrm>
            <a:off x="6309360" y="3703320"/>
            <a:ext cx="320040" cy="320040"/>
          </a:xfrm>
          <a:prstGeom prst="rect">
            <a:avLst/>
          </a:prstGeom>
        </p:spPr>
      </p:pic>
      <p:sp>
        <p:nvSpPr>
          <p:cNvPr id="14" name="Text 9"/>
          <p:cNvSpPr/>
          <p:nvPr/>
        </p:nvSpPr>
        <p:spPr>
          <a:xfrm>
            <a:off x="6766560" y="3611880"/>
            <a:ext cx="4572000" cy="54864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Missing or over-eager dependency arrays</a:t>
            </a:r>
            <a:endParaRPr lang="en-US" sz="1200" dirty="0"/>
          </a:p>
        </p:txBody>
      </p:sp>
      <p:sp>
        <p:nvSpPr>
          <p:cNvPr id="15" name="Shape 10"/>
          <p:cNvSpPr/>
          <p:nvPr/>
        </p:nvSpPr>
        <p:spPr>
          <a:xfrm>
            <a:off x="777240" y="4343400"/>
            <a:ext cx="5212080" cy="685800"/>
          </a:xfrm>
          <a:prstGeom prst="rect">
            <a:avLst/>
          </a:prstGeom>
          <a:solidFill>
            <a:srgbClr val="FFFFFF"/>
          </a:solidFill>
          <a:ln w="12700">
            <a:solidFill>
              <a:srgbClr val="E2E8F0"/>
            </a:solidFill>
            <a:prstDash val="solid"/>
          </a:ln>
        </p:spPr>
      </p:sp>
      <p:pic>
        <p:nvPicPr>
          <p:cNvPr id="16" name="Image 3" descr="preencoded.png">    </p:cNvPr>
          <p:cNvPicPr>
            <a:picLocks noChangeAspect="1"/>
          </p:cNvPicPr>
          <p:nvPr/>
        </p:nvPicPr>
        <p:blipFill>
          <a:blip r:embed="rId4"/>
          <a:stretch>
            <a:fillRect/>
          </a:stretch>
        </p:blipFill>
        <p:spPr>
          <a:xfrm>
            <a:off x="960120" y="4526280"/>
            <a:ext cx="320040" cy="320040"/>
          </a:xfrm>
          <a:prstGeom prst="rect">
            <a:avLst/>
          </a:prstGeom>
        </p:spPr>
      </p:pic>
      <p:sp>
        <p:nvSpPr>
          <p:cNvPr id="17" name="Text 11"/>
          <p:cNvSpPr/>
          <p:nvPr/>
        </p:nvSpPr>
        <p:spPr>
          <a:xfrm>
            <a:off x="1417320" y="4434840"/>
            <a:ext cx="4572000" cy="54864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useEffect for derived state (should be plain calculation)</a:t>
            </a:r>
            <a:endParaRPr lang="en-US" sz="1200" dirty="0"/>
          </a:p>
        </p:txBody>
      </p:sp>
      <p:sp>
        <p:nvSpPr>
          <p:cNvPr id="18" name="Shape 12"/>
          <p:cNvSpPr/>
          <p:nvPr/>
        </p:nvSpPr>
        <p:spPr>
          <a:xfrm>
            <a:off x="6126480" y="4343400"/>
            <a:ext cx="5212080" cy="685800"/>
          </a:xfrm>
          <a:prstGeom prst="rect">
            <a:avLst/>
          </a:prstGeom>
          <a:solidFill>
            <a:srgbClr val="FFFFFF"/>
          </a:solidFill>
          <a:ln w="12700">
            <a:solidFill>
              <a:srgbClr val="E2E8F0"/>
            </a:solidFill>
            <a:prstDash val="solid"/>
          </a:ln>
        </p:spPr>
      </p:sp>
      <p:pic>
        <p:nvPicPr>
          <p:cNvPr id="19" name="Image 4" descr="preencoded.png">    </p:cNvPr>
          <p:cNvPicPr>
            <a:picLocks noChangeAspect="1"/>
          </p:cNvPicPr>
          <p:nvPr/>
        </p:nvPicPr>
        <p:blipFill>
          <a:blip r:embed="rId5"/>
          <a:stretch>
            <a:fillRect/>
          </a:stretch>
        </p:blipFill>
        <p:spPr>
          <a:xfrm>
            <a:off x="6309360" y="4526280"/>
            <a:ext cx="320040" cy="320040"/>
          </a:xfrm>
          <a:prstGeom prst="rect">
            <a:avLst/>
          </a:prstGeom>
        </p:spPr>
      </p:pic>
      <p:sp>
        <p:nvSpPr>
          <p:cNvPr id="20" name="Text 13"/>
          <p:cNvSpPr/>
          <p:nvPr/>
        </p:nvSpPr>
        <p:spPr>
          <a:xfrm>
            <a:off x="6766560" y="4434840"/>
            <a:ext cx="4572000" cy="54864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Server/client boundary leaks (importing server code into 'use client')</a:t>
            </a:r>
            <a:endParaRPr lang="en-US" sz="1200" dirty="0"/>
          </a:p>
        </p:txBody>
      </p:sp>
      <p:sp>
        <p:nvSpPr>
          <p:cNvPr id="21" name="Shape 14"/>
          <p:cNvSpPr/>
          <p:nvPr/>
        </p:nvSpPr>
        <p:spPr>
          <a:xfrm>
            <a:off x="777240" y="5166360"/>
            <a:ext cx="5212080" cy="685800"/>
          </a:xfrm>
          <a:prstGeom prst="rect">
            <a:avLst/>
          </a:prstGeom>
          <a:solidFill>
            <a:srgbClr val="FFFFFF"/>
          </a:solidFill>
          <a:ln w="12700">
            <a:solidFill>
              <a:srgbClr val="E2E8F0"/>
            </a:solidFill>
            <a:prstDash val="solid"/>
          </a:ln>
        </p:spPr>
      </p:sp>
      <p:pic>
        <p:nvPicPr>
          <p:cNvPr id="22" name="Image 5" descr="preencoded.png">    </p:cNvPr>
          <p:cNvPicPr>
            <a:picLocks noChangeAspect="1"/>
          </p:cNvPicPr>
          <p:nvPr/>
        </p:nvPicPr>
        <p:blipFill>
          <a:blip r:embed="rId6"/>
          <a:stretch>
            <a:fillRect/>
          </a:stretch>
        </p:blipFill>
        <p:spPr>
          <a:xfrm>
            <a:off x="960120" y="5349240"/>
            <a:ext cx="320040" cy="320040"/>
          </a:xfrm>
          <a:prstGeom prst="rect">
            <a:avLst/>
          </a:prstGeom>
        </p:spPr>
      </p:pic>
      <p:sp>
        <p:nvSpPr>
          <p:cNvPr id="23" name="Text 15"/>
          <p:cNvSpPr/>
          <p:nvPr/>
        </p:nvSpPr>
        <p:spPr>
          <a:xfrm>
            <a:off x="1417320" y="5257800"/>
            <a:ext cx="4572000" cy="54864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Outdated React Router APIs from pre-v6.4 era</a:t>
            </a:r>
            <a:endParaRPr lang="en-US" sz="1200" dirty="0"/>
          </a:p>
        </p:txBody>
      </p:sp>
      <p:sp>
        <p:nvSpPr>
          <p:cNvPr id="24" name="Shape 16"/>
          <p:cNvSpPr/>
          <p:nvPr/>
        </p:nvSpPr>
        <p:spPr>
          <a:xfrm>
            <a:off x="6126480" y="5166360"/>
            <a:ext cx="5212080" cy="685800"/>
          </a:xfrm>
          <a:prstGeom prst="rect">
            <a:avLst/>
          </a:prstGeom>
          <a:solidFill>
            <a:srgbClr val="FFFFFF"/>
          </a:solidFill>
          <a:ln w="12700">
            <a:solidFill>
              <a:srgbClr val="E2E8F0"/>
            </a:solidFill>
            <a:prstDash val="solid"/>
          </a:ln>
        </p:spPr>
      </p:sp>
      <p:pic>
        <p:nvPicPr>
          <p:cNvPr id="25" name="Image 6" descr="preencoded.png">    </p:cNvPr>
          <p:cNvPicPr>
            <a:picLocks noChangeAspect="1"/>
          </p:cNvPicPr>
          <p:nvPr/>
        </p:nvPicPr>
        <p:blipFill>
          <a:blip r:embed="rId7"/>
          <a:stretch>
            <a:fillRect/>
          </a:stretch>
        </p:blipFill>
        <p:spPr>
          <a:xfrm>
            <a:off x="6309360" y="5349240"/>
            <a:ext cx="320040" cy="320040"/>
          </a:xfrm>
          <a:prstGeom prst="rect">
            <a:avLst/>
          </a:prstGeom>
        </p:spPr>
      </p:pic>
      <p:sp>
        <p:nvSpPr>
          <p:cNvPr id="26" name="Text 17"/>
          <p:cNvSpPr/>
          <p:nvPr/>
        </p:nvSpPr>
        <p:spPr>
          <a:xfrm>
            <a:off x="6766560" y="5257800"/>
            <a:ext cx="4572000" cy="54864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Hydration mismatches from non-deterministic renders</a:t>
            </a:r>
            <a:endParaRPr lang="en-US" sz="1200" dirty="0"/>
          </a:p>
        </p:txBody>
      </p:sp>
      <p:sp>
        <p:nvSpPr>
          <p:cNvPr id="27" name="Text 1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8" name="Text 1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29 / 30</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Coming up next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Module 2 — Hooks That Matter in 2026.</a:t>
            </a:r>
            <a:endParaRPr lang="en-US" sz="1400" dirty="0"/>
          </a:p>
        </p:txBody>
      </p:sp>
      <p:sp>
        <p:nvSpPr>
          <p:cNvPr id="5" name="Shape 3"/>
          <p:cNvSpPr/>
          <p:nvPr/>
        </p:nvSpPr>
        <p:spPr>
          <a:xfrm>
            <a:off x="777240" y="1645920"/>
            <a:ext cx="10607040" cy="420624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97280" y="1828800"/>
            <a:ext cx="822960" cy="822960"/>
          </a:xfrm>
          <a:prstGeom prst="rect">
            <a:avLst/>
          </a:prstGeom>
        </p:spPr>
      </p:pic>
      <p:sp>
        <p:nvSpPr>
          <p:cNvPr id="7" name="Text 4"/>
          <p:cNvSpPr/>
          <p:nvPr/>
        </p:nvSpPr>
        <p:spPr>
          <a:xfrm>
            <a:off x="2194560" y="1874520"/>
            <a:ext cx="9144000" cy="640080"/>
          </a:xfrm>
          <a:prstGeom prst="rect">
            <a:avLst/>
          </a:prstGeom>
          <a:noFill/>
          <a:ln/>
        </p:spPr>
        <p:txBody>
          <a:bodyPr wrap="square" lIns="0" tIns="0" rIns="0" bIns="0" rtlCol="0" anchor="ctr"/>
          <a:lstStyle/>
          <a:p>
            <a:pPr indent="0" marL="0">
              <a:buNone/>
            </a:pPr>
            <a:r>
              <a:rPr lang="en-US" sz="2400" b="1" dirty="0">
                <a:solidFill>
                  <a:srgbClr val="0F172A"/>
                </a:solidFill>
                <a:latin typeface="Trebuchet MS" pitchFamily="34" charset="0"/>
                <a:ea typeface="Trebuchet MS" pitchFamily="34" charset="-122"/>
                <a:cs typeface="Trebuchet MS" pitchFamily="34" charset="-120"/>
              </a:rPr>
              <a:t>Module 2 — Hooks That Matter in 2026</a:t>
            </a:r>
            <a:endParaRPr lang="en-US" sz="2400" dirty="0"/>
          </a:p>
        </p:txBody>
      </p:sp>
      <p:sp>
        <p:nvSpPr>
          <p:cNvPr id="8" name="Text 5"/>
          <p:cNvSpPr/>
          <p:nvPr/>
        </p:nvSpPr>
        <p:spPr>
          <a:xfrm>
            <a:off x="2194560" y="2468880"/>
            <a:ext cx="9144000" cy="365760"/>
          </a:xfrm>
          <a:prstGeom prst="rect">
            <a:avLst/>
          </a:prstGeom>
          <a:noFill/>
          <a:ln/>
        </p:spPr>
        <p:txBody>
          <a:bodyPr wrap="square" lIns="0" tIns="0" rIns="0" bIns="0" rtlCol="0" anchor="ctr"/>
          <a:lstStyle/>
          <a:p>
            <a:pPr indent="0" marL="0">
              <a:buNone/>
            </a:pPr>
            <a:r>
              <a:rPr lang="en-US" sz="1300" i="1" dirty="0">
                <a:solidFill>
                  <a:srgbClr val="475569"/>
                </a:solidFill>
                <a:latin typeface="Arial" pitchFamily="34" charset="0"/>
                <a:ea typeface="Arial" pitchFamily="34" charset="-122"/>
                <a:cs typeface="Arial" pitchFamily="34" charset="-120"/>
              </a:rPr>
              <a:t>75 minutes  ·  Lecture + live demos</a:t>
            </a:r>
            <a:endParaRPr lang="en-US" sz="1300" dirty="0"/>
          </a:p>
        </p:txBody>
      </p:sp>
      <p:sp>
        <p:nvSpPr>
          <p:cNvPr id="9" name="Text 6"/>
          <p:cNvSpPr/>
          <p:nvPr/>
        </p:nvSpPr>
        <p:spPr>
          <a:xfrm>
            <a:off x="1097280" y="3200400"/>
            <a:ext cx="100584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In the next module:</a:t>
            </a:r>
            <a:endParaRPr lang="en-US" sz="1400" dirty="0"/>
          </a:p>
        </p:txBody>
      </p:sp>
      <p:sp>
        <p:nvSpPr>
          <p:cNvPr id="10" name="Text 7"/>
          <p:cNvSpPr/>
          <p:nvPr/>
        </p:nvSpPr>
        <p:spPr>
          <a:xfrm>
            <a:off x="1097280" y="3566160"/>
            <a:ext cx="1005840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The hooks rulebook — and why AI assistants violate it constantly</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When not to reach for useEffect</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use(), useActionState, useFormStatus, useOptimistic — with real code</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useSyncExternalStore, useDeferredValue, useTransition, useLayoutEffect</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Then Lab 1: modernize the chat app — your first AI-review exercise</a:t>
            </a:r>
            <a:endParaRPr lang="en-US" sz="1300" dirty="0"/>
          </a:p>
        </p:txBody>
      </p:sp>
      <p:sp>
        <p:nvSpPr>
          <p:cNvPr id="11" name="Text 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2" name="Text 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30 / 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377440"/>
            <a:ext cx="548640" cy="73152"/>
          </a:xfrm>
          <a:prstGeom prst="rect">
            <a:avLst/>
          </a:prstGeom>
          <a:solidFill>
            <a:srgbClr val="00B8D9"/>
          </a:solidFill>
          <a:ln w="12700">
            <a:solidFill>
              <a:srgbClr val="00B8D9"/>
            </a:solidFill>
            <a:prstDash val="solid"/>
          </a:ln>
        </p:spPr>
      </p:sp>
      <p:sp>
        <p:nvSpPr>
          <p:cNvPr id="3" name="Text 1"/>
          <p:cNvSpPr/>
          <p:nvPr/>
        </p:nvSpPr>
        <p:spPr>
          <a:xfrm>
            <a:off x="640080" y="2542032"/>
            <a:ext cx="5486400" cy="457200"/>
          </a:xfrm>
          <a:prstGeom prst="rect">
            <a:avLst/>
          </a:prstGeom>
          <a:noFill/>
          <a:ln/>
        </p:spPr>
        <p:txBody>
          <a:bodyPr wrap="square" lIns="0" tIns="0" rIns="0" bIns="0" rtlCol="0" anchor="ctr"/>
          <a:lstStyle/>
          <a:p>
            <a:pPr indent="0" marL="0">
              <a:buNone/>
            </a:pPr>
            <a:r>
              <a:rPr lang="en-US" sz="1800" dirty="0">
                <a:solidFill>
                  <a:srgbClr val="00B8D9"/>
                </a:solidFill>
                <a:latin typeface="Trebuchet MS" pitchFamily="34" charset="0"/>
                <a:ea typeface="Trebuchet MS" pitchFamily="34" charset="-122"/>
                <a:cs typeface="Trebuchet MS" pitchFamily="34" charset="-120"/>
              </a:rPr>
              <a:t>Module 2</a:t>
            </a:r>
            <a:endParaRPr lang="en-US" sz="1800" dirty="0"/>
          </a:p>
        </p:txBody>
      </p:sp>
      <p:sp>
        <p:nvSpPr>
          <p:cNvPr id="4" name="Text 2"/>
          <p:cNvSpPr/>
          <p:nvPr/>
        </p:nvSpPr>
        <p:spPr>
          <a:xfrm>
            <a:off x="640080" y="3017520"/>
            <a:ext cx="10972800" cy="1097280"/>
          </a:xfrm>
          <a:prstGeom prst="rect">
            <a:avLst/>
          </a:prstGeom>
          <a:noFill/>
          <a:ln/>
        </p:spPr>
        <p:txBody>
          <a:bodyPr wrap="square" lIns="0" tIns="0" rIns="0" bIns="0" rtlCol="0" anchor="ctr"/>
          <a:lstStyle/>
          <a:p>
            <a:pPr indent="0" marL="0">
              <a:buNone/>
            </a:pPr>
            <a:r>
              <a:rPr lang="en-US" sz="4800" b="1" dirty="0">
                <a:solidFill>
                  <a:srgbClr val="FFFFFF"/>
                </a:solidFill>
                <a:latin typeface="Trebuchet MS" pitchFamily="34" charset="0"/>
                <a:ea typeface="Trebuchet MS" pitchFamily="34" charset="-122"/>
                <a:cs typeface="Trebuchet MS" pitchFamily="34" charset="-120"/>
              </a:rPr>
              <a:t>Hooks That Matter in 2026</a:t>
            </a:r>
            <a:endParaRPr lang="en-US" sz="4800" dirty="0"/>
          </a:p>
        </p:txBody>
      </p:sp>
      <p:sp>
        <p:nvSpPr>
          <p:cNvPr id="5" name="Text 3"/>
          <p:cNvSpPr/>
          <p:nvPr/>
        </p:nvSpPr>
        <p:spPr>
          <a:xfrm>
            <a:off x="640080" y="4206240"/>
            <a:ext cx="10972800" cy="548640"/>
          </a:xfrm>
          <a:prstGeom prst="rect">
            <a:avLst/>
          </a:prstGeom>
          <a:noFill/>
          <a:ln/>
        </p:spPr>
        <p:txBody>
          <a:bodyPr wrap="square" lIns="0" tIns="0" rIns="0" bIns="0" rtlCol="0" anchor="ctr"/>
          <a:lstStyle/>
          <a:p>
            <a:pPr indent="0" marL="0">
              <a:buNone/>
            </a:pPr>
            <a:r>
              <a:rPr lang="en-US" sz="2000" i="1" dirty="0">
                <a:solidFill>
                  <a:srgbClr val="CBF1F6"/>
                </a:solidFill>
                <a:latin typeface="Arial" pitchFamily="34" charset="0"/>
                <a:ea typeface="Arial" pitchFamily="34" charset="-122"/>
                <a:cs typeface="Arial" pitchFamily="34" charset="-120"/>
              </a:rPr>
              <a:t>Use the right hook for the job. Spot the wrong one in AI-generated code.</a:t>
            </a:r>
            <a:endParaRPr lang="en-US" sz="2000" dirty="0"/>
          </a:p>
        </p:txBody>
      </p:sp>
      <p:sp>
        <p:nvSpPr>
          <p:cNvPr id="6" name="Text 4"/>
          <p:cNvSpPr/>
          <p:nvPr/>
        </p:nvSpPr>
        <p:spPr>
          <a:xfrm>
            <a:off x="640080" y="4937760"/>
            <a:ext cx="10972800" cy="45720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75 minutes  ·  Lecture + live demos  ·  Lab 1 follows</a:t>
            </a:r>
            <a:endParaRPr lang="en-US" sz="1400" dirty="0"/>
          </a:p>
        </p:txBody>
      </p:sp>
      <p:pic>
        <p:nvPicPr>
          <p:cNvPr id="7" name="Image 0" descr="preencoded.png">    </p:cNvPr>
          <p:cNvPicPr>
            <a:picLocks noChangeAspect="1"/>
          </p:cNvPicPr>
          <p:nvPr/>
        </p:nvPicPr>
        <p:blipFill>
          <a:blip r:embed="rId1">
            <a:alphaModFix amt="75000"/>
          </a:blip>
          <a:stretch>
            <a:fillRect/>
          </a:stretch>
        </p:blipFill>
        <p:spPr>
          <a:xfrm>
            <a:off x="10728655" y="4663440"/>
            <a:ext cx="914400" cy="9144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How many hooks does React 19 have?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Twenty-ish. We won't cover them all. We'll cover the ones that earn their keep.</a:t>
            </a:r>
            <a:endParaRPr lang="en-US" sz="1400" dirty="0"/>
          </a:p>
        </p:txBody>
      </p:sp>
      <p:sp>
        <p:nvSpPr>
          <p:cNvPr id="5" name="Shape 3"/>
          <p:cNvSpPr/>
          <p:nvPr/>
        </p:nvSpPr>
        <p:spPr>
          <a:xfrm>
            <a:off x="777240" y="1691640"/>
            <a:ext cx="5349240" cy="3291840"/>
          </a:xfrm>
          <a:prstGeom prst="rect">
            <a:avLst/>
          </a:prstGeom>
          <a:solidFill>
            <a:srgbClr val="CBF1F6"/>
          </a:solidFill>
          <a:ln w="12700">
            <a:solidFill>
              <a:srgbClr val="CBF1F6"/>
            </a:solidFill>
            <a:prstDash val="solid"/>
          </a:ln>
        </p:spPr>
      </p:sp>
      <p:sp>
        <p:nvSpPr>
          <p:cNvPr id="6" name="Text 4"/>
          <p:cNvSpPr/>
          <p:nvPr/>
        </p:nvSpPr>
        <p:spPr>
          <a:xfrm>
            <a:off x="777240" y="1783080"/>
            <a:ext cx="5349240" cy="1463040"/>
          </a:xfrm>
          <a:prstGeom prst="rect">
            <a:avLst/>
          </a:prstGeom>
          <a:noFill/>
          <a:ln/>
        </p:spPr>
        <p:txBody>
          <a:bodyPr wrap="square" lIns="0" tIns="0" rIns="0" bIns="0" rtlCol="0" anchor="ctr"/>
          <a:lstStyle/>
          <a:p>
            <a:pPr algn="ctr" indent="0" marL="0">
              <a:buNone/>
            </a:pPr>
            <a:r>
              <a:rPr lang="en-US" sz="9600" b="1" dirty="0">
                <a:solidFill>
                  <a:srgbClr val="0F172A"/>
                </a:solidFill>
                <a:latin typeface="Trebuchet MS" pitchFamily="34" charset="0"/>
                <a:ea typeface="Trebuchet MS" pitchFamily="34" charset="-122"/>
                <a:cs typeface="Trebuchet MS" pitchFamily="34" charset="-120"/>
              </a:rPr>
              <a:t>≈ 20</a:t>
            </a:r>
            <a:endParaRPr lang="en-US" sz="9600" dirty="0"/>
          </a:p>
        </p:txBody>
      </p:sp>
      <p:sp>
        <p:nvSpPr>
          <p:cNvPr id="7" name="Text 5"/>
          <p:cNvSpPr/>
          <p:nvPr/>
        </p:nvSpPr>
        <p:spPr>
          <a:xfrm>
            <a:off x="777240" y="3246120"/>
            <a:ext cx="5349240" cy="548640"/>
          </a:xfrm>
          <a:prstGeom prst="rect">
            <a:avLst/>
          </a:prstGeom>
          <a:noFill/>
          <a:ln/>
        </p:spPr>
        <p:txBody>
          <a:bodyPr wrap="square" lIns="0" tIns="0" rIns="0" bIns="0" rtlCol="0" anchor="ctr"/>
          <a:lstStyle/>
          <a:p>
            <a:pPr algn="ctr" indent="0" marL="0">
              <a:buNone/>
            </a:pPr>
            <a:r>
              <a:rPr lang="en-US" sz="1600" i="1" dirty="0">
                <a:solidFill>
                  <a:srgbClr val="475569"/>
                </a:solidFill>
                <a:latin typeface="Arial" pitchFamily="34" charset="0"/>
                <a:ea typeface="Arial" pitchFamily="34" charset="-122"/>
                <a:cs typeface="Arial" pitchFamily="34" charset="-120"/>
              </a:rPr>
              <a:t>built-in hooks in React 19</a:t>
            </a:r>
            <a:endParaRPr lang="en-US" sz="1600" dirty="0"/>
          </a:p>
        </p:txBody>
      </p:sp>
      <p:sp>
        <p:nvSpPr>
          <p:cNvPr id="8" name="Text 6"/>
          <p:cNvSpPr/>
          <p:nvPr/>
        </p:nvSpPr>
        <p:spPr>
          <a:xfrm>
            <a:off x="777240" y="3794760"/>
            <a:ext cx="5349240" cy="457200"/>
          </a:xfrm>
          <a:prstGeom prst="rect">
            <a:avLst/>
          </a:prstGeom>
          <a:noFill/>
          <a:ln/>
        </p:spPr>
        <p:txBody>
          <a:bodyPr wrap="square" lIns="0" tIns="0" rIns="0" bIns="0" rtlCol="0" anchor="ctr"/>
          <a:lstStyle/>
          <a:p>
            <a:pPr algn="ctr" indent="0" marL="0">
              <a:buNone/>
            </a:pPr>
            <a:r>
              <a:rPr lang="en-US" sz="1400" b="1" dirty="0">
                <a:solidFill>
                  <a:srgbClr val="00B8D9"/>
                </a:solidFill>
                <a:latin typeface="Trebuchet MS" pitchFamily="34" charset="0"/>
                <a:ea typeface="Trebuchet MS" pitchFamily="34" charset="-122"/>
                <a:cs typeface="Trebuchet MS" pitchFamily="34" charset="-120"/>
              </a:rPr>
              <a:t>4 are new since React 18</a:t>
            </a:r>
            <a:endParaRPr lang="en-US" sz="1400" dirty="0"/>
          </a:p>
        </p:txBody>
      </p:sp>
      <p:sp>
        <p:nvSpPr>
          <p:cNvPr id="9" name="Text 7"/>
          <p:cNvSpPr/>
          <p:nvPr/>
        </p:nvSpPr>
        <p:spPr>
          <a:xfrm>
            <a:off x="777240" y="4297680"/>
            <a:ext cx="5349240" cy="548640"/>
          </a:xfrm>
          <a:prstGeom prst="rect">
            <a:avLst/>
          </a:prstGeom>
          <a:noFill/>
          <a:ln/>
        </p:spPr>
        <p:txBody>
          <a:bodyPr wrap="square" lIns="0" tIns="0" rIns="0" bIns="0" rtlCol="0" anchor="ctr"/>
          <a:lstStyle/>
          <a:p>
            <a:pPr algn="ctr" indent="0" marL="0">
              <a:buNone/>
            </a:pPr>
            <a:r>
              <a:rPr lang="en-US" sz="1100" i="1" dirty="0">
                <a:solidFill>
                  <a:srgbClr val="94A3B8"/>
                </a:solidFill>
                <a:latin typeface="Arial" pitchFamily="34" charset="0"/>
                <a:ea typeface="Arial" pitchFamily="34" charset="-122"/>
                <a:cs typeface="Arial" pitchFamily="34" charset="-120"/>
              </a:rPr>
              <a:t>Plus ~6 framework- or compiler-only hooks not covered today</a:t>
            </a:r>
            <a:endParaRPr lang="en-US" sz="1100" dirty="0"/>
          </a:p>
        </p:txBody>
      </p:sp>
      <p:sp>
        <p:nvSpPr>
          <p:cNvPr id="10" name="Text 8"/>
          <p:cNvSpPr/>
          <p:nvPr/>
        </p:nvSpPr>
        <p:spPr>
          <a:xfrm>
            <a:off x="6766560" y="1691640"/>
            <a:ext cx="45720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In this module:</a:t>
            </a:r>
            <a:endParaRPr lang="en-US" sz="1400" dirty="0"/>
          </a:p>
        </p:txBody>
      </p:sp>
      <p:sp>
        <p:nvSpPr>
          <p:cNvPr id="11" name="Text 9"/>
          <p:cNvSpPr/>
          <p:nvPr/>
        </p:nvSpPr>
        <p:spPr>
          <a:xfrm>
            <a:off x="6766560" y="2103120"/>
            <a:ext cx="4754880" cy="40233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The hooks rulebook (and how AI breaks it)</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Foundational hooks revisited — useState, useReducer, useEffect (and when not to)</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The four new arrivals — use, useActionState, useFormStatus, useOptimistic</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Specialty hooks — useSyncExternalStore, useDeferredValue, useTransition, useLayoutEffect</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Then Lab 1: modernize the chat app</a:t>
            </a:r>
            <a:endParaRPr lang="en-US" sz="1250" dirty="0"/>
          </a:p>
        </p:txBody>
      </p:sp>
      <p:sp>
        <p:nvSpPr>
          <p:cNvPr id="12" name="Text 10"/>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13" name="Text 11"/>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 / 34</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1</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The Rules of Hooks</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Five minutes. AI assistants violate these constantly — knowing them is part of the review skill.</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Rules of Hooks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Three rules. The eslint plugin enforces them. Most AI tools eventually break them anyway.</a:t>
            </a:r>
            <a:endParaRPr lang="en-US" sz="1400" dirty="0"/>
          </a:p>
        </p:txBody>
      </p:sp>
      <p:sp>
        <p:nvSpPr>
          <p:cNvPr id="5" name="Shape 3"/>
          <p:cNvSpPr/>
          <p:nvPr/>
        </p:nvSpPr>
        <p:spPr>
          <a:xfrm>
            <a:off x="777240" y="1554480"/>
            <a:ext cx="10607040" cy="1234440"/>
          </a:xfrm>
          <a:prstGeom prst="rect">
            <a:avLst/>
          </a:prstGeom>
          <a:solidFill>
            <a:srgbClr val="FFFFFF"/>
          </a:solidFill>
          <a:ln w="12700">
            <a:solidFill>
              <a:srgbClr val="E2E8F0"/>
            </a:solidFill>
            <a:prstDash val="solid"/>
          </a:ln>
        </p:spPr>
      </p:sp>
      <p:sp>
        <p:nvSpPr>
          <p:cNvPr id="6" name="Shape 4"/>
          <p:cNvSpPr/>
          <p:nvPr/>
        </p:nvSpPr>
        <p:spPr>
          <a:xfrm>
            <a:off x="960120" y="1874520"/>
            <a:ext cx="594360" cy="594360"/>
          </a:xfrm>
          <a:prstGeom prst="ellipse">
            <a:avLst/>
          </a:prstGeom>
          <a:solidFill>
            <a:srgbClr val="00B8D9"/>
          </a:solidFill>
          <a:ln w="12700">
            <a:solidFill>
              <a:srgbClr val="00B8D9"/>
            </a:solidFill>
            <a:prstDash val="solid"/>
          </a:ln>
        </p:spPr>
      </p:sp>
      <p:sp>
        <p:nvSpPr>
          <p:cNvPr id="7" name="Text 5"/>
          <p:cNvSpPr/>
          <p:nvPr/>
        </p:nvSpPr>
        <p:spPr>
          <a:xfrm>
            <a:off x="960120" y="187452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1</a:t>
            </a:r>
            <a:endParaRPr lang="en-US" sz="2200" dirty="0"/>
          </a:p>
        </p:txBody>
      </p:sp>
      <p:sp>
        <p:nvSpPr>
          <p:cNvPr id="8" name="Text 6"/>
          <p:cNvSpPr/>
          <p:nvPr/>
        </p:nvSpPr>
        <p:spPr>
          <a:xfrm>
            <a:off x="1783080" y="1719072"/>
            <a:ext cx="9326880" cy="411480"/>
          </a:xfrm>
          <a:prstGeom prst="rect">
            <a:avLst/>
          </a:prstGeom>
          <a:noFill/>
          <a:ln/>
        </p:spPr>
        <p:txBody>
          <a:bodyPr wrap="square" lIns="0" tIns="0" rIns="0" bIns="0" rtlCol="0" anchor="ctr"/>
          <a:lstStyle/>
          <a:p>
            <a:pPr indent="0" marL="0">
              <a:buNone/>
            </a:pPr>
            <a:r>
              <a:rPr lang="en-US" sz="1700" b="1" dirty="0">
                <a:solidFill>
                  <a:srgbClr val="0F172A"/>
                </a:solidFill>
                <a:latin typeface="Trebuchet MS" pitchFamily="34" charset="0"/>
                <a:ea typeface="Trebuchet MS" pitchFamily="34" charset="-122"/>
                <a:cs typeface="Trebuchet MS" pitchFamily="34" charset="-120"/>
              </a:rPr>
              <a:t>Only call hooks at the top level</a:t>
            </a:r>
            <a:endParaRPr lang="en-US" sz="1700" dirty="0"/>
          </a:p>
        </p:txBody>
      </p:sp>
      <p:sp>
        <p:nvSpPr>
          <p:cNvPr id="9" name="Text 7"/>
          <p:cNvSpPr/>
          <p:nvPr/>
        </p:nvSpPr>
        <p:spPr>
          <a:xfrm>
            <a:off x="1783080" y="2148840"/>
            <a:ext cx="9326880" cy="59436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Never inside loops, conditions, nested functions, or after early returns. React tracks hooks by call order; conditional calls break that order.</a:t>
            </a:r>
            <a:endParaRPr lang="en-US" sz="1200" dirty="0"/>
          </a:p>
        </p:txBody>
      </p:sp>
      <p:sp>
        <p:nvSpPr>
          <p:cNvPr id="10" name="Shape 8"/>
          <p:cNvSpPr/>
          <p:nvPr/>
        </p:nvSpPr>
        <p:spPr>
          <a:xfrm>
            <a:off x="777240" y="2971800"/>
            <a:ext cx="10607040" cy="1234440"/>
          </a:xfrm>
          <a:prstGeom prst="rect">
            <a:avLst/>
          </a:prstGeom>
          <a:solidFill>
            <a:srgbClr val="FFFFFF"/>
          </a:solidFill>
          <a:ln w="12700">
            <a:solidFill>
              <a:srgbClr val="E2E8F0"/>
            </a:solidFill>
            <a:prstDash val="solid"/>
          </a:ln>
        </p:spPr>
      </p:sp>
      <p:sp>
        <p:nvSpPr>
          <p:cNvPr id="11" name="Shape 9"/>
          <p:cNvSpPr/>
          <p:nvPr/>
        </p:nvSpPr>
        <p:spPr>
          <a:xfrm>
            <a:off x="960120" y="3291840"/>
            <a:ext cx="594360" cy="594360"/>
          </a:xfrm>
          <a:prstGeom prst="ellipse">
            <a:avLst/>
          </a:prstGeom>
          <a:solidFill>
            <a:srgbClr val="00B8D9"/>
          </a:solidFill>
          <a:ln w="12700">
            <a:solidFill>
              <a:srgbClr val="00B8D9"/>
            </a:solidFill>
            <a:prstDash val="solid"/>
          </a:ln>
        </p:spPr>
      </p:sp>
      <p:sp>
        <p:nvSpPr>
          <p:cNvPr id="12" name="Text 10"/>
          <p:cNvSpPr/>
          <p:nvPr/>
        </p:nvSpPr>
        <p:spPr>
          <a:xfrm>
            <a:off x="960120" y="329184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2</a:t>
            </a:r>
            <a:endParaRPr lang="en-US" sz="2200" dirty="0"/>
          </a:p>
        </p:txBody>
      </p:sp>
      <p:sp>
        <p:nvSpPr>
          <p:cNvPr id="13" name="Text 11"/>
          <p:cNvSpPr/>
          <p:nvPr/>
        </p:nvSpPr>
        <p:spPr>
          <a:xfrm>
            <a:off x="1783080" y="3136392"/>
            <a:ext cx="9326880" cy="411480"/>
          </a:xfrm>
          <a:prstGeom prst="rect">
            <a:avLst/>
          </a:prstGeom>
          <a:noFill/>
          <a:ln/>
        </p:spPr>
        <p:txBody>
          <a:bodyPr wrap="square" lIns="0" tIns="0" rIns="0" bIns="0" rtlCol="0" anchor="ctr"/>
          <a:lstStyle/>
          <a:p>
            <a:pPr indent="0" marL="0">
              <a:buNone/>
            </a:pPr>
            <a:r>
              <a:rPr lang="en-US" sz="1700" b="1" dirty="0">
                <a:solidFill>
                  <a:srgbClr val="0F172A"/>
                </a:solidFill>
                <a:latin typeface="Trebuchet MS" pitchFamily="34" charset="0"/>
                <a:ea typeface="Trebuchet MS" pitchFamily="34" charset="-122"/>
                <a:cs typeface="Trebuchet MS" pitchFamily="34" charset="-120"/>
              </a:rPr>
              <a:t>Only call hooks from React functions</a:t>
            </a:r>
            <a:endParaRPr lang="en-US" sz="1700" dirty="0"/>
          </a:p>
        </p:txBody>
      </p:sp>
      <p:sp>
        <p:nvSpPr>
          <p:cNvPr id="14" name="Text 12"/>
          <p:cNvSpPr/>
          <p:nvPr/>
        </p:nvSpPr>
        <p:spPr>
          <a:xfrm>
            <a:off x="1783080" y="3566160"/>
            <a:ext cx="9326880" cy="59436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Function components, custom hooks (functions that start with use). Not regular functions, not class methods, not event handlers.</a:t>
            </a:r>
            <a:endParaRPr lang="en-US" sz="1200" dirty="0"/>
          </a:p>
        </p:txBody>
      </p:sp>
      <p:sp>
        <p:nvSpPr>
          <p:cNvPr id="15" name="Shape 13"/>
          <p:cNvSpPr/>
          <p:nvPr/>
        </p:nvSpPr>
        <p:spPr>
          <a:xfrm>
            <a:off x="777240" y="4389120"/>
            <a:ext cx="10607040" cy="1234440"/>
          </a:xfrm>
          <a:prstGeom prst="rect">
            <a:avLst/>
          </a:prstGeom>
          <a:solidFill>
            <a:srgbClr val="FFFFFF"/>
          </a:solidFill>
          <a:ln w="12700">
            <a:solidFill>
              <a:srgbClr val="E2E8F0"/>
            </a:solidFill>
            <a:prstDash val="solid"/>
          </a:ln>
        </p:spPr>
      </p:sp>
      <p:sp>
        <p:nvSpPr>
          <p:cNvPr id="16" name="Shape 14"/>
          <p:cNvSpPr/>
          <p:nvPr/>
        </p:nvSpPr>
        <p:spPr>
          <a:xfrm>
            <a:off x="960120" y="4709160"/>
            <a:ext cx="594360" cy="594360"/>
          </a:xfrm>
          <a:prstGeom prst="ellipse">
            <a:avLst/>
          </a:prstGeom>
          <a:solidFill>
            <a:srgbClr val="00B8D9"/>
          </a:solidFill>
          <a:ln w="12700">
            <a:solidFill>
              <a:srgbClr val="00B8D9"/>
            </a:solidFill>
            <a:prstDash val="solid"/>
          </a:ln>
        </p:spPr>
      </p:sp>
      <p:sp>
        <p:nvSpPr>
          <p:cNvPr id="17" name="Text 15"/>
          <p:cNvSpPr/>
          <p:nvPr/>
        </p:nvSpPr>
        <p:spPr>
          <a:xfrm>
            <a:off x="960120" y="47091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3</a:t>
            </a:r>
            <a:endParaRPr lang="en-US" sz="2200" dirty="0"/>
          </a:p>
        </p:txBody>
      </p:sp>
      <p:sp>
        <p:nvSpPr>
          <p:cNvPr id="18" name="Text 16"/>
          <p:cNvSpPr/>
          <p:nvPr/>
        </p:nvSpPr>
        <p:spPr>
          <a:xfrm>
            <a:off x="1783080" y="4553712"/>
            <a:ext cx="9326880" cy="411480"/>
          </a:xfrm>
          <a:prstGeom prst="rect">
            <a:avLst/>
          </a:prstGeom>
          <a:noFill/>
          <a:ln/>
        </p:spPr>
        <p:txBody>
          <a:bodyPr wrap="square" lIns="0" tIns="0" rIns="0" bIns="0" rtlCol="0" anchor="ctr"/>
          <a:lstStyle/>
          <a:p>
            <a:pPr indent="0" marL="0">
              <a:buNone/>
            </a:pPr>
            <a:r>
              <a:rPr lang="en-US" sz="1700" b="1" dirty="0">
                <a:solidFill>
                  <a:srgbClr val="0F172A"/>
                </a:solidFill>
                <a:latin typeface="Trebuchet MS" pitchFamily="34" charset="0"/>
                <a:ea typeface="Trebuchet MS" pitchFamily="34" charset="-122"/>
                <a:cs typeface="Trebuchet MS" pitchFamily="34" charset="-120"/>
              </a:rPr>
              <a:t>Custom hooks compose by calling other hooks</a:t>
            </a:r>
            <a:endParaRPr lang="en-US" sz="1700" dirty="0"/>
          </a:p>
        </p:txBody>
      </p:sp>
      <p:sp>
        <p:nvSpPr>
          <p:cNvPr id="19" name="Text 17"/>
          <p:cNvSpPr/>
          <p:nvPr/>
        </p:nvSpPr>
        <p:spPr>
          <a:xfrm>
            <a:off x="1783080" y="4983480"/>
            <a:ext cx="9326880" cy="59436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If you find yourself wanting to call a hook conditionally, lift the conditionality into the component using the custom hook.</a:t>
            </a:r>
            <a:endParaRPr lang="en-US" sz="1200" dirty="0"/>
          </a:p>
        </p:txBody>
      </p:sp>
      <p:sp>
        <p:nvSpPr>
          <p:cNvPr id="20" name="Text 1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21" name="Text 1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4 / 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Why the rules exist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React tracks hook state by call order, not by name. Conditionals would scramble it.</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300" b="1" dirty="0">
                <a:solidFill>
                  <a:srgbClr val="DC2626"/>
                </a:solidFill>
                <a:latin typeface="Trebuchet MS" pitchFamily="34" charset="0"/>
                <a:ea typeface="Trebuchet MS" pitchFamily="34" charset="-122"/>
                <a:cs typeface="Trebuchet MS" pitchFamily="34" charset="-120"/>
              </a:rPr>
              <a:t>Breaks the rules</a:t>
            </a:r>
            <a:endParaRPr lang="en-US" sz="1300" dirty="0"/>
          </a:p>
        </p:txBody>
      </p:sp>
      <p:sp>
        <p:nvSpPr>
          <p:cNvPr id="6" name="Shape 4"/>
          <p:cNvSpPr/>
          <p:nvPr/>
        </p:nvSpPr>
        <p:spPr>
          <a:xfrm>
            <a:off x="777240" y="1920240"/>
            <a:ext cx="5349240" cy="2743200"/>
          </a:xfrm>
          <a:prstGeom prst="rect">
            <a:avLst/>
          </a:prstGeom>
          <a:solidFill>
            <a:srgbClr val="1E2A47"/>
          </a:solidFill>
          <a:ln w="12700">
            <a:solidFill>
              <a:srgbClr val="1E2A47"/>
            </a:solidFill>
            <a:prstDash val="solid"/>
          </a:ln>
        </p:spPr>
      </p:sp>
      <p:sp>
        <p:nvSpPr>
          <p:cNvPr id="7" name="Text 5"/>
          <p:cNvSpPr/>
          <p:nvPr/>
        </p:nvSpPr>
        <p:spPr>
          <a:xfrm>
            <a:off x="960120" y="2057400"/>
            <a:ext cx="4983480" cy="2468880"/>
          </a:xfrm>
          <a:prstGeom prst="rect">
            <a:avLst/>
          </a:prstGeom>
          <a:noFill/>
          <a:ln/>
        </p:spPr>
        <p:txBody>
          <a:bodyPr wrap="square" lIns="0" tIns="0" rIns="0" bIns="0" rtlCol="0" anchor="t"/>
          <a:lstStyle/>
          <a:p>
            <a:pPr indent="0" marL="0">
              <a:buNone/>
            </a:pPr>
            <a:r>
              <a:rPr lang="en-US" sz="1300" dirty="0">
                <a:solidFill>
                  <a:srgbClr val="C586C0"/>
                </a:solidFill>
                <a:latin typeface="Courier New" pitchFamily="34" charset="0"/>
                <a:ea typeface="Courier New" pitchFamily="34" charset="-122"/>
                <a:cs typeface="Courier New" pitchFamily="34" charset="-120"/>
              </a:rPr>
              <a:t>function </a:t>
            </a:r>
            <a:pPr indent="0" marL="0">
              <a:buNone/>
            </a:pPr>
            <a:r>
              <a:rPr lang="en-US" sz="1300" dirty="0">
                <a:solidFill>
                  <a:srgbClr val="DCDCAA"/>
                </a:solidFill>
                <a:latin typeface="Courier New" pitchFamily="34" charset="0"/>
                <a:ea typeface="Courier New" pitchFamily="34" charset="-122"/>
                <a:cs typeface="Courier New" pitchFamily="34" charset="-120"/>
              </a:rPr>
              <a:t>Greeting</a:t>
            </a:r>
            <a:pPr indent="0" marL="0">
              <a:buNone/>
            </a:pPr>
            <a:r>
              <a:rPr lang="en-US" sz="1300" dirty="0">
                <a:solidFill>
                  <a:srgbClr val="FFFFFF"/>
                </a:solidFill>
                <a:latin typeface="Courier New" pitchFamily="34" charset="0"/>
                <a:ea typeface="Courier New" pitchFamily="34" charset="-122"/>
                <a:cs typeface="Courier New" pitchFamily="34" charset="-120"/>
              </a:rPr>
              <a:t>({ name })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if (!name) return null;</a:t>
            </a:r>
            <a:endParaRPr lang="en-US" sz="1300" dirty="0"/>
          </a:p>
          <a:p>
            <a:pPr indent="0" marL="0">
              <a:buNone/>
            </a:pPr>
            <a:r>
              <a:rPr lang="en-US" sz="1300" i="1" dirty="0">
                <a:solidFill>
                  <a:srgbClr val="6A9955"/>
                </a:solidFill>
                <a:latin typeface="Courier New" pitchFamily="34" charset="0"/>
                <a:ea typeface="Courier New" pitchFamily="34" charset="-122"/>
                <a:cs typeface="Courier New" pitchFamily="34" charset="-120"/>
              </a:rPr>
              <a:t>  // Hook called only when name truthy</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const [count, setCount] = </a:t>
            </a:r>
            <a:pPr indent="0" marL="0">
              <a:buNone/>
            </a:pPr>
            <a:r>
              <a:rPr lang="en-US" sz="1300" dirty="0">
                <a:solidFill>
                  <a:srgbClr val="DCDCAA"/>
                </a:solidFill>
                <a:latin typeface="Courier New" pitchFamily="34" charset="0"/>
                <a:ea typeface="Courier New" pitchFamily="34" charset="-122"/>
                <a:cs typeface="Courier New" pitchFamily="34" charset="-120"/>
              </a:rPr>
              <a:t>useState</a:t>
            </a:r>
            <a:pPr indent="0" marL="0">
              <a:buNone/>
            </a:pPr>
            <a:r>
              <a:rPr lang="en-US" sz="1300" dirty="0">
                <a:solidFill>
                  <a:srgbClr val="FFFFFF"/>
                </a:solidFill>
                <a:latin typeface="Courier New" pitchFamily="34" charset="0"/>
                <a:ea typeface="Courier New" pitchFamily="34" charset="-122"/>
                <a:cs typeface="Courier New" pitchFamily="34" charset="-120"/>
              </a:rPr>
              <a:t>(0);</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return &lt;h1&gt;Hello {name}&lt;/h1&gt;;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8" name="Text 6"/>
          <p:cNvSpPr/>
          <p:nvPr/>
        </p:nvSpPr>
        <p:spPr>
          <a:xfrm>
            <a:off x="6355080" y="1554480"/>
            <a:ext cx="5029200" cy="365760"/>
          </a:xfrm>
          <a:prstGeom prst="rect">
            <a:avLst/>
          </a:prstGeom>
          <a:noFill/>
          <a:ln/>
        </p:spPr>
        <p:txBody>
          <a:bodyPr wrap="square" lIns="0" tIns="0" rIns="0" bIns="0" rtlCol="0" anchor="ctr"/>
          <a:lstStyle/>
          <a:p>
            <a:pPr indent="0" marL="0">
              <a:buNone/>
            </a:pPr>
            <a:r>
              <a:rPr lang="en-US" sz="1300" b="1" dirty="0">
                <a:solidFill>
                  <a:srgbClr val="059669"/>
                </a:solidFill>
                <a:latin typeface="Trebuchet MS" pitchFamily="34" charset="0"/>
                <a:ea typeface="Trebuchet MS" pitchFamily="34" charset="-122"/>
                <a:cs typeface="Trebuchet MS" pitchFamily="34" charset="-120"/>
              </a:rPr>
              <a:t>Plays by the rules</a:t>
            </a:r>
            <a:endParaRPr lang="en-US" sz="1300" dirty="0"/>
          </a:p>
        </p:txBody>
      </p:sp>
      <p:sp>
        <p:nvSpPr>
          <p:cNvPr id="9" name="Shape 7"/>
          <p:cNvSpPr/>
          <p:nvPr/>
        </p:nvSpPr>
        <p:spPr>
          <a:xfrm>
            <a:off x="6355080" y="1920240"/>
            <a:ext cx="5029200" cy="2743200"/>
          </a:xfrm>
          <a:prstGeom prst="rect">
            <a:avLst/>
          </a:prstGeom>
          <a:solidFill>
            <a:srgbClr val="1E2A47"/>
          </a:solidFill>
          <a:ln w="12700">
            <a:solidFill>
              <a:srgbClr val="1E2A47"/>
            </a:solidFill>
            <a:prstDash val="solid"/>
          </a:ln>
        </p:spPr>
      </p:sp>
      <p:sp>
        <p:nvSpPr>
          <p:cNvPr id="10" name="Text 8"/>
          <p:cNvSpPr/>
          <p:nvPr/>
        </p:nvSpPr>
        <p:spPr>
          <a:xfrm>
            <a:off x="6537960" y="2057400"/>
            <a:ext cx="4663440" cy="2468880"/>
          </a:xfrm>
          <a:prstGeom prst="rect">
            <a:avLst/>
          </a:prstGeom>
          <a:noFill/>
          <a:ln/>
        </p:spPr>
        <p:txBody>
          <a:bodyPr wrap="square" lIns="0" tIns="0" rIns="0" bIns="0" rtlCol="0" anchor="t"/>
          <a:lstStyle/>
          <a:p>
            <a:pPr indent="0" marL="0">
              <a:buNone/>
            </a:pPr>
            <a:r>
              <a:rPr lang="en-US" sz="1300" dirty="0">
                <a:solidFill>
                  <a:srgbClr val="C586C0"/>
                </a:solidFill>
                <a:latin typeface="Courier New" pitchFamily="34" charset="0"/>
                <a:ea typeface="Courier New" pitchFamily="34" charset="-122"/>
                <a:cs typeface="Courier New" pitchFamily="34" charset="-120"/>
              </a:rPr>
              <a:t>function </a:t>
            </a:r>
            <a:pPr indent="0" marL="0">
              <a:buNone/>
            </a:pPr>
            <a:r>
              <a:rPr lang="en-US" sz="1300" dirty="0">
                <a:solidFill>
                  <a:srgbClr val="DCDCAA"/>
                </a:solidFill>
                <a:latin typeface="Courier New" pitchFamily="34" charset="0"/>
                <a:ea typeface="Courier New" pitchFamily="34" charset="-122"/>
                <a:cs typeface="Courier New" pitchFamily="34" charset="-120"/>
              </a:rPr>
              <a:t>Greeting</a:t>
            </a:r>
            <a:pPr indent="0" marL="0">
              <a:buNone/>
            </a:pPr>
            <a:r>
              <a:rPr lang="en-US" sz="1300" dirty="0">
                <a:solidFill>
                  <a:srgbClr val="FFFFFF"/>
                </a:solidFill>
                <a:latin typeface="Courier New" pitchFamily="34" charset="0"/>
                <a:ea typeface="Courier New" pitchFamily="34" charset="-122"/>
                <a:cs typeface="Courier New" pitchFamily="34" charset="-120"/>
              </a:rPr>
              <a:t>({ name }) {</a:t>
            </a:r>
            <a:endParaRPr lang="en-US" sz="1300" dirty="0"/>
          </a:p>
          <a:p>
            <a:pPr indent="0" marL="0">
              <a:buNone/>
            </a:pPr>
            <a:r>
              <a:rPr lang="en-US" sz="1300" i="1" dirty="0">
                <a:solidFill>
                  <a:srgbClr val="6A9955"/>
                </a:solidFill>
                <a:latin typeface="Courier New" pitchFamily="34" charset="0"/>
                <a:ea typeface="Courier New" pitchFamily="34" charset="-122"/>
                <a:cs typeface="Courier New" pitchFamily="34" charset="-120"/>
              </a:rPr>
              <a:t>  // Hook called every render</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const [count, setCount] = </a:t>
            </a:r>
            <a:pPr indent="0" marL="0">
              <a:buNone/>
            </a:pPr>
            <a:r>
              <a:rPr lang="en-US" sz="1300" dirty="0">
                <a:solidFill>
                  <a:srgbClr val="DCDCAA"/>
                </a:solidFill>
                <a:latin typeface="Courier New" pitchFamily="34" charset="0"/>
                <a:ea typeface="Courier New" pitchFamily="34" charset="-122"/>
                <a:cs typeface="Courier New" pitchFamily="34" charset="-120"/>
              </a:rPr>
              <a:t>useState</a:t>
            </a:r>
            <a:pPr indent="0" marL="0">
              <a:buNone/>
            </a:pPr>
            <a:r>
              <a:rPr lang="en-US" sz="1300" dirty="0">
                <a:solidFill>
                  <a:srgbClr val="FFFFFF"/>
                </a:solidFill>
                <a:latin typeface="Courier New" pitchFamily="34" charset="0"/>
                <a:ea typeface="Courier New" pitchFamily="34" charset="-122"/>
                <a:cs typeface="Courier New" pitchFamily="34" charset="-120"/>
              </a:rPr>
              <a:t>(0);</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if (!name) return null;</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return &lt;h1&gt;Hello {name}&lt;/h1&gt;;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777240" y="4937760"/>
            <a:ext cx="10607040" cy="1280160"/>
          </a:xfrm>
          <a:prstGeom prst="rect">
            <a:avLst/>
          </a:prstGeom>
          <a:solidFill>
            <a:srgbClr val="CBF1F6"/>
          </a:solidFill>
          <a:ln w="12700">
            <a:solidFill>
              <a:srgbClr val="CBF1F6"/>
            </a:solidFill>
            <a:prstDash val="solid"/>
          </a:ln>
        </p:spPr>
      </p:sp>
      <p:pic>
        <p:nvPicPr>
          <p:cNvPr id="12" name="Image 0" descr="preencoded.png">    </p:cNvPr>
          <p:cNvPicPr>
            <a:picLocks noChangeAspect="1"/>
          </p:cNvPicPr>
          <p:nvPr/>
        </p:nvPicPr>
        <p:blipFill>
          <a:blip r:embed="rId1"/>
          <a:stretch>
            <a:fillRect/>
          </a:stretch>
        </p:blipFill>
        <p:spPr>
          <a:xfrm>
            <a:off x="1005840" y="5212080"/>
            <a:ext cx="502920" cy="502920"/>
          </a:xfrm>
          <a:prstGeom prst="rect">
            <a:avLst/>
          </a:prstGeom>
        </p:spPr>
      </p:pic>
      <p:sp>
        <p:nvSpPr>
          <p:cNvPr id="13" name="Text 10"/>
          <p:cNvSpPr/>
          <p:nvPr/>
        </p:nvSpPr>
        <p:spPr>
          <a:xfrm>
            <a:off x="1691640" y="5029200"/>
            <a:ext cx="9601200" cy="109728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React's reconciler relies on hooks being called in the same order every render. Break the order, get a confusing 'Rendered fewer hooks than expected' error.</a:t>
            </a:r>
            <a:endParaRPr lang="en-US" sz="1300" dirty="0"/>
          </a:p>
        </p:txBody>
      </p:sp>
      <p:sp>
        <p:nvSpPr>
          <p:cNvPr id="14" name="Text 1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15" name="Text 1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5 / 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AI assistants violate these constantly</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Why review skill matters more than typing skill.</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502920" cy="502920"/>
          </a:xfrm>
          <a:prstGeom prst="rect">
            <a:avLst/>
          </a:prstGeom>
        </p:spPr>
      </p:pic>
      <p:sp>
        <p:nvSpPr>
          <p:cNvPr id="7" name="Text 4"/>
          <p:cNvSpPr/>
          <p:nvPr/>
        </p:nvSpPr>
        <p:spPr>
          <a:xfrm>
            <a:off x="1691640" y="178308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Hook inside a conditional</a:t>
            </a:r>
            <a:endParaRPr lang="en-US" sz="1400" dirty="0"/>
          </a:p>
        </p:txBody>
      </p:sp>
      <p:sp>
        <p:nvSpPr>
          <p:cNvPr id="8" name="Text 5"/>
          <p:cNvSpPr/>
          <p:nvPr/>
        </p:nvSpPr>
        <p:spPr>
          <a:xfrm>
            <a:off x="1691640" y="210312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Asked to 'only run this when X', AI tools wrap a useEffect in if (X) {} more often than they reach for the dependency array.</a:t>
            </a:r>
            <a:endParaRPr lang="en-US" sz="1150" dirty="0"/>
          </a:p>
        </p:txBody>
      </p:sp>
      <p:sp>
        <p:nvSpPr>
          <p:cNvPr id="9" name="Shape 6"/>
          <p:cNvSpPr/>
          <p:nvPr/>
        </p:nvSpPr>
        <p:spPr>
          <a:xfrm>
            <a:off x="777240" y="269748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880360"/>
            <a:ext cx="502920" cy="502920"/>
          </a:xfrm>
          <a:prstGeom prst="rect">
            <a:avLst/>
          </a:prstGeom>
        </p:spPr>
      </p:pic>
      <p:sp>
        <p:nvSpPr>
          <p:cNvPr id="11" name="Text 7"/>
          <p:cNvSpPr/>
          <p:nvPr/>
        </p:nvSpPr>
        <p:spPr>
          <a:xfrm>
            <a:off x="1691640" y="278892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Hook in a callback</a:t>
            </a:r>
            <a:endParaRPr lang="en-US" sz="1400" dirty="0"/>
          </a:p>
        </p:txBody>
      </p:sp>
      <p:sp>
        <p:nvSpPr>
          <p:cNvPr id="12" name="Text 8"/>
          <p:cNvSpPr/>
          <p:nvPr/>
        </p:nvSpPr>
        <p:spPr>
          <a:xfrm>
            <a:off x="1691640" y="310896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useState inside an onClick handler is depressingly common in AI-generated code.</a:t>
            </a:r>
            <a:endParaRPr lang="en-US" sz="1150" dirty="0"/>
          </a:p>
        </p:txBody>
      </p:sp>
      <p:sp>
        <p:nvSpPr>
          <p:cNvPr id="13" name="Shape 9"/>
          <p:cNvSpPr/>
          <p:nvPr/>
        </p:nvSpPr>
        <p:spPr>
          <a:xfrm>
            <a:off x="777240" y="370332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886200"/>
            <a:ext cx="502920" cy="502920"/>
          </a:xfrm>
          <a:prstGeom prst="rect">
            <a:avLst/>
          </a:prstGeom>
        </p:spPr>
      </p:pic>
      <p:sp>
        <p:nvSpPr>
          <p:cNvPr id="15" name="Text 10"/>
          <p:cNvSpPr/>
          <p:nvPr/>
        </p:nvSpPr>
        <p:spPr>
          <a:xfrm>
            <a:off x="1691640" y="379476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Hook ordering changes between renders</a:t>
            </a:r>
            <a:endParaRPr lang="en-US" sz="1400" dirty="0"/>
          </a:p>
        </p:txBody>
      </p:sp>
      <p:sp>
        <p:nvSpPr>
          <p:cNvPr id="16" name="Text 11"/>
          <p:cNvSpPr/>
          <p:nvPr/>
        </p:nvSpPr>
        <p:spPr>
          <a:xfrm>
            <a:off x="1691640" y="411480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Different hook called depending on a prop value — silently breaks state across re-renders.</a:t>
            </a:r>
            <a:endParaRPr lang="en-US" sz="1150" dirty="0"/>
          </a:p>
        </p:txBody>
      </p:sp>
      <p:sp>
        <p:nvSpPr>
          <p:cNvPr id="17" name="Shape 12"/>
          <p:cNvSpPr/>
          <p:nvPr/>
        </p:nvSpPr>
        <p:spPr>
          <a:xfrm>
            <a:off x="777240" y="470916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4892040"/>
            <a:ext cx="502920" cy="502920"/>
          </a:xfrm>
          <a:prstGeom prst="rect">
            <a:avLst/>
          </a:prstGeom>
        </p:spPr>
      </p:pic>
      <p:sp>
        <p:nvSpPr>
          <p:cNvPr id="19" name="Text 13"/>
          <p:cNvSpPr/>
          <p:nvPr/>
        </p:nvSpPr>
        <p:spPr>
          <a:xfrm>
            <a:off x="1691640" y="480060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Custom hook called conditionally</a:t>
            </a:r>
            <a:endParaRPr lang="en-US" sz="1400" dirty="0"/>
          </a:p>
        </p:txBody>
      </p:sp>
      <p:sp>
        <p:nvSpPr>
          <p:cNvPr id="20" name="Text 14"/>
          <p:cNvSpPr/>
          <p:nvPr/>
        </p:nvSpPr>
        <p:spPr>
          <a:xfrm>
            <a:off x="1691640" y="512064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When the AI is told 'use this when…', it produces useMyThing() inside an if. Same problem.</a:t>
            </a:r>
            <a:endParaRPr lang="en-US" sz="11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6 / 34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7">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2</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Foundational Hooks Revisited</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useState, useReducer, useEffect — and the situations where useEffect is the wrong tool.</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useState — what most people know</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Three patterns worth being deliberate about.</a:t>
            </a:r>
            <a:endParaRPr lang="en-US" sz="1400" dirty="0"/>
          </a:p>
        </p:txBody>
      </p:sp>
      <p:sp>
        <p:nvSpPr>
          <p:cNvPr id="5" name="Shape 3"/>
          <p:cNvSpPr/>
          <p:nvPr/>
        </p:nvSpPr>
        <p:spPr>
          <a:xfrm>
            <a:off x="777240" y="1554480"/>
            <a:ext cx="3611880" cy="4572000"/>
          </a:xfrm>
          <a:prstGeom prst="rect">
            <a:avLst/>
          </a:prstGeom>
          <a:solidFill>
            <a:srgbClr val="FFFFFF"/>
          </a:solidFill>
          <a:ln w="12700">
            <a:solidFill>
              <a:srgbClr val="E2E8F0"/>
            </a:solidFill>
            <a:prstDash val="solid"/>
          </a:ln>
        </p:spPr>
      </p:sp>
      <p:sp>
        <p:nvSpPr>
          <p:cNvPr id="6" name="Text 4"/>
          <p:cNvSpPr/>
          <p:nvPr/>
        </p:nvSpPr>
        <p:spPr>
          <a:xfrm>
            <a:off x="960120" y="1691640"/>
            <a:ext cx="333756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Functional updater</a:t>
            </a:r>
            <a:endParaRPr lang="en-US" sz="1500" dirty="0"/>
          </a:p>
        </p:txBody>
      </p:sp>
      <p:sp>
        <p:nvSpPr>
          <p:cNvPr id="7" name="Text 5"/>
          <p:cNvSpPr/>
          <p:nvPr/>
        </p:nvSpPr>
        <p:spPr>
          <a:xfrm>
            <a:off x="960120" y="2057400"/>
            <a:ext cx="3337560" cy="640080"/>
          </a:xfrm>
          <a:prstGeom prst="rect">
            <a:avLst/>
          </a:prstGeom>
          <a:noFill/>
          <a:ln/>
        </p:spPr>
        <p:txBody>
          <a:bodyPr wrap="square" lIns="0" tIns="0" rIns="0" bIns="0" rtlCol="0" anchor="t"/>
          <a:lstStyle/>
          <a:p>
            <a:pPr indent="0" marL="0">
              <a:buNone/>
            </a:pPr>
            <a:r>
              <a:rPr lang="en-US" sz="1150" i="1" dirty="0">
                <a:solidFill>
                  <a:srgbClr val="475569"/>
                </a:solidFill>
                <a:latin typeface="Arial" pitchFamily="34" charset="0"/>
                <a:ea typeface="Arial" pitchFamily="34" charset="-122"/>
                <a:cs typeface="Arial" pitchFamily="34" charset="-120"/>
              </a:rPr>
              <a:t>When new state depends on previous state — always.</a:t>
            </a:r>
            <a:endParaRPr lang="en-US" sz="1150" dirty="0"/>
          </a:p>
        </p:txBody>
      </p:sp>
      <p:sp>
        <p:nvSpPr>
          <p:cNvPr id="8" name="Shape 6"/>
          <p:cNvSpPr/>
          <p:nvPr/>
        </p:nvSpPr>
        <p:spPr>
          <a:xfrm>
            <a:off x="960120" y="2788920"/>
            <a:ext cx="3246120" cy="3246120"/>
          </a:xfrm>
          <a:prstGeom prst="rect">
            <a:avLst/>
          </a:prstGeom>
          <a:solidFill>
            <a:srgbClr val="1E2A47"/>
          </a:solidFill>
          <a:ln w="12700">
            <a:solidFill>
              <a:srgbClr val="1E2A47"/>
            </a:solidFill>
            <a:prstDash val="solid"/>
          </a:ln>
        </p:spPr>
      </p:sp>
      <p:sp>
        <p:nvSpPr>
          <p:cNvPr id="9" name="Text 7"/>
          <p:cNvSpPr/>
          <p:nvPr/>
        </p:nvSpPr>
        <p:spPr>
          <a:xfrm>
            <a:off x="1143000" y="2926080"/>
            <a:ext cx="2880360" cy="2971800"/>
          </a:xfrm>
          <a:prstGeom prst="rect">
            <a:avLst/>
          </a:prstGeom>
          <a:noFill/>
          <a:ln/>
        </p:spPr>
        <p:txBody>
          <a:bodyPr wrap="square" lIns="0" tIns="0" rIns="0" bIns="0" rtlCol="0" anchor="t"/>
          <a:lstStyle/>
          <a:p>
            <a:pPr indent="0" marL="0">
              <a:buNone/>
            </a:pPr>
            <a:r>
              <a:rPr lang="en-US" sz="1100" i="1" dirty="0">
                <a:solidFill>
                  <a:srgbClr val="6A9955"/>
                </a:solidFill>
                <a:latin typeface="Courier New" pitchFamily="34" charset="0"/>
                <a:ea typeface="Courier New" pitchFamily="34" charset="-122"/>
                <a:cs typeface="Courier New" pitchFamily="34" charset="-120"/>
              </a:rPr>
              <a:t>// race-prone</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setCount(count + 1);</a:t>
            </a:r>
            <a:endParaRPr lang="en-US" sz="1100" dirty="0"/>
          </a:p>
          <a:p>
            <a:pPr indent="0" marL="0">
              <a:buNone/>
            </a:pPr>
            <a:endParaRPr lang="en-US" sz="1100" dirty="0"/>
          </a:p>
          <a:p>
            <a:pPr indent="0" marL="0">
              <a:buNone/>
            </a:pPr>
            <a:r>
              <a:rPr lang="en-US" sz="1100" i="1" dirty="0">
                <a:solidFill>
                  <a:srgbClr val="6A9955"/>
                </a:solidFill>
                <a:latin typeface="Courier New" pitchFamily="34" charset="0"/>
                <a:ea typeface="Courier New" pitchFamily="34" charset="-122"/>
                <a:cs typeface="Courier New" pitchFamily="34" charset="-120"/>
              </a:rPr>
              <a:t>// safe</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setCount(</a:t>
            </a:r>
            <a:pPr indent="0" marL="0">
              <a:buNone/>
            </a:pPr>
            <a:r>
              <a:rPr lang="en-US" sz="1100" dirty="0">
                <a:solidFill>
                  <a:srgbClr val="9CDCFE"/>
                </a:solidFill>
                <a:latin typeface="Courier New" pitchFamily="34" charset="0"/>
                <a:ea typeface="Courier New" pitchFamily="34" charset="-122"/>
                <a:cs typeface="Courier New" pitchFamily="34" charset="-120"/>
              </a:rPr>
              <a:t>n</a:t>
            </a:r>
            <a:pPr indent="0" marL="0">
              <a:buNone/>
            </a:pPr>
            <a:r>
              <a:rPr lang="en-US" sz="1100" dirty="0">
                <a:solidFill>
                  <a:srgbClr val="C586C0"/>
                </a:solidFill>
                <a:latin typeface="Courier New" pitchFamily="34" charset="0"/>
                <a:ea typeface="Courier New" pitchFamily="34" charset="-122"/>
                <a:cs typeface="Courier New" pitchFamily="34" charset="-120"/>
              </a:rPr>
              <a:t> =&gt; </a:t>
            </a:r>
            <a:pPr indent="0" marL="0">
              <a:buNone/>
            </a:pPr>
            <a:r>
              <a:rPr lang="en-US" sz="1100" dirty="0">
                <a:solidFill>
                  <a:srgbClr val="FFFFFF"/>
                </a:solidFill>
                <a:latin typeface="Courier New" pitchFamily="34" charset="0"/>
                <a:ea typeface="Courier New" pitchFamily="34" charset="-122"/>
                <a:cs typeface="Courier New" pitchFamily="34" charset="-120"/>
              </a:rPr>
              <a:t>n + 1);</a:t>
            </a:r>
            <a:endParaRPr lang="en-US" sz="1100" dirty="0"/>
          </a:p>
        </p:txBody>
      </p:sp>
      <p:sp>
        <p:nvSpPr>
          <p:cNvPr id="10" name="Shape 8"/>
          <p:cNvSpPr/>
          <p:nvPr/>
        </p:nvSpPr>
        <p:spPr>
          <a:xfrm>
            <a:off x="4617720" y="1554480"/>
            <a:ext cx="3611880" cy="4572000"/>
          </a:xfrm>
          <a:prstGeom prst="rect">
            <a:avLst/>
          </a:prstGeom>
          <a:solidFill>
            <a:srgbClr val="FFFFFF"/>
          </a:solidFill>
          <a:ln w="12700">
            <a:solidFill>
              <a:srgbClr val="E2E8F0"/>
            </a:solidFill>
            <a:prstDash val="solid"/>
          </a:ln>
        </p:spPr>
      </p:sp>
      <p:sp>
        <p:nvSpPr>
          <p:cNvPr id="11" name="Text 9"/>
          <p:cNvSpPr/>
          <p:nvPr/>
        </p:nvSpPr>
        <p:spPr>
          <a:xfrm>
            <a:off x="4800600" y="1691640"/>
            <a:ext cx="333756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Lazy initialization</a:t>
            </a:r>
            <a:endParaRPr lang="en-US" sz="1500" dirty="0"/>
          </a:p>
        </p:txBody>
      </p:sp>
      <p:sp>
        <p:nvSpPr>
          <p:cNvPr id="12" name="Text 10"/>
          <p:cNvSpPr/>
          <p:nvPr/>
        </p:nvSpPr>
        <p:spPr>
          <a:xfrm>
            <a:off x="4800600" y="2057400"/>
            <a:ext cx="3337560" cy="640080"/>
          </a:xfrm>
          <a:prstGeom prst="rect">
            <a:avLst/>
          </a:prstGeom>
          <a:noFill/>
          <a:ln/>
        </p:spPr>
        <p:txBody>
          <a:bodyPr wrap="square" lIns="0" tIns="0" rIns="0" bIns="0" rtlCol="0" anchor="t"/>
          <a:lstStyle/>
          <a:p>
            <a:pPr indent="0" marL="0">
              <a:buNone/>
            </a:pPr>
            <a:r>
              <a:rPr lang="en-US" sz="1150" i="1" dirty="0">
                <a:solidFill>
                  <a:srgbClr val="475569"/>
                </a:solidFill>
                <a:latin typeface="Arial" pitchFamily="34" charset="0"/>
                <a:ea typeface="Arial" pitchFamily="34" charset="-122"/>
                <a:cs typeface="Arial" pitchFamily="34" charset="-120"/>
              </a:rPr>
              <a:t>When the initial value is expensive to compute.</a:t>
            </a:r>
            <a:endParaRPr lang="en-US" sz="1150" dirty="0"/>
          </a:p>
        </p:txBody>
      </p:sp>
      <p:sp>
        <p:nvSpPr>
          <p:cNvPr id="13" name="Shape 11"/>
          <p:cNvSpPr/>
          <p:nvPr/>
        </p:nvSpPr>
        <p:spPr>
          <a:xfrm>
            <a:off x="4800600" y="2788920"/>
            <a:ext cx="3246120" cy="3246120"/>
          </a:xfrm>
          <a:prstGeom prst="rect">
            <a:avLst/>
          </a:prstGeom>
          <a:solidFill>
            <a:srgbClr val="1E2A47"/>
          </a:solidFill>
          <a:ln w="12700">
            <a:solidFill>
              <a:srgbClr val="1E2A47"/>
            </a:solidFill>
            <a:prstDash val="solid"/>
          </a:ln>
        </p:spPr>
      </p:sp>
      <p:sp>
        <p:nvSpPr>
          <p:cNvPr id="14" name="Text 12"/>
          <p:cNvSpPr/>
          <p:nvPr/>
        </p:nvSpPr>
        <p:spPr>
          <a:xfrm>
            <a:off x="4983480" y="2926080"/>
            <a:ext cx="2880360" cy="2971800"/>
          </a:xfrm>
          <a:prstGeom prst="rect">
            <a:avLst/>
          </a:prstGeom>
          <a:noFill/>
          <a:ln/>
        </p:spPr>
        <p:txBody>
          <a:bodyPr wrap="square" lIns="0" tIns="0" rIns="0" bIns="0" rtlCol="0" anchor="t"/>
          <a:lstStyle/>
          <a:p>
            <a:pPr indent="0" marL="0">
              <a:buNone/>
            </a:pPr>
            <a:r>
              <a:rPr lang="en-US" sz="1100" i="1" dirty="0">
                <a:solidFill>
                  <a:srgbClr val="6A9955"/>
                </a:solidFill>
                <a:latin typeface="Courier New" pitchFamily="34" charset="0"/>
                <a:ea typeface="Courier New" pitchFamily="34" charset="-122"/>
                <a:cs typeface="Courier New" pitchFamily="34" charset="-120"/>
              </a:rPr>
              <a:t>// runs every render</a:t>
            </a: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useState(</a:t>
            </a:r>
            <a:pPr indent="0" marL="0">
              <a:buNone/>
            </a:pPr>
            <a:r>
              <a:rPr lang="en-US" sz="1100" dirty="0">
                <a:solidFill>
                  <a:srgbClr val="9CDCFE"/>
                </a:solidFill>
                <a:latin typeface="Courier New" pitchFamily="34" charset="0"/>
                <a:ea typeface="Courier New" pitchFamily="34" charset="-122"/>
                <a:cs typeface="Courier New" pitchFamily="34" charset="-120"/>
              </a:rPr>
              <a:t>expensive()</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endParaRPr lang="en-US" sz="1100" dirty="0"/>
          </a:p>
          <a:p>
            <a:pPr indent="0" marL="0">
              <a:buNone/>
            </a:pPr>
            <a:r>
              <a:rPr lang="en-US" sz="1100" i="1" dirty="0">
                <a:solidFill>
                  <a:srgbClr val="6A9955"/>
                </a:solidFill>
                <a:latin typeface="Courier New" pitchFamily="34" charset="0"/>
                <a:ea typeface="Courier New" pitchFamily="34" charset="-122"/>
                <a:cs typeface="Courier New" pitchFamily="34" charset="-120"/>
              </a:rPr>
              <a:t>// runs once</a:t>
            </a: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useState(</a:t>
            </a:r>
            <a:pPr indent="0" marL="0">
              <a:buNone/>
            </a:pPr>
            <a:r>
              <a:rPr lang="en-US" sz="1100" dirty="0">
                <a:solidFill>
                  <a:srgbClr val="9CDCFE"/>
                </a:solidFill>
                <a:latin typeface="Courier New" pitchFamily="34" charset="0"/>
                <a:ea typeface="Courier New" pitchFamily="34" charset="-122"/>
                <a:cs typeface="Courier New" pitchFamily="34" charset="-120"/>
              </a:rPr>
              <a:t>() =&gt; expensive()</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8458200" y="1554480"/>
            <a:ext cx="3611880" cy="4572000"/>
          </a:xfrm>
          <a:prstGeom prst="rect">
            <a:avLst/>
          </a:prstGeom>
          <a:solidFill>
            <a:srgbClr val="FFFFFF"/>
          </a:solidFill>
          <a:ln w="12700">
            <a:solidFill>
              <a:srgbClr val="E2E8F0"/>
            </a:solidFill>
            <a:prstDash val="solid"/>
          </a:ln>
        </p:spPr>
      </p:sp>
      <p:sp>
        <p:nvSpPr>
          <p:cNvPr id="16" name="Text 14"/>
          <p:cNvSpPr/>
          <p:nvPr/>
        </p:nvSpPr>
        <p:spPr>
          <a:xfrm>
            <a:off x="8641080" y="1691640"/>
            <a:ext cx="333756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State updater batching</a:t>
            </a:r>
            <a:endParaRPr lang="en-US" sz="1500" dirty="0"/>
          </a:p>
        </p:txBody>
      </p:sp>
      <p:sp>
        <p:nvSpPr>
          <p:cNvPr id="17" name="Text 15"/>
          <p:cNvSpPr/>
          <p:nvPr/>
        </p:nvSpPr>
        <p:spPr>
          <a:xfrm>
            <a:off x="8641080" y="2057400"/>
            <a:ext cx="3337560" cy="640080"/>
          </a:xfrm>
          <a:prstGeom prst="rect">
            <a:avLst/>
          </a:prstGeom>
          <a:noFill/>
          <a:ln/>
        </p:spPr>
        <p:txBody>
          <a:bodyPr wrap="square" lIns="0" tIns="0" rIns="0" bIns="0" rtlCol="0" anchor="t"/>
          <a:lstStyle/>
          <a:p>
            <a:pPr indent="0" marL="0">
              <a:buNone/>
            </a:pPr>
            <a:r>
              <a:rPr lang="en-US" sz="1150" i="1" dirty="0">
                <a:solidFill>
                  <a:srgbClr val="475569"/>
                </a:solidFill>
                <a:latin typeface="Arial" pitchFamily="34" charset="0"/>
                <a:ea typeface="Arial" pitchFamily="34" charset="-122"/>
                <a:cs typeface="Arial" pitchFamily="34" charset="-120"/>
              </a:rPr>
              <a:t>React 19 batches all updates in event handlers, effects, and timers automatically.</a:t>
            </a:r>
            <a:endParaRPr lang="en-US" sz="1150" dirty="0"/>
          </a:p>
        </p:txBody>
      </p:sp>
      <p:sp>
        <p:nvSpPr>
          <p:cNvPr id="18" name="Shape 16"/>
          <p:cNvSpPr/>
          <p:nvPr/>
        </p:nvSpPr>
        <p:spPr>
          <a:xfrm>
            <a:off x="8641080" y="2788920"/>
            <a:ext cx="3246120" cy="3246120"/>
          </a:xfrm>
          <a:prstGeom prst="rect">
            <a:avLst/>
          </a:prstGeom>
          <a:solidFill>
            <a:srgbClr val="1E2A47"/>
          </a:solidFill>
          <a:ln w="12700">
            <a:solidFill>
              <a:srgbClr val="1E2A47"/>
            </a:solidFill>
            <a:prstDash val="solid"/>
          </a:ln>
        </p:spPr>
      </p:sp>
      <p:sp>
        <p:nvSpPr>
          <p:cNvPr id="19" name="Text 17"/>
          <p:cNvSpPr/>
          <p:nvPr/>
        </p:nvSpPr>
        <p:spPr>
          <a:xfrm>
            <a:off x="8823960" y="2926080"/>
            <a:ext cx="2880360" cy="2971800"/>
          </a:xfrm>
          <a:prstGeom prst="rect">
            <a:avLst/>
          </a:prstGeom>
          <a:noFill/>
          <a:ln/>
        </p:spPr>
        <p:txBody>
          <a:bodyPr wrap="square" lIns="0" tIns="0" rIns="0" bIns="0" rtlCol="0" anchor="t"/>
          <a:lstStyle/>
          <a:p>
            <a:pPr indent="0" marL="0">
              <a:buNone/>
            </a:pPr>
            <a:r>
              <a:rPr lang="en-US" sz="1100" i="1" dirty="0">
                <a:solidFill>
                  <a:srgbClr val="6A9955"/>
                </a:solidFill>
                <a:latin typeface="Courier New" pitchFamily="34" charset="0"/>
                <a:ea typeface="Courier New" pitchFamily="34" charset="-122"/>
                <a:cs typeface="Courier New" pitchFamily="34" charset="-120"/>
              </a:rPr>
              <a:t>// one render, count = 3</a:t>
            </a: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function </a:t>
            </a:r>
            <a:pPr indent="0" marL="0">
              <a:buNone/>
            </a:pPr>
            <a:r>
              <a:rPr lang="en-US" sz="1100" dirty="0">
                <a:solidFill>
                  <a:srgbClr val="DCDCAA"/>
                </a:solidFill>
                <a:latin typeface="Courier New" pitchFamily="34" charset="0"/>
                <a:ea typeface="Courier New" pitchFamily="34" charset="-122"/>
                <a:cs typeface="Courier New" pitchFamily="34" charset="-120"/>
              </a:rPr>
              <a:t>onClick</a:t>
            </a:r>
            <a:pPr indent="0" marL="0">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setCount(</a:t>
            </a:r>
            <a:pPr indent="0" marL="0">
              <a:buNone/>
            </a:pPr>
            <a:r>
              <a:rPr lang="en-US" sz="1100" dirty="0">
                <a:solidFill>
                  <a:srgbClr val="9CDCFE"/>
                </a:solidFill>
                <a:latin typeface="Courier New" pitchFamily="34" charset="0"/>
                <a:ea typeface="Courier New" pitchFamily="34" charset="-122"/>
                <a:cs typeface="Courier New" pitchFamily="34" charset="-120"/>
              </a:rPr>
              <a:t>n</a:t>
            </a:r>
            <a:pPr indent="0" marL="0">
              <a:buNone/>
            </a:pPr>
            <a:r>
              <a:rPr lang="en-US" sz="1100" dirty="0">
                <a:solidFill>
                  <a:srgbClr val="FFFFFF"/>
                </a:solidFill>
                <a:latin typeface="Courier New" pitchFamily="34" charset="0"/>
                <a:ea typeface="Courier New" pitchFamily="34" charset="-122"/>
                <a:cs typeface="Courier New" pitchFamily="34" charset="-120"/>
              </a:rPr>
              <a:t> =&gt; n + 1);</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setCount(</a:t>
            </a:r>
            <a:pPr indent="0" marL="0">
              <a:buNone/>
            </a:pPr>
            <a:r>
              <a:rPr lang="en-US" sz="1100" dirty="0">
                <a:solidFill>
                  <a:srgbClr val="9CDCFE"/>
                </a:solidFill>
                <a:latin typeface="Courier New" pitchFamily="34" charset="0"/>
                <a:ea typeface="Courier New" pitchFamily="34" charset="-122"/>
                <a:cs typeface="Courier New" pitchFamily="34" charset="-120"/>
              </a:rPr>
              <a:t>n</a:t>
            </a:r>
            <a:pPr indent="0" marL="0">
              <a:buNone/>
            </a:pPr>
            <a:r>
              <a:rPr lang="en-US" sz="1100" dirty="0">
                <a:solidFill>
                  <a:srgbClr val="FFFFFF"/>
                </a:solidFill>
                <a:latin typeface="Courier New" pitchFamily="34" charset="0"/>
                <a:ea typeface="Courier New" pitchFamily="34" charset="-122"/>
                <a:cs typeface="Courier New" pitchFamily="34" charset="-120"/>
              </a:rPr>
              <a:t> =&gt; n + 1);</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setCount(</a:t>
            </a:r>
            <a:pPr indent="0" marL="0">
              <a:buNone/>
            </a:pPr>
            <a:r>
              <a:rPr lang="en-US" sz="1100" dirty="0">
                <a:solidFill>
                  <a:srgbClr val="9CDCFE"/>
                </a:solidFill>
                <a:latin typeface="Courier New" pitchFamily="34" charset="0"/>
                <a:ea typeface="Courier New" pitchFamily="34" charset="-122"/>
                <a:cs typeface="Courier New" pitchFamily="34" charset="-120"/>
              </a:rPr>
              <a:t>n</a:t>
            </a:r>
            <a:pPr indent="0" marL="0">
              <a:buNone/>
            </a:pPr>
            <a:r>
              <a:rPr lang="en-US" sz="1100" dirty="0">
                <a:solidFill>
                  <a:srgbClr val="FFFFFF"/>
                </a:solidFill>
                <a:latin typeface="Courier New" pitchFamily="34" charset="0"/>
                <a:ea typeface="Courier New" pitchFamily="34" charset="-122"/>
                <a:cs typeface="Courier New" pitchFamily="34" charset="-120"/>
              </a:rPr>
              <a:t> =&gt; n + 1);</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20" name="Text 1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21" name="Text 1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8 / 34</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useState trap: derived state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If you can compute it from props, don't put it in state.</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300" b="1" dirty="0">
                <a:solidFill>
                  <a:srgbClr val="DC2626"/>
                </a:solidFill>
                <a:latin typeface="Trebuchet MS" pitchFamily="34" charset="0"/>
                <a:ea typeface="Trebuchet MS" pitchFamily="34" charset="-122"/>
                <a:cs typeface="Trebuchet MS" pitchFamily="34" charset="-120"/>
              </a:rPr>
              <a:t>The trap</a:t>
            </a:r>
            <a:endParaRPr lang="en-US" sz="1300" dirty="0"/>
          </a:p>
        </p:txBody>
      </p:sp>
      <p:sp>
        <p:nvSpPr>
          <p:cNvPr id="6" name="Shape 4"/>
          <p:cNvSpPr/>
          <p:nvPr/>
        </p:nvSpPr>
        <p:spPr>
          <a:xfrm>
            <a:off x="777240" y="1920240"/>
            <a:ext cx="5349240" cy="3108960"/>
          </a:xfrm>
          <a:prstGeom prst="rect">
            <a:avLst/>
          </a:prstGeom>
          <a:solidFill>
            <a:srgbClr val="1E2A47"/>
          </a:solidFill>
          <a:ln w="12700">
            <a:solidFill>
              <a:srgbClr val="1E2A47"/>
            </a:solidFill>
            <a:prstDash val="solid"/>
          </a:ln>
        </p:spPr>
      </p:sp>
      <p:sp>
        <p:nvSpPr>
          <p:cNvPr id="7" name="Text 5"/>
          <p:cNvSpPr/>
          <p:nvPr/>
        </p:nvSpPr>
        <p:spPr>
          <a:xfrm>
            <a:off x="960120" y="2057400"/>
            <a:ext cx="4983480" cy="2834640"/>
          </a:xfrm>
          <a:prstGeom prst="rect">
            <a:avLst/>
          </a:prstGeom>
          <a:noFill/>
          <a:ln/>
        </p:spPr>
        <p:txBody>
          <a:bodyPr wrap="square" lIns="0" tIns="0" rIns="0" bIns="0" rtlCol="0" anchor="t"/>
          <a:lstStyle/>
          <a:p>
            <a:pPr indent="0" marL="0">
              <a:buNone/>
            </a:pPr>
            <a:r>
              <a:rPr lang="en-US" sz="1300" dirty="0">
                <a:solidFill>
                  <a:srgbClr val="C586C0"/>
                </a:solidFill>
                <a:latin typeface="Courier New" pitchFamily="34" charset="0"/>
                <a:ea typeface="Courier New" pitchFamily="34" charset="-122"/>
                <a:cs typeface="Courier New" pitchFamily="34" charset="-120"/>
              </a:rPr>
              <a:t>function </a:t>
            </a:r>
            <a:pPr indent="0" marL="0">
              <a:buNone/>
            </a:pPr>
            <a:r>
              <a:rPr lang="en-US" sz="1300" dirty="0">
                <a:solidFill>
                  <a:srgbClr val="DCDCAA"/>
                </a:solidFill>
                <a:latin typeface="Courier New" pitchFamily="34" charset="0"/>
                <a:ea typeface="Courier New" pitchFamily="34" charset="-122"/>
                <a:cs typeface="Courier New" pitchFamily="34" charset="-120"/>
              </a:rPr>
              <a:t>List</a:t>
            </a:r>
            <a:pPr indent="0" marL="0">
              <a:buNone/>
            </a:pPr>
            <a:r>
              <a:rPr lang="en-US" sz="1300" dirty="0">
                <a:solidFill>
                  <a:srgbClr val="FFFFFF"/>
                </a:solidFill>
                <a:latin typeface="Courier New" pitchFamily="34" charset="0"/>
                <a:ea typeface="Courier New" pitchFamily="34" charset="-122"/>
                <a:cs typeface="Courier New" pitchFamily="34" charset="-120"/>
              </a:rPr>
              <a:t>({ items, query })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const [filtered, setFiltered] = </a:t>
            </a:r>
            <a:pPr indent="0" marL="0">
              <a:buNone/>
            </a:pPr>
            <a:r>
              <a:rPr lang="en-US" sz="1300" dirty="0">
                <a:solidFill>
                  <a:srgbClr val="DCDCAA"/>
                </a:solidFill>
                <a:latin typeface="Courier New" pitchFamily="34" charset="0"/>
                <a:ea typeface="Courier New" pitchFamily="34" charset="-122"/>
                <a:cs typeface="Courier New" pitchFamily="34" charset="-120"/>
              </a:rPr>
              <a:t>useState</a:t>
            </a:r>
            <a:pPr indent="0" marL="0">
              <a:buNone/>
            </a:pPr>
            <a:r>
              <a:rPr lang="en-US" sz="1300" dirty="0">
                <a:solidFill>
                  <a:srgbClr val="FFFFFF"/>
                </a:solidFill>
                <a:latin typeface="Courier New" pitchFamily="34" charset="0"/>
                <a:ea typeface="Courier New" pitchFamily="34" charset="-122"/>
                <a:cs typeface="Courier New" pitchFamily="34" charset="-120"/>
              </a:rPr>
              <a:t>(items);</a:t>
            </a:r>
            <a:endParaRPr lang="en-US" sz="1300" dirty="0"/>
          </a:p>
          <a:p>
            <a:pPr indent="0" marL="0">
              <a:buNone/>
            </a:pPr>
            <a:endParaRPr lang="en-US" sz="1300" dirty="0"/>
          </a:p>
          <a:p>
            <a:pPr indent="0" marL="0">
              <a:buNone/>
            </a:pPr>
            <a:r>
              <a:rPr lang="en-US" sz="1300" i="1" dirty="0">
                <a:solidFill>
                  <a:srgbClr val="6A9955"/>
                </a:solidFill>
                <a:latin typeface="Courier New" pitchFamily="34" charset="0"/>
                <a:ea typeface="Courier New" pitchFamily="34" charset="-122"/>
                <a:cs typeface="Courier New" pitchFamily="34" charset="-120"/>
              </a:rPr>
              <a:t>  // bug: filtered lags items by one render</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t>
            </a:r>
            <a:pPr indent="0" marL="0">
              <a:buNone/>
            </a:pPr>
            <a:r>
              <a:rPr lang="en-US" sz="1300" dirty="0">
                <a:solidFill>
                  <a:srgbClr val="DCDCAA"/>
                </a:solidFill>
                <a:latin typeface="Courier New" pitchFamily="34" charset="0"/>
                <a:ea typeface="Courier New" pitchFamily="34" charset="-122"/>
                <a:cs typeface="Courier New" pitchFamily="34" charset="-120"/>
              </a:rPr>
              <a:t>useEffect</a:t>
            </a:r>
            <a:pPr indent="0" marL="0">
              <a:buNone/>
            </a:pPr>
            <a:r>
              <a:rPr lang="en-US" sz="1300" dirty="0">
                <a:solidFill>
                  <a:srgbClr val="FFFFFF"/>
                </a:solidFill>
                <a:latin typeface="Courier New" pitchFamily="34" charset="0"/>
                <a:ea typeface="Courier New" pitchFamily="34" charset="-122"/>
                <a:cs typeface="Courier New" pitchFamily="34" charset="-120"/>
              </a:rPr>
              <a:t>(() =&gt;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setFiltered(items.filter(i =&gt; i.includes(query)));</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 [items, query]);</a:t>
            </a:r>
            <a:endParaRPr lang="en-US" sz="1300" dirty="0"/>
          </a:p>
          <a:p>
            <a:pPr indent="0" marL="0">
              <a:buNone/>
            </a:pP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return &lt;ul&gt;{filtered.map(...)}&lt;/ul&gt;;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8" name="Text 6"/>
          <p:cNvSpPr/>
          <p:nvPr/>
        </p:nvSpPr>
        <p:spPr>
          <a:xfrm>
            <a:off x="6355080" y="1554480"/>
            <a:ext cx="5029200" cy="365760"/>
          </a:xfrm>
          <a:prstGeom prst="rect">
            <a:avLst/>
          </a:prstGeom>
          <a:noFill/>
          <a:ln/>
        </p:spPr>
        <p:txBody>
          <a:bodyPr wrap="square" lIns="0" tIns="0" rIns="0" bIns="0" rtlCol="0" anchor="ctr"/>
          <a:lstStyle/>
          <a:p>
            <a:pPr indent="0" marL="0">
              <a:buNone/>
            </a:pPr>
            <a:r>
              <a:rPr lang="en-US" sz="1300" b="1" dirty="0">
                <a:solidFill>
                  <a:srgbClr val="059669"/>
                </a:solidFill>
                <a:latin typeface="Trebuchet MS" pitchFamily="34" charset="0"/>
                <a:ea typeface="Trebuchet MS" pitchFamily="34" charset="-122"/>
                <a:cs typeface="Trebuchet MS" pitchFamily="34" charset="-120"/>
              </a:rPr>
              <a:t>The fix</a:t>
            </a:r>
            <a:endParaRPr lang="en-US" sz="1300" dirty="0"/>
          </a:p>
        </p:txBody>
      </p:sp>
      <p:sp>
        <p:nvSpPr>
          <p:cNvPr id="9" name="Shape 7"/>
          <p:cNvSpPr/>
          <p:nvPr/>
        </p:nvSpPr>
        <p:spPr>
          <a:xfrm>
            <a:off x="6355080" y="1920240"/>
            <a:ext cx="5029200" cy="3108960"/>
          </a:xfrm>
          <a:prstGeom prst="rect">
            <a:avLst/>
          </a:prstGeom>
          <a:solidFill>
            <a:srgbClr val="1E2A47"/>
          </a:solidFill>
          <a:ln w="12700">
            <a:solidFill>
              <a:srgbClr val="1E2A47"/>
            </a:solidFill>
            <a:prstDash val="solid"/>
          </a:ln>
        </p:spPr>
      </p:sp>
      <p:sp>
        <p:nvSpPr>
          <p:cNvPr id="10" name="Text 8"/>
          <p:cNvSpPr/>
          <p:nvPr/>
        </p:nvSpPr>
        <p:spPr>
          <a:xfrm>
            <a:off x="6537960" y="2057400"/>
            <a:ext cx="4663440" cy="2834640"/>
          </a:xfrm>
          <a:prstGeom prst="rect">
            <a:avLst/>
          </a:prstGeom>
          <a:noFill/>
          <a:ln/>
        </p:spPr>
        <p:txBody>
          <a:bodyPr wrap="square" lIns="0" tIns="0" rIns="0" bIns="0" rtlCol="0" anchor="t"/>
          <a:lstStyle/>
          <a:p>
            <a:pPr indent="0" marL="0">
              <a:buNone/>
            </a:pPr>
            <a:r>
              <a:rPr lang="en-US" sz="1300" dirty="0">
                <a:solidFill>
                  <a:srgbClr val="C586C0"/>
                </a:solidFill>
                <a:latin typeface="Courier New" pitchFamily="34" charset="0"/>
                <a:ea typeface="Courier New" pitchFamily="34" charset="-122"/>
                <a:cs typeface="Courier New" pitchFamily="34" charset="-120"/>
              </a:rPr>
              <a:t>function </a:t>
            </a:r>
            <a:pPr indent="0" marL="0">
              <a:buNone/>
            </a:pPr>
            <a:r>
              <a:rPr lang="en-US" sz="1300" dirty="0">
                <a:solidFill>
                  <a:srgbClr val="DCDCAA"/>
                </a:solidFill>
                <a:latin typeface="Courier New" pitchFamily="34" charset="0"/>
                <a:ea typeface="Courier New" pitchFamily="34" charset="-122"/>
                <a:cs typeface="Courier New" pitchFamily="34" charset="-120"/>
              </a:rPr>
              <a:t>List</a:t>
            </a:r>
            <a:pPr indent="0" marL="0">
              <a:buNone/>
            </a:pPr>
            <a:r>
              <a:rPr lang="en-US" sz="1300" dirty="0">
                <a:solidFill>
                  <a:srgbClr val="FFFFFF"/>
                </a:solidFill>
                <a:latin typeface="Courier New" pitchFamily="34" charset="0"/>
                <a:ea typeface="Courier New" pitchFamily="34" charset="-122"/>
                <a:cs typeface="Courier New" pitchFamily="34" charset="-120"/>
              </a:rPr>
              <a:t>({ items, query }) {</a:t>
            </a:r>
            <a:endParaRPr lang="en-US" sz="1300" dirty="0"/>
          </a:p>
          <a:p>
            <a:pPr indent="0" marL="0">
              <a:buNone/>
            </a:pPr>
            <a:r>
              <a:rPr lang="en-US" sz="1300" i="1" dirty="0">
                <a:solidFill>
                  <a:srgbClr val="6A9955"/>
                </a:solidFill>
                <a:latin typeface="Courier New" pitchFamily="34" charset="0"/>
                <a:ea typeface="Courier New" pitchFamily="34" charset="-122"/>
                <a:cs typeface="Courier New" pitchFamily="34" charset="-120"/>
              </a:rPr>
              <a:t>  // just compute it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const filtered = items.filter(</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i =&gt; i.includes(query)</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buNone/>
            </a:pP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return &lt;ul&gt;{filtered.map(...)}&lt;/ul&gt;;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buNone/>
            </a:pPr>
            <a:endParaRPr lang="en-US" sz="1300" dirty="0"/>
          </a:p>
          <a:p>
            <a:pPr indent="0" marL="0">
              <a:buNone/>
            </a:pPr>
            <a:r>
              <a:rPr lang="en-US" sz="1300" i="1" dirty="0">
                <a:solidFill>
                  <a:srgbClr val="6A9955"/>
                </a:solidFill>
                <a:latin typeface="Courier New" pitchFamily="34" charset="0"/>
                <a:ea typeface="Courier New" pitchFamily="34" charset="-122"/>
                <a:cs typeface="Courier New" pitchFamily="34" charset="-120"/>
              </a:rPr>
              <a:t>// Compiler memoizes if needed</a:t>
            </a:r>
            <a:endParaRPr lang="en-US" sz="1300" dirty="0"/>
          </a:p>
        </p:txBody>
      </p:sp>
      <p:sp>
        <p:nvSpPr>
          <p:cNvPr id="11" name="Shape 9"/>
          <p:cNvSpPr/>
          <p:nvPr/>
        </p:nvSpPr>
        <p:spPr>
          <a:xfrm>
            <a:off x="777240" y="5212080"/>
            <a:ext cx="10607040" cy="1005840"/>
          </a:xfrm>
          <a:prstGeom prst="rect">
            <a:avLst/>
          </a:prstGeom>
          <a:solidFill>
            <a:srgbClr val="CBF1F6"/>
          </a:solidFill>
          <a:ln w="12700">
            <a:solidFill>
              <a:srgbClr val="CBF1F6"/>
            </a:solidFill>
            <a:prstDash val="solid"/>
          </a:ln>
        </p:spPr>
      </p:sp>
      <p:pic>
        <p:nvPicPr>
          <p:cNvPr id="12" name="Image 0" descr="preencoded.png">    </p:cNvPr>
          <p:cNvPicPr>
            <a:picLocks noChangeAspect="1"/>
          </p:cNvPicPr>
          <p:nvPr/>
        </p:nvPicPr>
        <p:blipFill>
          <a:blip r:embed="rId1"/>
          <a:stretch>
            <a:fillRect/>
          </a:stretch>
        </p:blipFill>
        <p:spPr>
          <a:xfrm>
            <a:off x="1005840" y="5440680"/>
            <a:ext cx="502920" cy="502920"/>
          </a:xfrm>
          <a:prstGeom prst="rect">
            <a:avLst/>
          </a:prstGeom>
        </p:spPr>
      </p:pic>
      <p:sp>
        <p:nvSpPr>
          <p:cNvPr id="13" name="Text 10"/>
          <p:cNvSpPr/>
          <p:nvPr/>
        </p:nvSpPr>
        <p:spPr>
          <a:xfrm>
            <a:off x="1691640" y="5257800"/>
            <a:ext cx="9601200" cy="91440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This is the single most common AI-generated React mistake. State + useEffect to track props is almost always wrong.</a:t>
            </a:r>
            <a:endParaRPr lang="en-US" sz="1300" dirty="0"/>
          </a:p>
        </p:txBody>
      </p:sp>
      <p:sp>
        <p:nvSpPr>
          <p:cNvPr id="14" name="Text 1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15" name="Text 1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9 / 34</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useReducer — when state has multiple actions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Better than useState when transitions are complex or related states change together.</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Use useReducer when:</a:t>
            </a:r>
            <a:endParaRPr lang="en-US" sz="1400" dirty="0"/>
          </a:p>
        </p:txBody>
      </p:sp>
      <p:sp>
        <p:nvSpPr>
          <p:cNvPr id="6" name="Text 4"/>
          <p:cNvSpPr/>
          <p:nvPr/>
        </p:nvSpPr>
        <p:spPr>
          <a:xfrm>
            <a:off x="777240" y="1920240"/>
            <a:ext cx="534924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Multiple state values change together</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State transitions are non-trivial (validation, side-effect dispatch)</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You want to test the transition logic in isolation</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You're modeling a state machine</a:t>
            </a:r>
            <a:endParaRPr lang="en-US" sz="1250" dirty="0"/>
          </a:p>
        </p:txBody>
      </p:sp>
      <p:sp>
        <p:nvSpPr>
          <p:cNvPr id="7" name="Shape 5"/>
          <p:cNvSpPr/>
          <p:nvPr/>
        </p:nvSpPr>
        <p:spPr>
          <a:xfrm>
            <a:off x="6355080" y="1554480"/>
            <a:ext cx="5029200" cy="4206240"/>
          </a:xfrm>
          <a:prstGeom prst="rect">
            <a:avLst/>
          </a:prstGeom>
          <a:solidFill>
            <a:srgbClr val="1E2A47"/>
          </a:solidFill>
          <a:ln w="12700">
            <a:solidFill>
              <a:srgbClr val="1E2A47"/>
            </a:solidFill>
            <a:prstDash val="solid"/>
          </a:ln>
        </p:spPr>
      </p:sp>
      <p:sp>
        <p:nvSpPr>
          <p:cNvPr id="8" name="Text 6"/>
          <p:cNvSpPr/>
          <p:nvPr/>
        </p:nvSpPr>
        <p:spPr>
          <a:xfrm>
            <a:off x="6537960" y="1691640"/>
            <a:ext cx="4663440" cy="3931920"/>
          </a:xfrm>
          <a:prstGeom prst="rect">
            <a:avLst/>
          </a:prstGeom>
          <a:noFill/>
          <a:ln/>
        </p:spPr>
        <p:txBody>
          <a:bodyPr wrap="square" lIns="0" tIns="0" rIns="0" bIns="0" rtlCol="0" anchor="t"/>
          <a:lstStyle/>
          <a:p>
            <a:pPr indent="0" marL="0">
              <a:buNone/>
            </a:pPr>
            <a:r>
              <a:rPr lang="en-US" sz="1300" dirty="0">
                <a:solidFill>
                  <a:srgbClr val="C586C0"/>
                </a:solidFill>
                <a:latin typeface="Courier New" pitchFamily="34" charset="0"/>
                <a:ea typeface="Courier New" pitchFamily="34" charset="-122"/>
                <a:cs typeface="Courier New" pitchFamily="34" charset="-120"/>
              </a:rPr>
              <a:t>function </a:t>
            </a:r>
            <a:pPr indent="0" marL="0">
              <a:buNone/>
            </a:pPr>
            <a:r>
              <a:rPr lang="en-US" sz="1300" dirty="0">
                <a:solidFill>
                  <a:srgbClr val="DCDCAA"/>
                </a:solidFill>
                <a:latin typeface="Courier New" pitchFamily="34" charset="0"/>
                <a:ea typeface="Courier New" pitchFamily="34" charset="-122"/>
                <a:cs typeface="Courier New" pitchFamily="34" charset="-120"/>
              </a:rPr>
              <a:t>reducer</a:t>
            </a:r>
            <a:pPr indent="0" marL="0">
              <a:buNone/>
            </a:pPr>
            <a:r>
              <a:rPr lang="en-US" sz="1300" dirty="0">
                <a:solidFill>
                  <a:srgbClr val="FFFFFF"/>
                </a:solidFill>
                <a:latin typeface="Courier New" pitchFamily="34" charset="0"/>
                <a:ea typeface="Courier New" pitchFamily="34" charset="-122"/>
                <a:cs typeface="Courier New" pitchFamily="34" charset="-120"/>
              </a:rPr>
              <a:t>(state, action)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switch (action.type) {</a:t>
            </a:r>
            <a:endParaRPr lang="en-US" sz="1300" dirty="0"/>
          </a:p>
          <a:p>
            <a:pPr indent="0" marL="0">
              <a:buNone/>
            </a:pPr>
            <a:r>
              <a:rPr lang="en-US" sz="1300" dirty="0">
                <a:solidFill>
                  <a:srgbClr val="C586C0"/>
                </a:solidFill>
                <a:latin typeface="Courier New" pitchFamily="34" charset="0"/>
                <a:ea typeface="Courier New" pitchFamily="34" charset="-122"/>
                <a:cs typeface="Courier New" pitchFamily="34" charset="-120"/>
              </a:rPr>
              <a:t>    case </a:t>
            </a:r>
            <a:pPr indent="0" marL="0">
              <a:buNone/>
            </a:pPr>
            <a:r>
              <a:rPr lang="en-US" sz="1300" dirty="0">
                <a:solidFill>
                  <a:srgbClr val="9CDCFE"/>
                </a:solidFill>
                <a:latin typeface="Courier New" pitchFamily="34" charset="0"/>
                <a:ea typeface="Courier New" pitchFamily="34" charset="-122"/>
                <a:cs typeface="Courier New" pitchFamily="34" charset="-120"/>
              </a:rPr>
              <a:t>'add'</a:t>
            </a:r>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return { ...state,</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items: [...state.items, action.item]</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C586C0"/>
                </a:solidFill>
                <a:latin typeface="Courier New" pitchFamily="34" charset="0"/>
                <a:ea typeface="Courier New" pitchFamily="34" charset="-122"/>
                <a:cs typeface="Courier New" pitchFamily="34" charset="-120"/>
              </a:rPr>
              <a:t>    case </a:t>
            </a:r>
            <a:pPr indent="0" marL="0">
              <a:buNone/>
            </a:pPr>
            <a:r>
              <a:rPr lang="en-US" sz="1300" dirty="0">
                <a:solidFill>
                  <a:srgbClr val="9CDCFE"/>
                </a:solidFill>
                <a:latin typeface="Courier New" pitchFamily="34" charset="0"/>
                <a:ea typeface="Courier New" pitchFamily="34" charset="-122"/>
                <a:cs typeface="Courier New" pitchFamily="34" charset="-120"/>
              </a:rPr>
              <a:t>'reset'</a:t>
            </a:r>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return initialState;</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buNone/>
            </a:pP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const [state, dispatch] = </a:t>
            </a:r>
            <a:pPr indent="0" marL="0">
              <a:buNone/>
            </a:pPr>
            <a:r>
              <a:rPr lang="en-US" sz="1300" dirty="0">
                <a:solidFill>
                  <a:srgbClr val="DCDCAA"/>
                </a:solidFill>
                <a:latin typeface="Courier New" pitchFamily="34" charset="0"/>
                <a:ea typeface="Courier New" pitchFamily="34" charset="-122"/>
                <a:cs typeface="Courier New" pitchFamily="34" charset="-120"/>
              </a:rPr>
              <a:t>useReducer</a:t>
            </a:r>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reducer, initialState</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9" name="Shape 7"/>
          <p:cNvSpPr/>
          <p:nvPr/>
        </p:nvSpPr>
        <p:spPr>
          <a:xfrm>
            <a:off x="777240" y="5212080"/>
            <a:ext cx="5349240" cy="1005840"/>
          </a:xfrm>
          <a:prstGeom prst="rect">
            <a:avLst/>
          </a:prstGeom>
          <a:solidFill>
            <a:srgbClr val="CBF1F6"/>
          </a:solidFill>
          <a:ln w="12700">
            <a:solidFill>
              <a:srgbClr val="CBF1F6"/>
            </a:solidFill>
            <a:prstDash val="solid"/>
          </a:ln>
        </p:spPr>
      </p:sp>
      <p:sp>
        <p:nvSpPr>
          <p:cNvPr id="10" name="Text 8"/>
          <p:cNvSpPr/>
          <p:nvPr/>
        </p:nvSpPr>
        <p:spPr>
          <a:xfrm>
            <a:off x="960120" y="5257800"/>
            <a:ext cx="5166360" cy="914400"/>
          </a:xfrm>
          <a:prstGeom prst="rect">
            <a:avLst/>
          </a:prstGeom>
          <a:noFill/>
          <a:ln/>
        </p:spPr>
        <p:txBody>
          <a:bodyPr wrap="square" lIns="0" tIns="0" rIns="0" bIns="0" rtlCol="0" anchor="ctr"/>
          <a:lstStyle/>
          <a:p>
            <a:pPr indent="0" marL="0">
              <a:buNone/>
            </a:pPr>
            <a:r>
              <a:rPr lang="en-US" sz="1200" i="1" dirty="0">
                <a:solidFill>
                  <a:srgbClr val="0F172A"/>
                </a:solidFill>
                <a:latin typeface="Arial" pitchFamily="34" charset="0"/>
                <a:ea typeface="Arial" pitchFamily="34" charset="-122"/>
                <a:cs typeface="Arial" pitchFamily="34" charset="-120"/>
              </a:rPr>
              <a:t>TS tip: action.type as a discriminated union gives you exhaustive checks.</a:t>
            </a:r>
            <a:endParaRPr lang="en-US" sz="1200" dirty="0"/>
          </a:p>
        </p:txBody>
      </p:sp>
      <p:sp>
        <p:nvSpPr>
          <p:cNvPr id="11"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12"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10 / 34</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useEffect — what it's actually for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Synchronizing your component with something outside React.</a:t>
            </a:r>
            <a:endParaRPr lang="en-US" sz="1400" dirty="0"/>
          </a:p>
        </p:txBody>
      </p:sp>
      <p:sp>
        <p:nvSpPr>
          <p:cNvPr id="5" name="Text 3"/>
          <p:cNvSpPr/>
          <p:nvPr/>
        </p:nvSpPr>
        <p:spPr>
          <a:xfrm>
            <a:off x="777240" y="1508760"/>
            <a:ext cx="5349240" cy="365760"/>
          </a:xfrm>
          <a:prstGeom prst="rect">
            <a:avLst/>
          </a:prstGeom>
          <a:noFill/>
          <a:ln/>
        </p:spPr>
        <p:txBody>
          <a:bodyPr wrap="square" lIns="0" tIns="0" rIns="0" bIns="0" rtlCol="0" anchor="ctr"/>
          <a:lstStyle/>
          <a:p>
            <a:pPr indent="0" marL="0">
              <a:buNone/>
            </a:pPr>
            <a:r>
              <a:rPr lang="en-US" sz="1400" b="1" dirty="0">
                <a:solidFill>
                  <a:srgbClr val="059669"/>
                </a:solidFill>
                <a:latin typeface="Trebuchet MS" pitchFamily="34" charset="0"/>
                <a:ea typeface="Trebuchet MS" pitchFamily="34" charset="-122"/>
                <a:cs typeface="Trebuchet MS" pitchFamily="34" charset="-120"/>
              </a:rPr>
              <a:t>Yes — synchronize external systems</a:t>
            </a:r>
            <a:endParaRPr lang="en-US" sz="1400" dirty="0"/>
          </a:p>
        </p:txBody>
      </p:sp>
      <p:sp>
        <p:nvSpPr>
          <p:cNvPr id="6" name="Shape 4"/>
          <p:cNvSpPr/>
          <p:nvPr/>
        </p:nvSpPr>
        <p:spPr>
          <a:xfrm>
            <a:off x="777240" y="1965960"/>
            <a:ext cx="5349240" cy="640080"/>
          </a:xfrm>
          <a:prstGeom prst="rect">
            <a:avLst/>
          </a:prstGeom>
          <a:solidFill>
            <a:srgbClr val="FFFFFF"/>
          </a:solidFill>
          <a:ln w="12700">
            <a:solidFill>
              <a:srgbClr val="E2E8F0"/>
            </a:solidFill>
            <a:prstDash val="solid"/>
          </a:ln>
        </p:spPr>
      </p:sp>
      <p:pic>
        <p:nvPicPr>
          <p:cNvPr id="7" name="Image 0" descr="preencoded.png">    </p:cNvPr>
          <p:cNvPicPr>
            <a:picLocks noChangeAspect="1"/>
          </p:cNvPicPr>
          <p:nvPr/>
        </p:nvPicPr>
        <p:blipFill>
          <a:blip r:embed="rId1"/>
          <a:stretch>
            <a:fillRect/>
          </a:stretch>
        </p:blipFill>
        <p:spPr>
          <a:xfrm>
            <a:off x="960120" y="2103120"/>
            <a:ext cx="365760" cy="365760"/>
          </a:xfrm>
          <a:prstGeom prst="rect">
            <a:avLst/>
          </a:prstGeom>
        </p:spPr>
      </p:pic>
      <p:sp>
        <p:nvSpPr>
          <p:cNvPr id="8" name="Text 5"/>
          <p:cNvSpPr/>
          <p:nvPr/>
        </p:nvSpPr>
        <p:spPr>
          <a:xfrm>
            <a:off x="1463040" y="2011680"/>
            <a:ext cx="4617720" cy="54864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Subscribing to an external store (event bus, websocket, browser API)</a:t>
            </a:r>
            <a:endParaRPr lang="en-US" sz="1150" dirty="0"/>
          </a:p>
        </p:txBody>
      </p:sp>
      <p:sp>
        <p:nvSpPr>
          <p:cNvPr id="9" name="Shape 6"/>
          <p:cNvSpPr/>
          <p:nvPr/>
        </p:nvSpPr>
        <p:spPr>
          <a:xfrm>
            <a:off x="777240" y="2743200"/>
            <a:ext cx="5349240" cy="6400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880360"/>
            <a:ext cx="365760" cy="365760"/>
          </a:xfrm>
          <a:prstGeom prst="rect">
            <a:avLst/>
          </a:prstGeom>
        </p:spPr>
      </p:pic>
      <p:sp>
        <p:nvSpPr>
          <p:cNvPr id="11" name="Text 7"/>
          <p:cNvSpPr/>
          <p:nvPr/>
        </p:nvSpPr>
        <p:spPr>
          <a:xfrm>
            <a:off x="1463040" y="2788920"/>
            <a:ext cx="4617720" cy="54864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Setting up timers or animation frames</a:t>
            </a:r>
            <a:endParaRPr lang="en-US" sz="1150" dirty="0"/>
          </a:p>
        </p:txBody>
      </p:sp>
      <p:sp>
        <p:nvSpPr>
          <p:cNvPr id="12" name="Shape 8"/>
          <p:cNvSpPr/>
          <p:nvPr/>
        </p:nvSpPr>
        <p:spPr>
          <a:xfrm>
            <a:off x="777240" y="3520440"/>
            <a:ext cx="5349240" cy="640080"/>
          </a:xfrm>
          <a:prstGeom prst="rect">
            <a:avLst/>
          </a:prstGeom>
          <a:solidFill>
            <a:srgbClr val="FFFFFF"/>
          </a:solidFill>
          <a:ln w="12700">
            <a:solidFill>
              <a:srgbClr val="E2E8F0"/>
            </a:solidFill>
            <a:prstDash val="solid"/>
          </a:ln>
        </p:spPr>
      </p:sp>
      <p:pic>
        <p:nvPicPr>
          <p:cNvPr id="13" name="Image 2" descr="preencoded.png">    </p:cNvPr>
          <p:cNvPicPr>
            <a:picLocks noChangeAspect="1"/>
          </p:cNvPicPr>
          <p:nvPr/>
        </p:nvPicPr>
        <p:blipFill>
          <a:blip r:embed="rId3"/>
          <a:stretch>
            <a:fillRect/>
          </a:stretch>
        </p:blipFill>
        <p:spPr>
          <a:xfrm>
            <a:off x="960120" y="3657600"/>
            <a:ext cx="365760" cy="365760"/>
          </a:xfrm>
          <a:prstGeom prst="rect">
            <a:avLst/>
          </a:prstGeom>
        </p:spPr>
      </p:pic>
      <p:sp>
        <p:nvSpPr>
          <p:cNvPr id="14" name="Text 9"/>
          <p:cNvSpPr/>
          <p:nvPr/>
        </p:nvSpPr>
        <p:spPr>
          <a:xfrm>
            <a:off x="1463040" y="3566160"/>
            <a:ext cx="4617720" cy="54864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Imperatively mutating a third-party widget (a chart, a map, a video player)</a:t>
            </a:r>
            <a:endParaRPr lang="en-US" sz="1150" dirty="0"/>
          </a:p>
        </p:txBody>
      </p:sp>
      <p:sp>
        <p:nvSpPr>
          <p:cNvPr id="15" name="Shape 10"/>
          <p:cNvSpPr/>
          <p:nvPr/>
        </p:nvSpPr>
        <p:spPr>
          <a:xfrm>
            <a:off x="777240" y="4297680"/>
            <a:ext cx="5349240" cy="640080"/>
          </a:xfrm>
          <a:prstGeom prst="rect">
            <a:avLst/>
          </a:prstGeom>
          <a:solidFill>
            <a:srgbClr val="FFFFFF"/>
          </a:solidFill>
          <a:ln w="12700">
            <a:solidFill>
              <a:srgbClr val="E2E8F0"/>
            </a:solidFill>
            <a:prstDash val="solid"/>
          </a:ln>
        </p:spPr>
      </p:sp>
      <p:pic>
        <p:nvPicPr>
          <p:cNvPr id="16" name="Image 3" descr="preencoded.png">    </p:cNvPr>
          <p:cNvPicPr>
            <a:picLocks noChangeAspect="1"/>
          </p:cNvPicPr>
          <p:nvPr/>
        </p:nvPicPr>
        <p:blipFill>
          <a:blip r:embed="rId4"/>
          <a:stretch>
            <a:fillRect/>
          </a:stretch>
        </p:blipFill>
        <p:spPr>
          <a:xfrm>
            <a:off x="960120" y="4434840"/>
            <a:ext cx="365760" cy="365760"/>
          </a:xfrm>
          <a:prstGeom prst="rect">
            <a:avLst/>
          </a:prstGeom>
        </p:spPr>
      </p:pic>
      <p:sp>
        <p:nvSpPr>
          <p:cNvPr id="17" name="Text 11"/>
          <p:cNvSpPr/>
          <p:nvPr/>
        </p:nvSpPr>
        <p:spPr>
          <a:xfrm>
            <a:off x="1463040" y="4343400"/>
            <a:ext cx="4617720" cy="54864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Logging to analytics on mount or unmount</a:t>
            </a:r>
            <a:endParaRPr lang="en-US" sz="1150" dirty="0"/>
          </a:p>
        </p:txBody>
      </p:sp>
      <p:sp>
        <p:nvSpPr>
          <p:cNvPr id="18" name="Text 12"/>
          <p:cNvSpPr/>
          <p:nvPr/>
        </p:nvSpPr>
        <p:spPr>
          <a:xfrm>
            <a:off x="6355080" y="1508760"/>
            <a:ext cx="5029200" cy="365760"/>
          </a:xfrm>
          <a:prstGeom prst="rect">
            <a:avLst/>
          </a:prstGeom>
          <a:noFill/>
          <a:ln/>
        </p:spPr>
        <p:txBody>
          <a:bodyPr wrap="square" lIns="0" tIns="0" rIns="0" bIns="0" rtlCol="0" anchor="ctr"/>
          <a:lstStyle/>
          <a:p>
            <a:pPr indent="0" marL="0">
              <a:buNone/>
            </a:pPr>
            <a:r>
              <a:rPr lang="en-US" sz="1400" b="1" dirty="0">
                <a:solidFill>
                  <a:srgbClr val="DC2626"/>
                </a:solidFill>
                <a:latin typeface="Trebuchet MS" pitchFamily="34" charset="0"/>
                <a:ea typeface="Trebuchet MS" pitchFamily="34" charset="-122"/>
                <a:cs typeface="Trebuchet MS" pitchFamily="34" charset="-120"/>
              </a:rPr>
              <a:t>No — these are not effects</a:t>
            </a:r>
            <a:endParaRPr lang="en-US" sz="1400" dirty="0"/>
          </a:p>
        </p:txBody>
      </p:sp>
      <p:sp>
        <p:nvSpPr>
          <p:cNvPr id="19" name="Shape 13"/>
          <p:cNvSpPr/>
          <p:nvPr/>
        </p:nvSpPr>
        <p:spPr>
          <a:xfrm>
            <a:off x="6355080" y="1965960"/>
            <a:ext cx="5029200" cy="640080"/>
          </a:xfrm>
          <a:prstGeom prst="rect">
            <a:avLst/>
          </a:prstGeom>
          <a:solidFill>
            <a:srgbClr val="FFFFFF"/>
          </a:solidFill>
          <a:ln w="12700">
            <a:solidFill>
              <a:srgbClr val="E2E8F0"/>
            </a:solidFill>
            <a:prstDash val="solid"/>
          </a:ln>
        </p:spPr>
      </p:sp>
      <p:pic>
        <p:nvPicPr>
          <p:cNvPr id="20" name="Image 4" descr="preencoded.png">    </p:cNvPr>
          <p:cNvPicPr>
            <a:picLocks noChangeAspect="1"/>
          </p:cNvPicPr>
          <p:nvPr/>
        </p:nvPicPr>
        <p:blipFill>
          <a:blip r:embed="rId5"/>
          <a:stretch>
            <a:fillRect/>
          </a:stretch>
        </p:blipFill>
        <p:spPr>
          <a:xfrm>
            <a:off x="6537960" y="2103120"/>
            <a:ext cx="365760" cy="365760"/>
          </a:xfrm>
          <a:prstGeom prst="rect">
            <a:avLst/>
          </a:prstGeom>
        </p:spPr>
      </p:pic>
      <p:sp>
        <p:nvSpPr>
          <p:cNvPr id="21" name="Text 14"/>
          <p:cNvSpPr/>
          <p:nvPr/>
        </p:nvSpPr>
        <p:spPr>
          <a:xfrm>
            <a:off x="7040880" y="2011680"/>
            <a:ext cx="4251960" cy="54864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Computing values you can derive from props or state</a:t>
            </a:r>
            <a:endParaRPr lang="en-US" sz="1150" dirty="0"/>
          </a:p>
        </p:txBody>
      </p:sp>
      <p:sp>
        <p:nvSpPr>
          <p:cNvPr id="22" name="Shape 15"/>
          <p:cNvSpPr/>
          <p:nvPr/>
        </p:nvSpPr>
        <p:spPr>
          <a:xfrm>
            <a:off x="6355080" y="2743200"/>
            <a:ext cx="5029200" cy="640080"/>
          </a:xfrm>
          <a:prstGeom prst="rect">
            <a:avLst/>
          </a:prstGeom>
          <a:solidFill>
            <a:srgbClr val="FFFFFF"/>
          </a:solidFill>
          <a:ln w="12700">
            <a:solidFill>
              <a:srgbClr val="E2E8F0"/>
            </a:solidFill>
            <a:prstDash val="solid"/>
          </a:ln>
        </p:spPr>
      </p:sp>
      <p:pic>
        <p:nvPicPr>
          <p:cNvPr id="23" name="Image 5" descr="preencoded.png">    </p:cNvPr>
          <p:cNvPicPr>
            <a:picLocks noChangeAspect="1"/>
          </p:cNvPicPr>
          <p:nvPr/>
        </p:nvPicPr>
        <p:blipFill>
          <a:blip r:embed="rId6"/>
          <a:stretch>
            <a:fillRect/>
          </a:stretch>
        </p:blipFill>
        <p:spPr>
          <a:xfrm>
            <a:off x="6537960" y="2880360"/>
            <a:ext cx="365760" cy="365760"/>
          </a:xfrm>
          <a:prstGeom prst="rect">
            <a:avLst/>
          </a:prstGeom>
        </p:spPr>
      </p:pic>
      <p:sp>
        <p:nvSpPr>
          <p:cNvPr id="24" name="Text 16"/>
          <p:cNvSpPr/>
          <p:nvPr/>
        </p:nvSpPr>
        <p:spPr>
          <a:xfrm>
            <a:off x="7040880" y="2788920"/>
            <a:ext cx="4251960" cy="54864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Resetting state when props change (use a key prop instead)</a:t>
            </a:r>
            <a:endParaRPr lang="en-US" sz="1150" dirty="0"/>
          </a:p>
        </p:txBody>
      </p:sp>
      <p:sp>
        <p:nvSpPr>
          <p:cNvPr id="25" name="Shape 17"/>
          <p:cNvSpPr/>
          <p:nvPr/>
        </p:nvSpPr>
        <p:spPr>
          <a:xfrm>
            <a:off x="6355080" y="3520440"/>
            <a:ext cx="5029200" cy="640080"/>
          </a:xfrm>
          <a:prstGeom prst="rect">
            <a:avLst/>
          </a:prstGeom>
          <a:solidFill>
            <a:srgbClr val="FFFFFF"/>
          </a:solidFill>
          <a:ln w="12700">
            <a:solidFill>
              <a:srgbClr val="E2E8F0"/>
            </a:solidFill>
            <a:prstDash val="solid"/>
          </a:ln>
        </p:spPr>
      </p:sp>
      <p:pic>
        <p:nvPicPr>
          <p:cNvPr id="26" name="Image 6" descr="preencoded.png">    </p:cNvPr>
          <p:cNvPicPr>
            <a:picLocks noChangeAspect="1"/>
          </p:cNvPicPr>
          <p:nvPr/>
        </p:nvPicPr>
        <p:blipFill>
          <a:blip r:embed="rId7"/>
          <a:stretch>
            <a:fillRect/>
          </a:stretch>
        </p:blipFill>
        <p:spPr>
          <a:xfrm>
            <a:off x="6537960" y="3657600"/>
            <a:ext cx="365760" cy="365760"/>
          </a:xfrm>
          <a:prstGeom prst="rect">
            <a:avLst/>
          </a:prstGeom>
        </p:spPr>
      </p:pic>
      <p:sp>
        <p:nvSpPr>
          <p:cNvPr id="27" name="Text 18"/>
          <p:cNvSpPr/>
          <p:nvPr/>
        </p:nvSpPr>
        <p:spPr>
          <a:xfrm>
            <a:off x="7040880" y="3566160"/>
            <a:ext cx="4251960" cy="54864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Fetching data (use Suspense + use(), or TanStack Query)</a:t>
            </a:r>
            <a:endParaRPr lang="en-US" sz="1150" dirty="0"/>
          </a:p>
        </p:txBody>
      </p:sp>
      <p:sp>
        <p:nvSpPr>
          <p:cNvPr id="28" name="Shape 19"/>
          <p:cNvSpPr/>
          <p:nvPr/>
        </p:nvSpPr>
        <p:spPr>
          <a:xfrm>
            <a:off x="6355080" y="4297680"/>
            <a:ext cx="5029200" cy="640080"/>
          </a:xfrm>
          <a:prstGeom prst="rect">
            <a:avLst/>
          </a:prstGeom>
          <a:solidFill>
            <a:srgbClr val="FFFFFF"/>
          </a:solidFill>
          <a:ln w="12700">
            <a:solidFill>
              <a:srgbClr val="E2E8F0"/>
            </a:solidFill>
            <a:prstDash val="solid"/>
          </a:ln>
        </p:spPr>
      </p:sp>
      <p:pic>
        <p:nvPicPr>
          <p:cNvPr id="29" name="Image 7" descr="preencoded.png">    </p:cNvPr>
          <p:cNvPicPr>
            <a:picLocks noChangeAspect="1"/>
          </p:cNvPicPr>
          <p:nvPr/>
        </p:nvPicPr>
        <p:blipFill>
          <a:blip r:embed="rId8"/>
          <a:stretch>
            <a:fillRect/>
          </a:stretch>
        </p:blipFill>
        <p:spPr>
          <a:xfrm>
            <a:off x="6537960" y="4434840"/>
            <a:ext cx="365760" cy="365760"/>
          </a:xfrm>
          <a:prstGeom prst="rect">
            <a:avLst/>
          </a:prstGeom>
        </p:spPr>
      </p:pic>
      <p:sp>
        <p:nvSpPr>
          <p:cNvPr id="30" name="Text 20"/>
          <p:cNvSpPr/>
          <p:nvPr/>
        </p:nvSpPr>
        <p:spPr>
          <a:xfrm>
            <a:off x="7040880" y="4343400"/>
            <a:ext cx="4251960" cy="54864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Triggering events in response to user actions (use event handlers)</a:t>
            </a:r>
            <a:endParaRPr lang="en-US" sz="1150" dirty="0"/>
          </a:p>
        </p:txBody>
      </p:sp>
      <p:sp>
        <p:nvSpPr>
          <p:cNvPr id="31" name="Text 2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32" name="Text 2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11 / 34</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When not to useEffect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Four patterns that look like effects but aren't. Use these instead.</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502920" cy="502920"/>
          </a:xfrm>
          <a:prstGeom prst="rect">
            <a:avLst/>
          </a:prstGeom>
        </p:spPr>
      </p:pic>
      <p:sp>
        <p:nvSpPr>
          <p:cNvPr id="7" name="Text 4"/>
          <p:cNvSpPr/>
          <p:nvPr/>
        </p:nvSpPr>
        <p:spPr>
          <a:xfrm>
            <a:off x="1691640" y="1783080"/>
            <a:ext cx="4572000" cy="6858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useEffect to compute derived data</a:t>
            </a:r>
            <a:endParaRPr lang="en-US" sz="1400" dirty="0"/>
          </a:p>
        </p:txBody>
      </p:sp>
      <p:pic>
        <p:nvPicPr>
          <p:cNvPr id="8" name="Image 1" descr="preencoded.png">    </p:cNvPr>
          <p:cNvPicPr>
            <a:picLocks noChangeAspect="1"/>
          </p:cNvPicPr>
          <p:nvPr/>
        </p:nvPicPr>
        <p:blipFill>
          <a:blip r:embed="rId2"/>
          <a:stretch>
            <a:fillRect/>
          </a:stretch>
        </p:blipFill>
        <p:spPr>
          <a:xfrm>
            <a:off x="6309360" y="1984248"/>
            <a:ext cx="274320" cy="274320"/>
          </a:xfrm>
          <a:prstGeom prst="rect">
            <a:avLst/>
          </a:prstGeom>
        </p:spPr>
      </p:pic>
      <p:pic>
        <p:nvPicPr>
          <p:cNvPr id="9" name="Image 2" descr="preencoded.png">    </p:cNvPr>
          <p:cNvPicPr>
            <a:picLocks noChangeAspect="1"/>
          </p:cNvPicPr>
          <p:nvPr/>
        </p:nvPicPr>
        <p:blipFill>
          <a:blip r:embed="rId3"/>
          <a:stretch>
            <a:fillRect/>
          </a:stretch>
        </p:blipFill>
        <p:spPr>
          <a:xfrm>
            <a:off x="6766560" y="1874520"/>
            <a:ext cx="502920" cy="502920"/>
          </a:xfrm>
          <a:prstGeom prst="rect">
            <a:avLst/>
          </a:prstGeom>
        </p:spPr>
      </p:pic>
      <p:sp>
        <p:nvSpPr>
          <p:cNvPr id="10" name="Text 5"/>
          <p:cNvSpPr/>
          <p:nvPr/>
        </p:nvSpPr>
        <p:spPr>
          <a:xfrm>
            <a:off x="7452360" y="1783080"/>
            <a:ext cx="3840480" cy="68580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Compute it inline in render</a:t>
            </a:r>
            <a:endParaRPr lang="en-US" sz="1300" dirty="0"/>
          </a:p>
        </p:txBody>
      </p:sp>
      <p:sp>
        <p:nvSpPr>
          <p:cNvPr id="11" name="Shape 6"/>
          <p:cNvSpPr/>
          <p:nvPr/>
        </p:nvSpPr>
        <p:spPr>
          <a:xfrm>
            <a:off x="777240" y="2743200"/>
            <a:ext cx="10607040" cy="868680"/>
          </a:xfrm>
          <a:prstGeom prst="rect">
            <a:avLst/>
          </a:prstGeom>
          <a:solidFill>
            <a:srgbClr val="FFFFFF"/>
          </a:solidFill>
          <a:ln w="12700">
            <a:solidFill>
              <a:srgbClr val="E2E8F0"/>
            </a:solidFill>
            <a:prstDash val="solid"/>
          </a:ln>
        </p:spPr>
      </p:sp>
      <p:pic>
        <p:nvPicPr>
          <p:cNvPr id="12" name="Image 3" descr="preencoded.png">    </p:cNvPr>
          <p:cNvPicPr>
            <a:picLocks noChangeAspect="1"/>
          </p:cNvPicPr>
          <p:nvPr/>
        </p:nvPicPr>
        <p:blipFill>
          <a:blip r:embed="rId4"/>
          <a:stretch>
            <a:fillRect/>
          </a:stretch>
        </p:blipFill>
        <p:spPr>
          <a:xfrm>
            <a:off x="960120" y="2926080"/>
            <a:ext cx="502920" cy="502920"/>
          </a:xfrm>
          <a:prstGeom prst="rect">
            <a:avLst/>
          </a:prstGeom>
        </p:spPr>
      </p:pic>
      <p:sp>
        <p:nvSpPr>
          <p:cNvPr id="13" name="Text 7"/>
          <p:cNvSpPr/>
          <p:nvPr/>
        </p:nvSpPr>
        <p:spPr>
          <a:xfrm>
            <a:off x="1691640" y="2834640"/>
            <a:ext cx="4572000" cy="6858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useEffect to reset state on prop change</a:t>
            </a:r>
            <a:endParaRPr lang="en-US" sz="1400" dirty="0"/>
          </a:p>
        </p:txBody>
      </p:sp>
      <p:pic>
        <p:nvPicPr>
          <p:cNvPr id="14" name="Image 4" descr="preencoded.png">    </p:cNvPr>
          <p:cNvPicPr>
            <a:picLocks noChangeAspect="1"/>
          </p:cNvPicPr>
          <p:nvPr/>
        </p:nvPicPr>
        <p:blipFill>
          <a:blip r:embed="rId5"/>
          <a:stretch>
            <a:fillRect/>
          </a:stretch>
        </p:blipFill>
        <p:spPr>
          <a:xfrm>
            <a:off x="6309360" y="3035808"/>
            <a:ext cx="274320" cy="274320"/>
          </a:xfrm>
          <a:prstGeom prst="rect">
            <a:avLst/>
          </a:prstGeom>
        </p:spPr>
      </p:pic>
      <p:pic>
        <p:nvPicPr>
          <p:cNvPr id="15" name="Image 5" descr="preencoded.png">    </p:cNvPr>
          <p:cNvPicPr>
            <a:picLocks noChangeAspect="1"/>
          </p:cNvPicPr>
          <p:nvPr/>
        </p:nvPicPr>
        <p:blipFill>
          <a:blip r:embed="rId6"/>
          <a:stretch>
            <a:fillRect/>
          </a:stretch>
        </p:blipFill>
        <p:spPr>
          <a:xfrm>
            <a:off x="6766560" y="2926080"/>
            <a:ext cx="502920" cy="502920"/>
          </a:xfrm>
          <a:prstGeom prst="rect">
            <a:avLst/>
          </a:prstGeom>
        </p:spPr>
      </p:pic>
      <p:sp>
        <p:nvSpPr>
          <p:cNvPr id="16" name="Text 8"/>
          <p:cNvSpPr/>
          <p:nvPr/>
        </p:nvSpPr>
        <p:spPr>
          <a:xfrm>
            <a:off x="7452360" y="2834640"/>
            <a:ext cx="3840480" cy="68580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Pass a key prop</a:t>
            </a:r>
            <a:endParaRPr lang="en-US" sz="1300" dirty="0"/>
          </a:p>
        </p:txBody>
      </p:sp>
      <p:sp>
        <p:nvSpPr>
          <p:cNvPr id="17" name="Shape 9"/>
          <p:cNvSpPr/>
          <p:nvPr/>
        </p:nvSpPr>
        <p:spPr>
          <a:xfrm>
            <a:off x="777240" y="3794760"/>
            <a:ext cx="10607040" cy="868680"/>
          </a:xfrm>
          <a:prstGeom prst="rect">
            <a:avLst/>
          </a:prstGeom>
          <a:solidFill>
            <a:srgbClr val="FFFFFF"/>
          </a:solidFill>
          <a:ln w="12700">
            <a:solidFill>
              <a:srgbClr val="E2E8F0"/>
            </a:solidFill>
            <a:prstDash val="solid"/>
          </a:ln>
        </p:spPr>
      </p:sp>
      <p:pic>
        <p:nvPicPr>
          <p:cNvPr id="18" name="Image 6" descr="preencoded.png">    </p:cNvPr>
          <p:cNvPicPr>
            <a:picLocks noChangeAspect="1"/>
          </p:cNvPicPr>
          <p:nvPr/>
        </p:nvPicPr>
        <p:blipFill>
          <a:blip r:embed="rId7"/>
          <a:stretch>
            <a:fillRect/>
          </a:stretch>
        </p:blipFill>
        <p:spPr>
          <a:xfrm>
            <a:off x="960120" y="3977640"/>
            <a:ext cx="502920" cy="502920"/>
          </a:xfrm>
          <a:prstGeom prst="rect">
            <a:avLst/>
          </a:prstGeom>
        </p:spPr>
      </p:pic>
      <p:sp>
        <p:nvSpPr>
          <p:cNvPr id="19" name="Text 10"/>
          <p:cNvSpPr/>
          <p:nvPr/>
        </p:nvSpPr>
        <p:spPr>
          <a:xfrm>
            <a:off x="1691640" y="3886200"/>
            <a:ext cx="4572000" cy="6858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useEffect to fetch data</a:t>
            </a:r>
            <a:endParaRPr lang="en-US" sz="1400" dirty="0"/>
          </a:p>
        </p:txBody>
      </p:sp>
      <p:pic>
        <p:nvPicPr>
          <p:cNvPr id="20" name="Image 7" descr="preencoded.png">    </p:cNvPr>
          <p:cNvPicPr>
            <a:picLocks noChangeAspect="1"/>
          </p:cNvPicPr>
          <p:nvPr/>
        </p:nvPicPr>
        <p:blipFill>
          <a:blip r:embed="rId8"/>
          <a:stretch>
            <a:fillRect/>
          </a:stretch>
        </p:blipFill>
        <p:spPr>
          <a:xfrm>
            <a:off x="6309360" y="4087368"/>
            <a:ext cx="274320" cy="274320"/>
          </a:xfrm>
          <a:prstGeom prst="rect">
            <a:avLst/>
          </a:prstGeom>
        </p:spPr>
      </p:pic>
      <p:pic>
        <p:nvPicPr>
          <p:cNvPr id="21" name="Image 8" descr="preencoded.png">    </p:cNvPr>
          <p:cNvPicPr>
            <a:picLocks noChangeAspect="1"/>
          </p:cNvPicPr>
          <p:nvPr/>
        </p:nvPicPr>
        <p:blipFill>
          <a:blip r:embed="rId9"/>
          <a:stretch>
            <a:fillRect/>
          </a:stretch>
        </p:blipFill>
        <p:spPr>
          <a:xfrm>
            <a:off x="6766560" y="3977640"/>
            <a:ext cx="502920" cy="502920"/>
          </a:xfrm>
          <a:prstGeom prst="rect">
            <a:avLst/>
          </a:prstGeom>
        </p:spPr>
      </p:pic>
      <p:sp>
        <p:nvSpPr>
          <p:cNvPr id="22" name="Text 11"/>
          <p:cNvSpPr/>
          <p:nvPr/>
        </p:nvSpPr>
        <p:spPr>
          <a:xfrm>
            <a:off x="7452360" y="3886200"/>
            <a:ext cx="3840480" cy="68580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Suspense + use() or TanStack Query</a:t>
            </a:r>
            <a:endParaRPr lang="en-US" sz="1300" dirty="0"/>
          </a:p>
        </p:txBody>
      </p:sp>
      <p:sp>
        <p:nvSpPr>
          <p:cNvPr id="23" name="Shape 12"/>
          <p:cNvSpPr/>
          <p:nvPr/>
        </p:nvSpPr>
        <p:spPr>
          <a:xfrm>
            <a:off x="777240" y="4846320"/>
            <a:ext cx="10607040" cy="868680"/>
          </a:xfrm>
          <a:prstGeom prst="rect">
            <a:avLst/>
          </a:prstGeom>
          <a:solidFill>
            <a:srgbClr val="FFFFFF"/>
          </a:solidFill>
          <a:ln w="12700">
            <a:solidFill>
              <a:srgbClr val="E2E8F0"/>
            </a:solidFill>
            <a:prstDash val="solid"/>
          </a:ln>
        </p:spPr>
      </p:sp>
      <p:pic>
        <p:nvPicPr>
          <p:cNvPr id="24" name="Image 9" descr="preencoded.png">    </p:cNvPr>
          <p:cNvPicPr>
            <a:picLocks noChangeAspect="1"/>
          </p:cNvPicPr>
          <p:nvPr/>
        </p:nvPicPr>
        <p:blipFill>
          <a:blip r:embed="rId10"/>
          <a:stretch>
            <a:fillRect/>
          </a:stretch>
        </p:blipFill>
        <p:spPr>
          <a:xfrm>
            <a:off x="960120" y="5029200"/>
            <a:ext cx="502920" cy="502920"/>
          </a:xfrm>
          <a:prstGeom prst="rect">
            <a:avLst/>
          </a:prstGeom>
        </p:spPr>
      </p:pic>
      <p:sp>
        <p:nvSpPr>
          <p:cNvPr id="25" name="Text 13"/>
          <p:cNvSpPr/>
          <p:nvPr/>
        </p:nvSpPr>
        <p:spPr>
          <a:xfrm>
            <a:off x="1691640" y="4937760"/>
            <a:ext cx="4572000" cy="6858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useEffect to dispatch on user action</a:t>
            </a:r>
            <a:endParaRPr lang="en-US" sz="1400" dirty="0"/>
          </a:p>
        </p:txBody>
      </p:sp>
      <p:pic>
        <p:nvPicPr>
          <p:cNvPr id="26" name="Image 10" descr="preencoded.png">    </p:cNvPr>
          <p:cNvPicPr>
            <a:picLocks noChangeAspect="1"/>
          </p:cNvPicPr>
          <p:nvPr/>
        </p:nvPicPr>
        <p:blipFill>
          <a:blip r:embed="rId11"/>
          <a:stretch>
            <a:fillRect/>
          </a:stretch>
        </p:blipFill>
        <p:spPr>
          <a:xfrm>
            <a:off x="6309360" y="5138928"/>
            <a:ext cx="274320" cy="274320"/>
          </a:xfrm>
          <a:prstGeom prst="rect">
            <a:avLst/>
          </a:prstGeom>
        </p:spPr>
      </p:pic>
      <p:pic>
        <p:nvPicPr>
          <p:cNvPr id="27" name="Image 11" descr="preencoded.png">    </p:cNvPr>
          <p:cNvPicPr>
            <a:picLocks noChangeAspect="1"/>
          </p:cNvPicPr>
          <p:nvPr/>
        </p:nvPicPr>
        <p:blipFill>
          <a:blip r:embed="rId12"/>
          <a:stretch>
            <a:fillRect/>
          </a:stretch>
        </p:blipFill>
        <p:spPr>
          <a:xfrm>
            <a:off x="6766560" y="5029200"/>
            <a:ext cx="502920" cy="502920"/>
          </a:xfrm>
          <a:prstGeom prst="rect">
            <a:avLst/>
          </a:prstGeom>
        </p:spPr>
      </p:pic>
      <p:sp>
        <p:nvSpPr>
          <p:cNvPr id="28" name="Text 14"/>
          <p:cNvSpPr/>
          <p:nvPr/>
        </p:nvSpPr>
        <p:spPr>
          <a:xfrm>
            <a:off x="7452360" y="4937760"/>
            <a:ext cx="3840480" cy="68580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Move the dispatch into the event handler</a:t>
            </a:r>
            <a:endParaRPr lang="en-US" sz="1300" dirty="0"/>
          </a:p>
        </p:txBody>
      </p:sp>
      <p:sp>
        <p:nvSpPr>
          <p:cNvPr id="29"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30"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12 / 34</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Stale closures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The bug eslint catches and AI tools cause.</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300" b="1" dirty="0">
                <a:solidFill>
                  <a:srgbClr val="DC2626"/>
                </a:solidFill>
                <a:latin typeface="Trebuchet MS" pitchFamily="34" charset="0"/>
                <a:ea typeface="Trebuchet MS" pitchFamily="34" charset="-122"/>
                <a:cs typeface="Trebuchet MS" pitchFamily="34" charset="-120"/>
              </a:rPr>
              <a:t>The bug</a:t>
            </a:r>
            <a:endParaRPr lang="en-US" sz="1300" dirty="0"/>
          </a:p>
        </p:txBody>
      </p:sp>
      <p:sp>
        <p:nvSpPr>
          <p:cNvPr id="6" name="Shape 4"/>
          <p:cNvSpPr/>
          <p:nvPr/>
        </p:nvSpPr>
        <p:spPr>
          <a:xfrm>
            <a:off x="777240" y="1920240"/>
            <a:ext cx="5349240" cy="3657600"/>
          </a:xfrm>
          <a:prstGeom prst="rect">
            <a:avLst/>
          </a:prstGeom>
          <a:solidFill>
            <a:srgbClr val="1E2A47"/>
          </a:solidFill>
          <a:ln w="12700">
            <a:solidFill>
              <a:srgbClr val="1E2A47"/>
            </a:solidFill>
            <a:prstDash val="solid"/>
          </a:ln>
        </p:spPr>
      </p:sp>
      <p:sp>
        <p:nvSpPr>
          <p:cNvPr id="7" name="Text 5"/>
          <p:cNvSpPr/>
          <p:nvPr/>
        </p:nvSpPr>
        <p:spPr>
          <a:xfrm>
            <a:off x="960120" y="2057400"/>
            <a:ext cx="4983480" cy="3383280"/>
          </a:xfrm>
          <a:prstGeom prst="rect">
            <a:avLst/>
          </a:prstGeom>
          <a:noFill/>
          <a:ln/>
        </p:spPr>
        <p:txBody>
          <a:bodyPr wrap="square" lIns="0" tIns="0" rIns="0" bIns="0" rtlCol="0" anchor="t"/>
          <a:lstStyle/>
          <a:p>
            <a:pPr indent="0" marL="0">
              <a:buNone/>
            </a:pPr>
            <a:r>
              <a:rPr lang="en-US" sz="1300" dirty="0">
                <a:solidFill>
                  <a:srgbClr val="C586C0"/>
                </a:solidFill>
                <a:latin typeface="Courier New" pitchFamily="34" charset="0"/>
                <a:ea typeface="Courier New" pitchFamily="34" charset="-122"/>
                <a:cs typeface="Courier New" pitchFamily="34" charset="-120"/>
              </a:rPr>
              <a:t>function </a:t>
            </a:r>
            <a:pPr indent="0" marL="0">
              <a:buNone/>
            </a:pPr>
            <a:r>
              <a:rPr lang="en-US" sz="1300" dirty="0">
                <a:solidFill>
                  <a:srgbClr val="DCDCAA"/>
                </a:solidFill>
                <a:latin typeface="Courier New" pitchFamily="34" charset="0"/>
                <a:ea typeface="Courier New" pitchFamily="34" charset="-122"/>
                <a:cs typeface="Courier New" pitchFamily="34" charset="-120"/>
              </a:rPr>
              <a:t>Counter</a:t>
            </a:r>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const [count, setCount] = </a:t>
            </a:r>
            <a:pPr indent="0" marL="0">
              <a:buNone/>
            </a:pPr>
            <a:r>
              <a:rPr lang="en-US" sz="1300" dirty="0">
                <a:solidFill>
                  <a:srgbClr val="DCDCAA"/>
                </a:solidFill>
                <a:latin typeface="Courier New" pitchFamily="34" charset="0"/>
                <a:ea typeface="Courier New" pitchFamily="34" charset="-122"/>
                <a:cs typeface="Courier New" pitchFamily="34" charset="-120"/>
              </a:rPr>
              <a:t>useState</a:t>
            </a:r>
            <a:pPr indent="0" marL="0">
              <a:buNone/>
            </a:pPr>
            <a:r>
              <a:rPr lang="en-US" sz="1300" dirty="0">
                <a:solidFill>
                  <a:srgbClr val="FFFFFF"/>
                </a:solidFill>
                <a:latin typeface="Courier New" pitchFamily="34" charset="0"/>
                <a:ea typeface="Courier New" pitchFamily="34" charset="-122"/>
                <a:cs typeface="Courier New" pitchFamily="34" charset="-120"/>
              </a:rPr>
              <a:t>(0);</a:t>
            </a:r>
            <a:endParaRPr lang="en-US" sz="1300" dirty="0"/>
          </a:p>
          <a:p>
            <a:pPr indent="0" marL="0">
              <a:buNone/>
            </a:pP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t>
            </a:r>
            <a:pPr indent="0" marL="0">
              <a:buNone/>
            </a:pPr>
            <a:r>
              <a:rPr lang="en-US" sz="1300" dirty="0">
                <a:solidFill>
                  <a:srgbClr val="DCDCAA"/>
                </a:solidFill>
                <a:latin typeface="Courier New" pitchFamily="34" charset="0"/>
                <a:ea typeface="Courier New" pitchFamily="34" charset="-122"/>
                <a:cs typeface="Courier New" pitchFamily="34" charset="-120"/>
              </a:rPr>
              <a:t>useEffect</a:t>
            </a:r>
            <a:pPr indent="0" marL="0">
              <a:buNone/>
            </a:pPr>
            <a:r>
              <a:rPr lang="en-US" sz="1300" dirty="0">
                <a:solidFill>
                  <a:srgbClr val="FFFFFF"/>
                </a:solidFill>
                <a:latin typeface="Courier New" pitchFamily="34" charset="0"/>
                <a:ea typeface="Courier New" pitchFamily="34" charset="-122"/>
                <a:cs typeface="Courier New" pitchFamily="34" charset="-120"/>
              </a:rPr>
              <a:t>(() =&gt;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const id = </a:t>
            </a:r>
            <a:pPr indent="0" marL="0">
              <a:buNone/>
            </a:pPr>
            <a:r>
              <a:rPr lang="en-US" sz="1300" dirty="0">
                <a:solidFill>
                  <a:srgbClr val="DCDCAA"/>
                </a:solidFill>
                <a:latin typeface="Courier New" pitchFamily="34" charset="0"/>
                <a:ea typeface="Courier New" pitchFamily="34" charset="-122"/>
                <a:cs typeface="Courier New" pitchFamily="34" charset="-120"/>
              </a:rPr>
              <a:t>setInterval</a:t>
            </a:r>
            <a:pPr indent="0" marL="0">
              <a:buNone/>
            </a:pPr>
            <a:r>
              <a:rPr lang="en-US" sz="1300" dirty="0">
                <a:solidFill>
                  <a:srgbClr val="FFFFFF"/>
                </a:solidFill>
                <a:latin typeface="Courier New" pitchFamily="34" charset="0"/>
                <a:ea typeface="Courier New" pitchFamily="34" charset="-122"/>
                <a:cs typeface="Courier New" pitchFamily="34" charset="-120"/>
              </a:rPr>
              <a:t>(() =&gt; {</a:t>
            </a:r>
            <a:endParaRPr lang="en-US" sz="1300" dirty="0"/>
          </a:p>
          <a:p>
            <a:pPr indent="0" marL="0">
              <a:buNone/>
            </a:pPr>
            <a:r>
              <a:rPr lang="en-US" sz="1300" i="1" dirty="0">
                <a:solidFill>
                  <a:srgbClr val="6A9955"/>
                </a:solidFill>
                <a:latin typeface="Courier New" pitchFamily="34" charset="0"/>
                <a:ea typeface="Courier New" pitchFamily="34" charset="-122"/>
                <a:cs typeface="Courier New" pitchFamily="34" charset="-120"/>
              </a:rPr>
              <a:t>      // count is always 0!</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t>
            </a:r>
            <a:pPr indent="0" marL="0">
              <a:buNone/>
            </a:pPr>
            <a:r>
              <a:rPr lang="en-US" sz="1300" dirty="0">
                <a:solidFill>
                  <a:srgbClr val="9CDCFE"/>
                </a:solidFill>
                <a:latin typeface="Courier New" pitchFamily="34" charset="0"/>
                <a:ea typeface="Courier New" pitchFamily="34" charset="-122"/>
                <a:cs typeface="Courier New" pitchFamily="34" charset="-120"/>
              </a:rPr>
              <a:t>console</a:t>
            </a:r>
            <a:pPr indent="0" marL="0">
              <a:buNone/>
            </a:pPr>
            <a:r>
              <a:rPr lang="en-US" sz="1300" dirty="0">
                <a:solidFill>
                  <a:srgbClr val="FFFFFF"/>
                </a:solidFill>
                <a:latin typeface="Courier New" pitchFamily="34" charset="0"/>
                <a:ea typeface="Courier New" pitchFamily="34" charset="-122"/>
                <a:cs typeface="Courier New" pitchFamily="34" charset="-120"/>
              </a:rPr>
              <a:t>.log(count);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 1000);</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return () =&gt; </a:t>
            </a:r>
            <a:pPr indent="0" marL="0">
              <a:buNone/>
            </a:pPr>
            <a:r>
              <a:rPr lang="en-US" sz="1300" dirty="0">
                <a:solidFill>
                  <a:srgbClr val="DCDCAA"/>
                </a:solidFill>
                <a:latin typeface="Courier New" pitchFamily="34" charset="0"/>
                <a:ea typeface="Courier New" pitchFamily="34" charset="-122"/>
                <a:cs typeface="Courier New" pitchFamily="34" charset="-120"/>
              </a:rPr>
              <a:t>clearInterval</a:t>
            </a:r>
            <a:pPr indent="0" marL="0">
              <a:buNone/>
            </a:pPr>
            <a:r>
              <a:rPr lang="en-US" sz="1300" dirty="0">
                <a:solidFill>
                  <a:srgbClr val="FFFFFF"/>
                </a:solidFill>
                <a:latin typeface="Courier New" pitchFamily="34" charset="0"/>
                <a:ea typeface="Courier New" pitchFamily="34" charset="-122"/>
                <a:cs typeface="Courier New" pitchFamily="34" charset="-120"/>
              </a:rPr>
              <a:t>(id);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 []); </a:t>
            </a:r>
            <a:pPr indent="0" marL="0">
              <a:buNone/>
            </a:pPr>
            <a:r>
              <a:rPr lang="en-US" sz="1300" i="1" dirty="0">
                <a:solidFill>
                  <a:srgbClr val="6A9955"/>
                </a:solidFill>
                <a:latin typeface="Courier New" pitchFamily="34" charset="0"/>
                <a:ea typeface="Courier New" pitchFamily="34" charset="-122"/>
                <a:cs typeface="Courier New" pitchFamily="34" charset="-120"/>
              </a:rPr>
              <a:t>// missing [count]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8" name="Text 6"/>
          <p:cNvSpPr/>
          <p:nvPr/>
        </p:nvSpPr>
        <p:spPr>
          <a:xfrm>
            <a:off x="6355080" y="1554480"/>
            <a:ext cx="5029200" cy="365760"/>
          </a:xfrm>
          <a:prstGeom prst="rect">
            <a:avLst/>
          </a:prstGeom>
          <a:noFill/>
          <a:ln/>
        </p:spPr>
        <p:txBody>
          <a:bodyPr wrap="square" lIns="0" tIns="0" rIns="0" bIns="0" rtlCol="0" anchor="ctr"/>
          <a:lstStyle/>
          <a:p>
            <a:pPr indent="0" marL="0">
              <a:buNone/>
            </a:pPr>
            <a:r>
              <a:rPr lang="en-US" sz="1300" b="1" dirty="0">
                <a:solidFill>
                  <a:srgbClr val="059669"/>
                </a:solidFill>
                <a:latin typeface="Trebuchet MS" pitchFamily="34" charset="0"/>
                <a:ea typeface="Trebuchet MS" pitchFamily="34" charset="-122"/>
                <a:cs typeface="Trebuchet MS" pitchFamily="34" charset="-120"/>
              </a:rPr>
              <a:t>The fix</a:t>
            </a:r>
            <a:endParaRPr lang="en-US" sz="1300" dirty="0"/>
          </a:p>
        </p:txBody>
      </p:sp>
      <p:sp>
        <p:nvSpPr>
          <p:cNvPr id="9" name="Shape 7"/>
          <p:cNvSpPr/>
          <p:nvPr/>
        </p:nvSpPr>
        <p:spPr>
          <a:xfrm>
            <a:off x="6355080" y="1920240"/>
            <a:ext cx="5029200" cy="3657600"/>
          </a:xfrm>
          <a:prstGeom prst="rect">
            <a:avLst/>
          </a:prstGeom>
          <a:solidFill>
            <a:srgbClr val="1E2A47"/>
          </a:solidFill>
          <a:ln w="12700">
            <a:solidFill>
              <a:srgbClr val="1E2A47"/>
            </a:solidFill>
            <a:prstDash val="solid"/>
          </a:ln>
        </p:spPr>
      </p:sp>
      <p:sp>
        <p:nvSpPr>
          <p:cNvPr id="10" name="Text 8"/>
          <p:cNvSpPr/>
          <p:nvPr/>
        </p:nvSpPr>
        <p:spPr>
          <a:xfrm>
            <a:off x="6537960" y="2057400"/>
            <a:ext cx="4663440" cy="3383280"/>
          </a:xfrm>
          <a:prstGeom prst="rect">
            <a:avLst/>
          </a:prstGeom>
          <a:noFill/>
          <a:ln/>
        </p:spPr>
        <p:txBody>
          <a:bodyPr wrap="square" lIns="0" tIns="0" rIns="0" bIns="0" rtlCol="0" anchor="t"/>
          <a:lstStyle/>
          <a:p>
            <a:pPr indent="0" marL="0">
              <a:buNone/>
            </a:pPr>
            <a:r>
              <a:rPr lang="en-US" sz="1300" dirty="0">
                <a:solidFill>
                  <a:srgbClr val="C586C0"/>
                </a:solidFill>
                <a:latin typeface="Courier New" pitchFamily="34" charset="0"/>
                <a:ea typeface="Courier New" pitchFamily="34" charset="-122"/>
                <a:cs typeface="Courier New" pitchFamily="34" charset="-120"/>
              </a:rPr>
              <a:t>function </a:t>
            </a:r>
            <a:pPr indent="0" marL="0">
              <a:buNone/>
            </a:pPr>
            <a:r>
              <a:rPr lang="en-US" sz="1300" dirty="0">
                <a:solidFill>
                  <a:srgbClr val="DCDCAA"/>
                </a:solidFill>
                <a:latin typeface="Courier New" pitchFamily="34" charset="0"/>
                <a:ea typeface="Courier New" pitchFamily="34" charset="-122"/>
                <a:cs typeface="Courier New" pitchFamily="34" charset="-120"/>
              </a:rPr>
              <a:t>Counter</a:t>
            </a:r>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const [count, setCount] = </a:t>
            </a:r>
            <a:pPr indent="0" marL="0">
              <a:buNone/>
            </a:pPr>
            <a:r>
              <a:rPr lang="en-US" sz="1300" dirty="0">
                <a:solidFill>
                  <a:srgbClr val="DCDCAA"/>
                </a:solidFill>
                <a:latin typeface="Courier New" pitchFamily="34" charset="0"/>
                <a:ea typeface="Courier New" pitchFamily="34" charset="-122"/>
                <a:cs typeface="Courier New" pitchFamily="34" charset="-120"/>
              </a:rPr>
              <a:t>useState</a:t>
            </a:r>
            <a:pPr indent="0" marL="0">
              <a:buNone/>
            </a:pPr>
            <a:r>
              <a:rPr lang="en-US" sz="1300" dirty="0">
                <a:solidFill>
                  <a:srgbClr val="FFFFFF"/>
                </a:solidFill>
                <a:latin typeface="Courier New" pitchFamily="34" charset="0"/>
                <a:ea typeface="Courier New" pitchFamily="34" charset="-122"/>
                <a:cs typeface="Courier New" pitchFamily="34" charset="-120"/>
              </a:rPr>
              <a:t>(0);</a:t>
            </a:r>
            <a:endParaRPr lang="en-US" sz="1300" dirty="0"/>
          </a:p>
          <a:p>
            <a:pPr indent="0" marL="0">
              <a:buNone/>
            </a:pP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t>
            </a:r>
            <a:pPr indent="0" marL="0">
              <a:buNone/>
            </a:pPr>
            <a:r>
              <a:rPr lang="en-US" sz="1300" dirty="0">
                <a:solidFill>
                  <a:srgbClr val="DCDCAA"/>
                </a:solidFill>
                <a:latin typeface="Courier New" pitchFamily="34" charset="0"/>
                <a:ea typeface="Courier New" pitchFamily="34" charset="-122"/>
                <a:cs typeface="Courier New" pitchFamily="34" charset="-120"/>
              </a:rPr>
              <a:t>useEffect</a:t>
            </a:r>
            <a:pPr indent="0" marL="0">
              <a:buNone/>
            </a:pPr>
            <a:r>
              <a:rPr lang="en-US" sz="1300" dirty="0">
                <a:solidFill>
                  <a:srgbClr val="FFFFFF"/>
                </a:solidFill>
                <a:latin typeface="Courier New" pitchFamily="34" charset="0"/>
                <a:ea typeface="Courier New" pitchFamily="34" charset="-122"/>
                <a:cs typeface="Courier New" pitchFamily="34" charset="-120"/>
              </a:rPr>
              <a:t>(() =&gt;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const id = </a:t>
            </a:r>
            <a:pPr indent="0" marL="0">
              <a:buNone/>
            </a:pPr>
            <a:r>
              <a:rPr lang="en-US" sz="1300" dirty="0">
                <a:solidFill>
                  <a:srgbClr val="DCDCAA"/>
                </a:solidFill>
                <a:latin typeface="Courier New" pitchFamily="34" charset="0"/>
                <a:ea typeface="Courier New" pitchFamily="34" charset="-122"/>
                <a:cs typeface="Courier New" pitchFamily="34" charset="-120"/>
              </a:rPr>
              <a:t>setInterval</a:t>
            </a:r>
            <a:pPr indent="0" marL="0">
              <a:buNone/>
            </a:pPr>
            <a:r>
              <a:rPr lang="en-US" sz="1300" dirty="0">
                <a:solidFill>
                  <a:srgbClr val="FFFFFF"/>
                </a:solidFill>
                <a:latin typeface="Courier New" pitchFamily="34" charset="0"/>
                <a:ea typeface="Courier New" pitchFamily="34" charset="-122"/>
                <a:cs typeface="Courier New" pitchFamily="34" charset="-120"/>
              </a:rPr>
              <a:t>(() =&gt; {</a:t>
            </a:r>
            <a:endParaRPr lang="en-US" sz="1300" dirty="0"/>
          </a:p>
          <a:p>
            <a:pPr indent="0" marL="0">
              <a:buNone/>
            </a:pPr>
            <a:r>
              <a:rPr lang="en-US" sz="1300" i="1" dirty="0">
                <a:solidFill>
                  <a:srgbClr val="6A9955"/>
                </a:solidFill>
                <a:latin typeface="Courier New" pitchFamily="34" charset="0"/>
                <a:ea typeface="Courier New" pitchFamily="34" charset="-122"/>
                <a:cs typeface="Courier New" pitchFamily="34" charset="-120"/>
              </a:rPr>
              <a:t>      // reads current count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setCount(</a:t>
            </a:r>
            <a:pPr indent="0" marL="0">
              <a:buNone/>
            </a:pPr>
            <a:r>
              <a:rPr lang="en-US" sz="1300" dirty="0">
                <a:solidFill>
                  <a:srgbClr val="9CDCFE"/>
                </a:solidFill>
                <a:latin typeface="Courier New" pitchFamily="34" charset="0"/>
                <a:ea typeface="Courier New" pitchFamily="34" charset="-122"/>
                <a:cs typeface="Courier New" pitchFamily="34" charset="-120"/>
              </a:rPr>
              <a:t>n</a:t>
            </a:r>
            <a:pPr indent="0" marL="0">
              <a:buNone/>
            </a:pPr>
            <a:r>
              <a:rPr lang="en-US" sz="1300" dirty="0">
                <a:solidFill>
                  <a:srgbClr val="FFFFFF"/>
                </a:solidFill>
                <a:latin typeface="Courier New" pitchFamily="34" charset="0"/>
                <a:ea typeface="Courier New" pitchFamily="34" charset="-122"/>
                <a:cs typeface="Courier New" pitchFamily="34" charset="-120"/>
              </a:rPr>
              <a:t> =&gt; n + 1);</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 1000);</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return () =&gt; </a:t>
            </a:r>
            <a:pPr indent="0" marL="0">
              <a:buNone/>
            </a:pPr>
            <a:r>
              <a:rPr lang="en-US" sz="1300" dirty="0">
                <a:solidFill>
                  <a:srgbClr val="DCDCAA"/>
                </a:solidFill>
                <a:latin typeface="Courier New" pitchFamily="34" charset="0"/>
                <a:ea typeface="Courier New" pitchFamily="34" charset="-122"/>
                <a:cs typeface="Courier New" pitchFamily="34" charset="-120"/>
              </a:rPr>
              <a:t>clearInterval</a:t>
            </a:r>
            <a:pPr indent="0" marL="0">
              <a:buNone/>
            </a:pPr>
            <a:r>
              <a:rPr lang="en-US" sz="1300" dirty="0">
                <a:solidFill>
                  <a:srgbClr val="FFFFFF"/>
                </a:solidFill>
                <a:latin typeface="Courier New" pitchFamily="34" charset="0"/>
                <a:ea typeface="Courier New" pitchFamily="34" charset="-122"/>
                <a:cs typeface="Courier New" pitchFamily="34" charset="-120"/>
              </a:rPr>
              <a:t>(id);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 []); </a:t>
            </a:r>
            <a:pPr indent="0" marL="0">
              <a:buNone/>
            </a:pPr>
            <a:r>
              <a:rPr lang="en-US" sz="1300" i="1" dirty="0">
                <a:solidFill>
                  <a:srgbClr val="6A9955"/>
                </a:solidFill>
                <a:latin typeface="Courier New" pitchFamily="34" charset="0"/>
                <a:ea typeface="Courier New" pitchFamily="34" charset="-122"/>
                <a:cs typeface="Courier New" pitchFamily="34" charset="-120"/>
              </a:rPr>
              <a:t>// no dep needed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11"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12"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13 / 34</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dependency array rules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react-hooks/exhaustive-deps catches almost all of these. Don't disable it.</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sp>
        <p:nvSpPr>
          <p:cNvPr id="6" name="Shape 4"/>
          <p:cNvSpPr/>
          <p:nvPr/>
        </p:nvSpPr>
        <p:spPr>
          <a:xfrm>
            <a:off x="777240" y="1691640"/>
            <a:ext cx="109728" cy="868680"/>
          </a:xfrm>
          <a:prstGeom prst="rect">
            <a:avLst/>
          </a:prstGeom>
          <a:solidFill>
            <a:srgbClr val="00B8D9"/>
          </a:solidFill>
          <a:ln w="12700">
            <a:solidFill>
              <a:srgbClr val="00B8D9"/>
            </a:solidFill>
            <a:prstDash val="solid"/>
          </a:ln>
        </p:spPr>
      </p:sp>
      <p:sp>
        <p:nvSpPr>
          <p:cNvPr id="7" name="Text 5"/>
          <p:cNvSpPr/>
          <p:nvPr/>
        </p:nvSpPr>
        <p:spPr>
          <a:xfrm>
            <a:off x="1051560" y="1783080"/>
            <a:ext cx="1024128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Every reactive value used inside the effect must be in the array</a:t>
            </a:r>
            <a:endParaRPr lang="en-US" sz="1350" dirty="0"/>
          </a:p>
        </p:txBody>
      </p:sp>
      <p:sp>
        <p:nvSpPr>
          <p:cNvPr id="8" name="Text 6"/>
          <p:cNvSpPr/>
          <p:nvPr/>
        </p:nvSpPr>
        <p:spPr>
          <a:xfrm>
            <a:off x="1051560" y="2103120"/>
            <a:ext cx="1024128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props, state, context, derived values from those — not refs (refs don't trigger re-renders)</a:t>
            </a:r>
            <a:endParaRPr lang="en-US" sz="1150" dirty="0"/>
          </a:p>
        </p:txBody>
      </p:sp>
      <p:sp>
        <p:nvSpPr>
          <p:cNvPr id="9" name="Shape 7"/>
          <p:cNvSpPr/>
          <p:nvPr/>
        </p:nvSpPr>
        <p:spPr>
          <a:xfrm>
            <a:off x="777240" y="2697480"/>
            <a:ext cx="10607040" cy="868680"/>
          </a:xfrm>
          <a:prstGeom prst="rect">
            <a:avLst/>
          </a:prstGeom>
          <a:solidFill>
            <a:srgbClr val="FFFFFF"/>
          </a:solidFill>
          <a:ln w="12700">
            <a:solidFill>
              <a:srgbClr val="E2E8F0"/>
            </a:solidFill>
            <a:prstDash val="solid"/>
          </a:ln>
        </p:spPr>
      </p:sp>
      <p:sp>
        <p:nvSpPr>
          <p:cNvPr id="10" name="Shape 8"/>
          <p:cNvSpPr/>
          <p:nvPr/>
        </p:nvSpPr>
        <p:spPr>
          <a:xfrm>
            <a:off x="777240" y="2697480"/>
            <a:ext cx="109728" cy="868680"/>
          </a:xfrm>
          <a:prstGeom prst="rect">
            <a:avLst/>
          </a:prstGeom>
          <a:solidFill>
            <a:srgbClr val="00B8D9"/>
          </a:solidFill>
          <a:ln w="12700">
            <a:solidFill>
              <a:srgbClr val="00B8D9"/>
            </a:solidFill>
            <a:prstDash val="solid"/>
          </a:ln>
        </p:spPr>
      </p:sp>
      <p:sp>
        <p:nvSpPr>
          <p:cNvPr id="11" name="Text 9"/>
          <p:cNvSpPr/>
          <p:nvPr/>
        </p:nvSpPr>
        <p:spPr>
          <a:xfrm>
            <a:off x="1051560" y="2788920"/>
            <a:ext cx="1024128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Don't disable the lint rule to silence warnings</a:t>
            </a:r>
            <a:endParaRPr lang="en-US" sz="1350" dirty="0"/>
          </a:p>
        </p:txBody>
      </p:sp>
      <p:sp>
        <p:nvSpPr>
          <p:cNvPr id="12" name="Text 10"/>
          <p:cNvSpPr/>
          <p:nvPr/>
        </p:nvSpPr>
        <p:spPr>
          <a:xfrm>
            <a:off x="1051560" y="3108960"/>
            <a:ext cx="1024128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If exhaustive-deps complains, the code is probably wrong. Fix the underlying issue.</a:t>
            </a:r>
            <a:endParaRPr lang="en-US" sz="1150" dirty="0"/>
          </a:p>
        </p:txBody>
      </p:sp>
      <p:sp>
        <p:nvSpPr>
          <p:cNvPr id="13" name="Shape 11"/>
          <p:cNvSpPr/>
          <p:nvPr/>
        </p:nvSpPr>
        <p:spPr>
          <a:xfrm>
            <a:off x="777240" y="3703320"/>
            <a:ext cx="10607040" cy="868680"/>
          </a:xfrm>
          <a:prstGeom prst="rect">
            <a:avLst/>
          </a:prstGeom>
          <a:solidFill>
            <a:srgbClr val="FFFFFF"/>
          </a:solidFill>
          <a:ln w="12700">
            <a:solidFill>
              <a:srgbClr val="E2E8F0"/>
            </a:solidFill>
            <a:prstDash val="solid"/>
          </a:ln>
        </p:spPr>
      </p:sp>
      <p:sp>
        <p:nvSpPr>
          <p:cNvPr id="14" name="Shape 12"/>
          <p:cNvSpPr/>
          <p:nvPr/>
        </p:nvSpPr>
        <p:spPr>
          <a:xfrm>
            <a:off x="777240" y="3703320"/>
            <a:ext cx="109728" cy="868680"/>
          </a:xfrm>
          <a:prstGeom prst="rect">
            <a:avLst/>
          </a:prstGeom>
          <a:solidFill>
            <a:srgbClr val="00B8D9"/>
          </a:solidFill>
          <a:ln w="12700">
            <a:solidFill>
              <a:srgbClr val="00B8D9"/>
            </a:solidFill>
            <a:prstDash val="solid"/>
          </a:ln>
        </p:spPr>
      </p:sp>
      <p:sp>
        <p:nvSpPr>
          <p:cNvPr id="15" name="Text 13"/>
          <p:cNvSpPr/>
          <p:nvPr/>
        </p:nvSpPr>
        <p:spPr>
          <a:xfrm>
            <a:off x="1051560" y="3794760"/>
            <a:ext cx="1024128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Object/function dependencies will re-run the effect every render</a:t>
            </a:r>
            <a:endParaRPr lang="en-US" sz="1350" dirty="0"/>
          </a:p>
        </p:txBody>
      </p:sp>
      <p:sp>
        <p:nvSpPr>
          <p:cNvPr id="16" name="Text 14"/>
          <p:cNvSpPr/>
          <p:nvPr/>
        </p:nvSpPr>
        <p:spPr>
          <a:xfrm>
            <a:off x="1051560" y="4114800"/>
            <a:ext cx="1024128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Memoize them, or move them inside the effect, or refactor to avoid the dependency.</a:t>
            </a:r>
            <a:endParaRPr lang="en-US" sz="1150" dirty="0"/>
          </a:p>
        </p:txBody>
      </p:sp>
      <p:sp>
        <p:nvSpPr>
          <p:cNvPr id="17" name="Shape 15"/>
          <p:cNvSpPr/>
          <p:nvPr/>
        </p:nvSpPr>
        <p:spPr>
          <a:xfrm>
            <a:off x="777240" y="4709160"/>
            <a:ext cx="10607040" cy="868680"/>
          </a:xfrm>
          <a:prstGeom prst="rect">
            <a:avLst/>
          </a:prstGeom>
          <a:solidFill>
            <a:srgbClr val="FFFFFF"/>
          </a:solidFill>
          <a:ln w="12700">
            <a:solidFill>
              <a:srgbClr val="E2E8F0"/>
            </a:solidFill>
            <a:prstDash val="solid"/>
          </a:ln>
        </p:spPr>
      </p:sp>
      <p:sp>
        <p:nvSpPr>
          <p:cNvPr id="18" name="Shape 16"/>
          <p:cNvSpPr/>
          <p:nvPr/>
        </p:nvSpPr>
        <p:spPr>
          <a:xfrm>
            <a:off x="777240" y="4709160"/>
            <a:ext cx="109728" cy="868680"/>
          </a:xfrm>
          <a:prstGeom prst="rect">
            <a:avLst/>
          </a:prstGeom>
          <a:solidFill>
            <a:srgbClr val="00B8D9"/>
          </a:solidFill>
          <a:ln w="12700">
            <a:solidFill>
              <a:srgbClr val="00B8D9"/>
            </a:solidFill>
            <a:prstDash val="solid"/>
          </a:ln>
        </p:spPr>
      </p:sp>
      <p:sp>
        <p:nvSpPr>
          <p:cNvPr id="19" name="Text 17"/>
          <p:cNvSpPr/>
          <p:nvPr/>
        </p:nvSpPr>
        <p:spPr>
          <a:xfrm>
            <a:off x="1051560" y="4800600"/>
            <a:ext cx="1024128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Empty array means 'on mount/unmount only'</a:t>
            </a:r>
            <a:endParaRPr lang="en-US" sz="1350" dirty="0"/>
          </a:p>
        </p:txBody>
      </p:sp>
      <p:sp>
        <p:nvSpPr>
          <p:cNvPr id="20" name="Text 18"/>
          <p:cNvSpPr/>
          <p:nvPr/>
        </p:nvSpPr>
        <p:spPr>
          <a:xfrm>
            <a:off x="1051560" y="5120640"/>
            <a:ext cx="1024128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If you want that, double-check that nothing reactive is captured. Consider whether you really need an effect at all.</a:t>
            </a:r>
            <a:endParaRPr lang="en-US" sz="1150" dirty="0"/>
          </a:p>
        </p:txBody>
      </p:sp>
      <p:sp>
        <p:nvSpPr>
          <p:cNvPr id="21" name="Text 1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22" name="Text 2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14 / 34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5">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3</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The Four New Arrivals</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use, useActionState, useFormStatus, useOptimistic — the React 19 form &amp; async story.</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four hooks worth circling</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These didn't exist in the 2024 course. They will be in your reviewer's mental model now.</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sp>
        <p:nvSpPr>
          <p:cNvPr id="6" name="Text 4"/>
          <p:cNvSpPr/>
          <p:nvPr/>
        </p:nvSpPr>
        <p:spPr>
          <a:xfrm>
            <a:off x="960120" y="1856232"/>
            <a:ext cx="4114800" cy="548640"/>
          </a:xfrm>
          <a:prstGeom prst="rect">
            <a:avLst/>
          </a:prstGeom>
          <a:noFill/>
          <a:ln/>
        </p:spPr>
        <p:txBody>
          <a:bodyPr wrap="square" lIns="0" tIns="0" rIns="0" bIns="0" rtlCol="0" anchor="ctr"/>
          <a:lstStyle/>
          <a:p>
            <a:pPr indent="0" marL="0">
              <a:buNone/>
            </a:pPr>
            <a:r>
              <a:rPr lang="en-US" sz="1600" b="1" dirty="0">
                <a:solidFill>
                  <a:srgbClr val="00B8D9"/>
                </a:solidFill>
                <a:latin typeface="Courier New" pitchFamily="34" charset="0"/>
                <a:ea typeface="Courier New" pitchFamily="34" charset="-122"/>
                <a:cs typeface="Courier New" pitchFamily="34" charset="-120"/>
              </a:rPr>
              <a:t>use(promise | context)</a:t>
            </a:r>
            <a:endParaRPr lang="en-US" sz="1600" dirty="0"/>
          </a:p>
        </p:txBody>
      </p:sp>
      <p:sp>
        <p:nvSpPr>
          <p:cNvPr id="7" name="Text 5"/>
          <p:cNvSpPr/>
          <p:nvPr/>
        </p:nvSpPr>
        <p:spPr>
          <a:xfrm>
            <a:off x="5212080" y="1856232"/>
            <a:ext cx="603504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Read async values inline. Suspends the component until the promise resolves.</a:t>
            </a:r>
            <a:endParaRPr lang="en-US" sz="1250" dirty="0"/>
          </a:p>
        </p:txBody>
      </p:sp>
      <p:sp>
        <p:nvSpPr>
          <p:cNvPr id="8" name="Shape 6"/>
          <p:cNvSpPr/>
          <p:nvPr/>
        </p:nvSpPr>
        <p:spPr>
          <a:xfrm>
            <a:off x="777240" y="2743200"/>
            <a:ext cx="10607040" cy="868680"/>
          </a:xfrm>
          <a:prstGeom prst="rect">
            <a:avLst/>
          </a:prstGeom>
          <a:solidFill>
            <a:srgbClr val="FFFFFF"/>
          </a:solidFill>
          <a:ln w="12700">
            <a:solidFill>
              <a:srgbClr val="E2E8F0"/>
            </a:solidFill>
            <a:prstDash val="solid"/>
          </a:ln>
        </p:spPr>
      </p:sp>
      <p:sp>
        <p:nvSpPr>
          <p:cNvPr id="9" name="Text 7"/>
          <p:cNvSpPr/>
          <p:nvPr/>
        </p:nvSpPr>
        <p:spPr>
          <a:xfrm>
            <a:off x="960120" y="2907792"/>
            <a:ext cx="4114800" cy="548640"/>
          </a:xfrm>
          <a:prstGeom prst="rect">
            <a:avLst/>
          </a:prstGeom>
          <a:noFill/>
          <a:ln/>
        </p:spPr>
        <p:txBody>
          <a:bodyPr wrap="square" lIns="0" tIns="0" rIns="0" bIns="0" rtlCol="0" anchor="ctr"/>
          <a:lstStyle/>
          <a:p>
            <a:pPr indent="0" marL="0">
              <a:buNone/>
            </a:pPr>
            <a:r>
              <a:rPr lang="en-US" sz="1600" b="1" dirty="0">
                <a:solidFill>
                  <a:srgbClr val="00B8D9"/>
                </a:solidFill>
                <a:latin typeface="Courier New" pitchFamily="34" charset="0"/>
                <a:ea typeface="Courier New" pitchFamily="34" charset="-122"/>
                <a:cs typeface="Courier New" pitchFamily="34" charset="-120"/>
              </a:rPr>
              <a:t>useActionState</a:t>
            </a:r>
            <a:endParaRPr lang="en-US" sz="1600" dirty="0"/>
          </a:p>
        </p:txBody>
      </p:sp>
      <p:sp>
        <p:nvSpPr>
          <p:cNvPr id="10" name="Text 8"/>
          <p:cNvSpPr/>
          <p:nvPr/>
        </p:nvSpPr>
        <p:spPr>
          <a:xfrm>
            <a:off x="5212080" y="2907792"/>
            <a:ext cx="603504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Pairs with form Actions. Gives you state, the wrapped action, and a pending flag.</a:t>
            </a:r>
            <a:endParaRPr lang="en-US" sz="1250" dirty="0"/>
          </a:p>
        </p:txBody>
      </p:sp>
      <p:sp>
        <p:nvSpPr>
          <p:cNvPr id="11" name="Shape 9"/>
          <p:cNvSpPr/>
          <p:nvPr/>
        </p:nvSpPr>
        <p:spPr>
          <a:xfrm>
            <a:off x="777240" y="3794760"/>
            <a:ext cx="10607040" cy="868680"/>
          </a:xfrm>
          <a:prstGeom prst="rect">
            <a:avLst/>
          </a:prstGeom>
          <a:solidFill>
            <a:srgbClr val="FFFFFF"/>
          </a:solidFill>
          <a:ln w="12700">
            <a:solidFill>
              <a:srgbClr val="E2E8F0"/>
            </a:solidFill>
            <a:prstDash val="solid"/>
          </a:ln>
        </p:spPr>
      </p:sp>
      <p:sp>
        <p:nvSpPr>
          <p:cNvPr id="12" name="Text 10"/>
          <p:cNvSpPr/>
          <p:nvPr/>
        </p:nvSpPr>
        <p:spPr>
          <a:xfrm>
            <a:off x="960120" y="3959352"/>
            <a:ext cx="4114800" cy="548640"/>
          </a:xfrm>
          <a:prstGeom prst="rect">
            <a:avLst/>
          </a:prstGeom>
          <a:noFill/>
          <a:ln/>
        </p:spPr>
        <p:txBody>
          <a:bodyPr wrap="square" lIns="0" tIns="0" rIns="0" bIns="0" rtlCol="0" anchor="ctr"/>
          <a:lstStyle/>
          <a:p>
            <a:pPr indent="0" marL="0">
              <a:buNone/>
            </a:pPr>
            <a:r>
              <a:rPr lang="en-US" sz="1600" b="1" dirty="0">
                <a:solidFill>
                  <a:srgbClr val="00B8D9"/>
                </a:solidFill>
                <a:latin typeface="Courier New" pitchFamily="34" charset="0"/>
                <a:ea typeface="Courier New" pitchFamily="34" charset="-122"/>
                <a:cs typeface="Courier New" pitchFamily="34" charset="-120"/>
              </a:rPr>
              <a:t>useFormStatus</a:t>
            </a:r>
            <a:endParaRPr lang="en-US" sz="1600" dirty="0"/>
          </a:p>
        </p:txBody>
      </p:sp>
      <p:sp>
        <p:nvSpPr>
          <p:cNvPr id="13" name="Text 11"/>
          <p:cNvSpPr/>
          <p:nvPr/>
        </p:nvSpPr>
        <p:spPr>
          <a:xfrm>
            <a:off x="5212080" y="3959352"/>
            <a:ext cx="603504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Read pending/data/method from inside any descendant of a &lt;form&gt;. No prop drilling.</a:t>
            </a:r>
            <a:endParaRPr lang="en-US" sz="1250" dirty="0"/>
          </a:p>
        </p:txBody>
      </p:sp>
      <p:sp>
        <p:nvSpPr>
          <p:cNvPr id="14" name="Shape 12"/>
          <p:cNvSpPr/>
          <p:nvPr/>
        </p:nvSpPr>
        <p:spPr>
          <a:xfrm>
            <a:off x="777240" y="4846320"/>
            <a:ext cx="10607040" cy="868680"/>
          </a:xfrm>
          <a:prstGeom prst="rect">
            <a:avLst/>
          </a:prstGeom>
          <a:solidFill>
            <a:srgbClr val="FFFFFF"/>
          </a:solidFill>
          <a:ln w="12700">
            <a:solidFill>
              <a:srgbClr val="E2E8F0"/>
            </a:solidFill>
            <a:prstDash val="solid"/>
          </a:ln>
        </p:spPr>
      </p:sp>
      <p:sp>
        <p:nvSpPr>
          <p:cNvPr id="15" name="Text 13"/>
          <p:cNvSpPr/>
          <p:nvPr/>
        </p:nvSpPr>
        <p:spPr>
          <a:xfrm>
            <a:off x="960120" y="5010912"/>
            <a:ext cx="4114800" cy="548640"/>
          </a:xfrm>
          <a:prstGeom prst="rect">
            <a:avLst/>
          </a:prstGeom>
          <a:noFill/>
          <a:ln/>
        </p:spPr>
        <p:txBody>
          <a:bodyPr wrap="square" lIns="0" tIns="0" rIns="0" bIns="0" rtlCol="0" anchor="ctr"/>
          <a:lstStyle/>
          <a:p>
            <a:pPr indent="0" marL="0">
              <a:buNone/>
            </a:pPr>
            <a:r>
              <a:rPr lang="en-US" sz="1600" b="1" dirty="0">
                <a:solidFill>
                  <a:srgbClr val="00B8D9"/>
                </a:solidFill>
                <a:latin typeface="Courier New" pitchFamily="34" charset="0"/>
                <a:ea typeface="Courier New" pitchFamily="34" charset="-122"/>
                <a:cs typeface="Courier New" pitchFamily="34" charset="-120"/>
              </a:rPr>
              <a:t>useOptimistic</a:t>
            </a:r>
            <a:endParaRPr lang="en-US" sz="1600" dirty="0"/>
          </a:p>
        </p:txBody>
      </p:sp>
      <p:sp>
        <p:nvSpPr>
          <p:cNvPr id="16" name="Text 14"/>
          <p:cNvSpPr/>
          <p:nvPr/>
        </p:nvSpPr>
        <p:spPr>
          <a:xfrm>
            <a:off x="5212080" y="5010912"/>
            <a:ext cx="603504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Show the eventual state immediately. React reverts on error.</a:t>
            </a:r>
            <a:endParaRPr lang="en-US" sz="1250" dirty="0"/>
          </a:p>
        </p:txBody>
      </p:sp>
      <p:sp>
        <p:nvSpPr>
          <p:cNvPr id="17"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18"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16 / 34</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 — read promises and contexts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The first hook that's allowed inside conditionals. Suspends instead of returning a value.</a:t>
            </a:r>
            <a:endParaRPr lang="en-US" sz="1400" dirty="0"/>
          </a:p>
        </p:txBody>
      </p:sp>
      <p:sp>
        <p:nvSpPr>
          <p:cNvPr id="5" name="Text 3"/>
          <p:cNvSpPr/>
          <p:nvPr/>
        </p:nvSpPr>
        <p:spPr>
          <a:xfrm>
            <a:off x="777240" y="1554480"/>
            <a:ext cx="1060704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Two acceptable inputs:</a:t>
            </a:r>
            <a:endParaRPr lang="en-US" sz="1400" dirty="0"/>
          </a:p>
        </p:txBody>
      </p:sp>
      <p:sp>
        <p:nvSpPr>
          <p:cNvPr id="6" name="Shape 4"/>
          <p:cNvSpPr/>
          <p:nvPr/>
        </p:nvSpPr>
        <p:spPr>
          <a:xfrm>
            <a:off x="777240" y="1965960"/>
            <a:ext cx="5349240" cy="4023360"/>
          </a:xfrm>
          <a:prstGeom prst="rect">
            <a:avLst/>
          </a:prstGeom>
          <a:solidFill>
            <a:srgbClr val="FFFFFF"/>
          </a:solidFill>
          <a:ln w="12700">
            <a:solidFill>
              <a:srgbClr val="E2E8F0"/>
            </a:solidFill>
            <a:prstDash val="solid"/>
          </a:ln>
        </p:spPr>
      </p:sp>
      <p:sp>
        <p:nvSpPr>
          <p:cNvPr id="7" name="Shape 5"/>
          <p:cNvSpPr/>
          <p:nvPr/>
        </p:nvSpPr>
        <p:spPr>
          <a:xfrm>
            <a:off x="777240" y="1965960"/>
            <a:ext cx="109728" cy="4023360"/>
          </a:xfrm>
          <a:prstGeom prst="rect">
            <a:avLst/>
          </a:prstGeom>
          <a:solidFill>
            <a:srgbClr val="00B8D9"/>
          </a:solidFill>
          <a:ln w="12700">
            <a:solidFill>
              <a:srgbClr val="00B8D9"/>
            </a:solidFill>
            <a:prstDash val="solid"/>
          </a:ln>
        </p:spPr>
      </p:sp>
      <p:sp>
        <p:nvSpPr>
          <p:cNvPr id="8" name="Text 6"/>
          <p:cNvSpPr/>
          <p:nvPr/>
        </p:nvSpPr>
        <p:spPr>
          <a:xfrm>
            <a:off x="1051560" y="2103120"/>
            <a:ext cx="5029200" cy="457200"/>
          </a:xfrm>
          <a:prstGeom prst="rect">
            <a:avLst/>
          </a:prstGeom>
          <a:noFill/>
          <a:ln/>
        </p:spPr>
        <p:txBody>
          <a:bodyPr wrap="square" lIns="0" tIns="0" rIns="0" bIns="0" rtlCol="0" anchor="ctr"/>
          <a:lstStyle/>
          <a:p>
            <a:pPr indent="0" marL="0">
              <a:buNone/>
            </a:pPr>
            <a:r>
              <a:rPr lang="en-US" sz="1800" b="1" dirty="0">
                <a:solidFill>
                  <a:srgbClr val="0F172A"/>
                </a:solidFill>
                <a:latin typeface="Courier New" pitchFamily="34" charset="0"/>
                <a:ea typeface="Courier New" pitchFamily="34" charset="-122"/>
                <a:cs typeface="Courier New" pitchFamily="34" charset="-120"/>
              </a:rPr>
              <a:t>use(promise)</a:t>
            </a:r>
            <a:endParaRPr lang="en-US" sz="1800" dirty="0"/>
          </a:p>
        </p:txBody>
      </p:sp>
      <p:sp>
        <p:nvSpPr>
          <p:cNvPr id="9" name="Text 7"/>
          <p:cNvSpPr/>
          <p:nvPr/>
        </p:nvSpPr>
        <p:spPr>
          <a:xfrm>
            <a:off x="1051560" y="2606040"/>
            <a:ext cx="4937760" cy="822960"/>
          </a:xfrm>
          <a:prstGeom prst="rect">
            <a:avLst/>
          </a:prstGeom>
          <a:noFill/>
          <a:ln/>
        </p:spPr>
        <p:txBody>
          <a:bodyPr wrap="square" lIns="0" tIns="0" rIns="0" bIns="0" rtlCol="0" anchor="t"/>
          <a:lstStyle/>
          <a:p>
            <a:pPr indent="0" marL="0">
              <a:buNone/>
            </a:pPr>
            <a:r>
              <a:rPr lang="en-US" sz="1200" i="1" dirty="0">
                <a:solidFill>
                  <a:srgbClr val="475569"/>
                </a:solidFill>
                <a:latin typeface="Arial" pitchFamily="34" charset="0"/>
                <a:ea typeface="Arial" pitchFamily="34" charset="-122"/>
                <a:cs typeface="Arial" pitchFamily="34" charset="-120"/>
              </a:rPr>
              <a:t>Suspends the component until the promise resolves. Pair with a &lt;Suspense&gt; boundary above.</a:t>
            </a:r>
            <a:endParaRPr lang="en-US" sz="1200" dirty="0"/>
          </a:p>
        </p:txBody>
      </p:sp>
      <p:sp>
        <p:nvSpPr>
          <p:cNvPr id="10" name="Shape 8"/>
          <p:cNvSpPr/>
          <p:nvPr/>
        </p:nvSpPr>
        <p:spPr>
          <a:xfrm>
            <a:off x="1051560" y="3520440"/>
            <a:ext cx="4937760" cy="2331720"/>
          </a:xfrm>
          <a:prstGeom prst="rect">
            <a:avLst/>
          </a:prstGeom>
          <a:solidFill>
            <a:srgbClr val="1E2A47"/>
          </a:solidFill>
          <a:ln w="12700">
            <a:solidFill>
              <a:srgbClr val="1E2A47"/>
            </a:solidFill>
            <a:prstDash val="solid"/>
          </a:ln>
        </p:spPr>
      </p:sp>
      <p:sp>
        <p:nvSpPr>
          <p:cNvPr id="11" name="Text 9"/>
          <p:cNvSpPr/>
          <p:nvPr/>
        </p:nvSpPr>
        <p:spPr>
          <a:xfrm>
            <a:off x="1234440" y="3657600"/>
            <a:ext cx="4572000" cy="2057400"/>
          </a:xfrm>
          <a:prstGeom prst="rect">
            <a:avLst/>
          </a:prstGeom>
          <a:noFill/>
          <a:ln/>
        </p:spPr>
        <p:txBody>
          <a:bodyPr wrap="square" lIns="0" tIns="0" rIns="0" bIns="0" rtlCol="0" anchor="t"/>
          <a:lstStyle/>
          <a:p>
            <a:pPr indent="0" marL="0">
              <a:buNone/>
            </a:pPr>
            <a:r>
              <a:rPr lang="en-US" sz="1300" dirty="0">
                <a:solidFill>
                  <a:srgbClr val="C586C0"/>
                </a:solidFill>
                <a:latin typeface="Courier New" pitchFamily="34" charset="0"/>
                <a:ea typeface="Courier New" pitchFamily="34" charset="-122"/>
                <a:cs typeface="Courier New" pitchFamily="34" charset="-120"/>
              </a:rPr>
              <a:t>function </a:t>
            </a:r>
            <a:pPr indent="0" marL="0">
              <a:buNone/>
            </a:pPr>
            <a:r>
              <a:rPr lang="en-US" sz="1300" dirty="0">
                <a:solidFill>
                  <a:srgbClr val="DCDCAA"/>
                </a:solidFill>
                <a:latin typeface="Courier New" pitchFamily="34" charset="0"/>
                <a:ea typeface="Courier New" pitchFamily="34" charset="-122"/>
                <a:cs typeface="Courier New" pitchFamily="34" charset="-120"/>
              </a:rPr>
              <a:t>Profile</a:t>
            </a:r>
            <a:pPr indent="0" marL="0">
              <a:buNone/>
            </a:pPr>
            <a:r>
              <a:rPr lang="en-US" sz="1300" dirty="0">
                <a:solidFill>
                  <a:srgbClr val="FFFFFF"/>
                </a:solidFill>
                <a:latin typeface="Courier New" pitchFamily="34" charset="0"/>
                <a:ea typeface="Courier New" pitchFamily="34" charset="-122"/>
                <a:cs typeface="Courier New" pitchFamily="34" charset="-120"/>
              </a:rPr>
              <a:t>({ userPromise }) {</a:t>
            </a:r>
            <a:endParaRPr lang="en-US" sz="1300" dirty="0"/>
          </a:p>
          <a:p>
            <a:pPr indent="0" marL="0">
              <a:buNone/>
            </a:pPr>
            <a:r>
              <a:rPr lang="en-US" sz="1300" dirty="0">
                <a:solidFill>
                  <a:srgbClr val="C586C0"/>
                </a:solidFill>
                <a:latin typeface="Courier New" pitchFamily="34" charset="0"/>
                <a:ea typeface="Courier New" pitchFamily="34" charset="-122"/>
                <a:cs typeface="Courier New" pitchFamily="34" charset="-120"/>
              </a:rPr>
              <a:t>  const user = </a:t>
            </a:r>
            <a:pPr indent="0" marL="0">
              <a:buNone/>
            </a:pPr>
            <a:r>
              <a:rPr lang="en-US" sz="1300" dirty="0">
                <a:solidFill>
                  <a:srgbClr val="DCDCAA"/>
                </a:solidFill>
                <a:latin typeface="Courier New" pitchFamily="34" charset="0"/>
                <a:ea typeface="Courier New" pitchFamily="34" charset="-122"/>
                <a:cs typeface="Courier New" pitchFamily="34" charset="-120"/>
              </a:rPr>
              <a:t>use</a:t>
            </a:r>
            <a:pPr indent="0" marL="0">
              <a:buNone/>
            </a:pPr>
            <a:r>
              <a:rPr lang="en-US" sz="1300" dirty="0">
                <a:solidFill>
                  <a:srgbClr val="FFFFFF"/>
                </a:solidFill>
                <a:latin typeface="Courier New" pitchFamily="34" charset="0"/>
                <a:ea typeface="Courier New" pitchFamily="34" charset="-122"/>
                <a:cs typeface="Courier New" pitchFamily="34" charset="-120"/>
              </a:rPr>
              <a:t>(userPromise);</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return &lt;h1&gt;{user.name}&lt;/h1&gt;;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12" name="Shape 10"/>
          <p:cNvSpPr/>
          <p:nvPr/>
        </p:nvSpPr>
        <p:spPr>
          <a:xfrm>
            <a:off x="6355080" y="1965960"/>
            <a:ext cx="5029200" cy="4023360"/>
          </a:xfrm>
          <a:prstGeom prst="rect">
            <a:avLst/>
          </a:prstGeom>
          <a:solidFill>
            <a:srgbClr val="FFFFFF"/>
          </a:solidFill>
          <a:ln w="12700">
            <a:solidFill>
              <a:srgbClr val="E2E8F0"/>
            </a:solidFill>
            <a:prstDash val="solid"/>
          </a:ln>
        </p:spPr>
      </p:sp>
      <p:sp>
        <p:nvSpPr>
          <p:cNvPr id="13" name="Shape 11"/>
          <p:cNvSpPr/>
          <p:nvPr/>
        </p:nvSpPr>
        <p:spPr>
          <a:xfrm>
            <a:off x="6355080" y="1965960"/>
            <a:ext cx="109728" cy="4023360"/>
          </a:xfrm>
          <a:prstGeom prst="rect">
            <a:avLst/>
          </a:prstGeom>
          <a:solidFill>
            <a:srgbClr val="00B8D9"/>
          </a:solidFill>
          <a:ln w="12700">
            <a:solidFill>
              <a:srgbClr val="00B8D9"/>
            </a:solidFill>
            <a:prstDash val="solid"/>
          </a:ln>
        </p:spPr>
      </p:sp>
      <p:sp>
        <p:nvSpPr>
          <p:cNvPr id="14" name="Text 12"/>
          <p:cNvSpPr/>
          <p:nvPr/>
        </p:nvSpPr>
        <p:spPr>
          <a:xfrm>
            <a:off x="6629400" y="2103120"/>
            <a:ext cx="4754880" cy="457200"/>
          </a:xfrm>
          <a:prstGeom prst="rect">
            <a:avLst/>
          </a:prstGeom>
          <a:noFill/>
          <a:ln/>
        </p:spPr>
        <p:txBody>
          <a:bodyPr wrap="square" lIns="0" tIns="0" rIns="0" bIns="0" rtlCol="0" anchor="ctr"/>
          <a:lstStyle/>
          <a:p>
            <a:pPr indent="0" marL="0">
              <a:buNone/>
            </a:pPr>
            <a:r>
              <a:rPr lang="en-US" sz="1800" b="1" dirty="0">
                <a:solidFill>
                  <a:srgbClr val="0F172A"/>
                </a:solidFill>
                <a:latin typeface="Courier New" pitchFamily="34" charset="0"/>
                <a:ea typeface="Courier New" pitchFamily="34" charset="-122"/>
                <a:cs typeface="Courier New" pitchFamily="34" charset="-120"/>
              </a:rPr>
              <a:t>use(context)</a:t>
            </a:r>
            <a:endParaRPr lang="en-US" sz="1800" dirty="0"/>
          </a:p>
        </p:txBody>
      </p:sp>
      <p:sp>
        <p:nvSpPr>
          <p:cNvPr id="15" name="Text 13"/>
          <p:cNvSpPr/>
          <p:nvPr/>
        </p:nvSpPr>
        <p:spPr>
          <a:xfrm>
            <a:off x="6629400" y="2606040"/>
            <a:ext cx="4663440" cy="822960"/>
          </a:xfrm>
          <a:prstGeom prst="rect">
            <a:avLst/>
          </a:prstGeom>
          <a:noFill/>
          <a:ln/>
        </p:spPr>
        <p:txBody>
          <a:bodyPr wrap="square" lIns="0" tIns="0" rIns="0" bIns="0" rtlCol="0" anchor="t"/>
          <a:lstStyle/>
          <a:p>
            <a:pPr indent="0" marL="0">
              <a:buNone/>
            </a:pPr>
            <a:r>
              <a:rPr lang="en-US" sz="1200" i="1" dirty="0">
                <a:solidFill>
                  <a:srgbClr val="475569"/>
                </a:solidFill>
                <a:latin typeface="Arial" pitchFamily="34" charset="0"/>
                <a:ea typeface="Arial" pitchFamily="34" charset="-122"/>
                <a:cs typeface="Arial" pitchFamily="34" charset="-120"/>
              </a:rPr>
              <a:t>Like useContext, but legal inside if/loop/early-return. Quietly the unsung benefit.</a:t>
            </a:r>
            <a:endParaRPr lang="en-US" sz="1200" dirty="0"/>
          </a:p>
        </p:txBody>
      </p:sp>
      <p:sp>
        <p:nvSpPr>
          <p:cNvPr id="16" name="Shape 14"/>
          <p:cNvSpPr/>
          <p:nvPr/>
        </p:nvSpPr>
        <p:spPr>
          <a:xfrm>
            <a:off x="6629400" y="3520440"/>
            <a:ext cx="4663440" cy="2331720"/>
          </a:xfrm>
          <a:prstGeom prst="rect">
            <a:avLst/>
          </a:prstGeom>
          <a:solidFill>
            <a:srgbClr val="1E2A47"/>
          </a:solidFill>
          <a:ln w="12700">
            <a:solidFill>
              <a:srgbClr val="1E2A47"/>
            </a:solidFill>
            <a:prstDash val="solid"/>
          </a:ln>
        </p:spPr>
      </p:sp>
      <p:sp>
        <p:nvSpPr>
          <p:cNvPr id="17" name="Text 15"/>
          <p:cNvSpPr/>
          <p:nvPr/>
        </p:nvSpPr>
        <p:spPr>
          <a:xfrm>
            <a:off x="6812280" y="3657600"/>
            <a:ext cx="4297680" cy="2057400"/>
          </a:xfrm>
          <a:prstGeom prst="rect">
            <a:avLst/>
          </a:prstGeom>
          <a:noFill/>
          <a:ln/>
        </p:spPr>
        <p:txBody>
          <a:bodyPr wrap="square" lIns="0" tIns="0" rIns="0" bIns="0" rtlCol="0" anchor="t"/>
          <a:lstStyle/>
          <a:p>
            <a:pPr indent="0" marL="0">
              <a:buNone/>
            </a:pPr>
            <a:r>
              <a:rPr lang="en-US" sz="1300" dirty="0">
                <a:solidFill>
                  <a:srgbClr val="C586C0"/>
                </a:solidFill>
                <a:latin typeface="Courier New" pitchFamily="34" charset="0"/>
                <a:ea typeface="Courier New" pitchFamily="34" charset="-122"/>
                <a:cs typeface="Courier New" pitchFamily="34" charset="-120"/>
              </a:rPr>
              <a:t>function </a:t>
            </a:r>
            <a:pPr indent="0" marL="0">
              <a:buNone/>
            </a:pPr>
            <a:r>
              <a:rPr lang="en-US" sz="1300" dirty="0">
                <a:solidFill>
                  <a:srgbClr val="DCDCAA"/>
                </a:solidFill>
                <a:latin typeface="Courier New" pitchFamily="34" charset="0"/>
                <a:ea typeface="Courier New" pitchFamily="34" charset="-122"/>
                <a:cs typeface="Courier New" pitchFamily="34" charset="-120"/>
              </a:rPr>
              <a:t>Header</a:t>
            </a:r>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C586C0"/>
                </a:solidFill>
                <a:latin typeface="Courier New" pitchFamily="34" charset="0"/>
                <a:ea typeface="Courier New" pitchFamily="34" charset="-122"/>
                <a:cs typeface="Courier New" pitchFamily="34" charset="-120"/>
              </a:rPr>
              <a:t>  if (!hasAuth) </a:t>
            </a:r>
            <a:pPr indent="0" marL="0">
              <a:buNone/>
            </a:pPr>
            <a:r>
              <a:rPr lang="en-US" sz="1300" dirty="0">
                <a:solidFill>
                  <a:srgbClr val="9CDCFE"/>
                </a:solidFill>
                <a:latin typeface="Courier New" pitchFamily="34" charset="0"/>
                <a:ea typeface="Courier New" pitchFamily="34" charset="-122"/>
                <a:cs typeface="Courier New" pitchFamily="34" charset="-120"/>
              </a:rPr>
              <a:t>return null;</a:t>
            </a:r>
            <a:endParaRPr lang="en-US" sz="1300" dirty="0"/>
          </a:p>
          <a:p>
            <a:pPr indent="0" marL="0">
              <a:buNone/>
            </a:pPr>
            <a:r>
              <a:rPr lang="en-US" sz="1300" dirty="0">
                <a:solidFill>
                  <a:srgbClr val="C586C0"/>
                </a:solidFill>
                <a:latin typeface="Courier New" pitchFamily="34" charset="0"/>
                <a:ea typeface="Courier New" pitchFamily="34" charset="-122"/>
                <a:cs typeface="Courier New" pitchFamily="34" charset="-120"/>
              </a:rPr>
              <a:t>  const theme = </a:t>
            </a:r>
            <a:pPr indent="0" marL="0">
              <a:buNone/>
            </a:pPr>
            <a:r>
              <a:rPr lang="en-US" sz="1300" dirty="0">
                <a:solidFill>
                  <a:srgbClr val="DCDCAA"/>
                </a:solidFill>
                <a:latin typeface="Courier New" pitchFamily="34" charset="0"/>
                <a:ea typeface="Courier New" pitchFamily="34" charset="-122"/>
                <a:cs typeface="Courier New" pitchFamily="34" charset="-120"/>
              </a:rPr>
              <a:t>use</a:t>
            </a:r>
            <a:pPr indent="0" marL="0">
              <a:buNone/>
            </a:pPr>
            <a:r>
              <a:rPr lang="en-US" sz="1300" dirty="0">
                <a:solidFill>
                  <a:srgbClr val="FFFFFF"/>
                </a:solidFill>
                <a:latin typeface="Courier New" pitchFamily="34" charset="0"/>
                <a:ea typeface="Courier New" pitchFamily="34" charset="-122"/>
                <a:cs typeface="Courier New" pitchFamily="34" charset="-120"/>
              </a:rPr>
              <a:t>(ThemeContext);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return &lt;nav style={theme.nav} /&gt;;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18" name="Text 1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19" name="Text 1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17 / 34</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use(promise) in practice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Pair with &lt;Suspense&gt; above. Don't create the promise inside the component that calls use().</a:t>
            </a:r>
            <a:endParaRPr lang="en-US" sz="1400" dirty="0"/>
          </a:p>
        </p:txBody>
      </p:sp>
      <p:sp>
        <p:nvSpPr>
          <p:cNvPr id="5" name="Shape 3"/>
          <p:cNvSpPr/>
          <p:nvPr/>
        </p:nvSpPr>
        <p:spPr>
          <a:xfrm>
            <a:off x="777240" y="1554480"/>
            <a:ext cx="10607040" cy="42062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931920"/>
          </a:xfrm>
          <a:prstGeom prst="rect">
            <a:avLst/>
          </a:prstGeom>
          <a:noFill/>
          <a:ln/>
        </p:spPr>
        <p:txBody>
          <a:bodyPr wrap="square" lIns="0" tIns="0" rIns="0" bIns="0" rtlCol="0" anchor="t"/>
          <a:lstStyle/>
          <a:p>
            <a:pPr indent="0" marL="0">
              <a:buNone/>
            </a:pPr>
            <a:r>
              <a:rPr lang="en-US" sz="1300" i="1" dirty="0">
                <a:solidFill>
                  <a:srgbClr val="6A9955"/>
                </a:solidFill>
                <a:latin typeface="Courier New" pitchFamily="34" charset="0"/>
                <a:ea typeface="Courier New" pitchFamily="34" charset="-122"/>
                <a:cs typeface="Courier New" pitchFamily="34" charset="-120"/>
              </a:rPr>
              <a:t>// page.jsx — Server Component</a:t>
            </a:r>
            <a:endParaRPr lang="en-US" sz="1300" dirty="0"/>
          </a:p>
          <a:p>
            <a:pPr indent="0" marL="0">
              <a:buNone/>
            </a:pPr>
            <a:r>
              <a:rPr lang="en-US" sz="1300" dirty="0">
                <a:solidFill>
                  <a:srgbClr val="C586C0"/>
                </a:solidFill>
                <a:latin typeface="Courier New" pitchFamily="34" charset="0"/>
                <a:ea typeface="Courier New" pitchFamily="34" charset="-122"/>
                <a:cs typeface="Courier New" pitchFamily="34" charset="-120"/>
              </a:rPr>
              <a:t>function </a:t>
            </a:r>
            <a:pPr indent="0" marL="0">
              <a:buNone/>
            </a:pPr>
            <a:r>
              <a:rPr lang="en-US" sz="1300" dirty="0">
                <a:solidFill>
                  <a:srgbClr val="DCDCAA"/>
                </a:solidFill>
                <a:latin typeface="Courier New" pitchFamily="34" charset="0"/>
                <a:ea typeface="Courier New" pitchFamily="34" charset="-122"/>
                <a:cs typeface="Courier New" pitchFamily="34" charset="-120"/>
              </a:rPr>
              <a:t>ProfilePage</a:t>
            </a:r>
            <a:pPr indent="0" marL="0">
              <a:buNone/>
            </a:pPr>
            <a:r>
              <a:rPr lang="en-US" sz="1300" dirty="0">
                <a:solidFill>
                  <a:srgbClr val="FFFFFF"/>
                </a:solidFill>
                <a:latin typeface="Courier New" pitchFamily="34" charset="0"/>
                <a:ea typeface="Courier New" pitchFamily="34" charset="-122"/>
                <a:cs typeface="Courier New" pitchFamily="34" charset="-120"/>
              </a:rPr>
              <a:t>({ params }) {</a:t>
            </a:r>
            <a:endParaRPr lang="en-US" sz="1300" dirty="0"/>
          </a:p>
          <a:p>
            <a:pPr indent="0" marL="0">
              <a:buNone/>
            </a:pPr>
            <a:r>
              <a:rPr lang="en-US" sz="1300" i="1" dirty="0">
                <a:solidFill>
                  <a:srgbClr val="6A9955"/>
                </a:solidFill>
                <a:latin typeface="Courier New" pitchFamily="34" charset="0"/>
                <a:ea typeface="Courier New" pitchFamily="34" charset="-122"/>
                <a:cs typeface="Courier New" pitchFamily="34" charset="-120"/>
              </a:rPr>
              <a:t>  // fetch starts here, but we don't await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const userPromise = fetchUser(params.id);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return (</a:t>
            </a:r>
            <a:endParaRPr lang="en-US" sz="1300" dirty="0"/>
          </a:p>
          <a:p>
            <a:pPr indent="0" marL="0">
              <a:buNone/>
            </a:pPr>
            <a:r>
              <a:rPr lang="en-US" sz="1300" dirty="0">
                <a:solidFill>
                  <a:srgbClr val="9CDCFE"/>
                </a:solidFill>
                <a:latin typeface="Courier New" pitchFamily="34" charset="0"/>
                <a:ea typeface="Courier New" pitchFamily="34" charset="-122"/>
                <a:cs typeface="Courier New" pitchFamily="34" charset="-120"/>
              </a:rPr>
              <a:t>    &lt;</a:t>
            </a:r>
            <a:pPr indent="0" marL="0">
              <a:buNone/>
            </a:pPr>
            <a:r>
              <a:rPr lang="en-US" sz="1300" dirty="0">
                <a:solidFill>
                  <a:srgbClr val="DCDCAA"/>
                </a:solidFill>
                <a:latin typeface="Courier New" pitchFamily="34" charset="0"/>
                <a:ea typeface="Courier New" pitchFamily="34" charset="-122"/>
                <a:cs typeface="Courier New" pitchFamily="34" charset="-120"/>
              </a:rPr>
              <a:t>Suspense </a:t>
            </a:r>
            <a:pPr indent="0" marL="0">
              <a:buNone/>
            </a:pPr>
            <a:r>
              <a:rPr lang="en-US" sz="1300" dirty="0">
                <a:solidFill>
                  <a:srgbClr val="9CDCFE"/>
                </a:solidFill>
                <a:latin typeface="Courier New" pitchFamily="34" charset="0"/>
                <a:ea typeface="Courier New" pitchFamily="34" charset="-122"/>
                <a:cs typeface="Courier New" pitchFamily="34" charset="-120"/>
              </a:rPr>
              <a:t>fallback={&lt;Spinner /&gt;}&gt;</a:t>
            </a:r>
            <a:endParaRPr lang="en-US" sz="1300" dirty="0"/>
          </a:p>
          <a:p>
            <a:pPr indent="0" marL="0">
              <a:buNone/>
            </a:pPr>
            <a:r>
              <a:rPr lang="en-US" sz="1300" dirty="0">
                <a:solidFill>
                  <a:srgbClr val="9CDCFE"/>
                </a:solidFill>
                <a:latin typeface="Courier New" pitchFamily="34" charset="0"/>
                <a:ea typeface="Courier New" pitchFamily="34" charset="-122"/>
                <a:cs typeface="Courier New" pitchFamily="34" charset="-120"/>
              </a:rPr>
              <a:t>      &lt;</a:t>
            </a:r>
            <a:pPr indent="0" marL="0">
              <a:buNone/>
            </a:pPr>
            <a:r>
              <a:rPr lang="en-US" sz="1300" dirty="0">
                <a:solidFill>
                  <a:srgbClr val="DCDCAA"/>
                </a:solidFill>
                <a:latin typeface="Courier New" pitchFamily="34" charset="0"/>
                <a:ea typeface="Courier New" pitchFamily="34" charset="-122"/>
                <a:cs typeface="Courier New" pitchFamily="34" charset="-120"/>
              </a:rPr>
              <a:t>Profile </a:t>
            </a:r>
            <a:pPr indent="0" marL="0">
              <a:buNone/>
            </a:pPr>
            <a:r>
              <a:rPr lang="en-US" sz="1300" dirty="0">
                <a:solidFill>
                  <a:srgbClr val="9CDCFE"/>
                </a:solidFill>
                <a:latin typeface="Courier New" pitchFamily="34" charset="0"/>
                <a:ea typeface="Courier New" pitchFamily="34" charset="-122"/>
                <a:cs typeface="Courier New" pitchFamily="34" charset="-120"/>
              </a:rPr>
              <a:t>userPromise={userPromise} /&gt;</a:t>
            </a:r>
            <a:endParaRPr lang="en-US" sz="1300" dirty="0"/>
          </a:p>
          <a:p>
            <a:pPr indent="0" marL="0">
              <a:buNone/>
            </a:pPr>
            <a:r>
              <a:rPr lang="en-US" sz="1300" dirty="0">
                <a:solidFill>
                  <a:srgbClr val="9CDCFE"/>
                </a:solidFill>
                <a:latin typeface="Courier New" pitchFamily="34" charset="0"/>
                <a:ea typeface="Courier New" pitchFamily="34" charset="-122"/>
                <a:cs typeface="Courier New" pitchFamily="34" charset="-120"/>
              </a:rPr>
              <a:t>    &lt;/</a:t>
            </a:r>
            <a:pPr indent="0" marL="0">
              <a:buNone/>
            </a:pPr>
            <a:r>
              <a:rPr lang="en-US" sz="1300" dirty="0">
                <a:solidFill>
                  <a:srgbClr val="DCDCAA"/>
                </a:solidFill>
                <a:latin typeface="Courier New" pitchFamily="34" charset="0"/>
                <a:ea typeface="Courier New" pitchFamily="34" charset="-122"/>
                <a:cs typeface="Courier New" pitchFamily="34" charset="-120"/>
              </a:rPr>
              <a:t>Suspense</a:t>
            </a:r>
            <a:pPr indent="0" marL="0">
              <a:buNone/>
            </a:pPr>
            <a:r>
              <a:rPr lang="en-US" sz="1300" dirty="0">
                <a:solidFill>
                  <a:srgbClr val="9CDCFE"/>
                </a:solidFill>
                <a:latin typeface="Courier New" pitchFamily="34" charset="0"/>
                <a:ea typeface="Courier New" pitchFamily="34" charset="-122"/>
                <a:cs typeface="Courier New" pitchFamily="34" charset="-120"/>
              </a:rPr>
              <a:t>&gt;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buNone/>
            </a:pPr>
            <a:endParaRPr lang="en-US" sz="1300" dirty="0"/>
          </a:p>
          <a:p>
            <a:pPr indent="0" marL="0">
              <a:buNone/>
            </a:pPr>
            <a:r>
              <a:rPr lang="en-US" sz="1300" i="1" dirty="0">
                <a:solidFill>
                  <a:srgbClr val="6A9955"/>
                </a:solidFill>
                <a:latin typeface="Courier New" pitchFamily="34" charset="0"/>
                <a:ea typeface="Courier New" pitchFamily="34" charset="-122"/>
                <a:cs typeface="Courier New" pitchFamily="34" charset="-120"/>
              </a:rPr>
              <a:t>// Profile.jsx — Client Component</a:t>
            </a:r>
            <a:endParaRPr lang="en-US" sz="1300" dirty="0"/>
          </a:p>
          <a:p>
            <a:pPr indent="0" marL="0">
              <a:buNone/>
            </a:pPr>
            <a:r>
              <a:rPr lang="en-US" sz="1300" dirty="0">
                <a:solidFill>
                  <a:srgbClr val="9CDCFE"/>
                </a:solidFill>
                <a:latin typeface="Courier New" pitchFamily="34" charset="0"/>
                <a:ea typeface="Courier New" pitchFamily="34" charset="-122"/>
                <a:cs typeface="Courier New" pitchFamily="34" charset="-120"/>
              </a:rPr>
              <a:t>'use client'</a:t>
            </a:r>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C586C0"/>
                </a:solidFill>
                <a:latin typeface="Courier New" pitchFamily="34" charset="0"/>
                <a:ea typeface="Courier New" pitchFamily="34" charset="-122"/>
                <a:cs typeface="Courier New" pitchFamily="34" charset="-120"/>
              </a:rPr>
              <a:t>export function </a:t>
            </a:r>
            <a:pPr indent="0" marL="0">
              <a:buNone/>
            </a:pPr>
            <a:r>
              <a:rPr lang="en-US" sz="1300" dirty="0">
                <a:solidFill>
                  <a:srgbClr val="DCDCAA"/>
                </a:solidFill>
                <a:latin typeface="Courier New" pitchFamily="34" charset="0"/>
                <a:ea typeface="Courier New" pitchFamily="34" charset="-122"/>
                <a:cs typeface="Courier New" pitchFamily="34" charset="-120"/>
              </a:rPr>
              <a:t>Profile</a:t>
            </a:r>
            <a:pPr indent="0" marL="0">
              <a:buNone/>
            </a:pPr>
            <a:r>
              <a:rPr lang="en-US" sz="1300" dirty="0">
                <a:solidFill>
                  <a:srgbClr val="FFFFFF"/>
                </a:solidFill>
                <a:latin typeface="Courier New" pitchFamily="34" charset="0"/>
                <a:ea typeface="Courier New" pitchFamily="34" charset="-122"/>
                <a:cs typeface="Courier New" pitchFamily="34" charset="-120"/>
              </a:rPr>
              <a:t>({ userPromise }) {</a:t>
            </a:r>
            <a:endParaRPr lang="en-US" sz="1300" dirty="0"/>
          </a:p>
          <a:p>
            <a:pPr indent="0" marL="0">
              <a:buNone/>
            </a:pPr>
            <a:r>
              <a:rPr lang="en-US" sz="1300" dirty="0">
                <a:solidFill>
                  <a:srgbClr val="C586C0"/>
                </a:solidFill>
                <a:latin typeface="Courier New" pitchFamily="34" charset="0"/>
                <a:ea typeface="Courier New" pitchFamily="34" charset="-122"/>
                <a:cs typeface="Courier New" pitchFamily="34" charset="-120"/>
              </a:rPr>
              <a:t>  const user = </a:t>
            </a:r>
            <a:pPr indent="0" marL="0">
              <a:buNone/>
            </a:pPr>
            <a:r>
              <a:rPr lang="en-US" sz="1300" dirty="0">
                <a:solidFill>
                  <a:srgbClr val="DCDCAA"/>
                </a:solidFill>
                <a:latin typeface="Courier New" pitchFamily="34" charset="0"/>
                <a:ea typeface="Courier New" pitchFamily="34" charset="-122"/>
                <a:cs typeface="Courier New" pitchFamily="34" charset="-120"/>
              </a:rPr>
              <a:t>use</a:t>
            </a:r>
            <a:pPr indent="0" marL="0">
              <a:buNone/>
            </a:pPr>
            <a:r>
              <a:rPr lang="en-US" sz="1300" dirty="0">
                <a:solidFill>
                  <a:srgbClr val="FFFFFF"/>
                </a:solidFill>
                <a:latin typeface="Courier New" pitchFamily="34" charset="0"/>
                <a:ea typeface="Courier New" pitchFamily="34" charset="-122"/>
                <a:cs typeface="Courier New" pitchFamily="34" charset="-120"/>
              </a:rPr>
              <a:t>(userPromise);</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return &lt;h1&gt;{user.name}&lt;/h1&gt;;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7" name="Shape 5"/>
          <p:cNvSpPr/>
          <p:nvPr/>
        </p:nvSpPr>
        <p:spPr>
          <a:xfrm>
            <a:off x="777240" y="5897880"/>
            <a:ext cx="10607040" cy="365760"/>
          </a:xfrm>
          <a:prstGeom prst="rect">
            <a:avLst/>
          </a:prstGeom>
          <a:solidFill>
            <a:srgbClr val="CBF1F6"/>
          </a:solidFill>
          <a:ln w="12700">
            <a:solidFill>
              <a:srgbClr val="CBF1F6"/>
            </a:solidFill>
            <a:prstDash val="solid"/>
          </a:ln>
        </p:spPr>
      </p:sp>
      <p:sp>
        <p:nvSpPr>
          <p:cNvPr id="8" name="Text 6"/>
          <p:cNvSpPr/>
          <p:nvPr/>
        </p:nvSpPr>
        <p:spPr>
          <a:xfrm>
            <a:off x="960120" y="5897880"/>
            <a:ext cx="10424160" cy="365760"/>
          </a:xfrm>
          <a:prstGeom prst="rect">
            <a:avLst/>
          </a:prstGeom>
          <a:noFill/>
          <a:ln/>
        </p:spPr>
        <p:txBody>
          <a:bodyPr wrap="square" lIns="0" tIns="0" rIns="0" bIns="0" rtlCol="0" anchor="ctr"/>
          <a:lstStyle/>
          <a:p>
            <a:pPr indent="0" marL="0">
              <a:buNone/>
            </a:pPr>
            <a:r>
              <a:rPr lang="en-US" sz="1100" i="1" dirty="0">
                <a:solidFill>
                  <a:srgbClr val="0F172A"/>
                </a:solidFill>
                <a:latin typeface="Arial" pitchFamily="34" charset="0"/>
                <a:ea typeface="Arial" pitchFamily="34" charset="-122"/>
                <a:cs typeface="Arial" pitchFamily="34" charset="-120"/>
              </a:rPr>
              <a:t>Common mistake: creating the promise inside the component that calls use(). New promise every render → infinite suspense loop.</a:t>
            </a:r>
            <a:endParaRPr lang="en-US" sz="110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18 / 34</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useActionState — anatomy</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Wraps a form action. Gives you state, the action, and isPending in one tuple.</a:t>
            </a:r>
            <a:endParaRPr lang="en-US" sz="1400" dirty="0"/>
          </a:p>
        </p:txBody>
      </p:sp>
      <p:sp>
        <p:nvSpPr>
          <p:cNvPr id="5" name="Shape 3"/>
          <p:cNvSpPr/>
          <p:nvPr/>
        </p:nvSpPr>
        <p:spPr>
          <a:xfrm>
            <a:off x="777240" y="1554480"/>
            <a:ext cx="10607040" cy="18288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1554480"/>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const [state, action, isPending] = </a:t>
            </a:r>
            <a:pPr indent="0" marL="0">
              <a:buNone/>
            </a:pPr>
            <a:r>
              <a:rPr lang="en-US" sz="1400" dirty="0">
                <a:solidFill>
                  <a:srgbClr val="DCDCAA"/>
                </a:solidFill>
                <a:latin typeface="Courier New" pitchFamily="34" charset="0"/>
                <a:ea typeface="Courier New" pitchFamily="34" charset="-122"/>
                <a:cs typeface="Courier New" pitchFamily="34" charset="-120"/>
              </a:rPr>
              <a:t>useActionState</a:t>
            </a:r>
            <a:pPr indent="0" marL="0">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9CDCFE"/>
                </a:solidFill>
                <a:latin typeface="Courier New" pitchFamily="34" charset="0"/>
                <a:ea typeface="Courier New" pitchFamily="34" charset="-122"/>
                <a:cs typeface="Courier New" pitchFamily="34" charset="-120"/>
              </a:rPr>
              <a:t>  fn,        </a:t>
            </a:r>
            <a:pPr indent="0" marL="0">
              <a:buNone/>
            </a:pPr>
            <a:r>
              <a:rPr lang="en-US" sz="1400" i="1" dirty="0">
                <a:solidFill>
                  <a:srgbClr val="6A9955"/>
                </a:solidFill>
                <a:latin typeface="Courier New" pitchFamily="34" charset="0"/>
                <a:ea typeface="Courier New" pitchFamily="34" charset="-122"/>
                <a:cs typeface="Courier New" pitchFamily="34" charset="-120"/>
              </a:rPr>
              <a:t>// async (prevState, formData) =&gt; newState</a:t>
            </a:r>
            <a:endParaRPr lang="en-US" sz="1400" dirty="0"/>
          </a:p>
          <a:p>
            <a:pPr indent="0" marL="0">
              <a:buNone/>
            </a:pPr>
            <a:r>
              <a:rPr lang="en-US" sz="1400" dirty="0">
                <a:solidFill>
                  <a:srgbClr val="9CDCFE"/>
                </a:solidFill>
                <a:latin typeface="Courier New" pitchFamily="34" charset="0"/>
                <a:ea typeface="Courier New" pitchFamily="34" charset="-122"/>
                <a:cs typeface="Courier New" pitchFamily="34" charset="-120"/>
              </a:rPr>
              <a:t>  initialState,</a:t>
            </a:r>
            <a:endParaRPr lang="en-US" sz="1400" dirty="0"/>
          </a:p>
          <a:p>
            <a:pPr indent="0" marL="0">
              <a:buNone/>
            </a:pPr>
            <a:r>
              <a:rPr lang="en-US" sz="1400" dirty="0">
                <a:solidFill>
                  <a:srgbClr val="9CDCFE"/>
                </a:solidFill>
                <a:latin typeface="Courier New" pitchFamily="34" charset="0"/>
                <a:ea typeface="Courier New" pitchFamily="34" charset="-122"/>
                <a:cs typeface="Courier New" pitchFamily="34" charset="-120"/>
              </a:rPr>
              <a:t>  permalink, </a:t>
            </a:r>
            <a:pPr indent="0" marL="0">
              <a:buNone/>
            </a:pPr>
            <a:r>
              <a:rPr lang="en-US" sz="1400" i="1" dirty="0">
                <a:solidFill>
                  <a:srgbClr val="6A9955"/>
                </a:solidFill>
                <a:latin typeface="Courier New" pitchFamily="34" charset="0"/>
                <a:ea typeface="Courier New" pitchFamily="34" charset="-122"/>
                <a:cs typeface="Courier New" pitchFamily="34" charset="-120"/>
              </a:rPr>
              <a:t>// optional, for progressive enhancement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7" name="Shape 5"/>
          <p:cNvSpPr/>
          <p:nvPr/>
        </p:nvSpPr>
        <p:spPr>
          <a:xfrm>
            <a:off x="777240" y="3657600"/>
            <a:ext cx="3611880" cy="2468880"/>
          </a:xfrm>
          <a:prstGeom prst="rect">
            <a:avLst/>
          </a:prstGeom>
          <a:solidFill>
            <a:srgbClr val="FFFFFF"/>
          </a:solidFill>
          <a:ln w="12700">
            <a:solidFill>
              <a:srgbClr val="E2E8F0"/>
            </a:solidFill>
            <a:prstDash val="solid"/>
          </a:ln>
        </p:spPr>
      </p:sp>
      <p:sp>
        <p:nvSpPr>
          <p:cNvPr id="8" name="Shape 6"/>
          <p:cNvSpPr/>
          <p:nvPr/>
        </p:nvSpPr>
        <p:spPr>
          <a:xfrm>
            <a:off x="777240" y="3657600"/>
            <a:ext cx="3611880" cy="457200"/>
          </a:xfrm>
          <a:prstGeom prst="rect">
            <a:avLst/>
          </a:prstGeom>
          <a:solidFill>
            <a:srgbClr val="CBF1F6"/>
          </a:solidFill>
          <a:ln w="12700">
            <a:solidFill>
              <a:srgbClr val="CBF1F6"/>
            </a:solidFill>
            <a:prstDash val="solid"/>
          </a:ln>
        </p:spPr>
      </p:sp>
      <p:sp>
        <p:nvSpPr>
          <p:cNvPr id="9" name="Text 7"/>
          <p:cNvSpPr/>
          <p:nvPr/>
        </p:nvSpPr>
        <p:spPr>
          <a:xfrm>
            <a:off x="960120" y="3703320"/>
            <a:ext cx="3337560" cy="365760"/>
          </a:xfrm>
          <a:prstGeom prst="rect">
            <a:avLst/>
          </a:prstGeom>
          <a:noFill/>
          <a:ln/>
        </p:spPr>
        <p:txBody>
          <a:bodyPr wrap="square" lIns="0" tIns="0" rIns="0" bIns="0" rtlCol="0" anchor="ctr"/>
          <a:lstStyle/>
          <a:p>
            <a:pPr indent="0" marL="0">
              <a:buNone/>
            </a:pPr>
            <a:r>
              <a:rPr lang="en-US" sz="1400" b="1" dirty="0">
                <a:solidFill>
                  <a:srgbClr val="0F172A"/>
                </a:solidFill>
                <a:latin typeface="Courier New" pitchFamily="34" charset="0"/>
                <a:ea typeface="Courier New" pitchFamily="34" charset="-122"/>
                <a:cs typeface="Courier New" pitchFamily="34" charset="-120"/>
              </a:rPr>
              <a:t>state</a:t>
            </a:r>
            <a:endParaRPr lang="en-US" sz="1400" dirty="0"/>
          </a:p>
        </p:txBody>
      </p:sp>
      <p:sp>
        <p:nvSpPr>
          <p:cNvPr id="10" name="Text 8"/>
          <p:cNvSpPr/>
          <p:nvPr/>
        </p:nvSpPr>
        <p:spPr>
          <a:xfrm>
            <a:off x="960120" y="4206240"/>
            <a:ext cx="3337560" cy="178308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Whatever fn returned last time it ran. The classic form-state pattern: { errors, fieldValues, success }.</a:t>
            </a:r>
            <a:endParaRPr lang="en-US" sz="1200" dirty="0"/>
          </a:p>
        </p:txBody>
      </p:sp>
      <p:sp>
        <p:nvSpPr>
          <p:cNvPr id="11" name="Shape 9"/>
          <p:cNvSpPr/>
          <p:nvPr/>
        </p:nvSpPr>
        <p:spPr>
          <a:xfrm>
            <a:off x="4617720" y="3657600"/>
            <a:ext cx="3611880" cy="2468880"/>
          </a:xfrm>
          <a:prstGeom prst="rect">
            <a:avLst/>
          </a:prstGeom>
          <a:solidFill>
            <a:srgbClr val="FFFFFF"/>
          </a:solidFill>
          <a:ln w="12700">
            <a:solidFill>
              <a:srgbClr val="E2E8F0"/>
            </a:solidFill>
            <a:prstDash val="solid"/>
          </a:ln>
        </p:spPr>
      </p:sp>
      <p:sp>
        <p:nvSpPr>
          <p:cNvPr id="12" name="Shape 10"/>
          <p:cNvSpPr/>
          <p:nvPr/>
        </p:nvSpPr>
        <p:spPr>
          <a:xfrm>
            <a:off x="4617720" y="3657600"/>
            <a:ext cx="3611880" cy="457200"/>
          </a:xfrm>
          <a:prstGeom prst="rect">
            <a:avLst/>
          </a:prstGeom>
          <a:solidFill>
            <a:srgbClr val="CBF1F6"/>
          </a:solidFill>
          <a:ln w="12700">
            <a:solidFill>
              <a:srgbClr val="CBF1F6"/>
            </a:solidFill>
            <a:prstDash val="solid"/>
          </a:ln>
        </p:spPr>
      </p:sp>
      <p:sp>
        <p:nvSpPr>
          <p:cNvPr id="13" name="Text 11"/>
          <p:cNvSpPr/>
          <p:nvPr/>
        </p:nvSpPr>
        <p:spPr>
          <a:xfrm>
            <a:off x="4800600" y="3703320"/>
            <a:ext cx="3337560" cy="365760"/>
          </a:xfrm>
          <a:prstGeom prst="rect">
            <a:avLst/>
          </a:prstGeom>
          <a:noFill/>
          <a:ln/>
        </p:spPr>
        <p:txBody>
          <a:bodyPr wrap="square" lIns="0" tIns="0" rIns="0" bIns="0" rtlCol="0" anchor="ctr"/>
          <a:lstStyle/>
          <a:p>
            <a:pPr indent="0" marL="0">
              <a:buNone/>
            </a:pPr>
            <a:r>
              <a:rPr lang="en-US" sz="1400" b="1" dirty="0">
                <a:solidFill>
                  <a:srgbClr val="0F172A"/>
                </a:solidFill>
                <a:latin typeface="Courier New" pitchFamily="34" charset="0"/>
                <a:ea typeface="Courier New" pitchFamily="34" charset="-122"/>
                <a:cs typeface="Courier New" pitchFamily="34" charset="-120"/>
              </a:rPr>
              <a:t>action</a:t>
            </a:r>
            <a:endParaRPr lang="en-US" sz="1400" dirty="0"/>
          </a:p>
        </p:txBody>
      </p:sp>
      <p:sp>
        <p:nvSpPr>
          <p:cNvPr id="14" name="Text 12"/>
          <p:cNvSpPr/>
          <p:nvPr/>
        </p:nvSpPr>
        <p:spPr>
          <a:xfrm>
            <a:off x="4800600" y="4206240"/>
            <a:ext cx="3337560" cy="178308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A wrapped version of fn. Pass it to &lt;form action&gt;. React calls it on submit and updates state automatically.</a:t>
            </a:r>
            <a:endParaRPr lang="en-US" sz="1200" dirty="0"/>
          </a:p>
        </p:txBody>
      </p:sp>
      <p:sp>
        <p:nvSpPr>
          <p:cNvPr id="15" name="Shape 13"/>
          <p:cNvSpPr/>
          <p:nvPr/>
        </p:nvSpPr>
        <p:spPr>
          <a:xfrm>
            <a:off x="8458200" y="3657600"/>
            <a:ext cx="3611880" cy="2468880"/>
          </a:xfrm>
          <a:prstGeom prst="rect">
            <a:avLst/>
          </a:prstGeom>
          <a:solidFill>
            <a:srgbClr val="FFFFFF"/>
          </a:solidFill>
          <a:ln w="12700">
            <a:solidFill>
              <a:srgbClr val="E2E8F0"/>
            </a:solidFill>
            <a:prstDash val="solid"/>
          </a:ln>
        </p:spPr>
      </p:sp>
      <p:sp>
        <p:nvSpPr>
          <p:cNvPr id="16" name="Shape 14"/>
          <p:cNvSpPr/>
          <p:nvPr/>
        </p:nvSpPr>
        <p:spPr>
          <a:xfrm>
            <a:off x="8458200" y="3657600"/>
            <a:ext cx="3611880" cy="457200"/>
          </a:xfrm>
          <a:prstGeom prst="rect">
            <a:avLst/>
          </a:prstGeom>
          <a:solidFill>
            <a:srgbClr val="CBF1F6"/>
          </a:solidFill>
          <a:ln w="12700">
            <a:solidFill>
              <a:srgbClr val="CBF1F6"/>
            </a:solidFill>
            <a:prstDash val="solid"/>
          </a:ln>
        </p:spPr>
      </p:sp>
      <p:sp>
        <p:nvSpPr>
          <p:cNvPr id="17" name="Text 15"/>
          <p:cNvSpPr/>
          <p:nvPr/>
        </p:nvSpPr>
        <p:spPr>
          <a:xfrm>
            <a:off x="8641080" y="3703320"/>
            <a:ext cx="3337560" cy="365760"/>
          </a:xfrm>
          <a:prstGeom prst="rect">
            <a:avLst/>
          </a:prstGeom>
          <a:noFill/>
          <a:ln/>
        </p:spPr>
        <p:txBody>
          <a:bodyPr wrap="square" lIns="0" tIns="0" rIns="0" bIns="0" rtlCol="0" anchor="ctr"/>
          <a:lstStyle/>
          <a:p>
            <a:pPr indent="0" marL="0">
              <a:buNone/>
            </a:pPr>
            <a:r>
              <a:rPr lang="en-US" sz="1400" b="1" dirty="0">
                <a:solidFill>
                  <a:srgbClr val="0F172A"/>
                </a:solidFill>
                <a:latin typeface="Courier New" pitchFamily="34" charset="0"/>
                <a:ea typeface="Courier New" pitchFamily="34" charset="-122"/>
                <a:cs typeface="Courier New" pitchFamily="34" charset="-120"/>
              </a:rPr>
              <a:t>isPending</a:t>
            </a:r>
            <a:endParaRPr lang="en-US" sz="1400" dirty="0"/>
          </a:p>
        </p:txBody>
      </p:sp>
      <p:sp>
        <p:nvSpPr>
          <p:cNvPr id="18" name="Text 16"/>
          <p:cNvSpPr/>
          <p:nvPr/>
        </p:nvSpPr>
        <p:spPr>
          <a:xfrm>
            <a:off x="8641080" y="4206240"/>
            <a:ext cx="3337560" cy="178308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True while the wrapped action is running. Use for spinners and disabling submit.</a:t>
            </a:r>
            <a:endParaRPr lang="en-US" sz="1200" dirty="0"/>
          </a:p>
        </p:txBody>
      </p:sp>
      <p:sp>
        <p:nvSpPr>
          <p:cNvPr id="19" name="Text 1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20" name="Text 1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19 / 34</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useActionState in practice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Login form with validation, error display, and a pending state — no useState needed.</a:t>
            </a:r>
            <a:endParaRPr lang="en-US" sz="1400" dirty="0"/>
          </a:p>
        </p:txBody>
      </p:sp>
      <p:sp>
        <p:nvSpPr>
          <p:cNvPr id="5" name="Shape 3"/>
          <p:cNvSpPr/>
          <p:nvPr/>
        </p:nvSpPr>
        <p:spPr>
          <a:xfrm>
            <a:off x="777240" y="1554480"/>
            <a:ext cx="10607040" cy="45720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4297680"/>
          </a:xfrm>
          <a:prstGeom prst="rect">
            <a:avLst/>
          </a:prstGeom>
          <a:noFill/>
          <a:ln/>
        </p:spPr>
        <p:txBody>
          <a:bodyPr wrap="square" lIns="0" tIns="0" rIns="0" bIns="0" rtlCol="0" anchor="t"/>
          <a:lstStyle/>
          <a:p>
            <a:pPr indent="0" marL="0">
              <a:buNone/>
            </a:pPr>
            <a:r>
              <a:rPr lang="en-US" sz="1200" dirty="0">
                <a:solidFill>
                  <a:srgbClr val="C586C0"/>
                </a:solidFill>
                <a:latin typeface="Courier New" pitchFamily="34" charset="0"/>
                <a:ea typeface="Courier New" pitchFamily="34" charset="-122"/>
                <a:cs typeface="Courier New" pitchFamily="34" charset="-120"/>
              </a:rPr>
              <a:t>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login</a:t>
            </a:r>
            <a:pPr indent="0" marL="0">
              <a:buNone/>
            </a:pPr>
            <a:r>
              <a:rPr lang="en-US" sz="1200" dirty="0">
                <a:solidFill>
                  <a:srgbClr val="FFFFFF"/>
                </a:solidFill>
                <a:latin typeface="Courier New" pitchFamily="34" charset="0"/>
                <a:ea typeface="Courier New" pitchFamily="34" charset="-122"/>
                <a:cs typeface="Courier New" pitchFamily="34" charset="-120"/>
              </a:rPr>
              <a:t>(prevState, formData)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email = formData.get(</a:t>
            </a:r>
            <a:pPr indent="0" marL="0">
              <a:buNone/>
            </a:pPr>
            <a:r>
              <a:rPr lang="en-US" sz="1200" dirty="0">
                <a:solidFill>
                  <a:srgbClr val="9CDCFE"/>
                </a:solidFill>
                <a:latin typeface="Courier New" pitchFamily="34" charset="0"/>
                <a:ea typeface="Courier New" pitchFamily="34" charset="-122"/>
                <a:cs typeface="Courier New" pitchFamily="34" charset="-120"/>
              </a:rPr>
              <a:t>'email'</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password = formData.get(</a:t>
            </a:r>
            <a:pPr indent="0" marL="0">
              <a:buNone/>
            </a:pPr>
            <a:r>
              <a:rPr lang="en-US" sz="1200" dirty="0">
                <a:solidFill>
                  <a:srgbClr val="9CDCFE"/>
                </a:solidFill>
                <a:latin typeface="Courier New" pitchFamily="34" charset="0"/>
                <a:ea typeface="Courier New" pitchFamily="34" charset="-122"/>
                <a:cs typeface="Courier New" pitchFamily="34" charset="-120"/>
              </a:rPr>
              <a:t>'password'</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result = await authApi.login(email, password);</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if (result.error) </a:t>
            </a:r>
            <a:pPr indent="0" marL="0">
              <a:buNone/>
            </a:pPr>
            <a:r>
              <a:rPr lang="en-US" sz="1200" dirty="0">
                <a:solidFill>
                  <a:srgbClr val="C586C0"/>
                </a:solidFill>
                <a:latin typeface="Courier New" pitchFamily="34" charset="0"/>
                <a:ea typeface="Courier New" pitchFamily="34" charset="-122"/>
                <a:cs typeface="Courier New" pitchFamily="34" charset="-120"/>
              </a:rPr>
              <a:t>return </a:t>
            </a:r>
            <a:pPr indent="0" marL="0">
              <a:buNone/>
            </a:pPr>
            <a:r>
              <a:rPr lang="en-US" sz="1200" dirty="0">
                <a:solidFill>
                  <a:srgbClr val="FFFFFF"/>
                </a:solidFill>
                <a:latin typeface="Courier New" pitchFamily="34" charset="0"/>
                <a:ea typeface="Courier New" pitchFamily="34" charset="-122"/>
                <a:cs typeface="Courier New" pitchFamily="34" charset="-120"/>
              </a:rPr>
              <a:t>{ email, error: result.error };</a:t>
            </a:r>
            <a:endParaRPr lang="en-US" sz="1200" dirty="0"/>
          </a:p>
          <a:p>
            <a:pPr indent="0" marL="0">
              <a:buNone/>
            </a:pPr>
            <a:r>
              <a:rPr lang="en-US" sz="1200" dirty="0">
                <a:solidFill>
                  <a:srgbClr val="DCDCAA"/>
                </a:solidFill>
                <a:latin typeface="Courier New" pitchFamily="34" charset="0"/>
                <a:ea typeface="Courier New" pitchFamily="34" charset="-122"/>
                <a:cs typeface="Courier New" pitchFamily="34" charset="-120"/>
              </a:rPr>
              <a:t>  redirect(</a:t>
            </a:r>
            <a:pPr indent="0" marL="0">
              <a:buNone/>
            </a:pPr>
            <a:r>
              <a:rPr lang="en-US" sz="1200" dirty="0">
                <a:solidFill>
                  <a:srgbClr val="9CDCFE"/>
                </a:solidFill>
                <a:latin typeface="Courier New" pitchFamily="34" charset="0"/>
                <a:ea typeface="Courier New" pitchFamily="34" charset="-122"/>
                <a:cs typeface="Courier New" pitchFamily="34" charset="-120"/>
              </a:rPr>
              <a:t>'/home'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function </a:t>
            </a:r>
            <a:pPr indent="0" marL="0">
              <a:buNone/>
            </a:pPr>
            <a:r>
              <a:rPr lang="en-US" sz="1200" dirty="0">
                <a:solidFill>
                  <a:srgbClr val="DCDCAA"/>
                </a:solidFill>
                <a:latin typeface="Courier New" pitchFamily="34" charset="0"/>
                <a:ea typeface="Courier New" pitchFamily="34" charset="-122"/>
                <a:cs typeface="Courier New" pitchFamily="34" charset="-120"/>
              </a:rPr>
              <a:t>LoginForm</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[state, action, isPending] = </a:t>
            </a:r>
            <a:pPr indent="0" marL="0">
              <a:buNone/>
            </a:pPr>
            <a:r>
              <a:rPr lang="en-US" sz="1200" dirty="0">
                <a:solidFill>
                  <a:srgbClr val="DCDCAA"/>
                </a:solidFill>
                <a:latin typeface="Courier New" pitchFamily="34" charset="0"/>
                <a:ea typeface="Courier New" pitchFamily="34" charset="-122"/>
                <a:cs typeface="Courier New" pitchFamily="34" charset="-120"/>
              </a:rPr>
              <a:t>useActionState</a:t>
            </a:r>
            <a:pPr indent="0" marL="0">
              <a:buNone/>
            </a:pPr>
            <a:r>
              <a:rPr lang="en-US" sz="1200" dirty="0">
                <a:solidFill>
                  <a:srgbClr val="FFFFFF"/>
                </a:solidFill>
                <a:latin typeface="Courier New" pitchFamily="34" charset="0"/>
                <a:ea typeface="Courier New" pitchFamily="34" charset="-122"/>
                <a:cs typeface="Courier New" pitchFamily="34" charset="-120"/>
              </a:rPr>
              <a:t>(login,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&lt;form action={action}&gt;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&lt;input name=</a:t>
            </a:r>
            <a:pPr indent="0" marL="0">
              <a:buNone/>
            </a:pPr>
            <a:r>
              <a:rPr lang="en-US" sz="1200" dirty="0">
                <a:solidFill>
                  <a:srgbClr val="9CDCFE"/>
                </a:solidFill>
                <a:latin typeface="Courier New" pitchFamily="34" charset="0"/>
                <a:ea typeface="Courier New" pitchFamily="34" charset="-122"/>
                <a:cs typeface="Courier New" pitchFamily="34" charset="-120"/>
              </a:rPr>
              <a:t>'email'</a:t>
            </a:r>
            <a:pPr indent="0" marL="0">
              <a:buNone/>
            </a:pPr>
            <a:r>
              <a:rPr lang="en-US" sz="1200" dirty="0">
                <a:solidFill>
                  <a:srgbClr val="FFFFFF"/>
                </a:solidFill>
                <a:latin typeface="Courier New" pitchFamily="34" charset="0"/>
                <a:ea typeface="Courier New" pitchFamily="34" charset="-122"/>
                <a:cs typeface="Courier New" pitchFamily="34" charset="-120"/>
              </a:rPr>
              <a:t> defaultValue={state.email}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&lt;input name=</a:t>
            </a:r>
            <a:pPr indent="0" marL="0">
              <a:buNone/>
            </a:pPr>
            <a:r>
              <a:rPr lang="en-US" sz="1200" dirty="0">
                <a:solidFill>
                  <a:srgbClr val="9CDCFE"/>
                </a:solidFill>
                <a:latin typeface="Courier New" pitchFamily="34" charset="0"/>
                <a:ea typeface="Courier New" pitchFamily="34" charset="-122"/>
                <a:cs typeface="Courier New" pitchFamily="34" charset="-120"/>
              </a:rPr>
              <a:t>'password'</a:t>
            </a:r>
            <a:pPr indent="0" marL="0">
              <a:buNone/>
            </a:pPr>
            <a:r>
              <a:rPr lang="en-US" sz="1200" dirty="0">
                <a:solidFill>
                  <a:srgbClr val="FFFFFF"/>
                </a:solidFill>
                <a:latin typeface="Courier New" pitchFamily="34" charset="0"/>
                <a:ea typeface="Courier New" pitchFamily="34" charset="-122"/>
                <a:cs typeface="Courier New" pitchFamily="34" charset="-120"/>
              </a:rPr>
              <a:t> type=</a:t>
            </a:r>
            <a:pPr indent="0" marL="0">
              <a:buNone/>
            </a:pPr>
            <a:r>
              <a:rPr lang="en-US" sz="1200" dirty="0">
                <a:solidFill>
                  <a:srgbClr val="9CDCFE"/>
                </a:solidFill>
                <a:latin typeface="Courier New" pitchFamily="34" charset="0"/>
                <a:ea typeface="Courier New" pitchFamily="34" charset="-122"/>
                <a:cs typeface="Courier New" pitchFamily="34" charset="-120"/>
              </a:rPr>
              <a:t>'password'</a:t>
            </a:r>
            <a:pPr indent="0" marL="0">
              <a:buNone/>
            </a:pPr>
            <a:r>
              <a:rPr lang="en-US" sz="1200" dirty="0">
                <a:solidFill>
                  <a:srgbClr val="FFFFFF"/>
                </a:solidFill>
                <a:latin typeface="Courier New" pitchFamily="34" charset="0"/>
                <a:ea typeface="Courier New" pitchFamily="34" charset="-122"/>
                <a:cs typeface="Courier New" pitchFamily="34" charset="-120"/>
              </a:rPr>
              <a:t>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{state.error &amp;&amp; &lt;p className=</a:t>
            </a:r>
            <a:pPr indent="0" marL="0">
              <a:buNone/>
            </a:pPr>
            <a:r>
              <a:rPr lang="en-US" sz="1200" dirty="0">
                <a:solidFill>
                  <a:srgbClr val="9CDCFE"/>
                </a:solidFill>
                <a:latin typeface="Courier New" pitchFamily="34" charset="0"/>
                <a:ea typeface="Courier New" pitchFamily="34" charset="-122"/>
                <a:cs typeface="Courier New" pitchFamily="34" charset="-120"/>
              </a:rPr>
              <a:t>'error'</a:t>
            </a:r>
            <a:pPr indent="0" marL="0">
              <a:buNone/>
            </a:pPr>
            <a:r>
              <a:rPr lang="en-US" sz="1200" dirty="0">
                <a:solidFill>
                  <a:srgbClr val="FFFFFF"/>
                </a:solidFill>
                <a:latin typeface="Courier New" pitchFamily="34" charset="0"/>
                <a:ea typeface="Courier New" pitchFamily="34" charset="-122"/>
                <a:cs typeface="Courier New" pitchFamily="34" charset="-120"/>
              </a:rPr>
              <a:t>&gt;{state.error}&lt;/p&gt;}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&lt;button disabled={isPending}&gt;Sign in&lt;/button&gt;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&lt;/form&gt;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20 / 34</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useFormStatus — the inside-form hook</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Read pending/data/method/action from any descendant of a form. Replaces prop drilling.</a:t>
            </a:r>
            <a:endParaRPr lang="en-US" sz="1400" dirty="0"/>
          </a:p>
        </p:txBody>
      </p:sp>
      <p:sp>
        <p:nvSpPr>
          <p:cNvPr id="5" name="Shape 3"/>
          <p:cNvSpPr/>
          <p:nvPr/>
        </p:nvSpPr>
        <p:spPr>
          <a:xfrm>
            <a:off x="777240" y="1554480"/>
            <a:ext cx="5943600" cy="1097280"/>
          </a:xfrm>
          <a:prstGeom prst="rect">
            <a:avLst/>
          </a:prstGeom>
          <a:solidFill>
            <a:srgbClr val="1E2A47"/>
          </a:solidFill>
          <a:ln w="12700">
            <a:solidFill>
              <a:srgbClr val="1E2A47"/>
            </a:solidFill>
            <a:prstDash val="solid"/>
          </a:ln>
        </p:spPr>
      </p:sp>
      <p:sp>
        <p:nvSpPr>
          <p:cNvPr id="6" name="Text 4"/>
          <p:cNvSpPr/>
          <p:nvPr/>
        </p:nvSpPr>
        <p:spPr>
          <a:xfrm>
            <a:off x="960120" y="1691640"/>
            <a:ext cx="5577840" cy="822960"/>
          </a:xfrm>
          <a:prstGeom prst="rect">
            <a:avLst/>
          </a:prstGeom>
          <a:noFill/>
          <a:ln/>
        </p:spPr>
        <p:txBody>
          <a:bodyPr wrap="square" lIns="0" tIns="0" rIns="0" bIns="0" rtlCol="0" anchor="t"/>
          <a:lstStyle/>
          <a:p>
            <a:pPr indent="0" marL="0">
              <a:buNone/>
            </a:pPr>
            <a:r>
              <a:rPr lang="en-US" sz="1400" dirty="0">
                <a:solidFill>
                  <a:srgbClr val="C586C0"/>
                </a:solidFill>
                <a:latin typeface="Courier New" pitchFamily="34" charset="0"/>
                <a:ea typeface="Courier New" pitchFamily="34" charset="-122"/>
                <a:cs typeface="Courier New" pitchFamily="34" charset="-120"/>
              </a:rPr>
              <a:t>const { pending, data, method, action } =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t>
            </a:r>
            <a:pPr indent="0" marL="0">
              <a:buNone/>
            </a:pPr>
            <a:r>
              <a:rPr lang="en-US" sz="1400" dirty="0">
                <a:solidFill>
                  <a:srgbClr val="DCDCAA"/>
                </a:solidFill>
                <a:latin typeface="Courier New" pitchFamily="34" charset="0"/>
                <a:ea typeface="Courier New" pitchFamily="34" charset="-122"/>
                <a:cs typeface="Courier New" pitchFamily="34" charset="-120"/>
              </a:rPr>
              <a:t>useFormStatus</a:t>
            </a:r>
            <a:pPr indent="0" marL="0">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7" name="Text 5"/>
          <p:cNvSpPr/>
          <p:nvPr/>
        </p:nvSpPr>
        <p:spPr>
          <a:xfrm>
            <a:off x="6949440" y="1554480"/>
            <a:ext cx="45720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Returns:</a:t>
            </a:r>
            <a:endParaRPr lang="en-US" sz="1400" dirty="0"/>
          </a:p>
        </p:txBody>
      </p:sp>
      <p:sp>
        <p:nvSpPr>
          <p:cNvPr id="8" name="Text 6"/>
          <p:cNvSpPr/>
          <p:nvPr/>
        </p:nvSpPr>
        <p:spPr>
          <a:xfrm>
            <a:off x="6949440" y="1920240"/>
            <a:ext cx="4572000" cy="219456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pending — true while the parent form's action is running</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data — the FormData being submitted (or null)</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method — 'get' or 'post'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action — the function the form will run</a:t>
            </a:r>
            <a:endParaRPr lang="en-US" sz="1250" dirty="0"/>
          </a:p>
        </p:txBody>
      </p:sp>
      <p:sp>
        <p:nvSpPr>
          <p:cNvPr id="9" name="Shape 7"/>
          <p:cNvSpPr/>
          <p:nvPr/>
        </p:nvSpPr>
        <p:spPr>
          <a:xfrm>
            <a:off x="777240" y="4389120"/>
            <a:ext cx="10607040" cy="1371600"/>
          </a:xfrm>
          <a:prstGeom prst="rect">
            <a:avLst/>
          </a:prstGeom>
          <a:solidFill>
            <a:srgbClr val="CBF1F6"/>
          </a:solidFill>
          <a:ln w="12700">
            <a:solidFill>
              <a:srgbClr val="CBF1F6"/>
            </a:solidFill>
            <a:prstDash val="solid"/>
          </a:ln>
        </p:spPr>
      </p:sp>
      <p:pic>
        <p:nvPicPr>
          <p:cNvPr id="10" name="Image 0" descr="preencoded.png">    </p:cNvPr>
          <p:cNvPicPr>
            <a:picLocks noChangeAspect="1"/>
          </p:cNvPicPr>
          <p:nvPr/>
        </p:nvPicPr>
        <p:blipFill>
          <a:blip r:embed="rId1"/>
          <a:stretch>
            <a:fillRect/>
          </a:stretch>
        </p:blipFill>
        <p:spPr>
          <a:xfrm>
            <a:off x="1005840" y="4709160"/>
            <a:ext cx="548640" cy="548640"/>
          </a:xfrm>
          <a:prstGeom prst="rect">
            <a:avLst/>
          </a:prstGeom>
        </p:spPr>
      </p:pic>
      <p:sp>
        <p:nvSpPr>
          <p:cNvPr id="11" name="Text 8"/>
          <p:cNvSpPr/>
          <p:nvPr/>
        </p:nvSpPr>
        <p:spPr>
          <a:xfrm>
            <a:off x="1783080" y="4434840"/>
            <a:ext cx="9509760" cy="1280160"/>
          </a:xfrm>
          <a:prstGeom prst="rect">
            <a:avLst/>
          </a:prstGeom>
          <a:noFill/>
          <a:ln/>
        </p:spPr>
        <p:txBody>
          <a:bodyPr wrap="square" lIns="0" tIns="0" rIns="0" bIns="0" rtlCol="0" anchor="ctr"/>
          <a:lstStyle/>
          <a:p>
            <a:pPr indent="0" marL="0">
              <a:buNone/>
            </a:pPr>
            <a:r>
              <a:rPr lang="en-US" sz="1400" i="1" dirty="0">
                <a:solidFill>
                  <a:srgbClr val="0F172A"/>
                </a:solidFill>
                <a:latin typeface="Arial" pitchFamily="34" charset="0"/>
                <a:ea typeface="Arial" pitchFamily="34" charset="-122"/>
                <a:cs typeface="Arial" pitchFamily="34" charset="-120"/>
              </a:rPr>
              <a:t>Must be called from inside a component rendered as a descendant of &lt;form&gt;. Calling it on the form itself returns null.</a:t>
            </a:r>
            <a:endParaRPr lang="en-US" sz="1400" dirty="0"/>
          </a:p>
        </p:txBody>
      </p:sp>
      <p:sp>
        <p:nvSpPr>
          <p:cNvPr id="12"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13"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21 / 34</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useFormStatus in practice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 submit button that knows when its form is submitting — without any props.</a:t>
            </a:r>
            <a:endParaRPr lang="en-US" sz="1400" dirty="0"/>
          </a:p>
        </p:txBody>
      </p:sp>
      <p:sp>
        <p:nvSpPr>
          <p:cNvPr id="5" name="Shape 3"/>
          <p:cNvSpPr/>
          <p:nvPr/>
        </p:nvSpPr>
        <p:spPr>
          <a:xfrm>
            <a:off x="777240" y="1554480"/>
            <a:ext cx="10607040" cy="4389120"/>
          </a:xfrm>
          <a:prstGeom prst="rect">
            <a:avLst/>
          </a:prstGeom>
          <a:solidFill>
            <a:srgbClr val="1E2A47"/>
          </a:solidFill>
          <a:ln w="12700">
            <a:solidFill>
              <a:srgbClr val="1E2A47"/>
            </a:solidFill>
            <a:prstDash val="solid"/>
          </a:ln>
        </p:spPr>
      </p:sp>
      <p:sp>
        <p:nvSpPr>
          <p:cNvPr id="6" name="Text 4"/>
          <p:cNvSpPr/>
          <p:nvPr/>
        </p:nvSpPr>
        <p:spPr>
          <a:xfrm>
            <a:off x="960120" y="1691640"/>
            <a:ext cx="10241280" cy="4114800"/>
          </a:xfrm>
          <a:prstGeom prst="rect">
            <a:avLst/>
          </a:prstGeom>
          <a:noFill/>
          <a:ln/>
        </p:spPr>
        <p:txBody>
          <a:bodyPr wrap="square" lIns="0" tIns="0" rIns="0" bIns="0" rtlCol="0" anchor="t"/>
          <a:lstStyle/>
          <a:p>
            <a:pPr indent="0" marL="0">
              <a:buNone/>
            </a:pPr>
            <a:r>
              <a:rPr lang="en-US" sz="1300" i="1" dirty="0">
                <a:solidFill>
                  <a:srgbClr val="6A9955"/>
                </a:solidFill>
                <a:latin typeface="Courier New" pitchFamily="34" charset="0"/>
                <a:ea typeface="Courier New" pitchFamily="34" charset="-122"/>
                <a:cs typeface="Courier New" pitchFamily="34" charset="-120"/>
              </a:rPr>
              <a:t>// reusable, no props needed</a:t>
            </a:r>
            <a:endParaRPr lang="en-US" sz="1300" dirty="0"/>
          </a:p>
          <a:p>
            <a:pPr indent="0" marL="0">
              <a:buNone/>
            </a:pPr>
            <a:r>
              <a:rPr lang="en-US" sz="1300" dirty="0">
                <a:solidFill>
                  <a:srgbClr val="C586C0"/>
                </a:solidFill>
                <a:latin typeface="Courier New" pitchFamily="34" charset="0"/>
                <a:ea typeface="Courier New" pitchFamily="34" charset="-122"/>
                <a:cs typeface="Courier New" pitchFamily="34" charset="-120"/>
              </a:rPr>
              <a:t>function </a:t>
            </a:r>
            <a:pPr indent="0" marL="0">
              <a:buNone/>
            </a:pPr>
            <a:r>
              <a:rPr lang="en-US" sz="1300" dirty="0">
                <a:solidFill>
                  <a:srgbClr val="DCDCAA"/>
                </a:solidFill>
                <a:latin typeface="Courier New" pitchFamily="34" charset="0"/>
                <a:ea typeface="Courier New" pitchFamily="34" charset="-122"/>
                <a:cs typeface="Courier New" pitchFamily="34" charset="-120"/>
              </a:rPr>
              <a:t>SubmitButton</a:t>
            </a:r>
            <a:pPr indent="0" marL="0">
              <a:buNone/>
            </a:pPr>
            <a:r>
              <a:rPr lang="en-US" sz="1300" dirty="0">
                <a:solidFill>
                  <a:srgbClr val="FFFFFF"/>
                </a:solidFill>
                <a:latin typeface="Courier New" pitchFamily="34" charset="0"/>
                <a:ea typeface="Courier New" pitchFamily="34" charset="-122"/>
                <a:cs typeface="Courier New" pitchFamily="34" charset="-120"/>
              </a:rPr>
              <a:t>({ children })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const { pending } = </a:t>
            </a:r>
            <a:pPr indent="0" marL="0">
              <a:buNone/>
            </a:pPr>
            <a:r>
              <a:rPr lang="en-US" sz="1300" dirty="0">
                <a:solidFill>
                  <a:srgbClr val="DCDCAA"/>
                </a:solidFill>
                <a:latin typeface="Courier New" pitchFamily="34" charset="0"/>
                <a:ea typeface="Courier New" pitchFamily="34" charset="-122"/>
                <a:cs typeface="Courier New" pitchFamily="34" charset="-120"/>
              </a:rPr>
              <a:t>useFormStatus</a:t>
            </a:r>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return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&lt;button type=</a:t>
            </a:r>
            <a:pPr indent="0" marL="0">
              <a:buNone/>
            </a:pPr>
            <a:r>
              <a:rPr lang="en-US" sz="1300" dirty="0">
                <a:solidFill>
                  <a:srgbClr val="9CDCFE"/>
                </a:solidFill>
                <a:latin typeface="Courier New" pitchFamily="34" charset="0"/>
                <a:ea typeface="Courier New" pitchFamily="34" charset="-122"/>
                <a:cs typeface="Courier New" pitchFamily="34" charset="-120"/>
              </a:rPr>
              <a:t>'submit'</a:t>
            </a:r>
            <a:pPr indent="0" marL="0">
              <a:buNone/>
            </a:pPr>
            <a:r>
              <a:rPr lang="en-US" sz="1300" dirty="0">
                <a:solidFill>
                  <a:srgbClr val="FFFFFF"/>
                </a:solidFill>
                <a:latin typeface="Courier New" pitchFamily="34" charset="0"/>
                <a:ea typeface="Courier New" pitchFamily="34" charset="-122"/>
                <a:cs typeface="Courier New" pitchFamily="34" charset="-120"/>
              </a:rPr>
              <a:t> disabled={pending}&gt;</a:t>
            </a:r>
            <a:endParaRPr lang="en-US" sz="1300" dirty="0"/>
          </a:p>
          <a:p>
            <a:pPr indent="0" marL="0">
              <a:buNone/>
            </a:pPr>
            <a:r>
              <a:rPr lang="en-US" sz="1300" dirty="0">
                <a:solidFill>
                  <a:srgbClr val="C586C0"/>
                </a:solidFill>
                <a:latin typeface="Courier New" pitchFamily="34" charset="0"/>
                <a:ea typeface="Courier New" pitchFamily="34" charset="-122"/>
                <a:cs typeface="Courier New" pitchFamily="34" charset="-120"/>
              </a:rPr>
              <a:t>      {pending ? </a:t>
            </a:r>
            <a:pPr indent="0" marL="0">
              <a:buNone/>
            </a:pPr>
            <a:r>
              <a:rPr lang="en-US" sz="1300" dirty="0">
                <a:solidFill>
                  <a:srgbClr val="9CDCFE"/>
                </a:solidFill>
                <a:latin typeface="Courier New" pitchFamily="34" charset="0"/>
                <a:ea typeface="Courier New" pitchFamily="34" charset="-122"/>
                <a:cs typeface="Courier New" pitchFamily="34" charset="-120"/>
              </a:rPr>
              <a:t>'Saving…'</a:t>
            </a:r>
            <a:pPr indent="0" marL="0">
              <a:buNone/>
            </a:pPr>
            <a:r>
              <a:rPr lang="en-US" sz="1300" dirty="0">
                <a:solidFill>
                  <a:srgbClr val="FFFFFF"/>
                </a:solidFill>
                <a:latin typeface="Courier New" pitchFamily="34" charset="0"/>
                <a:ea typeface="Courier New" pitchFamily="34" charset="-122"/>
                <a:cs typeface="Courier New" pitchFamily="34" charset="-120"/>
              </a:rPr>
              <a:t> : children}</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&lt;/button&gt;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buNone/>
            </a:pPr>
            <a:endParaRPr lang="en-US" sz="1300" dirty="0"/>
          </a:p>
          <a:p>
            <a:pPr indent="0" marL="0">
              <a:buNone/>
            </a:pPr>
            <a:r>
              <a:rPr lang="en-US" sz="1300" i="1" dirty="0">
                <a:solidFill>
                  <a:srgbClr val="6A9955"/>
                </a:solidFill>
                <a:latin typeface="Courier New" pitchFamily="34" charset="0"/>
                <a:ea typeface="Courier New" pitchFamily="34" charset="-122"/>
                <a:cs typeface="Courier New" pitchFamily="34" charset="-120"/>
              </a:rPr>
              <a:t>// elsewhere</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&lt;form action={savePost}&gt;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&lt;textarea name=</a:t>
            </a:r>
            <a:pPr indent="0" marL="0">
              <a:buNone/>
            </a:pPr>
            <a:r>
              <a:rPr lang="en-US" sz="1300" dirty="0">
                <a:solidFill>
                  <a:srgbClr val="9CDCFE"/>
                </a:solidFill>
                <a:latin typeface="Courier New" pitchFamily="34" charset="0"/>
                <a:ea typeface="Courier New" pitchFamily="34" charset="-122"/>
                <a:cs typeface="Courier New" pitchFamily="34" charset="-120"/>
              </a:rPr>
              <a:t>'body'</a:t>
            </a:r>
            <a:pPr indent="0" marL="0">
              <a:buNone/>
            </a:pPr>
            <a:r>
              <a:rPr lang="en-US" sz="1300" dirty="0">
                <a:solidFill>
                  <a:srgbClr val="FFFFFF"/>
                </a:solidFill>
                <a:latin typeface="Courier New" pitchFamily="34" charset="0"/>
                <a:ea typeface="Courier New" pitchFamily="34" charset="-122"/>
                <a:cs typeface="Courier New" pitchFamily="34" charset="-120"/>
              </a:rPr>
              <a:t> /&gt;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&lt;SubmitButton&gt;Post&lt;/SubmitButton&gt;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&lt;/form&gt;</a:t>
            </a:r>
            <a:endParaRPr lang="en-US" sz="13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22 / 34</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useOptimistic — show the future, revert on error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Render the eventual state immediately. React reconciles when the real action completes.</a:t>
            </a:r>
            <a:endParaRPr lang="en-US" sz="1400" dirty="0"/>
          </a:p>
        </p:txBody>
      </p:sp>
      <p:sp>
        <p:nvSpPr>
          <p:cNvPr id="5" name="Shape 3"/>
          <p:cNvSpPr/>
          <p:nvPr/>
        </p:nvSpPr>
        <p:spPr>
          <a:xfrm>
            <a:off x="777240" y="1554480"/>
            <a:ext cx="10607040" cy="18288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1554480"/>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const [optimisticState, addOptimistic] = </a:t>
            </a:r>
            <a:pPr indent="0" marL="0">
              <a:buNone/>
            </a:pPr>
            <a:r>
              <a:rPr lang="en-US" sz="1400" dirty="0">
                <a:solidFill>
                  <a:srgbClr val="DCDCAA"/>
                </a:solidFill>
                <a:latin typeface="Courier New" pitchFamily="34" charset="0"/>
                <a:ea typeface="Courier New" pitchFamily="34" charset="-122"/>
                <a:cs typeface="Courier New" pitchFamily="34" charset="-120"/>
              </a:rPr>
              <a:t>useOptimistic</a:t>
            </a:r>
            <a:pPr indent="0" marL="0">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9CDCFE"/>
                </a:solidFill>
                <a:latin typeface="Courier New" pitchFamily="34" charset="0"/>
                <a:ea typeface="Courier New" pitchFamily="34" charset="-122"/>
                <a:cs typeface="Courier New" pitchFamily="34" charset="-120"/>
              </a:rPr>
              <a:t>  state,            </a:t>
            </a:r>
            <a:pPr indent="0" marL="0">
              <a:buNone/>
            </a:pPr>
            <a:r>
              <a:rPr lang="en-US" sz="1400" i="1" dirty="0">
                <a:solidFill>
                  <a:srgbClr val="6A9955"/>
                </a:solidFill>
                <a:latin typeface="Courier New" pitchFamily="34" charset="0"/>
                <a:ea typeface="Courier New" pitchFamily="34" charset="-122"/>
                <a:cs typeface="Courier New" pitchFamily="34" charset="-120"/>
              </a:rPr>
              <a:t>// the 'real' state</a:t>
            </a:r>
            <a:endParaRPr lang="en-US" sz="1400" dirty="0"/>
          </a:p>
          <a:p>
            <a:pPr indent="0" marL="0">
              <a:buNone/>
            </a:pPr>
            <a:r>
              <a:rPr lang="en-US" sz="1400" dirty="0">
                <a:solidFill>
                  <a:srgbClr val="9CDCFE"/>
                </a:solidFill>
                <a:latin typeface="Courier New" pitchFamily="34" charset="0"/>
                <a:ea typeface="Courier New" pitchFamily="34" charset="-122"/>
                <a:cs typeface="Courier New" pitchFamily="34" charset="-120"/>
              </a:rPr>
              <a:t>  (currentState, optimisticValue) =&gt; newState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7" name="Shape 5"/>
          <p:cNvSpPr/>
          <p:nvPr/>
        </p:nvSpPr>
        <p:spPr>
          <a:xfrm>
            <a:off x="777240" y="3657600"/>
            <a:ext cx="3611880" cy="2468880"/>
          </a:xfrm>
          <a:prstGeom prst="rect">
            <a:avLst/>
          </a:prstGeom>
          <a:solidFill>
            <a:srgbClr val="FFFFFF"/>
          </a:solidFill>
          <a:ln w="12700">
            <a:solidFill>
              <a:srgbClr val="E2E8F0"/>
            </a:solidFill>
            <a:prstDash val="solid"/>
          </a:ln>
        </p:spPr>
      </p:sp>
      <p:sp>
        <p:nvSpPr>
          <p:cNvPr id="8" name="Shape 6"/>
          <p:cNvSpPr/>
          <p:nvPr/>
        </p:nvSpPr>
        <p:spPr>
          <a:xfrm>
            <a:off x="777240" y="3657600"/>
            <a:ext cx="109728" cy="2468880"/>
          </a:xfrm>
          <a:prstGeom prst="rect">
            <a:avLst/>
          </a:prstGeom>
          <a:solidFill>
            <a:srgbClr val="00B8D9"/>
          </a:solidFill>
          <a:ln w="12700">
            <a:solidFill>
              <a:srgbClr val="00B8D9"/>
            </a:solidFill>
            <a:prstDash val="solid"/>
          </a:ln>
        </p:spPr>
      </p:sp>
      <p:sp>
        <p:nvSpPr>
          <p:cNvPr id="9" name="Text 7"/>
          <p:cNvSpPr/>
          <p:nvPr/>
        </p:nvSpPr>
        <p:spPr>
          <a:xfrm>
            <a:off x="1005840" y="3794760"/>
            <a:ext cx="333756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Use when…</a:t>
            </a:r>
            <a:endParaRPr lang="en-US" sz="1400" dirty="0"/>
          </a:p>
        </p:txBody>
      </p:sp>
      <p:sp>
        <p:nvSpPr>
          <p:cNvPr id="10" name="Text 8"/>
          <p:cNvSpPr/>
          <p:nvPr/>
        </p:nvSpPr>
        <p:spPr>
          <a:xfrm>
            <a:off x="1005840" y="4206240"/>
            <a:ext cx="3291840" cy="182880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User actions that have a small chance of failing — sending a message, liking a post, marking a todo done.</a:t>
            </a:r>
            <a:endParaRPr lang="en-US" sz="1200" dirty="0"/>
          </a:p>
        </p:txBody>
      </p:sp>
      <p:sp>
        <p:nvSpPr>
          <p:cNvPr id="11" name="Shape 9"/>
          <p:cNvSpPr/>
          <p:nvPr/>
        </p:nvSpPr>
        <p:spPr>
          <a:xfrm>
            <a:off x="4617720" y="3657600"/>
            <a:ext cx="3611880" cy="2468880"/>
          </a:xfrm>
          <a:prstGeom prst="rect">
            <a:avLst/>
          </a:prstGeom>
          <a:solidFill>
            <a:srgbClr val="FFFFFF"/>
          </a:solidFill>
          <a:ln w="12700">
            <a:solidFill>
              <a:srgbClr val="E2E8F0"/>
            </a:solidFill>
            <a:prstDash val="solid"/>
          </a:ln>
        </p:spPr>
      </p:sp>
      <p:sp>
        <p:nvSpPr>
          <p:cNvPr id="12" name="Shape 10"/>
          <p:cNvSpPr/>
          <p:nvPr/>
        </p:nvSpPr>
        <p:spPr>
          <a:xfrm>
            <a:off x="4617720" y="3657600"/>
            <a:ext cx="109728" cy="2468880"/>
          </a:xfrm>
          <a:prstGeom prst="rect">
            <a:avLst/>
          </a:prstGeom>
          <a:solidFill>
            <a:srgbClr val="00B8D9"/>
          </a:solidFill>
          <a:ln w="12700">
            <a:solidFill>
              <a:srgbClr val="00B8D9"/>
            </a:solidFill>
            <a:prstDash val="solid"/>
          </a:ln>
        </p:spPr>
      </p:sp>
      <p:sp>
        <p:nvSpPr>
          <p:cNvPr id="13" name="Text 11"/>
          <p:cNvSpPr/>
          <p:nvPr/>
        </p:nvSpPr>
        <p:spPr>
          <a:xfrm>
            <a:off x="4846320" y="3794760"/>
            <a:ext cx="333756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Don't use when…</a:t>
            </a:r>
            <a:endParaRPr lang="en-US" sz="1400" dirty="0"/>
          </a:p>
        </p:txBody>
      </p:sp>
      <p:sp>
        <p:nvSpPr>
          <p:cNvPr id="14" name="Text 12"/>
          <p:cNvSpPr/>
          <p:nvPr/>
        </p:nvSpPr>
        <p:spPr>
          <a:xfrm>
            <a:off x="4846320" y="4206240"/>
            <a:ext cx="3291840" cy="182880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Actions that are slow or likely to fail (uploads, payments). The reversal feels worse than just showing pending.</a:t>
            </a:r>
            <a:endParaRPr lang="en-US" sz="1200" dirty="0"/>
          </a:p>
        </p:txBody>
      </p:sp>
      <p:sp>
        <p:nvSpPr>
          <p:cNvPr id="15" name="Shape 13"/>
          <p:cNvSpPr/>
          <p:nvPr/>
        </p:nvSpPr>
        <p:spPr>
          <a:xfrm>
            <a:off x="8458200" y="3657600"/>
            <a:ext cx="3611880" cy="2468880"/>
          </a:xfrm>
          <a:prstGeom prst="rect">
            <a:avLst/>
          </a:prstGeom>
          <a:solidFill>
            <a:srgbClr val="FFFFFF"/>
          </a:solidFill>
          <a:ln w="12700">
            <a:solidFill>
              <a:srgbClr val="E2E8F0"/>
            </a:solidFill>
            <a:prstDash val="solid"/>
          </a:ln>
        </p:spPr>
      </p:sp>
      <p:sp>
        <p:nvSpPr>
          <p:cNvPr id="16" name="Shape 14"/>
          <p:cNvSpPr/>
          <p:nvPr/>
        </p:nvSpPr>
        <p:spPr>
          <a:xfrm>
            <a:off x="8458200" y="3657600"/>
            <a:ext cx="109728" cy="2468880"/>
          </a:xfrm>
          <a:prstGeom prst="rect">
            <a:avLst/>
          </a:prstGeom>
          <a:solidFill>
            <a:srgbClr val="00B8D9"/>
          </a:solidFill>
          <a:ln w="12700">
            <a:solidFill>
              <a:srgbClr val="00B8D9"/>
            </a:solidFill>
            <a:prstDash val="solid"/>
          </a:ln>
        </p:spPr>
      </p:sp>
      <p:sp>
        <p:nvSpPr>
          <p:cNvPr id="17" name="Text 15"/>
          <p:cNvSpPr/>
          <p:nvPr/>
        </p:nvSpPr>
        <p:spPr>
          <a:xfrm>
            <a:off x="8686800" y="3794760"/>
            <a:ext cx="333756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Pair with…</a:t>
            </a:r>
            <a:endParaRPr lang="en-US" sz="1400" dirty="0"/>
          </a:p>
        </p:txBody>
      </p:sp>
      <p:sp>
        <p:nvSpPr>
          <p:cNvPr id="18" name="Text 16"/>
          <p:cNvSpPr/>
          <p:nvPr/>
        </p:nvSpPr>
        <p:spPr>
          <a:xfrm>
            <a:off x="8686800" y="4206240"/>
            <a:ext cx="3291840" cy="182880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A Server Action or async handler. The optimistic state is replaced when the real state updates.</a:t>
            </a:r>
            <a:endParaRPr lang="en-US" sz="1200" dirty="0"/>
          </a:p>
        </p:txBody>
      </p:sp>
      <p:sp>
        <p:nvSpPr>
          <p:cNvPr id="19" name="Text 1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20" name="Text 1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23 / 34</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useOptimistic in practice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Send a message; it appears in the list instantly. If the server rejects it, it disappears.</a:t>
            </a:r>
            <a:endParaRPr lang="en-US" sz="1400" dirty="0"/>
          </a:p>
        </p:txBody>
      </p:sp>
      <p:sp>
        <p:nvSpPr>
          <p:cNvPr id="5" name="Shape 3"/>
          <p:cNvSpPr/>
          <p:nvPr/>
        </p:nvSpPr>
        <p:spPr>
          <a:xfrm>
            <a:off x="777240" y="1554480"/>
            <a:ext cx="10607040" cy="45720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4297680"/>
          </a:xfrm>
          <a:prstGeom prst="rect">
            <a:avLst/>
          </a:prstGeom>
          <a:noFill/>
          <a:ln/>
        </p:spPr>
        <p:txBody>
          <a:bodyPr wrap="square" lIns="0" tIns="0" rIns="0" bIns="0" rtlCol="0" anchor="t"/>
          <a:lstStyle/>
          <a:p>
            <a:pPr indent="0" marL="0">
              <a:buNone/>
            </a:pPr>
            <a:r>
              <a:rPr lang="en-US" sz="1150" dirty="0">
                <a:solidFill>
                  <a:srgbClr val="C586C0"/>
                </a:solidFill>
                <a:latin typeface="Courier New" pitchFamily="34" charset="0"/>
                <a:ea typeface="Courier New" pitchFamily="34" charset="-122"/>
                <a:cs typeface="Courier New" pitchFamily="34" charset="-120"/>
              </a:rPr>
              <a:t>function </a:t>
            </a:r>
            <a:pPr indent="0" marL="0">
              <a:buNone/>
            </a:pPr>
            <a:r>
              <a:rPr lang="en-US" sz="1150" dirty="0">
                <a:solidFill>
                  <a:srgbClr val="DCDCAA"/>
                </a:solidFill>
                <a:latin typeface="Courier New" pitchFamily="34" charset="0"/>
                <a:ea typeface="Courier New" pitchFamily="34" charset="-122"/>
                <a:cs typeface="Courier New" pitchFamily="34" charset="-120"/>
              </a:rPr>
              <a:t>Thread</a:t>
            </a:r>
            <a:pPr indent="0" marL="0">
              <a:buNone/>
            </a:pPr>
            <a:r>
              <a:rPr lang="en-US" sz="1150" dirty="0">
                <a:solidFill>
                  <a:srgbClr val="FFFFFF"/>
                </a:solidFill>
                <a:latin typeface="Courier New" pitchFamily="34" charset="0"/>
                <a:ea typeface="Courier New" pitchFamily="34" charset="-122"/>
                <a:cs typeface="Courier New" pitchFamily="34" charset="-120"/>
              </a:rPr>
              <a:t>({ messages, send })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const [optimistic, addOptimistic] = </a:t>
            </a:r>
            <a:pPr indent="0" marL="0">
              <a:buNone/>
            </a:pPr>
            <a:r>
              <a:rPr lang="en-US" sz="1150" dirty="0">
                <a:solidFill>
                  <a:srgbClr val="DCDCAA"/>
                </a:solidFill>
                <a:latin typeface="Courier New" pitchFamily="34" charset="0"/>
                <a:ea typeface="Courier New" pitchFamily="34" charset="-122"/>
                <a:cs typeface="Courier New" pitchFamily="34" charset="-120"/>
              </a:rPr>
              <a:t>useOptimistic</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messages,</a:t>
            </a:r>
            <a:endParaRPr lang="en-US" sz="1150" dirty="0"/>
          </a:p>
          <a:p>
            <a:pPr indent="0" marL="0">
              <a:buNone/>
            </a:pPr>
            <a:r>
              <a:rPr lang="en-US" sz="1150" dirty="0">
                <a:solidFill>
                  <a:srgbClr val="9CDCFE"/>
                </a:solidFill>
                <a:latin typeface="Courier New" pitchFamily="34" charset="0"/>
                <a:ea typeface="Courier New" pitchFamily="34" charset="-122"/>
                <a:cs typeface="Courier New" pitchFamily="34" charset="-120"/>
              </a:rPr>
              <a:t>    (current, newMsg) =&gt; [...current, { ...newMsg, sending: </a:t>
            </a:r>
            <a:pPr indent="0" marL="0">
              <a:buNone/>
            </a:pPr>
            <a:r>
              <a:rPr lang="en-US" sz="1150" dirty="0">
                <a:solidFill>
                  <a:srgbClr val="C586C0"/>
                </a:solidFill>
                <a:latin typeface="Courier New" pitchFamily="34" charset="0"/>
                <a:ea typeface="Courier New" pitchFamily="34" charset="-122"/>
                <a:cs typeface="Courier New" pitchFamily="34" charset="-120"/>
              </a:rPr>
              <a:t>true </a:t>
            </a:r>
            <a:pPr indent="0" marL="0">
              <a:buNone/>
            </a:pPr>
            <a:r>
              <a:rPr lang="en-US" sz="1150" dirty="0">
                <a:solidFill>
                  <a:srgbClr val="9CDCFE"/>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  async function </a:t>
            </a:r>
            <a:pPr indent="0" marL="0">
              <a:buNone/>
            </a:pPr>
            <a:r>
              <a:rPr lang="en-US" sz="1150" dirty="0">
                <a:solidFill>
                  <a:srgbClr val="DCDCAA"/>
                </a:solidFill>
                <a:latin typeface="Courier New" pitchFamily="34" charset="0"/>
                <a:ea typeface="Courier New" pitchFamily="34" charset="-122"/>
                <a:cs typeface="Courier New" pitchFamily="34" charset="-120"/>
              </a:rPr>
              <a:t>submit</a:t>
            </a:r>
            <a:pPr indent="0" marL="0">
              <a:buNone/>
            </a:pPr>
            <a:r>
              <a:rPr lang="en-US" sz="1150" dirty="0">
                <a:solidFill>
                  <a:srgbClr val="FFFFFF"/>
                </a:solidFill>
                <a:latin typeface="Courier New" pitchFamily="34" charset="0"/>
                <a:ea typeface="Courier New" pitchFamily="34" charset="-122"/>
                <a:cs typeface="Courier New" pitchFamily="34" charset="-120"/>
              </a:rPr>
              <a:t>(formData)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const text = formData.get(</a:t>
            </a:r>
            <a:pPr indent="0" marL="0">
              <a:buNone/>
            </a:pPr>
            <a:r>
              <a:rPr lang="en-US" sz="1150" dirty="0">
                <a:solidFill>
                  <a:srgbClr val="9CDCFE"/>
                </a:solidFill>
                <a:latin typeface="Courier New" pitchFamily="34" charset="0"/>
                <a:ea typeface="Courier New" pitchFamily="34" charset="-122"/>
                <a:cs typeface="Courier New" pitchFamily="34" charset="-120"/>
              </a:rPr>
              <a:t>'text'</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addOptimistic({ text });          </a:t>
            </a:r>
            <a:pPr indent="0" marL="0">
              <a:buNone/>
            </a:pPr>
            <a:r>
              <a:rPr lang="en-US" sz="1150" i="1" dirty="0">
                <a:solidFill>
                  <a:srgbClr val="6A9955"/>
                </a:solidFill>
                <a:latin typeface="Courier New" pitchFamily="34" charset="0"/>
                <a:ea typeface="Courier New" pitchFamily="34" charset="-122"/>
                <a:cs typeface="Courier New" pitchFamily="34" charset="-120"/>
              </a:rPr>
              <a:t>// instant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await send(text);                  </a:t>
            </a:r>
            <a:pPr indent="0" marL="0">
              <a:buNone/>
            </a:pPr>
            <a:r>
              <a:rPr lang="en-US" sz="1150" i="1" dirty="0">
                <a:solidFill>
                  <a:srgbClr val="6A9955"/>
                </a:solidFill>
                <a:latin typeface="Courier New" pitchFamily="34" charset="0"/>
                <a:ea typeface="Courier New" pitchFamily="34" charset="-122"/>
                <a:cs typeface="Courier New" pitchFamily="34" charset="-120"/>
              </a:rPr>
              <a:t>// real call</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return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&lt;form action={submit}&gt;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{optimistic.map(m =&gt; &lt;Bubble msg={m} /&gt;)}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&lt;input name=</a:t>
            </a:r>
            <a:pPr indent="0" marL="0">
              <a:buNone/>
            </a:pPr>
            <a:r>
              <a:rPr lang="en-US" sz="1150" dirty="0">
                <a:solidFill>
                  <a:srgbClr val="9CDCFE"/>
                </a:solidFill>
                <a:latin typeface="Courier New" pitchFamily="34" charset="0"/>
                <a:ea typeface="Courier New" pitchFamily="34" charset="-122"/>
                <a:cs typeface="Courier New" pitchFamily="34" charset="-120"/>
              </a:rPr>
              <a:t>'text'</a:t>
            </a:r>
            <a:pPr indent="0" marL="0">
              <a:buNone/>
            </a:pPr>
            <a:r>
              <a:rPr lang="en-US" sz="1150" dirty="0">
                <a:solidFill>
                  <a:srgbClr val="FFFFFF"/>
                </a:solidFill>
                <a:latin typeface="Courier New" pitchFamily="34" charset="0"/>
                <a:ea typeface="Courier New" pitchFamily="34" charset="-122"/>
                <a:cs typeface="Courier New" pitchFamily="34" charset="-120"/>
              </a:rPr>
              <a:t> /&gt;&lt;button&gt;Send&lt;/button&gt;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&lt;/form&gt;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24 / 34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Putting them together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 complete posting form using all four new hooks. This is the pattern to remember.</a:t>
            </a:r>
            <a:endParaRPr lang="en-US" sz="1400" dirty="0"/>
          </a:p>
        </p:txBody>
      </p:sp>
      <p:sp>
        <p:nvSpPr>
          <p:cNvPr id="5" name="Shape 3"/>
          <p:cNvSpPr/>
          <p:nvPr/>
        </p:nvSpPr>
        <p:spPr>
          <a:xfrm>
            <a:off x="777240" y="1554480"/>
            <a:ext cx="10607040" cy="4754880"/>
          </a:xfrm>
          <a:prstGeom prst="rect">
            <a:avLst/>
          </a:prstGeom>
          <a:solidFill>
            <a:srgbClr val="1E2A47"/>
          </a:solidFill>
          <a:ln w="12700">
            <a:solidFill>
              <a:srgbClr val="1E2A47"/>
            </a:solidFill>
            <a:prstDash val="solid"/>
          </a:ln>
        </p:spPr>
      </p:sp>
      <p:sp>
        <p:nvSpPr>
          <p:cNvPr id="6" name="Text 4"/>
          <p:cNvSpPr/>
          <p:nvPr/>
        </p:nvSpPr>
        <p:spPr>
          <a:xfrm>
            <a:off x="960120" y="1691640"/>
            <a:ext cx="10241280" cy="4480560"/>
          </a:xfrm>
          <a:prstGeom prst="rect">
            <a:avLst/>
          </a:prstGeom>
          <a:noFill/>
          <a:ln/>
        </p:spPr>
        <p:txBody>
          <a:bodyPr wrap="square" lIns="0" tIns="0" rIns="0" bIns="0" rtlCol="0" anchor="t"/>
          <a:lstStyle/>
          <a:p>
            <a:pPr indent="0" marL="0">
              <a:buNone/>
            </a:pPr>
            <a:r>
              <a:rPr lang="en-US" sz="1100" dirty="0">
                <a:solidFill>
                  <a:srgbClr val="C586C0"/>
                </a:solidFill>
                <a:latin typeface="Courier New" pitchFamily="34" charset="0"/>
                <a:ea typeface="Courier New" pitchFamily="34" charset="-122"/>
                <a:cs typeface="Courier New" pitchFamily="34" charset="-120"/>
              </a:rPr>
              <a:t>function </a:t>
            </a:r>
            <a:pPr indent="0" marL="0">
              <a:buNone/>
            </a:pPr>
            <a:r>
              <a:rPr lang="en-US" sz="1100" dirty="0">
                <a:solidFill>
                  <a:srgbClr val="DCDCAA"/>
                </a:solidFill>
                <a:latin typeface="Courier New" pitchFamily="34" charset="0"/>
                <a:ea typeface="Courier New" pitchFamily="34" charset="-122"/>
                <a:cs typeface="Courier New" pitchFamily="34" charset="-120"/>
              </a:rPr>
              <a:t>Composer</a:t>
            </a:r>
            <a:pPr indent="0" marL="0">
              <a:buNone/>
            </a:pPr>
            <a:r>
              <a:rPr lang="en-US" sz="1100" dirty="0">
                <a:solidFill>
                  <a:srgbClr val="FFFFFF"/>
                </a:solidFill>
                <a:latin typeface="Courier New" pitchFamily="34" charset="0"/>
                <a:ea typeface="Courier New" pitchFamily="34" charset="-122"/>
                <a:cs typeface="Courier New" pitchFamily="34" charset="-120"/>
              </a:rPr>
              <a:t>({ posts })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const [state, action, isPending] = </a:t>
            </a:r>
            <a:pPr indent="0" marL="0">
              <a:buNone/>
            </a:pPr>
            <a:r>
              <a:rPr lang="en-US" sz="1100" dirty="0">
                <a:solidFill>
                  <a:srgbClr val="DCDCAA"/>
                </a:solidFill>
                <a:latin typeface="Courier New" pitchFamily="34" charset="0"/>
                <a:ea typeface="Courier New" pitchFamily="34" charset="-122"/>
                <a:cs typeface="Courier New" pitchFamily="34" charset="-120"/>
              </a:rPr>
              <a:t>useActionState</a:t>
            </a:r>
            <a:pPr indent="0" marL="0">
              <a:buNone/>
            </a:pPr>
            <a:r>
              <a:rPr lang="en-US" sz="1100" dirty="0">
                <a:solidFill>
                  <a:srgbClr val="9CDCFE"/>
                </a:solidFill>
                <a:latin typeface="Courier New" pitchFamily="34" charset="0"/>
                <a:ea typeface="Courier New" pitchFamily="34" charset="-122"/>
                <a:cs typeface="Courier New" pitchFamily="34" charset="-120"/>
              </a:rPr>
              <a:t>(createPost, { ok: </a:t>
            </a:r>
            <a:pPr indent="0" marL="0">
              <a:buNone/>
            </a:pPr>
            <a:r>
              <a:rPr lang="en-US" sz="1100" dirty="0">
                <a:solidFill>
                  <a:srgbClr val="C586C0"/>
                </a:solidFill>
                <a:latin typeface="Courier New" pitchFamily="34" charset="0"/>
                <a:ea typeface="Courier New" pitchFamily="34" charset="-122"/>
                <a:cs typeface="Courier New" pitchFamily="34" charset="-120"/>
              </a:rPr>
              <a:t>true </a:t>
            </a:r>
            <a:pPr indent="0" marL="0">
              <a:buNone/>
            </a:pPr>
            <a:r>
              <a:rPr lang="en-US" sz="1100" dirty="0">
                <a:solidFill>
                  <a:srgbClr val="9CDCFE"/>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const [optimisticPosts, addOptimistic] = </a:t>
            </a:r>
            <a:pPr indent="0" marL="0">
              <a:buNone/>
            </a:pPr>
            <a:r>
              <a:rPr lang="en-US" sz="1100" dirty="0">
                <a:solidFill>
                  <a:srgbClr val="DCDCAA"/>
                </a:solidFill>
                <a:latin typeface="Courier New" pitchFamily="34" charset="0"/>
                <a:ea typeface="Courier New" pitchFamily="34" charset="-122"/>
                <a:cs typeface="Courier New" pitchFamily="34" charset="-120"/>
              </a:rPr>
              <a:t>useOptimistic</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posts,</a:t>
            </a:r>
            <a:endParaRPr lang="en-US" sz="1100" dirty="0"/>
          </a:p>
          <a:p>
            <a:pPr indent="0" marL="0">
              <a:buNone/>
            </a:pPr>
            <a:r>
              <a:rPr lang="en-US" sz="1100" dirty="0">
                <a:solidFill>
                  <a:srgbClr val="9CDCFE"/>
                </a:solidFill>
                <a:latin typeface="Courier New" pitchFamily="34" charset="0"/>
                <a:ea typeface="Courier New" pitchFamily="34" charset="-122"/>
                <a:cs typeface="Courier New" pitchFamily="34" charset="-120"/>
              </a:rPr>
              <a:t>    (current, newPost) =&gt; [{ ...newPost, sending: </a:t>
            </a:r>
            <a:pPr indent="0" marL="0">
              <a:buNone/>
            </a:pPr>
            <a:r>
              <a:rPr lang="en-US" sz="1100" dirty="0">
                <a:solidFill>
                  <a:srgbClr val="C586C0"/>
                </a:solidFill>
                <a:latin typeface="Courier New" pitchFamily="34" charset="0"/>
                <a:ea typeface="Courier New" pitchFamily="34" charset="-122"/>
                <a:cs typeface="Courier New" pitchFamily="34" charset="-120"/>
              </a:rPr>
              <a:t>true </a:t>
            </a:r>
            <a:pPr indent="0" marL="0">
              <a:buNone/>
            </a:pPr>
            <a:r>
              <a:rPr lang="en-US" sz="1100" dirty="0">
                <a:solidFill>
                  <a:srgbClr val="9CDCFE"/>
                </a:solidFill>
                <a:latin typeface="Courier New" pitchFamily="34" charset="0"/>
                <a:ea typeface="Courier New" pitchFamily="34" charset="-122"/>
                <a:cs typeface="Courier New" pitchFamily="34" charset="-120"/>
              </a:rPr>
              <a:t>}, ...current]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indent="0" marL="0">
              <a:buNone/>
            </a:pP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return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&lt;&gt;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&lt;form action={async (fd) =&gt;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addOptimistic({ body: fd.get(</a:t>
            </a:r>
            <a:pPr indent="0" marL="0">
              <a:buNone/>
            </a:pPr>
            <a:r>
              <a:rPr lang="en-US" sz="1100" dirty="0">
                <a:solidFill>
                  <a:srgbClr val="9CDCFE"/>
                </a:solidFill>
                <a:latin typeface="Courier New" pitchFamily="34" charset="0"/>
                <a:ea typeface="Courier New" pitchFamily="34" charset="-122"/>
                <a:cs typeface="Courier New" pitchFamily="34" charset="-120"/>
              </a:rPr>
              <a:t>'body'</a:t>
            </a:r>
            <a:pPr indent="0" marL="0">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await action(fd);</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}}&gt;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&lt;textarea name=</a:t>
            </a:r>
            <a:pPr indent="0" marL="0">
              <a:buNone/>
            </a:pPr>
            <a:r>
              <a:rPr lang="en-US" sz="1100" dirty="0">
                <a:solidFill>
                  <a:srgbClr val="9CDCFE"/>
                </a:solidFill>
                <a:latin typeface="Courier New" pitchFamily="34" charset="0"/>
                <a:ea typeface="Courier New" pitchFamily="34" charset="-122"/>
                <a:cs typeface="Courier New" pitchFamily="34" charset="-120"/>
              </a:rPr>
              <a:t>'body'</a:t>
            </a:r>
            <a:pPr indent="0" marL="0">
              <a:buNone/>
            </a:pPr>
            <a:r>
              <a:rPr lang="en-US" sz="1100" dirty="0">
                <a:solidFill>
                  <a:srgbClr val="FFFFFF"/>
                </a:solidFill>
                <a:latin typeface="Courier New" pitchFamily="34" charset="0"/>
                <a:ea typeface="Courier New" pitchFamily="34" charset="-122"/>
                <a:cs typeface="Courier New" pitchFamily="34" charset="-120"/>
              </a:rPr>
              <a:t> /&gt;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&lt;SubmitButton /&gt;            </a:t>
            </a:r>
            <a:pPr indent="0" marL="0">
              <a:buNone/>
            </a:pPr>
            <a:r>
              <a:rPr lang="en-US" sz="1100" i="1" dirty="0">
                <a:solidFill>
                  <a:srgbClr val="6A9955"/>
                </a:solidFill>
                <a:latin typeface="Courier New" pitchFamily="34" charset="0"/>
                <a:ea typeface="Courier New" pitchFamily="34" charset="-122"/>
                <a:cs typeface="Courier New" pitchFamily="34" charset="-120"/>
              </a:rPr>
              <a:t>// uses useFormStatus</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{state.error &amp;&amp; &lt;Error /&gt;}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&lt;/form&gt;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&lt;PostList posts={optimisticPosts} /&gt;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&lt;/&gt;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25 / 34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26">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4</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Specialty Hooks</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useSyncExternalStore, useDeferredValue, useTransition, useLayoutEffect — when each one earns its keep.</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useSyncExternalStore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Subscribe to a non-React store safely — without tearing during concurrent renders.</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Use when:</a:t>
            </a:r>
            <a:endParaRPr lang="en-US" sz="1400" dirty="0"/>
          </a:p>
        </p:txBody>
      </p:sp>
      <p:sp>
        <p:nvSpPr>
          <p:cNvPr id="6" name="Text 4"/>
          <p:cNvSpPr/>
          <p:nvPr/>
        </p:nvSpPr>
        <p:spPr>
          <a:xfrm>
            <a:off x="777240" y="1920240"/>
            <a:ext cx="534924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Wrapping a Zustand/Redux/Jotai-style store you wrote</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Reading window.matchMedia, navigator.online, etc.</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Wrapping a third-party event emitter</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Anywhere the value can change outside of React</a:t>
            </a:r>
            <a:endParaRPr lang="en-US" sz="1250" dirty="0"/>
          </a:p>
        </p:txBody>
      </p:sp>
      <p:sp>
        <p:nvSpPr>
          <p:cNvPr id="7" name="Shape 5"/>
          <p:cNvSpPr/>
          <p:nvPr/>
        </p:nvSpPr>
        <p:spPr>
          <a:xfrm>
            <a:off x="6355080" y="1554480"/>
            <a:ext cx="5029200" cy="4206240"/>
          </a:xfrm>
          <a:prstGeom prst="rect">
            <a:avLst/>
          </a:prstGeom>
          <a:solidFill>
            <a:srgbClr val="1E2A47"/>
          </a:solidFill>
          <a:ln w="12700">
            <a:solidFill>
              <a:srgbClr val="1E2A47"/>
            </a:solidFill>
            <a:prstDash val="solid"/>
          </a:ln>
        </p:spPr>
      </p:sp>
      <p:sp>
        <p:nvSpPr>
          <p:cNvPr id="8" name="Text 6"/>
          <p:cNvSpPr/>
          <p:nvPr/>
        </p:nvSpPr>
        <p:spPr>
          <a:xfrm>
            <a:off x="6537960" y="1691640"/>
            <a:ext cx="4663440" cy="3931920"/>
          </a:xfrm>
          <a:prstGeom prst="rect">
            <a:avLst/>
          </a:prstGeom>
          <a:noFill/>
          <a:ln/>
        </p:spPr>
        <p:txBody>
          <a:bodyPr wrap="square" lIns="0" tIns="0" rIns="0" bIns="0" rtlCol="0" anchor="t"/>
          <a:lstStyle/>
          <a:p>
            <a:pPr indent="0" marL="0">
              <a:buNone/>
            </a:pPr>
            <a:r>
              <a:rPr lang="en-US" sz="1150" dirty="0">
                <a:solidFill>
                  <a:srgbClr val="C586C0"/>
                </a:solidFill>
                <a:latin typeface="Courier New" pitchFamily="34" charset="0"/>
                <a:ea typeface="Courier New" pitchFamily="34" charset="-122"/>
                <a:cs typeface="Courier New" pitchFamily="34" charset="-120"/>
              </a:rPr>
              <a:t>function </a:t>
            </a:r>
            <a:pPr indent="0" marL="0">
              <a:buNone/>
            </a:pPr>
            <a:r>
              <a:rPr lang="en-US" sz="1150" dirty="0">
                <a:solidFill>
                  <a:srgbClr val="DCDCAA"/>
                </a:solidFill>
                <a:latin typeface="Courier New" pitchFamily="34" charset="0"/>
                <a:ea typeface="Courier New" pitchFamily="34" charset="-122"/>
                <a:cs typeface="Courier New" pitchFamily="34" charset="-120"/>
              </a:rPr>
              <a:t>useOnline</a:t>
            </a:r>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  return </a:t>
            </a:r>
            <a:pPr indent="0" marL="0">
              <a:buNone/>
            </a:pPr>
            <a:r>
              <a:rPr lang="en-US" sz="1150" dirty="0">
                <a:solidFill>
                  <a:srgbClr val="DCDCAA"/>
                </a:solidFill>
                <a:latin typeface="Courier New" pitchFamily="34" charset="0"/>
                <a:ea typeface="Courier New" pitchFamily="34" charset="-122"/>
                <a:cs typeface="Courier New" pitchFamily="34" charset="-120"/>
              </a:rPr>
              <a:t>useSyncExternalStore</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(notify) =&gt;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window.addEventListener(</a:t>
            </a:r>
            <a:pPr indent="0" marL="0">
              <a:buNone/>
            </a:pPr>
            <a:r>
              <a:rPr lang="en-US" sz="1150" dirty="0">
                <a:solidFill>
                  <a:srgbClr val="9CDCFE"/>
                </a:solidFill>
                <a:latin typeface="Courier New" pitchFamily="34" charset="0"/>
                <a:ea typeface="Courier New" pitchFamily="34" charset="-122"/>
                <a:cs typeface="Courier New" pitchFamily="34" charset="-120"/>
              </a:rPr>
              <a:t>'online'</a:t>
            </a:r>
            <a:pPr indent="0" marL="0">
              <a:buNone/>
            </a:pPr>
            <a:r>
              <a:rPr lang="en-US" sz="1150" dirty="0">
                <a:solidFill>
                  <a:srgbClr val="FFFFFF"/>
                </a:solidFill>
                <a:latin typeface="Courier New" pitchFamily="34" charset="0"/>
                <a:ea typeface="Courier New" pitchFamily="34" charset="-122"/>
                <a:cs typeface="Courier New" pitchFamily="34" charset="-120"/>
              </a:rPr>
              <a:t>, notify);</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window.addEventListener(</a:t>
            </a:r>
            <a:pPr indent="0" marL="0">
              <a:buNone/>
            </a:pPr>
            <a:r>
              <a:rPr lang="en-US" sz="1150" dirty="0">
                <a:solidFill>
                  <a:srgbClr val="9CDCFE"/>
                </a:solidFill>
                <a:latin typeface="Courier New" pitchFamily="34" charset="0"/>
                <a:ea typeface="Courier New" pitchFamily="34" charset="-122"/>
                <a:cs typeface="Courier New" pitchFamily="34" charset="-120"/>
              </a:rPr>
              <a:t>'offline'</a:t>
            </a:r>
            <a:pPr indent="0" marL="0">
              <a:buNone/>
            </a:pPr>
            <a:r>
              <a:rPr lang="en-US" sz="1150" dirty="0">
                <a:solidFill>
                  <a:srgbClr val="FFFFFF"/>
                </a:solidFill>
                <a:latin typeface="Courier New" pitchFamily="34" charset="0"/>
                <a:ea typeface="Courier New" pitchFamily="34" charset="-122"/>
                <a:cs typeface="Courier New" pitchFamily="34" charset="-120"/>
              </a:rPr>
              <a:t>, notify);</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return () =&gt; { /* cleanup */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9CDCFE"/>
                </a:solidFill>
                <a:latin typeface="Courier New" pitchFamily="34" charset="0"/>
                <a:ea typeface="Courier New" pitchFamily="34" charset="-122"/>
                <a:cs typeface="Courier New" pitchFamily="34" charset="-120"/>
              </a:rPr>
              <a:t>    () =&gt; navigator.onLine,        </a:t>
            </a:r>
            <a:pPr indent="0" marL="0">
              <a:buNone/>
            </a:pPr>
            <a:r>
              <a:rPr lang="en-US" sz="1150" i="1" dirty="0">
                <a:solidFill>
                  <a:srgbClr val="6A9955"/>
                </a:solidFill>
                <a:latin typeface="Courier New" pitchFamily="34" charset="0"/>
                <a:ea typeface="Courier New" pitchFamily="34" charset="-122"/>
                <a:cs typeface="Courier New" pitchFamily="34" charset="-120"/>
              </a:rPr>
              <a:t>// client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 =&gt; </a:t>
            </a:r>
            <a:pPr indent="0" marL="0">
              <a:buNone/>
            </a:pPr>
            <a:r>
              <a:rPr lang="en-US" sz="1150" dirty="0">
                <a:solidFill>
                  <a:srgbClr val="C586C0"/>
                </a:solidFill>
                <a:latin typeface="Courier New" pitchFamily="34" charset="0"/>
                <a:ea typeface="Courier New" pitchFamily="34" charset="-122"/>
                <a:cs typeface="Courier New" pitchFamily="34" charset="-120"/>
              </a:rPr>
              <a:t>true</a:t>
            </a:r>
            <a:pPr indent="0" marL="0">
              <a:buNone/>
            </a:pPr>
            <a:r>
              <a:rPr lang="en-US" sz="1150" dirty="0">
                <a:solidFill>
                  <a:srgbClr val="9CDCFE"/>
                </a:solidFill>
                <a:latin typeface="Courier New" pitchFamily="34" charset="0"/>
                <a:ea typeface="Courier New" pitchFamily="34" charset="-122"/>
                <a:cs typeface="Courier New" pitchFamily="34" charset="-120"/>
              </a:rPr>
              <a:t>                          </a:t>
            </a:r>
            <a:pPr indent="0" marL="0">
              <a:buNone/>
            </a:pPr>
            <a:r>
              <a:rPr lang="en-US" sz="1150" i="1" dirty="0">
                <a:solidFill>
                  <a:srgbClr val="6A9955"/>
                </a:solidFill>
                <a:latin typeface="Courier New" pitchFamily="34" charset="0"/>
                <a:ea typeface="Courier New" pitchFamily="34" charset="-122"/>
                <a:cs typeface="Courier New" pitchFamily="34" charset="-120"/>
              </a:rPr>
              <a:t>// server</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27 / 34</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useDeferredValue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Show stale content during expensive renders. Like a built-in stale-while-revalidate for state.</a:t>
            </a:r>
            <a:endParaRPr lang="en-US" sz="1400" dirty="0"/>
          </a:p>
        </p:txBody>
      </p:sp>
      <p:sp>
        <p:nvSpPr>
          <p:cNvPr id="5" name="Shape 3"/>
          <p:cNvSpPr/>
          <p:nvPr/>
        </p:nvSpPr>
        <p:spPr>
          <a:xfrm>
            <a:off x="777240" y="1554480"/>
            <a:ext cx="5943600" cy="3657600"/>
          </a:xfrm>
          <a:prstGeom prst="rect">
            <a:avLst/>
          </a:prstGeom>
          <a:solidFill>
            <a:srgbClr val="1E2A47"/>
          </a:solidFill>
          <a:ln w="12700">
            <a:solidFill>
              <a:srgbClr val="1E2A47"/>
            </a:solidFill>
            <a:prstDash val="solid"/>
          </a:ln>
        </p:spPr>
      </p:sp>
      <p:sp>
        <p:nvSpPr>
          <p:cNvPr id="6" name="Text 4"/>
          <p:cNvSpPr/>
          <p:nvPr/>
        </p:nvSpPr>
        <p:spPr>
          <a:xfrm>
            <a:off x="960120" y="1691640"/>
            <a:ext cx="5577840" cy="3383280"/>
          </a:xfrm>
          <a:prstGeom prst="rect">
            <a:avLst/>
          </a:prstGeom>
          <a:noFill/>
          <a:ln/>
        </p:spPr>
        <p:txBody>
          <a:bodyPr wrap="square" lIns="0" tIns="0" rIns="0" bIns="0" rtlCol="0" anchor="t"/>
          <a:lstStyle/>
          <a:p>
            <a:pPr indent="0" marL="0">
              <a:buNone/>
            </a:pPr>
            <a:r>
              <a:rPr lang="en-US" sz="1300" dirty="0">
                <a:solidFill>
                  <a:srgbClr val="C586C0"/>
                </a:solidFill>
                <a:latin typeface="Courier New" pitchFamily="34" charset="0"/>
                <a:ea typeface="Courier New" pitchFamily="34" charset="-122"/>
                <a:cs typeface="Courier New" pitchFamily="34" charset="-120"/>
              </a:rPr>
              <a:t>function </a:t>
            </a:r>
            <a:pPr indent="0" marL="0">
              <a:buNone/>
            </a:pPr>
            <a:r>
              <a:rPr lang="en-US" sz="1300" dirty="0">
                <a:solidFill>
                  <a:srgbClr val="DCDCAA"/>
                </a:solidFill>
                <a:latin typeface="Courier New" pitchFamily="34" charset="0"/>
                <a:ea typeface="Courier New" pitchFamily="34" charset="-122"/>
                <a:cs typeface="Courier New" pitchFamily="34" charset="-120"/>
              </a:rPr>
              <a:t>SearchPage</a:t>
            </a:r>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const [query, setQuery] = </a:t>
            </a:r>
            <a:pPr indent="0" marL="0">
              <a:buNone/>
            </a:pPr>
            <a:r>
              <a:rPr lang="en-US" sz="1300" dirty="0">
                <a:solidFill>
                  <a:srgbClr val="DCDCAA"/>
                </a:solidFill>
                <a:latin typeface="Courier New" pitchFamily="34" charset="0"/>
                <a:ea typeface="Courier New" pitchFamily="34" charset="-122"/>
                <a:cs typeface="Courier New" pitchFamily="34" charset="-120"/>
              </a:rPr>
              <a:t>useState</a:t>
            </a:r>
            <a:pPr indent="0" marL="0">
              <a:buNone/>
            </a:pPr>
            <a:r>
              <a:rPr lang="en-US" sz="1300" dirty="0">
                <a:solidFill>
                  <a:srgbClr val="FFFFFF"/>
                </a:solidFill>
                <a:latin typeface="Courier New" pitchFamily="34" charset="0"/>
                <a:ea typeface="Courier New" pitchFamily="34" charset="-122"/>
                <a:cs typeface="Courier New" pitchFamily="34" charset="-120"/>
              </a:rPr>
              <a:t>(</a:t>
            </a:r>
            <a:pPr indent="0" marL="0">
              <a:buNone/>
            </a:pPr>
            <a:r>
              <a:rPr lang="en-US" sz="1300" dirty="0">
                <a:solidFill>
                  <a:srgbClr val="9CDCFE"/>
                </a:solidFill>
                <a:latin typeface="Courier New" pitchFamily="34" charset="0"/>
                <a:ea typeface="Courier New" pitchFamily="34" charset="-122"/>
                <a:cs typeface="Courier New" pitchFamily="34" charset="-120"/>
              </a:rPr>
              <a:t>''</a:t>
            </a:r>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const deferred = </a:t>
            </a:r>
            <a:pPr indent="0" marL="0">
              <a:buNone/>
            </a:pPr>
            <a:r>
              <a:rPr lang="en-US" sz="1300" dirty="0">
                <a:solidFill>
                  <a:srgbClr val="DCDCAA"/>
                </a:solidFill>
                <a:latin typeface="Courier New" pitchFamily="34" charset="0"/>
                <a:ea typeface="Courier New" pitchFamily="34" charset="-122"/>
                <a:cs typeface="Courier New" pitchFamily="34" charset="-120"/>
              </a:rPr>
              <a:t>useDeferredValue</a:t>
            </a:r>
            <a:pPr indent="0" marL="0">
              <a:buNone/>
            </a:pPr>
            <a:r>
              <a:rPr lang="en-US" sz="1300" dirty="0">
                <a:solidFill>
                  <a:srgbClr val="FFFFFF"/>
                </a:solidFill>
                <a:latin typeface="Courier New" pitchFamily="34" charset="0"/>
                <a:ea typeface="Courier New" pitchFamily="34" charset="-122"/>
                <a:cs typeface="Courier New" pitchFamily="34" charset="-120"/>
              </a:rPr>
              <a:t>(query);</a:t>
            </a:r>
            <a:endParaRPr lang="en-US" sz="1300" dirty="0"/>
          </a:p>
          <a:p>
            <a:pPr indent="0" marL="0">
              <a:buNone/>
            </a:pP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return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&lt;&gt;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&lt;input value={query}</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onChange={(e) =&gt; setQuery(e.target.value)} /&gt;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&lt;Results query={deferred} /&gt;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&lt;/&gt;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7" name="Text 5"/>
          <p:cNvSpPr/>
          <p:nvPr/>
        </p:nvSpPr>
        <p:spPr>
          <a:xfrm>
            <a:off x="6949440" y="1554480"/>
            <a:ext cx="45720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What you get:</a:t>
            </a:r>
            <a:endParaRPr lang="en-US" sz="1400" dirty="0"/>
          </a:p>
        </p:txBody>
      </p:sp>
      <p:sp>
        <p:nvSpPr>
          <p:cNvPr id="8" name="Text 6"/>
          <p:cNvSpPr/>
          <p:nvPr/>
        </p:nvSpPr>
        <p:spPr>
          <a:xfrm>
            <a:off x="6949440" y="1920240"/>
            <a:ext cx="4572000" cy="310896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Input stays responsive — query updates immediately</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Results may lag a render or two — deferred value catches up</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Pair with React.memo or useMemo on Results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Useful when you can't move the work to a worker</a:t>
            </a:r>
            <a:endParaRPr lang="en-US" sz="125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28 / 34</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useTransition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Mark a state update as non-blocking. Updates that would freeze the UI become interruptible.</a:t>
            </a:r>
            <a:endParaRPr lang="en-US" sz="1400" dirty="0"/>
          </a:p>
        </p:txBody>
      </p:sp>
      <p:sp>
        <p:nvSpPr>
          <p:cNvPr id="5" name="Shape 3"/>
          <p:cNvSpPr/>
          <p:nvPr/>
        </p:nvSpPr>
        <p:spPr>
          <a:xfrm>
            <a:off x="777240" y="1554480"/>
            <a:ext cx="10607040" cy="36576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383280"/>
          </a:xfrm>
          <a:prstGeom prst="rect">
            <a:avLst/>
          </a:prstGeom>
          <a:noFill/>
          <a:ln/>
        </p:spPr>
        <p:txBody>
          <a:bodyPr wrap="square" lIns="0" tIns="0" rIns="0" bIns="0" rtlCol="0" anchor="t"/>
          <a:lstStyle/>
          <a:p>
            <a:pPr indent="0" marL="0">
              <a:buNone/>
            </a:pPr>
            <a:r>
              <a:rPr lang="en-US" sz="1300" dirty="0">
                <a:solidFill>
                  <a:srgbClr val="C586C0"/>
                </a:solidFill>
                <a:latin typeface="Courier New" pitchFamily="34" charset="0"/>
                <a:ea typeface="Courier New" pitchFamily="34" charset="-122"/>
                <a:cs typeface="Courier New" pitchFamily="34" charset="-120"/>
              </a:rPr>
              <a:t>function </a:t>
            </a:r>
            <a:pPr indent="0" marL="0">
              <a:buNone/>
            </a:pPr>
            <a:r>
              <a:rPr lang="en-US" sz="1300" dirty="0">
                <a:solidFill>
                  <a:srgbClr val="DCDCAA"/>
                </a:solidFill>
                <a:latin typeface="Courier New" pitchFamily="34" charset="0"/>
                <a:ea typeface="Courier New" pitchFamily="34" charset="-122"/>
                <a:cs typeface="Courier New" pitchFamily="34" charset="-120"/>
              </a:rPr>
              <a:t>Tabs</a:t>
            </a:r>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const [tab, setTab] = </a:t>
            </a:r>
            <a:pPr indent="0" marL="0">
              <a:buNone/>
            </a:pPr>
            <a:r>
              <a:rPr lang="en-US" sz="1300" dirty="0">
                <a:solidFill>
                  <a:srgbClr val="DCDCAA"/>
                </a:solidFill>
                <a:latin typeface="Courier New" pitchFamily="34" charset="0"/>
                <a:ea typeface="Courier New" pitchFamily="34" charset="-122"/>
                <a:cs typeface="Courier New" pitchFamily="34" charset="-120"/>
              </a:rPr>
              <a:t>useState</a:t>
            </a:r>
            <a:pPr indent="0" marL="0">
              <a:buNone/>
            </a:pPr>
            <a:r>
              <a:rPr lang="en-US" sz="1300" dirty="0">
                <a:solidFill>
                  <a:srgbClr val="FFFFFF"/>
                </a:solidFill>
                <a:latin typeface="Courier New" pitchFamily="34" charset="0"/>
                <a:ea typeface="Courier New" pitchFamily="34" charset="-122"/>
                <a:cs typeface="Courier New" pitchFamily="34" charset="-120"/>
              </a:rPr>
              <a:t>(</a:t>
            </a:r>
            <a:pPr indent="0" marL="0">
              <a:buNone/>
            </a:pPr>
            <a:r>
              <a:rPr lang="en-US" sz="1300" dirty="0">
                <a:solidFill>
                  <a:srgbClr val="9CDCFE"/>
                </a:solidFill>
                <a:latin typeface="Courier New" pitchFamily="34" charset="0"/>
                <a:ea typeface="Courier New" pitchFamily="34" charset="-122"/>
                <a:cs typeface="Courier New" pitchFamily="34" charset="-120"/>
              </a:rPr>
              <a:t>'home'</a:t>
            </a:r>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const [isPending, startTransition] = </a:t>
            </a:r>
            <a:pPr indent="0" marL="0">
              <a:buNone/>
            </a:pPr>
            <a:r>
              <a:rPr lang="en-US" sz="1300" dirty="0">
                <a:solidFill>
                  <a:srgbClr val="DCDCAA"/>
                </a:solidFill>
                <a:latin typeface="Courier New" pitchFamily="34" charset="0"/>
                <a:ea typeface="Courier New" pitchFamily="34" charset="-122"/>
                <a:cs typeface="Courier New" pitchFamily="34" charset="-120"/>
              </a:rPr>
              <a:t>useTransition</a:t>
            </a:r>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buNone/>
            </a:pPr>
            <a:endParaRPr lang="en-US" sz="1300" dirty="0"/>
          </a:p>
          <a:p>
            <a:pPr indent="0" marL="0">
              <a:buNone/>
            </a:pPr>
            <a:r>
              <a:rPr lang="en-US" sz="1300" dirty="0">
                <a:solidFill>
                  <a:srgbClr val="C586C0"/>
                </a:solidFill>
                <a:latin typeface="Courier New" pitchFamily="34" charset="0"/>
                <a:ea typeface="Courier New" pitchFamily="34" charset="-122"/>
                <a:cs typeface="Courier New" pitchFamily="34" charset="-120"/>
              </a:rPr>
              <a:t>  function </a:t>
            </a:r>
            <a:pPr indent="0" marL="0">
              <a:buNone/>
            </a:pPr>
            <a:r>
              <a:rPr lang="en-US" sz="1300" dirty="0">
                <a:solidFill>
                  <a:srgbClr val="DCDCAA"/>
                </a:solidFill>
                <a:latin typeface="Courier New" pitchFamily="34" charset="0"/>
                <a:ea typeface="Courier New" pitchFamily="34" charset="-122"/>
                <a:cs typeface="Courier New" pitchFamily="34" charset="-120"/>
              </a:rPr>
              <a:t>selectTab</a:t>
            </a:r>
            <a:pPr indent="0" marL="0">
              <a:buNone/>
            </a:pPr>
            <a:r>
              <a:rPr lang="en-US" sz="1300" dirty="0">
                <a:solidFill>
                  <a:srgbClr val="FFFFFF"/>
                </a:solidFill>
                <a:latin typeface="Courier New" pitchFamily="34" charset="0"/>
                <a:ea typeface="Courier New" pitchFamily="34" charset="-122"/>
                <a:cs typeface="Courier New" pitchFamily="34" charset="-120"/>
              </a:rPr>
              <a:t>(next)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t>
            </a:r>
            <a:pPr indent="0" marL="0">
              <a:buNone/>
            </a:pPr>
            <a:r>
              <a:rPr lang="en-US" sz="1300" dirty="0">
                <a:solidFill>
                  <a:srgbClr val="DCDCAA"/>
                </a:solidFill>
                <a:latin typeface="Courier New" pitchFamily="34" charset="0"/>
                <a:ea typeface="Courier New" pitchFamily="34" charset="-122"/>
                <a:cs typeface="Courier New" pitchFamily="34" charset="-120"/>
              </a:rPr>
              <a:t>startTransition</a:t>
            </a:r>
            <a:pPr indent="0" marL="0">
              <a:buNone/>
            </a:pPr>
            <a:r>
              <a:rPr lang="en-US" sz="1300" dirty="0">
                <a:solidFill>
                  <a:srgbClr val="FFFFFF"/>
                </a:solidFill>
                <a:latin typeface="Courier New" pitchFamily="34" charset="0"/>
                <a:ea typeface="Courier New" pitchFamily="34" charset="-122"/>
                <a:cs typeface="Courier New" pitchFamily="34" charset="-120"/>
              </a:rPr>
              <a:t>(() =&gt; setTab(next));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buNone/>
            </a:pP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return &lt;Layout busy={isPending}&gt;&lt;Pane tab={tab} /&gt;&lt;/Layout&gt;;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29 / 34</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useDeferredValue vs useTransition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They solve adjacent problems. Pick by what you control.</a:t>
            </a:r>
            <a:endParaRPr lang="en-US" sz="1400" dirty="0"/>
          </a:p>
        </p:txBody>
      </p:sp>
      <p:sp>
        <p:nvSpPr>
          <p:cNvPr id="5" name="Shape 3"/>
          <p:cNvSpPr/>
          <p:nvPr/>
        </p:nvSpPr>
        <p:spPr>
          <a:xfrm>
            <a:off x="777240" y="1691640"/>
            <a:ext cx="5349240" cy="4114800"/>
          </a:xfrm>
          <a:prstGeom prst="rect">
            <a:avLst/>
          </a:prstGeom>
          <a:solidFill>
            <a:srgbClr val="FFFFFF"/>
          </a:solidFill>
          <a:ln w="12700">
            <a:solidFill>
              <a:srgbClr val="E2E8F0"/>
            </a:solidFill>
            <a:prstDash val="solid"/>
          </a:ln>
        </p:spPr>
      </p:sp>
      <p:sp>
        <p:nvSpPr>
          <p:cNvPr id="6" name="Text 4"/>
          <p:cNvSpPr/>
          <p:nvPr/>
        </p:nvSpPr>
        <p:spPr>
          <a:xfrm>
            <a:off x="960120" y="1874520"/>
            <a:ext cx="5029200" cy="457200"/>
          </a:xfrm>
          <a:prstGeom prst="rect">
            <a:avLst/>
          </a:prstGeom>
          <a:noFill/>
          <a:ln/>
        </p:spPr>
        <p:txBody>
          <a:bodyPr wrap="square" lIns="0" tIns="0" rIns="0" bIns="0" rtlCol="0" anchor="ctr"/>
          <a:lstStyle/>
          <a:p>
            <a:pPr indent="0" marL="0">
              <a:buNone/>
            </a:pPr>
            <a:r>
              <a:rPr lang="en-US" sz="1800" b="1" dirty="0">
                <a:solidFill>
                  <a:srgbClr val="00B8D9"/>
                </a:solidFill>
                <a:latin typeface="Courier New" pitchFamily="34" charset="0"/>
                <a:ea typeface="Courier New" pitchFamily="34" charset="-122"/>
                <a:cs typeface="Courier New" pitchFamily="34" charset="-120"/>
              </a:rPr>
              <a:t>useDeferredValue</a:t>
            </a:r>
            <a:endParaRPr lang="en-US" sz="1800" dirty="0"/>
          </a:p>
        </p:txBody>
      </p:sp>
      <p:sp>
        <p:nvSpPr>
          <p:cNvPr id="7" name="Text 5"/>
          <p:cNvSpPr/>
          <p:nvPr/>
        </p:nvSpPr>
        <p:spPr>
          <a:xfrm>
            <a:off x="960120" y="2468880"/>
            <a:ext cx="4937760" cy="640080"/>
          </a:xfrm>
          <a:prstGeom prst="rect">
            <a:avLst/>
          </a:prstGeom>
          <a:noFill/>
          <a:ln/>
        </p:spPr>
        <p:txBody>
          <a:bodyPr wrap="square" lIns="0" tIns="0" rIns="0" bIns="0" rtlCol="0" anchor="t"/>
          <a:lstStyle/>
          <a:p>
            <a:pPr indent="0" marL="0">
              <a:buNone/>
            </a:pPr>
            <a:r>
              <a:rPr lang="en-US" sz="1200" i="1" dirty="0">
                <a:solidFill>
                  <a:srgbClr val="475569"/>
                </a:solidFill>
                <a:latin typeface="Arial" pitchFamily="34" charset="0"/>
                <a:ea typeface="Arial" pitchFamily="34" charset="-122"/>
                <a:cs typeface="Arial" pitchFamily="34" charset="-120"/>
              </a:rPr>
              <a:t>Wrap a value you receive (props or state) so consumers see a delayed copy.</a:t>
            </a:r>
            <a:endParaRPr lang="en-US" sz="1200" dirty="0"/>
          </a:p>
        </p:txBody>
      </p:sp>
      <p:sp>
        <p:nvSpPr>
          <p:cNvPr id="8" name="Text 6"/>
          <p:cNvSpPr/>
          <p:nvPr/>
        </p:nvSpPr>
        <p:spPr>
          <a:xfrm>
            <a:off x="960120" y="3246120"/>
            <a:ext cx="4937760" cy="24688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75569"/>
                </a:solidFill>
                <a:latin typeface="Arial" pitchFamily="34" charset="0"/>
                <a:ea typeface="Arial" pitchFamily="34" charset="-122"/>
                <a:cs typeface="Arial" pitchFamily="34" charset="-120"/>
              </a:rPr>
              <a:t>Use when you don't own the setter — e.g., wrapping query from props</a:t>
            </a:r>
            <a:endParaRPr lang="en-US" sz="1200" dirty="0"/>
          </a:p>
          <a:p>
            <a:pPr marL="342900" indent="-342900">
              <a:spcAft>
                <a:spcPts val="600"/>
              </a:spcAft>
              <a:buSzPct val="100000"/>
              <a:buChar char="•"/>
            </a:pPr>
            <a:r>
              <a:rPr lang="en-US" sz="1200" dirty="0">
                <a:solidFill>
                  <a:srgbClr val="475569"/>
                </a:solidFill>
                <a:latin typeface="Arial" pitchFamily="34" charset="0"/>
                <a:ea typeface="Arial" pitchFamily="34" charset="-122"/>
                <a:cs typeface="Arial" pitchFamily="34" charset="-120"/>
              </a:rPr>
              <a:t>The deferred value silently lags during expensive renders</a:t>
            </a:r>
            <a:endParaRPr lang="en-US" sz="1200" dirty="0"/>
          </a:p>
          <a:p>
            <a:pPr marL="342900" indent="-342900">
              <a:spcAft>
                <a:spcPts val="600"/>
              </a:spcAft>
              <a:buSzPct val="100000"/>
              <a:buChar char="•"/>
            </a:pPr>
            <a:r>
              <a:rPr lang="en-US" sz="1200" dirty="0">
                <a:solidFill>
                  <a:srgbClr val="475569"/>
                </a:solidFill>
                <a:latin typeface="Arial" pitchFamily="34" charset="0"/>
                <a:ea typeface="Arial" pitchFamily="34" charset="-122"/>
                <a:cs typeface="Arial" pitchFamily="34" charset="-120"/>
              </a:rPr>
              <a:t>No isPending flag (compare deferred === actual instead)</a:t>
            </a:r>
            <a:endParaRPr lang="en-US" sz="1200" dirty="0"/>
          </a:p>
        </p:txBody>
      </p:sp>
      <p:sp>
        <p:nvSpPr>
          <p:cNvPr id="9" name="Shape 7"/>
          <p:cNvSpPr/>
          <p:nvPr/>
        </p:nvSpPr>
        <p:spPr>
          <a:xfrm>
            <a:off x="6355080" y="1691640"/>
            <a:ext cx="5029200" cy="4114800"/>
          </a:xfrm>
          <a:prstGeom prst="rect">
            <a:avLst/>
          </a:prstGeom>
          <a:solidFill>
            <a:srgbClr val="FFFFFF"/>
          </a:solidFill>
          <a:ln w="12700">
            <a:solidFill>
              <a:srgbClr val="E2E8F0"/>
            </a:solidFill>
            <a:prstDash val="solid"/>
          </a:ln>
        </p:spPr>
      </p:sp>
      <p:sp>
        <p:nvSpPr>
          <p:cNvPr id="10" name="Text 8"/>
          <p:cNvSpPr/>
          <p:nvPr/>
        </p:nvSpPr>
        <p:spPr>
          <a:xfrm>
            <a:off x="6537960" y="1874520"/>
            <a:ext cx="4754880" cy="457200"/>
          </a:xfrm>
          <a:prstGeom prst="rect">
            <a:avLst/>
          </a:prstGeom>
          <a:noFill/>
          <a:ln/>
        </p:spPr>
        <p:txBody>
          <a:bodyPr wrap="square" lIns="0" tIns="0" rIns="0" bIns="0" rtlCol="0" anchor="ctr"/>
          <a:lstStyle/>
          <a:p>
            <a:pPr indent="0" marL="0">
              <a:buNone/>
            </a:pPr>
            <a:r>
              <a:rPr lang="en-US" sz="1800" b="1" dirty="0">
                <a:solidFill>
                  <a:srgbClr val="00B8D9"/>
                </a:solidFill>
                <a:latin typeface="Courier New" pitchFamily="34" charset="0"/>
                <a:ea typeface="Courier New" pitchFamily="34" charset="-122"/>
                <a:cs typeface="Courier New" pitchFamily="34" charset="-120"/>
              </a:rPr>
              <a:t>useTransition</a:t>
            </a:r>
            <a:endParaRPr lang="en-US" sz="1800" dirty="0"/>
          </a:p>
        </p:txBody>
      </p:sp>
      <p:sp>
        <p:nvSpPr>
          <p:cNvPr id="11" name="Text 9"/>
          <p:cNvSpPr/>
          <p:nvPr/>
        </p:nvSpPr>
        <p:spPr>
          <a:xfrm>
            <a:off x="6537960" y="2468880"/>
            <a:ext cx="4663440" cy="640080"/>
          </a:xfrm>
          <a:prstGeom prst="rect">
            <a:avLst/>
          </a:prstGeom>
          <a:noFill/>
          <a:ln/>
        </p:spPr>
        <p:txBody>
          <a:bodyPr wrap="square" lIns="0" tIns="0" rIns="0" bIns="0" rtlCol="0" anchor="t"/>
          <a:lstStyle/>
          <a:p>
            <a:pPr indent="0" marL="0">
              <a:buNone/>
            </a:pPr>
            <a:r>
              <a:rPr lang="en-US" sz="1200" i="1" dirty="0">
                <a:solidFill>
                  <a:srgbClr val="475569"/>
                </a:solidFill>
                <a:latin typeface="Arial" pitchFamily="34" charset="0"/>
                <a:ea typeface="Arial" pitchFamily="34" charset="-122"/>
                <a:cs typeface="Arial" pitchFamily="34" charset="-120"/>
              </a:rPr>
              <a:t>Wrap a setter call so the resulting work is interruptible.</a:t>
            </a:r>
            <a:endParaRPr lang="en-US" sz="1200" dirty="0"/>
          </a:p>
        </p:txBody>
      </p:sp>
      <p:sp>
        <p:nvSpPr>
          <p:cNvPr id="12" name="Text 10"/>
          <p:cNvSpPr/>
          <p:nvPr/>
        </p:nvSpPr>
        <p:spPr>
          <a:xfrm>
            <a:off x="6537960" y="3246120"/>
            <a:ext cx="4663440" cy="24688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75569"/>
                </a:solidFill>
                <a:latin typeface="Arial" pitchFamily="34" charset="0"/>
                <a:ea typeface="Arial" pitchFamily="34" charset="-122"/>
                <a:cs typeface="Arial" pitchFamily="34" charset="-120"/>
              </a:rPr>
              <a:t>Use when you own the setter — wrap setX in startTransition</a:t>
            </a:r>
            <a:endParaRPr lang="en-US" sz="1200" dirty="0"/>
          </a:p>
          <a:p>
            <a:pPr marL="342900" indent="-342900">
              <a:spcAft>
                <a:spcPts val="600"/>
              </a:spcAft>
              <a:buSzPct val="100000"/>
              <a:buChar char="•"/>
            </a:pPr>
            <a:r>
              <a:rPr lang="en-US" sz="1200" dirty="0">
                <a:solidFill>
                  <a:srgbClr val="475569"/>
                </a:solidFill>
                <a:latin typeface="Arial" pitchFamily="34" charset="0"/>
                <a:ea typeface="Arial" pitchFamily="34" charset="-122"/>
                <a:cs typeface="Arial" pitchFamily="34" charset="-120"/>
              </a:rPr>
              <a:t>Returns isPending — surface it as a spinner or busy indicator</a:t>
            </a:r>
            <a:endParaRPr lang="en-US" sz="1200" dirty="0"/>
          </a:p>
          <a:p>
            <a:pPr marL="342900" indent="-342900">
              <a:spcAft>
                <a:spcPts val="600"/>
              </a:spcAft>
              <a:buSzPct val="100000"/>
              <a:buChar char="•"/>
            </a:pPr>
            <a:r>
              <a:rPr lang="en-US" sz="1200" dirty="0">
                <a:solidFill>
                  <a:srgbClr val="475569"/>
                </a:solidFill>
                <a:latin typeface="Arial" pitchFamily="34" charset="0"/>
                <a:ea typeface="Arial" pitchFamily="34" charset="-122"/>
                <a:cs typeface="Arial" pitchFamily="34" charset="-120"/>
              </a:rPr>
              <a:t>Newer transitions interrupt older ones automatically</a:t>
            </a:r>
            <a:endParaRPr lang="en-US" sz="1200" dirty="0"/>
          </a:p>
        </p:txBody>
      </p:sp>
      <p:sp>
        <p:nvSpPr>
          <p:cNvPr id="13" name="Text 1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14" name="Text 1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30 / 34</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useLayoutEffect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Like useEffect, but synchronous — fires before the browser paints. Use it sparingly.</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400" b="1" dirty="0">
                <a:solidFill>
                  <a:srgbClr val="059669"/>
                </a:solidFill>
                <a:latin typeface="Trebuchet MS" pitchFamily="34" charset="0"/>
                <a:ea typeface="Trebuchet MS" pitchFamily="34" charset="-122"/>
                <a:cs typeface="Trebuchet MS" pitchFamily="34" charset="-120"/>
              </a:rPr>
              <a:t>Use when:</a:t>
            </a:r>
            <a:endParaRPr lang="en-US" sz="1400" dirty="0"/>
          </a:p>
        </p:txBody>
      </p:sp>
      <p:sp>
        <p:nvSpPr>
          <p:cNvPr id="6" name="Text 4"/>
          <p:cNvSpPr/>
          <p:nvPr/>
        </p:nvSpPr>
        <p:spPr>
          <a:xfrm>
            <a:off x="777240" y="1920240"/>
            <a:ext cx="5349240"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75569"/>
                </a:solidFill>
                <a:latin typeface="Arial" pitchFamily="34" charset="0"/>
                <a:ea typeface="Arial" pitchFamily="34" charset="-122"/>
                <a:cs typeface="Arial" pitchFamily="34" charset="-120"/>
              </a:rPr>
              <a:t>You need to measure DOM and adjust layout before paint (e.g., a tooltip's position)</a:t>
            </a:r>
            <a:endParaRPr lang="en-US" sz="1200" dirty="0"/>
          </a:p>
          <a:p>
            <a:pPr marL="342900" indent="-342900">
              <a:spcAft>
                <a:spcPts val="600"/>
              </a:spcAft>
              <a:buSzPct val="100000"/>
              <a:buChar char="•"/>
            </a:pPr>
            <a:r>
              <a:rPr lang="en-US" sz="1200" dirty="0">
                <a:solidFill>
                  <a:srgbClr val="475569"/>
                </a:solidFill>
                <a:latin typeface="Arial" pitchFamily="34" charset="0"/>
                <a:ea typeface="Arial" pitchFamily="34" charset="-122"/>
                <a:cs typeface="Arial" pitchFamily="34" charset="-120"/>
              </a:rPr>
              <a:t>You need to sync DOM mutations across reads/writes that would flicker otherwise</a:t>
            </a:r>
            <a:endParaRPr lang="en-US" sz="1200" dirty="0"/>
          </a:p>
          <a:p>
            <a:pPr marL="342900" indent="-342900">
              <a:spcAft>
                <a:spcPts val="600"/>
              </a:spcAft>
              <a:buSzPct val="100000"/>
              <a:buChar char="•"/>
            </a:pPr>
            <a:r>
              <a:rPr lang="en-US" sz="1200" dirty="0">
                <a:solidFill>
                  <a:srgbClr val="475569"/>
                </a:solidFill>
                <a:latin typeface="Arial" pitchFamily="34" charset="0"/>
                <a:ea typeface="Arial" pitchFamily="34" charset="-122"/>
                <a:cs typeface="Arial" pitchFamily="34" charset="-120"/>
              </a:rPr>
              <a:t>You're writing a component library that has to interop with imperative DOM code</a:t>
            </a:r>
            <a:endParaRPr lang="en-US" sz="1200" dirty="0"/>
          </a:p>
        </p:txBody>
      </p:sp>
      <p:sp>
        <p:nvSpPr>
          <p:cNvPr id="7" name="Text 5"/>
          <p:cNvSpPr/>
          <p:nvPr/>
        </p:nvSpPr>
        <p:spPr>
          <a:xfrm>
            <a:off x="6355080" y="1554480"/>
            <a:ext cx="5029200" cy="365760"/>
          </a:xfrm>
          <a:prstGeom prst="rect">
            <a:avLst/>
          </a:prstGeom>
          <a:noFill/>
          <a:ln/>
        </p:spPr>
        <p:txBody>
          <a:bodyPr wrap="square" lIns="0" tIns="0" rIns="0" bIns="0" rtlCol="0" anchor="ctr"/>
          <a:lstStyle/>
          <a:p>
            <a:pPr indent="0" marL="0">
              <a:buNone/>
            </a:pPr>
            <a:r>
              <a:rPr lang="en-US" sz="1400" b="1" dirty="0">
                <a:solidFill>
                  <a:srgbClr val="DC2626"/>
                </a:solidFill>
                <a:latin typeface="Trebuchet MS" pitchFamily="34" charset="0"/>
                <a:ea typeface="Trebuchet MS" pitchFamily="34" charset="-122"/>
                <a:cs typeface="Trebuchet MS" pitchFamily="34" charset="-120"/>
              </a:rPr>
              <a:t>Don't use when:</a:t>
            </a:r>
            <a:endParaRPr lang="en-US" sz="1400" dirty="0"/>
          </a:p>
        </p:txBody>
      </p:sp>
      <p:sp>
        <p:nvSpPr>
          <p:cNvPr id="8" name="Text 6"/>
          <p:cNvSpPr/>
          <p:nvPr/>
        </p:nvSpPr>
        <p:spPr>
          <a:xfrm>
            <a:off x="6355080" y="1920240"/>
            <a:ext cx="5029200"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75569"/>
                </a:solidFill>
                <a:latin typeface="Arial" pitchFamily="34" charset="0"/>
                <a:ea typeface="Arial" pitchFamily="34" charset="-122"/>
                <a:cs typeface="Arial" pitchFamily="34" charset="-120"/>
              </a:rPr>
              <a:t>Plain useEffect would do — it blocks paint, hurting perceived performance</a:t>
            </a:r>
            <a:endParaRPr lang="en-US" sz="1200" dirty="0"/>
          </a:p>
          <a:p>
            <a:pPr marL="342900" indent="-342900">
              <a:spcAft>
                <a:spcPts val="600"/>
              </a:spcAft>
              <a:buSzPct val="100000"/>
              <a:buChar char="•"/>
            </a:pPr>
            <a:r>
              <a:rPr lang="en-US" sz="1200" dirty="0">
                <a:solidFill>
                  <a:srgbClr val="475569"/>
                </a:solidFill>
                <a:latin typeface="Arial" pitchFamily="34" charset="0"/>
                <a:ea typeface="Arial" pitchFamily="34" charset="-122"/>
                <a:cs typeface="Arial" pitchFamily="34" charset="-120"/>
              </a:rPr>
              <a:t>Subscribing to data — neither hook should fetch</a:t>
            </a:r>
            <a:endParaRPr lang="en-US" sz="1200" dirty="0"/>
          </a:p>
          <a:p>
            <a:pPr marL="342900" indent="-342900">
              <a:spcAft>
                <a:spcPts val="600"/>
              </a:spcAft>
              <a:buSzPct val="100000"/>
              <a:buChar char="•"/>
            </a:pPr>
            <a:r>
              <a:rPr lang="en-US" sz="1200" dirty="0">
                <a:solidFill>
                  <a:srgbClr val="475569"/>
                </a:solidFill>
                <a:latin typeface="Arial" pitchFamily="34" charset="0"/>
                <a:ea typeface="Arial" pitchFamily="34" charset="-122"/>
                <a:cs typeface="Arial" pitchFamily="34" charset="-120"/>
              </a:rPr>
              <a:t>Server rendering — useLayoutEffect doesn't run on the server, gets noisy warnings</a:t>
            </a:r>
            <a:endParaRPr lang="en-US" sz="1200" dirty="0"/>
          </a:p>
        </p:txBody>
      </p:sp>
      <p:sp>
        <p:nvSpPr>
          <p:cNvPr id="9" name="Shape 7"/>
          <p:cNvSpPr/>
          <p:nvPr/>
        </p:nvSpPr>
        <p:spPr>
          <a:xfrm>
            <a:off x="777240" y="4572000"/>
            <a:ext cx="10607040" cy="1645920"/>
          </a:xfrm>
          <a:prstGeom prst="rect">
            <a:avLst/>
          </a:prstGeom>
          <a:solidFill>
            <a:srgbClr val="CBF1F6"/>
          </a:solidFill>
          <a:ln w="12700">
            <a:solidFill>
              <a:srgbClr val="CBF1F6"/>
            </a:solidFill>
            <a:prstDash val="solid"/>
          </a:ln>
        </p:spPr>
      </p:sp>
      <p:pic>
        <p:nvPicPr>
          <p:cNvPr id="10" name="Image 0" descr="preencoded.png">    </p:cNvPr>
          <p:cNvPicPr>
            <a:picLocks noChangeAspect="1"/>
          </p:cNvPicPr>
          <p:nvPr/>
        </p:nvPicPr>
        <p:blipFill>
          <a:blip r:embed="rId1"/>
          <a:stretch>
            <a:fillRect/>
          </a:stretch>
        </p:blipFill>
        <p:spPr>
          <a:xfrm>
            <a:off x="1005840" y="5074920"/>
            <a:ext cx="640080" cy="640080"/>
          </a:xfrm>
          <a:prstGeom prst="rect">
            <a:avLst/>
          </a:prstGeom>
        </p:spPr>
      </p:pic>
      <p:sp>
        <p:nvSpPr>
          <p:cNvPr id="11" name="Text 8"/>
          <p:cNvSpPr/>
          <p:nvPr/>
        </p:nvSpPr>
        <p:spPr>
          <a:xfrm>
            <a:off x="1828800" y="4663440"/>
            <a:ext cx="9418320" cy="1554480"/>
          </a:xfrm>
          <a:prstGeom prst="rect">
            <a:avLst/>
          </a:prstGeom>
          <a:noFill/>
          <a:ln/>
        </p:spPr>
        <p:txBody>
          <a:bodyPr wrap="square" lIns="0" tIns="0" rIns="0" bIns="0" rtlCol="0" anchor="ctr"/>
          <a:lstStyle/>
          <a:p>
            <a:pPr indent="0" marL="0">
              <a:buNone/>
            </a:pPr>
            <a:r>
              <a:rPr lang="en-US" sz="1400" i="1" dirty="0">
                <a:solidFill>
                  <a:srgbClr val="0F172A"/>
                </a:solidFill>
                <a:latin typeface="Arial" pitchFamily="34" charset="0"/>
                <a:ea typeface="Arial" pitchFamily="34" charset="-122"/>
                <a:cs typeface="Arial" pitchFamily="34" charset="-120"/>
              </a:rPr>
              <a:t>Rule of thumb: reach for useEffect first. If you see a flicker between paint and effect, then upgrade to useLayoutEffect.</a:t>
            </a:r>
            <a:endParaRPr lang="en-US" sz="1400" dirty="0"/>
          </a:p>
        </p:txBody>
      </p:sp>
      <p:sp>
        <p:nvSpPr>
          <p:cNvPr id="12"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13"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31 / 34</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Hook selection cheat sheet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When in doubt: which hook fits the situation?</a:t>
            </a:r>
            <a:endParaRPr lang="en-US" sz="1400" dirty="0"/>
          </a:p>
        </p:txBody>
      </p:sp>
      <p:sp>
        <p:nvSpPr>
          <p:cNvPr id="5" name="Shape 3"/>
          <p:cNvSpPr/>
          <p:nvPr/>
        </p:nvSpPr>
        <p:spPr>
          <a:xfrm>
            <a:off x="777240" y="1554480"/>
            <a:ext cx="5349240" cy="566928"/>
          </a:xfrm>
          <a:prstGeom prst="rect">
            <a:avLst/>
          </a:prstGeom>
          <a:solidFill>
            <a:srgbClr val="FFFFFF"/>
          </a:solidFill>
          <a:ln w="12700">
            <a:solidFill>
              <a:srgbClr val="E2E8F0"/>
            </a:solidFill>
            <a:prstDash val="solid"/>
          </a:ln>
        </p:spPr>
      </p:sp>
      <p:sp>
        <p:nvSpPr>
          <p:cNvPr id="6" name="Text 4"/>
          <p:cNvSpPr/>
          <p:nvPr/>
        </p:nvSpPr>
        <p:spPr>
          <a:xfrm>
            <a:off x="914400" y="1600200"/>
            <a:ext cx="29718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Local component value that changes</a:t>
            </a:r>
            <a:endParaRPr lang="en-US" sz="1100" dirty="0"/>
          </a:p>
        </p:txBody>
      </p:sp>
      <p:sp>
        <p:nvSpPr>
          <p:cNvPr id="7" name="Text 5"/>
          <p:cNvSpPr/>
          <p:nvPr/>
        </p:nvSpPr>
        <p:spPr>
          <a:xfrm>
            <a:off x="3931920" y="1600200"/>
            <a:ext cx="2148840" cy="50292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useState</a:t>
            </a:r>
            <a:endParaRPr lang="en-US" sz="1150" dirty="0"/>
          </a:p>
        </p:txBody>
      </p:sp>
      <p:sp>
        <p:nvSpPr>
          <p:cNvPr id="8" name="Shape 6"/>
          <p:cNvSpPr/>
          <p:nvPr/>
        </p:nvSpPr>
        <p:spPr>
          <a:xfrm>
            <a:off x="777240" y="2267712"/>
            <a:ext cx="5349240" cy="566928"/>
          </a:xfrm>
          <a:prstGeom prst="rect">
            <a:avLst/>
          </a:prstGeom>
          <a:solidFill>
            <a:srgbClr val="FFFFFF"/>
          </a:solidFill>
          <a:ln w="12700">
            <a:solidFill>
              <a:srgbClr val="E2E8F0"/>
            </a:solidFill>
            <a:prstDash val="solid"/>
          </a:ln>
        </p:spPr>
      </p:sp>
      <p:sp>
        <p:nvSpPr>
          <p:cNvPr id="9" name="Text 7"/>
          <p:cNvSpPr/>
          <p:nvPr/>
        </p:nvSpPr>
        <p:spPr>
          <a:xfrm>
            <a:off x="914400" y="2313432"/>
            <a:ext cx="29718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Multiple related state values, complex transitions</a:t>
            </a:r>
            <a:endParaRPr lang="en-US" sz="1100" dirty="0"/>
          </a:p>
        </p:txBody>
      </p:sp>
      <p:sp>
        <p:nvSpPr>
          <p:cNvPr id="10" name="Text 8"/>
          <p:cNvSpPr/>
          <p:nvPr/>
        </p:nvSpPr>
        <p:spPr>
          <a:xfrm>
            <a:off x="3931920" y="2313432"/>
            <a:ext cx="2148840" cy="50292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useReducer</a:t>
            </a:r>
            <a:endParaRPr lang="en-US" sz="1150" dirty="0"/>
          </a:p>
        </p:txBody>
      </p:sp>
      <p:sp>
        <p:nvSpPr>
          <p:cNvPr id="11" name="Shape 9"/>
          <p:cNvSpPr/>
          <p:nvPr/>
        </p:nvSpPr>
        <p:spPr>
          <a:xfrm>
            <a:off x="777240" y="2980944"/>
            <a:ext cx="5349240" cy="566928"/>
          </a:xfrm>
          <a:prstGeom prst="rect">
            <a:avLst/>
          </a:prstGeom>
          <a:solidFill>
            <a:srgbClr val="FFFFFF"/>
          </a:solidFill>
          <a:ln w="12700">
            <a:solidFill>
              <a:srgbClr val="E2E8F0"/>
            </a:solidFill>
            <a:prstDash val="solid"/>
          </a:ln>
        </p:spPr>
      </p:sp>
      <p:sp>
        <p:nvSpPr>
          <p:cNvPr id="12" name="Text 10"/>
          <p:cNvSpPr/>
          <p:nvPr/>
        </p:nvSpPr>
        <p:spPr>
          <a:xfrm>
            <a:off x="914400" y="3026664"/>
            <a:ext cx="29718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Read async data inline (Server Components)</a:t>
            </a:r>
            <a:endParaRPr lang="en-US" sz="1100" dirty="0"/>
          </a:p>
        </p:txBody>
      </p:sp>
      <p:sp>
        <p:nvSpPr>
          <p:cNvPr id="13" name="Text 11"/>
          <p:cNvSpPr/>
          <p:nvPr/>
        </p:nvSpPr>
        <p:spPr>
          <a:xfrm>
            <a:off x="3931920" y="3026664"/>
            <a:ext cx="2148840" cy="50292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use(promise)</a:t>
            </a:r>
            <a:endParaRPr lang="en-US" sz="1150" dirty="0"/>
          </a:p>
        </p:txBody>
      </p:sp>
      <p:sp>
        <p:nvSpPr>
          <p:cNvPr id="14" name="Shape 12"/>
          <p:cNvSpPr/>
          <p:nvPr/>
        </p:nvSpPr>
        <p:spPr>
          <a:xfrm>
            <a:off x="777240" y="3694176"/>
            <a:ext cx="5349240" cy="566928"/>
          </a:xfrm>
          <a:prstGeom prst="rect">
            <a:avLst/>
          </a:prstGeom>
          <a:solidFill>
            <a:srgbClr val="FFFFFF"/>
          </a:solidFill>
          <a:ln w="12700">
            <a:solidFill>
              <a:srgbClr val="E2E8F0"/>
            </a:solidFill>
            <a:prstDash val="solid"/>
          </a:ln>
        </p:spPr>
      </p:sp>
      <p:sp>
        <p:nvSpPr>
          <p:cNvPr id="15" name="Text 13"/>
          <p:cNvSpPr/>
          <p:nvPr/>
        </p:nvSpPr>
        <p:spPr>
          <a:xfrm>
            <a:off x="914400" y="3739896"/>
            <a:ext cx="29718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Read context, possibly conditionally</a:t>
            </a:r>
            <a:endParaRPr lang="en-US" sz="1100" dirty="0"/>
          </a:p>
        </p:txBody>
      </p:sp>
      <p:sp>
        <p:nvSpPr>
          <p:cNvPr id="16" name="Text 14"/>
          <p:cNvSpPr/>
          <p:nvPr/>
        </p:nvSpPr>
        <p:spPr>
          <a:xfrm>
            <a:off x="3931920" y="3739896"/>
            <a:ext cx="2148840" cy="50292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use(context)</a:t>
            </a:r>
            <a:endParaRPr lang="en-US" sz="1150" dirty="0"/>
          </a:p>
        </p:txBody>
      </p:sp>
      <p:sp>
        <p:nvSpPr>
          <p:cNvPr id="17" name="Shape 15"/>
          <p:cNvSpPr/>
          <p:nvPr/>
        </p:nvSpPr>
        <p:spPr>
          <a:xfrm>
            <a:off x="777240" y="4407408"/>
            <a:ext cx="5349240" cy="566928"/>
          </a:xfrm>
          <a:prstGeom prst="rect">
            <a:avLst/>
          </a:prstGeom>
          <a:solidFill>
            <a:srgbClr val="FFFFFF"/>
          </a:solidFill>
          <a:ln w="12700">
            <a:solidFill>
              <a:srgbClr val="E2E8F0"/>
            </a:solidFill>
            <a:prstDash val="solid"/>
          </a:ln>
        </p:spPr>
      </p:sp>
      <p:sp>
        <p:nvSpPr>
          <p:cNvPr id="18" name="Text 16"/>
          <p:cNvSpPr/>
          <p:nvPr/>
        </p:nvSpPr>
        <p:spPr>
          <a:xfrm>
            <a:off x="914400" y="4453128"/>
            <a:ext cx="29718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Form action + state + pending</a:t>
            </a:r>
            <a:endParaRPr lang="en-US" sz="1100" dirty="0"/>
          </a:p>
        </p:txBody>
      </p:sp>
      <p:sp>
        <p:nvSpPr>
          <p:cNvPr id="19" name="Text 17"/>
          <p:cNvSpPr/>
          <p:nvPr/>
        </p:nvSpPr>
        <p:spPr>
          <a:xfrm>
            <a:off x="3931920" y="4453128"/>
            <a:ext cx="2148840" cy="50292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useActionState</a:t>
            </a:r>
            <a:endParaRPr lang="en-US" sz="1150" dirty="0"/>
          </a:p>
        </p:txBody>
      </p:sp>
      <p:sp>
        <p:nvSpPr>
          <p:cNvPr id="20" name="Shape 18"/>
          <p:cNvSpPr/>
          <p:nvPr/>
        </p:nvSpPr>
        <p:spPr>
          <a:xfrm>
            <a:off x="777240" y="5120640"/>
            <a:ext cx="5349240" cy="566928"/>
          </a:xfrm>
          <a:prstGeom prst="rect">
            <a:avLst/>
          </a:prstGeom>
          <a:solidFill>
            <a:srgbClr val="FFFFFF"/>
          </a:solidFill>
          <a:ln w="12700">
            <a:solidFill>
              <a:srgbClr val="E2E8F0"/>
            </a:solidFill>
            <a:prstDash val="solid"/>
          </a:ln>
        </p:spPr>
      </p:sp>
      <p:sp>
        <p:nvSpPr>
          <p:cNvPr id="21" name="Text 19"/>
          <p:cNvSpPr/>
          <p:nvPr/>
        </p:nvSpPr>
        <p:spPr>
          <a:xfrm>
            <a:off x="914400" y="5166360"/>
            <a:ext cx="29718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Submit button needing form pending state</a:t>
            </a:r>
            <a:endParaRPr lang="en-US" sz="1100" dirty="0"/>
          </a:p>
        </p:txBody>
      </p:sp>
      <p:sp>
        <p:nvSpPr>
          <p:cNvPr id="22" name="Text 20"/>
          <p:cNvSpPr/>
          <p:nvPr/>
        </p:nvSpPr>
        <p:spPr>
          <a:xfrm>
            <a:off x="3931920" y="5166360"/>
            <a:ext cx="2148840" cy="50292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useFormStatus</a:t>
            </a:r>
            <a:endParaRPr lang="en-US" sz="1150" dirty="0"/>
          </a:p>
        </p:txBody>
      </p:sp>
      <p:sp>
        <p:nvSpPr>
          <p:cNvPr id="23" name="Shape 21"/>
          <p:cNvSpPr/>
          <p:nvPr/>
        </p:nvSpPr>
        <p:spPr>
          <a:xfrm>
            <a:off x="6355080" y="1554480"/>
            <a:ext cx="5349240" cy="566928"/>
          </a:xfrm>
          <a:prstGeom prst="rect">
            <a:avLst/>
          </a:prstGeom>
          <a:solidFill>
            <a:srgbClr val="FFFFFF"/>
          </a:solidFill>
          <a:ln w="12700">
            <a:solidFill>
              <a:srgbClr val="E2E8F0"/>
            </a:solidFill>
            <a:prstDash val="solid"/>
          </a:ln>
        </p:spPr>
      </p:sp>
      <p:sp>
        <p:nvSpPr>
          <p:cNvPr id="24" name="Text 22"/>
          <p:cNvSpPr/>
          <p:nvPr/>
        </p:nvSpPr>
        <p:spPr>
          <a:xfrm>
            <a:off x="6492240" y="1600200"/>
            <a:ext cx="29718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Show eventual state immediately</a:t>
            </a:r>
            <a:endParaRPr lang="en-US" sz="1100" dirty="0"/>
          </a:p>
        </p:txBody>
      </p:sp>
      <p:sp>
        <p:nvSpPr>
          <p:cNvPr id="25" name="Text 23"/>
          <p:cNvSpPr/>
          <p:nvPr/>
        </p:nvSpPr>
        <p:spPr>
          <a:xfrm>
            <a:off x="9509760" y="1600200"/>
            <a:ext cx="2148840" cy="50292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useOptimistic</a:t>
            </a:r>
            <a:endParaRPr lang="en-US" sz="1150" dirty="0"/>
          </a:p>
        </p:txBody>
      </p:sp>
      <p:sp>
        <p:nvSpPr>
          <p:cNvPr id="26" name="Shape 24"/>
          <p:cNvSpPr/>
          <p:nvPr/>
        </p:nvSpPr>
        <p:spPr>
          <a:xfrm>
            <a:off x="6355080" y="2267712"/>
            <a:ext cx="5349240" cy="566928"/>
          </a:xfrm>
          <a:prstGeom prst="rect">
            <a:avLst/>
          </a:prstGeom>
          <a:solidFill>
            <a:srgbClr val="FFFFFF"/>
          </a:solidFill>
          <a:ln w="12700">
            <a:solidFill>
              <a:srgbClr val="E2E8F0"/>
            </a:solidFill>
            <a:prstDash val="solid"/>
          </a:ln>
        </p:spPr>
      </p:sp>
      <p:sp>
        <p:nvSpPr>
          <p:cNvPr id="27" name="Text 25"/>
          <p:cNvSpPr/>
          <p:nvPr/>
        </p:nvSpPr>
        <p:spPr>
          <a:xfrm>
            <a:off x="6492240" y="2313432"/>
            <a:ext cx="29718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Subscribe to non-React store</a:t>
            </a:r>
            <a:endParaRPr lang="en-US" sz="1100" dirty="0"/>
          </a:p>
        </p:txBody>
      </p:sp>
      <p:sp>
        <p:nvSpPr>
          <p:cNvPr id="28" name="Text 26"/>
          <p:cNvSpPr/>
          <p:nvPr/>
        </p:nvSpPr>
        <p:spPr>
          <a:xfrm>
            <a:off x="9509760" y="2313432"/>
            <a:ext cx="2148840" cy="50292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useSyncExternalStore</a:t>
            </a:r>
            <a:endParaRPr lang="en-US" sz="1150" dirty="0"/>
          </a:p>
        </p:txBody>
      </p:sp>
      <p:sp>
        <p:nvSpPr>
          <p:cNvPr id="29" name="Shape 27"/>
          <p:cNvSpPr/>
          <p:nvPr/>
        </p:nvSpPr>
        <p:spPr>
          <a:xfrm>
            <a:off x="6355080" y="2980944"/>
            <a:ext cx="5349240" cy="566928"/>
          </a:xfrm>
          <a:prstGeom prst="rect">
            <a:avLst/>
          </a:prstGeom>
          <a:solidFill>
            <a:srgbClr val="FFFFFF"/>
          </a:solidFill>
          <a:ln w="12700">
            <a:solidFill>
              <a:srgbClr val="E2E8F0"/>
            </a:solidFill>
            <a:prstDash val="solid"/>
          </a:ln>
        </p:spPr>
      </p:sp>
      <p:sp>
        <p:nvSpPr>
          <p:cNvPr id="30" name="Text 28"/>
          <p:cNvSpPr/>
          <p:nvPr/>
        </p:nvSpPr>
        <p:spPr>
          <a:xfrm>
            <a:off x="6492240" y="3026664"/>
            <a:ext cx="29718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Keep input responsive during expensive renders</a:t>
            </a:r>
            <a:endParaRPr lang="en-US" sz="1100" dirty="0"/>
          </a:p>
        </p:txBody>
      </p:sp>
      <p:sp>
        <p:nvSpPr>
          <p:cNvPr id="31" name="Text 29"/>
          <p:cNvSpPr/>
          <p:nvPr/>
        </p:nvSpPr>
        <p:spPr>
          <a:xfrm>
            <a:off x="9509760" y="3026664"/>
            <a:ext cx="2148840" cy="50292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useDeferredValue</a:t>
            </a:r>
            <a:endParaRPr lang="en-US" sz="1150" dirty="0"/>
          </a:p>
        </p:txBody>
      </p:sp>
      <p:sp>
        <p:nvSpPr>
          <p:cNvPr id="32" name="Shape 30"/>
          <p:cNvSpPr/>
          <p:nvPr/>
        </p:nvSpPr>
        <p:spPr>
          <a:xfrm>
            <a:off x="6355080" y="3694176"/>
            <a:ext cx="5349240" cy="566928"/>
          </a:xfrm>
          <a:prstGeom prst="rect">
            <a:avLst/>
          </a:prstGeom>
          <a:solidFill>
            <a:srgbClr val="FFFFFF"/>
          </a:solidFill>
          <a:ln w="12700">
            <a:solidFill>
              <a:srgbClr val="E2E8F0"/>
            </a:solidFill>
            <a:prstDash val="solid"/>
          </a:ln>
        </p:spPr>
      </p:sp>
      <p:sp>
        <p:nvSpPr>
          <p:cNvPr id="33" name="Text 31"/>
          <p:cNvSpPr/>
          <p:nvPr/>
        </p:nvSpPr>
        <p:spPr>
          <a:xfrm>
            <a:off x="6492240" y="3739896"/>
            <a:ext cx="29718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Make a state update interruptible</a:t>
            </a:r>
            <a:endParaRPr lang="en-US" sz="1100" dirty="0"/>
          </a:p>
        </p:txBody>
      </p:sp>
      <p:sp>
        <p:nvSpPr>
          <p:cNvPr id="34" name="Text 32"/>
          <p:cNvSpPr/>
          <p:nvPr/>
        </p:nvSpPr>
        <p:spPr>
          <a:xfrm>
            <a:off x="9509760" y="3739896"/>
            <a:ext cx="2148840" cy="50292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useTransition</a:t>
            </a:r>
            <a:endParaRPr lang="en-US" sz="1150" dirty="0"/>
          </a:p>
        </p:txBody>
      </p:sp>
      <p:sp>
        <p:nvSpPr>
          <p:cNvPr id="35" name="Shape 33"/>
          <p:cNvSpPr/>
          <p:nvPr/>
        </p:nvSpPr>
        <p:spPr>
          <a:xfrm>
            <a:off x="6355080" y="4407408"/>
            <a:ext cx="5349240" cy="566928"/>
          </a:xfrm>
          <a:prstGeom prst="rect">
            <a:avLst/>
          </a:prstGeom>
          <a:solidFill>
            <a:srgbClr val="FFFFFF"/>
          </a:solidFill>
          <a:ln w="12700">
            <a:solidFill>
              <a:srgbClr val="E2E8F0"/>
            </a:solidFill>
            <a:prstDash val="solid"/>
          </a:ln>
        </p:spPr>
      </p:sp>
      <p:sp>
        <p:nvSpPr>
          <p:cNvPr id="36" name="Text 34"/>
          <p:cNvSpPr/>
          <p:nvPr/>
        </p:nvSpPr>
        <p:spPr>
          <a:xfrm>
            <a:off x="6492240" y="4453128"/>
            <a:ext cx="29718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Sync to an external system on render</a:t>
            </a:r>
            <a:endParaRPr lang="en-US" sz="1100" dirty="0"/>
          </a:p>
        </p:txBody>
      </p:sp>
      <p:sp>
        <p:nvSpPr>
          <p:cNvPr id="37" name="Text 35"/>
          <p:cNvSpPr/>
          <p:nvPr/>
        </p:nvSpPr>
        <p:spPr>
          <a:xfrm>
            <a:off x="9509760" y="4453128"/>
            <a:ext cx="2148840" cy="50292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useEffect</a:t>
            </a:r>
            <a:endParaRPr lang="en-US" sz="1150" dirty="0"/>
          </a:p>
        </p:txBody>
      </p:sp>
      <p:sp>
        <p:nvSpPr>
          <p:cNvPr id="38" name="Shape 36"/>
          <p:cNvSpPr/>
          <p:nvPr/>
        </p:nvSpPr>
        <p:spPr>
          <a:xfrm>
            <a:off x="6355080" y="5120640"/>
            <a:ext cx="5349240" cy="566928"/>
          </a:xfrm>
          <a:prstGeom prst="rect">
            <a:avLst/>
          </a:prstGeom>
          <a:solidFill>
            <a:srgbClr val="FFFFFF"/>
          </a:solidFill>
          <a:ln w="12700">
            <a:solidFill>
              <a:srgbClr val="E2E8F0"/>
            </a:solidFill>
            <a:prstDash val="solid"/>
          </a:ln>
        </p:spPr>
      </p:sp>
      <p:sp>
        <p:nvSpPr>
          <p:cNvPr id="39" name="Text 37"/>
          <p:cNvSpPr/>
          <p:nvPr/>
        </p:nvSpPr>
        <p:spPr>
          <a:xfrm>
            <a:off x="6492240" y="5166360"/>
            <a:ext cx="29718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Measure DOM before paint</a:t>
            </a:r>
            <a:endParaRPr lang="en-US" sz="1100" dirty="0"/>
          </a:p>
        </p:txBody>
      </p:sp>
      <p:sp>
        <p:nvSpPr>
          <p:cNvPr id="40" name="Text 38"/>
          <p:cNvSpPr/>
          <p:nvPr/>
        </p:nvSpPr>
        <p:spPr>
          <a:xfrm>
            <a:off x="9509760" y="5166360"/>
            <a:ext cx="2148840" cy="50292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useLayoutEffect</a:t>
            </a:r>
            <a:endParaRPr lang="en-US" sz="1150" dirty="0"/>
          </a:p>
        </p:txBody>
      </p:sp>
      <p:sp>
        <p:nvSpPr>
          <p:cNvPr id="41" name="Text 3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42" name="Text 4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32 / 34</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AI hook mistakes — your review checklist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What to look for when reviewing AI-generated React.</a:t>
            </a:r>
            <a:endParaRPr lang="en-US" sz="1400" dirty="0"/>
          </a:p>
        </p:txBody>
      </p:sp>
      <p:sp>
        <p:nvSpPr>
          <p:cNvPr id="5" name="Shape 3"/>
          <p:cNvSpPr/>
          <p:nvPr/>
        </p:nvSpPr>
        <p:spPr>
          <a:xfrm>
            <a:off x="777240" y="1691640"/>
            <a:ext cx="5212080" cy="10972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2011680"/>
            <a:ext cx="457200" cy="457200"/>
          </a:xfrm>
          <a:prstGeom prst="rect">
            <a:avLst/>
          </a:prstGeom>
        </p:spPr>
      </p:pic>
      <p:sp>
        <p:nvSpPr>
          <p:cNvPr id="7" name="Text 4"/>
          <p:cNvSpPr/>
          <p:nvPr/>
        </p:nvSpPr>
        <p:spPr>
          <a:xfrm>
            <a:off x="1554480" y="178308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useState for derived data that should be a plain calculation</a:t>
            </a:r>
            <a:endParaRPr lang="en-US" sz="1200" dirty="0"/>
          </a:p>
        </p:txBody>
      </p:sp>
      <p:sp>
        <p:nvSpPr>
          <p:cNvPr id="8" name="Shape 5"/>
          <p:cNvSpPr/>
          <p:nvPr/>
        </p:nvSpPr>
        <p:spPr>
          <a:xfrm>
            <a:off x="6126480" y="1691640"/>
            <a:ext cx="5212080" cy="1097280"/>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6309360" y="2011680"/>
            <a:ext cx="457200" cy="457200"/>
          </a:xfrm>
          <a:prstGeom prst="rect">
            <a:avLst/>
          </a:prstGeom>
        </p:spPr>
      </p:pic>
      <p:sp>
        <p:nvSpPr>
          <p:cNvPr id="10" name="Text 6"/>
          <p:cNvSpPr/>
          <p:nvPr/>
        </p:nvSpPr>
        <p:spPr>
          <a:xfrm>
            <a:off x="6903720" y="178308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useEffect to reset state on prop change (use a key prop instead)</a:t>
            </a:r>
            <a:endParaRPr lang="en-US" sz="1200" dirty="0"/>
          </a:p>
        </p:txBody>
      </p:sp>
      <p:sp>
        <p:nvSpPr>
          <p:cNvPr id="11" name="Shape 7"/>
          <p:cNvSpPr/>
          <p:nvPr/>
        </p:nvSpPr>
        <p:spPr>
          <a:xfrm>
            <a:off x="777240" y="2971800"/>
            <a:ext cx="5212080" cy="1097280"/>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291840"/>
            <a:ext cx="457200" cy="457200"/>
          </a:xfrm>
          <a:prstGeom prst="rect">
            <a:avLst/>
          </a:prstGeom>
        </p:spPr>
      </p:pic>
      <p:sp>
        <p:nvSpPr>
          <p:cNvPr id="13" name="Text 8"/>
          <p:cNvSpPr/>
          <p:nvPr/>
        </p:nvSpPr>
        <p:spPr>
          <a:xfrm>
            <a:off x="1554480" y="306324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useEffect to fetch data (use Suspense + use, or TanStack Query)</a:t>
            </a:r>
            <a:endParaRPr lang="en-US" sz="1200" dirty="0"/>
          </a:p>
        </p:txBody>
      </p:sp>
      <p:sp>
        <p:nvSpPr>
          <p:cNvPr id="14" name="Shape 9"/>
          <p:cNvSpPr/>
          <p:nvPr/>
        </p:nvSpPr>
        <p:spPr>
          <a:xfrm>
            <a:off x="6126480" y="2971800"/>
            <a:ext cx="5212080" cy="1097280"/>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6309360" y="3291840"/>
            <a:ext cx="457200" cy="457200"/>
          </a:xfrm>
          <a:prstGeom prst="rect">
            <a:avLst/>
          </a:prstGeom>
        </p:spPr>
      </p:pic>
      <p:sp>
        <p:nvSpPr>
          <p:cNvPr id="16" name="Text 10"/>
          <p:cNvSpPr/>
          <p:nvPr/>
        </p:nvSpPr>
        <p:spPr>
          <a:xfrm>
            <a:off x="6903720" y="306324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Stale closure in useEffect (missing dep, or use functional setState)</a:t>
            </a:r>
            <a:endParaRPr lang="en-US" sz="1200" dirty="0"/>
          </a:p>
        </p:txBody>
      </p:sp>
      <p:sp>
        <p:nvSpPr>
          <p:cNvPr id="17" name="Shape 11"/>
          <p:cNvSpPr/>
          <p:nvPr/>
        </p:nvSpPr>
        <p:spPr>
          <a:xfrm>
            <a:off x="777240" y="4251960"/>
            <a:ext cx="5212080" cy="1097280"/>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572000"/>
            <a:ext cx="457200" cy="457200"/>
          </a:xfrm>
          <a:prstGeom prst="rect">
            <a:avLst/>
          </a:prstGeom>
        </p:spPr>
      </p:pic>
      <p:sp>
        <p:nvSpPr>
          <p:cNvPr id="19" name="Text 12"/>
          <p:cNvSpPr/>
          <p:nvPr/>
        </p:nvSpPr>
        <p:spPr>
          <a:xfrm>
            <a:off x="1554480" y="434340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Hook inside a conditional (lift the conditionality outside)</a:t>
            </a:r>
            <a:endParaRPr lang="en-US" sz="1200" dirty="0"/>
          </a:p>
        </p:txBody>
      </p:sp>
      <p:sp>
        <p:nvSpPr>
          <p:cNvPr id="20" name="Shape 13"/>
          <p:cNvSpPr/>
          <p:nvPr/>
        </p:nvSpPr>
        <p:spPr>
          <a:xfrm>
            <a:off x="6126480" y="4251960"/>
            <a:ext cx="5212080" cy="1097280"/>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6309360" y="4572000"/>
            <a:ext cx="457200" cy="457200"/>
          </a:xfrm>
          <a:prstGeom prst="rect">
            <a:avLst/>
          </a:prstGeom>
        </p:spPr>
      </p:pic>
      <p:sp>
        <p:nvSpPr>
          <p:cNvPr id="22" name="Text 14"/>
          <p:cNvSpPr/>
          <p:nvPr/>
        </p:nvSpPr>
        <p:spPr>
          <a:xfrm>
            <a:off x="6903720" y="434340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Custom hook called conditionally (lift the conditionality)</a:t>
            </a:r>
            <a:endParaRPr lang="en-US" sz="1200" dirty="0"/>
          </a:p>
        </p:txBody>
      </p:sp>
      <p:sp>
        <p:nvSpPr>
          <p:cNvPr id="23"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24"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33 / 34</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Coming up: Lab 1</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Modernize a legacy class-component chat app — your first AI-review exercise.</a:t>
            </a:r>
            <a:endParaRPr lang="en-US" sz="1400" dirty="0"/>
          </a:p>
        </p:txBody>
      </p:sp>
      <p:sp>
        <p:nvSpPr>
          <p:cNvPr id="5" name="Shape 3"/>
          <p:cNvSpPr/>
          <p:nvPr/>
        </p:nvSpPr>
        <p:spPr>
          <a:xfrm>
            <a:off x="777240" y="1691640"/>
            <a:ext cx="10607040" cy="420624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97280" y="1920240"/>
            <a:ext cx="822960" cy="822960"/>
          </a:xfrm>
          <a:prstGeom prst="rect">
            <a:avLst/>
          </a:prstGeom>
        </p:spPr>
      </p:pic>
      <p:sp>
        <p:nvSpPr>
          <p:cNvPr id="7" name="Text 4"/>
          <p:cNvSpPr/>
          <p:nvPr/>
        </p:nvSpPr>
        <p:spPr>
          <a:xfrm>
            <a:off x="2194560" y="1920240"/>
            <a:ext cx="9144000" cy="640080"/>
          </a:xfrm>
          <a:prstGeom prst="rect">
            <a:avLst/>
          </a:prstGeom>
          <a:noFill/>
          <a:ln/>
        </p:spPr>
        <p:txBody>
          <a:bodyPr wrap="square" lIns="0" tIns="0" rIns="0" bIns="0" rtlCol="0" anchor="ctr"/>
          <a:lstStyle/>
          <a:p>
            <a:pPr indent="0" marL="0">
              <a:buNone/>
            </a:pPr>
            <a:r>
              <a:rPr lang="en-US" sz="2400" b="1" dirty="0">
                <a:solidFill>
                  <a:srgbClr val="0F172A"/>
                </a:solidFill>
                <a:latin typeface="Trebuchet MS" pitchFamily="34" charset="0"/>
                <a:ea typeface="Trebuchet MS" pitchFamily="34" charset="-122"/>
                <a:cs typeface="Trebuchet MS" pitchFamily="34" charset="-120"/>
              </a:rPr>
              <a:t>Lab 1: Modernize the Chat App</a:t>
            </a:r>
            <a:endParaRPr lang="en-US" sz="2400" dirty="0"/>
          </a:p>
        </p:txBody>
      </p:sp>
      <p:sp>
        <p:nvSpPr>
          <p:cNvPr id="8" name="Text 5"/>
          <p:cNvSpPr/>
          <p:nvPr/>
        </p:nvSpPr>
        <p:spPr>
          <a:xfrm>
            <a:off x="2194560" y="2514600"/>
            <a:ext cx="9144000" cy="365760"/>
          </a:xfrm>
          <a:prstGeom prst="rect">
            <a:avLst/>
          </a:prstGeom>
          <a:noFill/>
          <a:ln/>
        </p:spPr>
        <p:txBody>
          <a:bodyPr wrap="square" lIns="0" tIns="0" rIns="0" bIns="0" rtlCol="0" anchor="ctr"/>
          <a:lstStyle/>
          <a:p>
            <a:pPr indent="0" marL="0">
              <a:buNone/>
            </a:pPr>
            <a:r>
              <a:rPr lang="en-US" sz="1300" i="1" dirty="0">
                <a:solidFill>
                  <a:srgbClr val="475569"/>
                </a:solidFill>
                <a:latin typeface="Arial" pitchFamily="34" charset="0"/>
                <a:ea typeface="Arial" pitchFamily="34" charset="-122"/>
                <a:cs typeface="Arial" pitchFamily="34" charset="-120"/>
              </a:rPr>
              <a:t>90 minutes  ·  Hands-on  ·  Stretch task: add useOptimistic</a:t>
            </a:r>
            <a:endParaRPr lang="en-US" sz="1300" dirty="0"/>
          </a:p>
        </p:txBody>
      </p:sp>
      <p:sp>
        <p:nvSpPr>
          <p:cNvPr id="9" name="Text 6"/>
          <p:cNvSpPr/>
          <p:nvPr/>
        </p:nvSpPr>
        <p:spPr>
          <a:xfrm>
            <a:off x="1097280" y="3200400"/>
            <a:ext cx="100584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What you'll do:</a:t>
            </a:r>
            <a:endParaRPr lang="en-US" sz="1400" dirty="0"/>
          </a:p>
        </p:txBody>
      </p:sp>
      <p:sp>
        <p:nvSpPr>
          <p:cNvPr id="10" name="Text 7"/>
          <p:cNvSpPr/>
          <p:nvPr/>
        </p:nvSpPr>
        <p:spPr>
          <a:xfrm>
            <a:off x="1097280" y="3611880"/>
            <a:ext cx="10058400"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Open lab-files/lab-01/real-time-chat — class components, React 18, CRA</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Use an AI assistant to do a first-pass conversion to function components and modern hooks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Review what the AI produced — spot at least three mistakes from the checklist</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End with a working modernized chat app and a short written review of the AI's mistakes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Stretch: add useOptimistic so messages appear instantly while the round-trip completes</a:t>
            </a:r>
            <a:endParaRPr lang="en-US" sz="1250" dirty="0"/>
          </a:p>
        </p:txBody>
      </p:sp>
      <p:sp>
        <p:nvSpPr>
          <p:cNvPr id="11" name="Text 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2 — Hooks That Matter</a:t>
            </a:r>
            <a:endParaRPr lang="en-US" sz="900" dirty="0"/>
          </a:p>
        </p:txBody>
      </p:sp>
      <p:sp>
        <p:nvSpPr>
          <p:cNvPr id="12" name="Text 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34 / 34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1">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377440"/>
            <a:ext cx="548640" cy="73152"/>
          </a:xfrm>
          <a:prstGeom prst="rect">
            <a:avLst/>
          </a:prstGeom>
          <a:solidFill>
            <a:srgbClr val="00B8D9"/>
          </a:solidFill>
          <a:ln w="12700">
            <a:solidFill>
              <a:srgbClr val="00B8D9"/>
            </a:solidFill>
            <a:prstDash val="solid"/>
          </a:ln>
        </p:spPr>
      </p:sp>
      <p:sp>
        <p:nvSpPr>
          <p:cNvPr id="3" name="Text 1"/>
          <p:cNvSpPr/>
          <p:nvPr/>
        </p:nvSpPr>
        <p:spPr>
          <a:xfrm>
            <a:off x="640080" y="2542032"/>
            <a:ext cx="5486400" cy="457200"/>
          </a:xfrm>
          <a:prstGeom prst="rect">
            <a:avLst/>
          </a:prstGeom>
          <a:noFill/>
          <a:ln/>
        </p:spPr>
        <p:txBody>
          <a:bodyPr wrap="square" lIns="0" tIns="0" rIns="0" bIns="0" rtlCol="0" anchor="ctr"/>
          <a:lstStyle/>
          <a:p>
            <a:pPr indent="0" marL="0">
              <a:buNone/>
            </a:pPr>
            <a:r>
              <a:rPr lang="en-US" sz="1800" dirty="0">
                <a:solidFill>
                  <a:srgbClr val="00B8D9"/>
                </a:solidFill>
                <a:latin typeface="Trebuchet MS" pitchFamily="34" charset="0"/>
                <a:ea typeface="Trebuchet MS" pitchFamily="34" charset="-122"/>
                <a:cs typeface="Trebuchet MS" pitchFamily="34" charset="-120"/>
              </a:rPr>
              <a:t>Module 3</a:t>
            </a:r>
            <a:endParaRPr lang="en-US" sz="1800" dirty="0"/>
          </a:p>
        </p:txBody>
      </p:sp>
      <p:sp>
        <p:nvSpPr>
          <p:cNvPr id="4" name="Text 2"/>
          <p:cNvSpPr/>
          <p:nvPr/>
        </p:nvSpPr>
        <p:spPr>
          <a:xfrm>
            <a:off x="640080" y="3017520"/>
            <a:ext cx="10972800" cy="1097280"/>
          </a:xfrm>
          <a:prstGeom prst="rect">
            <a:avLst/>
          </a:prstGeom>
          <a:noFill/>
          <a:ln/>
        </p:spPr>
        <p:txBody>
          <a:bodyPr wrap="square" lIns="0" tIns="0" rIns="0" bIns="0" rtlCol="0" anchor="ctr"/>
          <a:lstStyle/>
          <a:p>
            <a:pPr indent="0" marL="0">
              <a:buNone/>
            </a:pPr>
            <a:r>
              <a:rPr lang="en-US" sz="4800" b="1" dirty="0">
                <a:solidFill>
                  <a:srgbClr val="FFFFFF"/>
                </a:solidFill>
                <a:latin typeface="Trebuchet MS" pitchFamily="34" charset="0"/>
                <a:ea typeface="Trebuchet MS" pitchFamily="34" charset="-122"/>
                <a:cs typeface="Trebuchet MS" pitchFamily="34" charset="-120"/>
              </a:rPr>
              <a:t>Routing in 2026</a:t>
            </a:r>
            <a:endParaRPr lang="en-US" sz="4800" dirty="0"/>
          </a:p>
        </p:txBody>
      </p:sp>
      <p:sp>
        <p:nvSpPr>
          <p:cNvPr id="5" name="Text 3"/>
          <p:cNvSpPr/>
          <p:nvPr/>
        </p:nvSpPr>
        <p:spPr>
          <a:xfrm>
            <a:off x="640080" y="4206240"/>
            <a:ext cx="10972800" cy="548640"/>
          </a:xfrm>
          <a:prstGeom prst="rect">
            <a:avLst/>
          </a:prstGeom>
          <a:noFill/>
          <a:ln/>
        </p:spPr>
        <p:txBody>
          <a:bodyPr wrap="square" lIns="0" tIns="0" rIns="0" bIns="0" rtlCol="0" anchor="ctr"/>
          <a:lstStyle/>
          <a:p>
            <a:pPr indent="0" marL="0">
              <a:buNone/>
            </a:pPr>
            <a:r>
              <a:rPr lang="en-US" sz="2000" i="1" dirty="0">
                <a:solidFill>
                  <a:srgbClr val="CBF1F6"/>
                </a:solidFill>
                <a:latin typeface="Arial" pitchFamily="34" charset="0"/>
                <a:ea typeface="Arial" pitchFamily="34" charset="-122"/>
                <a:cs typeface="Arial" pitchFamily="34" charset="-120"/>
              </a:rPr>
              <a:t>React Router v7 framework mode and Next.js App Router, side by side.</a:t>
            </a:r>
            <a:endParaRPr lang="en-US" sz="2000" dirty="0"/>
          </a:p>
        </p:txBody>
      </p:sp>
      <p:sp>
        <p:nvSpPr>
          <p:cNvPr id="6" name="Text 4"/>
          <p:cNvSpPr/>
          <p:nvPr/>
        </p:nvSpPr>
        <p:spPr>
          <a:xfrm>
            <a:off x="640080" y="4937760"/>
            <a:ext cx="10972800" cy="45720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60 minutes  ·  Lecture + side-by-side demos  ·  Lab 2 follows</a:t>
            </a:r>
            <a:endParaRPr lang="en-US" sz="1400" dirty="0"/>
          </a:p>
        </p:txBody>
      </p:sp>
      <p:pic>
        <p:nvPicPr>
          <p:cNvPr id="7" name="Image 0" descr="preencoded.png">    </p:cNvPr>
          <p:cNvPicPr>
            <a:picLocks noChangeAspect="1"/>
          </p:cNvPicPr>
          <p:nvPr/>
        </p:nvPicPr>
        <p:blipFill>
          <a:blip r:embed="rId1">
            <a:alphaModFix amt="75000"/>
          </a:blip>
          <a:stretch>
            <a:fillRect/>
          </a:stretch>
        </p:blipFill>
        <p:spPr>
          <a:xfrm>
            <a:off x="10728655" y="4663440"/>
            <a:ext cx="914400" cy="9144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2026 routing landscape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Three serious choices. We'll teach two and recognize the third.</a:t>
            </a:r>
            <a:endParaRPr lang="en-US" sz="1400" dirty="0"/>
          </a:p>
        </p:txBody>
      </p:sp>
      <p:sp>
        <p:nvSpPr>
          <p:cNvPr id="5" name="Shape 3"/>
          <p:cNvSpPr/>
          <p:nvPr/>
        </p:nvSpPr>
        <p:spPr>
          <a:xfrm>
            <a:off x="777240" y="1691640"/>
            <a:ext cx="10607040" cy="1005840"/>
          </a:xfrm>
          <a:prstGeom prst="rect">
            <a:avLst/>
          </a:prstGeom>
          <a:solidFill>
            <a:srgbClr val="CBF1F6"/>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920240"/>
            <a:ext cx="548640" cy="548640"/>
          </a:xfrm>
          <a:prstGeom prst="rect">
            <a:avLst/>
          </a:prstGeom>
        </p:spPr>
      </p:pic>
      <p:sp>
        <p:nvSpPr>
          <p:cNvPr id="7" name="Text 4"/>
          <p:cNvSpPr/>
          <p:nvPr/>
        </p:nvSpPr>
        <p:spPr>
          <a:xfrm>
            <a:off x="1691640" y="1828800"/>
            <a:ext cx="5029200" cy="45720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React Router v7</a:t>
            </a:r>
            <a:endParaRPr lang="en-US" sz="1800" dirty="0"/>
          </a:p>
        </p:txBody>
      </p:sp>
      <p:sp>
        <p:nvSpPr>
          <p:cNvPr id="8" name="Text 5"/>
          <p:cNvSpPr/>
          <p:nvPr/>
        </p:nvSpPr>
        <p:spPr>
          <a:xfrm>
            <a:off x="1691640" y="2240280"/>
            <a:ext cx="8229600" cy="457200"/>
          </a:xfrm>
          <a:prstGeom prst="rect">
            <a:avLst/>
          </a:prstGeom>
          <a:noFill/>
          <a:ln/>
        </p:spPr>
        <p:txBody>
          <a:bodyPr wrap="square" lIns="0" tIns="0" rIns="0" bIns="0" rtlCol="0" anchor="t"/>
          <a:lstStyle/>
          <a:p>
            <a:pPr indent="0" marL="0">
              <a:buNone/>
            </a:pPr>
            <a:r>
              <a:rPr lang="en-US" sz="1300" dirty="0">
                <a:solidFill>
                  <a:srgbClr val="475569"/>
                </a:solidFill>
                <a:latin typeface="Arial" pitchFamily="34" charset="0"/>
                <a:ea typeface="Arial" pitchFamily="34" charset="-122"/>
                <a:cs typeface="Arial" pitchFamily="34" charset="-120"/>
              </a:rPr>
              <a:t>Library mode + framework mode (Remix merged)</a:t>
            </a:r>
            <a:endParaRPr lang="en-US" sz="1300" dirty="0"/>
          </a:p>
        </p:txBody>
      </p:sp>
      <p:sp>
        <p:nvSpPr>
          <p:cNvPr id="9" name="Text 6"/>
          <p:cNvSpPr/>
          <p:nvPr/>
        </p:nvSpPr>
        <p:spPr>
          <a:xfrm>
            <a:off x="8686800" y="1965960"/>
            <a:ext cx="2606040" cy="274320"/>
          </a:xfrm>
          <a:prstGeom prst="rect">
            <a:avLst/>
          </a:prstGeom>
          <a:noFill/>
          <a:ln/>
        </p:spPr>
        <p:txBody>
          <a:bodyPr wrap="square" lIns="0" tIns="0" rIns="0" bIns="0" rtlCol="0" anchor="ctr"/>
          <a:lstStyle/>
          <a:p>
            <a:pPr algn="r" indent="0" marL="0">
              <a:buNone/>
            </a:pPr>
            <a:r>
              <a:rPr lang="en-US" sz="1000" b="1" dirty="0">
                <a:solidFill>
                  <a:srgbClr val="00B8D9"/>
                </a:solidFill>
                <a:latin typeface="Trebuchet MS" pitchFamily="34" charset="0"/>
                <a:ea typeface="Trebuchet MS" pitchFamily="34" charset="-122"/>
                <a:cs typeface="Trebuchet MS" pitchFamily="34" charset="-120"/>
              </a:rPr>
              <a:t>taught in this module</a:t>
            </a:r>
            <a:endParaRPr lang="en-US" sz="1000" dirty="0"/>
          </a:p>
        </p:txBody>
      </p:sp>
      <p:sp>
        <p:nvSpPr>
          <p:cNvPr id="10" name="Shape 7"/>
          <p:cNvSpPr/>
          <p:nvPr/>
        </p:nvSpPr>
        <p:spPr>
          <a:xfrm>
            <a:off x="777240" y="2880360"/>
            <a:ext cx="10607040" cy="1005840"/>
          </a:xfrm>
          <a:prstGeom prst="rect">
            <a:avLst/>
          </a:prstGeom>
          <a:solidFill>
            <a:srgbClr val="CBF1F6"/>
          </a:solidFill>
          <a:ln w="12700">
            <a:solidFill>
              <a:srgbClr val="E2E8F0"/>
            </a:solidFill>
            <a:prstDash val="solid"/>
          </a:ln>
        </p:spPr>
      </p:sp>
      <p:pic>
        <p:nvPicPr>
          <p:cNvPr id="11" name="Image 1" descr="preencoded.png">    </p:cNvPr>
          <p:cNvPicPr>
            <a:picLocks noChangeAspect="1"/>
          </p:cNvPicPr>
          <p:nvPr/>
        </p:nvPicPr>
        <p:blipFill>
          <a:blip r:embed="rId2"/>
          <a:stretch>
            <a:fillRect/>
          </a:stretch>
        </p:blipFill>
        <p:spPr>
          <a:xfrm>
            <a:off x="960120" y="3108960"/>
            <a:ext cx="548640" cy="548640"/>
          </a:xfrm>
          <a:prstGeom prst="rect">
            <a:avLst/>
          </a:prstGeom>
        </p:spPr>
      </p:pic>
      <p:sp>
        <p:nvSpPr>
          <p:cNvPr id="12" name="Text 8"/>
          <p:cNvSpPr/>
          <p:nvPr/>
        </p:nvSpPr>
        <p:spPr>
          <a:xfrm>
            <a:off x="1691640" y="3017520"/>
            <a:ext cx="5029200" cy="45720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Next.js 15 App Router</a:t>
            </a:r>
            <a:endParaRPr lang="en-US" sz="1800" dirty="0"/>
          </a:p>
        </p:txBody>
      </p:sp>
      <p:sp>
        <p:nvSpPr>
          <p:cNvPr id="13" name="Text 9"/>
          <p:cNvSpPr/>
          <p:nvPr/>
        </p:nvSpPr>
        <p:spPr>
          <a:xfrm>
            <a:off x="1691640" y="3429000"/>
            <a:ext cx="8229600" cy="457200"/>
          </a:xfrm>
          <a:prstGeom prst="rect">
            <a:avLst/>
          </a:prstGeom>
          <a:noFill/>
          <a:ln/>
        </p:spPr>
        <p:txBody>
          <a:bodyPr wrap="square" lIns="0" tIns="0" rIns="0" bIns="0" rtlCol="0" anchor="t"/>
          <a:lstStyle/>
          <a:p>
            <a:pPr indent="0" marL="0">
              <a:buNone/>
            </a:pPr>
            <a:r>
              <a:rPr lang="en-US" sz="1300" dirty="0">
                <a:solidFill>
                  <a:srgbClr val="475569"/>
                </a:solidFill>
                <a:latin typeface="Arial" pitchFamily="34" charset="0"/>
                <a:ea typeface="Arial" pitchFamily="34" charset="-122"/>
                <a:cs typeface="Arial" pitchFamily="34" charset="-120"/>
              </a:rPr>
              <a:t>File-system routing + Server Components + Actions</a:t>
            </a:r>
            <a:endParaRPr lang="en-US" sz="1300" dirty="0"/>
          </a:p>
        </p:txBody>
      </p:sp>
      <p:sp>
        <p:nvSpPr>
          <p:cNvPr id="14" name="Text 10"/>
          <p:cNvSpPr/>
          <p:nvPr/>
        </p:nvSpPr>
        <p:spPr>
          <a:xfrm>
            <a:off x="8686800" y="3154680"/>
            <a:ext cx="2606040" cy="274320"/>
          </a:xfrm>
          <a:prstGeom prst="rect">
            <a:avLst/>
          </a:prstGeom>
          <a:noFill/>
          <a:ln/>
        </p:spPr>
        <p:txBody>
          <a:bodyPr wrap="square" lIns="0" tIns="0" rIns="0" bIns="0" rtlCol="0" anchor="ctr"/>
          <a:lstStyle/>
          <a:p>
            <a:pPr algn="r" indent="0" marL="0">
              <a:buNone/>
            </a:pPr>
            <a:r>
              <a:rPr lang="en-US" sz="1000" b="1" dirty="0">
                <a:solidFill>
                  <a:srgbClr val="00B8D9"/>
                </a:solidFill>
                <a:latin typeface="Trebuchet MS" pitchFamily="34" charset="0"/>
                <a:ea typeface="Trebuchet MS" pitchFamily="34" charset="-122"/>
                <a:cs typeface="Trebuchet MS" pitchFamily="34" charset="-120"/>
              </a:rPr>
              <a:t>taught in this module</a:t>
            </a:r>
            <a:endParaRPr lang="en-US" sz="1000" dirty="0"/>
          </a:p>
        </p:txBody>
      </p:sp>
      <p:sp>
        <p:nvSpPr>
          <p:cNvPr id="15" name="Shape 11"/>
          <p:cNvSpPr/>
          <p:nvPr/>
        </p:nvSpPr>
        <p:spPr>
          <a:xfrm>
            <a:off x="777240" y="4069080"/>
            <a:ext cx="10607040" cy="1005840"/>
          </a:xfrm>
          <a:prstGeom prst="rect">
            <a:avLst/>
          </a:prstGeom>
          <a:solidFill>
            <a:srgbClr val="FFFFFF"/>
          </a:solidFill>
          <a:ln w="12700">
            <a:solidFill>
              <a:srgbClr val="E2E8F0"/>
            </a:solidFill>
            <a:prstDash val="solid"/>
          </a:ln>
        </p:spPr>
      </p:sp>
      <p:pic>
        <p:nvPicPr>
          <p:cNvPr id="16" name="Image 2" descr="preencoded.png">    </p:cNvPr>
          <p:cNvPicPr>
            <a:picLocks noChangeAspect="1"/>
          </p:cNvPicPr>
          <p:nvPr/>
        </p:nvPicPr>
        <p:blipFill>
          <a:blip r:embed="rId3"/>
          <a:stretch>
            <a:fillRect/>
          </a:stretch>
        </p:blipFill>
        <p:spPr>
          <a:xfrm>
            <a:off x="960120" y="4297680"/>
            <a:ext cx="548640" cy="548640"/>
          </a:xfrm>
          <a:prstGeom prst="rect">
            <a:avLst/>
          </a:prstGeom>
        </p:spPr>
      </p:pic>
      <p:sp>
        <p:nvSpPr>
          <p:cNvPr id="17" name="Text 12"/>
          <p:cNvSpPr/>
          <p:nvPr/>
        </p:nvSpPr>
        <p:spPr>
          <a:xfrm>
            <a:off x="1691640" y="4206240"/>
            <a:ext cx="5029200" cy="45720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TanStack Router</a:t>
            </a:r>
            <a:endParaRPr lang="en-US" sz="1800" dirty="0"/>
          </a:p>
        </p:txBody>
      </p:sp>
      <p:sp>
        <p:nvSpPr>
          <p:cNvPr id="18" name="Text 13"/>
          <p:cNvSpPr/>
          <p:nvPr/>
        </p:nvSpPr>
        <p:spPr>
          <a:xfrm>
            <a:off x="1691640" y="4617720"/>
            <a:ext cx="8229600" cy="457200"/>
          </a:xfrm>
          <a:prstGeom prst="rect">
            <a:avLst/>
          </a:prstGeom>
          <a:noFill/>
          <a:ln/>
        </p:spPr>
        <p:txBody>
          <a:bodyPr wrap="square" lIns="0" tIns="0" rIns="0" bIns="0" rtlCol="0" anchor="t"/>
          <a:lstStyle/>
          <a:p>
            <a:pPr indent="0" marL="0">
              <a:buNone/>
            </a:pPr>
            <a:r>
              <a:rPr lang="en-US" sz="1300" dirty="0">
                <a:solidFill>
                  <a:srgbClr val="475569"/>
                </a:solidFill>
                <a:latin typeface="Arial" pitchFamily="34" charset="0"/>
                <a:ea typeface="Arial" pitchFamily="34" charset="-122"/>
                <a:cs typeface="Arial" pitchFamily="34" charset="-120"/>
              </a:rPr>
              <a:t>Type-safe, file-based, headless. Newer; growing fast.</a:t>
            </a:r>
            <a:endParaRPr lang="en-US" sz="1300" dirty="0"/>
          </a:p>
        </p:txBody>
      </p:sp>
      <p:sp>
        <p:nvSpPr>
          <p:cNvPr id="19" name="Text 14"/>
          <p:cNvSpPr/>
          <p:nvPr/>
        </p:nvSpPr>
        <p:spPr>
          <a:xfrm>
            <a:off x="777240" y="5486400"/>
            <a:ext cx="10607040" cy="640080"/>
          </a:xfrm>
          <a:prstGeom prst="rect">
            <a:avLst/>
          </a:prstGeom>
          <a:noFill/>
          <a:ln/>
        </p:spPr>
        <p:txBody>
          <a:bodyPr wrap="square" lIns="0" tIns="0" rIns="0" bIns="0" rtlCol="0" anchor="ctr"/>
          <a:lstStyle/>
          <a:p>
            <a:pPr indent="0" marL="0">
              <a:buNone/>
            </a:pPr>
            <a:r>
              <a:rPr lang="en-US" sz="1200" i="1" dirty="0">
                <a:solidFill>
                  <a:srgbClr val="475569"/>
                </a:solidFill>
                <a:latin typeface="Arial" pitchFamily="34" charset="0"/>
                <a:ea typeface="Arial" pitchFamily="34" charset="-122"/>
                <a:cs typeface="Arial" pitchFamily="34" charset="-120"/>
              </a:rPr>
              <a:t>React Router v6 still works, but new projects start with v7. Old code with BrowserRouter / Routes / Route is still v7-compatible — just no longer the default starter.</a:t>
            </a:r>
            <a:endParaRPr lang="en-US" sz="1200" dirty="0"/>
          </a:p>
        </p:txBody>
      </p:sp>
      <p:sp>
        <p:nvSpPr>
          <p:cNvPr id="20"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21"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 / 27</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3">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1</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React Router v7</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Library mode for SPAs. Framework mode for the Remix-style stack. One product, two front doors.</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November 2024 merger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Remix didn't disappear. It became the framework mode of React Router v7.</a:t>
            </a:r>
            <a:endParaRPr lang="en-US" sz="1400" dirty="0"/>
          </a:p>
        </p:txBody>
      </p:sp>
      <p:sp>
        <p:nvSpPr>
          <p:cNvPr id="5" name="Shape 3"/>
          <p:cNvSpPr/>
          <p:nvPr/>
        </p:nvSpPr>
        <p:spPr>
          <a:xfrm>
            <a:off x="777240" y="1691640"/>
            <a:ext cx="5349240" cy="4206240"/>
          </a:xfrm>
          <a:prstGeom prst="rect">
            <a:avLst/>
          </a:prstGeom>
          <a:solidFill>
            <a:srgbClr val="FFFFFF"/>
          </a:solidFill>
          <a:ln w="12700">
            <a:solidFill>
              <a:srgbClr val="E2E8F0"/>
            </a:solidFill>
            <a:prstDash val="solid"/>
          </a:ln>
        </p:spPr>
      </p:sp>
      <p:sp>
        <p:nvSpPr>
          <p:cNvPr id="6" name="Text 4"/>
          <p:cNvSpPr/>
          <p:nvPr/>
        </p:nvSpPr>
        <p:spPr>
          <a:xfrm>
            <a:off x="960120" y="1874520"/>
            <a:ext cx="5029200" cy="45720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What happened</a:t>
            </a:r>
            <a:endParaRPr lang="en-US" sz="1800" dirty="0"/>
          </a:p>
        </p:txBody>
      </p:sp>
      <p:sp>
        <p:nvSpPr>
          <p:cNvPr id="7" name="Text 5"/>
          <p:cNvSpPr/>
          <p:nvPr/>
        </p:nvSpPr>
        <p:spPr>
          <a:xfrm>
            <a:off x="960120" y="2423160"/>
            <a:ext cx="5029200" cy="33832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React Router and Remix had drifted into overlap</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Both used loaders, actions, nested routes, error boundaries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Remix Run shipped its merge plan in 2024</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RR v7 = the merged product, released Nov 2024</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Migration codemod handles most v6 → v7 changes</a:t>
            </a:r>
            <a:endParaRPr lang="en-US" sz="1250" dirty="0"/>
          </a:p>
        </p:txBody>
      </p:sp>
      <p:sp>
        <p:nvSpPr>
          <p:cNvPr id="8" name="Shape 6"/>
          <p:cNvSpPr/>
          <p:nvPr/>
        </p:nvSpPr>
        <p:spPr>
          <a:xfrm>
            <a:off x="6355080" y="1691640"/>
            <a:ext cx="5029200" cy="4206240"/>
          </a:xfrm>
          <a:prstGeom prst="rect">
            <a:avLst/>
          </a:prstGeom>
          <a:solidFill>
            <a:srgbClr val="CBF1F6"/>
          </a:solidFill>
          <a:ln w="12700">
            <a:solidFill>
              <a:srgbClr val="CBF1F6"/>
            </a:solidFill>
            <a:prstDash val="solid"/>
          </a:ln>
        </p:spPr>
      </p:sp>
      <p:sp>
        <p:nvSpPr>
          <p:cNvPr id="9" name="Text 7"/>
          <p:cNvSpPr/>
          <p:nvPr/>
        </p:nvSpPr>
        <p:spPr>
          <a:xfrm>
            <a:off x="6537960" y="1874520"/>
            <a:ext cx="4754880" cy="45720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Two modes</a:t>
            </a:r>
            <a:endParaRPr lang="en-US" sz="1800" dirty="0"/>
          </a:p>
        </p:txBody>
      </p:sp>
      <p:sp>
        <p:nvSpPr>
          <p:cNvPr id="10" name="Text 8"/>
          <p:cNvSpPr/>
          <p:nvPr/>
        </p:nvSpPr>
        <p:spPr>
          <a:xfrm>
            <a:off x="6537960" y="2423160"/>
            <a:ext cx="4754880" cy="3383280"/>
          </a:xfrm>
          <a:prstGeom prst="rect">
            <a:avLst/>
          </a:prstGeom>
          <a:noFill/>
          <a:ln/>
        </p:spPr>
        <p:txBody>
          <a:bodyPr wrap="square" lIns="0" tIns="0" rIns="0" bIns="0" rtlCol="0" anchor="t"/>
          <a:lstStyle/>
          <a:p>
            <a:pPr indent="0" marL="0">
              <a:spcAft>
                <a:spcPts val="400"/>
              </a:spcAft>
              <a:buNone/>
            </a:pPr>
            <a:r>
              <a:rPr lang="en-US" sz="1400" b="1" dirty="0">
                <a:solidFill>
                  <a:srgbClr val="0F172A"/>
                </a:solidFill>
                <a:latin typeface="Arial" pitchFamily="34" charset="0"/>
                <a:ea typeface="Arial" pitchFamily="34" charset="-122"/>
                <a:cs typeface="Arial" pitchFamily="34" charset="-120"/>
              </a:rPr>
              <a:t>Library mode</a:t>
            </a:r>
            <a:endParaRPr lang="en-US" sz="1250" dirty="0"/>
          </a:p>
          <a:p>
            <a:pPr indent="0" marL="0">
              <a:spcAft>
                <a:spcPts val="400"/>
              </a:spcAft>
              <a:buNone/>
            </a:pPr>
            <a:r>
              <a:rPr lang="en-US" sz="1250" dirty="0">
                <a:solidFill>
                  <a:srgbClr val="475569"/>
                </a:solidFill>
                <a:latin typeface="Arial" pitchFamily="34" charset="0"/>
                <a:ea typeface="Arial" pitchFamily="34" charset="-122"/>
                <a:cs typeface="Arial" pitchFamily="34" charset="-120"/>
              </a:rPr>
              <a:t>The classic React Router. Routes in JSX or createBrowserRouter. You bring your own bundler, dev server, and SSR.</a:t>
            </a:r>
            <a:endParaRPr lang="en-US" sz="1250" dirty="0"/>
          </a:p>
          <a:p>
            <a:pPr indent="0" marL="0">
              <a:spcAft>
                <a:spcPts val="400"/>
              </a:spcAft>
              <a:buNone/>
            </a:pPr>
            <a:r>
              <a:rPr lang="en-US" sz="1250" dirty="0">
                <a:solidFill>
                  <a:srgbClr val="475569"/>
                </a:solidFill>
                <a:latin typeface="Arial" pitchFamily="34" charset="0"/>
                <a:ea typeface="Arial" pitchFamily="34" charset="-122"/>
                <a:cs typeface="Arial" pitchFamily="34" charset="-120"/>
              </a:rPr>
              <a:t> </a:t>
            </a:r>
            <a:endParaRPr lang="en-US" sz="1250" dirty="0"/>
          </a:p>
          <a:p>
            <a:pPr indent="0" marL="0">
              <a:spcAft>
                <a:spcPts val="400"/>
              </a:spcAft>
              <a:buNone/>
            </a:pPr>
            <a:r>
              <a:rPr lang="en-US" sz="1400" b="1" dirty="0">
                <a:solidFill>
                  <a:srgbClr val="0F172A"/>
                </a:solidFill>
                <a:latin typeface="Arial" pitchFamily="34" charset="0"/>
                <a:ea typeface="Arial" pitchFamily="34" charset="-122"/>
                <a:cs typeface="Arial" pitchFamily="34" charset="-120"/>
              </a:rPr>
              <a:t>Framework mode</a:t>
            </a:r>
            <a:endParaRPr lang="en-US" sz="1250" dirty="0"/>
          </a:p>
          <a:p>
            <a:pPr indent="0" marL="0">
              <a:spcAft>
                <a:spcPts val="400"/>
              </a:spcAft>
              <a:buNone/>
            </a:pPr>
            <a:r>
              <a:rPr lang="en-US" sz="1250" dirty="0">
                <a:solidFill>
                  <a:srgbClr val="475569"/>
                </a:solidFill>
                <a:latin typeface="Arial" pitchFamily="34" charset="0"/>
                <a:ea typeface="Arial" pitchFamily="34" charset="-122"/>
                <a:cs typeface="Arial" pitchFamily="34" charset="-120"/>
              </a:rPr>
              <a:t>The Remix-style stack. File-based routes, Vite under the hood, server runtime included. Loaders + actions are first-class.</a:t>
            </a:r>
            <a:endParaRPr lang="en-US" sz="1250" dirty="0"/>
          </a:p>
        </p:txBody>
      </p:sp>
      <p:sp>
        <p:nvSpPr>
          <p:cNvPr id="11"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12"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4 / 27</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Library mode — when it fits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Bring-your-own bundler. Just routing inside an existing app.</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Reach for library mode when:</a:t>
            </a:r>
            <a:endParaRPr lang="en-US" sz="1400" dirty="0"/>
          </a:p>
        </p:txBody>
      </p:sp>
      <p:sp>
        <p:nvSpPr>
          <p:cNvPr id="6" name="Text 4"/>
          <p:cNvSpPr/>
          <p:nvPr/>
        </p:nvSpPr>
        <p:spPr>
          <a:xfrm>
            <a:off x="777240" y="1920240"/>
            <a:ext cx="5349240"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You already have a Vite SPA</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You're embedding routing in a non-React shell</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Server rendering doesn't matter</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You want the smallest dependency surface</a:t>
            </a:r>
            <a:endParaRPr lang="en-US" sz="1250" dirty="0"/>
          </a:p>
        </p:txBody>
      </p:sp>
      <p:sp>
        <p:nvSpPr>
          <p:cNvPr id="7" name="Shape 5"/>
          <p:cNvSpPr/>
          <p:nvPr/>
        </p:nvSpPr>
        <p:spPr>
          <a:xfrm>
            <a:off x="6355080" y="1554480"/>
            <a:ext cx="5029200" cy="4206240"/>
          </a:xfrm>
          <a:prstGeom prst="rect">
            <a:avLst/>
          </a:prstGeom>
          <a:solidFill>
            <a:srgbClr val="1E2A47"/>
          </a:solidFill>
          <a:ln w="12700">
            <a:solidFill>
              <a:srgbClr val="1E2A47"/>
            </a:solidFill>
            <a:prstDash val="solid"/>
          </a:ln>
        </p:spPr>
      </p:sp>
      <p:sp>
        <p:nvSpPr>
          <p:cNvPr id="8" name="Text 6"/>
          <p:cNvSpPr/>
          <p:nvPr/>
        </p:nvSpPr>
        <p:spPr>
          <a:xfrm>
            <a:off x="6537960" y="1691640"/>
            <a:ext cx="4663440" cy="3931920"/>
          </a:xfrm>
          <a:prstGeom prst="rect">
            <a:avLst/>
          </a:prstGeom>
          <a:noFill/>
          <a:ln/>
        </p:spPr>
        <p:txBody>
          <a:bodyPr wrap="square" lIns="0" tIns="0" rIns="0" bIns="0" rtlCol="0" anchor="t"/>
          <a:lstStyle/>
          <a:p>
            <a:pPr indent="0" marL="0">
              <a:buNone/>
            </a:pPr>
            <a:r>
              <a:rPr lang="en-US" sz="1200" dirty="0">
                <a:solidFill>
                  <a:srgbClr val="C586C0"/>
                </a:solidFill>
                <a:latin typeface="Courier New" pitchFamily="34" charset="0"/>
                <a:ea typeface="Courier New" pitchFamily="34" charset="-122"/>
                <a:cs typeface="Courier New" pitchFamily="34" charset="-120"/>
              </a:rPr>
              <a:t>import { createBrowserRouter,</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RouterProvider } from </a:t>
            </a:r>
            <a:pPr indent="0" marL="0">
              <a:buNone/>
            </a:pPr>
            <a:r>
              <a:rPr lang="en-US" sz="1200" dirty="0">
                <a:solidFill>
                  <a:srgbClr val="9CDCFE"/>
                </a:solidFill>
                <a:latin typeface="Courier New" pitchFamily="34" charset="0"/>
                <a:ea typeface="Courier New" pitchFamily="34" charset="-122"/>
                <a:cs typeface="Courier New" pitchFamily="34" charset="-120"/>
              </a:rPr>
              <a:t>'react-router'</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const router = </a:t>
            </a:r>
            <a:pPr indent="0" marL="0">
              <a:buNone/>
            </a:pPr>
            <a:r>
              <a:rPr lang="en-US" sz="1200" dirty="0">
                <a:solidFill>
                  <a:srgbClr val="DCDCAA"/>
                </a:solidFill>
                <a:latin typeface="Courier New" pitchFamily="34" charset="0"/>
                <a:ea typeface="Courier New" pitchFamily="34" charset="-122"/>
                <a:cs typeface="Courier New" pitchFamily="34" charset="-120"/>
              </a:rPr>
              <a:t>createBrowserRouter</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 path: </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FFFFFF"/>
                </a:solidFill>
                <a:latin typeface="Courier New" pitchFamily="34" charset="0"/>
                <a:ea typeface="Courier New" pitchFamily="34" charset="-122"/>
                <a:cs typeface="Courier New" pitchFamily="34" charset="-120"/>
              </a:rPr>
              <a:t>, element: &lt;Home /&gt;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 path: </a:t>
            </a:r>
            <a:pPr indent="0" marL="0">
              <a:buNone/>
            </a:pPr>
            <a:r>
              <a:rPr lang="en-US" sz="1200" dirty="0">
                <a:solidFill>
                  <a:srgbClr val="9CDCFE"/>
                </a:solidFill>
                <a:latin typeface="Courier New" pitchFamily="34" charset="0"/>
                <a:ea typeface="Courier New" pitchFamily="34" charset="-122"/>
                <a:cs typeface="Courier New" pitchFamily="34" charset="-120"/>
              </a:rPr>
              <a:t>'/about'</a:t>
            </a:r>
            <a:pPr indent="0" marL="0">
              <a:buNone/>
            </a:pPr>
            <a:r>
              <a:rPr lang="en-US" sz="1200" dirty="0">
                <a:solidFill>
                  <a:srgbClr val="FFFFFF"/>
                </a:solidFill>
                <a:latin typeface="Courier New" pitchFamily="34" charset="0"/>
                <a:ea typeface="Courier New" pitchFamily="34" charset="-122"/>
                <a:cs typeface="Courier New" pitchFamily="34" charset="-120"/>
              </a:rPr>
              <a:t>, element: &lt;About /&gt;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function </a:t>
            </a:r>
            <a:pPr indent="0" marL="0">
              <a:buNone/>
            </a:pPr>
            <a:r>
              <a:rPr lang="en-US" sz="1200" dirty="0">
                <a:solidFill>
                  <a:srgbClr val="DCDCAA"/>
                </a:solidFill>
                <a:latin typeface="Courier New" pitchFamily="34" charset="0"/>
                <a:ea typeface="Courier New" pitchFamily="34" charset="-122"/>
                <a:cs typeface="Courier New" pitchFamily="34" charset="-120"/>
              </a:rPr>
              <a:t>App</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return &lt;</a:t>
            </a:r>
            <a:pPr indent="0" marL="0">
              <a:buNone/>
            </a:pPr>
            <a:r>
              <a:rPr lang="en-US" sz="1200" dirty="0">
                <a:solidFill>
                  <a:srgbClr val="DCDCAA"/>
                </a:solidFill>
                <a:latin typeface="Courier New" pitchFamily="34" charset="0"/>
                <a:ea typeface="Courier New" pitchFamily="34" charset="-122"/>
                <a:cs typeface="Courier New" pitchFamily="34" charset="-120"/>
              </a:rPr>
              <a:t>RouterProvider </a:t>
            </a:r>
            <a:pPr indent="0" marL="0">
              <a:buNone/>
            </a:pPr>
            <a:r>
              <a:rPr lang="en-US" sz="1200" dirty="0">
                <a:solidFill>
                  <a:srgbClr val="9CDCFE"/>
                </a:solidFill>
                <a:latin typeface="Courier New" pitchFamily="34" charset="0"/>
                <a:ea typeface="Courier New" pitchFamily="34" charset="-122"/>
                <a:cs typeface="Courier New" pitchFamily="34" charset="-120"/>
              </a:rPr>
              <a:t>router={router}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5 / 27</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Framework mode — getting started</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One command. File-based routes. Loaders, actions, and SSR built in.</a:t>
            </a:r>
            <a:endParaRPr lang="en-US" sz="1400" dirty="0"/>
          </a:p>
        </p:txBody>
      </p:sp>
      <p:sp>
        <p:nvSpPr>
          <p:cNvPr id="5" name="Shape 3"/>
          <p:cNvSpPr/>
          <p:nvPr/>
        </p:nvSpPr>
        <p:spPr>
          <a:xfrm>
            <a:off x="777240" y="1554480"/>
            <a:ext cx="10607040" cy="14630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1188720"/>
          </a:xfrm>
          <a:prstGeom prst="rect">
            <a:avLst/>
          </a:prstGeom>
          <a:noFill/>
          <a:ln/>
        </p:spPr>
        <p:txBody>
          <a:bodyPr wrap="square" lIns="0" tIns="0" rIns="0" bIns="0" rtlCol="0" anchor="t"/>
          <a:lstStyle/>
          <a:p>
            <a:pPr indent="0" marL="0">
              <a:buNone/>
            </a:pPr>
            <a:r>
              <a:rPr lang="en-US" sz="1800" dirty="0">
                <a:solidFill>
                  <a:srgbClr val="6A9955"/>
                </a:solidFill>
                <a:latin typeface="Courier New" pitchFamily="34" charset="0"/>
                <a:ea typeface="Courier New" pitchFamily="34" charset="-122"/>
                <a:cs typeface="Courier New" pitchFamily="34" charset="-120"/>
              </a:rPr>
              <a:t>$ </a:t>
            </a:r>
            <a:pPr indent="0" marL="0">
              <a:buNone/>
            </a:pPr>
            <a:r>
              <a:rPr lang="en-US" sz="1800" dirty="0">
                <a:solidFill>
                  <a:srgbClr val="FFFFFF"/>
                </a:solidFill>
                <a:latin typeface="Courier New" pitchFamily="34" charset="0"/>
                <a:ea typeface="Courier New" pitchFamily="34" charset="-122"/>
                <a:cs typeface="Courier New" pitchFamily="34" charset="-120"/>
              </a:rPr>
              <a:t>npx create-react-router@latest my-app</a:t>
            </a:r>
            <a:endParaRPr lang="en-US" sz="1800" dirty="0"/>
          </a:p>
        </p:txBody>
      </p:sp>
      <p:sp>
        <p:nvSpPr>
          <p:cNvPr id="7" name="Text 5"/>
          <p:cNvSpPr/>
          <p:nvPr/>
        </p:nvSpPr>
        <p:spPr>
          <a:xfrm>
            <a:off x="777240" y="3200400"/>
            <a:ext cx="45720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What you get:</a:t>
            </a:r>
            <a:endParaRPr lang="en-US" sz="1400" dirty="0"/>
          </a:p>
        </p:txBody>
      </p:sp>
      <p:sp>
        <p:nvSpPr>
          <p:cNvPr id="8" name="Text 6"/>
          <p:cNvSpPr/>
          <p:nvPr/>
        </p:nvSpPr>
        <p:spPr>
          <a:xfrm>
            <a:off x="777240" y="3611880"/>
            <a:ext cx="10607040" cy="2468880"/>
          </a:xfrm>
          <a:prstGeom prst="rect">
            <a:avLst/>
          </a:prstGeom>
          <a:noFill/>
          <a:ln/>
        </p:spPr>
        <p:txBody>
          <a:bodyPr wrap="square" lIns="0" tIns="0" rIns="0" bIns="0" rtlCol="0" anchor="t"/>
          <a:lstStyle/>
          <a:p>
            <a:pPr indent="0" marL="0">
              <a:buNone/>
            </a:pPr>
            <a:r>
              <a:rPr lang="en-US" sz="1300" b="1" dirty="0">
                <a:solidFill>
                  <a:srgbClr val="0F172A"/>
                </a:solidFill>
                <a:latin typeface="Courier New" pitchFamily="34" charset="0"/>
                <a:ea typeface="Courier New" pitchFamily="34" charset="-122"/>
                <a:cs typeface="Courier New" pitchFamily="34" charset="-120"/>
              </a:rPr>
              <a:t>app/</a:t>
            </a:r>
            <a:endParaRPr lang="en-US" sz="1300" dirty="0"/>
          </a:p>
          <a:p>
            <a:pPr indent="0" marL="0">
              <a:buNone/>
            </a:pPr>
            <a:r>
              <a:rPr lang="en-US" sz="1300" dirty="0">
                <a:solidFill>
                  <a:srgbClr val="475569"/>
                </a:solidFill>
                <a:latin typeface="Courier New" pitchFamily="34" charset="0"/>
                <a:ea typeface="Courier New" pitchFamily="34" charset="-122"/>
                <a:cs typeface="Courier New" pitchFamily="34" charset="-120"/>
              </a:rPr>
              <a:t>├── routes.ts             </a:t>
            </a:r>
            <a:pPr indent="0" marL="0">
              <a:buNone/>
            </a:pPr>
            <a:r>
              <a:rPr lang="en-US" sz="1300" i="1" dirty="0">
                <a:solidFill>
                  <a:srgbClr val="6A9955"/>
                </a:solidFill>
                <a:latin typeface="Courier New" pitchFamily="34" charset="0"/>
                <a:ea typeface="Courier New" pitchFamily="34" charset="-122"/>
                <a:cs typeface="Courier New" pitchFamily="34" charset="-120"/>
              </a:rPr>
              <a:t>// route config</a:t>
            </a:r>
            <a:endParaRPr lang="en-US" sz="1300" dirty="0"/>
          </a:p>
          <a:p>
            <a:pPr indent="0" marL="0">
              <a:buNone/>
            </a:pPr>
            <a:r>
              <a:rPr lang="en-US" sz="1300" dirty="0">
                <a:solidFill>
                  <a:srgbClr val="475569"/>
                </a:solidFill>
                <a:latin typeface="Courier New" pitchFamily="34" charset="0"/>
                <a:ea typeface="Courier New" pitchFamily="34" charset="-122"/>
                <a:cs typeface="Courier New" pitchFamily="34" charset="-120"/>
              </a:rPr>
              <a:t>├── root.jsx              </a:t>
            </a:r>
            <a:pPr indent="0" marL="0">
              <a:buNone/>
            </a:pPr>
            <a:r>
              <a:rPr lang="en-US" sz="1300" i="1" dirty="0">
                <a:solidFill>
                  <a:srgbClr val="6A9955"/>
                </a:solidFill>
                <a:latin typeface="Courier New" pitchFamily="34" charset="0"/>
                <a:ea typeface="Courier New" pitchFamily="34" charset="-122"/>
                <a:cs typeface="Courier New" pitchFamily="34" charset="-120"/>
              </a:rPr>
              <a:t>// app shell</a:t>
            </a:r>
            <a:endParaRPr lang="en-US" sz="1300" dirty="0"/>
          </a:p>
          <a:p>
            <a:pPr indent="0" marL="0">
              <a:buNone/>
            </a:pPr>
            <a:r>
              <a:rPr lang="en-US" sz="1300" dirty="0">
                <a:solidFill>
                  <a:srgbClr val="475569"/>
                </a:solidFill>
                <a:latin typeface="Courier New" pitchFamily="34" charset="0"/>
                <a:ea typeface="Courier New" pitchFamily="34" charset="-122"/>
                <a:cs typeface="Courier New" pitchFamily="34" charset="-120"/>
              </a:rPr>
              <a:t>└── routes/</a:t>
            </a:r>
            <a:endParaRPr lang="en-US" sz="1300" dirty="0"/>
          </a:p>
          <a:p>
            <a:pPr indent="0" marL="0">
              <a:buNone/>
            </a:pPr>
            <a:r>
              <a:rPr lang="en-US" sz="1300" dirty="0">
                <a:solidFill>
                  <a:srgbClr val="475569"/>
                </a:solidFill>
                <a:latin typeface="Courier New" pitchFamily="34" charset="0"/>
                <a:ea typeface="Courier New" pitchFamily="34" charset="-122"/>
                <a:cs typeface="Courier New" pitchFamily="34" charset="-120"/>
              </a:rPr>
              <a:t>    ├── _index.jsx        </a:t>
            </a:r>
            <a:pPr indent="0" marL="0">
              <a:buNone/>
            </a:pPr>
            <a:r>
              <a:rPr lang="en-US" sz="1300" i="1" dirty="0">
                <a:solidFill>
                  <a:srgbClr val="6A9955"/>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475569"/>
                </a:solidFill>
                <a:latin typeface="Courier New" pitchFamily="34" charset="0"/>
                <a:ea typeface="Courier New" pitchFamily="34" charset="-122"/>
                <a:cs typeface="Courier New" pitchFamily="34" charset="-120"/>
              </a:rPr>
              <a:t>    ├── about.jsx         </a:t>
            </a:r>
            <a:pPr indent="0" marL="0">
              <a:buNone/>
            </a:pPr>
            <a:r>
              <a:rPr lang="en-US" sz="1300" i="1" dirty="0">
                <a:solidFill>
                  <a:srgbClr val="6A9955"/>
                </a:solidFill>
                <a:latin typeface="Courier New" pitchFamily="34" charset="0"/>
                <a:ea typeface="Courier New" pitchFamily="34" charset="-122"/>
                <a:cs typeface="Courier New" pitchFamily="34" charset="-120"/>
              </a:rPr>
              <a:t>// /about</a:t>
            </a:r>
            <a:endParaRPr lang="en-US" sz="1300" dirty="0"/>
          </a:p>
          <a:p>
            <a:pPr indent="0" marL="0">
              <a:buNone/>
            </a:pPr>
            <a:r>
              <a:rPr lang="en-US" sz="1300" dirty="0">
                <a:solidFill>
                  <a:srgbClr val="475569"/>
                </a:solidFill>
                <a:latin typeface="Courier New" pitchFamily="34" charset="0"/>
                <a:ea typeface="Courier New" pitchFamily="34" charset="-122"/>
                <a:cs typeface="Courier New" pitchFamily="34" charset="-120"/>
              </a:rPr>
              <a:t>    └── posts.$id.jsx     </a:t>
            </a:r>
            <a:pPr indent="0" marL="0">
              <a:buNone/>
            </a:pPr>
            <a:r>
              <a:rPr lang="en-US" sz="1300" i="1" dirty="0">
                <a:solidFill>
                  <a:srgbClr val="6A9955"/>
                </a:solidFill>
                <a:latin typeface="Courier New" pitchFamily="34" charset="0"/>
                <a:ea typeface="Courier New" pitchFamily="34" charset="-122"/>
                <a:cs typeface="Courier New" pitchFamily="34" charset="-120"/>
              </a:rPr>
              <a:t>// /posts/:id</a:t>
            </a:r>
            <a:endParaRPr lang="en-US" sz="130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6 / 27</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Loaders — fetch on the server, render on arrival</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Each route file exports a loader. RR runs it before rendering. Component reads the result with useLoaderData.</a:t>
            </a:r>
            <a:endParaRPr lang="en-US" sz="1400" dirty="0"/>
          </a:p>
        </p:txBody>
      </p:sp>
      <p:sp>
        <p:nvSpPr>
          <p:cNvPr id="5" name="Shape 3"/>
          <p:cNvSpPr/>
          <p:nvPr/>
        </p:nvSpPr>
        <p:spPr>
          <a:xfrm>
            <a:off x="777240" y="1554480"/>
            <a:ext cx="10607040" cy="42062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93192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app/routes/posts.$id.jsx</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loader</a:t>
            </a:r>
            <a:pPr indent="0" marL="0">
              <a:buNone/>
            </a:pPr>
            <a:r>
              <a:rPr lang="en-US" sz="1200" dirty="0">
                <a:solidFill>
                  <a:srgbClr val="FFFFFF"/>
                </a:solidFill>
                <a:latin typeface="Courier New" pitchFamily="34" charset="0"/>
                <a:ea typeface="Courier New" pitchFamily="34" charset="-122"/>
                <a:cs typeface="Courier New" pitchFamily="34" charset="-120"/>
              </a:rPr>
              <a:t>({ params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post = await db.posts.findById(params.id);</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if (!post) </a:t>
            </a:r>
            <a:pPr indent="0" marL="0">
              <a:buNone/>
            </a:pPr>
            <a:r>
              <a:rPr lang="en-US" sz="1200" dirty="0">
                <a:solidFill>
                  <a:srgbClr val="C586C0"/>
                </a:solidFill>
                <a:latin typeface="Courier New" pitchFamily="34" charset="0"/>
                <a:ea typeface="Courier New" pitchFamily="34" charset="-122"/>
                <a:cs typeface="Courier New" pitchFamily="34" charset="-120"/>
              </a:rPr>
              <a:t>throw new Response(</a:t>
            </a:r>
            <a:pPr indent="0" marL="0">
              <a:buNone/>
            </a:pPr>
            <a:r>
              <a:rPr lang="en-US" sz="1200" dirty="0">
                <a:solidFill>
                  <a:srgbClr val="9CDCFE"/>
                </a:solidFill>
                <a:latin typeface="Courier New" pitchFamily="34" charset="0"/>
                <a:ea typeface="Courier New" pitchFamily="34" charset="-122"/>
                <a:cs typeface="Courier New" pitchFamily="34" charset="-120"/>
              </a:rPr>
              <a:t>'Not found'</a:t>
            </a:r>
            <a:pPr indent="0" marL="0">
              <a:buNone/>
            </a:pPr>
            <a:r>
              <a:rPr lang="en-US" sz="1200" dirty="0">
                <a:solidFill>
                  <a:srgbClr val="C586C0"/>
                </a:solidFill>
                <a:latin typeface="Courier New" pitchFamily="34" charset="0"/>
                <a:ea typeface="Courier New" pitchFamily="34" charset="-122"/>
                <a:cs typeface="Courier New" pitchFamily="34" charset="-120"/>
              </a:rPr>
              <a:t>, { status: </a:t>
            </a:r>
            <a:pPr indent="0" marL="0">
              <a:buNone/>
            </a:pPr>
            <a:r>
              <a:rPr lang="en-US" sz="1200" dirty="0">
                <a:solidFill>
                  <a:srgbClr val="C586C0"/>
                </a:solidFill>
                <a:latin typeface="Courier New" pitchFamily="34" charset="0"/>
                <a:ea typeface="Courier New" pitchFamily="34" charset="-122"/>
                <a:cs typeface="Courier New" pitchFamily="34" charset="-120"/>
              </a:rPr>
              <a:t>404 </a:t>
            </a:r>
            <a:pPr indent="0" marL="0">
              <a:buNone/>
            </a:pPr>
            <a:r>
              <a:rPr lang="en-US" sz="1200" dirty="0">
                <a:solidFill>
                  <a:srgbClr val="C586C0"/>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 post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200" dirty="0">
                <a:solidFill>
                  <a:srgbClr val="DCDCAA"/>
                </a:solidFill>
                <a:latin typeface="Courier New" pitchFamily="34" charset="0"/>
                <a:ea typeface="Courier New" pitchFamily="34" charset="-122"/>
                <a:cs typeface="Courier New" pitchFamily="34" charset="-120"/>
              </a:rPr>
              <a:t>Post</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const { post } = </a:t>
            </a:r>
            <a:pPr indent="0" marL="0">
              <a:buNone/>
            </a:pPr>
            <a:r>
              <a:rPr lang="en-US" sz="1200" dirty="0">
                <a:solidFill>
                  <a:srgbClr val="DCDCAA"/>
                </a:solidFill>
                <a:latin typeface="Courier New" pitchFamily="34" charset="0"/>
                <a:ea typeface="Courier New" pitchFamily="34" charset="-122"/>
                <a:cs typeface="Courier New" pitchFamily="34" charset="-120"/>
              </a:rPr>
              <a:t>useLoaderData</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&lt;Article post={post}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777240" y="5897880"/>
            <a:ext cx="10607040" cy="365760"/>
          </a:xfrm>
          <a:prstGeom prst="rect">
            <a:avLst/>
          </a:prstGeom>
          <a:noFill/>
          <a:ln/>
        </p:spPr>
        <p:txBody>
          <a:bodyPr wrap="square" lIns="0" tIns="0" rIns="0" bIns="0" rtlCol="0" anchor="ctr"/>
          <a:lstStyle/>
          <a:p>
            <a:pPr indent="0" marL="0">
              <a:buNone/>
            </a:pPr>
            <a:r>
              <a:rPr lang="en-US" sz="1150" i="1" dirty="0">
                <a:solidFill>
                  <a:srgbClr val="475569"/>
                </a:solidFill>
                <a:latin typeface="Arial" pitchFamily="34" charset="0"/>
                <a:ea typeface="Arial" pitchFamily="34" charset="-122"/>
                <a:cs typeface="Arial" pitchFamily="34" charset="-120"/>
              </a:rPr>
              <a:t>Loaders run on the server in framework mode (or in the browser in library mode if you opt in). Their return value is cached per-route and available via useLoaderData.</a:t>
            </a:r>
            <a:endParaRPr lang="en-US" sz="1150" dirty="0"/>
          </a:p>
        </p:txBody>
      </p:sp>
      <p:sp>
        <p:nvSpPr>
          <p:cNvPr id="8" name="Text 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9" name="Text 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7 / 27</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Actions — mutate on the server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Forms POST to the route's action. The route revalidates after success.</a:t>
            </a:r>
            <a:endParaRPr lang="en-US" sz="1400" dirty="0"/>
          </a:p>
        </p:txBody>
      </p:sp>
      <p:sp>
        <p:nvSpPr>
          <p:cNvPr id="5" name="Shape 3"/>
          <p:cNvSpPr/>
          <p:nvPr/>
        </p:nvSpPr>
        <p:spPr>
          <a:xfrm>
            <a:off x="777240" y="1554480"/>
            <a:ext cx="10607040" cy="42062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93192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app/routes/posts.new.jsx</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action</a:t>
            </a:r>
            <a:pPr indent="0" marL="0">
              <a:buNone/>
            </a:pPr>
            <a:r>
              <a:rPr lang="en-US" sz="1200" dirty="0">
                <a:solidFill>
                  <a:srgbClr val="FFFFFF"/>
                </a:solidFill>
                <a:latin typeface="Courier New" pitchFamily="34" charset="0"/>
                <a:ea typeface="Courier New" pitchFamily="34" charset="-122"/>
                <a:cs typeface="Courier New" pitchFamily="34" charset="-120"/>
              </a:rPr>
              <a:t>({ request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formData = await request.formData();</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post = await db.posts.create({</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title: formData.get(</a:t>
            </a:r>
            <a:pPr indent="0" marL="0">
              <a:buNone/>
            </a:pPr>
            <a:r>
              <a:rPr lang="en-US" sz="1200" dirty="0">
                <a:solidFill>
                  <a:srgbClr val="9CDCFE"/>
                </a:solidFill>
                <a:latin typeface="Courier New" pitchFamily="34" charset="0"/>
                <a:ea typeface="Courier New" pitchFamily="34" charset="-122"/>
                <a:cs typeface="Courier New" pitchFamily="34" charset="-120"/>
              </a:rPr>
              <a:t>'title'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body:  formData.get(</a:t>
            </a:r>
            <a:pPr indent="0" marL="0">
              <a:buNone/>
            </a:pPr>
            <a:r>
              <a:rPr lang="en-US" sz="1200" dirty="0">
                <a:solidFill>
                  <a:srgbClr val="9CDCFE"/>
                </a:solidFill>
                <a:latin typeface="Courier New" pitchFamily="34" charset="0"/>
                <a:ea typeface="Courier New" pitchFamily="34" charset="-122"/>
                <a:cs typeface="Courier New" pitchFamily="34" charset="-120"/>
              </a:rPr>
              <a:t>'body'</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return </a:t>
            </a:r>
            <a:pPr indent="0" marL="0">
              <a:buNone/>
            </a:pPr>
            <a:r>
              <a:rPr lang="en-US" sz="1200" dirty="0">
                <a:solidFill>
                  <a:srgbClr val="DCDCAA"/>
                </a:solidFill>
                <a:latin typeface="Courier New" pitchFamily="34" charset="0"/>
                <a:ea typeface="Courier New" pitchFamily="34" charset="-122"/>
                <a:cs typeface="Courier New" pitchFamily="34" charset="-120"/>
              </a:rPr>
              <a:t>redirect</a:t>
            </a:r>
            <a:pPr indent="0" marL="0">
              <a:buNone/>
            </a:pPr>
            <a:r>
              <a:rPr lang="en-US" sz="1200" dirty="0">
                <a:solidFill>
                  <a:srgbClr val="FFFFFF"/>
                </a:solidFill>
                <a:latin typeface="Courier New" pitchFamily="34" charset="0"/>
                <a:ea typeface="Courier New" pitchFamily="34" charset="-122"/>
                <a:cs typeface="Courier New" pitchFamily="34" charset="-120"/>
              </a:rPr>
              <a:t>(`/posts/${post.id}`);</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200" dirty="0">
                <a:solidFill>
                  <a:srgbClr val="DCDCAA"/>
                </a:solidFill>
                <a:latin typeface="Courier New" pitchFamily="34" charset="0"/>
                <a:ea typeface="Courier New" pitchFamily="34" charset="-122"/>
                <a:cs typeface="Courier New" pitchFamily="34" charset="-120"/>
              </a:rPr>
              <a:t>NewPost</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&lt;</a:t>
            </a:r>
            <a:pPr indent="0" marL="0">
              <a:buNone/>
            </a:pPr>
            <a:r>
              <a:rPr lang="en-US" sz="1200" dirty="0">
                <a:solidFill>
                  <a:srgbClr val="DCDCAA"/>
                </a:solidFill>
                <a:latin typeface="Courier New" pitchFamily="34" charset="0"/>
                <a:ea typeface="Courier New" pitchFamily="34" charset="-122"/>
                <a:cs typeface="Courier New" pitchFamily="34" charset="-120"/>
              </a:rPr>
              <a:t>Form </a:t>
            </a:r>
            <a:pPr indent="0" marL="0">
              <a:buNone/>
            </a:pPr>
            <a:r>
              <a:rPr lang="en-US" sz="1200" dirty="0">
                <a:solidFill>
                  <a:srgbClr val="9CDCFE"/>
                </a:solidFill>
                <a:latin typeface="Courier New" pitchFamily="34" charset="0"/>
                <a:ea typeface="Courier New" pitchFamily="34" charset="-122"/>
                <a:cs typeface="Courier New" pitchFamily="34" charset="-120"/>
              </a:rPr>
              <a:t>method=</a:t>
            </a:r>
            <a:pPr indent="0" marL="0">
              <a:buNone/>
            </a:pPr>
            <a:r>
              <a:rPr lang="en-US" sz="1200" dirty="0">
                <a:solidFill>
                  <a:srgbClr val="9CDCFE"/>
                </a:solidFill>
                <a:latin typeface="Courier New" pitchFamily="34" charset="0"/>
                <a:ea typeface="Courier New" pitchFamily="34" charset="-122"/>
                <a:cs typeface="Courier New" pitchFamily="34" charset="-120"/>
              </a:rPr>
              <a:t>'post'</a:t>
            </a:r>
            <a:pPr indent="0" marL="0">
              <a:buNone/>
            </a:pPr>
            <a:r>
              <a:rPr lang="en-US" sz="1200" dirty="0">
                <a:solidFill>
                  <a:srgbClr val="9CDCFE"/>
                </a:solidFill>
                <a:latin typeface="Courier New" pitchFamily="34" charset="0"/>
                <a:ea typeface="Courier New" pitchFamily="34" charset="-122"/>
                <a:cs typeface="Courier New" pitchFamily="34" charset="-120"/>
              </a:rPr>
              <a:t>&gt;</a:t>
            </a:r>
            <a:pPr indent="0" marL="0">
              <a:buNone/>
            </a:pPr>
            <a:r>
              <a:rPr lang="en-US" sz="1200" dirty="0">
                <a:solidFill>
                  <a:srgbClr val="9CDCFE"/>
                </a:solidFill>
                <a:latin typeface="Courier New" pitchFamily="34" charset="0"/>
                <a:ea typeface="Courier New" pitchFamily="34" charset="-122"/>
                <a:cs typeface="Courier New" pitchFamily="34" charset="-120"/>
              </a:rPr>
              <a:t> ... &lt;/</a:t>
            </a:r>
            <a:pPr indent="0" marL="0">
              <a:buNone/>
            </a:pPr>
            <a:r>
              <a:rPr lang="en-US" sz="1200" dirty="0">
                <a:solidFill>
                  <a:srgbClr val="DCDCAA"/>
                </a:solidFill>
                <a:latin typeface="Courier New" pitchFamily="34" charset="0"/>
                <a:ea typeface="Courier New" pitchFamily="34" charset="-122"/>
                <a:cs typeface="Courier New" pitchFamily="34" charset="-120"/>
              </a:rPr>
              <a:t>Form</a:t>
            </a:r>
            <a:pPr indent="0" marL="0">
              <a:buNone/>
            </a:pPr>
            <a:r>
              <a:rPr lang="en-US" sz="1200" dirty="0">
                <a:solidFill>
                  <a:srgbClr val="9CDCFE"/>
                </a:solidFill>
                <a:latin typeface="Courier New" pitchFamily="34" charset="0"/>
                <a:ea typeface="Courier New" pitchFamily="34" charset="-122"/>
                <a:cs typeface="Courier New" pitchFamily="34" charset="-120"/>
              </a:rPr>
              <a:t>&gt;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8 / 27</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Layouts and nested routes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 layout is just a route file with an Outlet. Children render inside it.</a:t>
            </a:r>
            <a:endParaRPr lang="en-US" sz="1400" dirty="0"/>
          </a:p>
        </p:txBody>
      </p:sp>
      <p:sp>
        <p:nvSpPr>
          <p:cNvPr id="5" name="Shape 3"/>
          <p:cNvSpPr/>
          <p:nvPr/>
        </p:nvSpPr>
        <p:spPr>
          <a:xfrm>
            <a:off x="777240" y="1554480"/>
            <a:ext cx="5943600" cy="4206240"/>
          </a:xfrm>
          <a:prstGeom prst="rect">
            <a:avLst/>
          </a:prstGeom>
          <a:solidFill>
            <a:srgbClr val="1E2A47"/>
          </a:solidFill>
          <a:ln w="12700">
            <a:solidFill>
              <a:srgbClr val="1E2A47"/>
            </a:solidFill>
            <a:prstDash val="solid"/>
          </a:ln>
        </p:spPr>
      </p:sp>
      <p:sp>
        <p:nvSpPr>
          <p:cNvPr id="6" name="Text 4"/>
          <p:cNvSpPr/>
          <p:nvPr/>
        </p:nvSpPr>
        <p:spPr>
          <a:xfrm>
            <a:off x="960120" y="1691640"/>
            <a:ext cx="5577840" cy="393192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app/routes.ts</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export default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DCDCAA"/>
                </a:solidFill>
                <a:latin typeface="Courier New" pitchFamily="34" charset="0"/>
                <a:ea typeface="Courier New" pitchFamily="34" charset="-122"/>
                <a:cs typeface="Courier New" pitchFamily="34" charset="-120"/>
              </a:rPr>
              <a:t>layout</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9CDCFE"/>
                </a:solidFill>
                <a:latin typeface="Courier New" pitchFamily="34" charset="0"/>
                <a:ea typeface="Courier New" pitchFamily="34" charset="-122"/>
                <a:cs typeface="Courier New" pitchFamily="34" charset="-120"/>
              </a:rPr>
              <a:t>'routes/dashboard.jsx'</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DCDCAA"/>
                </a:solidFill>
                <a:latin typeface="Courier New" pitchFamily="34" charset="0"/>
                <a:ea typeface="Courier New" pitchFamily="34" charset="-122"/>
                <a:cs typeface="Courier New" pitchFamily="34" charset="-120"/>
              </a:rPr>
              <a:t>index</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9CDCFE"/>
                </a:solidFill>
                <a:latin typeface="Courier New" pitchFamily="34" charset="0"/>
                <a:ea typeface="Courier New" pitchFamily="34" charset="-122"/>
                <a:cs typeface="Courier New" pitchFamily="34" charset="-120"/>
              </a:rPr>
              <a:t>'routes/dashboard.home.jsx'</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DCDCAA"/>
                </a:solidFill>
                <a:latin typeface="Courier New" pitchFamily="34" charset="0"/>
                <a:ea typeface="Courier New" pitchFamily="34" charset="-122"/>
                <a:cs typeface="Courier New" pitchFamily="34" charset="-120"/>
              </a:rPr>
              <a:t>route</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9CDCFE"/>
                </a:solidFill>
                <a:latin typeface="Courier New" pitchFamily="34" charset="0"/>
                <a:ea typeface="Courier New" pitchFamily="34" charset="-122"/>
                <a:cs typeface="Courier New" pitchFamily="34" charset="-120"/>
              </a:rPr>
              <a:t>'reports'</a:t>
            </a:r>
            <a:pPr indent="0" marL="0">
              <a:buNone/>
            </a:pPr>
            <a:r>
              <a:rPr lang="en-US" sz="1200" dirty="0">
                <a:solidFill>
                  <a:srgbClr val="9CDCFE"/>
                </a:solidFill>
                <a:latin typeface="Courier New" pitchFamily="34" charset="0"/>
                <a:ea typeface="Courier New" pitchFamily="34" charset="-122"/>
                <a:cs typeface="Courier New" pitchFamily="34" charset="-120"/>
              </a:rPr>
              <a:t>, </a:t>
            </a:r>
            <a:pPr indent="0" marL="0">
              <a:buNone/>
            </a:pPr>
            <a:r>
              <a:rPr lang="en-US" sz="1200" dirty="0">
                <a:solidFill>
                  <a:srgbClr val="9CDCFE"/>
                </a:solidFill>
                <a:latin typeface="Courier New" pitchFamily="34" charset="0"/>
                <a:ea typeface="Courier New" pitchFamily="34" charset="-122"/>
                <a:cs typeface="Courier New" pitchFamily="34" charset="-120"/>
              </a:rPr>
              <a:t>'routes/dashboard.reports.jsx'</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DCDCAA"/>
                </a:solidFill>
                <a:latin typeface="Courier New" pitchFamily="34" charset="0"/>
                <a:ea typeface="Courier New" pitchFamily="34" charset="-122"/>
                <a:cs typeface="Courier New" pitchFamily="34" charset="-120"/>
              </a:rPr>
              <a:t>route</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9CDCFE"/>
                </a:solidFill>
                <a:latin typeface="Courier New" pitchFamily="34" charset="0"/>
                <a:ea typeface="Courier New" pitchFamily="34" charset="-122"/>
                <a:cs typeface="Courier New" pitchFamily="34" charset="-120"/>
              </a:rPr>
              <a:t>'settings'</a:t>
            </a:r>
            <a:pPr indent="0" marL="0">
              <a:buNone/>
            </a:pPr>
            <a:r>
              <a:rPr lang="en-US" sz="1200" dirty="0">
                <a:solidFill>
                  <a:srgbClr val="9CDCFE"/>
                </a:solidFill>
                <a:latin typeface="Courier New" pitchFamily="34" charset="0"/>
                <a:ea typeface="Courier New" pitchFamily="34" charset="-122"/>
                <a:cs typeface="Courier New" pitchFamily="34" charset="-120"/>
              </a:rPr>
              <a:t>, </a:t>
            </a:r>
            <a:pPr indent="0" marL="0">
              <a:buNone/>
            </a:pPr>
            <a:r>
              <a:rPr lang="en-US" sz="1200" dirty="0">
                <a:solidFill>
                  <a:srgbClr val="9CDCFE"/>
                </a:solidFill>
                <a:latin typeface="Courier New" pitchFamily="34" charset="0"/>
                <a:ea typeface="Courier New" pitchFamily="34" charset="-122"/>
                <a:cs typeface="Courier New" pitchFamily="34" charset="-120"/>
              </a:rPr>
              <a:t>'routes/dashboard.settings.jsx'</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6949440" y="1554480"/>
            <a:ext cx="4434840" cy="4206240"/>
          </a:xfrm>
          <a:prstGeom prst="rect">
            <a:avLst/>
          </a:prstGeom>
          <a:solidFill>
            <a:srgbClr val="1E2A47"/>
          </a:solidFill>
          <a:ln w="12700">
            <a:solidFill>
              <a:srgbClr val="1E2A47"/>
            </a:solidFill>
            <a:prstDash val="solid"/>
          </a:ln>
        </p:spPr>
      </p:sp>
      <p:sp>
        <p:nvSpPr>
          <p:cNvPr id="8" name="Text 6"/>
          <p:cNvSpPr/>
          <p:nvPr/>
        </p:nvSpPr>
        <p:spPr>
          <a:xfrm>
            <a:off x="7132320" y="1691640"/>
            <a:ext cx="4069080" cy="393192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dashboard.jsx</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200" dirty="0">
                <a:solidFill>
                  <a:srgbClr val="DCDCAA"/>
                </a:solidFill>
                <a:latin typeface="Courier New" pitchFamily="34" charset="0"/>
                <a:ea typeface="Courier New" pitchFamily="34" charset="-122"/>
                <a:cs typeface="Courier New" pitchFamily="34" charset="-120"/>
              </a:rPr>
              <a:t>DashLayout</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&lt;div&gt;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&lt;Sidebar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&lt;main&gt;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&lt;</a:t>
            </a:r>
            <a:pPr indent="0" marL="0">
              <a:buNone/>
            </a:pPr>
            <a:r>
              <a:rPr lang="en-US" sz="1200" dirty="0">
                <a:solidFill>
                  <a:srgbClr val="DCDCAA"/>
                </a:solidFill>
                <a:latin typeface="Courier New" pitchFamily="34" charset="0"/>
                <a:ea typeface="Courier New" pitchFamily="34" charset="-122"/>
                <a:cs typeface="Courier New" pitchFamily="34" charset="-120"/>
              </a:rPr>
              <a:t>Outlet </a:t>
            </a:r>
            <a:pPr indent="0" marL="0">
              <a:buNone/>
            </a:pPr>
            <a:r>
              <a:rPr lang="en-US" sz="1200" dirty="0">
                <a:solidFill>
                  <a:srgbClr val="9CDCFE"/>
                </a:solidFill>
                <a:latin typeface="Courier New" pitchFamily="34" charset="0"/>
                <a:ea typeface="Courier New" pitchFamily="34" charset="-122"/>
                <a:cs typeface="Courier New" pitchFamily="34" charset="-120"/>
              </a:rPr>
              <a:t>/&gt;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&lt;/main&gt;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&lt;/div&gt;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9 / 27</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Protected routes — the loader pattern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Auth check runs in the loader. Redirect from there. The component never renders for unauthenticated users.</a:t>
            </a:r>
            <a:endParaRPr lang="en-US" sz="1400" dirty="0"/>
          </a:p>
        </p:txBody>
      </p:sp>
      <p:sp>
        <p:nvSpPr>
          <p:cNvPr id="5" name="Shape 3"/>
          <p:cNvSpPr/>
          <p:nvPr/>
        </p:nvSpPr>
        <p:spPr>
          <a:xfrm>
            <a:off x="777240" y="1554480"/>
            <a:ext cx="10607040" cy="42062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93192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app/routes/dashboard.jsx</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loader</a:t>
            </a:r>
            <a:pPr indent="0" marL="0">
              <a:buNone/>
            </a:pPr>
            <a:r>
              <a:rPr lang="en-US" sz="1200" dirty="0">
                <a:solidFill>
                  <a:srgbClr val="FFFFFF"/>
                </a:solidFill>
                <a:latin typeface="Courier New" pitchFamily="34" charset="0"/>
                <a:ea typeface="Courier New" pitchFamily="34" charset="-122"/>
                <a:cs typeface="Courier New" pitchFamily="34" charset="-120"/>
              </a:rPr>
              <a:t>({ request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user = await getUser(request);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if (!user)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const url = </a:t>
            </a:r>
            <a:pPr indent="0" marL="0">
              <a:buNone/>
            </a:pPr>
            <a:r>
              <a:rPr lang="en-US" sz="1200" dirty="0">
                <a:solidFill>
                  <a:srgbClr val="DCDCAA"/>
                </a:solidFill>
                <a:latin typeface="Courier New" pitchFamily="34" charset="0"/>
                <a:ea typeface="Courier New" pitchFamily="34" charset="-122"/>
                <a:cs typeface="Courier New" pitchFamily="34" charset="-120"/>
              </a:rPr>
              <a:t>new URL</a:t>
            </a:r>
            <a:pPr indent="0" marL="0">
              <a:buNone/>
            </a:pPr>
            <a:r>
              <a:rPr lang="en-US" sz="1200" dirty="0">
                <a:solidFill>
                  <a:srgbClr val="FFFFFF"/>
                </a:solidFill>
                <a:latin typeface="Courier New" pitchFamily="34" charset="0"/>
                <a:ea typeface="Courier New" pitchFamily="34" charset="-122"/>
                <a:cs typeface="Courier New" pitchFamily="34" charset="-120"/>
              </a:rPr>
              <a:t>(request.url);</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throw </a:t>
            </a:r>
            <a:pPr indent="0" marL="0">
              <a:buNone/>
            </a:pPr>
            <a:r>
              <a:rPr lang="en-US" sz="1200" dirty="0">
                <a:solidFill>
                  <a:srgbClr val="DCDCAA"/>
                </a:solidFill>
                <a:latin typeface="Courier New" pitchFamily="34" charset="0"/>
                <a:ea typeface="Courier New" pitchFamily="34" charset="-122"/>
                <a:cs typeface="Courier New" pitchFamily="34" charset="-120"/>
              </a:rPr>
              <a:t>redirect</a:t>
            </a:r>
            <a:pPr indent="0" marL="0">
              <a:buNone/>
            </a:pPr>
            <a:r>
              <a:rPr lang="en-US" sz="1200" dirty="0">
                <a:solidFill>
                  <a:srgbClr val="FFFFFF"/>
                </a:solidFill>
                <a:latin typeface="Courier New" pitchFamily="34" charset="0"/>
                <a:ea typeface="Courier New" pitchFamily="34" charset="-122"/>
                <a:cs typeface="Courier New" pitchFamily="34" charset="-120"/>
              </a:rPr>
              <a:t>(`/login?next=${url.pathname}`);</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 user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200" dirty="0">
                <a:solidFill>
                  <a:srgbClr val="DCDCAA"/>
                </a:solidFill>
                <a:latin typeface="Courier New" pitchFamily="34" charset="0"/>
                <a:ea typeface="Courier New" pitchFamily="34" charset="-122"/>
                <a:cs typeface="Courier New" pitchFamily="34" charset="-120"/>
              </a:rPr>
              <a:t>Dashboard</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const { user } = </a:t>
            </a:r>
            <a:pPr indent="0" marL="0">
              <a:buNone/>
            </a:pPr>
            <a:r>
              <a:rPr lang="en-US" sz="1200" dirty="0">
                <a:solidFill>
                  <a:srgbClr val="DCDCAA"/>
                </a:solidFill>
                <a:latin typeface="Courier New" pitchFamily="34" charset="0"/>
                <a:ea typeface="Courier New" pitchFamily="34" charset="-122"/>
                <a:cs typeface="Courier New" pitchFamily="34" charset="-120"/>
              </a:rPr>
              <a:t>useLoaderData</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&lt;h1&gt;Welcome, {user.name}&lt;/h1&gt;;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10 / 27</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11">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2</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Next.js App Router</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Folder is API. Server Components by default. Server Actions baked in.</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Folder is API</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Every folder under app/ is a route segment. Special files have special roles.</a:t>
            </a:r>
            <a:endParaRPr lang="en-US" sz="1400" dirty="0"/>
          </a:p>
        </p:txBody>
      </p:sp>
      <p:sp>
        <p:nvSpPr>
          <p:cNvPr id="5" name="Text 3"/>
          <p:cNvSpPr/>
          <p:nvPr/>
        </p:nvSpPr>
        <p:spPr>
          <a:xfrm>
            <a:off x="777240" y="1554480"/>
            <a:ext cx="10607040" cy="4572000"/>
          </a:xfrm>
          <a:prstGeom prst="rect">
            <a:avLst/>
          </a:prstGeom>
          <a:noFill/>
          <a:ln/>
        </p:spPr>
        <p:txBody>
          <a:bodyPr wrap="square" lIns="0" tIns="0" rIns="0" bIns="0" rtlCol="0" anchor="t"/>
          <a:lstStyle/>
          <a:p>
            <a:pPr indent="0" marL="0">
              <a:buNone/>
            </a:pPr>
            <a:r>
              <a:rPr lang="en-US" sz="1300" b="1" dirty="0">
                <a:solidFill>
                  <a:srgbClr val="0F172A"/>
                </a:solidFill>
                <a:latin typeface="Courier New" pitchFamily="34" charset="0"/>
                <a:ea typeface="Courier New" pitchFamily="34" charset="-122"/>
                <a:cs typeface="Courier New" pitchFamily="34" charset="-120"/>
              </a:rPr>
              <a:t>app/</a:t>
            </a:r>
            <a:endParaRPr lang="en-US" sz="1300" dirty="0"/>
          </a:p>
          <a:p>
            <a:pPr indent="0" marL="0">
              <a:buNone/>
            </a:pPr>
            <a:r>
              <a:rPr lang="en-US" sz="1300" dirty="0">
                <a:solidFill>
                  <a:srgbClr val="475569"/>
                </a:solidFill>
                <a:latin typeface="Courier New" pitchFamily="34" charset="0"/>
                <a:ea typeface="Courier New" pitchFamily="34" charset="-122"/>
                <a:cs typeface="Courier New" pitchFamily="34" charset="-120"/>
              </a:rPr>
              <a:t>├── layout.jsx              </a:t>
            </a:r>
            <a:pPr indent="0" marL="0">
              <a:buNone/>
            </a:pPr>
            <a:r>
              <a:rPr lang="en-US" sz="1300" i="1" dirty="0">
                <a:solidFill>
                  <a:srgbClr val="6A9955"/>
                </a:solidFill>
                <a:latin typeface="Courier New" pitchFamily="34" charset="0"/>
                <a:ea typeface="Courier New" pitchFamily="34" charset="-122"/>
                <a:cs typeface="Courier New" pitchFamily="34" charset="-120"/>
              </a:rPr>
              <a:t>// shared shell</a:t>
            </a:r>
            <a:endParaRPr lang="en-US" sz="1300" dirty="0"/>
          </a:p>
          <a:p>
            <a:pPr indent="0" marL="0">
              <a:buNone/>
            </a:pPr>
            <a:r>
              <a:rPr lang="en-US" sz="1300" dirty="0">
                <a:solidFill>
                  <a:srgbClr val="475569"/>
                </a:solidFill>
                <a:latin typeface="Courier New" pitchFamily="34" charset="0"/>
                <a:ea typeface="Courier New" pitchFamily="34" charset="-122"/>
                <a:cs typeface="Courier New" pitchFamily="34" charset="-120"/>
              </a:rPr>
              <a:t>├── page.jsx                </a:t>
            </a:r>
            <a:pPr indent="0" marL="0">
              <a:buNone/>
            </a:pPr>
            <a:r>
              <a:rPr lang="en-US" sz="1300" i="1" dirty="0">
                <a:solidFill>
                  <a:srgbClr val="6A9955"/>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475569"/>
                </a:solidFill>
                <a:latin typeface="Courier New" pitchFamily="34" charset="0"/>
                <a:ea typeface="Courier New" pitchFamily="34" charset="-122"/>
                <a:cs typeface="Courier New" pitchFamily="34" charset="-120"/>
              </a:rPr>
              <a:t>├── posts/</a:t>
            </a:r>
            <a:endParaRPr lang="en-US" sz="1300" dirty="0"/>
          </a:p>
          <a:p>
            <a:pPr indent="0" marL="0">
              <a:buNone/>
            </a:pPr>
            <a:r>
              <a:rPr lang="en-US" sz="1300" dirty="0">
                <a:solidFill>
                  <a:srgbClr val="475569"/>
                </a:solidFill>
                <a:latin typeface="Courier New" pitchFamily="34" charset="0"/>
                <a:ea typeface="Courier New" pitchFamily="34" charset="-122"/>
                <a:cs typeface="Courier New" pitchFamily="34" charset="-120"/>
              </a:rPr>
              <a:t>│   ├── page.jsx            </a:t>
            </a:r>
            <a:pPr indent="0" marL="0">
              <a:buNone/>
            </a:pPr>
            <a:r>
              <a:rPr lang="en-US" sz="1300" i="1" dirty="0">
                <a:solidFill>
                  <a:srgbClr val="6A9955"/>
                </a:solidFill>
                <a:latin typeface="Courier New" pitchFamily="34" charset="0"/>
                <a:ea typeface="Courier New" pitchFamily="34" charset="-122"/>
                <a:cs typeface="Courier New" pitchFamily="34" charset="-120"/>
              </a:rPr>
              <a:t>// /posts</a:t>
            </a:r>
            <a:endParaRPr lang="en-US" sz="1300" dirty="0"/>
          </a:p>
          <a:p>
            <a:pPr indent="0" marL="0">
              <a:buNone/>
            </a:pPr>
            <a:r>
              <a:rPr lang="en-US" sz="1300" dirty="0">
                <a:solidFill>
                  <a:srgbClr val="475569"/>
                </a:solidFill>
                <a:latin typeface="Courier New" pitchFamily="34" charset="0"/>
                <a:ea typeface="Courier New" pitchFamily="34" charset="-122"/>
                <a:cs typeface="Courier New" pitchFamily="34" charset="-120"/>
              </a:rPr>
              <a:t>│   └── [id]/</a:t>
            </a:r>
            <a:endParaRPr lang="en-US" sz="1300" dirty="0"/>
          </a:p>
          <a:p>
            <a:pPr indent="0" marL="0">
              <a:buNone/>
            </a:pPr>
            <a:r>
              <a:rPr lang="en-US" sz="1300" dirty="0">
                <a:solidFill>
                  <a:srgbClr val="475569"/>
                </a:solidFill>
                <a:latin typeface="Courier New" pitchFamily="34" charset="0"/>
                <a:ea typeface="Courier New" pitchFamily="34" charset="-122"/>
                <a:cs typeface="Courier New" pitchFamily="34" charset="-120"/>
              </a:rPr>
              <a:t>│       └── page.jsx        </a:t>
            </a:r>
            <a:pPr indent="0" marL="0">
              <a:buNone/>
            </a:pPr>
            <a:r>
              <a:rPr lang="en-US" sz="1300" i="1" dirty="0">
                <a:solidFill>
                  <a:srgbClr val="6A9955"/>
                </a:solidFill>
                <a:latin typeface="Courier New" pitchFamily="34" charset="0"/>
                <a:ea typeface="Courier New" pitchFamily="34" charset="-122"/>
                <a:cs typeface="Courier New" pitchFamily="34" charset="-120"/>
              </a:rPr>
              <a:t>// /posts/:id</a:t>
            </a:r>
            <a:endParaRPr lang="en-US" sz="1300" dirty="0"/>
          </a:p>
          <a:p>
            <a:pPr indent="0" marL="0">
              <a:buNone/>
            </a:pPr>
            <a:r>
              <a:rPr lang="en-US" sz="1300" dirty="0">
                <a:solidFill>
                  <a:srgbClr val="475569"/>
                </a:solidFill>
                <a:latin typeface="Courier New" pitchFamily="34" charset="0"/>
                <a:ea typeface="Courier New" pitchFamily="34" charset="-122"/>
                <a:cs typeface="Courier New" pitchFamily="34" charset="-120"/>
              </a:rPr>
              <a:t>├── (auth)/                 </a:t>
            </a:r>
            <a:pPr indent="0" marL="0">
              <a:buNone/>
            </a:pPr>
            <a:r>
              <a:rPr lang="en-US" sz="1300" i="1" dirty="0">
                <a:solidFill>
                  <a:srgbClr val="6A9955"/>
                </a:solidFill>
                <a:latin typeface="Courier New" pitchFamily="34" charset="0"/>
                <a:ea typeface="Courier New" pitchFamily="34" charset="-122"/>
                <a:cs typeface="Courier New" pitchFamily="34" charset="-120"/>
              </a:rPr>
              <a:t>// route group, no URL impact</a:t>
            </a:r>
            <a:endParaRPr lang="en-US" sz="1300" dirty="0"/>
          </a:p>
          <a:p>
            <a:pPr indent="0" marL="0">
              <a:buNone/>
            </a:pPr>
            <a:r>
              <a:rPr lang="en-US" sz="1300" dirty="0">
                <a:solidFill>
                  <a:srgbClr val="475569"/>
                </a:solidFill>
                <a:latin typeface="Courier New" pitchFamily="34" charset="0"/>
                <a:ea typeface="Courier New" pitchFamily="34" charset="-122"/>
                <a:cs typeface="Courier New" pitchFamily="34" charset="-120"/>
              </a:rPr>
              <a:t>│   ├── login/page.jsx</a:t>
            </a:r>
            <a:endParaRPr lang="en-US" sz="1300" dirty="0"/>
          </a:p>
          <a:p>
            <a:pPr indent="0" marL="0">
              <a:buNone/>
            </a:pPr>
            <a:r>
              <a:rPr lang="en-US" sz="1300" dirty="0">
                <a:solidFill>
                  <a:srgbClr val="475569"/>
                </a:solidFill>
                <a:latin typeface="Courier New" pitchFamily="34" charset="0"/>
                <a:ea typeface="Courier New" pitchFamily="34" charset="-122"/>
                <a:cs typeface="Courier New" pitchFamily="34" charset="-120"/>
              </a:rPr>
              <a:t>│   └── signup/page.jsx</a:t>
            </a:r>
            <a:endParaRPr lang="en-US" sz="1300" dirty="0"/>
          </a:p>
          <a:p>
            <a:pPr indent="0" marL="0">
              <a:buNone/>
            </a:pPr>
            <a:r>
              <a:rPr lang="en-US" sz="1300" dirty="0">
                <a:solidFill>
                  <a:srgbClr val="475569"/>
                </a:solidFill>
                <a:latin typeface="Courier New" pitchFamily="34" charset="0"/>
                <a:ea typeface="Courier New" pitchFamily="34" charset="-122"/>
                <a:cs typeface="Courier New" pitchFamily="34" charset="-120"/>
              </a:rPr>
              <a:t>└── middleware.js           </a:t>
            </a:r>
            <a:pPr indent="0" marL="0">
              <a:buNone/>
            </a:pPr>
            <a:r>
              <a:rPr lang="en-US" sz="1300" i="1" dirty="0">
                <a:solidFill>
                  <a:srgbClr val="6A9955"/>
                </a:solidFill>
                <a:latin typeface="Courier New" pitchFamily="34" charset="0"/>
                <a:ea typeface="Courier New" pitchFamily="34" charset="-122"/>
                <a:cs typeface="Courier New" pitchFamily="34" charset="-120"/>
              </a:rPr>
              <a:t>// runs before every request</a:t>
            </a:r>
            <a:endParaRPr lang="en-US" sz="1300" dirty="0"/>
          </a:p>
        </p:txBody>
      </p:sp>
      <p:sp>
        <p:nvSpPr>
          <p:cNvPr id="6" name="Text 4"/>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7" name="Text 5"/>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12 / 27</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special files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Each file in a route segment plays a specific role.</a:t>
            </a:r>
            <a:endParaRPr lang="en-US" sz="1400" dirty="0"/>
          </a:p>
        </p:txBody>
      </p:sp>
      <p:sp>
        <p:nvSpPr>
          <p:cNvPr id="5" name="Shape 3"/>
          <p:cNvSpPr/>
          <p:nvPr/>
        </p:nvSpPr>
        <p:spPr>
          <a:xfrm>
            <a:off x="777240" y="1691640"/>
            <a:ext cx="5212080" cy="1280160"/>
          </a:xfrm>
          <a:prstGeom prst="rect">
            <a:avLst/>
          </a:prstGeom>
          <a:solidFill>
            <a:srgbClr val="FFFFFF"/>
          </a:solidFill>
          <a:ln w="12700">
            <a:solidFill>
              <a:srgbClr val="E2E8F0"/>
            </a:solidFill>
            <a:prstDash val="solid"/>
          </a:ln>
        </p:spPr>
      </p:sp>
      <p:sp>
        <p:nvSpPr>
          <p:cNvPr id="6" name="Text 4"/>
          <p:cNvSpPr/>
          <p:nvPr/>
        </p:nvSpPr>
        <p:spPr>
          <a:xfrm>
            <a:off x="960120" y="1828800"/>
            <a:ext cx="4846320" cy="411480"/>
          </a:xfrm>
          <a:prstGeom prst="rect">
            <a:avLst/>
          </a:prstGeom>
          <a:noFill/>
          <a:ln/>
        </p:spPr>
        <p:txBody>
          <a:bodyPr wrap="square" lIns="0" tIns="0" rIns="0" bIns="0" rtlCol="0" anchor="ctr"/>
          <a:lstStyle/>
          <a:p>
            <a:pPr indent="0" marL="0">
              <a:buNone/>
            </a:pPr>
            <a:r>
              <a:rPr lang="en-US" sz="1600" b="1" dirty="0">
                <a:solidFill>
                  <a:srgbClr val="00B8D9"/>
                </a:solidFill>
                <a:latin typeface="Courier New" pitchFamily="34" charset="0"/>
                <a:ea typeface="Courier New" pitchFamily="34" charset="-122"/>
                <a:cs typeface="Courier New" pitchFamily="34" charset="-120"/>
              </a:rPr>
              <a:t>page.jsx</a:t>
            </a:r>
            <a:endParaRPr lang="en-US" sz="1600" dirty="0"/>
          </a:p>
        </p:txBody>
      </p:sp>
      <p:sp>
        <p:nvSpPr>
          <p:cNvPr id="7" name="Text 5"/>
          <p:cNvSpPr/>
          <p:nvPr/>
        </p:nvSpPr>
        <p:spPr>
          <a:xfrm>
            <a:off x="960120" y="2286000"/>
            <a:ext cx="4846320" cy="64008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The route's UI. Required if the segment is reachable as a URL.</a:t>
            </a:r>
            <a:endParaRPr lang="en-US" sz="1150" dirty="0"/>
          </a:p>
        </p:txBody>
      </p:sp>
      <p:sp>
        <p:nvSpPr>
          <p:cNvPr id="8" name="Shape 6"/>
          <p:cNvSpPr/>
          <p:nvPr/>
        </p:nvSpPr>
        <p:spPr>
          <a:xfrm>
            <a:off x="6126480" y="1691640"/>
            <a:ext cx="5212080" cy="1280160"/>
          </a:xfrm>
          <a:prstGeom prst="rect">
            <a:avLst/>
          </a:prstGeom>
          <a:solidFill>
            <a:srgbClr val="FFFFFF"/>
          </a:solidFill>
          <a:ln w="12700">
            <a:solidFill>
              <a:srgbClr val="E2E8F0"/>
            </a:solidFill>
            <a:prstDash val="solid"/>
          </a:ln>
        </p:spPr>
      </p:sp>
      <p:sp>
        <p:nvSpPr>
          <p:cNvPr id="9" name="Text 7"/>
          <p:cNvSpPr/>
          <p:nvPr/>
        </p:nvSpPr>
        <p:spPr>
          <a:xfrm>
            <a:off x="6309360" y="1828800"/>
            <a:ext cx="4846320" cy="411480"/>
          </a:xfrm>
          <a:prstGeom prst="rect">
            <a:avLst/>
          </a:prstGeom>
          <a:noFill/>
          <a:ln/>
        </p:spPr>
        <p:txBody>
          <a:bodyPr wrap="square" lIns="0" tIns="0" rIns="0" bIns="0" rtlCol="0" anchor="ctr"/>
          <a:lstStyle/>
          <a:p>
            <a:pPr indent="0" marL="0">
              <a:buNone/>
            </a:pPr>
            <a:r>
              <a:rPr lang="en-US" sz="1600" b="1" dirty="0">
                <a:solidFill>
                  <a:srgbClr val="00B8D9"/>
                </a:solidFill>
                <a:latin typeface="Courier New" pitchFamily="34" charset="0"/>
                <a:ea typeface="Courier New" pitchFamily="34" charset="-122"/>
                <a:cs typeface="Courier New" pitchFamily="34" charset="-120"/>
              </a:rPr>
              <a:t>layout.jsx</a:t>
            </a:r>
            <a:endParaRPr lang="en-US" sz="1600" dirty="0"/>
          </a:p>
        </p:txBody>
      </p:sp>
      <p:sp>
        <p:nvSpPr>
          <p:cNvPr id="10" name="Text 8"/>
          <p:cNvSpPr/>
          <p:nvPr/>
        </p:nvSpPr>
        <p:spPr>
          <a:xfrm>
            <a:off x="6309360" y="2286000"/>
            <a:ext cx="4846320" cy="64008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Wraps the segment and its children. Persists across navigations within the segment.</a:t>
            </a:r>
            <a:endParaRPr lang="en-US" sz="1150" dirty="0"/>
          </a:p>
        </p:txBody>
      </p:sp>
      <p:sp>
        <p:nvSpPr>
          <p:cNvPr id="11" name="Shape 9"/>
          <p:cNvSpPr/>
          <p:nvPr/>
        </p:nvSpPr>
        <p:spPr>
          <a:xfrm>
            <a:off x="777240" y="3154680"/>
            <a:ext cx="5212080" cy="1280160"/>
          </a:xfrm>
          <a:prstGeom prst="rect">
            <a:avLst/>
          </a:prstGeom>
          <a:solidFill>
            <a:srgbClr val="FFFFFF"/>
          </a:solidFill>
          <a:ln w="12700">
            <a:solidFill>
              <a:srgbClr val="E2E8F0"/>
            </a:solidFill>
            <a:prstDash val="solid"/>
          </a:ln>
        </p:spPr>
      </p:sp>
      <p:sp>
        <p:nvSpPr>
          <p:cNvPr id="12" name="Text 10"/>
          <p:cNvSpPr/>
          <p:nvPr/>
        </p:nvSpPr>
        <p:spPr>
          <a:xfrm>
            <a:off x="960120" y="3291840"/>
            <a:ext cx="4846320" cy="411480"/>
          </a:xfrm>
          <a:prstGeom prst="rect">
            <a:avLst/>
          </a:prstGeom>
          <a:noFill/>
          <a:ln/>
        </p:spPr>
        <p:txBody>
          <a:bodyPr wrap="square" lIns="0" tIns="0" rIns="0" bIns="0" rtlCol="0" anchor="ctr"/>
          <a:lstStyle/>
          <a:p>
            <a:pPr indent="0" marL="0">
              <a:buNone/>
            </a:pPr>
            <a:r>
              <a:rPr lang="en-US" sz="1600" b="1" dirty="0">
                <a:solidFill>
                  <a:srgbClr val="00B8D9"/>
                </a:solidFill>
                <a:latin typeface="Courier New" pitchFamily="34" charset="0"/>
                <a:ea typeface="Courier New" pitchFamily="34" charset="-122"/>
                <a:cs typeface="Courier New" pitchFamily="34" charset="-120"/>
              </a:rPr>
              <a:t>loading.jsx</a:t>
            </a:r>
            <a:endParaRPr lang="en-US" sz="1600" dirty="0"/>
          </a:p>
        </p:txBody>
      </p:sp>
      <p:sp>
        <p:nvSpPr>
          <p:cNvPr id="13" name="Text 11"/>
          <p:cNvSpPr/>
          <p:nvPr/>
        </p:nvSpPr>
        <p:spPr>
          <a:xfrm>
            <a:off x="960120" y="3749040"/>
            <a:ext cx="4846320" cy="64008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The Suspense fallback for the segment. Shows while the page streams.</a:t>
            </a:r>
            <a:endParaRPr lang="en-US" sz="1150" dirty="0"/>
          </a:p>
        </p:txBody>
      </p:sp>
      <p:sp>
        <p:nvSpPr>
          <p:cNvPr id="14" name="Shape 12"/>
          <p:cNvSpPr/>
          <p:nvPr/>
        </p:nvSpPr>
        <p:spPr>
          <a:xfrm>
            <a:off x="6126480" y="3154680"/>
            <a:ext cx="5212080" cy="1280160"/>
          </a:xfrm>
          <a:prstGeom prst="rect">
            <a:avLst/>
          </a:prstGeom>
          <a:solidFill>
            <a:srgbClr val="FFFFFF"/>
          </a:solidFill>
          <a:ln w="12700">
            <a:solidFill>
              <a:srgbClr val="E2E8F0"/>
            </a:solidFill>
            <a:prstDash val="solid"/>
          </a:ln>
        </p:spPr>
      </p:sp>
      <p:sp>
        <p:nvSpPr>
          <p:cNvPr id="15" name="Text 13"/>
          <p:cNvSpPr/>
          <p:nvPr/>
        </p:nvSpPr>
        <p:spPr>
          <a:xfrm>
            <a:off x="6309360" y="3291840"/>
            <a:ext cx="4846320" cy="411480"/>
          </a:xfrm>
          <a:prstGeom prst="rect">
            <a:avLst/>
          </a:prstGeom>
          <a:noFill/>
          <a:ln/>
        </p:spPr>
        <p:txBody>
          <a:bodyPr wrap="square" lIns="0" tIns="0" rIns="0" bIns="0" rtlCol="0" anchor="ctr"/>
          <a:lstStyle/>
          <a:p>
            <a:pPr indent="0" marL="0">
              <a:buNone/>
            </a:pPr>
            <a:r>
              <a:rPr lang="en-US" sz="1600" b="1" dirty="0">
                <a:solidFill>
                  <a:srgbClr val="00B8D9"/>
                </a:solidFill>
                <a:latin typeface="Courier New" pitchFamily="34" charset="0"/>
                <a:ea typeface="Courier New" pitchFamily="34" charset="-122"/>
                <a:cs typeface="Courier New" pitchFamily="34" charset="-120"/>
              </a:rPr>
              <a:t>error.jsx</a:t>
            </a:r>
            <a:endParaRPr lang="en-US" sz="1600" dirty="0"/>
          </a:p>
        </p:txBody>
      </p:sp>
      <p:sp>
        <p:nvSpPr>
          <p:cNvPr id="16" name="Text 14"/>
          <p:cNvSpPr/>
          <p:nvPr/>
        </p:nvSpPr>
        <p:spPr>
          <a:xfrm>
            <a:off x="6309360" y="3749040"/>
            <a:ext cx="4846320" cy="64008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Error boundary for the segment. Receives the error and a reset function.</a:t>
            </a:r>
            <a:endParaRPr lang="en-US" sz="1150" dirty="0"/>
          </a:p>
        </p:txBody>
      </p:sp>
      <p:sp>
        <p:nvSpPr>
          <p:cNvPr id="17" name="Shape 15"/>
          <p:cNvSpPr/>
          <p:nvPr/>
        </p:nvSpPr>
        <p:spPr>
          <a:xfrm>
            <a:off x="777240" y="4617720"/>
            <a:ext cx="5212080" cy="1280160"/>
          </a:xfrm>
          <a:prstGeom prst="rect">
            <a:avLst/>
          </a:prstGeom>
          <a:solidFill>
            <a:srgbClr val="FFFFFF"/>
          </a:solidFill>
          <a:ln w="12700">
            <a:solidFill>
              <a:srgbClr val="E2E8F0"/>
            </a:solidFill>
            <a:prstDash val="solid"/>
          </a:ln>
        </p:spPr>
      </p:sp>
      <p:sp>
        <p:nvSpPr>
          <p:cNvPr id="18" name="Text 16"/>
          <p:cNvSpPr/>
          <p:nvPr/>
        </p:nvSpPr>
        <p:spPr>
          <a:xfrm>
            <a:off x="960120" y="4754880"/>
            <a:ext cx="4846320" cy="411480"/>
          </a:xfrm>
          <a:prstGeom prst="rect">
            <a:avLst/>
          </a:prstGeom>
          <a:noFill/>
          <a:ln/>
        </p:spPr>
        <p:txBody>
          <a:bodyPr wrap="square" lIns="0" tIns="0" rIns="0" bIns="0" rtlCol="0" anchor="ctr"/>
          <a:lstStyle/>
          <a:p>
            <a:pPr indent="0" marL="0">
              <a:buNone/>
            </a:pPr>
            <a:r>
              <a:rPr lang="en-US" sz="1600" b="1" dirty="0">
                <a:solidFill>
                  <a:srgbClr val="00B8D9"/>
                </a:solidFill>
                <a:latin typeface="Courier New" pitchFamily="34" charset="0"/>
                <a:ea typeface="Courier New" pitchFamily="34" charset="-122"/>
                <a:cs typeface="Courier New" pitchFamily="34" charset="-120"/>
              </a:rPr>
              <a:t>not-found.jsx</a:t>
            </a:r>
            <a:endParaRPr lang="en-US" sz="1600" dirty="0"/>
          </a:p>
        </p:txBody>
      </p:sp>
      <p:sp>
        <p:nvSpPr>
          <p:cNvPr id="19" name="Text 17"/>
          <p:cNvSpPr/>
          <p:nvPr/>
        </p:nvSpPr>
        <p:spPr>
          <a:xfrm>
            <a:off x="960120" y="5212080"/>
            <a:ext cx="4846320" cy="64008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Renders when notFound() is called or no route matches.</a:t>
            </a:r>
            <a:endParaRPr lang="en-US" sz="1150" dirty="0"/>
          </a:p>
        </p:txBody>
      </p:sp>
      <p:sp>
        <p:nvSpPr>
          <p:cNvPr id="20" name="Shape 18"/>
          <p:cNvSpPr/>
          <p:nvPr/>
        </p:nvSpPr>
        <p:spPr>
          <a:xfrm>
            <a:off x="6126480" y="4617720"/>
            <a:ext cx="5212080" cy="1280160"/>
          </a:xfrm>
          <a:prstGeom prst="rect">
            <a:avLst/>
          </a:prstGeom>
          <a:solidFill>
            <a:srgbClr val="FFFFFF"/>
          </a:solidFill>
          <a:ln w="12700">
            <a:solidFill>
              <a:srgbClr val="E2E8F0"/>
            </a:solidFill>
            <a:prstDash val="solid"/>
          </a:ln>
        </p:spPr>
      </p:sp>
      <p:sp>
        <p:nvSpPr>
          <p:cNvPr id="21" name="Text 19"/>
          <p:cNvSpPr/>
          <p:nvPr/>
        </p:nvSpPr>
        <p:spPr>
          <a:xfrm>
            <a:off x="6309360" y="4754880"/>
            <a:ext cx="4846320" cy="411480"/>
          </a:xfrm>
          <a:prstGeom prst="rect">
            <a:avLst/>
          </a:prstGeom>
          <a:noFill/>
          <a:ln/>
        </p:spPr>
        <p:txBody>
          <a:bodyPr wrap="square" lIns="0" tIns="0" rIns="0" bIns="0" rtlCol="0" anchor="ctr"/>
          <a:lstStyle/>
          <a:p>
            <a:pPr indent="0" marL="0">
              <a:buNone/>
            </a:pPr>
            <a:r>
              <a:rPr lang="en-US" sz="1600" b="1" dirty="0">
                <a:solidFill>
                  <a:srgbClr val="00B8D9"/>
                </a:solidFill>
                <a:latin typeface="Courier New" pitchFamily="34" charset="0"/>
                <a:ea typeface="Courier New" pitchFamily="34" charset="-122"/>
                <a:cs typeface="Courier New" pitchFamily="34" charset="-120"/>
              </a:rPr>
              <a:t>route.js</a:t>
            </a:r>
            <a:endParaRPr lang="en-US" sz="1600" dirty="0"/>
          </a:p>
        </p:txBody>
      </p:sp>
      <p:sp>
        <p:nvSpPr>
          <p:cNvPr id="22" name="Text 20"/>
          <p:cNvSpPr/>
          <p:nvPr/>
        </p:nvSpPr>
        <p:spPr>
          <a:xfrm>
            <a:off x="6309360" y="5212080"/>
            <a:ext cx="4846320" cy="64008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An API endpoint instead of a page. Exports GET, POST, etc.</a:t>
            </a:r>
            <a:endParaRPr lang="en-US" sz="1150" dirty="0"/>
          </a:p>
        </p:txBody>
      </p:sp>
      <p:sp>
        <p:nvSpPr>
          <p:cNvPr id="23" name="Text 2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24" name="Text 2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13 / 27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Server Components by default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page.jsx is a Server Component unless you opt out with 'use client'.</a:t>
            </a:r>
            <a:endParaRPr lang="en-US" sz="1400" dirty="0"/>
          </a:p>
        </p:txBody>
      </p:sp>
      <p:sp>
        <p:nvSpPr>
          <p:cNvPr id="5" name="Shape 3"/>
          <p:cNvSpPr/>
          <p:nvPr/>
        </p:nvSpPr>
        <p:spPr>
          <a:xfrm>
            <a:off x="777240" y="1554480"/>
            <a:ext cx="10607040" cy="42062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93192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app/posts/[id]/page.jsx</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import { notFound } from </a:t>
            </a:r>
            <a:pPr indent="0" marL="0">
              <a:buNone/>
            </a:pPr>
            <a:r>
              <a:rPr lang="en-US" sz="1200" dirty="0">
                <a:solidFill>
                  <a:srgbClr val="9CDCFE"/>
                </a:solidFill>
                <a:latin typeface="Courier New" pitchFamily="34" charset="0"/>
                <a:ea typeface="Courier New" pitchFamily="34" charset="-122"/>
                <a:cs typeface="Courier New" pitchFamily="34" charset="-120"/>
              </a:rPr>
              <a:t>'next/navigation'</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import { db } from </a:t>
            </a:r>
            <a:pPr indent="0" marL="0">
              <a:buNone/>
            </a:pPr>
            <a:r>
              <a:rPr lang="en-US" sz="1200" dirty="0">
                <a:solidFill>
                  <a:srgbClr val="9CDCFE"/>
                </a:solidFill>
                <a:latin typeface="Courier New" pitchFamily="34" charset="0"/>
                <a:ea typeface="Courier New" pitchFamily="34" charset="-122"/>
                <a:cs typeface="Courier New" pitchFamily="34" charset="-120"/>
              </a:rPr>
              <a:t>'@/lib/db'</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PostPage</a:t>
            </a:r>
            <a:pPr indent="0" marL="0">
              <a:buNone/>
            </a:pPr>
            <a:r>
              <a:rPr lang="en-US" sz="1200" dirty="0">
                <a:solidFill>
                  <a:srgbClr val="FFFFFF"/>
                </a:solidFill>
                <a:latin typeface="Courier New" pitchFamily="34" charset="0"/>
                <a:ea typeface="Courier New" pitchFamily="34" charset="-122"/>
                <a:cs typeface="Courier New" pitchFamily="34" charset="-120"/>
              </a:rPr>
              <a:t>({ params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post = await db.posts.findById(params.id);</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if (!post) </a:t>
            </a:r>
            <a:pPr indent="0" marL="0">
              <a:buNone/>
            </a:pPr>
            <a:r>
              <a:rPr lang="en-US" sz="1200" dirty="0">
                <a:solidFill>
                  <a:srgbClr val="DCDCAA"/>
                </a:solidFill>
                <a:latin typeface="Courier New" pitchFamily="34" charset="0"/>
                <a:ea typeface="Courier New" pitchFamily="34" charset="-122"/>
                <a:cs typeface="Courier New" pitchFamily="34" charset="-120"/>
              </a:rPr>
              <a:t>notFound</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&lt;article&gt;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&lt;h1&gt;{post.title}&lt;/h1&gt;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&lt;p&gt;{post.body}&lt;/p&gt;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&lt;/article&gt;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777240" y="5897880"/>
            <a:ext cx="10607040" cy="365760"/>
          </a:xfrm>
          <a:prstGeom prst="rect">
            <a:avLst/>
          </a:prstGeom>
          <a:noFill/>
          <a:ln/>
        </p:spPr>
        <p:txBody>
          <a:bodyPr wrap="square" lIns="0" tIns="0" rIns="0" bIns="0" rtlCol="0" anchor="ctr"/>
          <a:lstStyle/>
          <a:p>
            <a:pPr indent="0" marL="0">
              <a:buNone/>
            </a:pPr>
            <a:r>
              <a:rPr lang="en-US" sz="1150" i="1" dirty="0">
                <a:solidFill>
                  <a:srgbClr val="475569"/>
                </a:solidFill>
                <a:latin typeface="Arial" pitchFamily="34" charset="0"/>
                <a:ea typeface="Arial" pitchFamily="34" charset="-122"/>
                <a:cs typeface="Arial" pitchFamily="34" charset="-120"/>
              </a:rPr>
              <a:t>Note: the function is async. No useState, no useEffect — this code runs on the server. Module 6 goes deeper.</a:t>
            </a:r>
            <a:endParaRPr lang="en-US" sz="1150" dirty="0"/>
          </a:p>
        </p:txBody>
      </p:sp>
      <p:sp>
        <p:nvSpPr>
          <p:cNvPr id="8" name="Text 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9" name="Text 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14 / 27</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Server Actions in routes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Functions marked 'use server' run on the server when invoked from the client.</a:t>
            </a:r>
            <a:endParaRPr lang="en-US" sz="1400" dirty="0"/>
          </a:p>
        </p:txBody>
      </p:sp>
      <p:sp>
        <p:nvSpPr>
          <p:cNvPr id="5" name="Shape 3"/>
          <p:cNvSpPr/>
          <p:nvPr/>
        </p:nvSpPr>
        <p:spPr>
          <a:xfrm>
            <a:off x="777240" y="1554480"/>
            <a:ext cx="10607040" cy="42062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93192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app/posts/new/page.jsx</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import { redirect } from </a:t>
            </a:r>
            <a:pPr indent="0" marL="0">
              <a:buNone/>
            </a:pPr>
            <a:r>
              <a:rPr lang="en-US" sz="1200" dirty="0">
                <a:solidFill>
                  <a:srgbClr val="9CDCFE"/>
                </a:solidFill>
                <a:latin typeface="Courier New" pitchFamily="34" charset="0"/>
                <a:ea typeface="Courier New" pitchFamily="34" charset="-122"/>
                <a:cs typeface="Courier New" pitchFamily="34" charset="-120"/>
              </a:rPr>
              <a:t>'next/navigation'</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createPost</a:t>
            </a:r>
            <a:pPr indent="0" marL="0">
              <a:buNone/>
            </a:pPr>
            <a:r>
              <a:rPr lang="en-US" sz="1200" dirty="0">
                <a:solidFill>
                  <a:srgbClr val="FFFFFF"/>
                </a:solidFill>
                <a:latin typeface="Courier New" pitchFamily="34" charset="0"/>
                <a:ea typeface="Courier New" pitchFamily="34" charset="-122"/>
                <a:cs typeface="Courier New" pitchFamily="34" charset="-120"/>
              </a:rPr>
              <a:t>(formData)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9CDCFE"/>
                </a:solidFill>
                <a:latin typeface="Courier New" pitchFamily="34" charset="0"/>
                <a:ea typeface="Courier New" pitchFamily="34" charset="-122"/>
                <a:cs typeface="Courier New" pitchFamily="34" charset="-120"/>
              </a:rPr>
              <a:t>'use server'</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post = await db.posts.create({</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title: formData.get(</a:t>
            </a:r>
            <a:pPr indent="0" marL="0">
              <a:buNone/>
            </a:pPr>
            <a:r>
              <a:rPr lang="en-US" sz="1200" dirty="0">
                <a:solidFill>
                  <a:srgbClr val="9CDCFE"/>
                </a:solidFill>
                <a:latin typeface="Courier New" pitchFamily="34" charset="0"/>
                <a:ea typeface="Courier New" pitchFamily="34" charset="-122"/>
                <a:cs typeface="Courier New" pitchFamily="34" charset="-120"/>
              </a:rPr>
              <a:t>'title'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body:  formData.get(</a:t>
            </a:r>
            <a:pPr indent="0" marL="0">
              <a:buNone/>
            </a:pPr>
            <a:r>
              <a:rPr lang="en-US" sz="1200" dirty="0">
                <a:solidFill>
                  <a:srgbClr val="9CDCFE"/>
                </a:solidFill>
                <a:latin typeface="Courier New" pitchFamily="34" charset="0"/>
                <a:ea typeface="Courier New" pitchFamily="34" charset="-122"/>
                <a:cs typeface="Courier New" pitchFamily="34" charset="-120"/>
              </a:rPr>
              <a:t>'body'</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a:t>
            </a:r>
            <a:pPr indent="0" marL="0">
              <a:buNone/>
            </a:pPr>
            <a:r>
              <a:rPr lang="en-US" sz="1200" dirty="0">
                <a:solidFill>
                  <a:srgbClr val="DCDCAA"/>
                </a:solidFill>
                <a:latin typeface="Courier New" pitchFamily="34" charset="0"/>
                <a:ea typeface="Courier New" pitchFamily="34" charset="-122"/>
                <a:cs typeface="Courier New" pitchFamily="34" charset="-120"/>
              </a:rPr>
              <a:t>redirect</a:t>
            </a:r>
            <a:pPr indent="0" marL="0">
              <a:buNone/>
            </a:pPr>
            <a:r>
              <a:rPr lang="en-US" sz="1200" dirty="0">
                <a:solidFill>
                  <a:srgbClr val="FFFFFF"/>
                </a:solidFill>
                <a:latin typeface="Courier New" pitchFamily="34" charset="0"/>
                <a:ea typeface="Courier New" pitchFamily="34" charset="-122"/>
                <a:cs typeface="Courier New" pitchFamily="34" charset="-120"/>
              </a:rPr>
              <a:t>(`/posts/${post.id}`);</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200" dirty="0">
                <a:solidFill>
                  <a:srgbClr val="DCDCAA"/>
                </a:solidFill>
                <a:latin typeface="Courier New" pitchFamily="34" charset="0"/>
                <a:ea typeface="Courier New" pitchFamily="34" charset="-122"/>
                <a:cs typeface="Courier New" pitchFamily="34" charset="-120"/>
              </a:rPr>
              <a:t>NewPost</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&lt;form action={createPost}&gt; ... &lt;/form&gt;;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15 / 27</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Nested layouts in Next.js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layout.jsx in any segment wraps that segment's pages. children prop receives the next layer down.</a:t>
            </a:r>
            <a:endParaRPr lang="en-US" sz="1400" dirty="0"/>
          </a:p>
        </p:txBody>
      </p:sp>
      <p:sp>
        <p:nvSpPr>
          <p:cNvPr id="5" name="Shape 3"/>
          <p:cNvSpPr/>
          <p:nvPr/>
        </p:nvSpPr>
        <p:spPr>
          <a:xfrm>
            <a:off x="777240" y="1554480"/>
            <a:ext cx="10607040" cy="42062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93192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app/dashboard/layout.jsx</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200" dirty="0">
                <a:solidFill>
                  <a:srgbClr val="DCDCAA"/>
                </a:solidFill>
                <a:latin typeface="Courier New" pitchFamily="34" charset="0"/>
                <a:ea typeface="Courier New" pitchFamily="34" charset="-122"/>
                <a:cs typeface="Courier New" pitchFamily="34" charset="-120"/>
              </a:rPr>
              <a:t>DashboardLayout</a:t>
            </a:r>
            <a:pPr indent="0" marL="0">
              <a:buNone/>
            </a:pPr>
            <a:r>
              <a:rPr lang="en-US" sz="1200" dirty="0">
                <a:solidFill>
                  <a:srgbClr val="FFFFFF"/>
                </a:solidFill>
                <a:latin typeface="Courier New" pitchFamily="34" charset="0"/>
                <a:ea typeface="Courier New" pitchFamily="34" charset="-122"/>
                <a:cs typeface="Courier New" pitchFamily="34" charset="-120"/>
              </a:rPr>
              <a:t>({ children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&lt;div className=</a:t>
            </a:r>
            <a:pPr indent="0" marL="0">
              <a:buNone/>
            </a:pPr>
            <a:r>
              <a:rPr lang="en-US" sz="1200" dirty="0">
                <a:solidFill>
                  <a:srgbClr val="9CDCFE"/>
                </a:solidFill>
                <a:latin typeface="Courier New" pitchFamily="34" charset="0"/>
                <a:ea typeface="Courier New" pitchFamily="34" charset="-122"/>
                <a:cs typeface="Courier New" pitchFamily="34" charset="-120"/>
              </a:rPr>
              <a:t>'dashboard'</a:t>
            </a:r>
            <a:pPr indent="0" marL="0">
              <a:buNone/>
            </a:pPr>
            <a:r>
              <a:rPr lang="en-US" sz="1200" dirty="0">
                <a:solidFill>
                  <a:srgbClr val="FFFFFF"/>
                </a:solidFill>
                <a:latin typeface="Courier New" pitchFamily="34" charset="0"/>
                <a:ea typeface="Courier New" pitchFamily="34" charset="-122"/>
                <a:cs typeface="Courier New" pitchFamily="34" charset="-120"/>
              </a:rPr>
              <a:t>&gt;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&lt;Sidebar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&lt;main&gt;{children}&lt;/main&gt;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&lt;/div&gt;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/dashboard/reports renders DashboardLayout &gt; ReportsPage</a:t>
            </a: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/dashboard/settings renders DashboardLayout &gt; SettingsPage</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16 / 27</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Protected routes — middleware pattern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Next.js middleware runs before any route handler. Redirect there for auth.</a:t>
            </a:r>
            <a:endParaRPr lang="en-US" sz="1400" dirty="0"/>
          </a:p>
        </p:txBody>
      </p:sp>
      <p:sp>
        <p:nvSpPr>
          <p:cNvPr id="5" name="Shape 3"/>
          <p:cNvSpPr/>
          <p:nvPr/>
        </p:nvSpPr>
        <p:spPr>
          <a:xfrm>
            <a:off x="777240" y="1554480"/>
            <a:ext cx="10607040" cy="42062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93192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app/middleware.js</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import { NextResponse } from </a:t>
            </a:r>
            <a:pPr indent="0" marL="0">
              <a:buNone/>
            </a:pPr>
            <a:r>
              <a:rPr lang="en-US" sz="1200" dirty="0">
                <a:solidFill>
                  <a:srgbClr val="9CDCFE"/>
                </a:solidFill>
                <a:latin typeface="Courier New" pitchFamily="34" charset="0"/>
                <a:ea typeface="Courier New" pitchFamily="34" charset="-122"/>
                <a:cs typeface="Courier New" pitchFamily="34" charset="-120"/>
              </a:rPr>
              <a:t>'next/server'</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function </a:t>
            </a:r>
            <a:pPr indent="0" marL="0">
              <a:buNone/>
            </a:pPr>
            <a:r>
              <a:rPr lang="en-US" sz="1200" dirty="0">
                <a:solidFill>
                  <a:srgbClr val="DCDCAA"/>
                </a:solidFill>
                <a:latin typeface="Courier New" pitchFamily="34" charset="0"/>
                <a:ea typeface="Courier New" pitchFamily="34" charset="-122"/>
                <a:cs typeface="Courier New" pitchFamily="34" charset="-120"/>
              </a:rPr>
              <a:t>middleware</a:t>
            </a:r>
            <a:pPr indent="0" marL="0">
              <a:buNone/>
            </a:pPr>
            <a:r>
              <a:rPr lang="en-US" sz="1200" dirty="0">
                <a:solidFill>
                  <a:srgbClr val="FFFFFF"/>
                </a:solidFill>
                <a:latin typeface="Courier New" pitchFamily="34" charset="0"/>
                <a:ea typeface="Courier New" pitchFamily="34" charset="-122"/>
                <a:cs typeface="Courier New" pitchFamily="34" charset="-120"/>
              </a:rPr>
              <a:t>(request)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const token = request.cookies.get(</a:t>
            </a:r>
            <a:pPr indent="0" marL="0">
              <a:buNone/>
            </a:pPr>
            <a:r>
              <a:rPr lang="en-US" sz="1200" dirty="0">
                <a:solidFill>
                  <a:srgbClr val="9CDCFE"/>
                </a:solidFill>
                <a:latin typeface="Courier New" pitchFamily="34" charset="0"/>
                <a:ea typeface="Courier New" pitchFamily="34" charset="-122"/>
                <a:cs typeface="Courier New" pitchFamily="34" charset="-120"/>
              </a:rPr>
              <a:t>'session'</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if (!token)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url = request.nextUrl.clone();</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url.pathname = </a:t>
            </a:r>
            <a:pPr indent="0" marL="0">
              <a:buNone/>
            </a:pPr>
            <a:r>
              <a:rPr lang="en-US" sz="1200" dirty="0">
                <a:solidFill>
                  <a:srgbClr val="9CDCFE"/>
                </a:solidFill>
                <a:latin typeface="Courier New" pitchFamily="34" charset="0"/>
                <a:ea typeface="Courier New" pitchFamily="34" charset="-122"/>
                <a:cs typeface="Courier New" pitchFamily="34" charset="-120"/>
              </a:rPr>
              <a:t>'/login'</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NextResponse.redirect(url);</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const </a:t>
            </a:r>
            <a:pPr indent="0" marL="0">
              <a:buNone/>
            </a:pPr>
            <a:r>
              <a:rPr lang="en-US" sz="1200" dirty="0">
                <a:solidFill>
                  <a:srgbClr val="9CDCFE"/>
                </a:solidFill>
                <a:latin typeface="Courier New" pitchFamily="34" charset="0"/>
                <a:ea typeface="Courier New" pitchFamily="34" charset="-122"/>
                <a:cs typeface="Courier New" pitchFamily="34" charset="-120"/>
              </a:rPr>
              <a:t>config</a:t>
            </a:r>
            <a:pPr indent="0" marL="0">
              <a:buNone/>
            </a:pPr>
            <a:r>
              <a:rPr lang="en-US" sz="1200" dirty="0">
                <a:solidFill>
                  <a:srgbClr val="C586C0"/>
                </a:solidFill>
                <a:latin typeface="Courier New" pitchFamily="34" charset="0"/>
                <a:ea typeface="Courier New" pitchFamily="34" charset="-122"/>
                <a:cs typeface="Courier New" pitchFamily="34" charset="-120"/>
              </a:rPr>
              <a:t> = { matcher: [</a:t>
            </a:r>
            <a:pPr indent="0" marL="0">
              <a:buNone/>
            </a:pPr>
            <a:r>
              <a:rPr lang="en-US" sz="1200" dirty="0">
                <a:solidFill>
                  <a:srgbClr val="9CDCFE"/>
                </a:solidFill>
                <a:latin typeface="Courier New" pitchFamily="34" charset="0"/>
                <a:ea typeface="Courier New" pitchFamily="34" charset="-122"/>
                <a:cs typeface="Courier New" pitchFamily="34" charset="-120"/>
              </a:rPr>
              <a:t>'/dashboard/:path*'</a:t>
            </a:r>
            <a:pPr indent="0" marL="0">
              <a:buNone/>
            </a:pPr>
            <a:r>
              <a:rPr lang="en-US" sz="1200" dirty="0">
                <a:solidFill>
                  <a:srgbClr val="C586C0"/>
                </a:solidFill>
                <a:latin typeface="Courier New" pitchFamily="34" charset="0"/>
                <a:ea typeface="Courier New" pitchFamily="34" charset="-122"/>
                <a:cs typeface="Courier New" pitchFamily="34" charset="-120"/>
              </a:rPr>
              <a:t>, </a:t>
            </a:r>
            <a:pPr indent="0" marL="0">
              <a:buNone/>
            </a:pPr>
            <a:r>
              <a:rPr lang="en-US" sz="1200" dirty="0">
                <a:solidFill>
                  <a:srgbClr val="9CDCFE"/>
                </a:solidFill>
                <a:latin typeface="Courier New" pitchFamily="34" charset="0"/>
                <a:ea typeface="Courier New" pitchFamily="34" charset="-122"/>
                <a:cs typeface="Courier New" pitchFamily="34" charset="-120"/>
              </a:rPr>
              <a:t>'/account/:path*'</a:t>
            </a:r>
            <a:pPr indent="0" marL="0">
              <a:buNone/>
            </a:pPr>
            <a:r>
              <a:rPr lang="en-US" sz="1200" dirty="0">
                <a:solidFill>
                  <a:srgbClr val="C586C0"/>
                </a:solidFill>
                <a:latin typeface="Courier New" pitchFamily="34" charset="0"/>
                <a:ea typeface="Courier New" pitchFamily="34" charset="-122"/>
                <a:cs typeface="Courier New" pitchFamily="34" charset="-120"/>
              </a:rPr>
              <a:t>] };</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17 / 27</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18">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3</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Side-by-Side</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The same three tasks in both frameworks. The differences are smaller than you'd think.</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Same task — protected route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Redirect unauthenticated users to /login.</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300" b="1" dirty="0">
                <a:solidFill>
                  <a:srgbClr val="00B8D9"/>
                </a:solidFill>
                <a:latin typeface="Trebuchet MS" pitchFamily="34" charset="0"/>
                <a:ea typeface="Trebuchet MS" pitchFamily="34" charset="-122"/>
                <a:cs typeface="Trebuchet MS" pitchFamily="34" charset="-120"/>
              </a:rPr>
              <a:t>React Router v7</a:t>
            </a:r>
            <a:endParaRPr lang="en-US" sz="1300" dirty="0"/>
          </a:p>
        </p:txBody>
      </p:sp>
      <p:sp>
        <p:nvSpPr>
          <p:cNvPr id="6" name="Shape 4"/>
          <p:cNvSpPr/>
          <p:nvPr/>
        </p:nvSpPr>
        <p:spPr>
          <a:xfrm>
            <a:off x="777240" y="1920240"/>
            <a:ext cx="5349240" cy="4114800"/>
          </a:xfrm>
          <a:prstGeom prst="rect">
            <a:avLst/>
          </a:prstGeom>
          <a:solidFill>
            <a:srgbClr val="1E2A47"/>
          </a:solidFill>
          <a:ln w="12700">
            <a:solidFill>
              <a:srgbClr val="1E2A47"/>
            </a:solidFill>
            <a:prstDash val="solid"/>
          </a:ln>
        </p:spPr>
      </p:sp>
      <p:sp>
        <p:nvSpPr>
          <p:cNvPr id="7" name="Text 5"/>
          <p:cNvSpPr/>
          <p:nvPr/>
        </p:nvSpPr>
        <p:spPr>
          <a:xfrm>
            <a:off x="960120" y="2057400"/>
            <a:ext cx="4983480" cy="384048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routes/dashboard.jsx</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loader</a:t>
            </a:r>
            <a:pPr indent="0" marL="0">
              <a:buNone/>
            </a:pPr>
            <a:r>
              <a:rPr lang="en-US" sz="1200" dirty="0">
                <a:solidFill>
                  <a:srgbClr val="FFFFFF"/>
                </a:solidFill>
                <a:latin typeface="Courier New" pitchFamily="34" charset="0"/>
                <a:ea typeface="Courier New" pitchFamily="34" charset="-122"/>
                <a:cs typeface="Courier New" pitchFamily="34" charset="-120"/>
              </a:rPr>
              <a:t>({ request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user = await getUser(request);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if (!user) </a:t>
            </a:r>
            <a:pPr indent="0" marL="0">
              <a:buNone/>
            </a:pPr>
            <a:r>
              <a:rPr lang="en-US" sz="1200" dirty="0">
                <a:solidFill>
                  <a:srgbClr val="C586C0"/>
                </a:solidFill>
                <a:latin typeface="Courier New" pitchFamily="34" charset="0"/>
                <a:ea typeface="Courier New" pitchFamily="34" charset="-122"/>
                <a:cs typeface="Courier New" pitchFamily="34" charset="-120"/>
              </a:rPr>
              <a:t>throw redirect(</a:t>
            </a:r>
            <a:pPr indent="0" marL="0">
              <a:buNone/>
            </a:pPr>
            <a:r>
              <a:rPr lang="en-US" sz="1200" dirty="0">
                <a:solidFill>
                  <a:srgbClr val="9CDCFE"/>
                </a:solidFill>
                <a:latin typeface="Courier New" pitchFamily="34" charset="0"/>
                <a:ea typeface="Courier New" pitchFamily="34" charset="-122"/>
                <a:cs typeface="Courier New" pitchFamily="34" charset="-120"/>
              </a:rPr>
              <a:t>'/login'</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 user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200" dirty="0">
                <a:solidFill>
                  <a:srgbClr val="DCDCAA"/>
                </a:solidFill>
                <a:latin typeface="Courier New" pitchFamily="34" charset="0"/>
                <a:ea typeface="Courier New" pitchFamily="34" charset="-122"/>
                <a:cs typeface="Courier New" pitchFamily="34" charset="-120"/>
              </a:rPr>
              <a:t>Dashboard</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const { user } = </a:t>
            </a:r>
            <a:pPr indent="0" marL="0">
              <a:buNone/>
            </a:pPr>
            <a:r>
              <a:rPr lang="en-US" sz="1200" dirty="0">
                <a:solidFill>
                  <a:srgbClr val="DCDCAA"/>
                </a:solidFill>
                <a:latin typeface="Courier New" pitchFamily="34" charset="0"/>
                <a:ea typeface="Courier New" pitchFamily="34" charset="-122"/>
                <a:cs typeface="Courier New" pitchFamily="34" charset="-120"/>
              </a:rPr>
              <a:t>useLoaderData</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&lt;h1&gt;Hi, {user.name}&lt;/h1&gt;;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8" name="Text 6"/>
          <p:cNvSpPr/>
          <p:nvPr/>
        </p:nvSpPr>
        <p:spPr>
          <a:xfrm>
            <a:off x="6355080" y="1554480"/>
            <a:ext cx="5029200" cy="365760"/>
          </a:xfrm>
          <a:prstGeom prst="rect">
            <a:avLst/>
          </a:prstGeom>
          <a:noFill/>
          <a:ln/>
        </p:spPr>
        <p:txBody>
          <a:bodyPr wrap="square" lIns="0" tIns="0" rIns="0" bIns="0" rtlCol="0" anchor="ctr"/>
          <a:lstStyle/>
          <a:p>
            <a:pPr indent="0" marL="0">
              <a:buNone/>
            </a:pPr>
            <a:r>
              <a:rPr lang="en-US" sz="1300" b="1" dirty="0">
                <a:solidFill>
                  <a:srgbClr val="00B8D9"/>
                </a:solidFill>
                <a:latin typeface="Trebuchet MS" pitchFamily="34" charset="0"/>
                <a:ea typeface="Trebuchet MS" pitchFamily="34" charset="-122"/>
                <a:cs typeface="Trebuchet MS" pitchFamily="34" charset="-120"/>
              </a:rPr>
              <a:t>Next.js App Router</a:t>
            </a:r>
            <a:endParaRPr lang="en-US" sz="1300" dirty="0"/>
          </a:p>
        </p:txBody>
      </p:sp>
      <p:sp>
        <p:nvSpPr>
          <p:cNvPr id="9" name="Shape 7"/>
          <p:cNvSpPr/>
          <p:nvPr/>
        </p:nvSpPr>
        <p:spPr>
          <a:xfrm>
            <a:off x="6355080" y="1920240"/>
            <a:ext cx="5029200" cy="4114800"/>
          </a:xfrm>
          <a:prstGeom prst="rect">
            <a:avLst/>
          </a:prstGeom>
          <a:solidFill>
            <a:srgbClr val="1E2A47"/>
          </a:solidFill>
          <a:ln w="12700">
            <a:solidFill>
              <a:srgbClr val="1E2A47"/>
            </a:solidFill>
            <a:prstDash val="solid"/>
          </a:ln>
        </p:spPr>
      </p:sp>
      <p:sp>
        <p:nvSpPr>
          <p:cNvPr id="10" name="Text 8"/>
          <p:cNvSpPr/>
          <p:nvPr/>
        </p:nvSpPr>
        <p:spPr>
          <a:xfrm>
            <a:off x="6537960" y="2057400"/>
            <a:ext cx="4663440" cy="384048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middleware.js</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function </a:t>
            </a:r>
            <a:pPr indent="0" marL="0">
              <a:buNone/>
            </a:pPr>
            <a:r>
              <a:rPr lang="en-US" sz="1200" dirty="0">
                <a:solidFill>
                  <a:srgbClr val="DCDCAA"/>
                </a:solidFill>
                <a:latin typeface="Courier New" pitchFamily="34" charset="0"/>
                <a:ea typeface="Courier New" pitchFamily="34" charset="-122"/>
                <a:cs typeface="Courier New" pitchFamily="34" charset="-120"/>
              </a:rPr>
              <a:t>middleware</a:t>
            </a:r>
            <a:pPr indent="0" marL="0">
              <a:buNone/>
            </a:pPr>
            <a:r>
              <a:rPr lang="en-US" sz="1200" dirty="0">
                <a:solidFill>
                  <a:srgbClr val="FFFFFF"/>
                </a:solidFill>
                <a:latin typeface="Courier New" pitchFamily="34" charset="0"/>
                <a:ea typeface="Courier New" pitchFamily="34" charset="-122"/>
                <a:cs typeface="Courier New" pitchFamily="34" charset="-120"/>
              </a:rPr>
              <a:t>(request)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if (!request.cookies.get(</a:t>
            </a:r>
            <a:pPr indent="0" marL="0">
              <a:buNone/>
            </a:pPr>
            <a:r>
              <a:rPr lang="en-US" sz="1200" dirty="0">
                <a:solidFill>
                  <a:srgbClr val="9CDCFE"/>
                </a:solidFill>
                <a:latin typeface="Courier New" pitchFamily="34" charset="0"/>
                <a:ea typeface="Courier New" pitchFamily="34" charset="-122"/>
                <a:cs typeface="Courier New" pitchFamily="34" charset="-120"/>
              </a:rPr>
              <a:t>'session'</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return NextResponse.redirect(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new URL(</a:t>
            </a:r>
            <a:pPr indent="0" marL="0">
              <a:buNone/>
            </a:pPr>
            <a:r>
              <a:rPr lang="en-US" sz="1200" dirty="0">
                <a:solidFill>
                  <a:srgbClr val="9CDCFE"/>
                </a:solidFill>
                <a:latin typeface="Courier New" pitchFamily="34" charset="0"/>
                <a:ea typeface="Courier New" pitchFamily="34" charset="-122"/>
                <a:cs typeface="Courier New" pitchFamily="34" charset="-120"/>
              </a:rPr>
              <a:t>'/login'</a:t>
            </a:r>
            <a:pPr indent="0" marL="0">
              <a:buNone/>
            </a:pPr>
            <a:r>
              <a:rPr lang="en-US" sz="1200" dirty="0">
                <a:solidFill>
                  <a:srgbClr val="FFFFFF"/>
                </a:solidFill>
                <a:latin typeface="Courier New" pitchFamily="34" charset="0"/>
                <a:ea typeface="Courier New" pitchFamily="34" charset="-122"/>
                <a:cs typeface="Courier New" pitchFamily="34" charset="-120"/>
              </a:rPr>
              <a:t>, request.url));</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app/dashboard/page.jsx</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Dashboard</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user = await getUser();</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&lt;h1&gt;Hi, {user.name}&lt;/h1&gt;;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11"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12"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19 / 27</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Same task — load a post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Fetch by id, render, 404 on missing.</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300" b="1" dirty="0">
                <a:solidFill>
                  <a:srgbClr val="00B8D9"/>
                </a:solidFill>
                <a:latin typeface="Trebuchet MS" pitchFamily="34" charset="0"/>
                <a:ea typeface="Trebuchet MS" pitchFamily="34" charset="-122"/>
                <a:cs typeface="Trebuchet MS" pitchFamily="34" charset="-120"/>
              </a:rPr>
              <a:t>React Router v7</a:t>
            </a:r>
            <a:endParaRPr lang="en-US" sz="1300" dirty="0"/>
          </a:p>
        </p:txBody>
      </p:sp>
      <p:sp>
        <p:nvSpPr>
          <p:cNvPr id="6" name="Shape 4"/>
          <p:cNvSpPr/>
          <p:nvPr/>
        </p:nvSpPr>
        <p:spPr>
          <a:xfrm>
            <a:off x="777240" y="1920240"/>
            <a:ext cx="5349240" cy="4114800"/>
          </a:xfrm>
          <a:prstGeom prst="rect">
            <a:avLst/>
          </a:prstGeom>
          <a:solidFill>
            <a:srgbClr val="1E2A47"/>
          </a:solidFill>
          <a:ln w="12700">
            <a:solidFill>
              <a:srgbClr val="1E2A47"/>
            </a:solidFill>
            <a:prstDash val="solid"/>
          </a:ln>
        </p:spPr>
      </p:sp>
      <p:sp>
        <p:nvSpPr>
          <p:cNvPr id="7" name="Text 5"/>
          <p:cNvSpPr/>
          <p:nvPr/>
        </p:nvSpPr>
        <p:spPr>
          <a:xfrm>
            <a:off x="960120" y="2057400"/>
            <a:ext cx="4983480" cy="384048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routes/posts.$id.jsx</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loader</a:t>
            </a:r>
            <a:pPr indent="0" marL="0">
              <a:buNone/>
            </a:pPr>
            <a:r>
              <a:rPr lang="en-US" sz="1200" dirty="0">
                <a:solidFill>
                  <a:srgbClr val="FFFFFF"/>
                </a:solidFill>
                <a:latin typeface="Courier New" pitchFamily="34" charset="0"/>
                <a:ea typeface="Courier New" pitchFamily="34" charset="-122"/>
                <a:cs typeface="Courier New" pitchFamily="34" charset="-120"/>
              </a:rPr>
              <a:t>({ params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post = await db.posts</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.findById(params.id);</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if (!post) </a:t>
            </a:r>
            <a:pPr indent="0" marL="0">
              <a:buNone/>
            </a:pPr>
            <a:r>
              <a:rPr lang="en-US" sz="1200" dirty="0">
                <a:solidFill>
                  <a:srgbClr val="C586C0"/>
                </a:solidFill>
                <a:latin typeface="Courier New" pitchFamily="34" charset="0"/>
                <a:ea typeface="Courier New" pitchFamily="34" charset="-122"/>
                <a:cs typeface="Courier New" pitchFamily="34" charset="-120"/>
              </a:rPr>
              <a:t>throw new Response(</a:t>
            </a:r>
            <a:pPr indent="0" marL="0">
              <a:buNone/>
            </a:pPr>
            <a:r>
              <a:rPr lang="en-US" sz="1200" dirty="0">
                <a:solidFill>
                  <a:srgbClr val="9CDCFE"/>
                </a:solidFill>
                <a:latin typeface="Courier New" pitchFamily="34" charset="0"/>
                <a:ea typeface="Courier New" pitchFamily="34" charset="-122"/>
                <a:cs typeface="Courier New" pitchFamily="34" charset="-120"/>
              </a:rPr>
              <a:t>'', { status: 404 })</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 post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200" dirty="0">
                <a:solidFill>
                  <a:srgbClr val="DCDCAA"/>
                </a:solidFill>
                <a:latin typeface="Courier New" pitchFamily="34" charset="0"/>
                <a:ea typeface="Courier New" pitchFamily="34" charset="-122"/>
                <a:cs typeface="Courier New" pitchFamily="34" charset="-120"/>
              </a:rPr>
              <a:t>Post</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const { post } = </a:t>
            </a:r>
            <a:pPr indent="0" marL="0">
              <a:buNone/>
            </a:pPr>
            <a:r>
              <a:rPr lang="en-US" sz="1200" dirty="0">
                <a:solidFill>
                  <a:srgbClr val="DCDCAA"/>
                </a:solidFill>
                <a:latin typeface="Courier New" pitchFamily="34" charset="0"/>
                <a:ea typeface="Courier New" pitchFamily="34" charset="-122"/>
                <a:cs typeface="Courier New" pitchFamily="34" charset="-120"/>
              </a:rPr>
              <a:t>useLoaderData</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&lt;Article post={post}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8" name="Text 6"/>
          <p:cNvSpPr/>
          <p:nvPr/>
        </p:nvSpPr>
        <p:spPr>
          <a:xfrm>
            <a:off x="6355080" y="1554480"/>
            <a:ext cx="5029200" cy="365760"/>
          </a:xfrm>
          <a:prstGeom prst="rect">
            <a:avLst/>
          </a:prstGeom>
          <a:noFill/>
          <a:ln/>
        </p:spPr>
        <p:txBody>
          <a:bodyPr wrap="square" lIns="0" tIns="0" rIns="0" bIns="0" rtlCol="0" anchor="ctr"/>
          <a:lstStyle/>
          <a:p>
            <a:pPr indent="0" marL="0">
              <a:buNone/>
            </a:pPr>
            <a:r>
              <a:rPr lang="en-US" sz="1300" b="1" dirty="0">
                <a:solidFill>
                  <a:srgbClr val="00B8D9"/>
                </a:solidFill>
                <a:latin typeface="Trebuchet MS" pitchFamily="34" charset="0"/>
                <a:ea typeface="Trebuchet MS" pitchFamily="34" charset="-122"/>
                <a:cs typeface="Trebuchet MS" pitchFamily="34" charset="-120"/>
              </a:rPr>
              <a:t>Next.js App Router</a:t>
            </a:r>
            <a:endParaRPr lang="en-US" sz="1300" dirty="0"/>
          </a:p>
        </p:txBody>
      </p:sp>
      <p:sp>
        <p:nvSpPr>
          <p:cNvPr id="9" name="Shape 7"/>
          <p:cNvSpPr/>
          <p:nvPr/>
        </p:nvSpPr>
        <p:spPr>
          <a:xfrm>
            <a:off x="6355080" y="1920240"/>
            <a:ext cx="5029200" cy="4114800"/>
          </a:xfrm>
          <a:prstGeom prst="rect">
            <a:avLst/>
          </a:prstGeom>
          <a:solidFill>
            <a:srgbClr val="1E2A47"/>
          </a:solidFill>
          <a:ln w="12700">
            <a:solidFill>
              <a:srgbClr val="1E2A47"/>
            </a:solidFill>
            <a:prstDash val="solid"/>
          </a:ln>
        </p:spPr>
      </p:sp>
      <p:sp>
        <p:nvSpPr>
          <p:cNvPr id="10" name="Text 8"/>
          <p:cNvSpPr/>
          <p:nvPr/>
        </p:nvSpPr>
        <p:spPr>
          <a:xfrm>
            <a:off x="6537960" y="2057400"/>
            <a:ext cx="4663440" cy="384048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app/posts/[id]/page.jsx</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import { notFound } from </a:t>
            </a:r>
            <a:pPr indent="0" marL="0">
              <a:buNone/>
            </a:pPr>
            <a:r>
              <a:rPr lang="en-US" sz="1200" dirty="0">
                <a:solidFill>
                  <a:srgbClr val="9CDCFE"/>
                </a:solidFill>
                <a:latin typeface="Courier New" pitchFamily="34" charset="0"/>
                <a:ea typeface="Courier New" pitchFamily="34" charset="-122"/>
                <a:cs typeface="Courier New" pitchFamily="34" charset="-120"/>
              </a:rPr>
              <a:t>'next/navigation'</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Post</a:t>
            </a:r>
            <a:pPr indent="0" marL="0">
              <a:buNone/>
            </a:pPr>
            <a:r>
              <a:rPr lang="en-US" sz="1200" dirty="0">
                <a:solidFill>
                  <a:srgbClr val="FFFFFF"/>
                </a:solidFill>
                <a:latin typeface="Courier New" pitchFamily="34" charset="0"/>
                <a:ea typeface="Courier New" pitchFamily="34" charset="-122"/>
                <a:cs typeface="Courier New" pitchFamily="34" charset="-120"/>
              </a:rPr>
              <a:t>({ params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post = await db.posts</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.findById(params.id);</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if (!post) </a:t>
            </a:r>
            <a:pPr indent="0" marL="0">
              <a:buNone/>
            </a:pPr>
            <a:r>
              <a:rPr lang="en-US" sz="1200" dirty="0">
                <a:solidFill>
                  <a:srgbClr val="DCDCAA"/>
                </a:solidFill>
                <a:latin typeface="Courier New" pitchFamily="34" charset="0"/>
                <a:ea typeface="Courier New" pitchFamily="34" charset="-122"/>
                <a:cs typeface="Courier New" pitchFamily="34" charset="-120"/>
              </a:rPr>
              <a:t>notFound</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&lt;Article post={post}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11"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12"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20 / 27</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Same task — create a post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Form submits to the server, redirects on success.</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300" b="1" dirty="0">
                <a:solidFill>
                  <a:srgbClr val="00B8D9"/>
                </a:solidFill>
                <a:latin typeface="Trebuchet MS" pitchFamily="34" charset="0"/>
                <a:ea typeface="Trebuchet MS" pitchFamily="34" charset="-122"/>
                <a:cs typeface="Trebuchet MS" pitchFamily="34" charset="-120"/>
              </a:rPr>
              <a:t>React Router v7</a:t>
            </a:r>
            <a:endParaRPr lang="en-US" sz="1300" dirty="0"/>
          </a:p>
        </p:txBody>
      </p:sp>
      <p:sp>
        <p:nvSpPr>
          <p:cNvPr id="6" name="Shape 4"/>
          <p:cNvSpPr/>
          <p:nvPr/>
        </p:nvSpPr>
        <p:spPr>
          <a:xfrm>
            <a:off x="777240" y="1920240"/>
            <a:ext cx="5349240" cy="4114800"/>
          </a:xfrm>
          <a:prstGeom prst="rect">
            <a:avLst/>
          </a:prstGeom>
          <a:solidFill>
            <a:srgbClr val="1E2A47"/>
          </a:solidFill>
          <a:ln w="12700">
            <a:solidFill>
              <a:srgbClr val="1E2A47"/>
            </a:solidFill>
            <a:prstDash val="solid"/>
          </a:ln>
        </p:spPr>
      </p:sp>
      <p:sp>
        <p:nvSpPr>
          <p:cNvPr id="7" name="Text 5"/>
          <p:cNvSpPr/>
          <p:nvPr/>
        </p:nvSpPr>
        <p:spPr>
          <a:xfrm>
            <a:off x="960120" y="2057400"/>
            <a:ext cx="4983480" cy="384048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routes/posts.new.jsx</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action</a:t>
            </a:r>
            <a:pPr indent="0" marL="0">
              <a:buNone/>
            </a:pPr>
            <a:r>
              <a:rPr lang="en-US" sz="1200" dirty="0">
                <a:solidFill>
                  <a:srgbClr val="FFFFFF"/>
                </a:solidFill>
                <a:latin typeface="Courier New" pitchFamily="34" charset="0"/>
                <a:ea typeface="Courier New" pitchFamily="34" charset="-122"/>
                <a:cs typeface="Courier New" pitchFamily="34" charset="-120"/>
              </a:rPr>
              <a:t>({ request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fd = await request.formData();</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post = await db.posts.create({</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title: fd.get(</a:t>
            </a:r>
            <a:pPr indent="0" marL="0">
              <a:buNone/>
            </a:pPr>
            <a:r>
              <a:rPr lang="en-US" sz="1200" dirty="0">
                <a:solidFill>
                  <a:srgbClr val="9CDCFE"/>
                </a:solidFill>
                <a:latin typeface="Courier New" pitchFamily="34" charset="0"/>
                <a:ea typeface="Courier New" pitchFamily="34" charset="-122"/>
                <a:cs typeface="Courier New" pitchFamily="34" charset="-120"/>
              </a:rPr>
              <a:t>'title'</a:t>
            </a:r>
            <a:pPr indent="0" marL="0">
              <a:buNone/>
            </a:pPr>
            <a:r>
              <a:rPr lang="en-US" sz="1200" dirty="0">
                <a:solidFill>
                  <a:srgbClr val="C586C0"/>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return </a:t>
            </a:r>
            <a:pPr indent="0" marL="0">
              <a:buNone/>
            </a:pPr>
            <a:r>
              <a:rPr lang="en-US" sz="1200" dirty="0">
                <a:solidFill>
                  <a:srgbClr val="DCDCAA"/>
                </a:solidFill>
                <a:latin typeface="Courier New" pitchFamily="34" charset="0"/>
                <a:ea typeface="Courier New" pitchFamily="34" charset="-122"/>
                <a:cs typeface="Courier New" pitchFamily="34" charset="-120"/>
              </a:rPr>
              <a:t>redirect</a:t>
            </a:r>
            <a:pPr indent="0" marL="0">
              <a:buNone/>
            </a:pPr>
            <a:r>
              <a:rPr lang="en-US" sz="1200" dirty="0">
                <a:solidFill>
                  <a:srgbClr val="FFFFFF"/>
                </a:solidFill>
                <a:latin typeface="Courier New" pitchFamily="34" charset="0"/>
                <a:ea typeface="Courier New" pitchFamily="34" charset="-122"/>
                <a:cs typeface="Courier New" pitchFamily="34" charset="-120"/>
              </a:rPr>
              <a:t>(`/posts/${post.id}`);</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200" dirty="0">
                <a:solidFill>
                  <a:srgbClr val="DCDCAA"/>
                </a:solidFill>
                <a:latin typeface="Courier New" pitchFamily="34" charset="0"/>
                <a:ea typeface="Courier New" pitchFamily="34" charset="-122"/>
                <a:cs typeface="Courier New" pitchFamily="34" charset="-120"/>
              </a:rPr>
              <a:t>NewPost</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&lt;Form method='post'&gt;...&lt;/Form&gt;;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8" name="Text 6"/>
          <p:cNvSpPr/>
          <p:nvPr/>
        </p:nvSpPr>
        <p:spPr>
          <a:xfrm>
            <a:off x="6355080" y="1554480"/>
            <a:ext cx="5029200" cy="365760"/>
          </a:xfrm>
          <a:prstGeom prst="rect">
            <a:avLst/>
          </a:prstGeom>
          <a:noFill/>
          <a:ln/>
        </p:spPr>
        <p:txBody>
          <a:bodyPr wrap="square" lIns="0" tIns="0" rIns="0" bIns="0" rtlCol="0" anchor="ctr"/>
          <a:lstStyle/>
          <a:p>
            <a:pPr indent="0" marL="0">
              <a:buNone/>
            </a:pPr>
            <a:r>
              <a:rPr lang="en-US" sz="1300" b="1" dirty="0">
                <a:solidFill>
                  <a:srgbClr val="00B8D9"/>
                </a:solidFill>
                <a:latin typeface="Trebuchet MS" pitchFamily="34" charset="0"/>
                <a:ea typeface="Trebuchet MS" pitchFamily="34" charset="-122"/>
                <a:cs typeface="Trebuchet MS" pitchFamily="34" charset="-120"/>
              </a:rPr>
              <a:t>Next.js App Router</a:t>
            </a:r>
            <a:endParaRPr lang="en-US" sz="1300" dirty="0"/>
          </a:p>
        </p:txBody>
      </p:sp>
      <p:sp>
        <p:nvSpPr>
          <p:cNvPr id="9" name="Shape 7"/>
          <p:cNvSpPr/>
          <p:nvPr/>
        </p:nvSpPr>
        <p:spPr>
          <a:xfrm>
            <a:off x="6355080" y="1920240"/>
            <a:ext cx="5029200" cy="4114800"/>
          </a:xfrm>
          <a:prstGeom prst="rect">
            <a:avLst/>
          </a:prstGeom>
          <a:solidFill>
            <a:srgbClr val="1E2A47"/>
          </a:solidFill>
          <a:ln w="12700">
            <a:solidFill>
              <a:srgbClr val="1E2A47"/>
            </a:solidFill>
            <a:prstDash val="solid"/>
          </a:ln>
        </p:spPr>
      </p:sp>
      <p:sp>
        <p:nvSpPr>
          <p:cNvPr id="10" name="Text 8"/>
          <p:cNvSpPr/>
          <p:nvPr/>
        </p:nvSpPr>
        <p:spPr>
          <a:xfrm>
            <a:off x="6537960" y="2057400"/>
            <a:ext cx="4663440" cy="384048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app/posts/new/page.jsx</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createPost</a:t>
            </a:r>
            <a:pPr indent="0" marL="0">
              <a:buNone/>
            </a:pPr>
            <a:r>
              <a:rPr lang="en-US" sz="1200" dirty="0">
                <a:solidFill>
                  <a:srgbClr val="FFFFFF"/>
                </a:solidFill>
                <a:latin typeface="Courier New" pitchFamily="34" charset="0"/>
                <a:ea typeface="Courier New" pitchFamily="34" charset="-122"/>
                <a:cs typeface="Courier New" pitchFamily="34" charset="-120"/>
              </a:rPr>
              <a:t>(fd)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9CDCFE"/>
                </a:solidFill>
                <a:latin typeface="Courier New" pitchFamily="34" charset="0"/>
                <a:ea typeface="Courier New" pitchFamily="34" charset="-122"/>
                <a:cs typeface="Courier New" pitchFamily="34" charset="-120"/>
              </a:rPr>
              <a:t>'use server'</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post = await db.posts.create({</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title: fd.get(</a:t>
            </a:r>
            <a:pPr indent="0" marL="0">
              <a:buNone/>
            </a:pPr>
            <a:r>
              <a:rPr lang="en-US" sz="1200" dirty="0">
                <a:solidFill>
                  <a:srgbClr val="9CDCFE"/>
                </a:solidFill>
                <a:latin typeface="Courier New" pitchFamily="34" charset="0"/>
                <a:ea typeface="Courier New" pitchFamily="34" charset="-122"/>
                <a:cs typeface="Courier New" pitchFamily="34" charset="-120"/>
              </a:rPr>
              <a:t>'title'</a:t>
            </a:r>
            <a:pPr indent="0" marL="0">
              <a:buNone/>
            </a:pPr>
            <a:r>
              <a:rPr lang="en-US" sz="1200" dirty="0">
                <a:solidFill>
                  <a:srgbClr val="C586C0"/>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a:t>
            </a:r>
            <a:pPr indent="0" marL="0">
              <a:buNone/>
            </a:pPr>
            <a:r>
              <a:rPr lang="en-US" sz="1200" dirty="0">
                <a:solidFill>
                  <a:srgbClr val="DCDCAA"/>
                </a:solidFill>
                <a:latin typeface="Courier New" pitchFamily="34" charset="0"/>
                <a:ea typeface="Courier New" pitchFamily="34" charset="-122"/>
                <a:cs typeface="Courier New" pitchFamily="34" charset="-120"/>
              </a:rPr>
              <a:t>redirect</a:t>
            </a:r>
            <a:pPr indent="0" marL="0">
              <a:buNone/>
            </a:pPr>
            <a:r>
              <a:rPr lang="en-US" sz="1200" dirty="0">
                <a:solidFill>
                  <a:srgbClr val="FFFFFF"/>
                </a:solidFill>
                <a:latin typeface="Courier New" pitchFamily="34" charset="0"/>
                <a:ea typeface="Courier New" pitchFamily="34" charset="-122"/>
                <a:cs typeface="Courier New" pitchFamily="34" charset="-120"/>
              </a:rPr>
              <a:t>(`/posts/${post.id}`);</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200" dirty="0">
                <a:solidFill>
                  <a:srgbClr val="DCDCAA"/>
                </a:solidFill>
                <a:latin typeface="Courier New" pitchFamily="34" charset="0"/>
                <a:ea typeface="Courier New" pitchFamily="34" charset="-122"/>
                <a:cs typeface="Courier New" pitchFamily="34" charset="-120"/>
              </a:rPr>
              <a:t>NewPost</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&lt;form action={createPost}&gt;...&lt;/form&gt;;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11"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12"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21 / 27</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Ergonomics scorecard</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Same outcomes, different sensibilities.</a:t>
            </a:r>
            <a:endParaRPr lang="en-US" sz="1400" dirty="0"/>
          </a:p>
        </p:txBody>
      </p:sp>
      <p:sp>
        <p:nvSpPr>
          <p:cNvPr id="5" name="Shape 3"/>
          <p:cNvSpPr/>
          <p:nvPr/>
        </p:nvSpPr>
        <p:spPr>
          <a:xfrm>
            <a:off x="777240" y="1691640"/>
            <a:ext cx="10607040" cy="566928"/>
          </a:xfrm>
          <a:prstGeom prst="rect">
            <a:avLst/>
          </a:prstGeom>
          <a:solidFill>
            <a:srgbClr val="FFFFFF"/>
          </a:solidFill>
          <a:ln w="12700">
            <a:solidFill>
              <a:srgbClr val="E2E8F0"/>
            </a:solidFill>
            <a:prstDash val="solid"/>
          </a:ln>
        </p:spPr>
      </p:sp>
      <p:sp>
        <p:nvSpPr>
          <p:cNvPr id="6" name="Text 4"/>
          <p:cNvSpPr/>
          <p:nvPr/>
        </p:nvSpPr>
        <p:spPr>
          <a:xfrm>
            <a:off x="914400" y="1737360"/>
            <a:ext cx="3108960" cy="502920"/>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File-based routes</a:t>
            </a:r>
            <a:endParaRPr lang="en-US" sz="1150" dirty="0"/>
          </a:p>
        </p:txBody>
      </p:sp>
      <p:sp>
        <p:nvSpPr>
          <p:cNvPr id="7" name="Text 5"/>
          <p:cNvSpPr/>
          <p:nvPr/>
        </p:nvSpPr>
        <p:spPr>
          <a:xfrm>
            <a:off x="4114800" y="1737360"/>
            <a:ext cx="36576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Yes (config or convention)</a:t>
            </a:r>
            <a:endParaRPr lang="en-US" sz="1100" dirty="0"/>
          </a:p>
        </p:txBody>
      </p:sp>
      <p:sp>
        <p:nvSpPr>
          <p:cNvPr id="8" name="Text 6"/>
          <p:cNvSpPr/>
          <p:nvPr/>
        </p:nvSpPr>
        <p:spPr>
          <a:xfrm>
            <a:off x="7863840" y="1737360"/>
            <a:ext cx="338328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Yes (folder convention)</a:t>
            </a:r>
            <a:endParaRPr lang="en-US" sz="1100" dirty="0"/>
          </a:p>
        </p:txBody>
      </p:sp>
      <p:sp>
        <p:nvSpPr>
          <p:cNvPr id="9" name="Shape 7"/>
          <p:cNvSpPr/>
          <p:nvPr/>
        </p:nvSpPr>
        <p:spPr>
          <a:xfrm>
            <a:off x="777240" y="2331720"/>
            <a:ext cx="10607040" cy="566928"/>
          </a:xfrm>
          <a:prstGeom prst="rect">
            <a:avLst/>
          </a:prstGeom>
          <a:solidFill>
            <a:srgbClr val="F8FAFC"/>
          </a:solidFill>
          <a:ln w="12700">
            <a:solidFill>
              <a:srgbClr val="E2E8F0"/>
            </a:solidFill>
            <a:prstDash val="solid"/>
          </a:ln>
        </p:spPr>
      </p:sp>
      <p:sp>
        <p:nvSpPr>
          <p:cNvPr id="10" name="Text 8"/>
          <p:cNvSpPr/>
          <p:nvPr/>
        </p:nvSpPr>
        <p:spPr>
          <a:xfrm>
            <a:off x="914400" y="2377440"/>
            <a:ext cx="3108960" cy="502920"/>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Server data loading</a:t>
            </a:r>
            <a:endParaRPr lang="en-US" sz="1150" dirty="0"/>
          </a:p>
        </p:txBody>
      </p:sp>
      <p:sp>
        <p:nvSpPr>
          <p:cNvPr id="11" name="Text 9"/>
          <p:cNvSpPr/>
          <p:nvPr/>
        </p:nvSpPr>
        <p:spPr>
          <a:xfrm>
            <a:off x="4114800" y="2377440"/>
            <a:ext cx="36576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loader export</a:t>
            </a:r>
            <a:endParaRPr lang="en-US" sz="1100" dirty="0"/>
          </a:p>
        </p:txBody>
      </p:sp>
      <p:sp>
        <p:nvSpPr>
          <p:cNvPr id="12" name="Text 10"/>
          <p:cNvSpPr/>
          <p:nvPr/>
        </p:nvSpPr>
        <p:spPr>
          <a:xfrm>
            <a:off x="7863840" y="2377440"/>
            <a:ext cx="338328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async page component</a:t>
            </a:r>
            <a:endParaRPr lang="en-US" sz="1100" dirty="0"/>
          </a:p>
        </p:txBody>
      </p:sp>
      <p:sp>
        <p:nvSpPr>
          <p:cNvPr id="13" name="Shape 11"/>
          <p:cNvSpPr/>
          <p:nvPr/>
        </p:nvSpPr>
        <p:spPr>
          <a:xfrm>
            <a:off x="777240" y="2971800"/>
            <a:ext cx="10607040" cy="566928"/>
          </a:xfrm>
          <a:prstGeom prst="rect">
            <a:avLst/>
          </a:prstGeom>
          <a:solidFill>
            <a:srgbClr val="FFFFFF"/>
          </a:solidFill>
          <a:ln w="12700">
            <a:solidFill>
              <a:srgbClr val="E2E8F0"/>
            </a:solidFill>
            <a:prstDash val="solid"/>
          </a:ln>
        </p:spPr>
      </p:sp>
      <p:sp>
        <p:nvSpPr>
          <p:cNvPr id="14" name="Text 12"/>
          <p:cNvSpPr/>
          <p:nvPr/>
        </p:nvSpPr>
        <p:spPr>
          <a:xfrm>
            <a:off x="914400" y="3017520"/>
            <a:ext cx="3108960" cy="502920"/>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Server mutations</a:t>
            </a:r>
            <a:endParaRPr lang="en-US" sz="1150" dirty="0"/>
          </a:p>
        </p:txBody>
      </p:sp>
      <p:sp>
        <p:nvSpPr>
          <p:cNvPr id="15" name="Text 13"/>
          <p:cNvSpPr/>
          <p:nvPr/>
        </p:nvSpPr>
        <p:spPr>
          <a:xfrm>
            <a:off x="4114800" y="3017520"/>
            <a:ext cx="36576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action export + &lt;Form&gt;</a:t>
            </a:r>
            <a:endParaRPr lang="en-US" sz="1100" dirty="0"/>
          </a:p>
        </p:txBody>
      </p:sp>
      <p:sp>
        <p:nvSpPr>
          <p:cNvPr id="16" name="Text 14"/>
          <p:cNvSpPr/>
          <p:nvPr/>
        </p:nvSpPr>
        <p:spPr>
          <a:xfrm>
            <a:off x="7863840" y="3017520"/>
            <a:ext cx="338328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'use server' fn + &lt;form action&gt;</a:t>
            </a:r>
            <a:endParaRPr lang="en-US" sz="1100" dirty="0"/>
          </a:p>
        </p:txBody>
      </p:sp>
      <p:sp>
        <p:nvSpPr>
          <p:cNvPr id="17" name="Shape 15"/>
          <p:cNvSpPr/>
          <p:nvPr/>
        </p:nvSpPr>
        <p:spPr>
          <a:xfrm>
            <a:off x="777240" y="3611880"/>
            <a:ext cx="10607040" cy="566928"/>
          </a:xfrm>
          <a:prstGeom prst="rect">
            <a:avLst/>
          </a:prstGeom>
          <a:solidFill>
            <a:srgbClr val="F8FAFC"/>
          </a:solidFill>
          <a:ln w="12700">
            <a:solidFill>
              <a:srgbClr val="E2E8F0"/>
            </a:solidFill>
            <a:prstDash val="solid"/>
          </a:ln>
        </p:spPr>
      </p:sp>
      <p:sp>
        <p:nvSpPr>
          <p:cNvPr id="18" name="Text 16"/>
          <p:cNvSpPr/>
          <p:nvPr/>
        </p:nvSpPr>
        <p:spPr>
          <a:xfrm>
            <a:off x="914400" y="3657600"/>
            <a:ext cx="3108960" cy="502920"/>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Route protection</a:t>
            </a:r>
            <a:endParaRPr lang="en-US" sz="1150" dirty="0"/>
          </a:p>
        </p:txBody>
      </p:sp>
      <p:sp>
        <p:nvSpPr>
          <p:cNvPr id="19" name="Text 17"/>
          <p:cNvSpPr/>
          <p:nvPr/>
        </p:nvSpPr>
        <p:spPr>
          <a:xfrm>
            <a:off x="4114800" y="3657600"/>
            <a:ext cx="36576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redirect from loader</a:t>
            </a:r>
            <a:endParaRPr lang="en-US" sz="1100" dirty="0"/>
          </a:p>
        </p:txBody>
      </p:sp>
      <p:sp>
        <p:nvSpPr>
          <p:cNvPr id="20" name="Text 18"/>
          <p:cNvSpPr/>
          <p:nvPr/>
        </p:nvSpPr>
        <p:spPr>
          <a:xfrm>
            <a:off x="7863840" y="3657600"/>
            <a:ext cx="338328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middleware.js + matcher config</a:t>
            </a:r>
            <a:endParaRPr lang="en-US" sz="1100" dirty="0"/>
          </a:p>
        </p:txBody>
      </p:sp>
      <p:sp>
        <p:nvSpPr>
          <p:cNvPr id="21" name="Shape 19"/>
          <p:cNvSpPr/>
          <p:nvPr/>
        </p:nvSpPr>
        <p:spPr>
          <a:xfrm>
            <a:off x="777240" y="4251960"/>
            <a:ext cx="10607040" cy="566928"/>
          </a:xfrm>
          <a:prstGeom prst="rect">
            <a:avLst/>
          </a:prstGeom>
          <a:solidFill>
            <a:srgbClr val="FFFFFF"/>
          </a:solidFill>
          <a:ln w="12700">
            <a:solidFill>
              <a:srgbClr val="E2E8F0"/>
            </a:solidFill>
            <a:prstDash val="solid"/>
          </a:ln>
        </p:spPr>
      </p:sp>
      <p:sp>
        <p:nvSpPr>
          <p:cNvPr id="22" name="Text 20"/>
          <p:cNvSpPr/>
          <p:nvPr/>
        </p:nvSpPr>
        <p:spPr>
          <a:xfrm>
            <a:off x="914400" y="4297680"/>
            <a:ext cx="3108960" cy="502920"/>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Layouts</a:t>
            </a:r>
            <a:endParaRPr lang="en-US" sz="1150" dirty="0"/>
          </a:p>
        </p:txBody>
      </p:sp>
      <p:sp>
        <p:nvSpPr>
          <p:cNvPr id="23" name="Text 21"/>
          <p:cNvSpPr/>
          <p:nvPr/>
        </p:nvSpPr>
        <p:spPr>
          <a:xfrm>
            <a:off x="4114800" y="4297680"/>
            <a:ext cx="36576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Outlet + routes config</a:t>
            </a:r>
            <a:endParaRPr lang="en-US" sz="1100" dirty="0"/>
          </a:p>
        </p:txBody>
      </p:sp>
      <p:sp>
        <p:nvSpPr>
          <p:cNvPr id="24" name="Text 22"/>
          <p:cNvSpPr/>
          <p:nvPr/>
        </p:nvSpPr>
        <p:spPr>
          <a:xfrm>
            <a:off x="7863840" y="4297680"/>
            <a:ext cx="338328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layout.jsx convention</a:t>
            </a:r>
            <a:endParaRPr lang="en-US" sz="1100" dirty="0"/>
          </a:p>
        </p:txBody>
      </p:sp>
      <p:sp>
        <p:nvSpPr>
          <p:cNvPr id="25" name="Shape 23"/>
          <p:cNvSpPr/>
          <p:nvPr/>
        </p:nvSpPr>
        <p:spPr>
          <a:xfrm>
            <a:off x="777240" y="4892040"/>
            <a:ext cx="10607040" cy="566928"/>
          </a:xfrm>
          <a:prstGeom prst="rect">
            <a:avLst/>
          </a:prstGeom>
          <a:solidFill>
            <a:srgbClr val="F8FAFC"/>
          </a:solidFill>
          <a:ln w="12700">
            <a:solidFill>
              <a:srgbClr val="E2E8F0"/>
            </a:solidFill>
            <a:prstDash val="solid"/>
          </a:ln>
        </p:spPr>
      </p:sp>
      <p:sp>
        <p:nvSpPr>
          <p:cNvPr id="26" name="Text 24"/>
          <p:cNvSpPr/>
          <p:nvPr/>
        </p:nvSpPr>
        <p:spPr>
          <a:xfrm>
            <a:off x="914400" y="4937760"/>
            <a:ext cx="3108960" cy="502920"/>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Server Components</a:t>
            </a:r>
            <a:endParaRPr lang="en-US" sz="1150" dirty="0"/>
          </a:p>
        </p:txBody>
      </p:sp>
      <p:sp>
        <p:nvSpPr>
          <p:cNvPr id="27" name="Text 25"/>
          <p:cNvSpPr/>
          <p:nvPr/>
        </p:nvSpPr>
        <p:spPr>
          <a:xfrm>
            <a:off x="4114800" y="4937760"/>
            <a:ext cx="36576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Supported, opt-in</a:t>
            </a:r>
            <a:endParaRPr lang="en-US" sz="1100" dirty="0"/>
          </a:p>
        </p:txBody>
      </p:sp>
      <p:sp>
        <p:nvSpPr>
          <p:cNvPr id="28" name="Text 26"/>
          <p:cNvSpPr/>
          <p:nvPr/>
        </p:nvSpPr>
        <p:spPr>
          <a:xfrm>
            <a:off x="7863840" y="4937760"/>
            <a:ext cx="338328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Default, opt-out with 'use client'</a:t>
            </a:r>
            <a:endParaRPr lang="en-US" sz="1100" dirty="0"/>
          </a:p>
        </p:txBody>
      </p:sp>
      <p:sp>
        <p:nvSpPr>
          <p:cNvPr id="29" name="Shape 27"/>
          <p:cNvSpPr/>
          <p:nvPr/>
        </p:nvSpPr>
        <p:spPr>
          <a:xfrm>
            <a:off x="777240" y="5532120"/>
            <a:ext cx="10607040" cy="566928"/>
          </a:xfrm>
          <a:prstGeom prst="rect">
            <a:avLst/>
          </a:prstGeom>
          <a:solidFill>
            <a:srgbClr val="FFFFFF"/>
          </a:solidFill>
          <a:ln w="12700">
            <a:solidFill>
              <a:srgbClr val="E2E8F0"/>
            </a:solidFill>
            <a:prstDash val="solid"/>
          </a:ln>
        </p:spPr>
      </p:sp>
      <p:sp>
        <p:nvSpPr>
          <p:cNvPr id="30" name="Text 28"/>
          <p:cNvSpPr/>
          <p:nvPr/>
        </p:nvSpPr>
        <p:spPr>
          <a:xfrm>
            <a:off x="914400" y="5577840"/>
            <a:ext cx="3108960" cy="502920"/>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Deploy story</a:t>
            </a:r>
            <a:endParaRPr lang="en-US" sz="1150" dirty="0"/>
          </a:p>
        </p:txBody>
      </p:sp>
      <p:sp>
        <p:nvSpPr>
          <p:cNvPr id="31" name="Text 29"/>
          <p:cNvSpPr/>
          <p:nvPr/>
        </p:nvSpPr>
        <p:spPr>
          <a:xfrm>
            <a:off x="4114800" y="5577840"/>
            <a:ext cx="365760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Any Node host</a:t>
            </a:r>
            <a:endParaRPr lang="en-US" sz="1100" dirty="0"/>
          </a:p>
        </p:txBody>
      </p:sp>
      <p:sp>
        <p:nvSpPr>
          <p:cNvPr id="32" name="Text 30"/>
          <p:cNvSpPr/>
          <p:nvPr/>
        </p:nvSpPr>
        <p:spPr>
          <a:xfrm>
            <a:off x="7863840" y="5577840"/>
            <a:ext cx="338328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Vercel-flavored, runs elsewhere</a:t>
            </a:r>
            <a:endParaRPr lang="en-US" sz="1100" dirty="0"/>
          </a:p>
        </p:txBody>
      </p:sp>
      <p:sp>
        <p:nvSpPr>
          <p:cNvPr id="33" name="Shape 31"/>
          <p:cNvSpPr/>
          <p:nvPr/>
        </p:nvSpPr>
        <p:spPr>
          <a:xfrm>
            <a:off x="777240" y="1325880"/>
            <a:ext cx="10607040" cy="365760"/>
          </a:xfrm>
          <a:prstGeom prst="rect">
            <a:avLst/>
          </a:prstGeom>
          <a:solidFill>
            <a:srgbClr val="1E2A47"/>
          </a:solidFill>
          <a:ln w="12700">
            <a:solidFill>
              <a:srgbClr val="1E2A47"/>
            </a:solidFill>
            <a:prstDash val="solid"/>
          </a:ln>
        </p:spPr>
      </p:sp>
      <p:sp>
        <p:nvSpPr>
          <p:cNvPr id="34" name="Text 32"/>
          <p:cNvSpPr/>
          <p:nvPr/>
        </p:nvSpPr>
        <p:spPr>
          <a:xfrm>
            <a:off x="914400" y="1325880"/>
            <a:ext cx="3108960" cy="365760"/>
          </a:xfrm>
          <a:prstGeom prst="rect">
            <a:avLst/>
          </a:prstGeom>
          <a:noFill/>
          <a:ln/>
        </p:spPr>
        <p:txBody>
          <a:bodyPr wrap="square" lIns="0" tIns="0" rIns="0" bIns="0" rtlCol="0" anchor="ctr"/>
          <a:lstStyle/>
          <a:p>
            <a:pPr indent="0" marL="0">
              <a:buNone/>
            </a:pPr>
            <a:r>
              <a:rPr lang="en-US" sz="1100" b="1" dirty="0">
                <a:solidFill>
                  <a:srgbClr val="00B8D9"/>
                </a:solidFill>
                <a:latin typeface="Trebuchet MS" pitchFamily="34" charset="0"/>
                <a:ea typeface="Trebuchet MS" pitchFamily="34" charset="-122"/>
                <a:cs typeface="Trebuchet MS" pitchFamily="34" charset="-120"/>
              </a:rPr>
              <a:t>Dimension</a:t>
            </a:r>
            <a:endParaRPr lang="en-US" sz="1100" dirty="0"/>
          </a:p>
        </p:txBody>
      </p:sp>
      <p:sp>
        <p:nvSpPr>
          <p:cNvPr id="35" name="Text 33"/>
          <p:cNvSpPr/>
          <p:nvPr/>
        </p:nvSpPr>
        <p:spPr>
          <a:xfrm>
            <a:off x="4114800" y="1325880"/>
            <a:ext cx="3657600" cy="365760"/>
          </a:xfrm>
          <a:prstGeom prst="rect">
            <a:avLst/>
          </a:prstGeom>
          <a:noFill/>
          <a:ln/>
        </p:spPr>
        <p:txBody>
          <a:bodyPr wrap="square" lIns="0" tIns="0" rIns="0" bIns="0" rtlCol="0" anchor="ctr"/>
          <a:lstStyle/>
          <a:p>
            <a:pPr indent="0" marL="0">
              <a:buNone/>
            </a:pPr>
            <a:r>
              <a:rPr lang="en-US" sz="1100" b="1" dirty="0">
                <a:solidFill>
                  <a:srgbClr val="00B8D9"/>
                </a:solidFill>
                <a:latin typeface="Trebuchet MS" pitchFamily="34" charset="0"/>
                <a:ea typeface="Trebuchet MS" pitchFamily="34" charset="-122"/>
                <a:cs typeface="Trebuchet MS" pitchFamily="34" charset="-120"/>
              </a:rPr>
              <a:t>React Router v7</a:t>
            </a:r>
            <a:endParaRPr lang="en-US" sz="1100" dirty="0"/>
          </a:p>
        </p:txBody>
      </p:sp>
      <p:sp>
        <p:nvSpPr>
          <p:cNvPr id="36" name="Text 34"/>
          <p:cNvSpPr/>
          <p:nvPr/>
        </p:nvSpPr>
        <p:spPr>
          <a:xfrm>
            <a:off x="7863840" y="1325880"/>
            <a:ext cx="3383280" cy="365760"/>
          </a:xfrm>
          <a:prstGeom prst="rect">
            <a:avLst/>
          </a:prstGeom>
          <a:noFill/>
          <a:ln/>
        </p:spPr>
        <p:txBody>
          <a:bodyPr wrap="square" lIns="0" tIns="0" rIns="0" bIns="0" rtlCol="0" anchor="ctr"/>
          <a:lstStyle/>
          <a:p>
            <a:pPr indent="0" marL="0">
              <a:buNone/>
            </a:pPr>
            <a:r>
              <a:rPr lang="en-US" sz="1100" b="1" dirty="0">
                <a:solidFill>
                  <a:srgbClr val="00B8D9"/>
                </a:solidFill>
                <a:latin typeface="Trebuchet MS" pitchFamily="34" charset="0"/>
                <a:ea typeface="Trebuchet MS" pitchFamily="34" charset="-122"/>
                <a:cs typeface="Trebuchet MS" pitchFamily="34" charset="-120"/>
              </a:rPr>
              <a:t>Next.js App Router</a:t>
            </a:r>
            <a:endParaRPr lang="en-US" sz="1100" dirty="0"/>
          </a:p>
        </p:txBody>
      </p:sp>
      <p:sp>
        <p:nvSpPr>
          <p:cNvPr id="37" name="Text 3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38" name="Text 3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22 / 27</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When to pick which</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Decision factors that actually matter in practice.</a:t>
            </a:r>
            <a:endParaRPr lang="en-US" sz="1400" dirty="0"/>
          </a:p>
        </p:txBody>
      </p:sp>
      <p:sp>
        <p:nvSpPr>
          <p:cNvPr id="5" name="Shape 3"/>
          <p:cNvSpPr/>
          <p:nvPr/>
        </p:nvSpPr>
        <p:spPr>
          <a:xfrm>
            <a:off x="777240" y="1691640"/>
            <a:ext cx="5349240" cy="4297680"/>
          </a:xfrm>
          <a:prstGeom prst="rect">
            <a:avLst/>
          </a:prstGeom>
          <a:solidFill>
            <a:srgbClr val="FFFFFF"/>
          </a:solidFill>
          <a:ln w="12700">
            <a:solidFill>
              <a:srgbClr val="E2E8F0"/>
            </a:solidFill>
            <a:prstDash val="solid"/>
          </a:ln>
        </p:spPr>
      </p:sp>
      <p:sp>
        <p:nvSpPr>
          <p:cNvPr id="6" name="Text 4"/>
          <p:cNvSpPr/>
          <p:nvPr/>
        </p:nvSpPr>
        <p:spPr>
          <a:xfrm>
            <a:off x="960120" y="1874520"/>
            <a:ext cx="5029200" cy="457200"/>
          </a:xfrm>
          <a:prstGeom prst="rect">
            <a:avLst/>
          </a:prstGeom>
          <a:noFill/>
          <a:ln/>
        </p:spPr>
        <p:txBody>
          <a:bodyPr wrap="square" lIns="0" tIns="0" rIns="0" bIns="0" rtlCol="0" anchor="ctr"/>
          <a:lstStyle/>
          <a:p>
            <a:pPr indent="0" marL="0">
              <a:buNone/>
            </a:pPr>
            <a:r>
              <a:rPr lang="en-US" sz="1600" b="1" dirty="0">
                <a:solidFill>
                  <a:srgbClr val="00B8D9"/>
                </a:solidFill>
                <a:latin typeface="Trebuchet MS" pitchFamily="34" charset="0"/>
                <a:ea typeface="Trebuchet MS" pitchFamily="34" charset="-122"/>
                <a:cs typeface="Trebuchet MS" pitchFamily="34" charset="-120"/>
              </a:rPr>
              <a:t>Reach for RR v7 when…</a:t>
            </a:r>
            <a:endParaRPr lang="en-US" sz="1600" dirty="0"/>
          </a:p>
        </p:txBody>
      </p:sp>
      <p:sp>
        <p:nvSpPr>
          <p:cNvPr id="7" name="Text 5"/>
          <p:cNvSpPr/>
          <p:nvPr/>
        </p:nvSpPr>
        <p:spPr>
          <a:xfrm>
            <a:off x="960120" y="2468880"/>
            <a:ext cx="5029200" cy="33832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You're allergic to Vercel-flavored conventions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You deploy to AWS / GCP / your own Node hosts and want a clean self-hosted story</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You want minimal magic — explicit loaders and actions feel right</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You're already on React Router v6 and the migration is small</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You want the bridge: library mode for some areas, framework for others</a:t>
            </a:r>
            <a:endParaRPr lang="en-US" sz="1250" dirty="0"/>
          </a:p>
        </p:txBody>
      </p:sp>
      <p:sp>
        <p:nvSpPr>
          <p:cNvPr id="8" name="Shape 6"/>
          <p:cNvSpPr/>
          <p:nvPr/>
        </p:nvSpPr>
        <p:spPr>
          <a:xfrm>
            <a:off x="6355080" y="1691640"/>
            <a:ext cx="5029200" cy="4297680"/>
          </a:xfrm>
          <a:prstGeom prst="rect">
            <a:avLst/>
          </a:prstGeom>
          <a:solidFill>
            <a:srgbClr val="FFFFFF"/>
          </a:solidFill>
          <a:ln w="12700">
            <a:solidFill>
              <a:srgbClr val="E2E8F0"/>
            </a:solidFill>
            <a:prstDash val="solid"/>
          </a:ln>
        </p:spPr>
      </p:sp>
      <p:sp>
        <p:nvSpPr>
          <p:cNvPr id="9" name="Text 7"/>
          <p:cNvSpPr/>
          <p:nvPr/>
        </p:nvSpPr>
        <p:spPr>
          <a:xfrm>
            <a:off x="6537960" y="1874520"/>
            <a:ext cx="4754880" cy="457200"/>
          </a:xfrm>
          <a:prstGeom prst="rect">
            <a:avLst/>
          </a:prstGeom>
          <a:noFill/>
          <a:ln/>
        </p:spPr>
        <p:txBody>
          <a:bodyPr wrap="square" lIns="0" tIns="0" rIns="0" bIns="0" rtlCol="0" anchor="ctr"/>
          <a:lstStyle/>
          <a:p>
            <a:pPr indent="0" marL="0">
              <a:buNone/>
            </a:pPr>
            <a:r>
              <a:rPr lang="en-US" sz="1600" b="1" dirty="0">
                <a:solidFill>
                  <a:srgbClr val="00B8D9"/>
                </a:solidFill>
                <a:latin typeface="Trebuchet MS" pitchFamily="34" charset="0"/>
                <a:ea typeface="Trebuchet MS" pitchFamily="34" charset="-122"/>
                <a:cs typeface="Trebuchet MS" pitchFamily="34" charset="-120"/>
              </a:rPr>
              <a:t>Reach for Next.js when…</a:t>
            </a:r>
            <a:endParaRPr lang="en-US" sz="1600" dirty="0"/>
          </a:p>
        </p:txBody>
      </p:sp>
      <p:sp>
        <p:nvSpPr>
          <p:cNvPr id="10" name="Text 8"/>
          <p:cNvSpPr/>
          <p:nvPr/>
        </p:nvSpPr>
        <p:spPr>
          <a:xfrm>
            <a:off x="6537960" y="2468880"/>
            <a:ext cx="4754880" cy="33832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You want the largest ecosystem — most examples, most plugins, most StackOverflow answers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Edge runtime, ISR, partial prerendering matter</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You're hiring — Next.js is a more common skill on resumes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You're already on Vercel and want zero-config deploys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Your app needs heavy SEO and you want streaming + RSC by default</a:t>
            </a:r>
            <a:endParaRPr lang="en-US" sz="1250" dirty="0"/>
          </a:p>
        </p:txBody>
      </p:sp>
      <p:sp>
        <p:nvSpPr>
          <p:cNvPr id="11"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12"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23 / 27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Briefly: TanStack Router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Worth knowing about. Not what we'll teach.</a:t>
            </a:r>
            <a:endParaRPr lang="en-US" sz="1400" dirty="0"/>
          </a:p>
        </p:txBody>
      </p:sp>
      <p:sp>
        <p:nvSpPr>
          <p:cNvPr id="5" name="Shape 3"/>
          <p:cNvSpPr/>
          <p:nvPr/>
        </p:nvSpPr>
        <p:spPr>
          <a:xfrm>
            <a:off x="777240" y="1691640"/>
            <a:ext cx="10607040" cy="4206240"/>
          </a:xfrm>
          <a:prstGeom prst="rect">
            <a:avLst/>
          </a:prstGeom>
          <a:solidFill>
            <a:srgbClr val="FFFFFF"/>
          </a:solidFill>
          <a:ln w="12700">
            <a:solidFill>
              <a:srgbClr val="E2E8F0"/>
            </a:solidFill>
            <a:prstDash val="solid"/>
          </a:ln>
        </p:spPr>
      </p:sp>
      <p:sp>
        <p:nvSpPr>
          <p:cNvPr id="6" name="Shape 4"/>
          <p:cNvSpPr/>
          <p:nvPr/>
        </p:nvSpPr>
        <p:spPr>
          <a:xfrm>
            <a:off x="777240" y="1691640"/>
            <a:ext cx="109728" cy="4206240"/>
          </a:xfrm>
          <a:prstGeom prst="rect">
            <a:avLst/>
          </a:prstGeom>
          <a:solidFill>
            <a:srgbClr val="00B8D9"/>
          </a:solidFill>
          <a:ln w="12700">
            <a:solidFill>
              <a:srgbClr val="00B8D9"/>
            </a:solidFill>
            <a:prstDash val="solid"/>
          </a:ln>
        </p:spPr>
      </p:sp>
      <p:pic>
        <p:nvPicPr>
          <p:cNvPr id="7" name="Image 0" descr="preencoded.png">    </p:cNvPr>
          <p:cNvPicPr>
            <a:picLocks noChangeAspect="1"/>
          </p:cNvPicPr>
          <p:nvPr/>
        </p:nvPicPr>
        <p:blipFill>
          <a:blip r:embed="rId1"/>
          <a:stretch>
            <a:fillRect/>
          </a:stretch>
        </p:blipFill>
        <p:spPr>
          <a:xfrm>
            <a:off x="1051560" y="1920240"/>
            <a:ext cx="640080" cy="640080"/>
          </a:xfrm>
          <a:prstGeom prst="rect">
            <a:avLst/>
          </a:prstGeom>
        </p:spPr>
      </p:pic>
      <p:sp>
        <p:nvSpPr>
          <p:cNvPr id="8" name="Text 5"/>
          <p:cNvSpPr/>
          <p:nvPr/>
        </p:nvSpPr>
        <p:spPr>
          <a:xfrm>
            <a:off x="1828800" y="1874520"/>
            <a:ext cx="9509760" cy="64008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TanStack Router</a:t>
            </a:r>
            <a:endParaRPr lang="en-US" sz="2200" dirty="0"/>
          </a:p>
        </p:txBody>
      </p:sp>
      <p:sp>
        <p:nvSpPr>
          <p:cNvPr id="9" name="Text 6"/>
          <p:cNvSpPr/>
          <p:nvPr/>
        </p:nvSpPr>
        <p:spPr>
          <a:xfrm>
            <a:off x="1051560" y="2743200"/>
            <a:ext cx="10058400" cy="3017520"/>
          </a:xfrm>
          <a:prstGeom prst="rect">
            <a:avLst/>
          </a:prstGeom>
          <a:noFill/>
          <a:ln/>
        </p:spPr>
        <p:txBody>
          <a:bodyPr wrap="square" lIns="0" tIns="0" rIns="0" bIns="0" rtlCol="0" anchor="t"/>
          <a:lstStyle/>
          <a:p>
            <a:pPr indent="0" marL="0">
              <a:spcAft>
                <a:spcPts val="400"/>
              </a:spcAft>
              <a:buNone/>
            </a:pPr>
            <a:r>
              <a:rPr lang="en-US" sz="1250" b="1" dirty="0">
                <a:solidFill>
                  <a:srgbClr val="0F172A"/>
                </a:solidFill>
                <a:latin typeface="Arial" pitchFamily="34" charset="0"/>
                <a:ea typeface="Arial" pitchFamily="34" charset="-122"/>
                <a:cs typeface="Arial" pitchFamily="34" charset="-120"/>
              </a:rPr>
              <a:t>Type-safe by default</a:t>
            </a:r>
            <a:endParaRPr lang="en-US" sz="1250" dirty="0"/>
          </a:p>
          <a:p>
            <a:pPr indent="0" marL="0">
              <a:spcAft>
                <a:spcPts val="400"/>
              </a:spcAft>
              <a:buNone/>
            </a:pPr>
            <a:r>
              <a:rPr lang="en-US" sz="1250" dirty="0">
                <a:solidFill>
                  <a:srgbClr val="475569"/>
                </a:solidFill>
                <a:latin typeface="Arial" pitchFamily="34" charset="0"/>
                <a:ea typeface="Arial" pitchFamily="34" charset="-122"/>
                <a:cs typeface="Arial" pitchFamily="34" charset="-120"/>
              </a:rPr>
              <a:t>URL params, search params, and loader data are all typed end-to-end. The compile catches typo'd route names.</a:t>
            </a:r>
            <a:endParaRPr lang="en-US" sz="1250" dirty="0"/>
          </a:p>
          <a:p>
            <a:pPr indent="0" marL="0">
              <a:spcAft>
                <a:spcPts val="400"/>
              </a:spcAft>
              <a:buNone/>
            </a:pPr>
            <a:r>
              <a:rPr lang="en-US" sz="1250" dirty="0">
                <a:solidFill>
                  <a:srgbClr val="475569"/>
                </a:solidFill>
                <a:latin typeface="Arial" pitchFamily="34" charset="0"/>
                <a:ea typeface="Arial" pitchFamily="34" charset="-122"/>
                <a:cs typeface="Arial" pitchFamily="34" charset="-120"/>
              </a:rPr>
              <a:t> </a:t>
            </a:r>
            <a:endParaRPr lang="en-US" sz="1250" dirty="0"/>
          </a:p>
          <a:p>
            <a:pPr indent="0" marL="0">
              <a:spcAft>
                <a:spcPts val="400"/>
              </a:spcAft>
              <a:buNone/>
            </a:pPr>
            <a:r>
              <a:rPr lang="en-US" sz="1250" b="1" dirty="0">
                <a:solidFill>
                  <a:srgbClr val="0F172A"/>
                </a:solidFill>
                <a:latin typeface="Arial" pitchFamily="34" charset="0"/>
                <a:ea typeface="Arial" pitchFamily="34" charset="-122"/>
                <a:cs typeface="Arial" pitchFamily="34" charset="-120"/>
              </a:rPr>
              <a:t>File-based or code-based — your call</a:t>
            </a:r>
            <a:endParaRPr lang="en-US" sz="1250" dirty="0"/>
          </a:p>
          <a:p>
            <a:pPr indent="0" marL="0">
              <a:spcAft>
                <a:spcPts val="400"/>
              </a:spcAft>
              <a:buNone/>
            </a:pPr>
            <a:r>
              <a:rPr lang="en-US" sz="1250" dirty="0">
                <a:solidFill>
                  <a:srgbClr val="475569"/>
                </a:solidFill>
                <a:latin typeface="Arial" pitchFamily="34" charset="0"/>
                <a:ea typeface="Arial" pitchFamily="34" charset="-122"/>
                <a:cs typeface="Arial" pitchFamily="34" charset="-120"/>
              </a:rPr>
              <a:t>Works as a SPA, an SSR app via TanStack Start, or as a sub-router inside another framework.</a:t>
            </a:r>
            <a:endParaRPr lang="en-US" sz="1250" dirty="0"/>
          </a:p>
          <a:p>
            <a:pPr indent="0" marL="0">
              <a:spcAft>
                <a:spcPts val="400"/>
              </a:spcAft>
              <a:buNone/>
            </a:pPr>
            <a:r>
              <a:rPr lang="en-US" sz="1250" dirty="0">
                <a:solidFill>
                  <a:srgbClr val="475569"/>
                </a:solidFill>
                <a:latin typeface="Arial" pitchFamily="34" charset="0"/>
                <a:ea typeface="Arial" pitchFamily="34" charset="-122"/>
                <a:cs typeface="Arial" pitchFamily="34" charset="-120"/>
              </a:rPr>
              <a:t> </a:t>
            </a:r>
            <a:endParaRPr lang="en-US" sz="1250" dirty="0"/>
          </a:p>
          <a:p>
            <a:pPr indent="0" marL="0">
              <a:spcAft>
                <a:spcPts val="400"/>
              </a:spcAft>
              <a:buNone/>
            </a:pPr>
            <a:r>
              <a:rPr lang="en-US" sz="1250" b="1" dirty="0">
                <a:solidFill>
                  <a:srgbClr val="0F172A"/>
                </a:solidFill>
                <a:latin typeface="Arial" pitchFamily="34" charset="0"/>
                <a:ea typeface="Arial" pitchFamily="34" charset="-122"/>
                <a:cs typeface="Arial" pitchFamily="34" charset="-120"/>
              </a:rPr>
              <a:t>Why we don't teach it (yet)</a:t>
            </a:r>
            <a:endParaRPr lang="en-US" sz="1250" dirty="0"/>
          </a:p>
          <a:p>
            <a:pPr indent="0" marL="0">
              <a:spcAft>
                <a:spcPts val="400"/>
              </a:spcAft>
              <a:buNone/>
            </a:pPr>
            <a:r>
              <a:rPr lang="en-US" sz="1250" dirty="0">
                <a:solidFill>
                  <a:srgbClr val="475569"/>
                </a:solidFill>
                <a:latin typeface="Arial" pitchFamily="34" charset="0"/>
                <a:ea typeface="Arial" pitchFamily="34" charset="-122"/>
                <a:cs typeface="Arial" pitchFamily="34" charset="-120"/>
              </a:rPr>
              <a:t>Smaller ecosystem, less Server Components support, your team probably hasn't used it. Worth keeping an eye on for 2027.</a:t>
            </a:r>
            <a:endParaRPr lang="en-US" sz="1250" dirty="0"/>
          </a:p>
        </p:txBody>
      </p:sp>
      <p:sp>
        <p:nvSpPr>
          <p:cNvPr id="10"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11"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24 / 27</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Coming up: Lab 2</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Implement the same auth flow in both frameworks.</a:t>
            </a:r>
            <a:endParaRPr lang="en-US" sz="1400" dirty="0"/>
          </a:p>
        </p:txBody>
      </p:sp>
      <p:sp>
        <p:nvSpPr>
          <p:cNvPr id="5" name="Shape 3"/>
          <p:cNvSpPr/>
          <p:nvPr/>
        </p:nvSpPr>
        <p:spPr>
          <a:xfrm>
            <a:off x="777240" y="1691640"/>
            <a:ext cx="10607040" cy="43891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97280" y="1920240"/>
            <a:ext cx="822960" cy="822960"/>
          </a:xfrm>
          <a:prstGeom prst="rect">
            <a:avLst/>
          </a:prstGeom>
        </p:spPr>
      </p:pic>
      <p:sp>
        <p:nvSpPr>
          <p:cNvPr id="7" name="Text 4"/>
          <p:cNvSpPr/>
          <p:nvPr/>
        </p:nvSpPr>
        <p:spPr>
          <a:xfrm>
            <a:off x="2194560" y="1920240"/>
            <a:ext cx="9144000" cy="64008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Lab 2: Routing + Auth in Two Frameworks</a:t>
            </a:r>
            <a:endParaRPr lang="en-US" sz="2200" dirty="0"/>
          </a:p>
        </p:txBody>
      </p:sp>
      <p:sp>
        <p:nvSpPr>
          <p:cNvPr id="8" name="Text 5"/>
          <p:cNvSpPr/>
          <p:nvPr/>
        </p:nvSpPr>
        <p:spPr>
          <a:xfrm>
            <a:off x="2194560" y="2514600"/>
            <a:ext cx="9144000" cy="365760"/>
          </a:xfrm>
          <a:prstGeom prst="rect">
            <a:avLst/>
          </a:prstGeom>
          <a:noFill/>
          <a:ln/>
        </p:spPr>
        <p:txBody>
          <a:bodyPr wrap="square" lIns="0" tIns="0" rIns="0" bIns="0" rtlCol="0" anchor="ctr"/>
          <a:lstStyle/>
          <a:p>
            <a:pPr indent="0" marL="0">
              <a:buNone/>
            </a:pPr>
            <a:r>
              <a:rPr lang="en-US" sz="1300" i="1" dirty="0">
                <a:solidFill>
                  <a:srgbClr val="475569"/>
                </a:solidFill>
                <a:latin typeface="Arial" pitchFamily="34" charset="0"/>
                <a:ea typeface="Arial" pitchFamily="34" charset="-122"/>
                <a:cs typeface="Arial" pitchFamily="34" charset="-120"/>
              </a:rPr>
              <a:t>105 minutes  ·  Hands-on  ·  Two reference solutions (RR v7 + Next.js)</a:t>
            </a:r>
            <a:endParaRPr lang="en-US" sz="1300" dirty="0"/>
          </a:p>
        </p:txBody>
      </p:sp>
      <p:sp>
        <p:nvSpPr>
          <p:cNvPr id="9" name="Text 6"/>
          <p:cNvSpPr/>
          <p:nvPr/>
        </p:nvSpPr>
        <p:spPr>
          <a:xfrm>
            <a:off x="1097280" y="3200400"/>
            <a:ext cx="100584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What you'll do:</a:t>
            </a:r>
            <a:endParaRPr lang="en-US" sz="1400" dirty="0"/>
          </a:p>
        </p:txBody>
      </p:sp>
      <p:sp>
        <p:nvSpPr>
          <p:cNvPr id="10" name="Text 7"/>
          <p:cNvSpPr/>
          <p:nvPr/>
        </p:nvSpPr>
        <p:spPr>
          <a:xfrm>
            <a:off x="1097280" y="3611880"/>
            <a:ext cx="1005840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Implement /login, /signup, /logout, and a protected /home route in React Router v7 framework mode</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Port the same feature to Next.js App Router with middleware-based auth</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Both clients hit the same Express backend you've used in earlier labs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Write a one-paragraph reflection comparing the two</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Stretch: add a protected nested route with a streaming layout</a:t>
            </a:r>
            <a:endParaRPr lang="en-US" sz="1250" dirty="0"/>
          </a:p>
        </p:txBody>
      </p:sp>
      <p:sp>
        <p:nvSpPr>
          <p:cNvPr id="11" name="Text 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12" name="Text 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25 / 27</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Module 3 takeaways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What to remember when you're back at your desk.</a:t>
            </a:r>
            <a:endParaRPr lang="en-US" sz="1400" dirty="0"/>
          </a:p>
        </p:txBody>
      </p:sp>
      <p:sp>
        <p:nvSpPr>
          <p:cNvPr id="5" name="Shape 3"/>
          <p:cNvSpPr/>
          <p:nvPr/>
        </p:nvSpPr>
        <p:spPr>
          <a:xfrm>
            <a:off x="777240" y="1691640"/>
            <a:ext cx="10607040" cy="713232"/>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56232"/>
            <a:ext cx="384048" cy="384048"/>
          </a:xfrm>
          <a:prstGeom prst="rect">
            <a:avLst/>
          </a:prstGeom>
        </p:spPr>
      </p:pic>
      <p:sp>
        <p:nvSpPr>
          <p:cNvPr id="7" name="Text 4"/>
          <p:cNvSpPr/>
          <p:nvPr/>
        </p:nvSpPr>
        <p:spPr>
          <a:xfrm>
            <a:off x="1554480" y="178308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React Router v7 is RR + Remix merged. Library mode = old RR. Framework mode = Remix-style.</a:t>
            </a:r>
            <a:endParaRPr lang="en-US" sz="1250" dirty="0"/>
          </a:p>
        </p:txBody>
      </p:sp>
      <p:sp>
        <p:nvSpPr>
          <p:cNvPr id="8" name="Shape 5"/>
          <p:cNvSpPr/>
          <p:nvPr/>
        </p:nvSpPr>
        <p:spPr>
          <a:xfrm>
            <a:off x="777240" y="2560320"/>
            <a:ext cx="10607040" cy="713232"/>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960120" y="2724912"/>
            <a:ext cx="384048" cy="384048"/>
          </a:xfrm>
          <a:prstGeom prst="rect">
            <a:avLst/>
          </a:prstGeom>
        </p:spPr>
      </p:pic>
      <p:sp>
        <p:nvSpPr>
          <p:cNvPr id="10" name="Text 6"/>
          <p:cNvSpPr/>
          <p:nvPr/>
        </p:nvSpPr>
        <p:spPr>
          <a:xfrm>
            <a:off x="1554480" y="265176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Loaders fetch on the server. Actions mutate on the server. Both are per-route exports.</a:t>
            </a:r>
            <a:endParaRPr lang="en-US" sz="1250" dirty="0"/>
          </a:p>
        </p:txBody>
      </p:sp>
      <p:sp>
        <p:nvSpPr>
          <p:cNvPr id="11" name="Shape 7"/>
          <p:cNvSpPr/>
          <p:nvPr/>
        </p:nvSpPr>
        <p:spPr>
          <a:xfrm>
            <a:off x="777240" y="3429000"/>
            <a:ext cx="10607040" cy="713232"/>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593592"/>
            <a:ext cx="384048" cy="384048"/>
          </a:xfrm>
          <a:prstGeom prst="rect">
            <a:avLst/>
          </a:prstGeom>
        </p:spPr>
      </p:pic>
      <p:sp>
        <p:nvSpPr>
          <p:cNvPr id="13" name="Text 8"/>
          <p:cNvSpPr/>
          <p:nvPr/>
        </p:nvSpPr>
        <p:spPr>
          <a:xfrm>
            <a:off x="1554480" y="352044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Next.js page.jsx is a Server Component. The function can be async; useState and useEffect aren't allowed.</a:t>
            </a:r>
            <a:endParaRPr lang="en-US" sz="1250" dirty="0"/>
          </a:p>
        </p:txBody>
      </p:sp>
      <p:sp>
        <p:nvSpPr>
          <p:cNvPr id="14" name="Shape 9"/>
          <p:cNvSpPr/>
          <p:nvPr/>
        </p:nvSpPr>
        <p:spPr>
          <a:xfrm>
            <a:off x="777240" y="4297680"/>
            <a:ext cx="10607040" cy="713232"/>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960120" y="4462272"/>
            <a:ext cx="384048" cy="384048"/>
          </a:xfrm>
          <a:prstGeom prst="rect">
            <a:avLst/>
          </a:prstGeom>
        </p:spPr>
      </p:pic>
      <p:sp>
        <p:nvSpPr>
          <p:cNvPr id="16" name="Text 10"/>
          <p:cNvSpPr/>
          <p:nvPr/>
        </p:nvSpPr>
        <p:spPr>
          <a:xfrm>
            <a:off x="1554480" y="438912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RR protects routes via loader redirects. Next.js protects routes via middleware.</a:t>
            </a:r>
            <a:endParaRPr lang="en-US" sz="1250" dirty="0"/>
          </a:p>
        </p:txBody>
      </p:sp>
      <p:sp>
        <p:nvSpPr>
          <p:cNvPr id="17" name="Shape 11"/>
          <p:cNvSpPr/>
          <p:nvPr/>
        </p:nvSpPr>
        <p:spPr>
          <a:xfrm>
            <a:off x="777240" y="5166360"/>
            <a:ext cx="10607040" cy="713232"/>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5330952"/>
            <a:ext cx="384048" cy="384048"/>
          </a:xfrm>
          <a:prstGeom prst="rect">
            <a:avLst/>
          </a:prstGeom>
        </p:spPr>
      </p:pic>
      <p:sp>
        <p:nvSpPr>
          <p:cNvPr id="19" name="Text 12"/>
          <p:cNvSpPr/>
          <p:nvPr/>
        </p:nvSpPr>
        <p:spPr>
          <a:xfrm>
            <a:off x="1554480" y="525780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The shape of both frameworks is similar — the conventions and deploy story differ.</a:t>
            </a:r>
            <a:endParaRPr lang="en-US" sz="1250" dirty="0"/>
          </a:p>
        </p:txBody>
      </p:sp>
      <p:sp>
        <p:nvSpPr>
          <p:cNvPr id="20" name="Text 13"/>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21" name="Text 14"/>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26 / 27</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End of Day 1 lecture content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Lab 2 fills the rest of the afternoon. Day 2 starts with state management.</a:t>
            </a:r>
            <a:endParaRPr lang="en-US" sz="1400" dirty="0"/>
          </a:p>
        </p:txBody>
      </p:sp>
      <p:sp>
        <p:nvSpPr>
          <p:cNvPr id="5" name="Shape 3"/>
          <p:cNvSpPr/>
          <p:nvPr/>
        </p:nvSpPr>
        <p:spPr>
          <a:xfrm>
            <a:off x="777240" y="1691640"/>
            <a:ext cx="10607040" cy="4206240"/>
          </a:xfrm>
          <a:prstGeom prst="rect">
            <a:avLst/>
          </a:prstGeom>
          <a:solidFill>
            <a:srgbClr val="CBF1F6"/>
          </a:solidFill>
          <a:ln w="12700">
            <a:solidFill>
              <a:srgbClr val="CBF1F6"/>
            </a:solidFill>
            <a:prstDash val="solid"/>
          </a:ln>
        </p:spPr>
      </p:sp>
      <p:sp>
        <p:nvSpPr>
          <p:cNvPr id="6" name="Text 4"/>
          <p:cNvSpPr/>
          <p:nvPr/>
        </p:nvSpPr>
        <p:spPr>
          <a:xfrm>
            <a:off x="1097280" y="1920240"/>
            <a:ext cx="100584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Day 1 covered:</a:t>
            </a:r>
            <a:endParaRPr lang="en-US" sz="1400" dirty="0"/>
          </a:p>
        </p:txBody>
      </p:sp>
      <p:sp>
        <p:nvSpPr>
          <p:cNvPr id="7" name="Text 5"/>
          <p:cNvSpPr/>
          <p:nvPr/>
        </p:nvSpPr>
        <p:spPr>
          <a:xfrm>
            <a:off x="1097280" y="2331720"/>
            <a:ext cx="1005840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The 2026 React landscape — what's new in 19, the Compiler, framework picks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Hooks that matter — the rules, the foundational hooks, the four new ones, specialty hooks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Routing — RR v7 framework mode and Next.js App Router, side by side</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Lab 1: modernized a class-component chat app and reviewed the AI's work</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Lab 2: implemented the same routing in both frameworks (in progress)</a:t>
            </a:r>
            <a:endParaRPr lang="en-US" sz="1250" dirty="0"/>
          </a:p>
        </p:txBody>
      </p:sp>
      <p:sp>
        <p:nvSpPr>
          <p:cNvPr id="8" name="Text 6"/>
          <p:cNvSpPr/>
          <p:nvPr/>
        </p:nvSpPr>
        <p:spPr>
          <a:xfrm>
            <a:off x="1097280" y="5120640"/>
            <a:ext cx="10058400" cy="457200"/>
          </a:xfrm>
          <a:prstGeom prst="rect">
            <a:avLst/>
          </a:prstGeom>
          <a:noFill/>
          <a:ln/>
        </p:spPr>
        <p:txBody>
          <a:bodyPr wrap="square" lIns="0" tIns="0" rIns="0" bIns="0" rtlCol="0" anchor="ctr"/>
          <a:lstStyle/>
          <a:p>
            <a:pPr indent="0" marL="0">
              <a:buNone/>
            </a:pPr>
            <a:r>
              <a:rPr lang="en-US" sz="1300" i="1" dirty="0">
                <a:solidFill>
                  <a:srgbClr val="475569"/>
                </a:solidFill>
                <a:latin typeface="Arial" pitchFamily="34" charset="0"/>
                <a:ea typeface="Arial" pitchFamily="34" charset="-122"/>
                <a:cs typeface="Arial" pitchFamily="34" charset="-120"/>
              </a:rPr>
              <a:t>Tomorrow: data and state, server components, the boundary mistakes AI tools make.</a:t>
            </a:r>
            <a:endParaRPr lang="en-US" sz="130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3 — Routing in 2026</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27 / 27</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1">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377440"/>
            <a:ext cx="548640" cy="73152"/>
          </a:xfrm>
          <a:prstGeom prst="rect">
            <a:avLst/>
          </a:prstGeom>
          <a:solidFill>
            <a:srgbClr val="00B8D9"/>
          </a:solidFill>
          <a:ln w="12700">
            <a:solidFill>
              <a:srgbClr val="00B8D9"/>
            </a:solidFill>
            <a:prstDash val="solid"/>
          </a:ln>
        </p:spPr>
      </p:sp>
      <p:sp>
        <p:nvSpPr>
          <p:cNvPr id="3" name="Text 1"/>
          <p:cNvSpPr/>
          <p:nvPr/>
        </p:nvSpPr>
        <p:spPr>
          <a:xfrm>
            <a:off x="640080" y="2542032"/>
            <a:ext cx="5486400" cy="457200"/>
          </a:xfrm>
          <a:prstGeom prst="rect">
            <a:avLst/>
          </a:prstGeom>
          <a:noFill/>
          <a:ln/>
        </p:spPr>
        <p:txBody>
          <a:bodyPr wrap="square" lIns="0" tIns="0" rIns="0" bIns="0" rtlCol="0" anchor="ctr"/>
          <a:lstStyle/>
          <a:p>
            <a:pPr indent="0" marL="0">
              <a:buNone/>
            </a:pPr>
            <a:r>
              <a:rPr lang="en-US" sz="1800" dirty="0">
                <a:solidFill>
                  <a:srgbClr val="00B8D9"/>
                </a:solidFill>
                <a:latin typeface="Trebuchet MS" pitchFamily="34" charset="0"/>
                <a:ea typeface="Trebuchet MS" pitchFamily="34" charset="-122"/>
                <a:cs typeface="Trebuchet MS" pitchFamily="34" charset="-120"/>
              </a:rPr>
              <a:t>Module 4</a:t>
            </a:r>
            <a:endParaRPr lang="en-US" sz="1800" dirty="0"/>
          </a:p>
        </p:txBody>
      </p:sp>
      <p:sp>
        <p:nvSpPr>
          <p:cNvPr id="4" name="Text 2"/>
          <p:cNvSpPr/>
          <p:nvPr/>
        </p:nvSpPr>
        <p:spPr>
          <a:xfrm>
            <a:off x="640080" y="3017520"/>
            <a:ext cx="1115568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State Management Without Dogma</a:t>
            </a:r>
            <a:endParaRPr lang="en-US" sz="4400" dirty="0"/>
          </a:p>
        </p:txBody>
      </p:sp>
      <p:sp>
        <p:nvSpPr>
          <p:cNvPr id="5" name="Text 3"/>
          <p:cNvSpPr/>
          <p:nvPr/>
        </p:nvSpPr>
        <p:spPr>
          <a:xfrm>
            <a:off x="640080" y="4160520"/>
            <a:ext cx="10972800" cy="64008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Pick the right tool for the job. "Global state for everything" is no longer the default.</a:t>
            </a:r>
            <a:endParaRPr lang="en-US" sz="1800" dirty="0"/>
          </a:p>
        </p:txBody>
      </p:sp>
      <p:sp>
        <p:nvSpPr>
          <p:cNvPr id="6" name="Text 4"/>
          <p:cNvSpPr/>
          <p:nvPr/>
        </p:nvSpPr>
        <p:spPr>
          <a:xfrm>
            <a:off x="640080" y="4983480"/>
            <a:ext cx="10972800" cy="45720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60 minutes  ·  Lecture + demos  ·  Lab 3 follows</a:t>
            </a:r>
            <a:endParaRPr lang="en-US" sz="1400" dirty="0"/>
          </a:p>
        </p:txBody>
      </p:sp>
      <p:pic>
        <p:nvPicPr>
          <p:cNvPr id="7" name="Image 0" descr="preencoded.png">    </p:cNvPr>
          <p:cNvPicPr>
            <a:picLocks noChangeAspect="1"/>
          </p:cNvPicPr>
          <p:nvPr/>
        </p:nvPicPr>
        <p:blipFill>
          <a:blip r:embed="rId1">
            <a:alphaModFix amt="75000"/>
          </a:blip>
          <a:stretch>
            <a:fillRect/>
          </a:stretch>
        </p:blipFill>
        <p:spPr>
          <a:xfrm>
            <a:off x="10728655" y="4663440"/>
            <a:ext cx="914400" cy="91440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Too many state-management options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Six things called 'state management', solving five different problems.</a:t>
            </a:r>
            <a:endParaRPr lang="en-US" sz="1400" dirty="0"/>
          </a:p>
        </p:txBody>
      </p:sp>
      <p:sp>
        <p:nvSpPr>
          <p:cNvPr id="5" name="Shape 3"/>
          <p:cNvSpPr/>
          <p:nvPr/>
        </p:nvSpPr>
        <p:spPr>
          <a:xfrm>
            <a:off x="777240" y="1691640"/>
            <a:ext cx="5212080" cy="1234440"/>
          </a:xfrm>
          <a:prstGeom prst="rect">
            <a:avLst/>
          </a:prstGeom>
          <a:solidFill>
            <a:srgbClr val="FFFFFF"/>
          </a:solidFill>
          <a:ln w="12700">
            <a:solidFill>
              <a:srgbClr val="E2E8F0"/>
            </a:solidFill>
            <a:prstDash val="solid"/>
          </a:ln>
        </p:spPr>
      </p:sp>
      <p:sp>
        <p:nvSpPr>
          <p:cNvPr id="6" name="Shape 4"/>
          <p:cNvSpPr/>
          <p:nvPr/>
        </p:nvSpPr>
        <p:spPr>
          <a:xfrm>
            <a:off x="777240" y="1691640"/>
            <a:ext cx="109728" cy="1234440"/>
          </a:xfrm>
          <a:prstGeom prst="rect">
            <a:avLst/>
          </a:prstGeom>
          <a:solidFill>
            <a:srgbClr val="059669"/>
          </a:solidFill>
          <a:ln w="12700">
            <a:solidFill>
              <a:srgbClr val="059669"/>
            </a:solidFill>
            <a:prstDash val="solid"/>
          </a:ln>
        </p:spPr>
      </p:sp>
      <p:sp>
        <p:nvSpPr>
          <p:cNvPr id="7" name="Text 5"/>
          <p:cNvSpPr/>
          <p:nvPr/>
        </p:nvSpPr>
        <p:spPr>
          <a:xfrm>
            <a:off x="1051560" y="1874520"/>
            <a:ext cx="4846320" cy="41148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useState / useReducer</a:t>
            </a:r>
            <a:endParaRPr lang="en-US" sz="1400" dirty="0"/>
          </a:p>
        </p:txBody>
      </p:sp>
      <p:sp>
        <p:nvSpPr>
          <p:cNvPr id="8" name="Text 6"/>
          <p:cNvSpPr/>
          <p:nvPr/>
        </p:nvSpPr>
        <p:spPr>
          <a:xfrm>
            <a:off x="1051560" y="2331720"/>
            <a:ext cx="4846320" cy="54864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Local component state. Built in. Often the right answer.</a:t>
            </a:r>
            <a:endParaRPr lang="en-US" sz="1150" dirty="0"/>
          </a:p>
        </p:txBody>
      </p:sp>
      <p:sp>
        <p:nvSpPr>
          <p:cNvPr id="9" name="Shape 7"/>
          <p:cNvSpPr/>
          <p:nvPr/>
        </p:nvSpPr>
        <p:spPr>
          <a:xfrm>
            <a:off x="6126480" y="1691640"/>
            <a:ext cx="5212080" cy="1234440"/>
          </a:xfrm>
          <a:prstGeom prst="rect">
            <a:avLst/>
          </a:prstGeom>
          <a:solidFill>
            <a:srgbClr val="FFFFFF"/>
          </a:solidFill>
          <a:ln w="12700">
            <a:solidFill>
              <a:srgbClr val="E2E8F0"/>
            </a:solidFill>
            <a:prstDash val="solid"/>
          </a:ln>
        </p:spPr>
      </p:sp>
      <p:sp>
        <p:nvSpPr>
          <p:cNvPr id="10" name="Shape 8"/>
          <p:cNvSpPr/>
          <p:nvPr/>
        </p:nvSpPr>
        <p:spPr>
          <a:xfrm>
            <a:off x="6126480" y="1691640"/>
            <a:ext cx="109728" cy="1234440"/>
          </a:xfrm>
          <a:prstGeom prst="rect">
            <a:avLst/>
          </a:prstGeom>
          <a:solidFill>
            <a:srgbClr val="D97706"/>
          </a:solidFill>
          <a:ln w="12700">
            <a:solidFill>
              <a:srgbClr val="D97706"/>
            </a:solidFill>
            <a:prstDash val="solid"/>
          </a:ln>
        </p:spPr>
      </p:sp>
      <p:sp>
        <p:nvSpPr>
          <p:cNvPr id="11" name="Text 9"/>
          <p:cNvSpPr/>
          <p:nvPr/>
        </p:nvSpPr>
        <p:spPr>
          <a:xfrm>
            <a:off x="6400800" y="1874520"/>
            <a:ext cx="4846320" cy="41148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Context API</a:t>
            </a:r>
            <a:endParaRPr lang="en-US" sz="1400" dirty="0"/>
          </a:p>
        </p:txBody>
      </p:sp>
      <p:sp>
        <p:nvSpPr>
          <p:cNvPr id="12" name="Text 10"/>
          <p:cNvSpPr/>
          <p:nvPr/>
        </p:nvSpPr>
        <p:spPr>
          <a:xfrm>
            <a:off x="6400800" y="2331720"/>
            <a:ext cx="4846320" cy="54864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Pass things through the tree without props. Not a store.</a:t>
            </a:r>
            <a:endParaRPr lang="en-US" sz="1150" dirty="0"/>
          </a:p>
        </p:txBody>
      </p:sp>
      <p:sp>
        <p:nvSpPr>
          <p:cNvPr id="13" name="Shape 11"/>
          <p:cNvSpPr/>
          <p:nvPr/>
        </p:nvSpPr>
        <p:spPr>
          <a:xfrm>
            <a:off x="777240" y="3108960"/>
            <a:ext cx="5212080" cy="1234440"/>
          </a:xfrm>
          <a:prstGeom prst="rect">
            <a:avLst/>
          </a:prstGeom>
          <a:solidFill>
            <a:srgbClr val="FFFFFF"/>
          </a:solidFill>
          <a:ln w="12700">
            <a:solidFill>
              <a:srgbClr val="E2E8F0"/>
            </a:solidFill>
            <a:prstDash val="solid"/>
          </a:ln>
        </p:spPr>
      </p:sp>
      <p:sp>
        <p:nvSpPr>
          <p:cNvPr id="14" name="Shape 12"/>
          <p:cNvSpPr/>
          <p:nvPr/>
        </p:nvSpPr>
        <p:spPr>
          <a:xfrm>
            <a:off x="777240" y="3108960"/>
            <a:ext cx="109728" cy="1234440"/>
          </a:xfrm>
          <a:prstGeom prst="rect">
            <a:avLst/>
          </a:prstGeom>
          <a:solidFill>
            <a:srgbClr val="00B8D9"/>
          </a:solidFill>
          <a:ln w="12700">
            <a:solidFill>
              <a:srgbClr val="00B8D9"/>
            </a:solidFill>
            <a:prstDash val="solid"/>
          </a:ln>
        </p:spPr>
      </p:sp>
      <p:sp>
        <p:nvSpPr>
          <p:cNvPr id="15" name="Text 13"/>
          <p:cNvSpPr/>
          <p:nvPr/>
        </p:nvSpPr>
        <p:spPr>
          <a:xfrm>
            <a:off x="1051560" y="3291840"/>
            <a:ext cx="4846320" cy="41148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Zustand</a:t>
            </a:r>
            <a:endParaRPr lang="en-US" sz="1400" dirty="0"/>
          </a:p>
        </p:txBody>
      </p:sp>
      <p:sp>
        <p:nvSpPr>
          <p:cNvPr id="16" name="Text 14"/>
          <p:cNvSpPr/>
          <p:nvPr/>
        </p:nvSpPr>
        <p:spPr>
          <a:xfrm>
            <a:off x="1051560" y="3749040"/>
            <a:ext cx="4846320" cy="54864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The minimal client store. ~1KB. Hooks-shaped API.</a:t>
            </a:r>
            <a:endParaRPr lang="en-US" sz="1150" dirty="0"/>
          </a:p>
        </p:txBody>
      </p:sp>
      <p:sp>
        <p:nvSpPr>
          <p:cNvPr id="17" name="Shape 15"/>
          <p:cNvSpPr/>
          <p:nvPr/>
        </p:nvSpPr>
        <p:spPr>
          <a:xfrm>
            <a:off x="6126480" y="3108960"/>
            <a:ext cx="5212080" cy="1234440"/>
          </a:xfrm>
          <a:prstGeom prst="rect">
            <a:avLst/>
          </a:prstGeom>
          <a:solidFill>
            <a:srgbClr val="FFFFFF"/>
          </a:solidFill>
          <a:ln w="12700">
            <a:solidFill>
              <a:srgbClr val="E2E8F0"/>
            </a:solidFill>
            <a:prstDash val="solid"/>
          </a:ln>
        </p:spPr>
      </p:sp>
      <p:sp>
        <p:nvSpPr>
          <p:cNvPr id="18" name="Shape 16"/>
          <p:cNvSpPr/>
          <p:nvPr/>
        </p:nvSpPr>
        <p:spPr>
          <a:xfrm>
            <a:off x="6126480" y="3108960"/>
            <a:ext cx="109728" cy="1234440"/>
          </a:xfrm>
          <a:prstGeom prst="rect">
            <a:avLst/>
          </a:prstGeom>
          <a:solidFill>
            <a:srgbClr val="00B8D9"/>
          </a:solidFill>
          <a:ln w="12700">
            <a:solidFill>
              <a:srgbClr val="00B8D9"/>
            </a:solidFill>
            <a:prstDash val="solid"/>
          </a:ln>
        </p:spPr>
      </p:sp>
      <p:sp>
        <p:nvSpPr>
          <p:cNvPr id="19" name="Text 17"/>
          <p:cNvSpPr/>
          <p:nvPr/>
        </p:nvSpPr>
        <p:spPr>
          <a:xfrm>
            <a:off x="6400800" y="3291840"/>
            <a:ext cx="4846320" cy="41148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Jotai</a:t>
            </a:r>
            <a:endParaRPr lang="en-US" sz="1400" dirty="0"/>
          </a:p>
        </p:txBody>
      </p:sp>
      <p:sp>
        <p:nvSpPr>
          <p:cNvPr id="20" name="Text 18"/>
          <p:cNvSpPr/>
          <p:nvPr/>
        </p:nvSpPr>
        <p:spPr>
          <a:xfrm>
            <a:off x="6400800" y="3749040"/>
            <a:ext cx="4846320" cy="54864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Atomic state. Fine-grained subscriptions. Recoil's spiritual successor.</a:t>
            </a:r>
            <a:endParaRPr lang="en-US" sz="1150" dirty="0"/>
          </a:p>
        </p:txBody>
      </p:sp>
      <p:sp>
        <p:nvSpPr>
          <p:cNvPr id="21" name="Shape 19"/>
          <p:cNvSpPr/>
          <p:nvPr/>
        </p:nvSpPr>
        <p:spPr>
          <a:xfrm>
            <a:off x="777240" y="4526280"/>
            <a:ext cx="5212080" cy="1234440"/>
          </a:xfrm>
          <a:prstGeom prst="rect">
            <a:avLst/>
          </a:prstGeom>
          <a:solidFill>
            <a:srgbClr val="FFFFFF"/>
          </a:solidFill>
          <a:ln w="12700">
            <a:solidFill>
              <a:srgbClr val="E2E8F0"/>
            </a:solidFill>
            <a:prstDash val="solid"/>
          </a:ln>
        </p:spPr>
      </p:sp>
      <p:sp>
        <p:nvSpPr>
          <p:cNvPr id="22" name="Shape 20"/>
          <p:cNvSpPr/>
          <p:nvPr/>
        </p:nvSpPr>
        <p:spPr>
          <a:xfrm>
            <a:off x="777240" y="4526280"/>
            <a:ext cx="109728" cy="1234440"/>
          </a:xfrm>
          <a:prstGeom prst="rect">
            <a:avLst/>
          </a:prstGeom>
          <a:solidFill>
            <a:srgbClr val="00B8D9"/>
          </a:solidFill>
          <a:ln w="12700">
            <a:solidFill>
              <a:srgbClr val="00B8D9"/>
            </a:solidFill>
            <a:prstDash val="solid"/>
          </a:ln>
        </p:spPr>
      </p:sp>
      <p:sp>
        <p:nvSpPr>
          <p:cNvPr id="23" name="Text 21"/>
          <p:cNvSpPr/>
          <p:nvPr/>
        </p:nvSpPr>
        <p:spPr>
          <a:xfrm>
            <a:off x="1051560" y="4709160"/>
            <a:ext cx="4846320" cy="41148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Redux Toolkit + RTK Query</a:t>
            </a:r>
            <a:endParaRPr lang="en-US" sz="1400" dirty="0"/>
          </a:p>
        </p:txBody>
      </p:sp>
      <p:sp>
        <p:nvSpPr>
          <p:cNvPr id="24" name="Text 22"/>
          <p:cNvSpPr/>
          <p:nvPr/>
        </p:nvSpPr>
        <p:spPr>
          <a:xfrm>
            <a:off x="1051560" y="5166360"/>
            <a:ext cx="4846320" cy="54864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The full-featured option. Verbose but complete.</a:t>
            </a:r>
            <a:endParaRPr lang="en-US" sz="1150" dirty="0"/>
          </a:p>
        </p:txBody>
      </p:sp>
      <p:sp>
        <p:nvSpPr>
          <p:cNvPr id="25" name="Shape 23"/>
          <p:cNvSpPr/>
          <p:nvPr/>
        </p:nvSpPr>
        <p:spPr>
          <a:xfrm>
            <a:off x="6126480" y="4526280"/>
            <a:ext cx="5212080" cy="1234440"/>
          </a:xfrm>
          <a:prstGeom prst="rect">
            <a:avLst/>
          </a:prstGeom>
          <a:solidFill>
            <a:srgbClr val="FFFFFF"/>
          </a:solidFill>
          <a:ln w="12700">
            <a:solidFill>
              <a:srgbClr val="E2E8F0"/>
            </a:solidFill>
            <a:prstDash val="solid"/>
          </a:ln>
        </p:spPr>
      </p:sp>
      <p:sp>
        <p:nvSpPr>
          <p:cNvPr id="26" name="Shape 24"/>
          <p:cNvSpPr/>
          <p:nvPr/>
        </p:nvSpPr>
        <p:spPr>
          <a:xfrm>
            <a:off x="6126480" y="4526280"/>
            <a:ext cx="109728" cy="1234440"/>
          </a:xfrm>
          <a:prstGeom prst="rect">
            <a:avLst/>
          </a:prstGeom>
          <a:solidFill>
            <a:srgbClr val="059669"/>
          </a:solidFill>
          <a:ln w="12700">
            <a:solidFill>
              <a:srgbClr val="059669"/>
            </a:solidFill>
            <a:prstDash val="solid"/>
          </a:ln>
        </p:spPr>
      </p:sp>
      <p:sp>
        <p:nvSpPr>
          <p:cNvPr id="27" name="Text 25"/>
          <p:cNvSpPr/>
          <p:nvPr/>
        </p:nvSpPr>
        <p:spPr>
          <a:xfrm>
            <a:off x="6400800" y="4709160"/>
            <a:ext cx="4846320" cy="41148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TanStack Query</a:t>
            </a:r>
            <a:endParaRPr lang="en-US" sz="1400" dirty="0"/>
          </a:p>
        </p:txBody>
      </p:sp>
      <p:sp>
        <p:nvSpPr>
          <p:cNvPr id="28" name="Text 26"/>
          <p:cNvSpPr/>
          <p:nvPr/>
        </p:nvSpPr>
        <p:spPr>
          <a:xfrm>
            <a:off x="6400800" y="5166360"/>
            <a:ext cx="4846320" cy="54864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Server state, masquerading as state management. Often eats half your store.</a:t>
            </a:r>
            <a:endParaRPr lang="en-US" sz="1150" dirty="0"/>
          </a:p>
        </p:txBody>
      </p:sp>
      <p:sp>
        <p:nvSpPr>
          <p:cNvPr id="29" name="Text 2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30" name="Text 2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 / 28</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3">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1</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The Decision Framework</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Where does this state live? Most of the rest follows from there.</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Start with one question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Where does this state actually live?</a:t>
            </a:r>
            <a:endParaRPr lang="en-US" sz="1400" dirty="0"/>
          </a:p>
        </p:txBody>
      </p:sp>
      <p:sp>
        <p:nvSpPr>
          <p:cNvPr id="5" name="Shape 3"/>
          <p:cNvSpPr/>
          <p:nvPr/>
        </p:nvSpPr>
        <p:spPr>
          <a:xfrm>
            <a:off x="777240" y="1691640"/>
            <a:ext cx="10607040" cy="4572000"/>
          </a:xfrm>
          <a:prstGeom prst="rect">
            <a:avLst/>
          </a:prstGeom>
          <a:solidFill>
            <a:srgbClr val="CBF1F6"/>
          </a:solidFill>
          <a:ln w="12700">
            <a:solidFill>
              <a:srgbClr val="CBF1F6"/>
            </a:solidFill>
            <a:prstDash val="solid"/>
          </a:ln>
        </p:spPr>
      </p:sp>
      <p:pic>
        <p:nvPicPr>
          <p:cNvPr id="6" name="Image 0" descr="preencoded.png">    </p:cNvPr>
          <p:cNvPicPr>
            <a:picLocks noChangeAspect="1"/>
          </p:cNvPicPr>
          <p:nvPr/>
        </p:nvPicPr>
        <p:blipFill>
          <a:blip r:embed="rId1"/>
          <a:stretch>
            <a:fillRect/>
          </a:stretch>
        </p:blipFill>
        <p:spPr>
          <a:xfrm>
            <a:off x="1097280" y="2011680"/>
            <a:ext cx="822960" cy="822960"/>
          </a:xfrm>
          <a:prstGeom prst="rect">
            <a:avLst/>
          </a:prstGeom>
        </p:spPr>
      </p:pic>
      <p:sp>
        <p:nvSpPr>
          <p:cNvPr id="7" name="Text 4"/>
          <p:cNvSpPr/>
          <p:nvPr/>
        </p:nvSpPr>
        <p:spPr>
          <a:xfrm>
            <a:off x="2194560" y="2011680"/>
            <a:ext cx="9144000" cy="82296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Where does this state live?</a:t>
            </a:r>
            <a:endParaRPr lang="en-US" sz="2800" dirty="0"/>
          </a:p>
        </p:txBody>
      </p:sp>
      <p:sp>
        <p:nvSpPr>
          <p:cNvPr id="8" name="Text 5"/>
          <p:cNvSpPr/>
          <p:nvPr/>
        </p:nvSpPr>
        <p:spPr>
          <a:xfrm>
            <a:off x="1097280" y="3200400"/>
            <a:ext cx="10058400" cy="41148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If it lives on the server,</a:t>
            </a:r>
            <a:endParaRPr lang="en-US" sz="1600" dirty="0"/>
          </a:p>
        </p:txBody>
      </p:sp>
      <p:sp>
        <p:nvSpPr>
          <p:cNvPr id="9" name="Text 6"/>
          <p:cNvSpPr/>
          <p:nvPr/>
        </p:nvSpPr>
        <p:spPr>
          <a:xfrm>
            <a:off x="1097280" y="3611880"/>
            <a:ext cx="10058400" cy="640080"/>
          </a:xfrm>
          <a:prstGeom prst="rect">
            <a:avLst/>
          </a:prstGeom>
          <a:noFill/>
          <a:ln/>
        </p:spPr>
        <p:txBody>
          <a:bodyPr wrap="square" lIns="0" tIns="0" rIns="0" bIns="0" rtlCol="0" anchor="t"/>
          <a:lstStyle/>
          <a:p>
            <a:pPr indent="0" marL="0">
              <a:buNone/>
            </a:pPr>
            <a:r>
              <a:rPr lang="en-US" sz="1300" dirty="0">
                <a:solidFill>
                  <a:srgbClr val="475569"/>
                </a:solidFill>
                <a:latin typeface="Arial" pitchFamily="34" charset="0"/>
                <a:ea typeface="Arial" pitchFamily="34" charset="-122"/>
                <a:cs typeface="Arial" pitchFamily="34" charset="-120"/>
              </a:rPr>
              <a:t>…you have server state. Use TanStack Query, SWR, RTK Query, or Server Components. Don't put server data in a client store unless you've thought hard about it.</a:t>
            </a:r>
            <a:endParaRPr lang="en-US" sz="1300" dirty="0"/>
          </a:p>
        </p:txBody>
      </p:sp>
      <p:sp>
        <p:nvSpPr>
          <p:cNvPr id="10" name="Text 7"/>
          <p:cNvSpPr/>
          <p:nvPr/>
        </p:nvSpPr>
        <p:spPr>
          <a:xfrm>
            <a:off x="1097280" y="4434840"/>
            <a:ext cx="10058400" cy="41148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If it lives in the client,</a:t>
            </a:r>
            <a:endParaRPr lang="en-US" sz="1600" dirty="0"/>
          </a:p>
        </p:txBody>
      </p:sp>
      <p:sp>
        <p:nvSpPr>
          <p:cNvPr id="11" name="Text 8"/>
          <p:cNvSpPr/>
          <p:nvPr/>
        </p:nvSpPr>
        <p:spPr>
          <a:xfrm>
            <a:off x="1097280" y="4846320"/>
            <a:ext cx="10058400" cy="640080"/>
          </a:xfrm>
          <a:prstGeom prst="rect">
            <a:avLst/>
          </a:prstGeom>
          <a:noFill/>
          <a:ln/>
        </p:spPr>
        <p:txBody>
          <a:bodyPr wrap="square" lIns="0" tIns="0" rIns="0" bIns="0" rtlCol="0" anchor="t"/>
          <a:lstStyle/>
          <a:p>
            <a:pPr indent="0" marL="0">
              <a:buNone/>
            </a:pPr>
            <a:r>
              <a:rPr lang="en-US" sz="1300" dirty="0">
                <a:solidFill>
                  <a:srgbClr val="475569"/>
                </a:solidFill>
                <a:latin typeface="Arial" pitchFamily="34" charset="0"/>
                <a:ea typeface="Arial" pitchFamily="34" charset="-122"/>
                <a:cs typeface="Arial" pitchFamily="34" charset="-120"/>
              </a:rPr>
              <a:t>…you have client state. The next question becomes: how many components share it?</a:t>
            </a:r>
            <a:endParaRPr lang="en-US" sz="1300" dirty="0"/>
          </a:p>
        </p:txBody>
      </p:sp>
      <p:sp>
        <p:nvSpPr>
          <p:cNvPr id="12"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13"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4 / 28</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decision tree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Five questions, six answers. Most state lands in the first two boxes.</a:t>
            </a:r>
            <a:endParaRPr lang="en-US" sz="1400" dirty="0"/>
          </a:p>
        </p:txBody>
      </p:sp>
      <p:sp>
        <p:nvSpPr>
          <p:cNvPr id="5" name="Shape 3"/>
          <p:cNvSpPr/>
          <p:nvPr/>
        </p:nvSpPr>
        <p:spPr>
          <a:xfrm>
            <a:off x="4251960" y="1463040"/>
            <a:ext cx="3657600" cy="640080"/>
          </a:xfrm>
          <a:prstGeom prst="rect">
            <a:avLst/>
          </a:prstGeom>
          <a:solidFill>
            <a:srgbClr val="1E2A47"/>
          </a:solidFill>
          <a:ln w="12700">
            <a:solidFill>
              <a:srgbClr val="1E2A47"/>
            </a:solidFill>
            <a:prstDash val="solid"/>
          </a:ln>
        </p:spPr>
      </p:sp>
      <p:sp>
        <p:nvSpPr>
          <p:cNvPr id="6" name="Text 4"/>
          <p:cNvSpPr/>
          <p:nvPr/>
        </p:nvSpPr>
        <p:spPr>
          <a:xfrm>
            <a:off x="4251960" y="1463040"/>
            <a:ext cx="3657600" cy="640080"/>
          </a:xfrm>
          <a:prstGeom prst="rect">
            <a:avLst/>
          </a:prstGeom>
          <a:noFill/>
          <a:ln/>
        </p:spPr>
        <p:txBody>
          <a:bodyPr wrap="square" lIns="0" tIns="0" rIns="0" bIns="0" rtlCol="0" anchor="ctr"/>
          <a:lstStyle/>
          <a:p>
            <a:pPr algn="ctr" indent="0" marL="0">
              <a:buNone/>
            </a:pPr>
            <a:r>
              <a:rPr lang="en-US" sz="1300" b="1" dirty="0">
                <a:solidFill>
                  <a:srgbClr val="00B8D9"/>
                </a:solidFill>
                <a:latin typeface="Trebuchet MS" pitchFamily="34" charset="0"/>
                <a:ea typeface="Trebuchet MS" pitchFamily="34" charset="-122"/>
                <a:cs typeface="Trebuchet MS" pitchFamily="34" charset="-120"/>
              </a:rPr>
              <a:t>Where does the source of truth live?</a:t>
            </a:r>
            <a:endParaRPr lang="en-US" sz="1300" dirty="0"/>
          </a:p>
        </p:txBody>
      </p:sp>
      <p:sp>
        <p:nvSpPr>
          <p:cNvPr id="7" name="Shape 5"/>
          <p:cNvSpPr/>
          <p:nvPr/>
        </p:nvSpPr>
        <p:spPr>
          <a:xfrm>
            <a:off x="1371600" y="2606040"/>
            <a:ext cx="3200400" cy="548640"/>
          </a:xfrm>
          <a:prstGeom prst="rect">
            <a:avLst/>
          </a:prstGeom>
          <a:solidFill>
            <a:srgbClr val="FFFFFF"/>
          </a:solidFill>
          <a:ln w="12700">
            <a:solidFill>
              <a:srgbClr val="E2E8F0"/>
            </a:solidFill>
            <a:prstDash val="solid"/>
          </a:ln>
        </p:spPr>
      </p:sp>
      <p:sp>
        <p:nvSpPr>
          <p:cNvPr id="8" name="Text 6"/>
          <p:cNvSpPr/>
          <p:nvPr/>
        </p:nvSpPr>
        <p:spPr>
          <a:xfrm>
            <a:off x="1371600" y="2606040"/>
            <a:ext cx="3200400" cy="548640"/>
          </a:xfrm>
          <a:prstGeom prst="rect">
            <a:avLst/>
          </a:prstGeom>
          <a:noFill/>
          <a:ln/>
        </p:spPr>
        <p:txBody>
          <a:bodyPr wrap="square" lIns="0" tIns="0" rIns="0" bIns="0" rtlCol="0" anchor="ctr"/>
          <a:lstStyle/>
          <a:p>
            <a:pPr algn="ctr" indent="0" marL="0">
              <a:buNone/>
            </a:pPr>
            <a:r>
              <a:rPr lang="en-US" sz="1400" b="1" dirty="0">
                <a:solidFill>
                  <a:srgbClr val="059669"/>
                </a:solidFill>
                <a:latin typeface="Trebuchet MS" pitchFamily="34" charset="0"/>
                <a:ea typeface="Trebuchet MS" pitchFamily="34" charset="-122"/>
                <a:cs typeface="Trebuchet MS" pitchFamily="34" charset="-120"/>
              </a:rPr>
              <a:t>Server</a:t>
            </a:r>
            <a:endParaRPr lang="en-US" sz="1400" dirty="0"/>
          </a:p>
        </p:txBody>
      </p:sp>
      <p:sp>
        <p:nvSpPr>
          <p:cNvPr id="9" name="Shape 7"/>
          <p:cNvSpPr/>
          <p:nvPr/>
        </p:nvSpPr>
        <p:spPr>
          <a:xfrm>
            <a:off x="7635240" y="2606040"/>
            <a:ext cx="3200400" cy="548640"/>
          </a:xfrm>
          <a:prstGeom prst="rect">
            <a:avLst/>
          </a:prstGeom>
          <a:solidFill>
            <a:srgbClr val="FFFFFF"/>
          </a:solidFill>
          <a:ln w="12700">
            <a:solidFill>
              <a:srgbClr val="E2E8F0"/>
            </a:solidFill>
            <a:prstDash val="solid"/>
          </a:ln>
        </p:spPr>
      </p:sp>
      <p:sp>
        <p:nvSpPr>
          <p:cNvPr id="10" name="Text 8"/>
          <p:cNvSpPr/>
          <p:nvPr/>
        </p:nvSpPr>
        <p:spPr>
          <a:xfrm>
            <a:off x="7635240" y="2606040"/>
            <a:ext cx="3200400" cy="548640"/>
          </a:xfrm>
          <a:prstGeom prst="rect">
            <a:avLst/>
          </a:prstGeom>
          <a:noFill/>
          <a:ln/>
        </p:spPr>
        <p:txBody>
          <a:bodyPr wrap="square" lIns="0" tIns="0" rIns="0" bIns="0" rtlCol="0" anchor="ctr"/>
          <a:lstStyle/>
          <a:p>
            <a:pPr algn="ctr" indent="0" marL="0">
              <a:buNone/>
            </a:pPr>
            <a:r>
              <a:rPr lang="en-US" sz="1400" b="1" dirty="0">
                <a:solidFill>
                  <a:srgbClr val="00B8D9"/>
                </a:solidFill>
                <a:latin typeface="Trebuchet MS" pitchFamily="34" charset="0"/>
                <a:ea typeface="Trebuchet MS" pitchFamily="34" charset="-122"/>
                <a:cs typeface="Trebuchet MS" pitchFamily="34" charset="-120"/>
              </a:rPr>
              <a:t>Client</a:t>
            </a:r>
            <a:endParaRPr lang="en-US" sz="1400" dirty="0"/>
          </a:p>
        </p:txBody>
      </p:sp>
      <p:sp>
        <p:nvSpPr>
          <p:cNvPr id="11" name="Shape 9"/>
          <p:cNvSpPr/>
          <p:nvPr/>
        </p:nvSpPr>
        <p:spPr>
          <a:xfrm>
            <a:off x="6080760" y="2103120"/>
            <a:ext cx="0" cy="274320"/>
          </a:xfrm>
          <a:prstGeom prst="line">
            <a:avLst/>
          </a:prstGeom>
          <a:noFill/>
          <a:ln w="25400">
            <a:solidFill>
              <a:srgbClr val="00B8D9"/>
            </a:solidFill>
            <a:prstDash val="solid"/>
          </a:ln>
        </p:spPr>
      </p:sp>
      <p:sp>
        <p:nvSpPr>
          <p:cNvPr id="12" name="Shape 10"/>
          <p:cNvSpPr/>
          <p:nvPr/>
        </p:nvSpPr>
        <p:spPr>
          <a:xfrm>
            <a:off x="2971800" y="2377440"/>
            <a:ext cx="6263640" cy="0"/>
          </a:xfrm>
          <a:prstGeom prst="line">
            <a:avLst/>
          </a:prstGeom>
          <a:noFill/>
          <a:ln w="25400">
            <a:solidFill>
              <a:srgbClr val="00B8D9"/>
            </a:solidFill>
            <a:prstDash val="solid"/>
          </a:ln>
        </p:spPr>
      </p:sp>
      <p:sp>
        <p:nvSpPr>
          <p:cNvPr id="13" name="Shape 11"/>
          <p:cNvSpPr/>
          <p:nvPr/>
        </p:nvSpPr>
        <p:spPr>
          <a:xfrm>
            <a:off x="2971800" y="2377440"/>
            <a:ext cx="0" cy="228600"/>
          </a:xfrm>
          <a:prstGeom prst="line">
            <a:avLst/>
          </a:prstGeom>
          <a:noFill/>
          <a:ln w="25400">
            <a:solidFill>
              <a:srgbClr val="00B8D9"/>
            </a:solidFill>
            <a:prstDash val="solid"/>
          </a:ln>
        </p:spPr>
      </p:sp>
      <p:sp>
        <p:nvSpPr>
          <p:cNvPr id="14" name="Shape 12"/>
          <p:cNvSpPr/>
          <p:nvPr/>
        </p:nvSpPr>
        <p:spPr>
          <a:xfrm>
            <a:off x="9235440" y="2377440"/>
            <a:ext cx="0" cy="228600"/>
          </a:xfrm>
          <a:prstGeom prst="line">
            <a:avLst/>
          </a:prstGeom>
          <a:noFill/>
          <a:ln w="25400">
            <a:solidFill>
              <a:srgbClr val="00B8D9"/>
            </a:solidFill>
            <a:prstDash val="solid"/>
          </a:ln>
        </p:spPr>
      </p:sp>
      <p:sp>
        <p:nvSpPr>
          <p:cNvPr id="15" name="Shape 13"/>
          <p:cNvSpPr/>
          <p:nvPr/>
        </p:nvSpPr>
        <p:spPr>
          <a:xfrm>
            <a:off x="1371600" y="3520440"/>
            <a:ext cx="3200400" cy="777240"/>
          </a:xfrm>
          <a:prstGeom prst="rect">
            <a:avLst/>
          </a:prstGeom>
          <a:solidFill>
            <a:srgbClr val="CBF1F6"/>
          </a:solidFill>
          <a:ln w="12700">
            <a:solidFill>
              <a:srgbClr val="CBF1F6"/>
            </a:solidFill>
            <a:prstDash val="solid"/>
          </a:ln>
        </p:spPr>
      </p:sp>
      <p:sp>
        <p:nvSpPr>
          <p:cNvPr id="16" name="Text 14"/>
          <p:cNvSpPr/>
          <p:nvPr/>
        </p:nvSpPr>
        <p:spPr>
          <a:xfrm>
            <a:off x="1371600" y="3520440"/>
            <a:ext cx="3200400" cy="777240"/>
          </a:xfrm>
          <a:prstGeom prst="rect">
            <a:avLst/>
          </a:prstGeom>
          <a:noFill/>
          <a:ln/>
        </p:spPr>
        <p:txBody>
          <a:bodyPr wrap="square" lIns="0" tIns="0" rIns="0" bIns="0"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TanStack Query · SWR · RTK Query</a:t>
            </a:r>
            <a:endParaRPr lang="en-US" sz="1200" dirty="0"/>
          </a:p>
          <a:p>
            <a:pPr algn="ctr" indent="0" marL="0">
              <a:buNone/>
            </a:pPr>
            <a:r>
              <a:rPr lang="en-US" sz="1200" b="1" dirty="0">
                <a:solidFill>
                  <a:srgbClr val="0F172A"/>
                </a:solidFill>
                <a:latin typeface="Arial" pitchFamily="34" charset="0"/>
                <a:ea typeface="Arial" pitchFamily="34" charset="-122"/>
                <a:cs typeface="Arial" pitchFamily="34" charset="-120"/>
              </a:rPr>
              <a:t>(or Server Components)</a:t>
            </a:r>
            <a:endParaRPr lang="en-US" sz="1200" dirty="0"/>
          </a:p>
        </p:txBody>
      </p:sp>
      <p:sp>
        <p:nvSpPr>
          <p:cNvPr id="17" name="Shape 15"/>
          <p:cNvSpPr/>
          <p:nvPr/>
        </p:nvSpPr>
        <p:spPr>
          <a:xfrm>
            <a:off x="2971800" y="3154680"/>
            <a:ext cx="0" cy="365760"/>
          </a:xfrm>
          <a:prstGeom prst="line">
            <a:avLst/>
          </a:prstGeom>
          <a:noFill/>
          <a:ln w="25400">
            <a:solidFill>
              <a:srgbClr val="00B8D9"/>
            </a:solidFill>
            <a:prstDash val="solid"/>
          </a:ln>
        </p:spPr>
      </p:sp>
      <p:sp>
        <p:nvSpPr>
          <p:cNvPr id="18" name="Shape 16"/>
          <p:cNvSpPr/>
          <p:nvPr/>
        </p:nvSpPr>
        <p:spPr>
          <a:xfrm>
            <a:off x="7635240" y="3520440"/>
            <a:ext cx="3200400" cy="548640"/>
          </a:xfrm>
          <a:prstGeom prst="rect">
            <a:avLst/>
          </a:prstGeom>
          <a:solidFill>
            <a:srgbClr val="1E2A47"/>
          </a:solidFill>
          <a:ln w="12700">
            <a:solidFill>
              <a:srgbClr val="1E2A47"/>
            </a:solidFill>
            <a:prstDash val="solid"/>
          </a:ln>
        </p:spPr>
      </p:sp>
      <p:sp>
        <p:nvSpPr>
          <p:cNvPr id="19" name="Text 17"/>
          <p:cNvSpPr/>
          <p:nvPr/>
        </p:nvSpPr>
        <p:spPr>
          <a:xfrm>
            <a:off x="7635240" y="3520440"/>
            <a:ext cx="3200400" cy="548640"/>
          </a:xfrm>
          <a:prstGeom prst="rect">
            <a:avLst/>
          </a:prstGeom>
          <a:noFill/>
          <a:ln/>
        </p:spPr>
        <p:txBody>
          <a:bodyPr wrap="square" lIns="0" tIns="0" rIns="0" bIns="0" rtlCol="0" anchor="ctr"/>
          <a:lstStyle/>
          <a:p>
            <a:pPr algn="ctr" indent="0" marL="0">
              <a:buNone/>
            </a:pPr>
            <a:r>
              <a:rPr lang="en-US" sz="1200" b="1" dirty="0">
                <a:solidFill>
                  <a:srgbClr val="00B8D9"/>
                </a:solidFill>
                <a:latin typeface="Trebuchet MS" pitchFamily="34" charset="0"/>
                <a:ea typeface="Trebuchet MS" pitchFamily="34" charset="-122"/>
                <a:cs typeface="Trebuchet MS" pitchFamily="34" charset="-120"/>
              </a:rPr>
              <a:t>How widely is it shared?</a:t>
            </a:r>
            <a:endParaRPr lang="en-US" sz="1200" dirty="0"/>
          </a:p>
        </p:txBody>
      </p:sp>
      <p:sp>
        <p:nvSpPr>
          <p:cNvPr id="20" name="Shape 18"/>
          <p:cNvSpPr/>
          <p:nvPr/>
        </p:nvSpPr>
        <p:spPr>
          <a:xfrm>
            <a:off x="9235440" y="3154680"/>
            <a:ext cx="0" cy="365760"/>
          </a:xfrm>
          <a:prstGeom prst="line">
            <a:avLst/>
          </a:prstGeom>
          <a:noFill/>
          <a:ln w="25400">
            <a:solidFill>
              <a:srgbClr val="00B8D9"/>
            </a:solidFill>
            <a:prstDash val="solid"/>
          </a:ln>
        </p:spPr>
      </p:sp>
      <p:sp>
        <p:nvSpPr>
          <p:cNvPr id="21" name="Shape 19"/>
          <p:cNvSpPr/>
          <p:nvPr/>
        </p:nvSpPr>
        <p:spPr>
          <a:xfrm>
            <a:off x="7818120" y="4114800"/>
            <a:ext cx="1417320" cy="0"/>
          </a:xfrm>
          <a:prstGeom prst="line">
            <a:avLst/>
          </a:prstGeom>
          <a:noFill/>
          <a:ln w="25400">
            <a:solidFill>
              <a:srgbClr val="00B8D9"/>
            </a:solidFill>
            <a:prstDash val="solid"/>
          </a:ln>
        </p:spPr>
      </p:sp>
      <p:sp>
        <p:nvSpPr>
          <p:cNvPr id="22" name="Shape 20"/>
          <p:cNvSpPr/>
          <p:nvPr/>
        </p:nvSpPr>
        <p:spPr>
          <a:xfrm>
            <a:off x="9235440" y="4069080"/>
            <a:ext cx="0" cy="45720"/>
          </a:xfrm>
          <a:prstGeom prst="line">
            <a:avLst/>
          </a:prstGeom>
          <a:noFill/>
          <a:ln w="25400">
            <a:solidFill>
              <a:srgbClr val="00B8D9"/>
            </a:solidFill>
            <a:prstDash val="solid"/>
          </a:ln>
        </p:spPr>
      </p:sp>
      <p:sp>
        <p:nvSpPr>
          <p:cNvPr id="23" name="Shape 21"/>
          <p:cNvSpPr/>
          <p:nvPr/>
        </p:nvSpPr>
        <p:spPr>
          <a:xfrm>
            <a:off x="7818120" y="4114800"/>
            <a:ext cx="0" cy="2057400"/>
          </a:xfrm>
          <a:prstGeom prst="line">
            <a:avLst/>
          </a:prstGeom>
          <a:noFill/>
          <a:ln w="25400">
            <a:solidFill>
              <a:srgbClr val="00B8D9"/>
            </a:solidFill>
            <a:prstDash val="solid"/>
          </a:ln>
        </p:spPr>
      </p:sp>
      <p:sp>
        <p:nvSpPr>
          <p:cNvPr id="24" name="Shape 22"/>
          <p:cNvSpPr/>
          <p:nvPr/>
        </p:nvSpPr>
        <p:spPr>
          <a:xfrm>
            <a:off x="7818120" y="4617720"/>
            <a:ext cx="228600" cy="0"/>
          </a:xfrm>
          <a:prstGeom prst="line">
            <a:avLst/>
          </a:prstGeom>
          <a:noFill/>
          <a:ln w="25400">
            <a:solidFill>
              <a:srgbClr val="00B8D9"/>
            </a:solidFill>
            <a:prstDash val="solid"/>
          </a:ln>
        </p:spPr>
      </p:sp>
      <p:sp>
        <p:nvSpPr>
          <p:cNvPr id="25" name="Shape 23"/>
          <p:cNvSpPr/>
          <p:nvPr/>
        </p:nvSpPr>
        <p:spPr>
          <a:xfrm>
            <a:off x="7818120" y="5394960"/>
            <a:ext cx="228600" cy="0"/>
          </a:xfrm>
          <a:prstGeom prst="line">
            <a:avLst/>
          </a:prstGeom>
          <a:noFill/>
          <a:ln w="25400">
            <a:solidFill>
              <a:srgbClr val="00B8D9"/>
            </a:solidFill>
            <a:prstDash val="solid"/>
          </a:ln>
        </p:spPr>
      </p:sp>
      <p:sp>
        <p:nvSpPr>
          <p:cNvPr id="26" name="Shape 24"/>
          <p:cNvSpPr/>
          <p:nvPr/>
        </p:nvSpPr>
        <p:spPr>
          <a:xfrm>
            <a:off x="7818120" y="6172200"/>
            <a:ext cx="228600" cy="0"/>
          </a:xfrm>
          <a:prstGeom prst="line">
            <a:avLst/>
          </a:prstGeom>
          <a:noFill/>
          <a:ln w="25400">
            <a:solidFill>
              <a:srgbClr val="00B8D9"/>
            </a:solidFill>
            <a:prstDash val="solid"/>
          </a:ln>
        </p:spPr>
      </p:sp>
      <p:sp>
        <p:nvSpPr>
          <p:cNvPr id="27" name="Shape 25"/>
          <p:cNvSpPr/>
          <p:nvPr/>
        </p:nvSpPr>
        <p:spPr>
          <a:xfrm>
            <a:off x="8046720" y="4297680"/>
            <a:ext cx="2788920" cy="640080"/>
          </a:xfrm>
          <a:prstGeom prst="rect">
            <a:avLst/>
          </a:prstGeom>
          <a:solidFill>
            <a:srgbClr val="FFFFFF"/>
          </a:solidFill>
          <a:ln w="12700">
            <a:solidFill>
              <a:srgbClr val="E2E8F0"/>
            </a:solidFill>
            <a:prstDash val="solid"/>
          </a:ln>
        </p:spPr>
      </p:sp>
      <p:sp>
        <p:nvSpPr>
          <p:cNvPr id="28" name="Text 26"/>
          <p:cNvSpPr/>
          <p:nvPr/>
        </p:nvSpPr>
        <p:spPr>
          <a:xfrm>
            <a:off x="8138160" y="4343400"/>
            <a:ext cx="1417320" cy="54864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One component or its children</a:t>
            </a:r>
            <a:endParaRPr lang="en-US" sz="1050" dirty="0"/>
          </a:p>
        </p:txBody>
      </p:sp>
      <p:sp>
        <p:nvSpPr>
          <p:cNvPr id="29" name="Text 27"/>
          <p:cNvSpPr/>
          <p:nvPr/>
        </p:nvSpPr>
        <p:spPr>
          <a:xfrm>
            <a:off x="9601200" y="4343400"/>
            <a:ext cx="1234440" cy="548640"/>
          </a:xfrm>
          <a:prstGeom prst="rect">
            <a:avLst/>
          </a:prstGeom>
          <a:noFill/>
          <a:ln/>
        </p:spPr>
        <p:txBody>
          <a:bodyPr wrap="square" lIns="0" tIns="0" rIns="0" bIns="0" rtlCol="0" anchor="ctr"/>
          <a:lstStyle/>
          <a:p>
            <a:pPr indent="0" marL="0">
              <a:buNone/>
            </a:pPr>
            <a:r>
              <a:rPr lang="en-US" sz="1050" b="1" dirty="0">
                <a:solidFill>
                  <a:srgbClr val="00B8D9"/>
                </a:solidFill>
                <a:latin typeface="Arial" pitchFamily="34" charset="0"/>
                <a:ea typeface="Arial" pitchFamily="34" charset="-122"/>
                <a:cs typeface="Arial" pitchFamily="34" charset="-120"/>
              </a:rPr>
              <a:t>→ useState / useReducer</a:t>
            </a:r>
            <a:endParaRPr lang="en-US" sz="1050" dirty="0"/>
          </a:p>
        </p:txBody>
      </p:sp>
      <p:sp>
        <p:nvSpPr>
          <p:cNvPr id="30" name="Shape 28"/>
          <p:cNvSpPr/>
          <p:nvPr/>
        </p:nvSpPr>
        <p:spPr>
          <a:xfrm>
            <a:off x="8046720" y="5074920"/>
            <a:ext cx="2788920" cy="640080"/>
          </a:xfrm>
          <a:prstGeom prst="rect">
            <a:avLst/>
          </a:prstGeom>
          <a:solidFill>
            <a:srgbClr val="FFFFFF"/>
          </a:solidFill>
          <a:ln w="12700">
            <a:solidFill>
              <a:srgbClr val="E2E8F0"/>
            </a:solidFill>
            <a:prstDash val="solid"/>
          </a:ln>
        </p:spPr>
      </p:sp>
      <p:sp>
        <p:nvSpPr>
          <p:cNvPr id="31" name="Text 29"/>
          <p:cNvSpPr/>
          <p:nvPr/>
        </p:nvSpPr>
        <p:spPr>
          <a:xfrm>
            <a:off x="8138160" y="5120640"/>
            <a:ext cx="1417320" cy="54864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A subtree (e.g. a feature)</a:t>
            </a:r>
            <a:endParaRPr lang="en-US" sz="1050" dirty="0"/>
          </a:p>
        </p:txBody>
      </p:sp>
      <p:sp>
        <p:nvSpPr>
          <p:cNvPr id="32" name="Text 30"/>
          <p:cNvSpPr/>
          <p:nvPr/>
        </p:nvSpPr>
        <p:spPr>
          <a:xfrm>
            <a:off x="9601200" y="5120640"/>
            <a:ext cx="1234440" cy="548640"/>
          </a:xfrm>
          <a:prstGeom prst="rect">
            <a:avLst/>
          </a:prstGeom>
          <a:noFill/>
          <a:ln/>
        </p:spPr>
        <p:txBody>
          <a:bodyPr wrap="square" lIns="0" tIns="0" rIns="0" bIns="0" rtlCol="0" anchor="ctr"/>
          <a:lstStyle/>
          <a:p>
            <a:pPr indent="0" marL="0">
              <a:buNone/>
            </a:pPr>
            <a:r>
              <a:rPr lang="en-US" sz="1050" b="1" dirty="0">
                <a:solidFill>
                  <a:srgbClr val="00B8D9"/>
                </a:solidFill>
                <a:latin typeface="Arial" pitchFamily="34" charset="0"/>
                <a:ea typeface="Arial" pitchFamily="34" charset="-122"/>
                <a:cs typeface="Arial" pitchFamily="34" charset="-120"/>
              </a:rPr>
              <a:t>→ Lift state · Context for plumbing</a:t>
            </a:r>
            <a:endParaRPr lang="en-US" sz="1050" dirty="0"/>
          </a:p>
        </p:txBody>
      </p:sp>
      <p:sp>
        <p:nvSpPr>
          <p:cNvPr id="33" name="Shape 31"/>
          <p:cNvSpPr/>
          <p:nvPr/>
        </p:nvSpPr>
        <p:spPr>
          <a:xfrm>
            <a:off x="8046720" y="5852160"/>
            <a:ext cx="2788920" cy="640080"/>
          </a:xfrm>
          <a:prstGeom prst="rect">
            <a:avLst/>
          </a:prstGeom>
          <a:solidFill>
            <a:srgbClr val="FFFFFF"/>
          </a:solidFill>
          <a:ln w="12700">
            <a:solidFill>
              <a:srgbClr val="E2E8F0"/>
            </a:solidFill>
            <a:prstDash val="solid"/>
          </a:ln>
        </p:spPr>
      </p:sp>
      <p:sp>
        <p:nvSpPr>
          <p:cNvPr id="34" name="Text 32"/>
          <p:cNvSpPr/>
          <p:nvPr/>
        </p:nvSpPr>
        <p:spPr>
          <a:xfrm>
            <a:off x="8138160" y="5897880"/>
            <a:ext cx="1417320" cy="54864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Across the whole app</a:t>
            </a:r>
            <a:endParaRPr lang="en-US" sz="1050" dirty="0"/>
          </a:p>
        </p:txBody>
      </p:sp>
      <p:sp>
        <p:nvSpPr>
          <p:cNvPr id="35" name="Text 33"/>
          <p:cNvSpPr/>
          <p:nvPr/>
        </p:nvSpPr>
        <p:spPr>
          <a:xfrm>
            <a:off x="9601200" y="5897880"/>
            <a:ext cx="1234440" cy="548640"/>
          </a:xfrm>
          <a:prstGeom prst="rect">
            <a:avLst/>
          </a:prstGeom>
          <a:noFill/>
          <a:ln/>
        </p:spPr>
        <p:txBody>
          <a:bodyPr wrap="square" lIns="0" tIns="0" rIns="0" bIns="0" rtlCol="0" anchor="ctr"/>
          <a:lstStyle/>
          <a:p>
            <a:pPr indent="0" marL="0">
              <a:buNone/>
            </a:pPr>
            <a:r>
              <a:rPr lang="en-US" sz="1050" b="1" dirty="0">
                <a:solidFill>
                  <a:srgbClr val="00B8D9"/>
                </a:solidFill>
                <a:latin typeface="Arial" pitchFamily="34" charset="0"/>
                <a:ea typeface="Arial" pitchFamily="34" charset="-122"/>
                <a:cs typeface="Arial" pitchFamily="34" charset="-120"/>
              </a:rPr>
              <a:t>→ Zustand · Jotai · RTK</a:t>
            </a:r>
            <a:endParaRPr lang="en-US" sz="1050" dirty="0"/>
          </a:p>
        </p:txBody>
      </p:sp>
      <p:sp>
        <p:nvSpPr>
          <p:cNvPr id="36" name="Text 34"/>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37" name="Text 35"/>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5 / 28</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6">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2</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Foundational Patterns</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useState, useReducer, Context — and the antipatterns that keep them honest.</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useState and useReducer — the right defaults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Most state in a 2026 React app is local. Resist the upgrade reflex.</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502920" cy="502920"/>
          </a:xfrm>
          <a:prstGeom prst="rect">
            <a:avLst/>
          </a:prstGeom>
        </p:spPr>
      </p:pic>
      <p:sp>
        <p:nvSpPr>
          <p:cNvPr id="7" name="Text 4"/>
          <p:cNvSpPr/>
          <p:nvPr/>
        </p:nvSpPr>
        <p:spPr>
          <a:xfrm>
            <a:off x="1691640" y="178308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Reach for useState first</a:t>
            </a:r>
            <a:endParaRPr lang="en-US" sz="1400" dirty="0"/>
          </a:p>
        </p:txBody>
      </p:sp>
      <p:sp>
        <p:nvSpPr>
          <p:cNvPr id="8" name="Text 5"/>
          <p:cNvSpPr/>
          <p:nvPr/>
        </p:nvSpPr>
        <p:spPr>
          <a:xfrm>
            <a:off x="1691640" y="210312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If a component reads or writes the value, that's where the state belongs. Don't lift until you have to.</a:t>
            </a:r>
            <a:endParaRPr lang="en-US" sz="1150" dirty="0"/>
          </a:p>
        </p:txBody>
      </p:sp>
      <p:sp>
        <p:nvSpPr>
          <p:cNvPr id="9" name="Shape 6"/>
          <p:cNvSpPr/>
          <p:nvPr/>
        </p:nvSpPr>
        <p:spPr>
          <a:xfrm>
            <a:off x="777240" y="274320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926080"/>
            <a:ext cx="502920" cy="502920"/>
          </a:xfrm>
          <a:prstGeom prst="rect">
            <a:avLst/>
          </a:prstGeom>
        </p:spPr>
      </p:pic>
      <p:sp>
        <p:nvSpPr>
          <p:cNvPr id="11" name="Text 7"/>
          <p:cNvSpPr/>
          <p:nvPr/>
        </p:nvSpPr>
        <p:spPr>
          <a:xfrm>
            <a:off x="1691640" y="283464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Use functional updaters</a:t>
            </a:r>
            <a:endParaRPr lang="en-US" sz="1400" dirty="0"/>
          </a:p>
        </p:txBody>
      </p:sp>
      <p:sp>
        <p:nvSpPr>
          <p:cNvPr id="12" name="Text 8"/>
          <p:cNvSpPr/>
          <p:nvPr/>
        </p:nvSpPr>
        <p:spPr>
          <a:xfrm>
            <a:off x="1691640" y="315468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setX(n =&gt; n + 1) when the next value depends on the previous. Race-safe under concurrent updates.</a:t>
            </a:r>
            <a:endParaRPr lang="en-US" sz="1150" dirty="0"/>
          </a:p>
        </p:txBody>
      </p:sp>
      <p:sp>
        <p:nvSpPr>
          <p:cNvPr id="13" name="Shape 9"/>
          <p:cNvSpPr/>
          <p:nvPr/>
        </p:nvSpPr>
        <p:spPr>
          <a:xfrm>
            <a:off x="777240" y="379476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977640"/>
            <a:ext cx="502920" cy="502920"/>
          </a:xfrm>
          <a:prstGeom prst="rect">
            <a:avLst/>
          </a:prstGeom>
        </p:spPr>
      </p:pic>
      <p:sp>
        <p:nvSpPr>
          <p:cNvPr id="15" name="Text 10"/>
          <p:cNvSpPr/>
          <p:nvPr/>
        </p:nvSpPr>
        <p:spPr>
          <a:xfrm>
            <a:off x="1691640" y="388620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Lazy init for expensive defaults</a:t>
            </a:r>
            <a:endParaRPr lang="en-US" sz="1400" dirty="0"/>
          </a:p>
        </p:txBody>
      </p:sp>
      <p:sp>
        <p:nvSpPr>
          <p:cNvPr id="16" name="Text 11"/>
          <p:cNvSpPr/>
          <p:nvPr/>
        </p:nvSpPr>
        <p:spPr>
          <a:xfrm>
            <a:off x="1691640" y="420624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useState(() =&gt; expensive()) runs the function once on mount, not on every render.</a:t>
            </a:r>
            <a:endParaRPr lang="en-US" sz="1150" dirty="0"/>
          </a:p>
        </p:txBody>
      </p:sp>
      <p:sp>
        <p:nvSpPr>
          <p:cNvPr id="17" name="Shape 12"/>
          <p:cNvSpPr/>
          <p:nvPr/>
        </p:nvSpPr>
        <p:spPr>
          <a:xfrm>
            <a:off x="777240" y="484632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5029200"/>
            <a:ext cx="502920" cy="502920"/>
          </a:xfrm>
          <a:prstGeom prst="rect">
            <a:avLst/>
          </a:prstGeom>
        </p:spPr>
      </p:pic>
      <p:sp>
        <p:nvSpPr>
          <p:cNvPr id="19" name="Text 13"/>
          <p:cNvSpPr/>
          <p:nvPr/>
        </p:nvSpPr>
        <p:spPr>
          <a:xfrm>
            <a:off x="1691640" y="493776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useReducer when transitions get complex</a:t>
            </a:r>
            <a:endParaRPr lang="en-US" sz="1400" dirty="0"/>
          </a:p>
        </p:txBody>
      </p:sp>
      <p:sp>
        <p:nvSpPr>
          <p:cNvPr id="20" name="Text 14"/>
          <p:cNvSpPr/>
          <p:nvPr/>
        </p:nvSpPr>
        <p:spPr>
          <a:xfrm>
            <a:off x="1691640" y="525780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Multiple related fields, validation, undo/redo, state machines. The transition function tests in isolation.</a:t>
            </a:r>
            <a:endParaRPr lang="en-US" sz="11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7 / 28</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Context — plumbing, not a store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Pass values through the tree without props. That's it. Everything else is misuse.</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400" b="1" dirty="0">
                <a:solidFill>
                  <a:srgbClr val="059669"/>
                </a:solidFill>
                <a:latin typeface="Trebuchet MS" pitchFamily="34" charset="0"/>
                <a:ea typeface="Trebuchet MS" pitchFamily="34" charset="-122"/>
                <a:cs typeface="Trebuchet MS" pitchFamily="34" charset="-120"/>
              </a:rPr>
              <a:t>Good fits</a:t>
            </a:r>
            <a:endParaRPr lang="en-US" sz="1400" dirty="0"/>
          </a:p>
        </p:txBody>
      </p:sp>
      <p:sp>
        <p:nvSpPr>
          <p:cNvPr id="6" name="Text 4"/>
          <p:cNvSpPr/>
          <p:nvPr/>
        </p:nvSpPr>
        <p:spPr>
          <a:xfrm>
            <a:off x="777240" y="1920240"/>
            <a:ext cx="5349240" cy="27432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Theme (dark/light, brand colors)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Authenticated user object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i18n locale + translation function</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Feature flags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A pre-instantiated client (e.g., apollo, query client)</a:t>
            </a:r>
            <a:endParaRPr lang="en-US" sz="1250" dirty="0"/>
          </a:p>
        </p:txBody>
      </p:sp>
      <p:sp>
        <p:nvSpPr>
          <p:cNvPr id="7" name="Text 5"/>
          <p:cNvSpPr/>
          <p:nvPr/>
        </p:nvSpPr>
        <p:spPr>
          <a:xfrm>
            <a:off x="6355080" y="1554480"/>
            <a:ext cx="5029200" cy="365760"/>
          </a:xfrm>
          <a:prstGeom prst="rect">
            <a:avLst/>
          </a:prstGeom>
          <a:noFill/>
          <a:ln/>
        </p:spPr>
        <p:txBody>
          <a:bodyPr wrap="square" lIns="0" tIns="0" rIns="0" bIns="0" rtlCol="0" anchor="ctr"/>
          <a:lstStyle/>
          <a:p>
            <a:pPr indent="0" marL="0">
              <a:buNone/>
            </a:pPr>
            <a:r>
              <a:rPr lang="en-US" sz="1400" b="1" dirty="0">
                <a:solidFill>
                  <a:srgbClr val="DC2626"/>
                </a:solidFill>
                <a:latin typeface="Trebuchet MS" pitchFamily="34" charset="0"/>
                <a:ea typeface="Trebuchet MS" pitchFamily="34" charset="-122"/>
                <a:cs typeface="Trebuchet MS" pitchFamily="34" charset="-120"/>
              </a:rPr>
              <a:t>Bad fits</a:t>
            </a:r>
            <a:endParaRPr lang="en-US" sz="1400" dirty="0"/>
          </a:p>
        </p:txBody>
      </p:sp>
      <p:sp>
        <p:nvSpPr>
          <p:cNvPr id="8" name="Text 6"/>
          <p:cNvSpPr/>
          <p:nvPr/>
        </p:nvSpPr>
        <p:spPr>
          <a:xfrm>
            <a:off x="6355080" y="1920240"/>
            <a:ext cx="5029200" cy="27432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Frequently-changing values that re-render the whole tree</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A list of items most of the tree doesn't read</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Server data — use TanStack Query instead</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Anything you'd need to subscribe to a slice of (use a store)</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"State management" — context is plumbing, not management</a:t>
            </a:r>
            <a:endParaRPr lang="en-US" sz="125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8 / 28</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context-as-store antipattern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Every consumer re-renders when ANY value changes. At scale, this is a perf bug waiting.</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300" b="1" dirty="0">
                <a:solidFill>
                  <a:srgbClr val="DC2626"/>
                </a:solidFill>
                <a:latin typeface="Trebuchet MS" pitchFamily="34" charset="0"/>
                <a:ea typeface="Trebuchet MS" pitchFamily="34" charset="-122"/>
                <a:cs typeface="Trebuchet MS" pitchFamily="34" charset="-120"/>
              </a:rPr>
              <a:t>The trap</a:t>
            </a:r>
            <a:endParaRPr lang="en-US" sz="1300" dirty="0"/>
          </a:p>
        </p:txBody>
      </p:sp>
      <p:sp>
        <p:nvSpPr>
          <p:cNvPr id="6" name="Shape 4"/>
          <p:cNvSpPr/>
          <p:nvPr/>
        </p:nvSpPr>
        <p:spPr>
          <a:xfrm>
            <a:off x="777240" y="1920240"/>
            <a:ext cx="5349240" cy="4023360"/>
          </a:xfrm>
          <a:prstGeom prst="rect">
            <a:avLst/>
          </a:prstGeom>
          <a:solidFill>
            <a:srgbClr val="1E2A47"/>
          </a:solidFill>
          <a:ln w="12700">
            <a:solidFill>
              <a:srgbClr val="1E2A47"/>
            </a:solidFill>
            <a:prstDash val="solid"/>
          </a:ln>
        </p:spPr>
      </p:sp>
      <p:sp>
        <p:nvSpPr>
          <p:cNvPr id="7" name="Text 5"/>
          <p:cNvSpPr/>
          <p:nvPr/>
        </p:nvSpPr>
        <p:spPr>
          <a:xfrm>
            <a:off x="960120" y="2057400"/>
            <a:ext cx="4983480" cy="374904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One context for everything</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const AppCtx = </a:t>
            </a:r>
            <a:pPr indent="0" marL="0">
              <a:buNone/>
            </a:pPr>
            <a:r>
              <a:rPr lang="en-US" sz="1200" dirty="0">
                <a:solidFill>
                  <a:srgbClr val="DCDCAA"/>
                </a:solidFill>
                <a:latin typeface="Courier New" pitchFamily="34" charset="0"/>
                <a:ea typeface="Courier New" pitchFamily="34" charset="-122"/>
                <a:cs typeface="Courier New" pitchFamily="34" charset="-120"/>
              </a:rPr>
              <a:t>createContext</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C586C0"/>
                </a:solidFill>
                <a:latin typeface="Courier New" pitchFamily="34" charset="0"/>
                <a:ea typeface="Courier New" pitchFamily="34" charset="-122"/>
                <a:cs typeface="Courier New" pitchFamily="34" charset="-120"/>
              </a:rPr>
              <a:t>null</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function </a:t>
            </a:r>
            <a:pPr indent="0" marL="0">
              <a:buNone/>
            </a:pPr>
            <a:r>
              <a:rPr lang="en-US" sz="1200" dirty="0">
                <a:solidFill>
                  <a:srgbClr val="DCDCAA"/>
                </a:solidFill>
                <a:latin typeface="Courier New" pitchFamily="34" charset="0"/>
                <a:ea typeface="Courier New" pitchFamily="34" charset="-122"/>
                <a:cs typeface="Courier New" pitchFamily="34" charset="-120"/>
              </a:rPr>
              <a:t>AppProvider</a:t>
            </a:r>
            <a:pPr indent="0" marL="0">
              <a:buNone/>
            </a:pPr>
            <a:r>
              <a:rPr lang="en-US" sz="1200" dirty="0">
                <a:solidFill>
                  <a:srgbClr val="FFFFFF"/>
                </a:solidFill>
                <a:latin typeface="Courier New" pitchFamily="34" charset="0"/>
                <a:ea typeface="Courier New" pitchFamily="34" charset="-122"/>
                <a:cs typeface="Courier New" pitchFamily="34" charset="-120"/>
              </a:rPr>
              <a:t>({ children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[user, setUser] = </a:t>
            </a:r>
            <a:pPr indent="0" marL="0">
              <a:buNone/>
            </a:pPr>
            <a:r>
              <a:rPr lang="en-US" sz="1200" dirty="0">
                <a:solidFill>
                  <a:srgbClr val="DCDCAA"/>
                </a:solidFill>
                <a:latin typeface="Courier New" pitchFamily="34" charset="0"/>
                <a:ea typeface="Courier New" pitchFamily="34" charset="-122"/>
                <a:cs typeface="Courier New" pitchFamily="34" charset="-120"/>
              </a:rPr>
              <a:t>useState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[theme, setTheme] = </a:t>
            </a:r>
            <a:pPr indent="0" marL="0">
              <a:buNone/>
            </a:pPr>
            <a:r>
              <a:rPr lang="en-US" sz="1200" dirty="0">
                <a:solidFill>
                  <a:srgbClr val="DCDCAA"/>
                </a:solidFill>
                <a:latin typeface="Courier New" pitchFamily="34" charset="0"/>
                <a:ea typeface="Courier New" pitchFamily="34" charset="-122"/>
                <a:cs typeface="Courier New" pitchFamily="34" charset="-120"/>
              </a:rPr>
              <a:t>useState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[posts, setPosts] = </a:t>
            </a:r>
            <a:pPr indent="0" marL="0">
              <a:buNone/>
            </a:pPr>
            <a:r>
              <a:rPr lang="en-US" sz="1200" dirty="0">
                <a:solidFill>
                  <a:srgbClr val="DCDCAA"/>
                </a:solidFill>
                <a:latin typeface="Courier New" pitchFamily="34" charset="0"/>
                <a:ea typeface="Courier New" pitchFamily="34" charset="-122"/>
                <a:cs typeface="Courier New" pitchFamily="34" charset="-120"/>
              </a:rPr>
              <a:t>useState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[drawer, setDrawer] = </a:t>
            </a:r>
            <a:pPr indent="0" marL="0">
              <a:buNone/>
            </a:pPr>
            <a:r>
              <a:rPr lang="en-US" sz="1200" dirty="0">
                <a:solidFill>
                  <a:srgbClr val="DCDCAA"/>
                </a:solidFill>
                <a:latin typeface="Courier New" pitchFamily="34" charset="0"/>
                <a:ea typeface="Courier New" pitchFamily="34" charset="-122"/>
                <a:cs typeface="Courier New" pitchFamily="34" charset="-120"/>
              </a:rPr>
              <a:t>useState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&lt;AppCtx.Provider value={{</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user, setUser, theme, setTheme,</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posts, setPosts, drawer, setDrawer</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}}&gt;{children}&lt;/AppCtx.Provider&gt;;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8" name="Text 6"/>
          <p:cNvSpPr/>
          <p:nvPr/>
        </p:nvSpPr>
        <p:spPr>
          <a:xfrm>
            <a:off x="6355080" y="1554480"/>
            <a:ext cx="5029200" cy="365760"/>
          </a:xfrm>
          <a:prstGeom prst="rect">
            <a:avLst/>
          </a:prstGeom>
          <a:noFill/>
          <a:ln/>
        </p:spPr>
        <p:txBody>
          <a:bodyPr wrap="square" lIns="0" tIns="0" rIns="0" bIns="0" rtlCol="0" anchor="ctr"/>
          <a:lstStyle/>
          <a:p>
            <a:pPr indent="0" marL="0">
              <a:buNone/>
            </a:pPr>
            <a:r>
              <a:rPr lang="en-US" sz="1300" b="1" dirty="0">
                <a:solidFill>
                  <a:srgbClr val="D97706"/>
                </a:solidFill>
                <a:latin typeface="Trebuchet MS" pitchFamily="34" charset="0"/>
                <a:ea typeface="Trebuchet MS" pitchFamily="34" charset="-122"/>
                <a:cs typeface="Trebuchet MS" pitchFamily="34" charset="-120"/>
              </a:rPr>
              <a:t>Why it bites</a:t>
            </a:r>
            <a:endParaRPr lang="en-US" sz="1300" dirty="0"/>
          </a:p>
        </p:txBody>
      </p:sp>
      <p:sp>
        <p:nvSpPr>
          <p:cNvPr id="9" name="Text 7"/>
          <p:cNvSpPr/>
          <p:nvPr/>
        </p:nvSpPr>
        <p:spPr>
          <a:xfrm>
            <a:off x="6355080" y="1920240"/>
            <a:ext cx="5029200" cy="22860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Every setState rebuilds the value object</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Every consumer re-renders, even if it only read user.name</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Memoization helps but the object changes anyway</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Adding a new field means re-rendering the whole tree</a:t>
            </a:r>
            <a:endParaRPr lang="en-US" sz="1200" dirty="0"/>
          </a:p>
        </p:txBody>
      </p:sp>
      <p:sp>
        <p:nvSpPr>
          <p:cNvPr id="10" name="Shape 8"/>
          <p:cNvSpPr/>
          <p:nvPr/>
        </p:nvSpPr>
        <p:spPr>
          <a:xfrm>
            <a:off x="6355080" y="4297680"/>
            <a:ext cx="5029200" cy="1645920"/>
          </a:xfrm>
          <a:prstGeom prst="rect">
            <a:avLst/>
          </a:prstGeom>
          <a:solidFill>
            <a:srgbClr val="CBF1F6"/>
          </a:solidFill>
          <a:ln w="12700">
            <a:solidFill>
              <a:srgbClr val="CBF1F6"/>
            </a:solidFill>
            <a:prstDash val="solid"/>
          </a:ln>
        </p:spPr>
      </p:sp>
      <p:pic>
        <p:nvPicPr>
          <p:cNvPr id="11" name="Image 0" descr="preencoded.png">    </p:cNvPr>
          <p:cNvPicPr>
            <a:picLocks noChangeAspect="1"/>
          </p:cNvPicPr>
          <p:nvPr/>
        </p:nvPicPr>
        <p:blipFill>
          <a:blip r:embed="rId1"/>
          <a:stretch>
            <a:fillRect/>
          </a:stretch>
        </p:blipFill>
        <p:spPr>
          <a:xfrm>
            <a:off x="6537960" y="4754880"/>
            <a:ext cx="502920" cy="502920"/>
          </a:xfrm>
          <a:prstGeom prst="rect">
            <a:avLst/>
          </a:prstGeom>
        </p:spPr>
      </p:pic>
      <p:sp>
        <p:nvSpPr>
          <p:cNvPr id="12" name="Text 9"/>
          <p:cNvSpPr/>
          <p:nvPr/>
        </p:nvSpPr>
        <p:spPr>
          <a:xfrm>
            <a:off x="7178040" y="4343400"/>
            <a:ext cx="4114800" cy="155448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If you find yourself adding a fifth value to one context, it's a store now. Reach for one.</a:t>
            </a:r>
            <a:endParaRPr lang="en-US" sz="1300" dirty="0"/>
          </a:p>
        </p:txBody>
      </p:sp>
      <p:sp>
        <p:nvSpPr>
          <p:cNvPr id="13" name="Text 10"/>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14" name="Text 11"/>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9 / 28</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3</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Client Stores</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Zustand, Jotai, Redux Toolkit. Same problem space, three sensibilities.</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When to reach for a store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Not every app needs one. Most that do, need a small one.</a:t>
            </a:r>
            <a:endParaRPr lang="en-US" sz="1400" dirty="0"/>
          </a:p>
        </p:txBody>
      </p:sp>
      <p:sp>
        <p:nvSpPr>
          <p:cNvPr id="5" name="Shape 3"/>
          <p:cNvSpPr/>
          <p:nvPr/>
        </p:nvSpPr>
        <p:spPr>
          <a:xfrm>
            <a:off x="777240" y="1691640"/>
            <a:ext cx="10607040" cy="6400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28800"/>
            <a:ext cx="365760" cy="365760"/>
          </a:xfrm>
          <a:prstGeom prst="rect">
            <a:avLst/>
          </a:prstGeom>
        </p:spPr>
      </p:pic>
      <p:sp>
        <p:nvSpPr>
          <p:cNvPr id="7" name="Text 4"/>
          <p:cNvSpPr/>
          <p:nvPr/>
        </p:nvSpPr>
        <p:spPr>
          <a:xfrm>
            <a:off x="1508760" y="1737360"/>
            <a:ext cx="9784080" cy="54864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Multiple distant components read or write the same value</a:t>
            </a:r>
            <a:endParaRPr lang="en-US" sz="1300" dirty="0"/>
          </a:p>
        </p:txBody>
      </p:sp>
      <p:sp>
        <p:nvSpPr>
          <p:cNvPr id="8" name="Shape 5"/>
          <p:cNvSpPr/>
          <p:nvPr/>
        </p:nvSpPr>
        <p:spPr>
          <a:xfrm>
            <a:off x="777240" y="2468880"/>
            <a:ext cx="10607040" cy="640080"/>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960120" y="2606040"/>
            <a:ext cx="365760" cy="365760"/>
          </a:xfrm>
          <a:prstGeom prst="rect">
            <a:avLst/>
          </a:prstGeom>
        </p:spPr>
      </p:pic>
      <p:sp>
        <p:nvSpPr>
          <p:cNvPr id="10" name="Text 6"/>
          <p:cNvSpPr/>
          <p:nvPr/>
        </p:nvSpPr>
        <p:spPr>
          <a:xfrm>
            <a:off x="1508760" y="2514600"/>
            <a:ext cx="9784080" cy="54864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You want subscribers to render only when their slice changes</a:t>
            </a:r>
            <a:endParaRPr lang="en-US" sz="1300" dirty="0"/>
          </a:p>
        </p:txBody>
      </p:sp>
      <p:sp>
        <p:nvSpPr>
          <p:cNvPr id="11" name="Shape 7"/>
          <p:cNvSpPr/>
          <p:nvPr/>
        </p:nvSpPr>
        <p:spPr>
          <a:xfrm>
            <a:off x="777240" y="3246120"/>
            <a:ext cx="10607040" cy="640080"/>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383280"/>
            <a:ext cx="365760" cy="365760"/>
          </a:xfrm>
          <a:prstGeom prst="rect">
            <a:avLst/>
          </a:prstGeom>
        </p:spPr>
      </p:pic>
      <p:sp>
        <p:nvSpPr>
          <p:cNvPr id="13" name="Text 8"/>
          <p:cNvSpPr/>
          <p:nvPr/>
        </p:nvSpPr>
        <p:spPr>
          <a:xfrm>
            <a:off x="1508760" y="3291840"/>
            <a:ext cx="9784080" cy="54864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Actions need to be testable in isolation, separately from the UI</a:t>
            </a:r>
            <a:endParaRPr lang="en-US" sz="1300" dirty="0"/>
          </a:p>
        </p:txBody>
      </p:sp>
      <p:sp>
        <p:nvSpPr>
          <p:cNvPr id="14" name="Shape 9"/>
          <p:cNvSpPr/>
          <p:nvPr/>
        </p:nvSpPr>
        <p:spPr>
          <a:xfrm>
            <a:off x="777240" y="4023360"/>
            <a:ext cx="10607040" cy="640080"/>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960120" y="4160520"/>
            <a:ext cx="365760" cy="365760"/>
          </a:xfrm>
          <a:prstGeom prst="rect">
            <a:avLst/>
          </a:prstGeom>
        </p:spPr>
      </p:pic>
      <p:sp>
        <p:nvSpPr>
          <p:cNvPr id="16" name="Text 10"/>
          <p:cNvSpPr/>
          <p:nvPr/>
        </p:nvSpPr>
        <p:spPr>
          <a:xfrm>
            <a:off x="1508760" y="4069080"/>
            <a:ext cx="9784080" cy="54864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You want time-travel debugging or middleware (logging, persistence)</a:t>
            </a:r>
            <a:endParaRPr lang="en-US" sz="1300" dirty="0"/>
          </a:p>
        </p:txBody>
      </p:sp>
      <p:sp>
        <p:nvSpPr>
          <p:cNvPr id="17" name="Shape 11"/>
          <p:cNvSpPr/>
          <p:nvPr/>
        </p:nvSpPr>
        <p:spPr>
          <a:xfrm>
            <a:off x="777240" y="4800600"/>
            <a:ext cx="10607040" cy="640080"/>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937760"/>
            <a:ext cx="365760" cy="365760"/>
          </a:xfrm>
          <a:prstGeom prst="rect">
            <a:avLst/>
          </a:prstGeom>
        </p:spPr>
      </p:pic>
      <p:sp>
        <p:nvSpPr>
          <p:cNvPr id="19" name="Text 12"/>
          <p:cNvSpPr/>
          <p:nvPr/>
        </p:nvSpPr>
        <p:spPr>
          <a:xfrm>
            <a:off x="1508760" y="4846320"/>
            <a:ext cx="9784080" cy="54864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Your context provider has grown more than four or five values</a:t>
            </a:r>
            <a:endParaRPr lang="en-US" sz="1300" dirty="0"/>
          </a:p>
        </p:txBody>
      </p:sp>
      <p:sp>
        <p:nvSpPr>
          <p:cNvPr id="20" name="Shape 13"/>
          <p:cNvSpPr/>
          <p:nvPr/>
        </p:nvSpPr>
        <p:spPr>
          <a:xfrm>
            <a:off x="777240" y="5715000"/>
            <a:ext cx="10607040" cy="457200"/>
          </a:xfrm>
          <a:prstGeom prst="rect">
            <a:avLst/>
          </a:prstGeom>
          <a:solidFill>
            <a:srgbClr val="CBF1F6"/>
          </a:solidFill>
          <a:ln w="12700">
            <a:solidFill>
              <a:srgbClr val="CBF1F6"/>
            </a:solidFill>
            <a:prstDash val="solid"/>
          </a:ln>
        </p:spPr>
      </p:sp>
      <p:sp>
        <p:nvSpPr>
          <p:cNvPr id="21" name="Text 14"/>
          <p:cNvSpPr/>
          <p:nvPr/>
        </p:nvSpPr>
        <p:spPr>
          <a:xfrm>
            <a:off x="960120" y="5715000"/>
            <a:ext cx="10424160" cy="457200"/>
          </a:xfrm>
          <a:prstGeom prst="rect">
            <a:avLst/>
          </a:prstGeom>
          <a:noFill/>
          <a:ln/>
        </p:spPr>
        <p:txBody>
          <a:bodyPr wrap="square" lIns="0" tIns="0" rIns="0" bIns="0" rtlCol="0" anchor="ctr"/>
          <a:lstStyle/>
          <a:p>
            <a:pPr indent="0" marL="0">
              <a:buNone/>
            </a:pPr>
            <a:r>
              <a:rPr lang="en-US" sz="1200" i="1" dirty="0">
                <a:solidFill>
                  <a:srgbClr val="0F172A"/>
                </a:solidFill>
                <a:latin typeface="Arial" pitchFamily="34" charset="0"/>
                <a:ea typeface="Arial" pitchFamily="34" charset="-122"/>
                <a:cs typeface="Arial" pitchFamily="34" charset="-120"/>
              </a:rPr>
              <a:t>None of the above? Stick with useState. The simplest tool that works is the right one.</a:t>
            </a:r>
            <a:endParaRPr lang="en-US" sz="1200" dirty="0"/>
          </a:p>
        </p:txBody>
      </p:sp>
      <p:sp>
        <p:nvSpPr>
          <p:cNvPr id="22"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23"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11 / 28</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Zustand — the minimal store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~1KB. A hook factory. Subscribers re-render only when their slice changes.</a:t>
            </a:r>
            <a:endParaRPr lang="en-US" sz="1400" dirty="0"/>
          </a:p>
        </p:txBody>
      </p:sp>
      <p:sp>
        <p:nvSpPr>
          <p:cNvPr id="5" name="Shape 3"/>
          <p:cNvSpPr/>
          <p:nvPr/>
        </p:nvSpPr>
        <p:spPr>
          <a:xfrm>
            <a:off x="777240" y="1554480"/>
            <a:ext cx="10607040" cy="42062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931920"/>
          </a:xfrm>
          <a:prstGeom prst="rect">
            <a:avLst/>
          </a:prstGeom>
          <a:noFill/>
          <a:ln/>
        </p:spPr>
        <p:txBody>
          <a:bodyPr wrap="square" lIns="0" tIns="0" rIns="0" bIns="0" rtlCol="0" anchor="t"/>
          <a:lstStyle/>
          <a:p>
            <a:pPr indent="0" marL="0">
              <a:buNone/>
            </a:pPr>
            <a:r>
              <a:rPr lang="en-US" sz="1200" dirty="0">
                <a:solidFill>
                  <a:srgbClr val="C586C0"/>
                </a:solidFill>
                <a:latin typeface="Courier New" pitchFamily="34" charset="0"/>
                <a:ea typeface="Courier New" pitchFamily="34" charset="-122"/>
                <a:cs typeface="Courier New" pitchFamily="34" charset="-120"/>
              </a:rPr>
              <a:t>import { create } from </a:t>
            </a:r>
            <a:pPr indent="0" marL="0">
              <a:buNone/>
            </a:pPr>
            <a:r>
              <a:rPr lang="en-US" sz="1200" dirty="0">
                <a:solidFill>
                  <a:srgbClr val="9CDCFE"/>
                </a:solidFill>
                <a:latin typeface="Courier New" pitchFamily="34" charset="0"/>
                <a:ea typeface="Courier New" pitchFamily="34" charset="-122"/>
                <a:cs typeface="Courier New" pitchFamily="34" charset="-120"/>
              </a:rPr>
              <a:t>'zustand'</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const useCart = </a:t>
            </a:r>
            <a:pPr indent="0" marL="0">
              <a:buNone/>
            </a:pPr>
            <a:r>
              <a:rPr lang="en-US" sz="1200" dirty="0">
                <a:solidFill>
                  <a:srgbClr val="DCDCAA"/>
                </a:solidFill>
                <a:latin typeface="Courier New" pitchFamily="34" charset="0"/>
                <a:ea typeface="Courier New" pitchFamily="34" charset="-122"/>
                <a:cs typeface="Courier New" pitchFamily="34" charset="-120"/>
              </a:rPr>
              <a:t>create</a:t>
            </a:r>
            <a:pPr indent="0" marL="0">
              <a:buNone/>
            </a:pPr>
            <a:r>
              <a:rPr lang="en-US" sz="1200" dirty="0">
                <a:solidFill>
                  <a:srgbClr val="FFFFFF"/>
                </a:solidFill>
                <a:latin typeface="Courier New" pitchFamily="34" charset="0"/>
                <a:ea typeface="Courier New" pitchFamily="34" charset="-122"/>
                <a:cs typeface="Courier New" pitchFamily="34" charset="-120"/>
              </a:rPr>
              <a:t>((set) =&gt;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items: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add: (</a:t>
            </a:r>
            <a:pPr indent="0" marL="0">
              <a:buNone/>
            </a:pPr>
            <a:r>
              <a:rPr lang="en-US" sz="1200" dirty="0">
                <a:solidFill>
                  <a:srgbClr val="9CDCFE"/>
                </a:solidFill>
                <a:latin typeface="Courier New" pitchFamily="34" charset="0"/>
                <a:ea typeface="Courier New" pitchFamily="34" charset="-122"/>
                <a:cs typeface="Courier New" pitchFamily="34" charset="-120"/>
              </a:rPr>
              <a:t>item</a:t>
            </a:r>
            <a:pPr indent="0" marL="0">
              <a:buNone/>
            </a:pPr>
            <a:r>
              <a:rPr lang="en-US" sz="1200" dirty="0">
                <a:solidFill>
                  <a:srgbClr val="FFFFFF"/>
                </a:solidFill>
                <a:latin typeface="Courier New" pitchFamily="34" charset="0"/>
                <a:ea typeface="Courier New" pitchFamily="34" charset="-122"/>
                <a:cs typeface="Courier New" pitchFamily="34" charset="-120"/>
              </a:rPr>
              <a:t>) =&gt; set((s) =&gt; ({ items: [...s.items, item]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remove: (</a:t>
            </a:r>
            <a:pPr indent="0" marL="0">
              <a:buNone/>
            </a:pPr>
            <a:r>
              <a:rPr lang="en-US" sz="1200" dirty="0">
                <a:solidFill>
                  <a:srgbClr val="9CDCFE"/>
                </a:solidFill>
                <a:latin typeface="Courier New" pitchFamily="34" charset="0"/>
                <a:ea typeface="Courier New" pitchFamily="34" charset="-122"/>
                <a:cs typeface="Courier New" pitchFamily="34" charset="-120"/>
              </a:rPr>
              <a:t>id</a:t>
            </a:r>
            <a:pPr indent="0" marL="0">
              <a:buNone/>
            </a:pPr>
            <a:r>
              <a:rPr lang="en-US" sz="1200" dirty="0">
                <a:solidFill>
                  <a:srgbClr val="9CDCFE"/>
                </a:solidFill>
                <a:latin typeface="Courier New" pitchFamily="34" charset="0"/>
                <a:ea typeface="Courier New" pitchFamily="34" charset="-122"/>
                <a:cs typeface="Courier New" pitchFamily="34" charset="-120"/>
              </a:rPr>
              <a:t>) =&gt; set((s) =&gt; ({ items: s.items.filter(</a:t>
            </a:r>
            <a:pPr indent="0" marL="0">
              <a:buNone/>
            </a:pPr>
            <a:r>
              <a:rPr lang="en-US" sz="1200" dirty="0">
                <a:solidFill>
                  <a:srgbClr val="9CDCFE"/>
                </a:solidFill>
                <a:latin typeface="Courier New" pitchFamily="34" charset="0"/>
                <a:ea typeface="Courier New" pitchFamily="34" charset="-122"/>
                <a:cs typeface="Courier New" pitchFamily="34" charset="-120"/>
              </a:rPr>
              <a:t>i</a:t>
            </a:r>
            <a:pPr indent="0" marL="0">
              <a:buNone/>
            </a:pPr>
            <a:r>
              <a:rPr lang="en-US" sz="1200" dirty="0">
                <a:solidFill>
                  <a:srgbClr val="FFFFFF"/>
                </a:solidFill>
                <a:latin typeface="Courier New" pitchFamily="34" charset="0"/>
                <a:ea typeface="Courier New" pitchFamily="34" charset="-122"/>
                <a:cs typeface="Courier New" pitchFamily="34" charset="-120"/>
              </a:rPr>
              <a:t> =&gt; i.id !== id)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clear: () =&gt; set({ items: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in any component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function </a:t>
            </a:r>
            <a:pPr indent="0" marL="0">
              <a:buNone/>
            </a:pPr>
            <a:r>
              <a:rPr lang="en-US" sz="1200" dirty="0">
                <a:solidFill>
                  <a:srgbClr val="DCDCAA"/>
                </a:solidFill>
                <a:latin typeface="Courier New" pitchFamily="34" charset="0"/>
                <a:ea typeface="Courier New" pitchFamily="34" charset="-122"/>
                <a:cs typeface="Courier New" pitchFamily="34" charset="-120"/>
              </a:rPr>
              <a:t>CartCount</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const count = </a:t>
            </a:r>
            <a:pPr indent="0" marL="0">
              <a:buNone/>
            </a:pPr>
            <a:r>
              <a:rPr lang="en-US" sz="1200" dirty="0">
                <a:solidFill>
                  <a:srgbClr val="DCDCAA"/>
                </a:solidFill>
                <a:latin typeface="Courier New" pitchFamily="34" charset="0"/>
                <a:ea typeface="Courier New" pitchFamily="34" charset="-122"/>
                <a:cs typeface="Courier New" pitchFamily="34" charset="-120"/>
              </a:rPr>
              <a:t>useCart</a:t>
            </a:r>
            <a:pPr indent="0" marL="0">
              <a:buNone/>
            </a:pPr>
            <a:r>
              <a:rPr lang="en-US" sz="1200" dirty="0">
                <a:solidFill>
                  <a:srgbClr val="FFFFFF"/>
                </a:solidFill>
                <a:latin typeface="Courier New" pitchFamily="34" charset="0"/>
                <a:ea typeface="Courier New" pitchFamily="34" charset="-122"/>
                <a:cs typeface="Courier New" pitchFamily="34" charset="-120"/>
              </a:rPr>
              <a:t>((s) =&gt; s.items.length);</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&lt;span&gt;{count}&lt;/span&gt;;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12 / 28</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Zustand — what you get and don't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The minimum-surface-area store. Sometimes you want more.</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400" b="1" dirty="0">
                <a:solidFill>
                  <a:srgbClr val="059669"/>
                </a:solidFill>
                <a:latin typeface="Trebuchet MS" pitchFamily="34" charset="0"/>
                <a:ea typeface="Trebuchet MS" pitchFamily="34" charset="-122"/>
                <a:cs typeface="Trebuchet MS" pitchFamily="34" charset="-120"/>
              </a:rPr>
              <a:t>Strengths</a:t>
            </a:r>
            <a:endParaRPr lang="en-US" sz="1400" dirty="0"/>
          </a:p>
        </p:txBody>
      </p:sp>
      <p:sp>
        <p:nvSpPr>
          <p:cNvPr id="6" name="Text 4"/>
          <p:cNvSpPr/>
          <p:nvPr/>
        </p:nvSpPr>
        <p:spPr>
          <a:xfrm>
            <a:off x="777240" y="1920240"/>
            <a:ext cx="5349240" cy="27432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Tiny — bundle and mental footprint both</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Selectors give per-slice subscriptions for free</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No Provider needed in your tree</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Easy to test the store in isolation</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Plays well with TS and the React Compiler</a:t>
            </a:r>
            <a:endParaRPr lang="en-US" sz="1250" dirty="0"/>
          </a:p>
        </p:txBody>
      </p:sp>
      <p:sp>
        <p:nvSpPr>
          <p:cNvPr id="7" name="Text 5"/>
          <p:cNvSpPr/>
          <p:nvPr/>
        </p:nvSpPr>
        <p:spPr>
          <a:xfrm>
            <a:off x="6355080" y="1554480"/>
            <a:ext cx="5029200" cy="365760"/>
          </a:xfrm>
          <a:prstGeom prst="rect">
            <a:avLst/>
          </a:prstGeom>
          <a:noFill/>
          <a:ln/>
        </p:spPr>
        <p:txBody>
          <a:bodyPr wrap="square" lIns="0" tIns="0" rIns="0" bIns="0" rtlCol="0" anchor="ctr"/>
          <a:lstStyle/>
          <a:p>
            <a:pPr indent="0" marL="0">
              <a:buNone/>
            </a:pPr>
            <a:r>
              <a:rPr lang="en-US" sz="1400" b="1" dirty="0">
                <a:solidFill>
                  <a:srgbClr val="D97706"/>
                </a:solidFill>
                <a:latin typeface="Trebuchet MS" pitchFamily="34" charset="0"/>
                <a:ea typeface="Trebuchet MS" pitchFamily="34" charset="-122"/>
                <a:cs typeface="Trebuchet MS" pitchFamily="34" charset="-120"/>
              </a:rPr>
              <a:t>Trade-offs</a:t>
            </a:r>
            <a:endParaRPr lang="en-US" sz="1400" dirty="0"/>
          </a:p>
        </p:txBody>
      </p:sp>
      <p:sp>
        <p:nvSpPr>
          <p:cNvPr id="8" name="Text 6"/>
          <p:cNvSpPr/>
          <p:nvPr/>
        </p:nvSpPr>
        <p:spPr>
          <a:xfrm>
            <a:off x="6355080" y="1920240"/>
            <a:ext cx="5029200" cy="27432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No formal action type — actions are just methods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Less convention for a large team — easy to drift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No built-in middleware ecosystem to match Redux</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DevTools work, but the trace isn't as rich as Redux's</a:t>
            </a:r>
            <a:endParaRPr lang="en-US" sz="125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13 / 28</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Jotai — atomic state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State as small atoms you compose. Recoil's spiritual successor with a smaller API surface.</a:t>
            </a:r>
            <a:endParaRPr lang="en-US" sz="1400" dirty="0"/>
          </a:p>
        </p:txBody>
      </p:sp>
      <p:sp>
        <p:nvSpPr>
          <p:cNvPr id="5" name="Shape 3"/>
          <p:cNvSpPr/>
          <p:nvPr/>
        </p:nvSpPr>
        <p:spPr>
          <a:xfrm>
            <a:off x="777240" y="1554480"/>
            <a:ext cx="10607040" cy="42062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931920"/>
          </a:xfrm>
          <a:prstGeom prst="rect">
            <a:avLst/>
          </a:prstGeom>
          <a:noFill/>
          <a:ln/>
        </p:spPr>
        <p:txBody>
          <a:bodyPr wrap="square" lIns="0" tIns="0" rIns="0" bIns="0" rtlCol="0" anchor="t"/>
          <a:lstStyle/>
          <a:p>
            <a:pPr indent="0" marL="0">
              <a:buNone/>
            </a:pPr>
            <a:r>
              <a:rPr lang="en-US" sz="1200" dirty="0">
                <a:solidFill>
                  <a:srgbClr val="C586C0"/>
                </a:solidFill>
                <a:latin typeface="Courier New" pitchFamily="34" charset="0"/>
                <a:ea typeface="Courier New" pitchFamily="34" charset="-122"/>
                <a:cs typeface="Courier New" pitchFamily="34" charset="-120"/>
              </a:rPr>
              <a:t>import { atom, useAtom } from </a:t>
            </a:r>
            <a:pPr indent="0" marL="0">
              <a:buNone/>
            </a:pPr>
            <a:r>
              <a:rPr lang="en-US" sz="1200" dirty="0">
                <a:solidFill>
                  <a:srgbClr val="9CDCFE"/>
                </a:solidFill>
                <a:latin typeface="Courier New" pitchFamily="34" charset="0"/>
                <a:ea typeface="Courier New" pitchFamily="34" charset="-122"/>
                <a:cs typeface="Courier New" pitchFamily="34" charset="-120"/>
              </a:rPr>
              <a:t>'jotai'</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primitive atoms</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const cartItemsAtom = </a:t>
            </a:r>
            <a:pPr indent="0" marL="0">
              <a:buNone/>
            </a:pPr>
            <a:r>
              <a:rPr lang="en-US" sz="1200" dirty="0">
                <a:solidFill>
                  <a:srgbClr val="DCDCAA"/>
                </a:solidFill>
                <a:latin typeface="Courier New" pitchFamily="34" charset="0"/>
                <a:ea typeface="Courier New" pitchFamily="34" charset="-122"/>
                <a:cs typeface="Courier New" pitchFamily="34" charset="-120"/>
              </a:rPr>
              <a:t>atom</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const promoCodeAtom = </a:t>
            </a:r>
            <a:pPr indent="0" marL="0">
              <a:buNone/>
            </a:pPr>
            <a:r>
              <a:rPr lang="en-US" sz="1200" dirty="0">
                <a:solidFill>
                  <a:srgbClr val="DCDCAA"/>
                </a:solidFill>
                <a:latin typeface="Courier New" pitchFamily="34" charset="0"/>
                <a:ea typeface="Courier New" pitchFamily="34" charset="-122"/>
                <a:cs typeface="Courier New" pitchFamily="34" charset="-120"/>
              </a:rPr>
              <a:t>atom</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derived atom (read-only)</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const cartTotalAtom = </a:t>
            </a:r>
            <a:pPr indent="0" marL="0">
              <a:buNone/>
            </a:pPr>
            <a:r>
              <a:rPr lang="en-US" sz="1200" dirty="0">
                <a:solidFill>
                  <a:srgbClr val="DCDCAA"/>
                </a:solidFill>
                <a:latin typeface="Courier New" pitchFamily="34" charset="0"/>
                <a:ea typeface="Courier New" pitchFamily="34" charset="-122"/>
                <a:cs typeface="Courier New" pitchFamily="34" charset="-120"/>
              </a:rPr>
              <a:t>atom</a:t>
            </a:r>
            <a:pPr indent="0" marL="0">
              <a:buNone/>
            </a:pPr>
            <a:r>
              <a:rPr lang="en-US" sz="1200" dirty="0">
                <a:solidFill>
                  <a:srgbClr val="FFFFFF"/>
                </a:solidFill>
                <a:latin typeface="Courier New" pitchFamily="34" charset="0"/>
                <a:ea typeface="Courier New" pitchFamily="34" charset="-122"/>
                <a:cs typeface="Courier New" pitchFamily="34" charset="-120"/>
              </a:rPr>
              <a:t>((get) =&gt;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items = get(cartItemsAtom);</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promo = get(promoCodeAtom);</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calcTotal(items, promo);</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in a component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const total = </a:t>
            </a:r>
            <a:pPr indent="0" marL="0">
              <a:buNone/>
            </a:pPr>
            <a:r>
              <a:rPr lang="en-US" sz="1200" dirty="0">
                <a:solidFill>
                  <a:srgbClr val="DCDCAA"/>
                </a:solidFill>
                <a:latin typeface="Courier New" pitchFamily="34" charset="0"/>
                <a:ea typeface="Courier New" pitchFamily="34" charset="-122"/>
                <a:cs typeface="Courier New" pitchFamily="34" charset="-120"/>
              </a:rPr>
              <a:t>useAtomValue</a:t>
            </a:r>
            <a:pPr indent="0" marL="0">
              <a:buNone/>
            </a:pPr>
            <a:r>
              <a:rPr lang="en-US" sz="1200" dirty="0">
                <a:solidFill>
                  <a:srgbClr val="FFFFFF"/>
                </a:solidFill>
                <a:latin typeface="Courier New" pitchFamily="34" charset="0"/>
                <a:ea typeface="Courier New" pitchFamily="34" charset="-122"/>
                <a:cs typeface="Courier New" pitchFamily="34" charset="-120"/>
              </a:rPr>
              <a:t>(cartTotalAtom);</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14 / 28</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Jotai — what you get and don't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If your state is naturally graph-shaped, this fits. If it's flat, this is overkill.</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400" b="1" dirty="0">
                <a:solidFill>
                  <a:srgbClr val="059669"/>
                </a:solidFill>
                <a:latin typeface="Trebuchet MS" pitchFamily="34" charset="0"/>
                <a:ea typeface="Trebuchet MS" pitchFamily="34" charset="-122"/>
                <a:cs typeface="Trebuchet MS" pitchFamily="34" charset="-120"/>
              </a:rPr>
              <a:t>Strengths</a:t>
            </a:r>
            <a:endParaRPr lang="en-US" sz="1400" dirty="0"/>
          </a:p>
        </p:txBody>
      </p:sp>
      <p:sp>
        <p:nvSpPr>
          <p:cNvPr id="6" name="Text 4"/>
          <p:cNvSpPr/>
          <p:nvPr/>
        </p:nvSpPr>
        <p:spPr>
          <a:xfrm>
            <a:off x="777240" y="1920240"/>
            <a:ext cx="5349240" cy="2377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Fine-grained subscriptions per atom</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Derived atoms model dependencies cleanly</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Async atoms integrate with Suspense naturally</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Excellent TS inference — atom types compose</a:t>
            </a:r>
            <a:endParaRPr lang="en-US" sz="1250" dirty="0"/>
          </a:p>
        </p:txBody>
      </p:sp>
      <p:sp>
        <p:nvSpPr>
          <p:cNvPr id="7" name="Text 5"/>
          <p:cNvSpPr/>
          <p:nvPr/>
        </p:nvSpPr>
        <p:spPr>
          <a:xfrm>
            <a:off x="6355080" y="1554480"/>
            <a:ext cx="5029200" cy="365760"/>
          </a:xfrm>
          <a:prstGeom prst="rect">
            <a:avLst/>
          </a:prstGeom>
          <a:noFill/>
          <a:ln/>
        </p:spPr>
        <p:txBody>
          <a:bodyPr wrap="square" lIns="0" tIns="0" rIns="0" bIns="0" rtlCol="0" anchor="ctr"/>
          <a:lstStyle/>
          <a:p>
            <a:pPr indent="0" marL="0">
              <a:buNone/>
            </a:pPr>
            <a:r>
              <a:rPr lang="en-US" sz="1400" b="1" dirty="0">
                <a:solidFill>
                  <a:srgbClr val="D97706"/>
                </a:solidFill>
                <a:latin typeface="Trebuchet MS" pitchFamily="34" charset="0"/>
                <a:ea typeface="Trebuchet MS" pitchFamily="34" charset="-122"/>
                <a:cs typeface="Trebuchet MS" pitchFamily="34" charset="-120"/>
              </a:rPr>
              <a:t>Trade-offs</a:t>
            </a:r>
            <a:endParaRPr lang="en-US" sz="1400" dirty="0"/>
          </a:p>
        </p:txBody>
      </p:sp>
      <p:sp>
        <p:nvSpPr>
          <p:cNvPr id="8" name="Text 6"/>
          <p:cNvSpPr/>
          <p:nvPr/>
        </p:nvSpPr>
        <p:spPr>
          <a:xfrm>
            <a:off x="6355080" y="1920240"/>
            <a:ext cx="5029200" cy="2377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Mental model differs from Redux/Zustand — onboarding cost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DevTools are functional but less mature</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Big atom graphs can become hard to reason about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Smaller community — fewer middleware options</a:t>
            </a:r>
            <a:endParaRPr lang="en-US" sz="125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15 / 28</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Redux Toolkit + RTK Query</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The full-featured option. Verbose, opinionated, complete.</a:t>
            </a:r>
            <a:endParaRPr lang="en-US" sz="1400" dirty="0"/>
          </a:p>
        </p:txBody>
      </p:sp>
      <p:sp>
        <p:nvSpPr>
          <p:cNvPr id="5" name="Shape 3"/>
          <p:cNvSpPr/>
          <p:nvPr/>
        </p:nvSpPr>
        <p:spPr>
          <a:xfrm>
            <a:off x="777240" y="1554480"/>
            <a:ext cx="10607040" cy="42062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93192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store/cartSlice.js</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import { createSlice } from </a:t>
            </a:r>
            <a:pPr indent="0" marL="0">
              <a:buNone/>
            </a:pPr>
            <a:r>
              <a:rPr lang="en-US" sz="1200" dirty="0">
                <a:solidFill>
                  <a:srgbClr val="9CDCFE"/>
                </a:solidFill>
                <a:latin typeface="Courier New" pitchFamily="34" charset="0"/>
                <a:ea typeface="Courier New" pitchFamily="34" charset="-122"/>
                <a:cs typeface="Courier New" pitchFamily="34" charset="-120"/>
              </a:rPr>
              <a:t>'@reduxjs/toolkit'</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const cartSlice = </a:t>
            </a:r>
            <a:pPr indent="0" marL="0">
              <a:buNone/>
            </a:pPr>
            <a:r>
              <a:rPr lang="en-US" sz="1200" dirty="0">
                <a:solidFill>
                  <a:srgbClr val="DCDCAA"/>
                </a:solidFill>
                <a:latin typeface="Courier New" pitchFamily="34" charset="0"/>
                <a:ea typeface="Courier New" pitchFamily="34" charset="-122"/>
                <a:cs typeface="Courier New" pitchFamily="34" charset="-120"/>
              </a:rPr>
              <a:t>createSlice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name: </a:t>
            </a:r>
            <a:pPr indent="0" marL="0">
              <a:buNone/>
            </a:pPr>
            <a:r>
              <a:rPr lang="en-US" sz="1200" dirty="0">
                <a:solidFill>
                  <a:srgbClr val="9CDCFE"/>
                </a:solidFill>
                <a:latin typeface="Courier New" pitchFamily="34" charset="0"/>
                <a:ea typeface="Courier New" pitchFamily="34" charset="-122"/>
                <a:cs typeface="Courier New" pitchFamily="34" charset="-120"/>
              </a:rPr>
              <a:t>'cart'</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initialState: { items: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reducers: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add: (</a:t>
            </a:r>
            <a:pPr indent="0" marL="0">
              <a:buNone/>
            </a:pPr>
            <a:r>
              <a:rPr lang="en-US" sz="1200" dirty="0">
                <a:solidFill>
                  <a:srgbClr val="9CDCFE"/>
                </a:solidFill>
                <a:latin typeface="Courier New" pitchFamily="34" charset="0"/>
                <a:ea typeface="Courier New" pitchFamily="34" charset="-122"/>
                <a:cs typeface="Courier New" pitchFamily="34" charset="-120"/>
              </a:rPr>
              <a:t>state</a:t>
            </a:r>
            <a:pPr indent="0" marL="0">
              <a:buNone/>
            </a:pPr>
            <a:r>
              <a:rPr lang="en-US" sz="1200" dirty="0">
                <a:solidFill>
                  <a:srgbClr val="FFFFFF"/>
                </a:solidFill>
                <a:latin typeface="Courier New" pitchFamily="34" charset="0"/>
                <a:ea typeface="Courier New" pitchFamily="34" charset="-122"/>
                <a:cs typeface="Courier New" pitchFamily="34" charset="-120"/>
              </a:rPr>
              <a:t>, action) =&gt; { state.items.push(action.payload);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remove: (</a:t>
            </a:r>
            <a:pPr indent="0" marL="0">
              <a:buNone/>
            </a:pPr>
            <a:r>
              <a:rPr lang="en-US" sz="1200" dirty="0">
                <a:solidFill>
                  <a:srgbClr val="9CDCFE"/>
                </a:solidFill>
                <a:latin typeface="Courier New" pitchFamily="34" charset="0"/>
                <a:ea typeface="Courier New" pitchFamily="34" charset="-122"/>
                <a:cs typeface="Courier New" pitchFamily="34" charset="-120"/>
              </a:rPr>
              <a:t>state</a:t>
            </a:r>
            <a:pPr indent="0" marL="0">
              <a:buNone/>
            </a:pPr>
            <a:r>
              <a:rPr lang="en-US" sz="1200" dirty="0">
                <a:solidFill>
                  <a:srgbClr val="FFFFFF"/>
                </a:solidFill>
                <a:latin typeface="Courier New" pitchFamily="34" charset="0"/>
                <a:ea typeface="Courier New" pitchFamily="34" charset="-122"/>
                <a:cs typeface="Courier New" pitchFamily="34" charset="-120"/>
              </a:rPr>
              <a:t>, action) =&gt;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state.items = state.items.filter(</a:t>
            </a:r>
            <a:pPr indent="0" marL="0">
              <a:buNone/>
            </a:pPr>
            <a:r>
              <a:rPr lang="en-US" sz="1200" dirty="0">
                <a:solidFill>
                  <a:srgbClr val="9CDCFE"/>
                </a:solidFill>
                <a:latin typeface="Courier New" pitchFamily="34" charset="0"/>
                <a:ea typeface="Courier New" pitchFamily="34" charset="-122"/>
                <a:cs typeface="Courier New" pitchFamily="34" charset="-120"/>
              </a:rPr>
              <a:t>i</a:t>
            </a:r>
            <a:pPr indent="0" marL="0">
              <a:buNone/>
            </a:pPr>
            <a:r>
              <a:rPr lang="en-US" sz="1200" dirty="0">
                <a:solidFill>
                  <a:srgbClr val="FFFFFF"/>
                </a:solidFill>
                <a:latin typeface="Courier New" pitchFamily="34" charset="0"/>
                <a:ea typeface="Courier New" pitchFamily="34" charset="-122"/>
                <a:cs typeface="Courier New" pitchFamily="34" charset="-120"/>
              </a:rPr>
              <a:t> =&gt; i.id !== action.payload);</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export const { add, remove } = cartSlice.actions;</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export default cartSlice.reducer;</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16 / 28</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RTK Query — the bundled server-state piece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If you're already on RTK, you may not need TanStack Query.</a:t>
            </a:r>
            <a:endParaRPr lang="en-US" sz="1400" dirty="0"/>
          </a:p>
        </p:txBody>
      </p:sp>
      <p:sp>
        <p:nvSpPr>
          <p:cNvPr id="5" name="Shape 3"/>
          <p:cNvSpPr/>
          <p:nvPr/>
        </p:nvSpPr>
        <p:spPr>
          <a:xfrm>
            <a:off x="777240" y="1554480"/>
            <a:ext cx="10607040" cy="42062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931920"/>
          </a:xfrm>
          <a:prstGeom prst="rect">
            <a:avLst/>
          </a:prstGeom>
          <a:noFill/>
          <a:ln/>
        </p:spPr>
        <p:txBody>
          <a:bodyPr wrap="square" lIns="0" tIns="0" rIns="0" bIns="0" rtlCol="0" anchor="t"/>
          <a:lstStyle/>
          <a:p>
            <a:pPr indent="0" marL="0">
              <a:buNone/>
            </a:pPr>
            <a:r>
              <a:rPr lang="en-US" sz="1200" dirty="0">
                <a:solidFill>
                  <a:srgbClr val="C586C0"/>
                </a:solidFill>
                <a:latin typeface="Courier New" pitchFamily="34" charset="0"/>
                <a:ea typeface="Courier New" pitchFamily="34" charset="-122"/>
                <a:cs typeface="Courier New" pitchFamily="34" charset="-120"/>
              </a:rPr>
              <a:t>import { createApi, fetchBaseQuery } from </a:t>
            </a:r>
            <a:pPr indent="0" marL="0">
              <a:buNone/>
            </a:pPr>
            <a:r>
              <a:rPr lang="en-US" sz="1200" dirty="0">
                <a:solidFill>
                  <a:srgbClr val="9CDCFE"/>
                </a:solidFill>
                <a:latin typeface="Courier New" pitchFamily="34" charset="0"/>
                <a:ea typeface="Courier New" pitchFamily="34" charset="-122"/>
                <a:cs typeface="Courier New" pitchFamily="34" charset="-120"/>
              </a:rPr>
              <a:t>'@reduxjs/toolkit/query/react'</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const api = </a:t>
            </a:r>
            <a:pPr indent="0" marL="0">
              <a:buNone/>
            </a:pPr>
            <a:r>
              <a:rPr lang="en-US" sz="1200" dirty="0">
                <a:solidFill>
                  <a:srgbClr val="DCDCAA"/>
                </a:solidFill>
                <a:latin typeface="Courier New" pitchFamily="34" charset="0"/>
                <a:ea typeface="Courier New" pitchFamily="34" charset="-122"/>
                <a:cs typeface="Courier New" pitchFamily="34" charset="-120"/>
              </a:rPr>
              <a:t>createApi</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baseQuery: </a:t>
            </a:r>
            <a:pPr indent="0" marL="0">
              <a:buNone/>
            </a:pPr>
            <a:r>
              <a:rPr lang="en-US" sz="1200" dirty="0">
                <a:solidFill>
                  <a:srgbClr val="DCDCAA"/>
                </a:solidFill>
                <a:latin typeface="Courier New" pitchFamily="34" charset="0"/>
                <a:ea typeface="Courier New" pitchFamily="34" charset="-122"/>
                <a:cs typeface="Courier New" pitchFamily="34" charset="-120"/>
              </a:rPr>
              <a:t>fetchBaseQuery</a:t>
            </a:r>
            <a:pPr indent="0" marL="0">
              <a:buNone/>
            </a:pPr>
            <a:r>
              <a:rPr lang="en-US" sz="1200" dirty="0">
                <a:solidFill>
                  <a:srgbClr val="9CDCFE"/>
                </a:solidFill>
                <a:latin typeface="Courier New" pitchFamily="34" charset="0"/>
                <a:ea typeface="Courier New" pitchFamily="34" charset="-122"/>
                <a:cs typeface="Courier New" pitchFamily="34" charset="-120"/>
              </a:rPr>
              <a:t>({ baseUrl: </a:t>
            </a:r>
            <a:pPr indent="0" marL="0">
              <a:buNone/>
            </a:pPr>
            <a:r>
              <a:rPr lang="en-US" sz="1200" dirty="0">
                <a:solidFill>
                  <a:srgbClr val="9CDCFE"/>
                </a:solidFill>
                <a:latin typeface="Courier New" pitchFamily="34" charset="0"/>
                <a:ea typeface="Courier New" pitchFamily="34" charset="-122"/>
                <a:cs typeface="Courier New" pitchFamily="34" charset="-120"/>
              </a:rPr>
              <a:t>'/api'</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tagTypes: [</a:t>
            </a:r>
            <a:pPr indent="0" marL="0">
              <a:buNone/>
            </a:pPr>
            <a:r>
              <a:rPr lang="en-US" sz="1200" dirty="0">
                <a:solidFill>
                  <a:srgbClr val="9CDCFE"/>
                </a:solidFill>
                <a:latin typeface="Courier New" pitchFamily="34" charset="0"/>
                <a:ea typeface="Courier New" pitchFamily="34" charset="-122"/>
                <a:cs typeface="Courier New" pitchFamily="34" charset="-120"/>
              </a:rPr>
              <a:t>'Posts'</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endpoints: (build) =&gt;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listPosts: build.query({ query: () =&gt; </a:t>
            </a:r>
            <a:pPr indent="0" marL="0">
              <a:buNone/>
            </a:pPr>
            <a:r>
              <a:rPr lang="en-US" sz="1200" dirty="0">
                <a:solidFill>
                  <a:srgbClr val="9CDCFE"/>
                </a:solidFill>
                <a:latin typeface="Courier New" pitchFamily="34" charset="0"/>
                <a:ea typeface="Courier New" pitchFamily="34" charset="-122"/>
                <a:cs typeface="Courier New" pitchFamily="34" charset="-120"/>
              </a:rPr>
              <a:t>'/posts'</a:t>
            </a:r>
            <a:pPr indent="0" marL="0">
              <a:buNone/>
            </a:pPr>
            <a:r>
              <a:rPr lang="en-US" sz="1200" dirty="0">
                <a:solidFill>
                  <a:srgbClr val="9CDCFE"/>
                </a:solidFill>
                <a:latin typeface="Courier New" pitchFamily="34" charset="0"/>
                <a:ea typeface="Courier New" pitchFamily="34" charset="-122"/>
                <a:cs typeface="Courier New" pitchFamily="34" charset="-120"/>
              </a:rPr>
              <a:t>, providesTags: [</a:t>
            </a:r>
            <a:pPr indent="0" marL="0">
              <a:buNone/>
            </a:pPr>
            <a:r>
              <a:rPr lang="en-US" sz="1200" dirty="0">
                <a:solidFill>
                  <a:srgbClr val="9CDCFE"/>
                </a:solidFill>
                <a:latin typeface="Courier New" pitchFamily="34" charset="0"/>
                <a:ea typeface="Courier New" pitchFamily="34" charset="-122"/>
                <a:cs typeface="Courier New" pitchFamily="34" charset="-120"/>
              </a:rPr>
              <a:t>'Posts'</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createPost: build.mutation({</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query: (</a:t>
            </a:r>
            <a:pPr indent="0" marL="0">
              <a:buNone/>
            </a:pPr>
            <a:r>
              <a:rPr lang="en-US" sz="1200" dirty="0">
                <a:solidFill>
                  <a:srgbClr val="9CDCFE"/>
                </a:solidFill>
                <a:latin typeface="Courier New" pitchFamily="34" charset="0"/>
                <a:ea typeface="Courier New" pitchFamily="34" charset="-122"/>
                <a:cs typeface="Courier New" pitchFamily="34" charset="-120"/>
              </a:rPr>
              <a:t>body</a:t>
            </a:r>
            <a:pPr indent="0" marL="0">
              <a:buNone/>
            </a:pPr>
            <a:r>
              <a:rPr lang="en-US" sz="1200" dirty="0">
                <a:solidFill>
                  <a:srgbClr val="9CDCFE"/>
                </a:solidFill>
                <a:latin typeface="Courier New" pitchFamily="34" charset="0"/>
                <a:ea typeface="Courier New" pitchFamily="34" charset="-122"/>
                <a:cs typeface="Courier New" pitchFamily="34" charset="-120"/>
              </a:rPr>
              <a:t>) =&gt; ({ url: </a:t>
            </a:r>
            <a:pPr indent="0" marL="0">
              <a:buNone/>
            </a:pPr>
            <a:r>
              <a:rPr lang="en-US" sz="1200" dirty="0">
                <a:solidFill>
                  <a:srgbClr val="9CDCFE"/>
                </a:solidFill>
                <a:latin typeface="Courier New" pitchFamily="34" charset="0"/>
                <a:ea typeface="Courier New" pitchFamily="34" charset="-122"/>
                <a:cs typeface="Courier New" pitchFamily="34" charset="-120"/>
              </a:rPr>
              <a:t>'/posts'</a:t>
            </a:r>
            <a:pPr indent="0" marL="0">
              <a:buNone/>
            </a:pPr>
            <a:r>
              <a:rPr lang="en-US" sz="1200" dirty="0">
                <a:solidFill>
                  <a:srgbClr val="9CDCFE"/>
                </a:solidFill>
                <a:latin typeface="Courier New" pitchFamily="34" charset="0"/>
                <a:ea typeface="Courier New" pitchFamily="34" charset="-122"/>
                <a:cs typeface="Courier New" pitchFamily="34" charset="-120"/>
              </a:rPr>
              <a:t>, method: </a:t>
            </a:r>
            <a:pPr indent="0" marL="0">
              <a:buNone/>
            </a:pPr>
            <a:r>
              <a:rPr lang="en-US" sz="1200" dirty="0">
                <a:solidFill>
                  <a:srgbClr val="9CDCFE"/>
                </a:solidFill>
                <a:latin typeface="Courier New" pitchFamily="34" charset="0"/>
                <a:ea typeface="Courier New" pitchFamily="34" charset="-122"/>
                <a:cs typeface="Courier New" pitchFamily="34" charset="-120"/>
              </a:rPr>
              <a:t>'POST'</a:t>
            </a:r>
            <a:pPr indent="0" marL="0">
              <a:buNone/>
            </a:pPr>
            <a:r>
              <a:rPr lang="en-US" sz="1200" dirty="0">
                <a:solidFill>
                  <a:srgbClr val="FFFFFF"/>
                </a:solidFill>
                <a:latin typeface="Courier New" pitchFamily="34" charset="0"/>
                <a:ea typeface="Courier New" pitchFamily="34" charset="-122"/>
                <a:cs typeface="Courier New" pitchFamily="34" charset="-120"/>
              </a:rPr>
              <a:t>, body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invalidatesTags: [</a:t>
            </a:r>
            <a:pPr indent="0" marL="0">
              <a:buNone/>
            </a:pPr>
            <a:r>
              <a:rPr lang="en-US" sz="1200" dirty="0">
                <a:solidFill>
                  <a:srgbClr val="9CDCFE"/>
                </a:solidFill>
                <a:latin typeface="Courier New" pitchFamily="34" charset="0"/>
                <a:ea typeface="Courier New" pitchFamily="34" charset="-122"/>
                <a:cs typeface="Courier New" pitchFamily="34" charset="-120"/>
              </a:rPr>
              <a:t>'Posts'</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export const { useListPostsQuery, useCreatePostMutation } = api;</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17 / 28</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Three stores at a glance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Pick by team size, app shape, and the value of conventions.</a:t>
            </a:r>
            <a:endParaRPr lang="en-US" sz="1400" dirty="0"/>
          </a:p>
        </p:txBody>
      </p:sp>
      <p:sp>
        <p:nvSpPr>
          <p:cNvPr id="5" name="Shape 3"/>
          <p:cNvSpPr/>
          <p:nvPr/>
        </p:nvSpPr>
        <p:spPr>
          <a:xfrm>
            <a:off x="777240" y="1325880"/>
            <a:ext cx="10607040" cy="411480"/>
          </a:xfrm>
          <a:prstGeom prst="rect">
            <a:avLst/>
          </a:prstGeom>
          <a:solidFill>
            <a:srgbClr val="1E2A47"/>
          </a:solidFill>
          <a:ln w="12700">
            <a:solidFill>
              <a:srgbClr val="1E2A47"/>
            </a:solidFill>
            <a:prstDash val="solid"/>
          </a:ln>
        </p:spPr>
      </p:sp>
      <p:sp>
        <p:nvSpPr>
          <p:cNvPr id="6" name="Text 4"/>
          <p:cNvSpPr/>
          <p:nvPr/>
        </p:nvSpPr>
        <p:spPr>
          <a:xfrm>
            <a:off x="914400" y="1325880"/>
            <a:ext cx="274320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Dimension</a:t>
            </a:r>
            <a:endParaRPr lang="en-US" sz="1200" dirty="0"/>
          </a:p>
        </p:txBody>
      </p:sp>
      <p:sp>
        <p:nvSpPr>
          <p:cNvPr id="7" name="Text 5"/>
          <p:cNvSpPr/>
          <p:nvPr/>
        </p:nvSpPr>
        <p:spPr>
          <a:xfrm>
            <a:off x="3703320" y="1325880"/>
            <a:ext cx="237744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Zustand</a:t>
            </a:r>
            <a:endParaRPr lang="en-US" sz="1200" dirty="0"/>
          </a:p>
        </p:txBody>
      </p:sp>
      <p:sp>
        <p:nvSpPr>
          <p:cNvPr id="8" name="Text 6"/>
          <p:cNvSpPr/>
          <p:nvPr/>
        </p:nvSpPr>
        <p:spPr>
          <a:xfrm>
            <a:off x="6126480" y="1325880"/>
            <a:ext cx="237744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Jotai</a:t>
            </a:r>
            <a:endParaRPr lang="en-US" sz="1200" dirty="0"/>
          </a:p>
        </p:txBody>
      </p:sp>
      <p:sp>
        <p:nvSpPr>
          <p:cNvPr id="9" name="Text 7"/>
          <p:cNvSpPr/>
          <p:nvPr/>
        </p:nvSpPr>
        <p:spPr>
          <a:xfrm>
            <a:off x="8549640" y="1325880"/>
            <a:ext cx="274320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Redux Toolkit</a:t>
            </a:r>
            <a:endParaRPr lang="en-US" sz="1200" dirty="0"/>
          </a:p>
        </p:txBody>
      </p:sp>
      <p:sp>
        <p:nvSpPr>
          <p:cNvPr id="10" name="Shape 8"/>
          <p:cNvSpPr/>
          <p:nvPr/>
        </p:nvSpPr>
        <p:spPr>
          <a:xfrm>
            <a:off x="777240" y="1737360"/>
            <a:ext cx="10607040" cy="594360"/>
          </a:xfrm>
          <a:prstGeom prst="rect">
            <a:avLst/>
          </a:prstGeom>
          <a:solidFill>
            <a:srgbClr val="FFFFFF"/>
          </a:solidFill>
          <a:ln w="12700">
            <a:solidFill>
              <a:srgbClr val="E2E8F0"/>
            </a:solidFill>
            <a:prstDash val="solid"/>
          </a:ln>
        </p:spPr>
      </p:sp>
      <p:sp>
        <p:nvSpPr>
          <p:cNvPr id="11" name="Text 9"/>
          <p:cNvSpPr/>
          <p:nvPr/>
        </p:nvSpPr>
        <p:spPr>
          <a:xfrm>
            <a:off x="914400" y="1783080"/>
            <a:ext cx="2743200" cy="502920"/>
          </a:xfrm>
          <a:prstGeom prst="rect">
            <a:avLst/>
          </a:prstGeom>
          <a:noFill/>
          <a:ln/>
        </p:spPr>
        <p:txBody>
          <a:bodyPr wrap="square" lIns="0" tIns="0" rIns="0" bIns="0" rtlCol="0" anchor="ctr"/>
          <a:lstStyle/>
          <a:p>
            <a:pPr indent="0" marL="0">
              <a:buNone/>
            </a:pPr>
            <a:r>
              <a:rPr lang="en-US" sz="1100" b="1" dirty="0">
                <a:solidFill>
                  <a:srgbClr val="0F172A"/>
                </a:solidFill>
                <a:latin typeface="Arial" pitchFamily="34" charset="0"/>
                <a:ea typeface="Arial" pitchFamily="34" charset="-122"/>
                <a:cs typeface="Arial" pitchFamily="34" charset="-120"/>
              </a:rPr>
              <a:t>Bundle size</a:t>
            </a:r>
            <a:endParaRPr lang="en-US" sz="1100" dirty="0"/>
          </a:p>
        </p:txBody>
      </p:sp>
      <p:sp>
        <p:nvSpPr>
          <p:cNvPr id="12" name="Text 10"/>
          <p:cNvSpPr/>
          <p:nvPr/>
        </p:nvSpPr>
        <p:spPr>
          <a:xfrm>
            <a:off x="3703320" y="1783080"/>
            <a:ext cx="237744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~1KB</a:t>
            </a:r>
            <a:endParaRPr lang="en-US" sz="1050" dirty="0"/>
          </a:p>
        </p:txBody>
      </p:sp>
      <p:sp>
        <p:nvSpPr>
          <p:cNvPr id="13" name="Text 11"/>
          <p:cNvSpPr/>
          <p:nvPr/>
        </p:nvSpPr>
        <p:spPr>
          <a:xfrm>
            <a:off x="6126480" y="1783080"/>
            <a:ext cx="237744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~3KB</a:t>
            </a:r>
            <a:endParaRPr lang="en-US" sz="1050" dirty="0"/>
          </a:p>
        </p:txBody>
      </p:sp>
      <p:sp>
        <p:nvSpPr>
          <p:cNvPr id="14" name="Text 12"/>
          <p:cNvSpPr/>
          <p:nvPr/>
        </p:nvSpPr>
        <p:spPr>
          <a:xfrm>
            <a:off x="8549640" y="1783080"/>
            <a:ext cx="274320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~12KB + middleware</a:t>
            </a:r>
            <a:endParaRPr lang="en-US" sz="1050" dirty="0"/>
          </a:p>
        </p:txBody>
      </p:sp>
      <p:sp>
        <p:nvSpPr>
          <p:cNvPr id="15" name="Shape 13"/>
          <p:cNvSpPr/>
          <p:nvPr/>
        </p:nvSpPr>
        <p:spPr>
          <a:xfrm>
            <a:off x="777240" y="2395728"/>
            <a:ext cx="10607040" cy="594360"/>
          </a:xfrm>
          <a:prstGeom prst="rect">
            <a:avLst/>
          </a:prstGeom>
          <a:solidFill>
            <a:srgbClr val="F8FAFC"/>
          </a:solidFill>
          <a:ln w="12700">
            <a:solidFill>
              <a:srgbClr val="E2E8F0"/>
            </a:solidFill>
            <a:prstDash val="solid"/>
          </a:ln>
        </p:spPr>
      </p:sp>
      <p:sp>
        <p:nvSpPr>
          <p:cNvPr id="16" name="Text 14"/>
          <p:cNvSpPr/>
          <p:nvPr/>
        </p:nvSpPr>
        <p:spPr>
          <a:xfrm>
            <a:off x="914400" y="2441448"/>
            <a:ext cx="2743200" cy="502920"/>
          </a:xfrm>
          <a:prstGeom prst="rect">
            <a:avLst/>
          </a:prstGeom>
          <a:noFill/>
          <a:ln/>
        </p:spPr>
        <p:txBody>
          <a:bodyPr wrap="square" lIns="0" tIns="0" rIns="0" bIns="0" rtlCol="0" anchor="ctr"/>
          <a:lstStyle/>
          <a:p>
            <a:pPr indent="0" marL="0">
              <a:buNone/>
            </a:pPr>
            <a:r>
              <a:rPr lang="en-US" sz="1100" b="1" dirty="0">
                <a:solidFill>
                  <a:srgbClr val="0F172A"/>
                </a:solidFill>
                <a:latin typeface="Arial" pitchFamily="34" charset="0"/>
                <a:ea typeface="Arial" pitchFamily="34" charset="-122"/>
                <a:cs typeface="Arial" pitchFamily="34" charset="-120"/>
              </a:rPr>
              <a:t>API surface</a:t>
            </a:r>
            <a:endParaRPr lang="en-US" sz="1100" dirty="0"/>
          </a:p>
        </p:txBody>
      </p:sp>
      <p:sp>
        <p:nvSpPr>
          <p:cNvPr id="17" name="Text 15"/>
          <p:cNvSpPr/>
          <p:nvPr/>
        </p:nvSpPr>
        <p:spPr>
          <a:xfrm>
            <a:off x="3703320" y="2441448"/>
            <a:ext cx="237744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Small</a:t>
            </a:r>
            <a:endParaRPr lang="en-US" sz="1050" dirty="0"/>
          </a:p>
        </p:txBody>
      </p:sp>
      <p:sp>
        <p:nvSpPr>
          <p:cNvPr id="18" name="Text 16"/>
          <p:cNvSpPr/>
          <p:nvPr/>
        </p:nvSpPr>
        <p:spPr>
          <a:xfrm>
            <a:off x="6126480" y="2441448"/>
            <a:ext cx="237744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Small</a:t>
            </a:r>
            <a:endParaRPr lang="en-US" sz="1050" dirty="0"/>
          </a:p>
        </p:txBody>
      </p:sp>
      <p:sp>
        <p:nvSpPr>
          <p:cNvPr id="19" name="Text 17"/>
          <p:cNvSpPr/>
          <p:nvPr/>
        </p:nvSpPr>
        <p:spPr>
          <a:xfrm>
            <a:off x="8549640" y="2441448"/>
            <a:ext cx="274320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Medium-large</a:t>
            </a:r>
            <a:endParaRPr lang="en-US" sz="1050" dirty="0"/>
          </a:p>
        </p:txBody>
      </p:sp>
      <p:sp>
        <p:nvSpPr>
          <p:cNvPr id="20" name="Shape 18"/>
          <p:cNvSpPr/>
          <p:nvPr/>
        </p:nvSpPr>
        <p:spPr>
          <a:xfrm>
            <a:off x="777240" y="3054096"/>
            <a:ext cx="10607040" cy="594360"/>
          </a:xfrm>
          <a:prstGeom prst="rect">
            <a:avLst/>
          </a:prstGeom>
          <a:solidFill>
            <a:srgbClr val="FFFFFF"/>
          </a:solidFill>
          <a:ln w="12700">
            <a:solidFill>
              <a:srgbClr val="E2E8F0"/>
            </a:solidFill>
            <a:prstDash val="solid"/>
          </a:ln>
        </p:spPr>
      </p:sp>
      <p:sp>
        <p:nvSpPr>
          <p:cNvPr id="21" name="Text 19"/>
          <p:cNvSpPr/>
          <p:nvPr/>
        </p:nvSpPr>
        <p:spPr>
          <a:xfrm>
            <a:off x="914400" y="3099816"/>
            <a:ext cx="2743200" cy="502920"/>
          </a:xfrm>
          <a:prstGeom prst="rect">
            <a:avLst/>
          </a:prstGeom>
          <a:noFill/>
          <a:ln/>
        </p:spPr>
        <p:txBody>
          <a:bodyPr wrap="square" lIns="0" tIns="0" rIns="0" bIns="0" rtlCol="0" anchor="ctr"/>
          <a:lstStyle/>
          <a:p>
            <a:pPr indent="0" marL="0">
              <a:buNone/>
            </a:pPr>
            <a:r>
              <a:rPr lang="en-US" sz="1100" b="1" dirty="0">
                <a:solidFill>
                  <a:srgbClr val="0F172A"/>
                </a:solidFill>
                <a:latin typeface="Arial" pitchFamily="34" charset="0"/>
                <a:ea typeface="Arial" pitchFamily="34" charset="-122"/>
                <a:cs typeface="Arial" pitchFamily="34" charset="-120"/>
              </a:rPr>
              <a:t>Conventions</a:t>
            </a:r>
            <a:endParaRPr lang="en-US" sz="1100" dirty="0"/>
          </a:p>
        </p:txBody>
      </p:sp>
      <p:sp>
        <p:nvSpPr>
          <p:cNvPr id="22" name="Text 20"/>
          <p:cNvSpPr/>
          <p:nvPr/>
        </p:nvSpPr>
        <p:spPr>
          <a:xfrm>
            <a:off x="3703320" y="3099816"/>
            <a:ext cx="237744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Loose</a:t>
            </a:r>
            <a:endParaRPr lang="en-US" sz="1050" dirty="0"/>
          </a:p>
        </p:txBody>
      </p:sp>
      <p:sp>
        <p:nvSpPr>
          <p:cNvPr id="23" name="Text 21"/>
          <p:cNvSpPr/>
          <p:nvPr/>
        </p:nvSpPr>
        <p:spPr>
          <a:xfrm>
            <a:off x="6126480" y="3099816"/>
            <a:ext cx="237744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Atom-based</a:t>
            </a:r>
            <a:endParaRPr lang="en-US" sz="1050" dirty="0"/>
          </a:p>
        </p:txBody>
      </p:sp>
      <p:sp>
        <p:nvSpPr>
          <p:cNvPr id="24" name="Text 22"/>
          <p:cNvSpPr/>
          <p:nvPr/>
        </p:nvSpPr>
        <p:spPr>
          <a:xfrm>
            <a:off x="8549640" y="3099816"/>
            <a:ext cx="274320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Strong (slices, selectors, tags)</a:t>
            </a:r>
            <a:endParaRPr lang="en-US" sz="1050" dirty="0"/>
          </a:p>
        </p:txBody>
      </p:sp>
      <p:sp>
        <p:nvSpPr>
          <p:cNvPr id="25" name="Shape 23"/>
          <p:cNvSpPr/>
          <p:nvPr/>
        </p:nvSpPr>
        <p:spPr>
          <a:xfrm>
            <a:off x="777240" y="3712464"/>
            <a:ext cx="10607040" cy="594360"/>
          </a:xfrm>
          <a:prstGeom prst="rect">
            <a:avLst/>
          </a:prstGeom>
          <a:solidFill>
            <a:srgbClr val="F8FAFC"/>
          </a:solidFill>
          <a:ln w="12700">
            <a:solidFill>
              <a:srgbClr val="E2E8F0"/>
            </a:solidFill>
            <a:prstDash val="solid"/>
          </a:ln>
        </p:spPr>
      </p:sp>
      <p:sp>
        <p:nvSpPr>
          <p:cNvPr id="26" name="Text 24"/>
          <p:cNvSpPr/>
          <p:nvPr/>
        </p:nvSpPr>
        <p:spPr>
          <a:xfrm>
            <a:off x="914400" y="3758184"/>
            <a:ext cx="2743200" cy="502920"/>
          </a:xfrm>
          <a:prstGeom prst="rect">
            <a:avLst/>
          </a:prstGeom>
          <a:noFill/>
          <a:ln/>
        </p:spPr>
        <p:txBody>
          <a:bodyPr wrap="square" lIns="0" tIns="0" rIns="0" bIns="0" rtlCol="0" anchor="ctr"/>
          <a:lstStyle/>
          <a:p>
            <a:pPr indent="0" marL="0">
              <a:buNone/>
            </a:pPr>
            <a:r>
              <a:rPr lang="en-US" sz="1100" b="1" dirty="0">
                <a:solidFill>
                  <a:srgbClr val="0F172A"/>
                </a:solidFill>
                <a:latin typeface="Arial" pitchFamily="34" charset="0"/>
                <a:ea typeface="Arial" pitchFamily="34" charset="-122"/>
                <a:cs typeface="Arial" pitchFamily="34" charset="-120"/>
              </a:rPr>
              <a:t>DevTools</a:t>
            </a:r>
            <a:endParaRPr lang="en-US" sz="1100" dirty="0"/>
          </a:p>
        </p:txBody>
      </p:sp>
      <p:sp>
        <p:nvSpPr>
          <p:cNvPr id="27" name="Text 25"/>
          <p:cNvSpPr/>
          <p:nvPr/>
        </p:nvSpPr>
        <p:spPr>
          <a:xfrm>
            <a:off x="3703320" y="3758184"/>
            <a:ext cx="237744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Good</a:t>
            </a:r>
            <a:endParaRPr lang="en-US" sz="1050" dirty="0"/>
          </a:p>
        </p:txBody>
      </p:sp>
      <p:sp>
        <p:nvSpPr>
          <p:cNvPr id="28" name="Text 26"/>
          <p:cNvSpPr/>
          <p:nvPr/>
        </p:nvSpPr>
        <p:spPr>
          <a:xfrm>
            <a:off x="6126480" y="3758184"/>
            <a:ext cx="237744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Functional</a:t>
            </a:r>
            <a:endParaRPr lang="en-US" sz="1050" dirty="0"/>
          </a:p>
        </p:txBody>
      </p:sp>
      <p:sp>
        <p:nvSpPr>
          <p:cNvPr id="29" name="Text 27"/>
          <p:cNvSpPr/>
          <p:nvPr/>
        </p:nvSpPr>
        <p:spPr>
          <a:xfrm>
            <a:off x="8549640" y="3758184"/>
            <a:ext cx="274320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Best in class</a:t>
            </a:r>
            <a:endParaRPr lang="en-US" sz="1050" dirty="0"/>
          </a:p>
        </p:txBody>
      </p:sp>
      <p:sp>
        <p:nvSpPr>
          <p:cNvPr id="30" name="Shape 28"/>
          <p:cNvSpPr/>
          <p:nvPr/>
        </p:nvSpPr>
        <p:spPr>
          <a:xfrm>
            <a:off x="777240" y="4370832"/>
            <a:ext cx="10607040" cy="594360"/>
          </a:xfrm>
          <a:prstGeom prst="rect">
            <a:avLst/>
          </a:prstGeom>
          <a:solidFill>
            <a:srgbClr val="FFFFFF"/>
          </a:solidFill>
          <a:ln w="12700">
            <a:solidFill>
              <a:srgbClr val="E2E8F0"/>
            </a:solidFill>
            <a:prstDash val="solid"/>
          </a:ln>
        </p:spPr>
      </p:sp>
      <p:sp>
        <p:nvSpPr>
          <p:cNvPr id="31" name="Text 29"/>
          <p:cNvSpPr/>
          <p:nvPr/>
        </p:nvSpPr>
        <p:spPr>
          <a:xfrm>
            <a:off x="914400" y="4416552"/>
            <a:ext cx="2743200" cy="502920"/>
          </a:xfrm>
          <a:prstGeom prst="rect">
            <a:avLst/>
          </a:prstGeom>
          <a:noFill/>
          <a:ln/>
        </p:spPr>
        <p:txBody>
          <a:bodyPr wrap="square" lIns="0" tIns="0" rIns="0" bIns="0" rtlCol="0" anchor="ctr"/>
          <a:lstStyle/>
          <a:p>
            <a:pPr indent="0" marL="0">
              <a:buNone/>
            </a:pPr>
            <a:r>
              <a:rPr lang="en-US" sz="1100" b="1" dirty="0">
                <a:solidFill>
                  <a:srgbClr val="0F172A"/>
                </a:solidFill>
                <a:latin typeface="Arial" pitchFamily="34" charset="0"/>
                <a:ea typeface="Arial" pitchFamily="34" charset="-122"/>
                <a:cs typeface="Arial" pitchFamily="34" charset="-120"/>
              </a:rPr>
              <a:t>Server state</a:t>
            </a:r>
            <a:endParaRPr lang="en-US" sz="1100" dirty="0"/>
          </a:p>
        </p:txBody>
      </p:sp>
      <p:sp>
        <p:nvSpPr>
          <p:cNvPr id="32" name="Text 30"/>
          <p:cNvSpPr/>
          <p:nvPr/>
        </p:nvSpPr>
        <p:spPr>
          <a:xfrm>
            <a:off x="3703320" y="4416552"/>
            <a:ext cx="237744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BYO (e.g. TanStack Query)</a:t>
            </a:r>
            <a:endParaRPr lang="en-US" sz="1050" dirty="0"/>
          </a:p>
        </p:txBody>
      </p:sp>
      <p:sp>
        <p:nvSpPr>
          <p:cNvPr id="33" name="Text 31"/>
          <p:cNvSpPr/>
          <p:nvPr/>
        </p:nvSpPr>
        <p:spPr>
          <a:xfrm>
            <a:off x="6126480" y="4416552"/>
            <a:ext cx="237744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BYO or async atoms</a:t>
            </a:r>
            <a:endParaRPr lang="en-US" sz="1050" dirty="0"/>
          </a:p>
        </p:txBody>
      </p:sp>
      <p:sp>
        <p:nvSpPr>
          <p:cNvPr id="34" name="Text 32"/>
          <p:cNvSpPr/>
          <p:nvPr/>
        </p:nvSpPr>
        <p:spPr>
          <a:xfrm>
            <a:off x="8549640" y="4416552"/>
            <a:ext cx="274320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Bundled (RTK Query)</a:t>
            </a:r>
            <a:endParaRPr lang="en-US" sz="1050" dirty="0"/>
          </a:p>
        </p:txBody>
      </p:sp>
      <p:sp>
        <p:nvSpPr>
          <p:cNvPr id="35" name="Shape 33"/>
          <p:cNvSpPr/>
          <p:nvPr/>
        </p:nvSpPr>
        <p:spPr>
          <a:xfrm>
            <a:off x="777240" y="5029200"/>
            <a:ext cx="10607040" cy="594360"/>
          </a:xfrm>
          <a:prstGeom prst="rect">
            <a:avLst/>
          </a:prstGeom>
          <a:solidFill>
            <a:srgbClr val="F8FAFC"/>
          </a:solidFill>
          <a:ln w="12700">
            <a:solidFill>
              <a:srgbClr val="E2E8F0"/>
            </a:solidFill>
            <a:prstDash val="solid"/>
          </a:ln>
        </p:spPr>
      </p:sp>
      <p:sp>
        <p:nvSpPr>
          <p:cNvPr id="36" name="Text 34"/>
          <p:cNvSpPr/>
          <p:nvPr/>
        </p:nvSpPr>
        <p:spPr>
          <a:xfrm>
            <a:off x="914400" y="5074920"/>
            <a:ext cx="2743200" cy="502920"/>
          </a:xfrm>
          <a:prstGeom prst="rect">
            <a:avLst/>
          </a:prstGeom>
          <a:noFill/>
          <a:ln/>
        </p:spPr>
        <p:txBody>
          <a:bodyPr wrap="square" lIns="0" tIns="0" rIns="0" bIns="0" rtlCol="0" anchor="ctr"/>
          <a:lstStyle/>
          <a:p>
            <a:pPr indent="0" marL="0">
              <a:buNone/>
            </a:pPr>
            <a:r>
              <a:rPr lang="en-US" sz="1100" b="1" dirty="0">
                <a:solidFill>
                  <a:srgbClr val="0F172A"/>
                </a:solidFill>
                <a:latin typeface="Arial" pitchFamily="34" charset="0"/>
                <a:ea typeface="Arial" pitchFamily="34" charset="-122"/>
                <a:cs typeface="Arial" pitchFamily="34" charset="-120"/>
              </a:rPr>
              <a:t>Best for</a:t>
            </a:r>
            <a:endParaRPr lang="en-US" sz="1100" dirty="0"/>
          </a:p>
        </p:txBody>
      </p:sp>
      <p:sp>
        <p:nvSpPr>
          <p:cNvPr id="37" name="Text 35"/>
          <p:cNvSpPr/>
          <p:nvPr/>
        </p:nvSpPr>
        <p:spPr>
          <a:xfrm>
            <a:off x="3703320" y="5074920"/>
            <a:ext cx="237744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Most apps</a:t>
            </a:r>
            <a:endParaRPr lang="en-US" sz="1050" dirty="0"/>
          </a:p>
        </p:txBody>
      </p:sp>
      <p:sp>
        <p:nvSpPr>
          <p:cNvPr id="38" name="Text 36"/>
          <p:cNvSpPr/>
          <p:nvPr/>
        </p:nvSpPr>
        <p:spPr>
          <a:xfrm>
            <a:off x="6126480" y="5074920"/>
            <a:ext cx="237744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Graph-shaped state</a:t>
            </a:r>
            <a:endParaRPr lang="en-US" sz="1050" dirty="0"/>
          </a:p>
        </p:txBody>
      </p:sp>
      <p:sp>
        <p:nvSpPr>
          <p:cNvPr id="39" name="Text 37"/>
          <p:cNvSpPr/>
          <p:nvPr/>
        </p:nvSpPr>
        <p:spPr>
          <a:xfrm>
            <a:off x="8549640" y="5074920"/>
            <a:ext cx="2743200" cy="502920"/>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Large teams, conventions matter</a:t>
            </a:r>
            <a:endParaRPr lang="en-US" sz="1050" dirty="0"/>
          </a:p>
        </p:txBody>
      </p:sp>
      <p:sp>
        <p:nvSpPr>
          <p:cNvPr id="40" name="Text 3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41" name="Text 3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18 / 28</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9">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4</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Server State</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If the data lives on the server, treat it differently. Half your old store probably belongs here.</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Server state is different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Not your state. Not your source of truth. A cached view of someone else's truth.</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502920" cy="502920"/>
          </a:xfrm>
          <a:prstGeom prst="rect">
            <a:avLst/>
          </a:prstGeom>
        </p:spPr>
      </p:pic>
      <p:sp>
        <p:nvSpPr>
          <p:cNvPr id="7" name="Text 4"/>
          <p:cNvSpPr/>
          <p:nvPr/>
        </p:nvSpPr>
        <p:spPr>
          <a:xfrm>
            <a:off x="1691640" y="178308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It can change behind your back</a:t>
            </a:r>
            <a:endParaRPr lang="en-US" sz="1400" dirty="0"/>
          </a:p>
        </p:txBody>
      </p:sp>
      <p:sp>
        <p:nvSpPr>
          <p:cNvPr id="8" name="Text 5"/>
          <p:cNvSpPr/>
          <p:nvPr/>
        </p:nvSpPr>
        <p:spPr>
          <a:xfrm>
            <a:off x="1691640" y="210312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Another user, another tab, a background job — the truth lives elsewhere.</a:t>
            </a:r>
            <a:endParaRPr lang="en-US" sz="1150" dirty="0"/>
          </a:p>
        </p:txBody>
      </p:sp>
      <p:sp>
        <p:nvSpPr>
          <p:cNvPr id="9" name="Shape 6"/>
          <p:cNvSpPr/>
          <p:nvPr/>
        </p:nvSpPr>
        <p:spPr>
          <a:xfrm>
            <a:off x="777240" y="274320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926080"/>
            <a:ext cx="502920" cy="502920"/>
          </a:xfrm>
          <a:prstGeom prst="rect">
            <a:avLst/>
          </a:prstGeom>
        </p:spPr>
      </p:pic>
      <p:sp>
        <p:nvSpPr>
          <p:cNvPr id="11" name="Text 7"/>
          <p:cNvSpPr/>
          <p:nvPr/>
        </p:nvSpPr>
        <p:spPr>
          <a:xfrm>
            <a:off x="1691640" y="283464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It needs invalidation, not just updates</a:t>
            </a:r>
            <a:endParaRPr lang="en-US" sz="1400" dirty="0"/>
          </a:p>
        </p:txBody>
      </p:sp>
      <p:sp>
        <p:nvSpPr>
          <p:cNvPr id="12" name="Text 8"/>
          <p:cNvSpPr/>
          <p:nvPr/>
        </p:nvSpPr>
        <p:spPr>
          <a:xfrm>
            <a:off x="1691640" y="315468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Your local edit is provisional until the server confirms.</a:t>
            </a:r>
            <a:endParaRPr lang="en-US" sz="1150" dirty="0"/>
          </a:p>
        </p:txBody>
      </p:sp>
      <p:sp>
        <p:nvSpPr>
          <p:cNvPr id="13" name="Shape 9"/>
          <p:cNvSpPr/>
          <p:nvPr/>
        </p:nvSpPr>
        <p:spPr>
          <a:xfrm>
            <a:off x="777240" y="379476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977640"/>
            <a:ext cx="502920" cy="502920"/>
          </a:xfrm>
          <a:prstGeom prst="rect">
            <a:avLst/>
          </a:prstGeom>
        </p:spPr>
      </p:pic>
      <p:sp>
        <p:nvSpPr>
          <p:cNvPr id="15" name="Text 10"/>
          <p:cNvSpPr/>
          <p:nvPr/>
        </p:nvSpPr>
        <p:spPr>
          <a:xfrm>
            <a:off x="1691640" y="388620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Loading and error are first-class concerns</a:t>
            </a:r>
            <a:endParaRPr lang="en-US" sz="1400" dirty="0"/>
          </a:p>
        </p:txBody>
      </p:sp>
      <p:sp>
        <p:nvSpPr>
          <p:cNvPr id="16" name="Text 11"/>
          <p:cNvSpPr/>
          <p:nvPr/>
        </p:nvSpPr>
        <p:spPr>
          <a:xfrm>
            <a:off x="1691640" y="420624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The wire is slow and unreliable. Don't pretend otherwise.</a:t>
            </a:r>
            <a:endParaRPr lang="en-US" sz="1150" dirty="0"/>
          </a:p>
        </p:txBody>
      </p:sp>
      <p:sp>
        <p:nvSpPr>
          <p:cNvPr id="17" name="Shape 12"/>
          <p:cNvSpPr/>
          <p:nvPr/>
        </p:nvSpPr>
        <p:spPr>
          <a:xfrm>
            <a:off x="777240" y="484632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5029200"/>
            <a:ext cx="502920" cy="502920"/>
          </a:xfrm>
          <a:prstGeom prst="rect">
            <a:avLst/>
          </a:prstGeom>
        </p:spPr>
      </p:pic>
      <p:sp>
        <p:nvSpPr>
          <p:cNvPr id="19" name="Text 13"/>
          <p:cNvSpPr/>
          <p:nvPr/>
        </p:nvSpPr>
        <p:spPr>
          <a:xfrm>
            <a:off x="1691640" y="493776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It deduplicates across the app</a:t>
            </a:r>
            <a:endParaRPr lang="en-US" sz="1400" dirty="0"/>
          </a:p>
        </p:txBody>
      </p:sp>
      <p:sp>
        <p:nvSpPr>
          <p:cNvPr id="20" name="Text 14"/>
          <p:cNvSpPr/>
          <p:nvPr/>
        </p:nvSpPr>
        <p:spPr>
          <a:xfrm>
            <a:off x="1691640" y="525780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Two components asking for the same posts shouldn't fire two requests.</a:t>
            </a:r>
            <a:endParaRPr lang="en-US" sz="11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20 / 28</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TanStack Query — the canonical lever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Module 5 covers it in depth. Here, just see the shape.</a:t>
            </a:r>
            <a:endParaRPr lang="en-US" sz="1400" dirty="0"/>
          </a:p>
        </p:txBody>
      </p:sp>
      <p:sp>
        <p:nvSpPr>
          <p:cNvPr id="5" name="Shape 3"/>
          <p:cNvSpPr/>
          <p:nvPr/>
        </p:nvSpPr>
        <p:spPr>
          <a:xfrm>
            <a:off x="777240" y="1554480"/>
            <a:ext cx="10607040" cy="42062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931920"/>
          </a:xfrm>
          <a:prstGeom prst="rect">
            <a:avLst/>
          </a:prstGeom>
          <a:noFill/>
          <a:ln/>
        </p:spPr>
        <p:txBody>
          <a:bodyPr wrap="square" lIns="0" tIns="0" rIns="0" bIns="0" rtlCol="0" anchor="t"/>
          <a:lstStyle/>
          <a:p>
            <a:pPr indent="0" marL="0">
              <a:buNone/>
            </a:pPr>
            <a:r>
              <a:rPr lang="en-US" sz="1200" dirty="0">
                <a:solidFill>
                  <a:srgbClr val="C586C0"/>
                </a:solidFill>
                <a:latin typeface="Courier New" pitchFamily="34" charset="0"/>
                <a:ea typeface="Courier New" pitchFamily="34" charset="-122"/>
                <a:cs typeface="Courier New" pitchFamily="34" charset="-120"/>
              </a:rPr>
              <a:t>import { useQuery, useMutation, useQueryClient } from </a:t>
            </a:r>
            <a:pPr indent="0" marL="0">
              <a:buNone/>
            </a:pPr>
            <a:r>
              <a:rPr lang="en-US" sz="1200" dirty="0">
                <a:solidFill>
                  <a:srgbClr val="9CDCFE"/>
                </a:solidFill>
                <a:latin typeface="Courier New" pitchFamily="34" charset="0"/>
                <a:ea typeface="Courier New" pitchFamily="34" charset="-122"/>
                <a:cs typeface="Courier New" pitchFamily="34" charset="-120"/>
              </a:rPr>
              <a:t>'@tanstack/react-query'</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function </a:t>
            </a:r>
            <a:pPr indent="0" marL="0">
              <a:buNone/>
            </a:pPr>
            <a:r>
              <a:rPr lang="en-US" sz="1200" dirty="0">
                <a:solidFill>
                  <a:srgbClr val="DCDCAA"/>
                </a:solidFill>
                <a:latin typeface="Courier New" pitchFamily="34" charset="0"/>
                <a:ea typeface="Courier New" pitchFamily="34" charset="-122"/>
                <a:cs typeface="Courier New" pitchFamily="34" charset="-120"/>
              </a:rPr>
              <a:t>PostList</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const { data, isPending, error } = </a:t>
            </a:r>
            <a:pPr indent="0" marL="0">
              <a:buNone/>
            </a:pPr>
            <a:r>
              <a:rPr lang="en-US" sz="1200" dirty="0">
                <a:solidFill>
                  <a:srgbClr val="DCDCAA"/>
                </a:solidFill>
                <a:latin typeface="Courier New" pitchFamily="34" charset="0"/>
                <a:ea typeface="Courier New" pitchFamily="34" charset="-122"/>
                <a:cs typeface="Courier New" pitchFamily="34" charset="-120"/>
              </a:rPr>
              <a:t>useQuery</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queryKey: [</a:t>
            </a:r>
            <a:pPr indent="0" marL="0">
              <a:buNone/>
            </a:pPr>
            <a:r>
              <a:rPr lang="en-US" sz="1200" dirty="0">
                <a:solidFill>
                  <a:srgbClr val="9CDCFE"/>
                </a:solidFill>
                <a:latin typeface="Courier New" pitchFamily="34" charset="0"/>
                <a:ea typeface="Courier New" pitchFamily="34" charset="-122"/>
                <a:cs typeface="Courier New" pitchFamily="34" charset="-120"/>
              </a:rPr>
              <a:t>'posts'</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queryFn: () =&gt; api.listPosts(),</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if (isPending) </a:t>
            </a:r>
            <a:pPr indent="0" marL="0">
              <a:buNone/>
            </a:pPr>
            <a:r>
              <a:rPr lang="en-US" sz="1200" dirty="0">
                <a:solidFill>
                  <a:srgbClr val="9CDCFE"/>
                </a:solidFill>
                <a:latin typeface="Courier New" pitchFamily="34" charset="0"/>
                <a:ea typeface="Courier New" pitchFamily="34" charset="-122"/>
                <a:cs typeface="Courier New" pitchFamily="34" charset="-120"/>
              </a:rPr>
              <a:t>return &lt;Skeleton /&gt;;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if (error) </a:t>
            </a:r>
            <a:pPr indent="0" marL="0">
              <a:buNone/>
            </a:pPr>
            <a:r>
              <a:rPr lang="en-US" sz="1200" dirty="0">
                <a:solidFill>
                  <a:srgbClr val="9CDCFE"/>
                </a:solidFill>
                <a:latin typeface="Courier New" pitchFamily="34" charset="0"/>
                <a:ea typeface="Courier New" pitchFamily="34" charset="-122"/>
                <a:cs typeface="Courier New" pitchFamily="34" charset="-120"/>
              </a:rPr>
              <a:t>return &lt;Error error={error} /&gt;;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return &lt;ul&gt;{data.map(</a:t>
            </a:r>
            <a:pPr indent="0" marL="0">
              <a:buNone/>
            </a:pPr>
            <a:r>
              <a:rPr lang="en-US" sz="1200" dirty="0">
                <a:solidFill>
                  <a:srgbClr val="9CDCFE"/>
                </a:solidFill>
                <a:latin typeface="Courier New" pitchFamily="34" charset="0"/>
                <a:ea typeface="Courier New" pitchFamily="34" charset="-122"/>
                <a:cs typeface="Courier New" pitchFamily="34" charset="-120"/>
              </a:rPr>
              <a:t>p</a:t>
            </a:r>
            <a:pPr indent="0" marL="0">
              <a:buNone/>
            </a:pPr>
            <a:r>
              <a:rPr lang="en-US" sz="1200" dirty="0">
                <a:solidFill>
                  <a:srgbClr val="FFFFFF"/>
                </a:solidFill>
                <a:latin typeface="Courier New" pitchFamily="34" charset="0"/>
                <a:ea typeface="Courier New" pitchFamily="34" charset="-122"/>
                <a:cs typeface="Courier New" pitchFamily="34" charset="-120"/>
              </a:rPr>
              <a:t> =&gt; &lt;Post key={p.id} {...p} /&gt;)}&lt;/ul&gt;;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21 / 28</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Why this changes everything</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When you split server state out, your client store gets dramatically smaller.</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300" b="1" dirty="0">
                <a:solidFill>
                  <a:srgbClr val="D97706"/>
                </a:solidFill>
                <a:latin typeface="Trebuchet MS" pitchFamily="34" charset="0"/>
                <a:ea typeface="Trebuchet MS" pitchFamily="34" charset="-122"/>
                <a:cs typeface="Trebuchet MS" pitchFamily="34" charset="-120"/>
              </a:rPr>
              <a:t>Before — everything in the store</a:t>
            </a:r>
            <a:endParaRPr lang="en-US" sz="1300" dirty="0"/>
          </a:p>
        </p:txBody>
      </p:sp>
      <p:sp>
        <p:nvSpPr>
          <p:cNvPr id="6" name="Text 4"/>
          <p:cNvSpPr/>
          <p:nvPr/>
        </p:nvSpPr>
        <p:spPr>
          <a:xfrm>
            <a:off x="777240" y="1920240"/>
            <a:ext cx="5349240" cy="411480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475569"/>
                </a:solidFill>
                <a:latin typeface="Arial" pitchFamily="34" charset="0"/>
                <a:ea typeface="Arial" pitchFamily="34" charset="-122"/>
                <a:cs typeface="Arial" pitchFamily="34" charset="-120"/>
              </a:rPr>
              <a:t>Auth user object (server)</a:t>
            </a:r>
            <a:endParaRPr lang="en-US" sz="1200" dirty="0"/>
          </a:p>
          <a:p>
            <a:pPr marL="342900" indent="-342900">
              <a:spcAft>
                <a:spcPts val="200"/>
              </a:spcAft>
              <a:buSzPct val="100000"/>
              <a:buChar char="•"/>
            </a:pPr>
            <a:r>
              <a:rPr lang="en-US" sz="1200" dirty="0">
                <a:solidFill>
                  <a:srgbClr val="475569"/>
                </a:solidFill>
                <a:latin typeface="Arial" pitchFamily="34" charset="0"/>
                <a:ea typeface="Arial" pitchFamily="34" charset="-122"/>
                <a:cs typeface="Arial" pitchFamily="34" charset="-120"/>
              </a:rPr>
              <a:t>Posts list (server)</a:t>
            </a:r>
            <a:endParaRPr lang="en-US" sz="1200" dirty="0"/>
          </a:p>
          <a:p>
            <a:pPr marL="342900" indent="-342900">
              <a:spcAft>
                <a:spcPts val="200"/>
              </a:spcAft>
              <a:buSzPct val="100000"/>
              <a:buChar char="•"/>
            </a:pPr>
            <a:r>
              <a:rPr lang="en-US" sz="1200" dirty="0">
                <a:solidFill>
                  <a:srgbClr val="475569"/>
                </a:solidFill>
                <a:latin typeface="Arial" pitchFamily="34" charset="0"/>
                <a:ea typeface="Arial" pitchFamily="34" charset="-122"/>
                <a:cs typeface="Arial" pitchFamily="34" charset="-120"/>
              </a:rPr>
              <a:t>Single post by id (server)</a:t>
            </a:r>
            <a:endParaRPr lang="en-US" sz="1200" dirty="0"/>
          </a:p>
          <a:p>
            <a:pPr marL="342900" indent="-342900">
              <a:spcAft>
                <a:spcPts val="200"/>
              </a:spcAft>
              <a:buSzPct val="100000"/>
              <a:buChar char="•"/>
            </a:pPr>
            <a:r>
              <a:rPr lang="en-US" sz="1200" dirty="0">
                <a:solidFill>
                  <a:srgbClr val="475569"/>
                </a:solidFill>
                <a:latin typeface="Arial" pitchFamily="34" charset="0"/>
                <a:ea typeface="Arial" pitchFamily="34" charset="-122"/>
                <a:cs typeface="Arial" pitchFamily="34" charset="-120"/>
              </a:rPr>
              <a:t>Drafts being edited (client)</a:t>
            </a:r>
            <a:endParaRPr lang="en-US" sz="1200" dirty="0"/>
          </a:p>
          <a:p>
            <a:pPr marL="342900" indent="-342900">
              <a:spcAft>
                <a:spcPts val="200"/>
              </a:spcAft>
              <a:buSzPct val="100000"/>
              <a:buChar char="•"/>
            </a:pPr>
            <a:r>
              <a:rPr lang="en-US" sz="1200" dirty="0">
                <a:solidFill>
                  <a:srgbClr val="475569"/>
                </a:solidFill>
                <a:latin typeface="Arial" pitchFamily="34" charset="0"/>
                <a:ea typeface="Arial" pitchFamily="34" charset="-122"/>
                <a:cs typeface="Arial" pitchFamily="34" charset="-120"/>
              </a:rPr>
              <a:t>Sidebar open/closed (client)</a:t>
            </a:r>
            <a:endParaRPr lang="en-US" sz="1200" dirty="0"/>
          </a:p>
          <a:p>
            <a:pPr marL="342900" indent="-342900">
              <a:spcAft>
                <a:spcPts val="200"/>
              </a:spcAft>
              <a:buSzPct val="100000"/>
              <a:buChar char="•"/>
            </a:pPr>
            <a:r>
              <a:rPr lang="en-US" sz="1200" dirty="0">
                <a:solidFill>
                  <a:srgbClr val="475569"/>
                </a:solidFill>
                <a:latin typeface="Arial" pitchFamily="34" charset="0"/>
                <a:ea typeface="Arial" pitchFamily="34" charset="-122"/>
                <a:cs typeface="Arial" pitchFamily="34" charset="-120"/>
              </a:rPr>
              <a:t>Theme (client)</a:t>
            </a:r>
            <a:endParaRPr lang="en-US" sz="1200" dirty="0"/>
          </a:p>
          <a:p>
            <a:pPr marL="342900" indent="-342900">
              <a:spcAft>
                <a:spcPts val="200"/>
              </a:spcAft>
              <a:buSzPct val="100000"/>
              <a:buChar char="•"/>
            </a:pPr>
            <a:r>
              <a:rPr lang="en-US" sz="1200" dirty="0">
                <a:solidFill>
                  <a:srgbClr val="475569"/>
                </a:solidFill>
                <a:latin typeface="Arial" pitchFamily="34" charset="0"/>
                <a:ea typeface="Arial" pitchFamily="34" charset="-122"/>
                <a:cs typeface="Arial" pitchFamily="34" charset="-120"/>
              </a:rPr>
              <a:t>Notifications panel (server)</a:t>
            </a:r>
            <a:endParaRPr lang="en-US" sz="1200" dirty="0"/>
          </a:p>
          <a:p>
            <a:pPr marL="342900" indent="-342900">
              <a:spcAft>
                <a:spcPts val="200"/>
              </a:spcAft>
              <a:buSzPct val="100000"/>
              <a:buChar char="•"/>
            </a:pPr>
            <a:r>
              <a:rPr lang="en-US" sz="1200" dirty="0">
                <a:solidFill>
                  <a:srgbClr val="475569"/>
                </a:solidFill>
                <a:latin typeface="Arial" pitchFamily="34" charset="0"/>
                <a:ea typeface="Arial" pitchFamily="34" charset="-122"/>
                <a:cs typeface="Arial" pitchFamily="34" charset="-120"/>
              </a:rPr>
              <a:t>Filter selections (client)</a:t>
            </a:r>
            <a:endParaRPr lang="en-US" sz="1200" dirty="0"/>
          </a:p>
        </p:txBody>
      </p:sp>
      <p:sp>
        <p:nvSpPr>
          <p:cNvPr id="7" name="Text 5"/>
          <p:cNvSpPr/>
          <p:nvPr/>
        </p:nvSpPr>
        <p:spPr>
          <a:xfrm>
            <a:off x="6355080" y="1554480"/>
            <a:ext cx="5029200" cy="365760"/>
          </a:xfrm>
          <a:prstGeom prst="rect">
            <a:avLst/>
          </a:prstGeom>
          <a:noFill/>
          <a:ln/>
        </p:spPr>
        <p:txBody>
          <a:bodyPr wrap="square" lIns="0" tIns="0" rIns="0" bIns="0" rtlCol="0" anchor="ctr"/>
          <a:lstStyle/>
          <a:p>
            <a:pPr indent="0" marL="0">
              <a:buNone/>
            </a:pPr>
            <a:r>
              <a:rPr lang="en-US" sz="1300" b="1" dirty="0">
                <a:solidFill>
                  <a:srgbClr val="059669"/>
                </a:solidFill>
                <a:latin typeface="Trebuchet MS" pitchFamily="34" charset="0"/>
                <a:ea typeface="Trebuchet MS" pitchFamily="34" charset="-122"/>
                <a:cs typeface="Trebuchet MS" pitchFamily="34" charset="-120"/>
              </a:rPr>
              <a:t>After — split by where truth lives</a:t>
            </a:r>
            <a:endParaRPr lang="en-US" sz="1300" dirty="0"/>
          </a:p>
        </p:txBody>
      </p:sp>
      <p:sp>
        <p:nvSpPr>
          <p:cNvPr id="8" name="Text 6"/>
          <p:cNvSpPr/>
          <p:nvPr/>
        </p:nvSpPr>
        <p:spPr>
          <a:xfrm>
            <a:off x="6355080" y="1920240"/>
            <a:ext cx="5029200" cy="4114800"/>
          </a:xfrm>
          <a:prstGeom prst="rect">
            <a:avLst/>
          </a:prstGeom>
          <a:noFill/>
          <a:ln/>
        </p:spPr>
        <p:txBody>
          <a:bodyPr wrap="square" lIns="0" tIns="0" rIns="0" bIns="0" rtlCol="0" anchor="t"/>
          <a:lstStyle/>
          <a:p>
            <a:pPr indent="0" marL="0">
              <a:spcAft>
                <a:spcPts val="400"/>
              </a:spcAft>
              <a:buNone/>
            </a:pPr>
            <a:r>
              <a:rPr lang="en-US" sz="1300" b="1" dirty="0">
                <a:solidFill>
                  <a:srgbClr val="00B8D9"/>
                </a:solidFill>
                <a:latin typeface="Arial" pitchFamily="34" charset="0"/>
                <a:ea typeface="Arial" pitchFamily="34" charset="-122"/>
                <a:cs typeface="Arial" pitchFamily="34" charset="-120"/>
              </a:rPr>
              <a:t>TanStack Query (server)</a:t>
            </a:r>
            <a:endParaRPr lang="en-US" sz="1200" dirty="0"/>
          </a:p>
          <a:p>
            <a:pPr indent="0" marL="0">
              <a:spcAft>
                <a:spcPts val="400"/>
              </a:spcAft>
              <a:buNone/>
            </a:pPr>
            <a:r>
              <a:rPr lang="en-US" sz="1200" dirty="0">
                <a:solidFill>
                  <a:srgbClr val="475569"/>
                </a:solidFill>
                <a:latin typeface="Arial" pitchFamily="34" charset="0"/>
                <a:ea typeface="Arial" pitchFamily="34" charset="-122"/>
                <a:cs typeface="Arial" pitchFamily="34" charset="-120"/>
              </a:rPr>
              <a:t>User · Posts · Single post · Notifications</a:t>
            </a:r>
            <a:endParaRPr lang="en-US" sz="1200" dirty="0"/>
          </a:p>
          <a:p>
            <a:pPr indent="0" marL="0">
              <a:spcAft>
                <a:spcPts val="400"/>
              </a:spcAft>
              <a:buNone/>
            </a:pPr>
            <a:r>
              <a:rPr lang="en-US" sz="1200" dirty="0">
                <a:solidFill>
                  <a:srgbClr val="475569"/>
                </a:solidFill>
                <a:latin typeface="Arial" pitchFamily="34" charset="0"/>
                <a:ea typeface="Arial" pitchFamily="34" charset="-122"/>
                <a:cs typeface="Arial" pitchFamily="34" charset="-120"/>
              </a:rPr>
              <a:t> </a:t>
            </a:r>
            <a:endParaRPr lang="en-US" sz="1200" dirty="0"/>
          </a:p>
          <a:p>
            <a:pPr indent="0" marL="0">
              <a:spcAft>
                <a:spcPts val="400"/>
              </a:spcAft>
              <a:buNone/>
            </a:pPr>
            <a:r>
              <a:rPr lang="en-US" sz="1300" b="1" dirty="0">
                <a:solidFill>
                  <a:srgbClr val="00B8D9"/>
                </a:solidFill>
                <a:latin typeface="Arial" pitchFamily="34" charset="0"/>
                <a:ea typeface="Arial" pitchFamily="34" charset="-122"/>
                <a:cs typeface="Arial" pitchFamily="34" charset="-120"/>
              </a:rPr>
              <a:t>Client store (or just useState)</a:t>
            </a:r>
            <a:endParaRPr lang="en-US" sz="1200" dirty="0"/>
          </a:p>
          <a:p>
            <a:pPr indent="0" marL="0">
              <a:spcAft>
                <a:spcPts val="400"/>
              </a:spcAft>
              <a:buNone/>
            </a:pPr>
            <a:r>
              <a:rPr lang="en-US" sz="1200" dirty="0">
                <a:solidFill>
                  <a:srgbClr val="475569"/>
                </a:solidFill>
                <a:latin typeface="Arial" pitchFamily="34" charset="0"/>
                <a:ea typeface="Arial" pitchFamily="34" charset="-122"/>
                <a:cs typeface="Arial" pitchFamily="34" charset="-120"/>
              </a:rPr>
              <a:t>Drafts · Sidebar · Theme · Filters</a:t>
            </a:r>
            <a:endParaRPr lang="en-US" sz="120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22 / 28</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23">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5</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Picking and Defending</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The framework on one slide. Then the lab.</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decision framework — one more time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Five questions you ask, in order, for any piece of state.</a:t>
            </a:r>
            <a:endParaRPr lang="en-US" sz="1400" dirty="0"/>
          </a:p>
        </p:txBody>
      </p:sp>
      <p:sp>
        <p:nvSpPr>
          <p:cNvPr id="5" name="Shape 3"/>
          <p:cNvSpPr/>
          <p:nvPr/>
        </p:nvSpPr>
        <p:spPr>
          <a:xfrm>
            <a:off x="777240" y="1691640"/>
            <a:ext cx="10607040" cy="713232"/>
          </a:xfrm>
          <a:prstGeom prst="rect">
            <a:avLst/>
          </a:prstGeom>
          <a:solidFill>
            <a:srgbClr val="FFFFFF"/>
          </a:solidFill>
          <a:ln w="12700">
            <a:solidFill>
              <a:srgbClr val="E2E8F0"/>
            </a:solidFill>
            <a:prstDash val="solid"/>
          </a:ln>
        </p:spPr>
      </p:sp>
      <p:sp>
        <p:nvSpPr>
          <p:cNvPr id="6" name="Shape 4"/>
          <p:cNvSpPr/>
          <p:nvPr/>
        </p:nvSpPr>
        <p:spPr>
          <a:xfrm>
            <a:off x="960120" y="1874520"/>
            <a:ext cx="411480" cy="411480"/>
          </a:xfrm>
          <a:prstGeom prst="ellipse">
            <a:avLst/>
          </a:prstGeom>
          <a:solidFill>
            <a:srgbClr val="00B8D9"/>
          </a:solidFill>
          <a:ln w="12700">
            <a:solidFill>
              <a:srgbClr val="00B8D9"/>
            </a:solidFill>
            <a:prstDash val="solid"/>
          </a:ln>
        </p:spPr>
      </p:sp>
      <p:sp>
        <p:nvSpPr>
          <p:cNvPr id="7" name="Text 5"/>
          <p:cNvSpPr/>
          <p:nvPr/>
        </p:nvSpPr>
        <p:spPr>
          <a:xfrm>
            <a:off x="960120" y="1874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8" name="Text 6"/>
          <p:cNvSpPr/>
          <p:nvPr/>
        </p:nvSpPr>
        <p:spPr>
          <a:xfrm>
            <a:off x="1508760" y="1737360"/>
            <a:ext cx="5029200" cy="640080"/>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Where does the source of truth live?</a:t>
            </a:r>
            <a:endParaRPr lang="en-US" sz="1250" dirty="0"/>
          </a:p>
        </p:txBody>
      </p:sp>
      <p:sp>
        <p:nvSpPr>
          <p:cNvPr id="9" name="Text 7"/>
          <p:cNvSpPr/>
          <p:nvPr/>
        </p:nvSpPr>
        <p:spPr>
          <a:xfrm>
            <a:off x="6629400" y="1737360"/>
            <a:ext cx="4663440" cy="640080"/>
          </a:xfrm>
          <a:prstGeom prst="rect">
            <a:avLst/>
          </a:prstGeom>
          <a:noFill/>
          <a:ln/>
        </p:spPr>
        <p:txBody>
          <a:bodyPr wrap="square" lIns="0" tIns="0" rIns="0" bIns="0" rtlCol="0" anchor="ctr"/>
          <a:lstStyle/>
          <a:p>
            <a:pPr indent="0" marL="0">
              <a:buNone/>
            </a:pPr>
            <a:r>
              <a:rPr lang="en-US" sz="1200" i="1" dirty="0">
                <a:solidFill>
                  <a:srgbClr val="475569"/>
                </a:solidFill>
                <a:latin typeface="Arial" pitchFamily="34" charset="0"/>
                <a:ea typeface="Arial" pitchFamily="34" charset="-122"/>
                <a:cs typeface="Arial" pitchFamily="34" charset="-120"/>
              </a:rPr>
              <a:t>Server → TanStack Query / RTK Query / Server Component.</a:t>
            </a:r>
            <a:endParaRPr lang="en-US" sz="1200" dirty="0"/>
          </a:p>
        </p:txBody>
      </p:sp>
      <p:sp>
        <p:nvSpPr>
          <p:cNvPr id="10" name="Shape 8"/>
          <p:cNvSpPr/>
          <p:nvPr/>
        </p:nvSpPr>
        <p:spPr>
          <a:xfrm>
            <a:off x="777240" y="2560320"/>
            <a:ext cx="10607040" cy="713232"/>
          </a:xfrm>
          <a:prstGeom prst="rect">
            <a:avLst/>
          </a:prstGeom>
          <a:solidFill>
            <a:srgbClr val="FFFFFF"/>
          </a:solidFill>
          <a:ln w="12700">
            <a:solidFill>
              <a:srgbClr val="E2E8F0"/>
            </a:solidFill>
            <a:prstDash val="solid"/>
          </a:ln>
        </p:spPr>
      </p:sp>
      <p:sp>
        <p:nvSpPr>
          <p:cNvPr id="11" name="Shape 9"/>
          <p:cNvSpPr/>
          <p:nvPr/>
        </p:nvSpPr>
        <p:spPr>
          <a:xfrm>
            <a:off x="960120" y="2743200"/>
            <a:ext cx="411480" cy="411480"/>
          </a:xfrm>
          <a:prstGeom prst="ellipse">
            <a:avLst/>
          </a:prstGeom>
          <a:solidFill>
            <a:srgbClr val="00B8D9"/>
          </a:solidFill>
          <a:ln w="12700">
            <a:solidFill>
              <a:srgbClr val="00B8D9"/>
            </a:solidFill>
            <a:prstDash val="solid"/>
          </a:ln>
        </p:spPr>
      </p:sp>
      <p:sp>
        <p:nvSpPr>
          <p:cNvPr id="12" name="Text 10"/>
          <p:cNvSpPr/>
          <p:nvPr/>
        </p:nvSpPr>
        <p:spPr>
          <a:xfrm>
            <a:off x="960120" y="27432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3" name="Text 11"/>
          <p:cNvSpPr/>
          <p:nvPr/>
        </p:nvSpPr>
        <p:spPr>
          <a:xfrm>
            <a:off x="1508760" y="2606040"/>
            <a:ext cx="5029200" cy="640080"/>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Used in only one component or its children?</a:t>
            </a:r>
            <a:endParaRPr lang="en-US" sz="1250" dirty="0"/>
          </a:p>
        </p:txBody>
      </p:sp>
      <p:sp>
        <p:nvSpPr>
          <p:cNvPr id="14" name="Text 12"/>
          <p:cNvSpPr/>
          <p:nvPr/>
        </p:nvSpPr>
        <p:spPr>
          <a:xfrm>
            <a:off x="6629400" y="2606040"/>
            <a:ext cx="4663440" cy="640080"/>
          </a:xfrm>
          <a:prstGeom prst="rect">
            <a:avLst/>
          </a:prstGeom>
          <a:noFill/>
          <a:ln/>
        </p:spPr>
        <p:txBody>
          <a:bodyPr wrap="square" lIns="0" tIns="0" rIns="0" bIns="0" rtlCol="0" anchor="ctr"/>
          <a:lstStyle/>
          <a:p>
            <a:pPr indent="0" marL="0">
              <a:buNone/>
            </a:pPr>
            <a:r>
              <a:rPr lang="en-US" sz="1200" i="1" dirty="0">
                <a:solidFill>
                  <a:srgbClr val="475569"/>
                </a:solidFill>
                <a:latin typeface="Arial" pitchFamily="34" charset="0"/>
                <a:ea typeface="Arial" pitchFamily="34" charset="-122"/>
                <a:cs typeface="Arial" pitchFamily="34" charset="-120"/>
              </a:rPr>
              <a:t>Yes → useState or useReducer.</a:t>
            </a:r>
            <a:endParaRPr lang="en-US" sz="1200" dirty="0"/>
          </a:p>
        </p:txBody>
      </p:sp>
      <p:sp>
        <p:nvSpPr>
          <p:cNvPr id="15" name="Shape 13"/>
          <p:cNvSpPr/>
          <p:nvPr/>
        </p:nvSpPr>
        <p:spPr>
          <a:xfrm>
            <a:off x="777240" y="3429000"/>
            <a:ext cx="10607040" cy="713232"/>
          </a:xfrm>
          <a:prstGeom prst="rect">
            <a:avLst/>
          </a:prstGeom>
          <a:solidFill>
            <a:srgbClr val="FFFFFF"/>
          </a:solidFill>
          <a:ln w="12700">
            <a:solidFill>
              <a:srgbClr val="E2E8F0"/>
            </a:solidFill>
            <a:prstDash val="solid"/>
          </a:ln>
        </p:spPr>
      </p:sp>
      <p:sp>
        <p:nvSpPr>
          <p:cNvPr id="16" name="Shape 14"/>
          <p:cNvSpPr/>
          <p:nvPr/>
        </p:nvSpPr>
        <p:spPr>
          <a:xfrm>
            <a:off x="960120" y="3611880"/>
            <a:ext cx="411480" cy="411480"/>
          </a:xfrm>
          <a:prstGeom prst="ellipse">
            <a:avLst/>
          </a:prstGeom>
          <a:solidFill>
            <a:srgbClr val="00B8D9"/>
          </a:solidFill>
          <a:ln w="12700">
            <a:solidFill>
              <a:srgbClr val="00B8D9"/>
            </a:solidFill>
            <a:prstDash val="solid"/>
          </a:ln>
        </p:spPr>
      </p:sp>
      <p:sp>
        <p:nvSpPr>
          <p:cNvPr id="17" name="Text 15"/>
          <p:cNvSpPr/>
          <p:nvPr/>
        </p:nvSpPr>
        <p:spPr>
          <a:xfrm>
            <a:off x="960120" y="36118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18" name="Text 16"/>
          <p:cNvSpPr/>
          <p:nvPr/>
        </p:nvSpPr>
        <p:spPr>
          <a:xfrm>
            <a:off x="1508760" y="3474720"/>
            <a:ext cx="5029200" cy="640080"/>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Could you lift it to a common ancestor?</a:t>
            </a:r>
            <a:endParaRPr lang="en-US" sz="1250" dirty="0"/>
          </a:p>
        </p:txBody>
      </p:sp>
      <p:sp>
        <p:nvSpPr>
          <p:cNvPr id="19" name="Text 17"/>
          <p:cNvSpPr/>
          <p:nvPr/>
        </p:nvSpPr>
        <p:spPr>
          <a:xfrm>
            <a:off x="6629400" y="3474720"/>
            <a:ext cx="4663440" cy="640080"/>
          </a:xfrm>
          <a:prstGeom prst="rect">
            <a:avLst/>
          </a:prstGeom>
          <a:noFill/>
          <a:ln/>
        </p:spPr>
        <p:txBody>
          <a:bodyPr wrap="square" lIns="0" tIns="0" rIns="0" bIns="0" rtlCol="0" anchor="ctr"/>
          <a:lstStyle/>
          <a:p>
            <a:pPr indent="0" marL="0">
              <a:buNone/>
            </a:pPr>
            <a:r>
              <a:rPr lang="en-US" sz="1200" i="1" dirty="0">
                <a:solidFill>
                  <a:srgbClr val="475569"/>
                </a:solidFill>
                <a:latin typeface="Arial" pitchFamily="34" charset="0"/>
                <a:ea typeface="Arial" pitchFamily="34" charset="-122"/>
                <a:cs typeface="Arial" pitchFamily="34" charset="-120"/>
              </a:rPr>
              <a:t>Yes, and it stays small → just lift. Add Context for plumbing.</a:t>
            </a:r>
            <a:endParaRPr lang="en-US" sz="1200" dirty="0"/>
          </a:p>
        </p:txBody>
      </p:sp>
      <p:sp>
        <p:nvSpPr>
          <p:cNvPr id="20" name="Shape 18"/>
          <p:cNvSpPr/>
          <p:nvPr/>
        </p:nvSpPr>
        <p:spPr>
          <a:xfrm>
            <a:off x="777240" y="4297680"/>
            <a:ext cx="10607040" cy="713232"/>
          </a:xfrm>
          <a:prstGeom prst="rect">
            <a:avLst/>
          </a:prstGeom>
          <a:solidFill>
            <a:srgbClr val="FFFFFF"/>
          </a:solidFill>
          <a:ln w="12700">
            <a:solidFill>
              <a:srgbClr val="E2E8F0"/>
            </a:solidFill>
            <a:prstDash val="solid"/>
          </a:ln>
        </p:spPr>
      </p:sp>
      <p:sp>
        <p:nvSpPr>
          <p:cNvPr id="21" name="Shape 19"/>
          <p:cNvSpPr/>
          <p:nvPr/>
        </p:nvSpPr>
        <p:spPr>
          <a:xfrm>
            <a:off x="960120" y="4480560"/>
            <a:ext cx="411480" cy="411480"/>
          </a:xfrm>
          <a:prstGeom prst="ellipse">
            <a:avLst/>
          </a:prstGeom>
          <a:solidFill>
            <a:srgbClr val="00B8D9"/>
          </a:solidFill>
          <a:ln w="12700">
            <a:solidFill>
              <a:srgbClr val="00B8D9"/>
            </a:solidFill>
            <a:prstDash val="solid"/>
          </a:ln>
        </p:spPr>
      </p:sp>
      <p:sp>
        <p:nvSpPr>
          <p:cNvPr id="22" name="Text 20"/>
          <p:cNvSpPr/>
          <p:nvPr/>
        </p:nvSpPr>
        <p:spPr>
          <a:xfrm>
            <a:off x="960120" y="44805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23" name="Text 21"/>
          <p:cNvSpPr/>
          <p:nvPr/>
        </p:nvSpPr>
        <p:spPr>
          <a:xfrm>
            <a:off x="1508760" y="4343400"/>
            <a:ext cx="5029200" cy="640080"/>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Is it shared widely across the app?</a:t>
            </a:r>
            <a:endParaRPr lang="en-US" sz="1250" dirty="0"/>
          </a:p>
        </p:txBody>
      </p:sp>
      <p:sp>
        <p:nvSpPr>
          <p:cNvPr id="24" name="Text 22"/>
          <p:cNvSpPr/>
          <p:nvPr/>
        </p:nvSpPr>
        <p:spPr>
          <a:xfrm>
            <a:off x="6629400" y="4343400"/>
            <a:ext cx="4663440" cy="640080"/>
          </a:xfrm>
          <a:prstGeom prst="rect">
            <a:avLst/>
          </a:prstGeom>
          <a:noFill/>
          <a:ln/>
        </p:spPr>
        <p:txBody>
          <a:bodyPr wrap="square" lIns="0" tIns="0" rIns="0" bIns="0" rtlCol="0" anchor="ctr"/>
          <a:lstStyle/>
          <a:p>
            <a:pPr indent="0" marL="0">
              <a:buNone/>
            </a:pPr>
            <a:r>
              <a:rPr lang="en-US" sz="1200" i="1" dirty="0">
                <a:solidFill>
                  <a:srgbClr val="475569"/>
                </a:solidFill>
                <a:latin typeface="Arial" pitchFamily="34" charset="0"/>
                <a:ea typeface="Arial" pitchFamily="34" charset="-122"/>
                <a:cs typeface="Arial" pitchFamily="34" charset="-120"/>
              </a:rPr>
              <a:t>Yes → reach for a store.</a:t>
            </a:r>
            <a:endParaRPr lang="en-US" sz="1200" dirty="0"/>
          </a:p>
        </p:txBody>
      </p:sp>
      <p:sp>
        <p:nvSpPr>
          <p:cNvPr id="25" name="Shape 23"/>
          <p:cNvSpPr/>
          <p:nvPr/>
        </p:nvSpPr>
        <p:spPr>
          <a:xfrm>
            <a:off x="777240" y="5166360"/>
            <a:ext cx="10607040" cy="713232"/>
          </a:xfrm>
          <a:prstGeom prst="rect">
            <a:avLst/>
          </a:prstGeom>
          <a:solidFill>
            <a:srgbClr val="FFFFFF"/>
          </a:solidFill>
          <a:ln w="12700">
            <a:solidFill>
              <a:srgbClr val="E2E8F0"/>
            </a:solidFill>
            <a:prstDash val="solid"/>
          </a:ln>
        </p:spPr>
      </p:sp>
      <p:sp>
        <p:nvSpPr>
          <p:cNvPr id="26" name="Shape 24"/>
          <p:cNvSpPr/>
          <p:nvPr/>
        </p:nvSpPr>
        <p:spPr>
          <a:xfrm>
            <a:off x="960120" y="5349240"/>
            <a:ext cx="411480" cy="411480"/>
          </a:xfrm>
          <a:prstGeom prst="ellipse">
            <a:avLst/>
          </a:prstGeom>
          <a:solidFill>
            <a:srgbClr val="00B8D9"/>
          </a:solidFill>
          <a:ln w="12700">
            <a:solidFill>
              <a:srgbClr val="00B8D9"/>
            </a:solidFill>
            <a:prstDash val="solid"/>
          </a:ln>
        </p:spPr>
      </p:sp>
      <p:sp>
        <p:nvSpPr>
          <p:cNvPr id="27" name="Text 25"/>
          <p:cNvSpPr/>
          <p:nvPr/>
        </p:nvSpPr>
        <p:spPr>
          <a:xfrm>
            <a:off x="960120" y="5349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5</a:t>
            </a:r>
            <a:endParaRPr lang="en-US" sz="1400" dirty="0"/>
          </a:p>
        </p:txBody>
      </p:sp>
      <p:sp>
        <p:nvSpPr>
          <p:cNvPr id="28" name="Text 26"/>
          <p:cNvSpPr/>
          <p:nvPr/>
        </p:nvSpPr>
        <p:spPr>
          <a:xfrm>
            <a:off x="1508760" y="5212080"/>
            <a:ext cx="5029200" cy="640080"/>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Which store?</a:t>
            </a:r>
            <a:endParaRPr lang="en-US" sz="1250" dirty="0"/>
          </a:p>
        </p:txBody>
      </p:sp>
      <p:sp>
        <p:nvSpPr>
          <p:cNvPr id="29" name="Text 27"/>
          <p:cNvSpPr/>
          <p:nvPr/>
        </p:nvSpPr>
        <p:spPr>
          <a:xfrm>
            <a:off x="6629400" y="5212080"/>
            <a:ext cx="4663440" cy="640080"/>
          </a:xfrm>
          <a:prstGeom prst="rect">
            <a:avLst/>
          </a:prstGeom>
          <a:noFill/>
          <a:ln/>
        </p:spPr>
        <p:txBody>
          <a:bodyPr wrap="square" lIns="0" tIns="0" rIns="0" bIns="0" rtlCol="0" anchor="ctr"/>
          <a:lstStyle/>
          <a:p>
            <a:pPr indent="0" marL="0">
              <a:buNone/>
            </a:pPr>
            <a:r>
              <a:rPr lang="en-US" sz="1200" i="1" dirty="0">
                <a:solidFill>
                  <a:srgbClr val="475569"/>
                </a:solidFill>
                <a:latin typeface="Arial" pitchFamily="34" charset="0"/>
                <a:ea typeface="Arial" pitchFamily="34" charset="-122"/>
                <a:cs typeface="Arial" pitchFamily="34" charset="-120"/>
              </a:rPr>
              <a:t>Most: Zustand. Graph-shaped: Jotai. Large team + conventions: RTK.</a:t>
            </a:r>
            <a:endParaRPr lang="en-US" sz="1200" dirty="0"/>
          </a:p>
        </p:txBody>
      </p:sp>
      <p:sp>
        <p:nvSpPr>
          <p:cNvPr id="30" name="Text 2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31" name="Text 2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24 / 28</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AI mistakes in state management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What to watch for when you ask AI to add state to your app.</a:t>
            </a:r>
            <a:endParaRPr lang="en-US" sz="1400" dirty="0"/>
          </a:p>
        </p:txBody>
      </p:sp>
      <p:sp>
        <p:nvSpPr>
          <p:cNvPr id="5" name="Shape 3"/>
          <p:cNvSpPr/>
          <p:nvPr/>
        </p:nvSpPr>
        <p:spPr>
          <a:xfrm>
            <a:off x="777240" y="1691640"/>
            <a:ext cx="5212080" cy="10972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2011680"/>
            <a:ext cx="457200" cy="457200"/>
          </a:xfrm>
          <a:prstGeom prst="rect">
            <a:avLst/>
          </a:prstGeom>
        </p:spPr>
      </p:pic>
      <p:sp>
        <p:nvSpPr>
          <p:cNvPr id="7" name="Text 4"/>
          <p:cNvSpPr/>
          <p:nvPr/>
        </p:nvSpPr>
        <p:spPr>
          <a:xfrm>
            <a:off x="1554480" y="178308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Reaching for Redux when useState would do — over-engineering</a:t>
            </a:r>
            <a:endParaRPr lang="en-US" sz="1200" dirty="0"/>
          </a:p>
        </p:txBody>
      </p:sp>
      <p:sp>
        <p:nvSpPr>
          <p:cNvPr id="8" name="Shape 5"/>
          <p:cNvSpPr/>
          <p:nvPr/>
        </p:nvSpPr>
        <p:spPr>
          <a:xfrm>
            <a:off x="6126480" y="1691640"/>
            <a:ext cx="5212080" cy="1097280"/>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6309360" y="2011680"/>
            <a:ext cx="457200" cy="457200"/>
          </a:xfrm>
          <a:prstGeom prst="rect">
            <a:avLst/>
          </a:prstGeom>
        </p:spPr>
      </p:pic>
      <p:sp>
        <p:nvSpPr>
          <p:cNvPr id="10" name="Text 6"/>
          <p:cNvSpPr/>
          <p:nvPr/>
        </p:nvSpPr>
        <p:spPr>
          <a:xfrm>
            <a:off x="6903720" y="178308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Putting server data in a client store — duplicates, stale-state bugs</a:t>
            </a:r>
            <a:endParaRPr lang="en-US" sz="1200" dirty="0"/>
          </a:p>
        </p:txBody>
      </p:sp>
      <p:sp>
        <p:nvSpPr>
          <p:cNvPr id="11" name="Shape 7"/>
          <p:cNvSpPr/>
          <p:nvPr/>
        </p:nvSpPr>
        <p:spPr>
          <a:xfrm>
            <a:off x="777240" y="2971800"/>
            <a:ext cx="5212080" cy="1097280"/>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291840"/>
            <a:ext cx="457200" cy="457200"/>
          </a:xfrm>
          <a:prstGeom prst="rect">
            <a:avLst/>
          </a:prstGeom>
        </p:spPr>
      </p:pic>
      <p:sp>
        <p:nvSpPr>
          <p:cNvPr id="13" name="Text 8"/>
          <p:cNvSpPr/>
          <p:nvPr/>
        </p:nvSpPr>
        <p:spPr>
          <a:xfrm>
            <a:off x="1554480" y="306324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Context with five values + setters — re-render storm</a:t>
            </a:r>
            <a:endParaRPr lang="en-US" sz="1200" dirty="0"/>
          </a:p>
        </p:txBody>
      </p:sp>
      <p:sp>
        <p:nvSpPr>
          <p:cNvPr id="14" name="Shape 9"/>
          <p:cNvSpPr/>
          <p:nvPr/>
        </p:nvSpPr>
        <p:spPr>
          <a:xfrm>
            <a:off x="6126480" y="2971800"/>
            <a:ext cx="5212080" cy="1097280"/>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6309360" y="3291840"/>
            <a:ext cx="457200" cy="457200"/>
          </a:xfrm>
          <a:prstGeom prst="rect">
            <a:avLst/>
          </a:prstGeom>
        </p:spPr>
      </p:pic>
      <p:sp>
        <p:nvSpPr>
          <p:cNvPr id="16" name="Text 10"/>
          <p:cNvSpPr/>
          <p:nvPr/>
        </p:nvSpPr>
        <p:spPr>
          <a:xfrm>
            <a:off x="6903720" y="306324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useState mirroring props that should just be calculated</a:t>
            </a:r>
            <a:endParaRPr lang="en-US" sz="1200" dirty="0"/>
          </a:p>
        </p:txBody>
      </p:sp>
      <p:sp>
        <p:nvSpPr>
          <p:cNvPr id="17" name="Shape 11"/>
          <p:cNvSpPr/>
          <p:nvPr/>
        </p:nvSpPr>
        <p:spPr>
          <a:xfrm>
            <a:off x="777240" y="4251960"/>
            <a:ext cx="5212080" cy="1097280"/>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572000"/>
            <a:ext cx="457200" cy="457200"/>
          </a:xfrm>
          <a:prstGeom prst="rect">
            <a:avLst/>
          </a:prstGeom>
        </p:spPr>
      </p:pic>
      <p:sp>
        <p:nvSpPr>
          <p:cNvPr id="19" name="Text 12"/>
          <p:cNvSpPr/>
          <p:nvPr/>
        </p:nvSpPr>
        <p:spPr>
          <a:xfrm>
            <a:off x="1554480" y="434340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Multiple stores when one slice would do</a:t>
            </a:r>
            <a:endParaRPr lang="en-US" sz="1200" dirty="0"/>
          </a:p>
        </p:txBody>
      </p:sp>
      <p:sp>
        <p:nvSpPr>
          <p:cNvPr id="20" name="Shape 13"/>
          <p:cNvSpPr/>
          <p:nvPr/>
        </p:nvSpPr>
        <p:spPr>
          <a:xfrm>
            <a:off x="6126480" y="4251960"/>
            <a:ext cx="5212080" cy="1097280"/>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6309360" y="4572000"/>
            <a:ext cx="457200" cy="457200"/>
          </a:xfrm>
          <a:prstGeom prst="rect">
            <a:avLst/>
          </a:prstGeom>
        </p:spPr>
      </p:pic>
      <p:sp>
        <p:nvSpPr>
          <p:cNvPr id="22" name="Text 14"/>
          <p:cNvSpPr/>
          <p:nvPr/>
        </p:nvSpPr>
        <p:spPr>
          <a:xfrm>
            <a:off x="6903720" y="434340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localStorage for everything, including sensitive tokens</a:t>
            </a:r>
            <a:endParaRPr lang="en-US" sz="1200" dirty="0"/>
          </a:p>
        </p:txBody>
      </p:sp>
      <p:sp>
        <p:nvSpPr>
          <p:cNvPr id="23"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24"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25 / 28</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Module 4 takeaways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What to remember when you're back at your desk.</a:t>
            </a:r>
            <a:endParaRPr lang="en-US" sz="1400" dirty="0"/>
          </a:p>
        </p:txBody>
      </p:sp>
      <p:sp>
        <p:nvSpPr>
          <p:cNvPr id="5" name="Shape 3"/>
          <p:cNvSpPr/>
          <p:nvPr/>
        </p:nvSpPr>
        <p:spPr>
          <a:xfrm>
            <a:off x="777240" y="1691640"/>
            <a:ext cx="10607040" cy="713232"/>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56232"/>
            <a:ext cx="384048" cy="384048"/>
          </a:xfrm>
          <a:prstGeom prst="rect">
            <a:avLst/>
          </a:prstGeom>
        </p:spPr>
      </p:pic>
      <p:sp>
        <p:nvSpPr>
          <p:cNvPr id="7" name="Text 4"/>
          <p:cNvSpPr/>
          <p:nvPr/>
        </p:nvSpPr>
        <p:spPr>
          <a:xfrm>
            <a:off x="1554480" y="178308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Start with the question 'where does this state live?' — server vs client decides half the choice.</a:t>
            </a:r>
            <a:endParaRPr lang="en-US" sz="1250" dirty="0"/>
          </a:p>
        </p:txBody>
      </p:sp>
      <p:sp>
        <p:nvSpPr>
          <p:cNvPr id="8" name="Shape 5"/>
          <p:cNvSpPr/>
          <p:nvPr/>
        </p:nvSpPr>
        <p:spPr>
          <a:xfrm>
            <a:off x="777240" y="2560320"/>
            <a:ext cx="10607040" cy="713232"/>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960120" y="2724912"/>
            <a:ext cx="384048" cy="384048"/>
          </a:xfrm>
          <a:prstGeom prst="rect">
            <a:avLst/>
          </a:prstGeom>
        </p:spPr>
      </p:pic>
      <p:sp>
        <p:nvSpPr>
          <p:cNvPr id="10" name="Text 6"/>
          <p:cNvSpPr/>
          <p:nvPr/>
        </p:nvSpPr>
        <p:spPr>
          <a:xfrm>
            <a:off x="1554480" y="265176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useState is still the right answer for most state. Don't upgrade reflexively.</a:t>
            </a:r>
            <a:endParaRPr lang="en-US" sz="1250" dirty="0"/>
          </a:p>
        </p:txBody>
      </p:sp>
      <p:sp>
        <p:nvSpPr>
          <p:cNvPr id="11" name="Shape 7"/>
          <p:cNvSpPr/>
          <p:nvPr/>
        </p:nvSpPr>
        <p:spPr>
          <a:xfrm>
            <a:off x="777240" y="3429000"/>
            <a:ext cx="10607040" cy="713232"/>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593592"/>
            <a:ext cx="384048" cy="384048"/>
          </a:xfrm>
          <a:prstGeom prst="rect">
            <a:avLst/>
          </a:prstGeom>
        </p:spPr>
      </p:pic>
      <p:sp>
        <p:nvSpPr>
          <p:cNvPr id="13" name="Text 8"/>
          <p:cNvSpPr/>
          <p:nvPr/>
        </p:nvSpPr>
        <p:spPr>
          <a:xfrm>
            <a:off x="1554480" y="352044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Context is plumbing, not a store. If you have five values in a context, that's a store now.</a:t>
            </a:r>
            <a:endParaRPr lang="en-US" sz="1250" dirty="0"/>
          </a:p>
        </p:txBody>
      </p:sp>
      <p:sp>
        <p:nvSpPr>
          <p:cNvPr id="14" name="Shape 9"/>
          <p:cNvSpPr/>
          <p:nvPr/>
        </p:nvSpPr>
        <p:spPr>
          <a:xfrm>
            <a:off x="777240" y="4297680"/>
            <a:ext cx="10607040" cy="713232"/>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960120" y="4462272"/>
            <a:ext cx="384048" cy="384048"/>
          </a:xfrm>
          <a:prstGeom prst="rect">
            <a:avLst/>
          </a:prstGeom>
        </p:spPr>
      </p:pic>
      <p:sp>
        <p:nvSpPr>
          <p:cNvPr id="16" name="Text 10"/>
          <p:cNvSpPr/>
          <p:nvPr/>
        </p:nvSpPr>
        <p:spPr>
          <a:xfrm>
            <a:off x="1554480" y="438912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Zustand is the right default client store for most apps.</a:t>
            </a:r>
            <a:endParaRPr lang="en-US" sz="1250" dirty="0"/>
          </a:p>
        </p:txBody>
      </p:sp>
      <p:sp>
        <p:nvSpPr>
          <p:cNvPr id="17" name="Shape 11"/>
          <p:cNvSpPr/>
          <p:nvPr/>
        </p:nvSpPr>
        <p:spPr>
          <a:xfrm>
            <a:off x="777240" y="5166360"/>
            <a:ext cx="10607040" cy="713232"/>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5330952"/>
            <a:ext cx="384048" cy="384048"/>
          </a:xfrm>
          <a:prstGeom prst="rect">
            <a:avLst/>
          </a:prstGeom>
        </p:spPr>
      </p:pic>
      <p:sp>
        <p:nvSpPr>
          <p:cNvPr id="19" name="Text 12"/>
          <p:cNvSpPr/>
          <p:nvPr/>
        </p:nvSpPr>
        <p:spPr>
          <a:xfrm>
            <a:off x="1554480" y="525780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TanStack Query (or RTK Query) eats half of what people used to put in Redux.</a:t>
            </a:r>
            <a:endParaRPr lang="en-US" sz="1250" dirty="0"/>
          </a:p>
        </p:txBody>
      </p:sp>
      <p:sp>
        <p:nvSpPr>
          <p:cNvPr id="20" name="Text 13"/>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21" name="Text 14"/>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26 / 28</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Coming up: Lab 3</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Pick a tool. Refactor the social-media app's state. Defend your choice in 60 seconds.</a:t>
            </a:r>
            <a:endParaRPr lang="en-US" sz="1400" dirty="0"/>
          </a:p>
        </p:txBody>
      </p:sp>
      <p:sp>
        <p:nvSpPr>
          <p:cNvPr id="5" name="Shape 3"/>
          <p:cNvSpPr/>
          <p:nvPr/>
        </p:nvSpPr>
        <p:spPr>
          <a:xfrm>
            <a:off x="777240" y="1691640"/>
            <a:ext cx="10607040" cy="43891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97280" y="1920240"/>
            <a:ext cx="822960" cy="822960"/>
          </a:xfrm>
          <a:prstGeom prst="rect">
            <a:avLst/>
          </a:prstGeom>
        </p:spPr>
      </p:pic>
      <p:sp>
        <p:nvSpPr>
          <p:cNvPr id="7" name="Text 4"/>
          <p:cNvSpPr/>
          <p:nvPr/>
        </p:nvSpPr>
        <p:spPr>
          <a:xfrm>
            <a:off x="2194560" y="1920240"/>
            <a:ext cx="9144000" cy="64008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Lab 3: Pick-Your-Tool State Refactor</a:t>
            </a:r>
            <a:endParaRPr lang="en-US" sz="2200" dirty="0"/>
          </a:p>
        </p:txBody>
      </p:sp>
      <p:sp>
        <p:nvSpPr>
          <p:cNvPr id="8" name="Text 5"/>
          <p:cNvSpPr/>
          <p:nvPr/>
        </p:nvSpPr>
        <p:spPr>
          <a:xfrm>
            <a:off x="2194560" y="2514600"/>
            <a:ext cx="9144000" cy="365760"/>
          </a:xfrm>
          <a:prstGeom prst="rect">
            <a:avLst/>
          </a:prstGeom>
          <a:noFill/>
          <a:ln/>
        </p:spPr>
        <p:txBody>
          <a:bodyPr wrap="square" lIns="0" tIns="0" rIns="0" bIns="0" rtlCol="0" anchor="ctr"/>
          <a:lstStyle/>
          <a:p>
            <a:pPr indent="0" marL="0">
              <a:buNone/>
            </a:pPr>
            <a:r>
              <a:rPr lang="en-US" sz="1300" i="1" dirty="0">
                <a:solidFill>
                  <a:srgbClr val="475569"/>
                </a:solidFill>
                <a:latin typeface="Arial" pitchFamily="34" charset="0"/>
                <a:ea typeface="Arial" pitchFamily="34" charset="-122"/>
                <a:cs typeface="Arial" pitchFamily="34" charset="-120"/>
              </a:rPr>
              <a:t>90 minutes  ·  Hands-on  ·  Three reference solutions (one per tool)</a:t>
            </a:r>
            <a:endParaRPr lang="en-US" sz="1300" dirty="0"/>
          </a:p>
        </p:txBody>
      </p:sp>
      <p:sp>
        <p:nvSpPr>
          <p:cNvPr id="9" name="Text 6"/>
          <p:cNvSpPr/>
          <p:nvPr/>
        </p:nvSpPr>
        <p:spPr>
          <a:xfrm>
            <a:off x="1097280" y="3200400"/>
            <a:ext cx="100584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What you'll do:</a:t>
            </a:r>
            <a:endParaRPr lang="en-US" sz="1400" dirty="0"/>
          </a:p>
        </p:txBody>
      </p:sp>
      <p:sp>
        <p:nvSpPr>
          <p:cNvPr id="10" name="Text 7"/>
          <p:cNvSpPr/>
          <p:nvPr/>
        </p:nvSpPr>
        <p:spPr>
          <a:xfrm>
            <a:off x="1097280" y="3611880"/>
            <a:ext cx="1005840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Start with the social-media app — messy prop-drilling and ad-hoc context overuse</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Pick one of: Zustand, Jotai, or RTK + RTK Query</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Refactor the state with your chosen tool</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Present a 60-second pitch on why your tool was right for this app</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Stretch: do it again with a second tool and write a comparison</a:t>
            </a:r>
            <a:endParaRPr lang="en-US" sz="1250" dirty="0"/>
          </a:p>
        </p:txBody>
      </p:sp>
      <p:sp>
        <p:nvSpPr>
          <p:cNvPr id="11" name="Text 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12" name="Text 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27 / 28</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After the lab: Module 5</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Modern data fetching — TanStack Query in depth.</a:t>
            </a:r>
            <a:endParaRPr lang="en-US" sz="1400" dirty="0"/>
          </a:p>
        </p:txBody>
      </p:sp>
      <p:sp>
        <p:nvSpPr>
          <p:cNvPr id="5" name="Shape 3"/>
          <p:cNvSpPr/>
          <p:nvPr/>
        </p:nvSpPr>
        <p:spPr>
          <a:xfrm>
            <a:off x="777240" y="1691640"/>
            <a:ext cx="10607040" cy="4206240"/>
          </a:xfrm>
          <a:prstGeom prst="rect">
            <a:avLst/>
          </a:prstGeom>
          <a:solidFill>
            <a:srgbClr val="CBF1F6"/>
          </a:solidFill>
          <a:ln w="12700">
            <a:solidFill>
              <a:srgbClr val="CBF1F6"/>
            </a:solidFill>
            <a:prstDash val="solid"/>
          </a:ln>
        </p:spPr>
      </p:sp>
      <p:sp>
        <p:nvSpPr>
          <p:cNvPr id="6" name="Text 4"/>
          <p:cNvSpPr/>
          <p:nvPr/>
        </p:nvSpPr>
        <p:spPr>
          <a:xfrm>
            <a:off x="1097280" y="2011680"/>
            <a:ext cx="10058400" cy="4572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Module 5 picks up where the server-state section ended:</a:t>
            </a:r>
            <a:endParaRPr lang="en-US" sz="1400" dirty="0"/>
          </a:p>
        </p:txBody>
      </p:sp>
      <p:sp>
        <p:nvSpPr>
          <p:cNvPr id="7" name="Text 5"/>
          <p:cNvSpPr/>
          <p:nvPr/>
        </p:nvSpPr>
        <p:spPr>
          <a:xfrm>
            <a:off x="1097280" y="2606040"/>
            <a:ext cx="10058400" cy="3108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The four flavors of data fetching in 2026 — client fetch, TanStack Query, Suspense + use(), server-side</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TanStack Query in depth — queries, mutations, invalidation, optimistic updates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Error boundaries and retry strategies that don't lie to your users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Lab 4: convert the social-media app's ad-hoc fetch calls to TanStack Query, with optimistic updates</a:t>
            </a:r>
            <a:endParaRPr lang="en-US" sz="1250" dirty="0"/>
          </a:p>
        </p:txBody>
      </p:sp>
      <p:sp>
        <p:nvSpPr>
          <p:cNvPr id="8" name="Text 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4 — State Management</a:t>
            </a:r>
            <a:endParaRPr lang="en-US" sz="900" dirty="0"/>
          </a:p>
        </p:txBody>
      </p:sp>
      <p:sp>
        <p:nvSpPr>
          <p:cNvPr id="9" name="Text 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28 / 28</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377440"/>
            <a:ext cx="548640" cy="73152"/>
          </a:xfrm>
          <a:prstGeom prst="rect">
            <a:avLst/>
          </a:prstGeom>
          <a:solidFill>
            <a:srgbClr val="00B8D9"/>
          </a:solidFill>
          <a:ln w="12700">
            <a:solidFill>
              <a:srgbClr val="00B8D9"/>
            </a:solidFill>
            <a:prstDash val="solid"/>
          </a:ln>
        </p:spPr>
      </p:sp>
      <p:sp>
        <p:nvSpPr>
          <p:cNvPr id="3" name="Text 1"/>
          <p:cNvSpPr/>
          <p:nvPr/>
        </p:nvSpPr>
        <p:spPr>
          <a:xfrm>
            <a:off x="640080" y="2542032"/>
            <a:ext cx="5486400" cy="457200"/>
          </a:xfrm>
          <a:prstGeom prst="rect">
            <a:avLst/>
          </a:prstGeom>
          <a:noFill/>
          <a:ln/>
        </p:spPr>
        <p:txBody>
          <a:bodyPr wrap="square" lIns="0" tIns="0" rIns="0" bIns="0" rtlCol="0" anchor="ctr"/>
          <a:lstStyle/>
          <a:p>
            <a:pPr indent="0" marL="0">
              <a:buNone/>
            </a:pPr>
            <a:r>
              <a:rPr lang="en-US" sz="1800" dirty="0">
                <a:solidFill>
                  <a:srgbClr val="00B8D9"/>
                </a:solidFill>
                <a:latin typeface="Trebuchet MS" pitchFamily="34" charset="0"/>
                <a:ea typeface="Trebuchet MS" pitchFamily="34" charset="-122"/>
                <a:cs typeface="Trebuchet MS" pitchFamily="34" charset="-120"/>
              </a:rPr>
              <a:t>Module 5</a:t>
            </a:r>
            <a:endParaRPr lang="en-US" sz="1800" dirty="0"/>
          </a:p>
        </p:txBody>
      </p:sp>
      <p:sp>
        <p:nvSpPr>
          <p:cNvPr id="4" name="Text 2"/>
          <p:cNvSpPr/>
          <p:nvPr/>
        </p:nvSpPr>
        <p:spPr>
          <a:xfrm>
            <a:off x="640080" y="3017520"/>
            <a:ext cx="10972800" cy="1097280"/>
          </a:xfrm>
          <a:prstGeom prst="rect">
            <a:avLst/>
          </a:prstGeom>
          <a:noFill/>
          <a:ln/>
        </p:spPr>
        <p:txBody>
          <a:bodyPr wrap="square" lIns="0" tIns="0" rIns="0" bIns="0" rtlCol="0" anchor="ctr"/>
          <a:lstStyle/>
          <a:p>
            <a:pPr indent="0" marL="0">
              <a:buNone/>
            </a:pPr>
            <a:r>
              <a:rPr lang="en-US" sz="4800" b="1" dirty="0">
                <a:solidFill>
                  <a:srgbClr val="FFFFFF"/>
                </a:solidFill>
                <a:latin typeface="Trebuchet MS" pitchFamily="34" charset="0"/>
                <a:ea typeface="Trebuchet MS" pitchFamily="34" charset="-122"/>
                <a:cs typeface="Trebuchet MS" pitchFamily="34" charset="-120"/>
              </a:rPr>
              <a:t>Modern Data Fetching</a:t>
            </a:r>
            <a:endParaRPr lang="en-US" sz="4800" dirty="0"/>
          </a:p>
        </p:txBody>
      </p:sp>
      <p:sp>
        <p:nvSpPr>
          <p:cNvPr id="5" name="Text 3"/>
          <p:cNvSpPr/>
          <p:nvPr/>
        </p:nvSpPr>
        <p:spPr>
          <a:xfrm>
            <a:off x="640080" y="4206240"/>
            <a:ext cx="10972800" cy="548640"/>
          </a:xfrm>
          <a:prstGeom prst="rect">
            <a:avLst/>
          </a:prstGeom>
          <a:noFill/>
          <a:ln/>
        </p:spPr>
        <p:txBody>
          <a:bodyPr wrap="square" lIns="0" tIns="0" rIns="0" bIns="0" rtlCol="0" anchor="ctr"/>
          <a:lstStyle/>
          <a:p>
            <a:pPr indent="0" marL="0">
              <a:buNone/>
            </a:pPr>
            <a:r>
              <a:rPr lang="en-US" sz="2000" i="1" dirty="0">
                <a:solidFill>
                  <a:srgbClr val="CBF1F6"/>
                </a:solidFill>
                <a:latin typeface="Arial" pitchFamily="34" charset="0"/>
                <a:ea typeface="Arial" pitchFamily="34" charset="-122"/>
                <a:cs typeface="Arial" pitchFamily="34" charset="-120"/>
              </a:rPr>
              <a:t>Four flavors. One canonical client tool. A clear story for loading and errors.</a:t>
            </a:r>
            <a:endParaRPr lang="en-US" sz="2000" dirty="0"/>
          </a:p>
        </p:txBody>
      </p:sp>
      <p:sp>
        <p:nvSpPr>
          <p:cNvPr id="6" name="Text 4"/>
          <p:cNvSpPr/>
          <p:nvPr/>
        </p:nvSpPr>
        <p:spPr>
          <a:xfrm>
            <a:off x="640080" y="4937760"/>
            <a:ext cx="10972800" cy="45720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60 minutes  ·  Lecture + demos  ·  Lab 4 follows</a:t>
            </a:r>
            <a:endParaRPr lang="en-US" sz="1400" dirty="0"/>
          </a:p>
        </p:txBody>
      </p:sp>
      <p:pic>
        <p:nvPicPr>
          <p:cNvPr id="7" name="Image 0" descr="preencoded.png">    </p:cNvPr>
          <p:cNvPicPr>
            <a:picLocks noChangeAspect="1"/>
          </p:cNvPicPr>
          <p:nvPr/>
        </p:nvPicPr>
        <p:blipFill>
          <a:blip r:embed="rId1">
            <a:alphaModFix amt="75000"/>
          </a:blip>
          <a:stretch>
            <a:fillRect/>
          </a:stretch>
        </p:blipFill>
        <p:spPr>
          <a:xfrm>
            <a:off x="10728655" y="4663440"/>
            <a:ext cx="914400" cy="91440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Four flavors of data fetching in 2026</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Each one solves a real problem. The skill is matching them to the situation.</a:t>
            </a:r>
            <a:endParaRPr lang="en-US" sz="1400" dirty="0"/>
          </a:p>
        </p:txBody>
      </p:sp>
      <p:sp>
        <p:nvSpPr>
          <p:cNvPr id="5" name="Shape 3"/>
          <p:cNvSpPr/>
          <p:nvPr/>
        </p:nvSpPr>
        <p:spPr>
          <a:xfrm>
            <a:off x="777240" y="1691640"/>
            <a:ext cx="10607040" cy="9601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920240"/>
            <a:ext cx="502920" cy="502920"/>
          </a:xfrm>
          <a:prstGeom prst="rect">
            <a:avLst/>
          </a:prstGeom>
        </p:spPr>
      </p:pic>
      <p:sp>
        <p:nvSpPr>
          <p:cNvPr id="7" name="Text 4"/>
          <p:cNvSpPr/>
          <p:nvPr/>
        </p:nvSpPr>
        <p:spPr>
          <a:xfrm>
            <a:off x="1691640" y="1783080"/>
            <a:ext cx="960120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Client fetch + useEffect</a:t>
            </a:r>
            <a:endParaRPr lang="en-US" sz="1500" dirty="0"/>
          </a:p>
        </p:txBody>
      </p:sp>
      <p:sp>
        <p:nvSpPr>
          <p:cNvPr id="8" name="Text 5"/>
          <p:cNvSpPr/>
          <p:nvPr/>
        </p:nvSpPr>
        <p:spPr>
          <a:xfrm>
            <a:off x="1691640" y="2148840"/>
            <a:ext cx="9601200" cy="5029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The from-scratch baseline. Works, but you write everything: loading, error, retry, cache.</a:t>
            </a:r>
            <a:endParaRPr lang="en-US" sz="1250" dirty="0"/>
          </a:p>
        </p:txBody>
      </p:sp>
      <p:sp>
        <p:nvSpPr>
          <p:cNvPr id="9" name="Shape 6"/>
          <p:cNvSpPr/>
          <p:nvPr/>
        </p:nvSpPr>
        <p:spPr>
          <a:xfrm>
            <a:off x="777240" y="2834640"/>
            <a:ext cx="10607040" cy="96012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3063240"/>
            <a:ext cx="502920" cy="502920"/>
          </a:xfrm>
          <a:prstGeom prst="rect">
            <a:avLst/>
          </a:prstGeom>
        </p:spPr>
      </p:pic>
      <p:sp>
        <p:nvSpPr>
          <p:cNvPr id="11" name="Text 7"/>
          <p:cNvSpPr/>
          <p:nvPr/>
        </p:nvSpPr>
        <p:spPr>
          <a:xfrm>
            <a:off x="1691640" y="2926080"/>
            <a:ext cx="960120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TanStack Query / SWR / RTK Query</a:t>
            </a:r>
            <a:endParaRPr lang="en-US" sz="1500" dirty="0"/>
          </a:p>
        </p:txBody>
      </p:sp>
      <p:sp>
        <p:nvSpPr>
          <p:cNvPr id="12" name="Text 8"/>
          <p:cNvSpPr/>
          <p:nvPr/>
        </p:nvSpPr>
        <p:spPr>
          <a:xfrm>
            <a:off x="1691640" y="3291840"/>
            <a:ext cx="9601200" cy="5029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The canonical client-driven option. Cache, dedupe, retry, invalidation — solved.</a:t>
            </a:r>
            <a:endParaRPr lang="en-US" sz="1250" dirty="0"/>
          </a:p>
        </p:txBody>
      </p:sp>
      <p:sp>
        <p:nvSpPr>
          <p:cNvPr id="13" name="Shape 9"/>
          <p:cNvSpPr/>
          <p:nvPr/>
        </p:nvSpPr>
        <p:spPr>
          <a:xfrm>
            <a:off x="777240" y="3977640"/>
            <a:ext cx="10607040" cy="96012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4206240"/>
            <a:ext cx="502920" cy="502920"/>
          </a:xfrm>
          <a:prstGeom prst="rect">
            <a:avLst/>
          </a:prstGeom>
        </p:spPr>
      </p:pic>
      <p:sp>
        <p:nvSpPr>
          <p:cNvPr id="15" name="Text 10"/>
          <p:cNvSpPr/>
          <p:nvPr/>
        </p:nvSpPr>
        <p:spPr>
          <a:xfrm>
            <a:off x="1691640" y="4069080"/>
            <a:ext cx="960120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Suspense + use()</a:t>
            </a:r>
            <a:endParaRPr lang="en-US" sz="1500" dirty="0"/>
          </a:p>
        </p:txBody>
      </p:sp>
      <p:sp>
        <p:nvSpPr>
          <p:cNvPr id="16" name="Text 11"/>
          <p:cNvSpPr/>
          <p:nvPr/>
        </p:nvSpPr>
        <p:spPr>
          <a:xfrm>
            <a:off x="1691640" y="4434840"/>
            <a:ext cx="9601200" cy="5029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The React-native flavor. Promise in, value out. Pairs with route-level data fetching.</a:t>
            </a:r>
            <a:endParaRPr lang="en-US" sz="1250" dirty="0"/>
          </a:p>
        </p:txBody>
      </p:sp>
      <p:sp>
        <p:nvSpPr>
          <p:cNvPr id="17" name="Shape 12"/>
          <p:cNvSpPr/>
          <p:nvPr/>
        </p:nvSpPr>
        <p:spPr>
          <a:xfrm>
            <a:off x="777240" y="5120640"/>
            <a:ext cx="10607040" cy="96012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5349240"/>
            <a:ext cx="502920" cy="502920"/>
          </a:xfrm>
          <a:prstGeom prst="rect">
            <a:avLst/>
          </a:prstGeom>
        </p:spPr>
      </p:pic>
      <p:sp>
        <p:nvSpPr>
          <p:cNvPr id="19" name="Text 13"/>
          <p:cNvSpPr/>
          <p:nvPr/>
        </p:nvSpPr>
        <p:spPr>
          <a:xfrm>
            <a:off x="1691640" y="5212080"/>
            <a:ext cx="960120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Server-side (RSC + loaders)</a:t>
            </a:r>
            <a:endParaRPr lang="en-US" sz="1500" dirty="0"/>
          </a:p>
        </p:txBody>
      </p:sp>
      <p:sp>
        <p:nvSpPr>
          <p:cNvPr id="20" name="Text 14"/>
          <p:cNvSpPr/>
          <p:nvPr/>
        </p:nvSpPr>
        <p:spPr>
          <a:xfrm>
            <a:off x="1691640" y="5577840"/>
            <a:ext cx="9601200" cy="5029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Fetch on the server, render on arrival. No client-side fetch at all for this data.</a:t>
            </a:r>
            <a:endParaRPr lang="en-US" sz="12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 / 27</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3">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1</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The Four Flavors</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What each one is for. Where each one fails. How to pick.</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Client fetch + useEffect — the baseline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Works for one component. Falls apart at scale.</a:t>
            </a:r>
            <a:endParaRPr lang="en-US" sz="1400" dirty="0"/>
          </a:p>
        </p:txBody>
      </p:sp>
      <p:sp>
        <p:nvSpPr>
          <p:cNvPr id="5" name="Shape 3"/>
          <p:cNvSpPr/>
          <p:nvPr/>
        </p:nvSpPr>
        <p:spPr>
          <a:xfrm>
            <a:off x="777240" y="1554480"/>
            <a:ext cx="5943600" cy="4206240"/>
          </a:xfrm>
          <a:prstGeom prst="rect">
            <a:avLst/>
          </a:prstGeom>
          <a:solidFill>
            <a:srgbClr val="1E2A47"/>
          </a:solidFill>
          <a:ln w="12700">
            <a:solidFill>
              <a:srgbClr val="1E2A47"/>
            </a:solidFill>
            <a:prstDash val="solid"/>
          </a:ln>
        </p:spPr>
      </p:sp>
      <p:sp>
        <p:nvSpPr>
          <p:cNvPr id="6" name="Text 4"/>
          <p:cNvSpPr/>
          <p:nvPr/>
        </p:nvSpPr>
        <p:spPr>
          <a:xfrm>
            <a:off x="960120" y="1691640"/>
            <a:ext cx="5577840" cy="3931920"/>
          </a:xfrm>
          <a:prstGeom prst="rect">
            <a:avLst/>
          </a:prstGeom>
          <a:noFill/>
          <a:ln/>
        </p:spPr>
        <p:txBody>
          <a:bodyPr wrap="square" lIns="0" tIns="0" rIns="0" bIns="0" rtlCol="0" anchor="t"/>
          <a:lstStyle/>
          <a:p>
            <a:pPr indent="0" marL="0">
              <a:buNone/>
            </a:pPr>
            <a:r>
              <a:rPr lang="en-US" sz="1200" dirty="0">
                <a:solidFill>
                  <a:srgbClr val="C586C0"/>
                </a:solidFill>
                <a:latin typeface="Courier New" pitchFamily="34" charset="0"/>
                <a:ea typeface="Courier New" pitchFamily="34" charset="-122"/>
                <a:cs typeface="Courier New" pitchFamily="34" charset="-120"/>
              </a:rPr>
              <a:t>function </a:t>
            </a:r>
            <a:pPr indent="0" marL="0">
              <a:buNone/>
            </a:pPr>
            <a:r>
              <a:rPr lang="en-US" sz="1200" dirty="0">
                <a:solidFill>
                  <a:srgbClr val="DCDCAA"/>
                </a:solidFill>
                <a:latin typeface="Courier New" pitchFamily="34" charset="0"/>
                <a:ea typeface="Courier New" pitchFamily="34" charset="-122"/>
                <a:cs typeface="Courier New" pitchFamily="34" charset="-120"/>
              </a:rPr>
              <a:t>Posts</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[posts, setPosts] = </a:t>
            </a:r>
            <a:pPr indent="0" marL="0">
              <a:buNone/>
            </a:pPr>
            <a:r>
              <a:rPr lang="en-US" sz="1200" dirty="0">
                <a:solidFill>
                  <a:srgbClr val="DCDCAA"/>
                </a:solidFill>
                <a:latin typeface="Courier New" pitchFamily="34" charset="0"/>
                <a:ea typeface="Courier New" pitchFamily="34" charset="-122"/>
                <a:cs typeface="Courier New" pitchFamily="34" charset="-120"/>
              </a:rPr>
              <a:t>useState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[loading, setLoading] = </a:t>
            </a:r>
            <a:pPr indent="0" marL="0">
              <a:buNone/>
            </a:pPr>
            <a:r>
              <a:rPr lang="en-US" sz="1200" dirty="0">
                <a:solidFill>
                  <a:srgbClr val="DCDCAA"/>
                </a:solidFill>
                <a:latin typeface="Courier New" pitchFamily="34" charset="0"/>
                <a:ea typeface="Courier New" pitchFamily="34" charset="-122"/>
                <a:cs typeface="Courier New" pitchFamily="34" charset="-120"/>
              </a:rPr>
              <a:t>useState</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C586C0"/>
                </a:solidFill>
                <a:latin typeface="Courier New" pitchFamily="34" charset="0"/>
                <a:ea typeface="Courier New" pitchFamily="34" charset="-122"/>
                <a:cs typeface="Courier New" pitchFamily="34" charset="-120"/>
              </a:rPr>
              <a:t>true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[error, setError] = </a:t>
            </a:r>
            <a:pPr indent="0" marL="0">
              <a:buNone/>
            </a:pPr>
            <a:r>
              <a:rPr lang="en-US" sz="1200" dirty="0">
                <a:solidFill>
                  <a:srgbClr val="DCDCAA"/>
                </a:solidFill>
                <a:latin typeface="Courier New" pitchFamily="34" charset="0"/>
                <a:ea typeface="Courier New" pitchFamily="34" charset="-122"/>
                <a:cs typeface="Courier New" pitchFamily="34" charset="-120"/>
              </a:rPr>
              <a:t>useState</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C586C0"/>
                </a:solidFill>
                <a:latin typeface="Courier New" pitchFamily="34" charset="0"/>
                <a:ea typeface="Courier New" pitchFamily="34" charset="-122"/>
                <a:cs typeface="Courier New" pitchFamily="34" charset="-120"/>
              </a:rPr>
              <a:t>null</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DCDCAA"/>
                </a:solidFill>
                <a:latin typeface="Courier New" pitchFamily="34" charset="0"/>
                <a:ea typeface="Courier New" pitchFamily="34" charset="-122"/>
                <a:cs typeface="Courier New" pitchFamily="34" charset="-120"/>
              </a:rPr>
              <a:t>useEffect</a:t>
            </a:r>
            <a:pPr indent="0" marL="0">
              <a:buNone/>
            </a:pPr>
            <a:r>
              <a:rPr lang="en-US" sz="1200" dirty="0">
                <a:solidFill>
                  <a:srgbClr val="FFFFFF"/>
                </a:solidFill>
                <a:latin typeface="Courier New" pitchFamily="34" charset="0"/>
                <a:ea typeface="Courier New" pitchFamily="34" charset="-122"/>
                <a:cs typeface="Courier New" pitchFamily="34" charset="-120"/>
              </a:rPr>
              <a:t>(() =&gt; {</a:t>
            </a:r>
            <a:endParaRPr lang="en-US" sz="1200" dirty="0"/>
          </a:p>
          <a:p>
            <a:pPr indent="0" marL="0">
              <a:buNone/>
            </a:pPr>
            <a:r>
              <a:rPr lang="en-US" sz="1200" dirty="0">
                <a:solidFill>
                  <a:srgbClr val="DCDCAA"/>
                </a:solidFill>
                <a:latin typeface="Courier New" pitchFamily="34" charset="0"/>
                <a:ea typeface="Courier New" pitchFamily="34" charset="-122"/>
                <a:cs typeface="Courier New" pitchFamily="34" charset="-120"/>
              </a:rPr>
              <a:t>    fetch(</a:t>
            </a:r>
            <a:pPr indent="0" marL="0">
              <a:buNone/>
            </a:pPr>
            <a:r>
              <a:rPr lang="en-US" sz="1200" dirty="0">
                <a:solidFill>
                  <a:srgbClr val="9CDCFE"/>
                </a:solidFill>
                <a:latin typeface="Courier New" pitchFamily="34" charset="0"/>
                <a:ea typeface="Courier New" pitchFamily="34" charset="-122"/>
                <a:cs typeface="Courier New" pitchFamily="34" charset="-120"/>
              </a:rPr>
              <a:t>'/api/posts'</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.then((r) =&gt; r.json())</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.then(setPosts)</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.catch(setError)</a:t>
            </a:r>
            <a:endParaRPr lang="en-US" sz="1200" dirty="0"/>
          </a:p>
          <a:p>
            <a:pPr indent="0" marL="0">
              <a:buNone/>
            </a:pPr>
            <a:r>
              <a:rPr lang="en-US" sz="1200" dirty="0">
                <a:solidFill>
                  <a:srgbClr val="DCDCAA"/>
                </a:solidFill>
                <a:latin typeface="Courier New" pitchFamily="34" charset="0"/>
                <a:ea typeface="Courier New" pitchFamily="34" charset="-122"/>
                <a:cs typeface="Courier New" pitchFamily="34" charset="-120"/>
              </a:rPr>
              <a:t>      .finally(() =&gt; setLoading(</a:t>
            </a:r>
            <a:pPr indent="0" marL="0">
              <a:buNone/>
            </a:pPr>
            <a:r>
              <a:rPr lang="en-US" sz="1200" dirty="0">
                <a:solidFill>
                  <a:srgbClr val="C586C0"/>
                </a:solidFill>
                <a:latin typeface="Courier New" pitchFamily="34" charset="0"/>
                <a:ea typeface="Courier New" pitchFamily="34" charset="-122"/>
                <a:cs typeface="Courier New" pitchFamily="34" charset="-120"/>
              </a:rPr>
              <a:t>false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 … render</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6949440" y="1554480"/>
            <a:ext cx="4572000" cy="365760"/>
          </a:xfrm>
          <a:prstGeom prst="rect">
            <a:avLst/>
          </a:prstGeom>
          <a:noFill/>
          <a:ln/>
        </p:spPr>
        <p:txBody>
          <a:bodyPr wrap="square" lIns="0" tIns="0" rIns="0" bIns="0" rtlCol="0" anchor="ctr"/>
          <a:lstStyle/>
          <a:p>
            <a:pPr indent="0" marL="0">
              <a:buNone/>
            </a:pPr>
            <a:r>
              <a:rPr lang="en-US" sz="1400" b="1" dirty="0">
                <a:solidFill>
                  <a:srgbClr val="DC2626"/>
                </a:solidFill>
                <a:latin typeface="Trebuchet MS" pitchFamily="34" charset="0"/>
                <a:ea typeface="Trebuchet MS" pitchFamily="34" charset="-122"/>
                <a:cs typeface="Trebuchet MS" pitchFamily="34" charset="-120"/>
              </a:rPr>
              <a:t>What this doesn't do:</a:t>
            </a:r>
            <a:endParaRPr lang="en-US" sz="1400" dirty="0"/>
          </a:p>
        </p:txBody>
      </p:sp>
      <p:sp>
        <p:nvSpPr>
          <p:cNvPr id="8" name="Text 6"/>
          <p:cNvSpPr/>
          <p:nvPr/>
        </p:nvSpPr>
        <p:spPr>
          <a:xfrm>
            <a:off x="6949440" y="1920240"/>
            <a:ext cx="4572000" cy="3657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No cache — visiting twice fetches twice</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No deduplication — two components fetch the same URL twice</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No retry on transient failures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No invalidation after a mutation</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No background refresh — stale forever</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Race conditions if effect re-runs while old request pending</a:t>
            </a:r>
            <a:endParaRPr lang="en-US" sz="120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4 / 27</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TanStack Query — the canonical client option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Same problem, three lines instead of fifteen. Plus everything client fetch didn't do.</a:t>
            </a:r>
            <a:endParaRPr lang="en-US" sz="1400" dirty="0"/>
          </a:p>
        </p:txBody>
      </p:sp>
      <p:sp>
        <p:nvSpPr>
          <p:cNvPr id="5" name="Shape 3"/>
          <p:cNvSpPr/>
          <p:nvPr/>
        </p:nvSpPr>
        <p:spPr>
          <a:xfrm>
            <a:off x="777240" y="1554480"/>
            <a:ext cx="10607040" cy="36576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383280"/>
          </a:xfrm>
          <a:prstGeom prst="rect">
            <a:avLst/>
          </a:prstGeom>
          <a:noFill/>
          <a:ln/>
        </p:spPr>
        <p:txBody>
          <a:bodyPr wrap="square" lIns="0" tIns="0" rIns="0" bIns="0" rtlCol="0" anchor="t"/>
          <a:lstStyle/>
          <a:p>
            <a:pPr indent="0" marL="0">
              <a:buNone/>
            </a:pPr>
            <a:r>
              <a:rPr lang="en-US" sz="1200" dirty="0">
                <a:solidFill>
                  <a:srgbClr val="C586C0"/>
                </a:solidFill>
                <a:latin typeface="Courier New" pitchFamily="34" charset="0"/>
                <a:ea typeface="Courier New" pitchFamily="34" charset="-122"/>
                <a:cs typeface="Courier New" pitchFamily="34" charset="-120"/>
              </a:rPr>
              <a:t>function </a:t>
            </a:r>
            <a:pPr indent="0" marL="0">
              <a:buNone/>
            </a:pPr>
            <a:r>
              <a:rPr lang="en-US" sz="1200" dirty="0">
                <a:solidFill>
                  <a:srgbClr val="DCDCAA"/>
                </a:solidFill>
                <a:latin typeface="Courier New" pitchFamily="34" charset="0"/>
                <a:ea typeface="Courier New" pitchFamily="34" charset="-122"/>
                <a:cs typeface="Courier New" pitchFamily="34" charset="-120"/>
              </a:rPr>
              <a:t>Posts</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 data, isPending, error } = </a:t>
            </a:r>
            <a:pPr indent="0" marL="0">
              <a:buNone/>
            </a:pPr>
            <a:r>
              <a:rPr lang="en-US" sz="1200" dirty="0">
                <a:solidFill>
                  <a:srgbClr val="DCDCAA"/>
                </a:solidFill>
                <a:latin typeface="Courier New" pitchFamily="34" charset="0"/>
                <a:ea typeface="Courier New" pitchFamily="34" charset="-122"/>
                <a:cs typeface="Courier New" pitchFamily="34" charset="-120"/>
              </a:rPr>
              <a:t>useQuery</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queryKey: [</a:t>
            </a:r>
            <a:pPr indent="0" marL="0">
              <a:buNone/>
            </a:pPr>
            <a:r>
              <a:rPr lang="en-US" sz="1200" dirty="0">
                <a:solidFill>
                  <a:srgbClr val="9CDCFE"/>
                </a:solidFill>
                <a:latin typeface="Courier New" pitchFamily="34" charset="0"/>
                <a:ea typeface="Courier New" pitchFamily="34" charset="-122"/>
                <a:cs typeface="Courier New" pitchFamily="34" charset="-120"/>
              </a:rPr>
              <a:t>'posts'</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queryFn: () =&gt; </a:t>
            </a:r>
            <a:pPr indent="0" marL="0">
              <a:buNone/>
            </a:pPr>
            <a:r>
              <a:rPr lang="en-US" sz="1200" dirty="0">
                <a:solidFill>
                  <a:srgbClr val="DCDCAA"/>
                </a:solidFill>
                <a:latin typeface="Courier New" pitchFamily="34" charset="0"/>
                <a:ea typeface="Courier New" pitchFamily="34" charset="-122"/>
                <a:cs typeface="Courier New" pitchFamily="34" charset="-120"/>
              </a:rPr>
              <a:t>fetch</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9CDCFE"/>
                </a:solidFill>
                <a:latin typeface="Courier New" pitchFamily="34" charset="0"/>
                <a:ea typeface="Courier New" pitchFamily="34" charset="-122"/>
                <a:cs typeface="Courier New" pitchFamily="34" charset="-120"/>
              </a:rPr>
              <a:t>'/api/posts'</a:t>
            </a:r>
            <a:pPr indent="0" marL="0">
              <a:buNone/>
            </a:pPr>
            <a:r>
              <a:rPr lang="en-US" sz="1200" dirty="0">
                <a:solidFill>
                  <a:srgbClr val="FFFFFF"/>
                </a:solidFill>
                <a:latin typeface="Courier New" pitchFamily="34" charset="0"/>
                <a:ea typeface="Courier New" pitchFamily="34" charset="-122"/>
                <a:cs typeface="Courier New" pitchFamily="34" charset="-120"/>
              </a:rPr>
              <a:t>).then((r) =&gt; r.json()),</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if (isPending) </a:t>
            </a:r>
            <a:pPr indent="0" marL="0">
              <a:buNone/>
            </a:pPr>
            <a:r>
              <a:rPr lang="en-US" sz="1200" dirty="0">
                <a:solidFill>
                  <a:srgbClr val="9CDCFE"/>
                </a:solidFill>
                <a:latin typeface="Courier New" pitchFamily="34" charset="0"/>
                <a:ea typeface="Courier New" pitchFamily="34" charset="-122"/>
                <a:cs typeface="Courier New" pitchFamily="34" charset="-120"/>
              </a:rPr>
              <a:t>return &lt;Skeleton /&gt;;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if (error) </a:t>
            </a:r>
            <a:pPr indent="0" marL="0">
              <a:buNone/>
            </a:pPr>
            <a:r>
              <a:rPr lang="en-US" sz="1200" dirty="0">
                <a:solidFill>
                  <a:srgbClr val="9CDCFE"/>
                </a:solidFill>
                <a:latin typeface="Courier New" pitchFamily="34" charset="0"/>
                <a:ea typeface="Courier New" pitchFamily="34" charset="-122"/>
                <a:cs typeface="Courier New" pitchFamily="34" charset="-120"/>
              </a:rPr>
              <a:t>return &lt;Error error={error}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&lt;PostList posts={data}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777240" y="5394960"/>
            <a:ext cx="10607040" cy="822960"/>
          </a:xfrm>
          <a:prstGeom prst="rect">
            <a:avLst/>
          </a:prstGeom>
          <a:solidFill>
            <a:srgbClr val="CBF1F6"/>
          </a:solidFill>
          <a:ln w="12700">
            <a:solidFill>
              <a:srgbClr val="CBF1F6"/>
            </a:solidFill>
            <a:prstDash val="solid"/>
          </a:ln>
        </p:spPr>
      </p:sp>
      <p:pic>
        <p:nvPicPr>
          <p:cNvPr id="8" name="Image 0" descr="preencoded.png">    </p:cNvPr>
          <p:cNvPicPr>
            <a:picLocks noChangeAspect="1"/>
          </p:cNvPicPr>
          <p:nvPr/>
        </p:nvPicPr>
        <p:blipFill>
          <a:blip r:embed="rId1"/>
          <a:stretch>
            <a:fillRect/>
          </a:stretch>
        </p:blipFill>
        <p:spPr>
          <a:xfrm>
            <a:off x="1005840" y="5532120"/>
            <a:ext cx="548640" cy="548640"/>
          </a:xfrm>
          <a:prstGeom prst="rect">
            <a:avLst/>
          </a:prstGeom>
        </p:spPr>
      </p:pic>
      <p:sp>
        <p:nvSpPr>
          <p:cNvPr id="9" name="Text 6"/>
          <p:cNvSpPr/>
          <p:nvPr/>
        </p:nvSpPr>
        <p:spPr>
          <a:xfrm>
            <a:off x="1783080" y="5394960"/>
            <a:ext cx="9509760" cy="822960"/>
          </a:xfrm>
          <a:prstGeom prst="rect">
            <a:avLst/>
          </a:prstGeom>
          <a:noFill/>
          <a:ln/>
        </p:spPr>
        <p:txBody>
          <a:bodyPr wrap="square" lIns="0" tIns="0" rIns="0" bIns="0" rtlCol="0" anchor="ctr"/>
          <a:lstStyle/>
          <a:p>
            <a:pPr indent="0" marL="0">
              <a:buNone/>
            </a:pPr>
            <a:r>
              <a:rPr lang="en-US" sz="1250" i="1" dirty="0">
                <a:solidFill>
                  <a:srgbClr val="0F172A"/>
                </a:solidFill>
                <a:latin typeface="Arial" pitchFamily="34" charset="0"/>
                <a:ea typeface="Arial" pitchFamily="34" charset="-122"/>
                <a:cs typeface="Arial" pitchFamily="34" charset="-120"/>
              </a:rPr>
              <a:t>Free with this: cache, dedup, retry, invalidation, background refetch, stale-while-revalidate, focus refetch, network reconnect refetch.</a:t>
            </a:r>
            <a:endParaRPr lang="en-US" sz="1250" dirty="0"/>
          </a:p>
        </p:txBody>
      </p:sp>
      <p:sp>
        <p:nvSpPr>
          <p:cNvPr id="10"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11"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5 / 27</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Suspense + use() — the React-native flavor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Pass a promise in, get a value out. The component suspends while resolving.</a:t>
            </a:r>
            <a:endParaRPr lang="en-US" sz="1400" dirty="0"/>
          </a:p>
        </p:txBody>
      </p:sp>
      <p:sp>
        <p:nvSpPr>
          <p:cNvPr id="5" name="Shape 3"/>
          <p:cNvSpPr/>
          <p:nvPr/>
        </p:nvSpPr>
        <p:spPr>
          <a:xfrm>
            <a:off x="777240" y="1554480"/>
            <a:ext cx="10607040" cy="36576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38328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page (Server Component or parent that creates the promise once)</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function </a:t>
            </a:r>
            <a:pPr indent="0" marL="0">
              <a:buNone/>
            </a:pPr>
            <a:r>
              <a:rPr lang="en-US" sz="1200" dirty="0">
                <a:solidFill>
                  <a:srgbClr val="DCDCAA"/>
                </a:solidFill>
                <a:latin typeface="Courier New" pitchFamily="34" charset="0"/>
                <a:ea typeface="Courier New" pitchFamily="34" charset="-122"/>
                <a:cs typeface="Courier New" pitchFamily="34" charset="-120"/>
              </a:rPr>
              <a:t>PostsPage</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const postsPromise = </a:t>
            </a:r>
            <a:pPr indent="0" marL="0">
              <a:buNone/>
            </a:pPr>
            <a:r>
              <a:rPr lang="en-US" sz="1200" dirty="0">
                <a:solidFill>
                  <a:srgbClr val="DCDCAA"/>
                </a:solidFill>
                <a:latin typeface="Courier New" pitchFamily="34" charset="0"/>
                <a:ea typeface="Courier New" pitchFamily="34" charset="-122"/>
                <a:cs typeface="Courier New" pitchFamily="34" charset="-120"/>
              </a:rPr>
              <a:t>fetchPosts</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&lt;</a:t>
            </a:r>
            <a:pPr indent="0" marL="0">
              <a:buNone/>
            </a:pPr>
            <a:r>
              <a:rPr lang="en-US" sz="1200" dirty="0">
                <a:solidFill>
                  <a:srgbClr val="DCDCAA"/>
                </a:solidFill>
                <a:latin typeface="Courier New" pitchFamily="34" charset="0"/>
                <a:ea typeface="Courier New" pitchFamily="34" charset="-122"/>
                <a:cs typeface="Courier New" pitchFamily="34" charset="-120"/>
              </a:rPr>
              <a:t>Suspense </a:t>
            </a:r>
            <a:pPr indent="0" marL="0">
              <a:buNone/>
            </a:pPr>
            <a:r>
              <a:rPr lang="en-US" sz="1200" dirty="0">
                <a:solidFill>
                  <a:srgbClr val="9CDCFE"/>
                </a:solidFill>
                <a:latin typeface="Courier New" pitchFamily="34" charset="0"/>
                <a:ea typeface="Courier New" pitchFamily="34" charset="-122"/>
                <a:cs typeface="Courier New" pitchFamily="34" charset="-120"/>
              </a:rPr>
              <a:t>fallback={&lt;Skeleton /&gt;}&gt;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&lt;Posts postsPromise={postsPromise} /&gt;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&lt;/</a:t>
            </a:r>
            <a:pPr indent="0" marL="0">
              <a:buNone/>
            </a:pPr>
            <a:r>
              <a:rPr lang="en-US" sz="1200" dirty="0">
                <a:solidFill>
                  <a:srgbClr val="DCDCAA"/>
                </a:solidFill>
                <a:latin typeface="Courier New" pitchFamily="34" charset="0"/>
                <a:ea typeface="Courier New" pitchFamily="34" charset="-122"/>
                <a:cs typeface="Courier New" pitchFamily="34" charset="-120"/>
              </a:rPr>
              <a:t>Suspense</a:t>
            </a:r>
            <a:pPr indent="0" marL="0">
              <a:buNone/>
            </a:pPr>
            <a:r>
              <a:rPr lang="en-US" sz="1200" dirty="0">
                <a:solidFill>
                  <a:srgbClr val="9CDCFE"/>
                </a:solidFill>
                <a:latin typeface="Courier New" pitchFamily="34" charset="0"/>
                <a:ea typeface="Courier New" pitchFamily="34" charset="-122"/>
                <a:cs typeface="Courier New" pitchFamily="34" charset="-120"/>
              </a:rPr>
              <a:t>&gt;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child</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function </a:t>
            </a:r>
            <a:pPr indent="0" marL="0">
              <a:buNone/>
            </a:pPr>
            <a:r>
              <a:rPr lang="en-US" sz="1200" dirty="0">
                <a:solidFill>
                  <a:srgbClr val="DCDCAA"/>
                </a:solidFill>
                <a:latin typeface="Courier New" pitchFamily="34" charset="0"/>
                <a:ea typeface="Courier New" pitchFamily="34" charset="-122"/>
                <a:cs typeface="Courier New" pitchFamily="34" charset="-120"/>
              </a:rPr>
              <a:t>Posts</a:t>
            </a:r>
            <a:pPr indent="0" marL="0">
              <a:buNone/>
            </a:pPr>
            <a:r>
              <a:rPr lang="en-US" sz="1200" dirty="0">
                <a:solidFill>
                  <a:srgbClr val="FFFFFF"/>
                </a:solidFill>
                <a:latin typeface="Courier New" pitchFamily="34" charset="0"/>
                <a:ea typeface="Courier New" pitchFamily="34" charset="-122"/>
                <a:cs typeface="Courier New" pitchFamily="34" charset="-120"/>
              </a:rPr>
              <a:t>({ postsPromise })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const posts = </a:t>
            </a:r>
            <a:pPr indent="0" marL="0">
              <a:buNone/>
            </a:pPr>
            <a:r>
              <a:rPr lang="en-US" sz="1200" dirty="0">
                <a:solidFill>
                  <a:srgbClr val="DCDCAA"/>
                </a:solidFill>
                <a:latin typeface="Courier New" pitchFamily="34" charset="0"/>
                <a:ea typeface="Courier New" pitchFamily="34" charset="-122"/>
                <a:cs typeface="Courier New" pitchFamily="34" charset="-120"/>
              </a:rPr>
              <a:t>use</a:t>
            </a:r>
            <a:pPr indent="0" marL="0">
              <a:buNone/>
            </a:pPr>
            <a:r>
              <a:rPr lang="en-US" sz="1200" dirty="0">
                <a:solidFill>
                  <a:srgbClr val="FFFFFF"/>
                </a:solidFill>
                <a:latin typeface="Courier New" pitchFamily="34" charset="0"/>
                <a:ea typeface="Courier New" pitchFamily="34" charset="-122"/>
                <a:cs typeface="Courier New" pitchFamily="34" charset="-120"/>
              </a:rPr>
              <a:t>(postsPromise);</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&lt;PostList posts={posts}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777240" y="5349240"/>
            <a:ext cx="10607040" cy="914400"/>
          </a:xfrm>
          <a:prstGeom prst="rect">
            <a:avLst/>
          </a:prstGeom>
          <a:solidFill>
            <a:srgbClr val="CBF1F6"/>
          </a:solidFill>
          <a:ln w="12700">
            <a:solidFill>
              <a:srgbClr val="CBF1F6"/>
            </a:solidFill>
            <a:prstDash val="solid"/>
          </a:ln>
        </p:spPr>
      </p:sp>
      <p:pic>
        <p:nvPicPr>
          <p:cNvPr id="8" name="Image 0" descr="preencoded.png">    </p:cNvPr>
          <p:cNvPicPr>
            <a:picLocks noChangeAspect="1"/>
          </p:cNvPicPr>
          <p:nvPr/>
        </p:nvPicPr>
        <p:blipFill>
          <a:blip r:embed="rId1"/>
          <a:stretch>
            <a:fillRect/>
          </a:stretch>
        </p:blipFill>
        <p:spPr>
          <a:xfrm>
            <a:off x="1005840" y="5577840"/>
            <a:ext cx="502920" cy="502920"/>
          </a:xfrm>
          <a:prstGeom prst="rect">
            <a:avLst/>
          </a:prstGeom>
        </p:spPr>
      </p:pic>
      <p:sp>
        <p:nvSpPr>
          <p:cNvPr id="9" name="Text 6"/>
          <p:cNvSpPr/>
          <p:nvPr/>
        </p:nvSpPr>
        <p:spPr>
          <a:xfrm>
            <a:off x="1691640" y="5394960"/>
            <a:ext cx="9601200" cy="868680"/>
          </a:xfrm>
          <a:prstGeom prst="rect">
            <a:avLst/>
          </a:prstGeom>
          <a:noFill/>
          <a:ln/>
        </p:spPr>
        <p:txBody>
          <a:bodyPr wrap="square" lIns="0" tIns="0" rIns="0" bIns="0" rtlCol="0" anchor="ctr"/>
          <a:lstStyle/>
          <a:p>
            <a:pPr indent="0" marL="0">
              <a:buNone/>
            </a:pPr>
            <a:r>
              <a:rPr lang="en-US" sz="1250" i="1" dirty="0">
                <a:solidFill>
                  <a:srgbClr val="0F172A"/>
                </a:solidFill>
                <a:latin typeface="Arial" pitchFamily="34" charset="0"/>
                <a:ea typeface="Arial" pitchFamily="34" charset="-122"/>
                <a:cs typeface="Arial" pitchFamily="34" charset="-120"/>
              </a:rPr>
              <a:t>Critical: don't create the promise inside the component that calls use(). New promise every render → infinite Suspense loop.</a:t>
            </a:r>
            <a:endParaRPr lang="en-US" sz="1250" dirty="0"/>
          </a:p>
        </p:txBody>
      </p:sp>
      <p:sp>
        <p:nvSpPr>
          <p:cNvPr id="10"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11"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6 / 27</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Server-side — fetch where the data lives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Server Components and route loaders run before the page reaches the client.</a:t>
            </a:r>
            <a:endParaRPr lang="en-US" sz="1400" dirty="0"/>
          </a:p>
        </p:txBody>
      </p:sp>
      <p:sp>
        <p:nvSpPr>
          <p:cNvPr id="5" name="Shape 3"/>
          <p:cNvSpPr/>
          <p:nvPr/>
        </p:nvSpPr>
        <p:spPr>
          <a:xfrm>
            <a:off x="777240" y="1691640"/>
            <a:ext cx="5349240" cy="4114800"/>
          </a:xfrm>
          <a:prstGeom prst="rect">
            <a:avLst/>
          </a:prstGeom>
          <a:solidFill>
            <a:srgbClr val="FFFFFF"/>
          </a:solidFill>
          <a:ln w="12700">
            <a:solidFill>
              <a:srgbClr val="E2E8F0"/>
            </a:solidFill>
            <a:prstDash val="solid"/>
          </a:ln>
        </p:spPr>
      </p:sp>
      <p:sp>
        <p:nvSpPr>
          <p:cNvPr id="6" name="Text 4"/>
          <p:cNvSpPr/>
          <p:nvPr/>
        </p:nvSpPr>
        <p:spPr>
          <a:xfrm>
            <a:off x="960120" y="1874520"/>
            <a:ext cx="5029200" cy="411480"/>
          </a:xfrm>
          <a:prstGeom prst="rect">
            <a:avLst/>
          </a:prstGeom>
          <a:noFill/>
          <a:ln/>
        </p:spPr>
        <p:txBody>
          <a:bodyPr wrap="square" lIns="0" tIns="0" rIns="0" bIns="0" rtlCol="0" anchor="ctr"/>
          <a:lstStyle/>
          <a:p>
            <a:pPr indent="0" marL="0">
              <a:buNone/>
            </a:pPr>
            <a:r>
              <a:rPr lang="en-US" sz="1400" b="1" dirty="0">
                <a:solidFill>
                  <a:srgbClr val="00B8D9"/>
                </a:solidFill>
                <a:latin typeface="Trebuchet MS" pitchFamily="34" charset="0"/>
                <a:ea typeface="Trebuchet MS" pitchFamily="34" charset="-122"/>
                <a:cs typeface="Trebuchet MS" pitchFamily="34" charset="-120"/>
              </a:rPr>
              <a:t>Next.js Server Component</a:t>
            </a:r>
            <a:endParaRPr lang="en-US" sz="1400" dirty="0"/>
          </a:p>
        </p:txBody>
      </p:sp>
      <p:sp>
        <p:nvSpPr>
          <p:cNvPr id="7" name="Shape 5"/>
          <p:cNvSpPr/>
          <p:nvPr/>
        </p:nvSpPr>
        <p:spPr>
          <a:xfrm>
            <a:off x="960120" y="2377440"/>
            <a:ext cx="4983480" cy="3291840"/>
          </a:xfrm>
          <a:prstGeom prst="rect">
            <a:avLst/>
          </a:prstGeom>
          <a:solidFill>
            <a:srgbClr val="1E2A47"/>
          </a:solidFill>
          <a:ln w="12700">
            <a:solidFill>
              <a:srgbClr val="1E2A47"/>
            </a:solidFill>
            <a:prstDash val="solid"/>
          </a:ln>
        </p:spPr>
      </p:sp>
      <p:sp>
        <p:nvSpPr>
          <p:cNvPr id="8" name="Text 6"/>
          <p:cNvSpPr/>
          <p:nvPr/>
        </p:nvSpPr>
        <p:spPr>
          <a:xfrm>
            <a:off x="1143000" y="2514600"/>
            <a:ext cx="4617720" cy="3017520"/>
          </a:xfrm>
          <a:prstGeom prst="rect">
            <a:avLst/>
          </a:prstGeom>
          <a:noFill/>
          <a:ln/>
        </p:spPr>
        <p:txBody>
          <a:bodyPr wrap="square" lIns="0" tIns="0" rIns="0" bIns="0" rtlCol="0" anchor="t"/>
          <a:lstStyle/>
          <a:p>
            <a:pPr indent="0" marL="0">
              <a:buNone/>
            </a:pPr>
            <a:r>
              <a:rPr lang="en-US" sz="1150" i="1" dirty="0">
                <a:solidFill>
                  <a:srgbClr val="6A9955"/>
                </a:solidFill>
                <a:latin typeface="Courier New" pitchFamily="34" charset="0"/>
                <a:ea typeface="Courier New" pitchFamily="34" charset="-122"/>
                <a:cs typeface="Courier New" pitchFamily="34" charset="-120"/>
              </a:rPr>
              <a:t>// app/posts/page.jsx</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export default async function </a:t>
            </a:r>
            <a:pPr indent="0" marL="0">
              <a:buNone/>
            </a:pPr>
            <a:r>
              <a:rPr lang="en-US" sz="1150" dirty="0">
                <a:solidFill>
                  <a:srgbClr val="DCDCAA"/>
                </a:solidFill>
                <a:latin typeface="Courier New" pitchFamily="34" charset="0"/>
                <a:ea typeface="Courier New" pitchFamily="34" charset="-122"/>
                <a:cs typeface="Courier New" pitchFamily="34" charset="-120"/>
              </a:rPr>
              <a:t>Posts</a:t>
            </a:r>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const posts = await db.posts.list();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return &lt;PostList posts={posts} /&gt;;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p:txBody>
      </p:sp>
      <p:sp>
        <p:nvSpPr>
          <p:cNvPr id="9" name="Shape 7"/>
          <p:cNvSpPr/>
          <p:nvPr/>
        </p:nvSpPr>
        <p:spPr>
          <a:xfrm>
            <a:off x="6355080" y="1691640"/>
            <a:ext cx="5029200" cy="4114800"/>
          </a:xfrm>
          <a:prstGeom prst="rect">
            <a:avLst/>
          </a:prstGeom>
          <a:solidFill>
            <a:srgbClr val="FFFFFF"/>
          </a:solidFill>
          <a:ln w="12700">
            <a:solidFill>
              <a:srgbClr val="E2E8F0"/>
            </a:solidFill>
            <a:prstDash val="solid"/>
          </a:ln>
        </p:spPr>
      </p:sp>
      <p:sp>
        <p:nvSpPr>
          <p:cNvPr id="10" name="Text 8"/>
          <p:cNvSpPr/>
          <p:nvPr/>
        </p:nvSpPr>
        <p:spPr>
          <a:xfrm>
            <a:off x="6537960" y="1874520"/>
            <a:ext cx="4754880" cy="411480"/>
          </a:xfrm>
          <a:prstGeom prst="rect">
            <a:avLst/>
          </a:prstGeom>
          <a:noFill/>
          <a:ln/>
        </p:spPr>
        <p:txBody>
          <a:bodyPr wrap="square" lIns="0" tIns="0" rIns="0" bIns="0" rtlCol="0" anchor="ctr"/>
          <a:lstStyle/>
          <a:p>
            <a:pPr indent="0" marL="0">
              <a:buNone/>
            </a:pPr>
            <a:r>
              <a:rPr lang="en-US" sz="1400" b="1" dirty="0">
                <a:solidFill>
                  <a:srgbClr val="00B8D9"/>
                </a:solidFill>
                <a:latin typeface="Trebuchet MS" pitchFamily="34" charset="0"/>
                <a:ea typeface="Trebuchet MS" pitchFamily="34" charset="-122"/>
                <a:cs typeface="Trebuchet MS" pitchFamily="34" charset="-120"/>
              </a:rPr>
              <a:t>RR v7 framework loader</a:t>
            </a:r>
            <a:endParaRPr lang="en-US" sz="1400" dirty="0"/>
          </a:p>
        </p:txBody>
      </p:sp>
      <p:sp>
        <p:nvSpPr>
          <p:cNvPr id="11" name="Shape 9"/>
          <p:cNvSpPr/>
          <p:nvPr/>
        </p:nvSpPr>
        <p:spPr>
          <a:xfrm>
            <a:off x="6537960" y="2377440"/>
            <a:ext cx="4663440" cy="3291840"/>
          </a:xfrm>
          <a:prstGeom prst="rect">
            <a:avLst/>
          </a:prstGeom>
          <a:solidFill>
            <a:srgbClr val="1E2A47"/>
          </a:solidFill>
          <a:ln w="12700">
            <a:solidFill>
              <a:srgbClr val="1E2A47"/>
            </a:solidFill>
            <a:prstDash val="solid"/>
          </a:ln>
        </p:spPr>
      </p:sp>
      <p:sp>
        <p:nvSpPr>
          <p:cNvPr id="12" name="Text 10"/>
          <p:cNvSpPr/>
          <p:nvPr/>
        </p:nvSpPr>
        <p:spPr>
          <a:xfrm>
            <a:off x="6720840" y="2514600"/>
            <a:ext cx="4297680" cy="3017520"/>
          </a:xfrm>
          <a:prstGeom prst="rect">
            <a:avLst/>
          </a:prstGeom>
          <a:noFill/>
          <a:ln/>
        </p:spPr>
        <p:txBody>
          <a:bodyPr wrap="square" lIns="0" tIns="0" rIns="0" bIns="0" rtlCol="0" anchor="t"/>
          <a:lstStyle/>
          <a:p>
            <a:pPr indent="0" marL="0">
              <a:buNone/>
            </a:pPr>
            <a:r>
              <a:rPr lang="en-US" sz="1150" i="1" dirty="0">
                <a:solidFill>
                  <a:srgbClr val="6A9955"/>
                </a:solidFill>
                <a:latin typeface="Courier New" pitchFamily="34" charset="0"/>
                <a:ea typeface="Courier New" pitchFamily="34" charset="-122"/>
                <a:cs typeface="Courier New" pitchFamily="34" charset="-120"/>
              </a:rPr>
              <a:t>// app/routes/posts.jsx</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export async function </a:t>
            </a:r>
            <a:pPr indent="0" marL="0">
              <a:buNone/>
            </a:pPr>
            <a:r>
              <a:rPr lang="en-US" sz="1150" dirty="0">
                <a:solidFill>
                  <a:srgbClr val="DCDCAA"/>
                </a:solidFill>
                <a:latin typeface="Courier New" pitchFamily="34" charset="0"/>
                <a:ea typeface="Courier New" pitchFamily="34" charset="-122"/>
                <a:cs typeface="Courier New" pitchFamily="34" charset="-120"/>
              </a:rPr>
              <a:t>loader</a:t>
            </a:r>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return { posts: await db.posts.list()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150" dirty="0">
                <a:solidFill>
                  <a:srgbClr val="DCDCAA"/>
                </a:solidFill>
                <a:latin typeface="Courier New" pitchFamily="34" charset="0"/>
                <a:ea typeface="Courier New" pitchFamily="34" charset="-122"/>
                <a:cs typeface="Courier New" pitchFamily="34" charset="-120"/>
              </a:rPr>
              <a:t>Posts</a:t>
            </a:r>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  const { posts } = </a:t>
            </a:r>
            <a:pPr indent="0" marL="0">
              <a:buNone/>
            </a:pPr>
            <a:r>
              <a:rPr lang="en-US" sz="1150" dirty="0">
                <a:solidFill>
                  <a:srgbClr val="DCDCAA"/>
                </a:solidFill>
                <a:latin typeface="Courier New" pitchFamily="34" charset="0"/>
                <a:ea typeface="Courier New" pitchFamily="34" charset="-122"/>
                <a:cs typeface="Courier New" pitchFamily="34" charset="-120"/>
              </a:rPr>
              <a:t>useLoaderData</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return &lt;PostList posts={posts} /&gt;;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p:txBody>
      </p:sp>
      <p:sp>
        <p:nvSpPr>
          <p:cNvPr id="13" name="Text 1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14" name="Text 1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7 / 27</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Picking a flavor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Default to TanStack Query. Use the others when they earn it.</a:t>
            </a:r>
            <a:endParaRPr lang="en-US" sz="1400" dirty="0"/>
          </a:p>
        </p:txBody>
      </p:sp>
      <p:sp>
        <p:nvSpPr>
          <p:cNvPr id="5" name="Shape 3"/>
          <p:cNvSpPr/>
          <p:nvPr/>
        </p:nvSpPr>
        <p:spPr>
          <a:xfrm>
            <a:off x="777240" y="1463040"/>
            <a:ext cx="10607040" cy="411480"/>
          </a:xfrm>
          <a:prstGeom prst="rect">
            <a:avLst/>
          </a:prstGeom>
          <a:solidFill>
            <a:srgbClr val="1E2A47"/>
          </a:solidFill>
          <a:ln w="12700">
            <a:solidFill>
              <a:srgbClr val="1E2A47"/>
            </a:solidFill>
            <a:prstDash val="solid"/>
          </a:ln>
        </p:spPr>
      </p:sp>
      <p:sp>
        <p:nvSpPr>
          <p:cNvPr id="6" name="Text 4"/>
          <p:cNvSpPr/>
          <p:nvPr/>
        </p:nvSpPr>
        <p:spPr>
          <a:xfrm>
            <a:off x="914400" y="1463040"/>
            <a:ext cx="640080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Situation</a:t>
            </a:r>
            <a:endParaRPr lang="en-US" sz="1200" dirty="0"/>
          </a:p>
        </p:txBody>
      </p:sp>
      <p:sp>
        <p:nvSpPr>
          <p:cNvPr id="7" name="Text 5"/>
          <p:cNvSpPr/>
          <p:nvPr/>
        </p:nvSpPr>
        <p:spPr>
          <a:xfrm>
            <a:off x="7406640" y="1463040"/>
            <a:ext cx="393192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Pick</a:t>
            </a:r>
            <a:endParaRPr lang="en-US" sz="1200" dirty="0"/>
          </a:p>
        </p:txBody>
      </p:sp>
      <p:sp>
        <p:nvSpPr>
          <p:cNvPr id="8" name="Shape 6"/>
          <p:cNvSpPr/>
          <p:nvPr/>
        </p:nvSpPr>
        <p:spPr>
          <a:xfrm>
            <a:off x="777240" y="1874520"/>
            <a:ext cx="10607040" cy="594360"/>
          </a:xfrm>
          <a:prstGeom prst="rect">
            <a:avLst/>
          </a:prstGeom>
          <a:solidFill>
            <a:srgbClr val="FFFFFF"/>
          </a:solidFill>
          <a:ln w="12700">
            <a:solidFill>
              <a:srgbClr val="E2E8F0"/>
            </a:solidFill>
            <a:prstDash val="solid"/>
          </a:ln>
        </p:spPr>
      </p:sp>
      <p:sp>
        <p:nvSpPr>
          <p:cNvPr id="9" name="Text 7"/>
          <p:cNvSpPr/>
          <p:nvPr/>
        </p:nvSpPr>
        <p:spPr>
          <a:xfrm>
            <a:off x="914400" y="1920240"/>
            <a:ext cx="640080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Default for client-driven data</a:t>
            </a:r>
            <a:endParaRPr lang="en-US" sz="1200" dirty="0"/>
          </a:p>
        </p:txBody>
      </p:sp>
      <p:sp>
        <p:nvSpPr>
          <p:cNvPr id="10" name="Text 8"/>
          <p:cNvSpPr/>
          <p:nvPr/>
        </p:nvSpPr>
        <p:spPr>
          <a:xfrm>
            <a:off x="7406640" y="1920240"/>
            <a:ext cx="3931920" cy="502920"/>
          </a:xfrm>
          <a:prstGeom prst="rect">
            <a:avLst/>
          </a:prstGeom>
          <a:noFill/>
          <a:ln/>
        </p:spPr>
        <p:txBody>
          <a:bodyPr wrap="square" lIns="0" tIns="0" rIns="0" bIns="0" rtlCol="0" anchor="ctr"/>
          <a:lstStyle/>
          <a:p>
            <a:pPr indent="0" marL="0">
              <a:buNone/>
            </a:pPr>
            <a:r>
              <a:rPr lang="en-US" sz="1250" b="1" dirty="0">
                <a:solidFill>
                  <a:srgbClr val="00B8D9"/>
                </a:solidFill>
                <a:latin typeface="Courier New" pitchFamily="34" charset="0"/>
                <a:ea typeface="Courier New" pitchFamily="34" charset="-122"/>
                <a:cs typeface="Courier New" pitchFamily="34" charset="-120"/>
              </a:rPr>
              <a:t>TanStack Query</a:t>
            </a:r>
            <a:endParaRPr lang="en-US" sz="1250" dirty="0"/>
          </a:p>
        </p:txBody>
      </p:sp>
      <p:sp>
        <p:nvSpPr>
          <p:cNvPr id="11" name="Shape 9"/>
          <p:cNvSpPr/>
          <p:nvPr/>
        </p:nvSpPr>
        <p:spPr>
          <a:xfrm>
            <a:off x="777240" y="2514600"/>
            <a:ext cx="10607040" cy="594360"/>
          </a:xfrm>
          <a:prstGeom prst="rect">
            <a:avLst/>
          </a:prstGeom>
          <a:solidFill>
            <a:srgbClr val="F8FAFC"/>
          </a:solidFill>
          <a:ln w="12700">
            <a:solidFill>
              <a:srgbClr val="E2E8F0"/>
            </a:solidFill>
            <a:prstDash val="solid"/>
          </a:ln>
        </p:spPr>
      </p:sp>
      <p:sp>
        <p:nvSpPr>
          <p:cNvPr id="12" name="Text 10"/>
          <p:cNvSpPr/>
          <p:nvPr/>
        </p:nvSpPr>
        <p:spPr>
          <a:xfrm>
            <a:off x="914400" y="2560320"/>
            <a:ext cx="640080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Data lives on the server, page-shaped</a:t>
            </a:r>
            <a:endParaRPr lang="en-US" sz="1200" dirty="0"/>
          </a:p>
        </p:txBody>
      </p:sp>
      <p:sp>
        <p:nvSpPr>
          <p:cNvPr id="13" name="Text 11"/>
          <p:cNvSpPr/>
          <p:nvPr/>
        </p:nvSpPr>
        <p:spPr>
          <a:xfrm>
            <a:off x="7406640" y="2560320"/>
            <a:ext cx="3931920" cy="502920"/>
          </a:xfrm>
          <a:prstGeom prst="rect">
            <a:avLst/>
          </a:prstGeom>
          <a:noFill/>
          <a:ln/>
        </p:spPr>
        <p:txBody>
          <a:bodyPr wrap="square" lIns="0" tIns="0" rIns="0" bIns="0" rtlCol="0" anchor="ctr"/>
          <a:lstStyle/>
          <a:p>
            <a:pPr indent="0" marL="0">
              <a:buNone/>
            </a:pPr>
            <a:r>
              <a:rPr lang="en-US" sz="1250" b="1" dirty="0">
                <a:solidFill>
                  <a:srgbClr val="00B8D9"/>
                </a:solidFill>
                <a:latin typeface="Courier New" pitchFamily="34" charset="0"/>
                <a:ea typeface="Courier New" pitchFamily="34" charset="-122"/>
                <a:cs typeface="Courier New" pitchFamily="34" charset="-120"/>
              </a:rPr>
              <a:t>Server Components</a:t>
            </a:r>
            <a:endParaRPr lang="en-US" sz="1250" dirty="0"/>
          </a:p>
        </p:txBody>
      </p:sp>
      <p:sp>
        <p:nvSpPr>
          <p:cNvPr id="14" name="Shape 12"/>
          <p:cNvSpPr/>
          <p:nvPr/>
        </p:nvSpPr>
        <p:spPr>
          <a:xfrm>
            <a:off x="777240" y="3154680"/>
            <a:ext cx="10607040" cy="594360"/>
          </a:xfrm>
          <a:prstGeom prst="rect">
            <a:avLst/>
          </a:prstGeom>
          <a:solidFill>
            <a:srgbClr val="FFFFFF"/>
          </a:solidFill>
          <a:ln w="12700">
            <a:solidFill>
              <a:srgbClr val="E2E8F0"/>
            </a:solidFill>
            <a:prstDash val="solid"/>
          </a:ln>
        </p:spPr>
      </p:sp>
      <p:sp>
        <p:nvSpPr>
          <p:cNvPr id="15" name="Text 13"/>
          <p:cNvSpPr/>
          <p:nvPr/>
        </p:nvSpPr>
        <p:spPr>
          <a:xfrm>
            <a:off x="914400" y="3200400"/>
            <a:ext cx="640080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Per-route, framework-managed data</a:t>
            </a:r>
            <a:endParaRPr lang="en-US" sz="1200" dirty="0"/>
          </a:p>
        </p:txBody>
      </p:sp>
      <p:sp>
        <p:nvSpPr>
          <p:cNvPr id="16" name="Text 14"/>
          <p:cNvSpPr/>
          <p:nvPr/>
        </p:nvSpPr>
        <p:spPr>
          <a:xfrm>
            <a:off x="7406640" y="3200400"/>
            <a:ext cx="3931920" cy="502920"/>
          </a:xfrm>
          <a:prstGeom prst="rect">
            <a:avLst/>
          </a:prstGeom>
          <a:noFill/>
          <a:ln/>
        </p:spPr>
        <p:txBody>
          <a:bodyPr wrap="square" lIns="0" tIns="0" rIns="0" bIns="0" rtlCol="0" anchor="ctr"/>
          <a:lstStyle/>
          <a:p>
            <a:pPr indent="0" marL="0">
              <a:buNone/>
            </a:pPr>
            <a:r>
              <a:rPr lang="en-US" sz="1250" b="1" dirty="0">
                <a:solidFill>
                  <a:srgbClr val="00B8D9"/>
                </a:solidFill>
                <a:latin typeface="Courier New" pitchFamily="34" charset="0"/>
                <a:ea typeface="Courier New" pitchFamily="34" charset="-122"/>
                <a:cs typeface="Courier New" pitchFamily="34" charset="-120"/>
              </a:rPr>
              <a:t>Route loader (RR v7)</a:t>
            </a:r>
            <a:endParaRPr lang="en-US" sz="1250" dirty="0"/>
          </a:p>
        </p:txBody>
      </p:sp>
      <p:sp>
        <p:nvSpPr>
          <p:cNvPr id="17" name="Shape 15"/>
          <p:cNvSpPr/>
          <p:nvPr/>
        </p:nvSpPr>
        <p:spPr>
          <a:xfrm>
            <a:off x="777240" y="3794760"/>
            <a:ext cx="10607040" cy="594360"/>
          </a:xfrm>
          <a:prstGeom prst="rect">
            <a:avLst/>
          </a:prstGeom>
          <a:solidFill>
            <a:srgbClr val="F8FAFC"/>
          </a:solidFill>
          <a:ln w="12700">
            <a:solidFill>
              <a:srgbClr val="E2E8F0"/>
            </a:solidFill>
            <a:prstDash val="solid"/>
          </a:ln>
        </p:spPr>
      </p:sp>
      <p:sp>
        <p:nvSpPr>
          <p:cNvPr id="18" name="Text 16"/>
          <p:cNvSpPr/>
          <p:nvPr/>
        </p:nvSpPr>
        <p:spPr>
          <a:xfrm>
            <a:off x="914400" y="3840480"/>
            <a:ext cx="640080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Promise-shaped data already in hand</a:t>
            </a:r>
            <a:endParaRPr lang="en-US" sz="1200" dirty="0"/>
          </a:p>
        </p:txBody>
      </p:sp>
      <p:sp>
        <p:nvSpPr>
          <p:cNvPr id="19" name="Text 17"/>
          <p:cNvSpPr/>
          <p:nvPr/>
        </p:nvSpPr>
        <p:spPr>
          <a:xfrm>
            <a:off x="7406640" y="3840480"/>
            <a:ext cx="3931920" cy="502920"/>
          </a:xfrm>
          <a:prstGeom prst="rect">
            <a:avLst/>
          </a:prstGeom>
          <a:noFill/>
          <a:ln/>
        </p:spPr>
        <p:txBody>
          <a:bodyPr wrap="square" lIns="0" tIns="0" rIns="0" bIns="0" rtlCol="0" anchor="ctr"/>
          <a:lstStyle/>
          <a:p>
            <a:pPr indent="0" marL="0">
              <a:buNone/>
            </a:pPr>
            <a:r>
              <a:rPr lang="en-US" sz="1250" b="1" dirty="0">
                <a:solidFill>
                  <a:srgbClr val="00B8D9"/>
                </a:solidFill>
                <a:latin typeface="Courier New" pitchFamily="34" charset="0"/>
                <a:ea typeface="Courier New" pitchFamily="34" charset="-122"/>
                <a:cs typeface="Courier New" pitchFamily="34" charset="-120"/>
              </a:rPr>
              <a:t>use() with Suspense</a:t>
            </a:r>
            <a:endParaRPr lang="en-US" sz="1250" dirty="0"/>
          </a:p>
        </p:txBody>
      </p:sp>
      <p:sp>
        <p:nvSpPr>
          <p:cNvPr id="20" name="Shape 18"/>
          <p:cNvSpPr/>
          <p:nvPr/>
        </p:nvSpPr>
        <p:spPr>
          <a:xfrm>
            <a:off x="777240" y="4434840"/>
            <a:ext cx="10607040" cy="594360"/>
          </a:xfrm>
          <a:prstGeom prst="rect">
            <a:avLst/>
          </a:prstGeom>
          <a:solidFill>
            <a:srgbClr val="FFFFFF"/>
          </a:solidFill>
          <a:ln w="12700">
            <a:solidFill>
              <a:srgbClr val="E2E8F0"/>
            </a:solidFill>
            <a:prstDash val="solid"/>
          </a:ln>
        </p:spPr>
      </p:sp>
      <p:sp>
        <p:nvSpPr>
          <p:cNvPr id="21" name="Text 19"/>
          <p:cNvSpPr/>
          <p:nvPr/>
        </p:nvSpPr>
        <p:spPr>
          <a:xfrm>
            <a:off x="914400" y="4480560"/>
            <a:ext cx="640080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Embedded widget, can't add a library</a:t>
            </a:r>
            <a:endParaRPr lang="en-US" sz="1200" dirty="0"/>
          </a:p>
        </p:txBody>
      </p:sp>
      <p:sp>
        <p:nvSpPr>
          <p:cNvPr id="22" name="Text 20"/>
          <p:cNvSpPr/>
          <p:nvPr/>
        </p:nvSpPr>
        <p:spPr>
          <a:xfrm>
            <a:off x="7406640" y="4480560"/>
            <a:ext cx="3931920" cy="502920"/>
          </a:xfrm>
          <a:prstGeom prst="rect">
            <a:avLst/>
          </a:prstGeom>
          <a:noFill/>
          <a:ln/>
        </p:spPr>
        <p:txBody>
          <a:bodyPr wrap="square" lIns="0" tIns="0" rIns="0" bIns="0" rtlCol="0" anchor="ctr"/>
          <a:lstStyle/>
          <a:p>
            <a:pPr indent="0" marL="0">
              <a:buNone/>
            </a:pPr>
            <a:r>
              <a:rPr lang="en-US" sz="1250" b="1" dirty="0">
                <a:solidFill>
                  <a:srgbClr val="00B8D9"/>
                </a:solidFill>
                <a:latin typeface="Courier New" pitchFamily="34" charset="0"/>
                <a:ea typeface="Courier New" pitchFamily="34" charset="-122"/>
                <a:cs typeface="Courier New" pitchFamily="34" charset="-120"/>
              </a:rPr>
              <a:t>Plain client fetch (carefully)</a:t>
            </a:r>
            <a:endParaRPr lang="en-US" sz="1250" dirty="0"/>
          </a:p>
        </p:txBody>
      </p:sp>
      <p:sp>
        <p:nvSpPr>
          <p:cNvPr id="23" name="Shape 21"/>
          <p:cNvSpPr/>
          <p:nvPr/>
        </p:nvSpPr>
        <p:spPr>
          <a:xfrm>
            <a:off x="777240" y="5074920"/>
            <a:ext cx="10607040" cy="594360"/>
          </a:xfrm>
          <a:prstGeom prst="rect">
            <a:avLst/>
          </a:prstGeom>
          <a:solidFill>
            <a:srgbClr val="F8FAFC"/>
          </a:solidFill>
          <a:ln w="12700">
            <a:solidFill>
              <a:srgbClr val="E2E8F0"/>
            </a:solidFill>
            <a:prstDash val="solid"/>
          </a:ln>
        </p:spPr>
      </p:sp>
      <p:sp>
        <p:nvSpPr>
          <p:cNvPr id="24" name="Text 22"/>
          <p:cNvSpPr/>
          <p:nvPr/>
        </p:nvSpPr>
        <p:spPr>
          <a:xfrm>
            <a:off x="914400" y="5120640"/>
            <a:ext cx="640080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Already on Redux Toolkit</a:t>
            </a:r>
            <a:endParaRPr lang="en-US" sz="1200" dirty="0"/>
          </a:p>
        </p:txBody>
      </p:sp>
      <p:sp>
        <p:nvSpPr>
          <p:cNvPr id="25" name="Text 23"/>
          <p:cNvSpPr/>
          <p:nvPr/>
        </p:nvSpPr>
        <p:spPr>
          <a:xfrm>
            <a:off x="7406640" y="5120640"/>
            <a:ext cx="3931920" cy="502920"/>
          </a:xfrm>
          <a:prstGeom prst="rect">
            <a:avLst/>
          </a:prstGeom>
          <a:noFill/>
          <a:ln/>
        </p:spPr>
        <p:txBody>
          <a:bodyPr wrap="square" lIns="0" tIns="0" rIns="0" bIns="0" rtlCol="0" anchor="ctr"/>
          <a:lstStyle/>
          <a:p>
            <a:pPr indent="0" marL="0">
              <a:buNone/>
            </a:pPr>
            <a:r>
              <a:rPr lang="en-US" sz="1250" b="1" dirty="0">
                <a:solidFill>
                  <a:srgbClr val="00B8D9"/>
                </a:solidFill>
                <a:latin typeface="Courier New" pitchFamily="34" charset="0"/>
                <a:ea typeface="Courier New" pitchFamily="34" charset="-122"/>
                <a:cs typeface="Courier New" pitchFamily="34" charset="-120"/>
              </a:rPr>
              <a:t>RTK Query</a:t>
            </a:r>
            <a:endParaRPr lang="en-US" sz="1250" dirty="0"/>
          </a:p>
        </p:txBody>
      </p:sp>
      <p:sp>
        <p:nvSpPr>
          <p:cNvPr id="26" name="Text 24"/>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27" name="Text 25"/>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8 / 27</a:t>
            </a:r>
            <a:endParaRPr lang="en-US" sz="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9">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2</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TanStack Query in Depth</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Setup, queries, mutations, invalidation, optimistic updates.</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Setup — one QueryClient per app</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Wrap your tree once. The provider gives every descendant access to the cache.</a:t>
            </a:r>
            <a:endParaRPr lang="en-US" sz="1400" dirty="0"/>
          </a:p>
        </p:txBody>
      </p:sp>
      <p:sp>
        <p:nvSpPr>
          <p:cNvPr id="5" name="Shape 3"/>
          <p:cNvSpPr/>
          <p:nvPr/>
        </p:nvSpPr>
        <p:spPr>
          <a:xfrm>
            <a:off x="777240" y="1554480"/>
            <a:ext cx="10607040" cy="45720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429768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app/main.jsx</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import { QueryClient, QueryClientProvider } from </a:t>
            </a:r>
            <a:pPr indent="0" marL="0">
              <a:buNone/>
            </a:pPr>
            <a:r>
              <a:rPr lang="en-US" sz="1200" dirty="0">
                <a:solidFill>
                  <a:srgbClr val="9CDCFE"/>
                </a:solidFill>
                <a:latin typeface="Courier New" pitchFamily="34" charset="0"/>
                <a:ea typeface="Courier New" pitchFamily="34" charset="-122"/>
                <a:cs typeface="Courier New" pitchFamily="34" charset="-120"/>
              </a:rPr>
              <a:t>'@tanstack/react-query'</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const queryClient = </a:t>
            </a:r>
            <a:pPr indent="0" marL="0">
              <a:buNone/>
            </a:pPr>
            <a:r>
              <a:rPr lang="en-US" sz="1200" dirty="0">
                <a:solidFill>
                  <a:srgbClr val="DCDCAA"/>
                </a:solidFill>
                <a:latin typeface="Courier New" pitchFamily="34" charset="0"/>
                <a:ea typeface="Courier New" pitchFamily="34" charset="-122"/>
                <a:cs typeface="Courier New" pitchFamily="34" charset="-120"/>
              </a:rPr>
              <a:t>new QueryClient</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defaultOptions: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queries: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staleTime: </a:t>
            </a:r>
            <a:pPr indent="0" marL="0">
              <a:buNone/>
            </a:pPr>
            <a:r>
              <a:rPr lang="en-US" sz="1200" dirty="0">
                <a:solidFill>
                  <a:srgbClr val="9CDCFE"/>
                </a:solidFill>
                <a:latin typeface="Courier New" pitchFamily="34" charset="0"/>
                <a:ea typeface="Courier New" pitchFamily="34" charset="-122"/>
                <a:cs typeface="Courier New" pitchFamily="34" charset="-120"/>
              </a:rPr>
              <a:t>30 * 1000</a:t>
            </a:r>
            <a:pPr indent="0" marL="0">
              <a:buNone/>
            </a:pPr>
            <a:r>
              <a:rPr lang="en-US" sz="1200" dirty="0">
                <a:solidFill>
                  <a:srgbClr val="9CDCFE"/>
                </a:solidFill>
                <a:latin typeface="Courier New" pitchFamily="34" charset="0"/>
                <a:ea typeface="Courier New" pitchFamily="34" charset="-122"/>
                <a:cs typeface="Courier New" pitchFamily="34" charset="-120"/>
              </a:rPr>
              <a:t>,        </a:t>
            </a:r>
            <a:pPr indent="0" marL="0">
              <a:buNone/>
            </a:pPr>
            <a:r>
              <a:rPr lang="en-US" sz="1200" i="1" dirty="0">
                <a:solidFill>
                  <a:srgbClr val="6A9955"/>
                </a:solidFill>
                <a:latin typeface="Courier New" pitchFamily="34" charset="0"/>
                <a:ea typeface="Courier New" pitchFamily="34" charset="-122"/>
                <a:cs typeface="Courier New" pitchFamily="34" charset="-120"/>
              </a:rPr>
              <a:t>// 30s — adjust per app</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retry: </a:t>
            </a:r>
            <a:pPr indent="0" marL="0">
              <a:buNone/>
            </a:pPr>
            <a:r>
              <a:rPr lang="en-US" sz="1200" dirty="0">
                <a:solidFill>
                  <a:srgbClr val="9CDCFE"/>
                </a:solidFill>
                <a:latin typeface="Courier New" pitchFamily="34" charset="0"/>
                <a:ea typeface="Courier New" pitchFamily="34" charset="-122"/>
                <a:cs typeface="Courier New" pitchFamily="34" charset="-120"/>
              </a:rPr>
              <a:t>2</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refetchOnWindowFocus: </a:t>
            </a:r>
            <a:pPr indent="0" marL="0">
              <a:buNone/>
            </a:pPr>
            <a:r>
              <a:rPr lang="en-US" sz="1200" dirty="0">
                <a:solidFill>
                  <a:srgbClr val="C586C0"/>
                </a:solidFill>
                <a:latin typeface="Courier New" pitchFamily="34" charset="0"/>
                <a:ea typeface="Courier New" pitchFamily="34" charset="-122"/>
                <a:cs typeface="Courier New" pitchFamily="34" charset="-120"/>
              </a:rPr>
              <a:t>true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DCDCAA"/>
                </a:solidFill>
                <a:latin typeface="Courier New" pitchFamily="34" charset="0"/>
                <a:ea typeface="Courier New" pitchFamily="34" charset="-122"/>
                <a:cs typeface="Courier New" pitchFamily="34" charset="-120"/>
              </a:rPr>
              <a:t>createRoot</a:t>
            </a:r>
            <a:pPr indent="0" marL="0">
              <a:buNone/>
            </a:pPr>
            <a:r>
              <a:rPr lang="en-US" sz="1200" dirty="0">
                <a:solidFill>
                  <a:srgbClr val="9CDCFE"/>
                </a:solidFill>
                <a:latin typeface="Courier New" pitchFamily="34" charset="0"/>
                <a:ea typeface="Courier New" pitchFamily="34" charset="-122"/>
                <a:cs typeface="Courier New" pitchFamily="34" charset="-120"/>
              </a:rPr>
              <a:t>(document.getElementById(</a:t>
            </a:r>
            <a:pPr indent="0" marL="0">
              <a:buNone/>
            </a:pPr>
            <a:r>
              <a:rPr lang="en-US" sz="1200" dirty="0">
                <a:solidFill>
                  <a:srgbClr val="9CDCFE"/>
                </a:solidFill>
                <a:latin typeface="Courier New" pitchFamily="34" charset="0"/>
                <a:ea typeface="Courier New" pitchFamily="34" charset="-122"/>
                <a:cs typeface="Courier New" pitchFamily="34" charset="-120"/>
              </a:rPr>
              <a:t>'root'</a:t>
            </a:r>
            <a:pPr indent="0" marL="0">
              <a:buNone/>
            </a:pPr>
            <a:r>
              <a:rPr lang="en-US" sz="1200" dirty="0">
                <a:solidFill>
                  <a:srgbClr val="FFFFFF"/>
                </a:solidFill>
                <a:latin typeface="Courier New" pitchFamily="34" charset="0"/>
                <a:ea typeface="Courier New" pitchFamily="34" charset="-122"/>
                <a:cs typeface="Courier New" pitchFamily="34" charset="-120"/>
              </a:rPr>
              <a:t>)).render(</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&lt;</a:t>
            </a:r>
            <a:pPr indent="0" marL="0">
              <a:buNone/>
            </a:pPr>
            <a:r>
              <a:rPr lang="en-US" sz="1200" dirty="0">
                <a:solidFill>
                  <a:srgbClr val="DCDCAA"/>
                </a:solidFill>
                <a:latin typeface="Courier New" pitchFamily="34" charset="0"/>
                <a:ea typeface="Courier New" pitchFamily="34" charset="-122"/>
                <a:cs typeface="Courier New" pitchFamily="34" charset="-120"/>
              </a:rPr>
              <a:t>QueryClientProvider </a:t>
            </a:r>
            <a:pPr indent="0" marL="0">
              <a:buNone/>
            </a:pPr>
            <a:r>
              <a:rPr lang="en-US" sz="1200" dirty="0">
                <a:solidFill>
                  <a:srgbClr val="9CDCFE"/>
                </a:solidFill>
                <a:latin typeface="Courier New" pitchFamily="34" charset="0"/>
                <a:ea typeface="Courier New" pitchFamily="34" charset="-122"/>
                <a:cs typeface="Courier New" pitchFamily="34" charset="-120"/>
              </a:rPr>
              <a:t>client={queryClient}&gt;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&lt;App /&gt;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&lt;/</a:t>
            </a:r>
            <a:pPr indent="0" marL="0">
              <a:buNone/>
            </a:pPr>
            <a:r>
              <a:rPr lang="en-US" sz="1200" dirty="0">
                <a:solidFill>
                  <a:srgbClr val="DCDCAA"/>
                </a:solidFill>
                <a:latin typeface="Courier New" pitchFamily="34" charset="0"/>
                <a:ea typeface="Courier New" pitchFamily="34" charset="-122"/>
                <a:cs typeface="Courier New" pitchFamily="34" charset="-120"/>
              </a:rPr>
              <a:t>QueryClientProvider</a:t>
            </a:r>
            <a:pPr indent="0" marL="0">
              <a:buNone/>
            </a:pPr>
            <a:r>
              <a:rPr lang="en-US" sz="1200" dirty="0">
                <a:solidFill>
                  <a:srgbClr val="9CDCFE"/>
                </a:solidFill>
                <a:latin typeface="Courier New" pitchFamily="34" charset="0"/>
                <a:ea typeface="Courier New" pitchFamily="34" charset="-122"/>
                <a:cs typeface="Courier New" pitchFamily="34" charset="-120"/>
              </a:rPr>
              <a:t>&gt;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10 / 27</a:t>
            </a:r>
            <a:endParaRPr lang="en-US"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useQuery — read data</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queryKey identifies the data. queryFn fetches it. Everything else has good defaults.</a:t>
            </a:r>
            <a:endParaRPr lang="en-US" sz="1400" dirty="0"/>
          </a:p>
        </p:txBody>
      </p:sp>
      <p:sp>
        <p:nvSpPr>
          <p:cNvPr id="5" name="Shape 3"/>
          <p:cNvSpPr/>
          <p:nvPr/>
        </p:nvSpPr>
        <p:spPr>
          <a:xfrm>
            <a:off x="777240" y="1554480"/>
            <a:ext cx="10607040" cy="45720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4297680"/>
          </a:xfrm>
          <a:prstGeom prst="rect">
            <a:avLst/>
          </a:prstGeom>
          <a:noFill/>
          <a:ln/>
        </p:spPr>
        <p:txBody>
          <a:bodyPr wrap="square" lIns="0" tIns="0" rIns="0" bIns="0" rtlCol="0" anchor="t"/>
          <a:lstStyle/>
          <a:p>
            <a:pPr indent="0" marL="0">
              <a:buNone/>
            </a:pPr>
            <a:r>
              <a:rPr lang="en-US" sz="1200" dirty="0">
                <a:solidFill>
                  <a:srgbClr val="C586C0"/>
                </a:solidFill>
                <a:latin typeface="Courier New" pitchFamily="34" charset="0"/>
                <a:ea typeface="Courier New" pitchFamily="34" charset="-122"/>
                <a:cs typeface="Courier New" pitchFamily="34" charset="-120"/>
              </a:rPr>
              <a:t>function </a:t>
            </a:r>
            <a:pPr indent="0" marL="0">
              <a:buNone/>
            </a:pPr>
            <a:r>
              <a:rPr lang="en-US" sz="1200" dirty="0">
                <a:solidFill>
                  <a:srgbClr val="DCDCAA"/>
                </a:solidFill>
                <a:latin typeface="Courier New" pitchFamily="34" charset="0"/>
                <a:ea typeface="Courier New" pitchFamily="34" charset="-122"/>
                <a:cs typeface="Courier New" pitchFamily="34" charset="-120"/>
              </a:rPr>
              <a:t>PostDetail</a:t>
            </a:r>
            <a:pPr indent="0" marL="0">
              <a:buNone/>
            </a:pPr>
            <a:r>
              <a:rPr lang="en-US" sz="1200" dirty="0">
                <a:solidFill>
                  <a:srgbClr val="FFFFFF"/>
                </a:solidFill>
                <a:latin typeface="Courier New" pitchFamily="34" charset="0"/>
                <a:ea typeface="Courier New" pitchFamily="34" charset="-122"/>
                <a:cs typeface="Courier New" pitchFamily="34" charset="-120"/>
              </a:rPr>
              <a:t>({ id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 data, isPending, isError, error, refetch } = </a:t>
            </a:r>
            <a:pPr indent="0" marL="0">
              <a:buNone/>
            </a:pPr>
            <a:r>
              <a:rPr lang="en-US" sz="1200" dirty="0">
                <a:solidFill>
                  <a:srgbClr val="DCDCAA"/>
                </a:solidFill>
                <a:latin typeface="Courier New" pitchFamily="34" charset="0"/>
                <a:ea typeface="Courier New" pitchFamily="34" charset="-122"/>
                <a:cs typeface="Courier New" pitchFamily="34" charset="-120"/>
              </a:rPr>
              <a:t>useQuery</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queryKey: [</a:t>
            </a:r>
            <a:pPr indent="0" marL="0">
              <a:buNone/>
            </a:pPr>
            <a:r>
              <a:rPr lang="en-US" sz="1200" dirty="0">
                <a:solidFill>
                  <a:srgbClr val="9CDCFE"/>
                </a:solidFill>
                <a:latin typeface="Courier New" pitchFamily="34" charset="0"/>
                <a:ea typeface="Courier New" pitchFamily="34" charset="-122"/>
                <a:cs typeface="Courier New" pitchFamily="34" charset="-120"/>
              </a:rPr>
              <a:t>'posts'</a:t>
            </a:r>
            <a:pPr indent="0" marL="0">
              <a:buNone/>
            </a:pPr>
            <a:r>
              <a:rPr lang="en-US" sz="1200" dirty="0">
                <a:solidFill>
                  <a:srgbClr val="9CDCFE"/>
                </a:solidFill>
                <a:latin typeface="Courier New" pitchFamily="34" charset="0"/>
                <a:ea typeface="Courier New" pitchFamily="34" charset="-122"/>
                <a:cs typeface="Courier New" pitchFamily="34" charset="-120"/>
              </a:rPr>
              <a:t>, id],          </a:t>
            </a:r>
            <a:pPr indent="0" marL="0">
              <a:buNone/>
            </a:pPr>
            <a:r>
              <a:rPr lang="en-US" sz="1200" i="1" dirty="0">
                <a:solidFill>
                  <a:srgbClr val="6A9955"/>
                </a:solidFill>
                <a:latin typeface="Courier New" pitchFamily="34" charset="0"/>
                <a:ea typeface="Courier New" pitchFamily="34" charset="-122"/>
                <a:cs typeface="Courier New" pitchFamily="34" charset="-120"/>
              </a:rPr>
              <a:t>// unique cache key</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queryFn: () =&gt; api.getPost(id), </a:t>
            </a:r>
            <a:pPr indent="0" marL="0">
              <a:buNone/>
            </a:pPr>
            <a:r>
              <a:rPr lang="en-US" sz="1200" i="1" dirty="0">
                <a:solidFill>
                  <a:srgbClr val="6A9955"/>
                </a:solidFill>
                <a:latin typeface="Courier New" pitchFamily="34" charset="0"/>
                <a:ea typeface="Courier New" pitchFamily="34" charset="-122"/>
                <a:cs typeface="Courier New" pitchFamily="34" charset="-120"/>
              </a:rPr>
              <a:t>// must return a promise</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staleTime: </a:t>
            </a:r>
            <a:pPr indent="0" marL="0">
              <a:buNone/>
            </a:pPr>
            <a:r>
              <a:rPr lang="en-US" sz="1200" dirty="0">
                <a:solidFill>
                  <a:srgbClr val="9CDCFE"/>
                </a:solidFill>
                <a:latin typeface="Courier New" pitchFamily="34" charset="0"/>
                <a:ea typeface="Courier New" pitchFamily="34" charset="-122"/>
                <a:cs typeface="Courier New" pitchFamily="34" charset="-120"/>
              </a:rPr>
              <a:t>60 * 1000</a:t>
            </a:r>
            <a:pPr indent="0" marL="0">
              <a:buNone/>
            </a:pPr>
            <a:r>
              <a:rPr lang="en-US" sz="1200" dirty="0">
                <a:solidFill>
                  <a:srgbClr val="9CDCFE"/>
                </a:solidFill>
                <a:latin typeface="Courier New" pitchFamily="34" charset="0"/>
                <a:ea typeface="Courier New" pitchFamily="34" charset="-122"/>
                <a:cs typeface="Courier New" pitchFamily="34" charset="-120"/>
              </a:rPr>
              <a:t>,          </a:t>
            </a:r>
            <a:pPr indent="0" marL="0">
              <a:buNone/>
            </a:pPr>
            <a:r>
              <a:rPr lang="en-US" sz="1200" i="1" dirty="0">
                <a:solidFill>
                  <a:srgbClr val="6A9955"/>
                </a:solidFill>
                <a:latin typeface="Courier New" pitchFamily="34" charset="0"/>
                <a:ea typeface="Courier New" pitchFamily="34" charset="-122"/>
                <a:cs typeface="Courier New" pitchFamily="34" charset="-120"/>
              </a:rPr>
              <a:t>// override per-query</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enabled: !!id,                </a:t>
            </a:r>
            <a:pPr indent="0" marL="0">
              <a:buNone/>
            </a:pPr>
            <a:r>
              <a:rPr lang="en-US" sz="1200" i="1" dirty="0">
                <a:solidFill>
                  <a:srgbClr val="6A9955"/>
                </a:solidFill>
                <a:latin typeface="Courier New" pitchFamily="34" charset="0"/>
                <a:ea typeface="Courier New" pitchFamily="34" charset="-122"/>
                <a:cs typeface="Courier New" pitchFamily="34" charset="-120"/>
              </a:rPr>
              <a:t>// skip if no id yet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if (isPending) </a:t>
            </a:r>
            <a:pPr indent="0" marL="0">
              <a:buNone/>
            </a:pPr>
            <a:r>
              <a:rPr lang="en-US" sz="1200" dirty="0">
                <a:solidFill>
                  <a:srgbClr val="9CDCFE"/>
                </a:solidFill>
                <a:latin typeface="Courier New" pitchFamily="34" charset="0"/>
                <a:ea typeface="Courier New" pitchFamily="34" charset="-122"/>
                <a:cs typeface="Courier New" pitchFamily="34" charset="-120"/>
              </a:rPr>
              <a:t>return &lt;Skeleton /&gt;;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if (isError) </a:t>
            </a:r>
            <a:pPr indent="0" marL="0">
              <a:buNone/>
            </a:pPr>
            <a:r>
              <a:rPr lang="en-US" sz="1200" dirty="0">
                <a:solidFill>
                  <a:srgbClr val="9CDCFE"/>
                </a:solidFill>
                <a:latin typeface="Courier New" pitchFamily="34" charset="0"/>
                <a:ea typeface="Courier New" pitchFamily="34" charset="-122"/>
                <a:cs typeface="Courier New" pitchFamily="34" charset="-120"/>
              </a:rPr>
              <a:t>return &lt;ErrorBox error={error} onRetry={refetch}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&lt;Article post={data}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11 / 27</a:t>
            </a:r>
            <a:endParaRPr lang="en-US" sz="9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Query keys are the cache contract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Two queries with the same key share a cache entry. Get the keys right and everything else falls into place.</a:t>
            </a:r>
            <a:endParaRPr lang="en-US" sz="1400" dirty="0"/>
          </a:p>
        </p:txBody>
      </p:sp>
      <p:sp>
        <p:nvSpPr>
          <p:cNvPr id="5" name="Text 3"/>
          <p:cNvSpPr/>
          <p:nvPr/>
        </p:nvSpPr>
        <p:spPr>
          <a:xfrm>
            <a:off x="777240" y="1554480"/>
            <a:ext cx="1060704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Conventions worth adopting</a:t>
            </a:r>
            <a:endParaRPr lang="en-US" sz="1400" dirty="0"/>
          </a:p>
        </p:txBody>
      </p:sp>
      <p:sp>
        <p:nvSpPr>
          <p:cNvPr id="6" name="Shape 4"/>
          <p:cNvSpPr/>
          <p:nvPr/>
        </p:nvSpPr>
        <p:spPr>
          <a:xfrm>
            <a:off x="777240" y="2011680"/>
            <a:ext cx="10607040" cy="822960"/>
          </a:xfrm>
          <a:prstGeom prst="rect">
            <a:avLst/>
          </a:prstGeom>
          <a:solidFill>
            <a:srgbClr val="FFFFFF"/>
          </a:solidFill>
          <a:ln w="12700">
            <a:solidFill>
              <a:srgbClr val="E2E8F0"/>
            </a:solidFill>
            <a:prstDash val="solid"/>
          </a:ln>
        </p:spPr>
      </p:sp>
      <p:pic>
        <p:nvPicPr>
          <p:cNvPr id="7" name="Image 0" descr="preencoded.png">    </p:cNvPr>
          <p:cNvPicPr>
            <a:picLocks noChangeAspect="1"/>
          </p:cNvPicPr>
          <p:nvPr/>
        </p:nvPicPr>
        <p:blipFill>
          <a:blip r:embed="rId1"/>
          <a:stretch>
            <a:fillRect/>
          </a:stretch>
        </p:blipFill>
        <p:spPr>
          <a:xfrm>
            <a:off x="960120" y="2176272"/>
            <a:ext cx="502920" cy="502920"/>
          </a:xfrm>
          <a:prstGeom prst="rect">
            <a:avLst/>
          </a:prstGeom>
        </p:spPr>
      </p:pic>
      <p:sp>
        <p:nvSpPr>
          <p:cNvPr id="8" name="Text 5"/>
          <p:cNvSpPr/>
          <p:nvPr/>
        </p:nvSpPr>
        <p:spPr>
          <a:xfrm>
            <a:off x="1691640" y="2084832"/>
            <a:ext cx="9601200" cy="365760"/>
          </a:xfrm>
          <a:prstGeom prst="rect">
            <a:avLst/>
          </a:prstGeom>
          <a:noFill/>
          <a:ln/>
        </p:spPr>
        <p:txBody>
          <a:bodyPr wrap="square" lIns="0" tIns="0" rIns="0" bIns="0" rtlCol="0" anchor="ctr"/>
          <a:lstStyle/>
          <a:p>
            <a:pPr indent="0" marL="0">
              <a:buNone/>
            </a:pPr>
            <a:r>
              <a:rPr lang="en-US" sz="1300" b="1" dirty="0">
                <a:solidFill>
                  <a:srgbClr val="0F172A"/>
                </a:solidFill>
                <a:latin typeface="Courier New" pitchFamily="34" charset="0"/>
                <a:ea typeface="Courier New" pitchFamily="34" charset="-122"/>
                <a:cs typeface="Courier New" pitchFamily="34" charset="-120"/>
              </a:rPr>
              <a:t>Hierarchical: ['posts'], ['posts', id], ['posts', id, 'comments']</a:t>
            </a:r>
            <a:endParaRPr lang="en-US" sz="1300" dirty="0"/>
          </a:p>
        </p:txBody>
      </p:sp>
      <p:sp>
        <p:nvSpPr>
          <p:cNvPr id="9" name="Text 6"/>
          <p:cNvSpPr/>
          <p:nvPr/>
        </p:nvSpPr>
        <p:spPr>
          <a:xfrm>
            <a:off x="1691640" y="2423160"/>
            <a:ext cx="9601200" cy="41148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Lets you invalidate ['posts'] to wipe everything posts-related.</a:t>
            </a:r>
            <a:endParaRPr lang="en-US" sz="1150" dirty="0"/>
          </a:p>
        </p:txBody>
      </p:sp>
      <p:sp>
        <p:nvSpPr>
          <p:cNvPr id="10" name="Shape 7"/>
          <p:cNvSpPr/>
          <p:nvPr/>
        </p:nvSpPr>
        <p:spPr>
          <a:xfrm>
            <a:off x="777240" y="2971800"/>
            <a:ext cx="10607040" cy="822960"/>
          </a:xfrm>
          <a:prstGeom prst="rect">
            <a:avLst/>
          </a:prstGeom>
          <a:solidFill>
            <a:srgbClr val="FFFFFF"/>
          </a:solidFill>
          <a:ln w="12700">
            <a:solidFill>
              <a:srgbClr val="E2E8F0"/>
            </a:solidFill>
            <a:prstDash val="solid"/>
          </a:ln>
        </p:spPr>
      </p:sp>
      <p:pic>
        <p:nvPicPr>
          <p:cNvPr id="11" name="Image 1" descr="preencoded.png">    </p:cNvPr>
          <p:cNvPicPr>
            <a:picLocks noChangeAspect="1"/>
          </p:cNvPicPr>
          <p:nvPr/>
        </p:nvPicPr>
        <p:blipFill>
          <a:blip r:embed="rId2"/>
          <a:stretch>
            <a:fillRect/>
          </a:stretch>
        </p:blipFill>
        <p:spPr>
          <a:xfrm>
            <a:off x="960120" y="3136392"/>
            <a:ext cx="502920" cy="502920"/>
          </a:xfrm>
          <a:prstGeom prst="rect">
            <a:avLst/>
          </a:prstGeom>
        </p:spPr>
      </p:pic>
      <p:sp>
        <p:nvSpPr>
          <p:cNvPr id="12" name="Text 8"/>
          <p:cNvSpPr/>
          <p:nvPr/>
        </p:nvSpPr>
        <p:spPr>
          <a:xfrm>
            <a:off x="1691640" y="3044952"/>
            <a:ext cx="9601200" cy="365760"/>
          </a:xfrm>
          <a:prstGeom prst="rect">
            <a:avLst/>
          </a:prstGeom>
          <a:noFill/>
          <a:ln/>
        </p:spPr>
        <p:txBody>
          <a:bodyPr wrap="square" lIns="0" tIns="0" rIns="0" bIns="0" rtlCol="0" anchor="ctr"/>
          <a:lstStyle/>
          <a:p>
            <a:pPr indent="0" marL="0">
              <a:buNone/>
            </a:pPr>
            <a:r>
              <a:rPr lang="en-US" sz="1300" b="1" dirty="0">
                <a:solidFill>
                  <a:srgbClr val="0F172A"/>
                </a:solidFill>
                <a:latin typeface="Courier New" pitchFamily="34" charset="0"/>
                <a:ea typeface="Courier New" pitchFamily="34" charset="-122"/>
                <a:cs typeface="Courier New" pitchFamily="34" charset="-120"/>
              </a:rPr>
              <a:t>Include parameters: ['posts', { search, page }]</a:t>
            </a:r>
            <a:endParaRPr lang="en-US" sz="1300" dirty="0"/>
          </a:p>
        </p:txBody>
      </p:sp>
      <p:sp>
        <p:nvSpPr>
          <p:cNvPr id="13" name="Text 9"/>
          <p:cNvSpPr/>
          <p:nvPr/>
        </p:nvSpPr>
        <p:spPr>
          <a:xfrm>
            <a:off x="1691640" y="3383280"/>
            <a:ext cx="9601200" cy="41148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Different searches get different cache entries. Identical params share.</a:t>
            </a:r>
            <a:endParaRPr lang="en-US" sz="1150" dirty="0"/>
          </a:p>
        </p:txBody>
      </p:sp>
      <p:sp>
        <p:nvSpPr>
          <p:cNvPr id="14" name="Shape 10"/>
          <p:cNvSpPr/>
          <p:nvPr/>
        </p:nvSpPr>
        <p:spPr>
          <a:xfrm>
            <a:off x="777240" y="3931920"/>
            <a:ext cx="10607040" cy="822960"/>
          </a:xfrm>
          <a:prstGeom prst="rect">
            <a:avLst/>
          </a:prstGeom>
          <a:solidFill>
            <a:srgbClr val="FFFFFF"/>
          </a:solidFill>
          <a:ln w="12700">
            <a:solidFill>
              <a:srgbClr val="E2E8F0"/>
            </a:solidFill>
            <a:prstDash val="solid"/>
          </a:ln>
        </p:spPr>
      </p:sp>
      <p:pic>
        <p:nvPicPr>
          <p:cNvPr id="15" name="Image 2" descr="preencoded.png">    </p:cNvPr>
          <p:cNvPicPr>
            <a:picLocks noChangeAspect="1"/>
          </p:cNvPicPr>
          <p:nvPr/>
        </p:nvPicPr>
        <p:blipFill>
          <a:blip r:embed="rId3"/>
          <a:stretch>
            <a:fillRect/>
          </a:stretch>
        </p:blipFill>
        <p:spPr>
          <a:xfrm>
            <a:off x="960120" y="4096512"/>
            <a:ext cx="502920" cy="502920"/>
          </a:xfrm>
          <a:prstGeom prst="rect">
            <a:avLst/>
          </a:prstGeom>
        </p:spPr>
      </p:pic>
      <p:sp>
        <p:nvSpPr>
          <p:cNvPr id="16" name="Text 11"/>
          <p:cNvSpPr/>
          <p:nvPr/>
        </p:nvSpPr>
        <p:spPr>
          <a:xfrm>
            <a:off x="1691640" y="4005072"/>
            <a:ext cx="9601200" cy="365760"/>
          </a:xfrm>
          <a:prstGeom prst="rect">
            <a:avLst/>
          </a:prstGeom>
          <a:noFill/>
          <a:ln/>
        </p:spPr>
        <p:txBody>
          <a:bodyPr wrap="square" lIns="0" tIns="0" rIns="0" bIns="0" rtlCol="0" anchor="ctr"/>
          <a:lstStyle/>
          <a:p>
            <a:pPr indent="0" marL="0">
              <a:buNone/>
            </a:pPr>
            <a:r>
              <a:rPr lang="en-US" sz="1300" b="1" dirty="0">
                <a:solidFill>
                  <a:srgbClr val="0F172A"/>
                </a:solidFill>
                <a:latin typeface="Courier New" pitchFamily="34" charset="0"/>
                <a:ea typeface="Courier New" pitchFamily="34" charset="-122"/>
                <a:cs typeface="Courier New" pitchFamily="34" charset="-120"/>
              </a:rPr>
              <a:t>Avoid mutable references: ['posts', new Date()]</a:t>
            </a:r>
            <a:endParaRPr lang="en-US" sz="1300" dirty="0"/>
          </a:p>
        </p:txBody>
      </p:sp>
      <p:sp>
        <p:nvSpPr>
          <p:cNvPr id="17" name="Text 12"/>
          <p:cNvSpPr/>
          <p:nvPr/>
        </p:nvSpPr>
        <p:spPr>
          <a:xfrm>
            <a:off x="1691640" y="4343400"/>
            <a:ext cx="9601200" cy="41148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New key every render — cache miss every time.</a:t>
            </a:r>
            <a:endParaRPr lang="en-US" sz="1150" dirty="0"/>
          </a:p>
        </p:txBody>
      </p:sp>
      <p:sp>
        <p:nvSpPr>
          <p:cNvPr id="18" name="Shape 13"/>
          <p:cNvSpPr/>
          <p:nvPr/>
        </p:nvSpPr>
        <p:spPr>
          <a:xfrm>
            <a:off x="777240" y="4892040"/>
            <a:ext cx="10607040" cy="822960"/>
          </a:xfrm>
          <a:prstGeom prst="rect">
            <a:avLst/>
          </a:prstGeom>
          <a:solidFill>
            <a:srgbClr val="FFFFFF"/>
          </a:solidFill>
          <a:ln w="12700">
            <a:solidFill>
              <a:srgbClr val="E2E8F0"/>
            </a:solidFill>
            <a:prstDash val="solid"/>
          </a:ln>
        </p:spPr>
      </p:sp>
      <p:pic>
        <p:nvPicPr>
          <p:cNvPr id="19" name="Image 3" descr="preencoded.png">    </p:cNvPr>
          <p:cNvPicPr>
            <a:picLocks noChangeAspect="1"/>
          </p:cNvPicPr>
          <p:nvPr/>
        </p:nvPicPr>
        <p:blipFill>
          <a:blip r:embed="rId4"/>
          <a:stretch>
            <a:fillRect/>
          </a:stretch>
        </p:blipFill>
        <p:spPr>
          <a:xfrm>
            <a:off x="960120" y="5056632"/>
            <a:ext cx="502920" cy="502920"/>
          </a:xfrm>
          <a:prstGeom prst="rect">
            <a:avLst/>
          </a:prstGeom>
        </p:spPr>
      </p:pic>
      <p:sp>
        <p:nvSpPr>
          <p:cNvPr id="20" name="Text 14"/>
          <p:cNvSpPr/>
          <p:nvPr/>
        </p:nvSpPr>
        <p:spPr>
          <a:xfrm>
            <a:off x="1691640" y="4965192"/>
            <a:ext cx="9601200" cy="365760"/>
          </a:xfrm>
          <a:prstGeom prst="rect">
            <a:avLst/>
          </a:prstGeom>
          <a:noFill/>
          <a:ln/>
        </p:spPr>
        <p:txBody>
          <a:bodyPr wrap="square" lIns="0" tIns="0" rIns="0" bIns="0" rtlCol="0" anchor="ctr"/>
          <a:lstStyle/>
          <a:p>
            <a:pPr indent="0" marL="0">
              <a:buNone/>
            </a:pPr>
            <a:r>
              <a:rPr lang="en-US" sz="1300" b="1" dirty="0">
                <a:solidFill>
                  <a:srgbClr val="0F172A"/>
                </a:solidFill>
                <a:latin typeface="Courier New" pitchFamily="34" charset="0"/>
                <a:ea typeface="Courier New" pitchFamily="34" charset="-122"/>
                <a:cs typeface="Courier New" pitchFamily="34" charset="-120"/>
              </a:rPr>
              <a:t>Centralize key factories: queryKeys.posts.detail(id)</a:t>
            </a:r>
            <a:endParaRPr lang="en-US" sz="1300" dirty="0"/>
          </a:p>
        </p:txBody>
      </p:sp>
      <p:sp>
        <p:nvSpPr>
          <p:cNvPr id="21" name="Text 15"/>
          <p:cNvSpPr/>
          <p:nvPr/>
        </p:nvSpPr>
        <p:spPr>
          <a:xfrm>
            <a:off x="1691640" y="5303520"/>
            <a:ext cx="9601200" cy="41148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Refactor-friendly. Catches typos at build time.</a:t>
            </a:r>
            <a:endParaRPr lang="en-US" sz="1150" dirty="0"/>
          </a:p>
        </p:txBody>
      </p:sp>
      <p:sp>
        <p:nvSpPr>
          <p:cNvPr id="22" name="Text 1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23" name="Text 1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12 / 27</a:t>
            </a:r>
            <a:endParaRPr lang="en-US" sz="9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useMutation — write data</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mutationFn does the writing. onSuccess invalidates queries. The hook tracks pending and error.</a:t>
            </a:r>
            <a:endParaRPr lang="en-US" sz="1400" dirty="0"/>
          </a:p>
        </p:txBody>
      </p:sp>
      <p:sp>
        <p:nvSpPr>
          <p:cNvPr id="5" name="Shape 3"/>
          <p:cNvSpPr/>
          <p:nvPr/>
        </p:nvSpPr>
        <p:spPr>
          <a:xfrm>
            <a:off x="777240" y="1554480"/>
            <a:ext cx="10607040" cy="45720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4297680"/>
          </a:xfrm>
          <a:prstGeom prst="rect">
            <a:avLst/>
          </a:prstGeom>
          <a:noFill/>
          <a:ln/>
        </p:spPr>
        <p:txBody>
          <a:bodyPr wrap="square" lIns="0" tIns="0" rIns="0" bIns="0" rtlCol="0" anchor="t"/>
          <a:lstStyle/>
          <a:p>
            <a:pPr indent="0" marL="0">
              <a:buNone/>
            </a:pPr>
            <a:r>
              <a:rPr lang="en-US" sz="1200" dirty="0">
                <a:solidFill>
                  <a:srgbClr val="C586C0"/>
                </a:solidFill>
                <a:latin typeface="Courier New" pitchFamily="34" charset="0"/>
                <a:ea typeface="Courier New" pitchFamily="34" charset="-122"/>
                <a:cs typeface="Courier New" pitchFamily="34" charset="-120"/>
              </a:rPr>
              <a:t>function </a:t>
            </a:r>
            <a:pPr indent="0" marL="0">
              <a:buNone/>
            </a:pPr>
            <a:r>
              <a:rPr lang="en-US" sz="1200" dirty="0">
                <a:solidFill>
                  <a:srgbClr val="DCDCAA"/>
                </a:solidFill>
                <a:latin typeface="Courier New" pitchFamily="34" charset="0"/>
                <a:ea typeface="Courier New" pitchFamily="34" charset="-122"/>
                <a:cs typeface="Courier New" pitchFamily="34" charset="-120"/>
              </a:rPr>
              <a:t>NewPostForm</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const queryClient = </a:t>
            </a:r>
            <a:pPr indent="0" marL="0">
              <a:buNone/>
            </a:pPr>
            <a:r>
              <a:rPr lang="en-US" sz="1200" dirty="0">
                <a:solidFill>
                  <a:srgbClr val="DCDCAA"/>
                </a:solidFill>
                <a:latin typeface="Courier New" pitchFamily="34" charset="0"/>
                <a:ea typeface="Courier New" pitchFamily="34" charset="-122"/>
                <a:cs typeface="Courier New" pitchFamily="34" charset="-120"/>
              </a:rPr>
              <a:t>useQueryClient</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 mutate, isPending, isError, error } = </a:t>
            </a:r>
            <a:pPr indent="0" marL="0">
              <a:buNone/>
            </a:pPr>
            <a:r>
              <a:rPr lang="en-US" sz="1200" dirty="0">
                <a:solidFill>
                  <a:srgbClr val="DCDCAA"/>
                </a:solidFill>
                <a:latin typeface="Courier New" pitchFamily="34" charset="0"/>
                <a:ea typeface="Courier New" pitchFamily="34" charset="-122"/>
                <a:cs typeface="Courier New" pitchFamily="34" charset="-120"/>
              </a:rPr>
              <a:t>useMutation</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mutationFn: (newPost) =&gt; api.createPost(newPost),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onSuccess: () =&gt; {</a:t>
            </a:r>
            <a:endParaRPr lang="en-US" sz="1200" dirty="0"/>
          </a:p>
          <a:p>
            <a:pPr indent="0" marL="0">
              <a:buNone/>
            </a:pPr>
            <a:r>
              <a:rPr lang="en-US" sz="1200" dirty="0">
                <a:solidFill>
                  <a:srgbClr val="DCDCAA"/>
                </a:solidFill>
                <a:latin typeface="Courier New" pitchFamily="34" charset="0"/>
                <a:ea typeface="Courier New" pitchFamily="34" charset="-122"/>
                <a:cs typeface="Courier New" pitchFamily="34" charset="-120"/>
              </a:rPr>
              <a:t>      queryClient.</a:t>
            </a:r>
            <a:pPr indent="0" marL="0">
              <a:buNone/>
            </a:pPr>
            <a:r>
              <a:rPr lang="en-US" sz="1200" dirty="0">
                <a:solidFill>
                  <a:srgbClr val="DCDCAA"/>
                </a:solidFill>
                <a:latin typeface="Courier New" pitchFamily="34" charset="0"/>
                <a:ea typeface="Courier New" pitchFamily="34" charset="-122"/>
                <a:cs typeface="Courier New" pitchFamily="34" charset="-120"/>
              </a:rPr>
              <a:t>invalidateQueries</a:t>
            </a:r>
            <a:pPr indent="0" marL="0">
              <a:buNone/>
            </a:pPr>
            <a:r>
              <a:rPr lang="en-US" sz="1200" dirty="0">
                <a:solidFill>
                  <a:srgbClr val="9CDCFE"/>
                </a:solidFill>
                <a:latin typeface="Courier New" pitchFamily="34" charset="0"/>
                <a:ea typeface="Courier New" pitchFamily="34" charset="-122"/>
                <a:cs typeface="Courier New" pitchFamily="34" charset="-120"/>
              </a:rPr>
              <a:t>({ queryKey: [</a:t>
            </a:r>
            <a:pPr indent="0" marL="0">
              <a:buNone/>
            </a:pPr>
            <a:r>
              <a:rPr lang="en-US" sz="1200" dirty="0">
                <a:solidFill>
                  <a:srgbClr val="9CDCFE"/>
                </a:solidFill>
                <a:latin typeface="Courier New" pitchFamily="34" charset="0"/>
                <a:ea typeface="Courier New" pitchFamily="34" charset="-122"/>
                <a:cs typeface="Courier New" pitchFamily="34" charset="-120"/>
              </a:rPr>
              <a:t>'posts'</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function </a:t>
            </a:r>
            <a:pPr indent="0" marL="0">
              <a:buNone/>
            </a:pPr>
            <a:r>
              <a:rPr lang="en-US" sz="1200" dirty="0">
                <a:solidFill>
                  <a:srgbClr val="DCDCAA"/>
                </a:solidFill>
                <a:latin typeface="Courier New" pitchFamily="34" charset="0"/>
                <a:ea typeface="Courier New" pitchFamily="34" charset="-122"/>
                <a:cs typeface="Courier New" pitchFamily="34" charset="-120"/>
              </a:rPr>
              <a:t>handleSubmit</a:t>
            </a:r>
            <a:pPr indent="0" marL="0">
              <a:buNone/>
            </a:pPr>
            <a:r>
              <a:rPr lang="en-US" sz="1200" dirty="0">
                <a:solidFill>
                  <a:srgbClr val="FFFFFF"/>
                </a:solidFill>
                <a:latin typeface="Courier New" pitchFamily="34" charset="0"/>
                <a:ea typeface="Courier New" pitchFamily="34" charset="-122"/>
                <a:cs typeface="Courier New" pitchFamily="34" charset="-120"/>
              </a:rPr>
              <a:t>(formData) {</a:t>
            </a:r>
            <a:endParaRPr lang="en-US" sz="1200" dirty="0"/>
          </a:p>
          <a:p>
            <a:pPr indent="0" marL="0">
              <a:buNone/>
            </a:pPr>
            <a:r>
              <a:rPr lang="en-US" sz="1200" dirty="0">
                <a:solidFill>
                  <a:srgbClr val="DCDCAA"/>
                </a:solidFill>
                <a:latin typeface="Courier New" pitchFamily="34" charset="0"/>
                <a:ea typeface="Courier New" pitchFamily="34" charset="-122"/>
                <a:cs typeface="Courier New" pitchFamily="34" charset="-120"/>
              </a:rPr>
              <a:t>    mutate({ title: formData.get(</a:t>
            </a:r>
            <a:pPr indent="0" marL="0">
              <a:buNone/>
            </a:pPr>
            <a:r>
              <a:rPr lang="en-US" sz="1200" dirty="0">
                <a:solidFill>
                  <a:srgbClr val="9CDCFE"/>
                </a:solidFill>
                <a:latin typeface="Courier New" pitchFamily="34" charset="0"/>
                <a:ea typeface="Courier New" pitchFamily="34" charset="-122"/>
                <a:cs typeface="Courier New" pitchFamily="34" charset="-120"/>
              </a:rPr>
              <a:t>'title'</a:t>
            </a:r>
            <a:pPr indent="0" marL="0">
              <a:buNone/>
            </a:pPr>
            <a:r>
              <a:rPr lang="en-US" sz="1200" dirty="0">
                <a:solidFill>
                  <a:srgbClr val="DCDCAA"/>
                </a:solidFill>
                <a:latin typeface="Courier New" pitchFamily="34" charset="0"/>
                <a:ea typeface="Courier New" pitchFamily="34" charset="-122"/>
                <a:cs typeface="Courier New" pitchFamily="34" charset="-120"/>
              </a:rPr>
              <a:t>), body: formData.get(</a:t>
            </a:r>
            <a:pPr indent="0" marL="0">
              <a:buNone/>
            </a:pPr>
            <a:r>
              <a:rPr lang="en-US" sz="1200" dirty="0">
                <a:solidFill>
                  <a:srgbClr val="9CDCFE"/>
                </a:solidFill>
                <a:latin typeface="Courier New" pitchFamily="34" charset="0"/>
                <a:ea typeface="Courier New" pitchFamily="34" charset="-122"/>
                <a:cs typeface="Courier New" pitchFamily="34" charset="-120"/>
              </a:rPr>
              <a:t>'body'</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&lt;form action={handleSubmit}&gt; ... &lt;button disabled={isPending}&gt;Post&lt;/button&gt;&lt;/form&gt;;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13 / 27</a:t>
            </a:r>
            <a:endParaRPr lang="en-US" sz="9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Invalidation — the heart of cache management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After a mutation, tell the cache what's stale. TanStack refetches in the background.</a:t>
            </a:r>
            <a:endParaRPr lang="en-US" sz="1400" dirty="0"/>
          </a:p>
        </p:txBody>
      </p:sp>
      <p:sp>
        <p:nvSpPr>
          <p:cNvPr id="5" name="Shape 3"/>
          <p:cNvSpPr/>
          <p:nvPr/>
        </p:nvSpPr>
        <p:spPr>
          <a:xfrm>
            <a:off x="777240" y="1691640"/>
            <a:ext cx="10607040" cy="914400"/>
          </a:xfrm>
          <a:prstGeom prst="rect">
            <a:avLst/>
          </a:prstGeom>
          <a:solidFill>
            <a:srgbClr val="FFFFFF"/>
          </a:solidFill>
          <a:ln w="12700">
            <a:solidFill>
              <a:srgbClr val="E2E8F0"/>
            </a:solidFill>
            <a:prstDash val="solid"/>
          </a:ln>
        </p:spPr>
      </p:sp>
      <p:sp>
        <p:nvSpPr>
          <p:cNvPr id="6" name="Text 4"/>
          <p:cNvSpPr/>
          <p:nvPr/>
        </p:nvSpPr>
        <p:spPr>
          <a:xfrm>
            <a:off x="960120" y="1783080"/>
            <a:ext cx="969264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Invalidate one entry</a:t>
            </a:r>
            <a:endParaRPr lang="en-US" sz="1350" dirty="0"/>
          </a:p>
        </p:txBody>
      </p:sp>
      <p:sp>
        <p:nvSpPr>
          <p:cNvPr id="7" name="Shape 5"/>
          <p:cNvSpPr/>
          <p:nvPr/>
        </p:nvSpPr>
        <p:spPr>
          <a:xfrm>
            <a:off x="960120" y="2148840"/>
            <a:ext cx="9692640" cy="384048"/>
          </a:xfrm>
          <a:prstGeom prst="rect">
            <a:avLst/>
          </a:prstGeom>
          <a:solidFill>
            <a:srgbClr val="1E2A47"/>
          </a:solidFill>
          <a:ln w="12700">
            <a:solidFill>
              <a:srgbClr val="1E2A47"/>
            </a:solidFill>
            <a:prstDash val="solid"/>
          </a:ln>
        </p:spPr>
      </p:sp>
      <p:sp>
        <p:nvSpPr>
          <p:cNvPr id="8" name="Text 6"/>
          <p:cNvSpPr/>
          <p:nvPr/>
        </p:nvSpPr>
        <p:spPr>
          <a:xfrm>
            <a:off x="1097280" y="2148840"/>
            <a:ext cx="9509760" cy="384048"/>
          </a:xfrm>
          <a:prstGeom prst="rect">
            <a:avLst/>
          </a:prstGeom>
          <a:noFill/>
          <a:ln/>
        </p:spPr>
        <p:txBody>
          <a:bodyPr wrap="square" lIns="0" tIns="0" rIns="0" bIns="0" rtlCol="0" anchor="ctr"/>
          <a:lstStyle/>
          <a:p>
            <a:pPr indent="0" marL="0">
              <a:buNone/>
            </a:pPr>
            <a:r>
              <a:rPr lang="en-US" sz="1150" dirty="0">
                <a:solidFill>
                  <a:srgbClr val="CBF1F6"/>
                </a:solidFill>
                <a:latin typeface="Courier New" pitchFamily="34" charset="0"/>
                <a:ea typeface="Courier New" pitchFamily="34" charset="-122"/>
                <a:cs typeface="Courier New" pitchFamily="34" charset="-120"/>
              </a:rPr>
              <a:t>queryClient.invalidateQueries({ queryKey: ['posts', id] });</a:t>
            </a:r>
            <a:endParaRPr lang="en-US" sz="1150" dirty="0"/>
          </a:p>
        </p:txBody>
      </p:sp>
      <p:sp>
        <p:nvSpPr>
          <p:cNvPr id="9" name="Shape 7"/>
          <p:cNvSpPr/>
          <p:nvPr/>
        </p:nvSpPr>
        <p:spPr>
          <a:xfrm>
            <a:off x="777240" y="2788920"/>
            <a:ext cx="10607040" cy="914400"/>
          </a:xfrm>
          <a:prstGeom prst="rect">
            <a:avLst/>
          </a:prstGeom>
          <a:solidFill>
            <a:srgbClr val="FFFFFF"/>
          </a:solidFill>
          <a:ln w="12700">
            <a:solidFill>
              <a:srgbClr val="E2E8F0"/>
            </a:solidFill>
            <a:prstDash val="solid"/>
          </a:ln>
        </p:spPr>
      </p:sp>
      <p:sp>
        <p:nvSpPr>
          <p:cNvPr id="10" name="Text 8"/>
          <p:cNvSpPr/>
          <p:nvPr/>
        </p:nvSpPr>
        <p:spPr>
          <a:xfrm>
            <a:off x="960120" y="2880360"/>
            <a:ext cx="969264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Invalidate a hierarchy</a:t>
            </a:r>
            <a:endParaRPr lang="en-US" sz="1350" dirty="0"/>
          </a:p>
        </p:txBody>
      </p:sp>
      <p:sp>
        <p:nvSpPr>
          <p:cNvPr id="11" name="Shape 9"/>
          <p:cNvSpPr/>
          <p:nvPr/>
        </p:nvSpPr>
        <p:spPr>
          <a:xfrm>
            <a:off x="960120" y="3246120"/>
            <a:ext cx="9692640" cy="384048"/>
          </a:xfrm>
          <a:prstGeom prst="rect">
            <a:avLst/>
          </a:prstGeom>
          <a:solidFill>
            <a:srgbClr val="1E2A47"/>
          </a:solidFill>
          <a:ln w="12700">
            <a:solidFill>
              <a:srgbClr val="1E2A47"/>
            </a:solidFill>
            <a:prstDash val="solid"/>
          </a:ln>
        </p:spPr>
      </p:sp>
      <p:sp>
        <p:nvSpPr>
          <p:cNvPr id="12" name="Text 10"/>
          <p:cNvSpPr/>
          <p:nvPr/>
        </p:nvSpPr>
        <p:spPr>
          <a:xfrm>
            <a:off x="1097280" y="3246120"/>
            <a:ext cx="9509760" cy="384048"/>
          </a:xfrm>
          <a:prstGeom prst="rect">
            <a:avLst/>
          </a:prstGeom>
          <a:noFill/>
          <a:ln/>
        </p:spPr>
        <p:txBody>
          <a:bodyPr wrap="square" lIns="0" tIns="0" rIns="0" bIns="0" rtlCol="0" anchor="ctr"/>
          <a:lstStyle/>
          <a:p>
            <a:pPr indent="0" marL="0">
              <a:buNone/>
            </a:pPr>
            <a:r>
              <a:rPr lang="en-US" sz="1150" dirty="0">
                <a:solidFill>
                  <a:srgbClr val="CBF1F6"/>
                </a:solidFill>
                <a:latin typeface="Courier New" pitchFamily="34" charset="0"/>
                <a:ea typeface="Courier New" pitchFamily="34" charset="-122"/>
                <a:cs typeface="Courier New" pitchFamily="34" charset="-120"/>
              </a:rPr>
              <a:t>queryClient.invalidateQueries({ queryKey: ['posts'] });</a:t>
            </a:r>
            <a:endParaRPr lang="en-US" sz="1150" dirty="0"/>
          </a:p>
        </p:txBody>
      </p:sp>
      <p:sp>
        <p:nvSpPr>
          <p:cNvPr id="13" name="Shape 11"/>
          <p:cNvSpPr/>
          <p:nvPr/>
        </p:nvSpPr>
        <p:spPr>
          <a:xfrm>
            <a:off x="777240" y="3886200"/>
            <a:ext cx="10607040" cy="914400"/>
          </a:xfrm>
          <a:prstGeom prst="rect">
            <a:avLst/>
          </a:prstGeom>
          <a:solidFill>
            <a:srgbClr val="FFFFFF"/>
          </a:solidFill>
          <a:ln w="12700">
            <a:solidFill>
              <a:srgbClr val="E2E8F0"/>
            </a:solidFill>
            <a:prstDash val="solid"/>
          </a:ln>
        </p:spPr>
      </p:sp>
      <p:sp>
        <p:nvSpPr>
          <p:cNvPr id="14" name="Text 12"/>
          <p:cNvSpPr/>
          <p:nvPr/>
        </p:nvSpPr>
        <p:spPr>
          <a:xfrm>
            <a:off x="960120" y="3977640"/>
            <a:ext cx="969264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Invalidate by predicate</a:t>
            </a:r>
            <a:endParaRPr lang="en-US" sz="1350" dirty="0"/>
          </a:p>
        </p:txBody>
      </p:sp>
      <p:sp>
        <p:nvSpPr>
          <p:cNvPr id="15" name="Shape 13"/>
          <p:cNvSpPr/>
          <p:nvPr/>
        </p:nvSpPr>
        <p:spPr>
          <a:xfrm>
            <a:off x="960120" y="4343400"/>
            <a:ext cx="9692640" cy="384048"/>
          </a:xfrm>
          <a:prstGeom prst="rect">
            <a:avLst/>
          </a:prstGeom>
          <a:solidFill>
            <a:srgbClr val="1E2A47"/>
          </a:solidFill>
          <a:ln w="12700">
            <a:solidFill>
              <a:srgbClr val="1E2A47"/>
            </a:solidFill>
            <a:prstDash val="solid"/>
          </a:ln>
        </p:spPr>
      </p:sp>
      <p:sp>
        <p:nvSpPr>
          <p:cNvPr id="16" name="Text 14"/>
          <p:cNvSpPr/>
          <p:nvPr/>
        </p:nvSpPr>
        <p:spPr>
          <a:xfrm>
            <a:off x="1097280" y="4343400"/>
            <a:ext cx="9509760" cy="384048"/>
          </a:xfrm>
          <a:prstGeom prst="rect">
            <a:avLst/>
          </a:prstGeom>
          <a:noFill/>
          <a:ln/>
        </p:spPr>
        <p:txBody>
          <a:bodyPr wrap="square" lIns="0" tIns="0" rIns="0" bIns="0" rtlCol="0" anchor="ctr"/>
          <a:lstStyle/>
          <a:p>
            <a:pPr indent="0" marL="0">
              <a:buNone/>
            </a:pPr>
            <a:r>
              <a:rPr lang="en-US" sz="1150" dirty="0">
                <a:solidFill>
                  <a:srgbClr val="CBF1F6"/>
                </a:solidFill>
                <a:latin typeface="Courier New" pitchFamily="34" charset="0"/>
                <a:ea typeface="Courier New" pitchFamily="34" charset="-122"/>
                <a:cs typeface="Courier New" pitchFamily="34" charset="-120"/>
              </a:rPr>
              <a:t>queryClient.invalidateQueries({ predicate: (q) =&gt; q.state.data?.authorId === userId });</a:t>
            </a:r>
            <a:endParaRPr lang="en-US" sz="1150" dirty="0"/>
          </a:p>
        </p:txBody>
      </p:sp>
      <p:sp>
        <p:nvSpPr>
          <p:cNvPr id="17" name="Shape 15"/>
          <p:cNvSpPr/>
          <p:nvPr/>
        </p:nvSpPr>
        <p:spPr>
          <a:xfrm>
            <a:off x="777240" y="4983480"/>
            <a:ext cx="10607040" cy="914400"/>
          </a:xfrm>
          <a:prstGeom prst="rect">
            <a:avLst/>
          </a:prstGeom>
          <a:solidFill>
            <a:srgbClr val="FFFFFF"/>
          </a:solidFill>
          <a:ln w="12700">
            <a:solidFill>
              <a:srgbClr val="E2E8F0"/>
            </a:solidFill>
            <a:prstDash val="solid"/>
          </a:ln>
        </p:spPr>
      </p:sp>
      <p:sp>
        <p:nvSpPr>
          <p:cNvPr id="18" name="Text 16"/>
          <p:cNvSpPr/>
          <p:nvPr/>
        </p:nvSpPr>
        <p:spPr>
          <a:xfrm>
            <a:off x="960120" y="5074920"/>
            <a:ext cx="969264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Refetch immediately (no stale wait)</a:t>
            </a:r>
            <a:endParaRPr lang="en-US" sz="1350" dirty="0"/>
          </a:p>
        </p:txBody>
      </p:sp>
      <p:sp>
        <p:nvSpPr>
          <p:cNvPr id="19" name="Shape 17"/>
          <p:cNvSpPr/>
          <p:nvPr/>
        </p:nvSpPr>
        <p:spPr>
          <a:xfrm>
            <a:off x="960120" y="5440680"/>
            <a:ext cx="9692640" cy="384048"/>
          </a:xfrm>
          <a:prstGeom prst="rect">
            <a:avLst/>
          </a:prstGeom>
          <a:solidFill>
            <a:srgbClr val="1E2A47"/>
          </a:solidFill>
          <a:ln w="12700">
            <a:solidFill>
              <a:srgbClr val="1E2A47"/>
            </a:solidFill>
            <a:prstDash val="solid"/>
          </a:ln>
        </p:spPr>
      </p:sp>
      <p:sp>
        <p:nvSpPr>
          <p:cNvPr id="20" name="Text 18"/>
          <p:cNvSpPr/>
          <p:nvPr/>
        </p:nvSpPr>
        <p:spPr>
          <a:xfrm>
            <a:off x="1097280" y="5440680"/>
            <a:ext cx="9509760" cy="384048"/>
          </a:xfrm>
          <a:prstGeom prst="rect">
            <a:avLst/>
          </a:prstGeom>
          <a:noFill/>
          <a:ln/>
        </p:spPr>
        <p:txBody>
          <a:bodyPr wrap="square" lIns="0" tIns="0" rIns="0" bIns="0" rtlCol="0" anchor="ctr"/>
          <a:lstStyle/>
          <a:p>
            <a:pPr indent="0" marL="0">
              <a:buNone/>
            </a:pPr>
            <a:r>
              <a:rPr lang="en-US" sz="1150" dirty="0">
                <a:solidFill>
                  <a:srgbClr val="CBF1F6"/>
                </a:solidFill>
                <a:latin typeface="Courier New" pitchFamily="34" charset="0"/>
                <a:ea typeface="Courier New" pitchFamily="34" charset="-122"/>
                <a:cs typeface="Courier New" pitchFamily="34" charset="-120"/>
              </a:rPr>
              <a:t>queryClient.refetchQueries({ queryKey: ['posts'] });</a:t>
            </a:r>
            <a:endParaRPr lang="en-US" sz="1150" dirty="0"/>
          </a:p>
        </p:txBody>
      </p:sp>
      <p:sp>
        <p:nvSpPr>
          <p:cNvPr id="21" name="Text 1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22" name="Text 2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14 / 27</a:t>
            </a:r>
            <a:endParaRPr lang="en-US" sz="9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Optimistic updates — the pattern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Show the success state immediately. Roll back on error. Reconcile on settle.</a:t>
            </a:r>
            <a:endParaRPr lang="en-US" sz="1400" dirty="0"/>
          </a:p>
        </p:txBody>
      </p:sp>
      <p:sp>
        <p:nvSpPr>
          <p:cNvPr id="5" name="Text 3"/>
          <p:cNvSpPr/>
          <p:nvPr/>
        </p:nvSpPr>
        <p:spPr>
          <a:xfrm>
            <a:off x="777240" y="1554480"/>
            <a:ext cx="1060704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The four-step pattern in onMutate / onError / onSettled:</a:t>
            </a:r>
            <a:endParaRPr lang="en-US" sz="1400" dirty="0"/>
          </a:p>
        </p:txBody>
      </p:sp>
      <p:sp>
        <p:nvSpPr>
          <p:cNvPr id="6" name="Shape 4"/>
          <p:cNvSpPr/>
          <p:nvPr/>
        </p:nvSpPr>
        <p:spPr>
          <a:xfrm>
            <a:off x="777240" y="2011680"/>
            <a:ext cx="10607040" cy="822960"/>
          </a:xfrm>
          <a:prstGeom prst="rect">
            <a:avLst/>
          </a:prstGeom>
          <a:solidFill>
            <a:srgbClr val="FFFFFF"/>
          </a:solidFill>
          <a:ln w="12700">
            <a:solidFill>
              <a:srgbClr val="E2E8F0"/>
            </a:solidFill>
            <a:prstDash val="solid"/>
          </a:ln>
        </p:spPr>
      </p:sp>
      <p:sp>
        <p:nvSpPr>
          <p:cNvPr id="7" name="Shape 5"/>
          <p:cNvSpPr/>
          <p:nvPr/>
        </p:nvSpPr>
        <p:spPr>
          <a:xfrm>
            <a:off x="960120" y="2194560"/>
            <a:ext cx="457200" cy="457200"/>
          </a:xfrm>
          <a:prstGeom prst="ellipse">
            <a:avLst/>
          </a:prstGeom>
          <a:solidFill>
            <a:srgbClr val="00B8D9"/>
          </a:solidFill>
          <a:ln w="12700">
            <a:solidFill>
              <a:srgbClr val="00B8D9"/>
            </a:solidFill>
            <a:prstDash val="solid"/>
          </a:ln>
        </p:spPr>
      </p:sp>
      <p:sp>
        <p:nvSpPr>
          <p:cNvPr id="8" name="Text 6"/>
          <p:cNvSpPr/>
          <p:nvPr/>
        </p:nvSpPr>
        <p:spPr>
          <a:xfrm>
            <a:off x="9601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9" name="Text 7"/>
          <p:cNvSpPr/>
          <p:nvPr/>
        </p:nvSpPr>
        <p:spPr>
          <a:xfrm>
            <a:off x="1554480" y="2103120"/>
            <a:ext cx="9692640" cy="6400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onMutate: cancel in-flight queries for this key, snapshot the cache, write the optimistic value.</a:t>
            </a:r>
            <a:endParaRPr lang="en-US" sz="1250" dirty="0"/>
          </a:p>
        </p:txBody>
      </p:sp>
      <p:sp>
        <p:nvSpPr>
          <p:cNvPr id="10" name="Shape 8"/>
          <p:cNvSpPr/>
          <p:nvPr/>
        </p:nvSpPr>
        <p:spPr>
          <a:xfrm>
            <a:off x="777240" y="2971800"/>
            <a:ext cx="10607040" cy="822960"/>
          </a:xfrm>
          <a:prstGeom prst="rect">
            <a:avLst/>
          </a:prstGeom>
          <a:solidFill>
            <a:srgbClr val="FFFFFF"/>
          </a:solidFill>
          <a:ln w="12700">
            <a:solidFill>
              <a:srgbClr val="E2E8F0"/>
            </a:solidFill>
            <a:prstDash val="solid"/>
          </a:ln>
        </p:spPr>
      </p:sp>
      <p:sp>
        <p:nvSpPr>
          <p:cNvPr id="11" name="Shape 9"/>
          <p:cNvSpPr/>
          <p:nvPr/>
        </p:nvSpPr>
        <p:spPr>
          <a:xfrm>
            <a:off x="960120" y="3154680"/>
            <a:ext cx="457200" cy="457200"/>
          </a:xfrm>
          <a:prstGeom prst="ellipse">
            <a:avLst/>
          </a:prstGeom>
          <a:solidFill>
            <a:srgbClr val="00B8D9"/>
          </a:solidFill>
          <a:ln w="12700">
            <a:solidFill>
              <a:srgbClr val="00B8D9"/>
            </a:solidFill>
            <a:prstDash val="solid"/>
          </a:ln>
        </p:spPr>
      </p:sp>
      <p:sp>
        <p:nvSpPr>
          <p:cNvPr id="12" name="Text 10"/>
          <p:cNvSpPr/>
          <p:nvPr/>
        </p:nvSpPr>
        <p:spPr>
          <a:xfrm>
            <a:off x="960120" y="3154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3" name="Text 11"/>
          <p:cNvSpPr/>
          <p:nvPr/>
        </p:nvSpPr>
        <p:spPr>
          <a:xfrm>
            <a:off x="1554480" y="3063240"/>
            <a:ext cx="9692640" cy="6400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Return the snapshot from onMutate so onError can use it for rollback.</a:t>
            </a:r>
            <a:endParaRPr lang="en-US" sz="1250" dirty="0"/>
          </a:p>
        </p:txBody>
      </p:sp>
      <p:sp>
        <p:nvSpPr>
          <p:cNvPr id="14" name="Shape 12"/>
          <p:cNvSpPr/>
          <p:nvPr/>
        </p:nvSpPr>
        <p:spPr>
          <a:xfrm>
            <a:off x="777240" y="3931920"/>
            <a:ext cx="10607040" cy="822960"/>
          </a:xfrm>
          <a:prstGeom prst="rect">
            <a:avLst/>
          </a:prstGeom>
          <a:solidFill>
            <a:srgbClr val="FFFFFF"/>
          </a:solidFill>
          <a:ln w="12700">
            <a:solidFill>
              <a:srgbClr val="E2E8F0"/>
            </a:solidFill>
            <a:prstDash val="solid"/>
          </a:ln>
        </p:spPr>
      </p:sp>
      <p:sp>
        <p:nvSpPr>
          <p:cNvPr id="15" name="Shape 13"/>
          <p:cNvSpPr/>
          <p:nvPr/>
        </p:nvSpPr>
        <p:spPr>
          <a:xfrm>
            <a:off x="960120" y="4114800"/>
            <a:ext cx="457200" cy="457200"/>
          </a:xfrm>
          <a:prstGeom prst="ellipse">
            <a:avLst/>
          </a:prstGeom>
          <a:solidFill>
            <a:srgbClr val="00B8D9"/>
          </a:solidFill>
          <a:ln w="12700">
            <a:solidFill>
              <a:srgbClr val="00B8D9"/>
            </a:solidFill>
            <a:prstDash val="solid"/>
          </a:ln>
        </p:spPr>
      </p:sp>
      <p:sp>
        <p:nvSpPr>
          <p:cNvPr id="16" name="Text 14"/>
          <p:cNvSpPr/>
          <p:nvPr/>
        </p:nvSpPr>
        <p:spPr>
          <a:xfrm>
            <a:off x="960120" y="4114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17" name="Text 15"/>
          <p:cNvSpPr/>
          <p:nvPr/>
        </p:nvSpPr>
        <p:spPr>
          <a:xfrm>
            <a:off x="1554480" y="4023360"/>
            <a:ext cx="9692640" cy="6400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onError: restore the snapshot. The user sees the rollback, not a stale optimistic value.</a:t>
            </a:r>
            <a:endParaRPr lang="en-US" sz="1250" dirty="0"/>
          </a:p>
        </p:txBody>
      </p:sp>
      <p:sp>
        <p:nvSpPr>
          <p:cNvPr id="18" name="Shape 16"/>
          <p:cNvSpPr/>
          <p:nvPr/>
        </p:nvSpPr>
        <p:spPr>
          <a:xfrm>
            <a:off x="777240" y="4892040"/>
            <a:ext cx="10607040" cy="822960"/>
          </a:xfrm>
          <a:prstGeom prst="rect">
            <a:avLst/>
          </a:prstGeom>
          <a:solidFill>
            <a:srgbClr val="FFFFFF"/>
          </a:solidFill>
          <a:ln w="12700">
            <a:solidFill>
              <a:srgbClr val="E2E8F0"/>
            </a:solidFill>
            <a:prstDash val="solid"/>
          </a:ln>
        </p:spPr>
      </p:sp>
      <p:sp>
        <p:nvSpPr>
          <p:cNvPr id="19" name="Shape 17"/>
          <p:cNvSpPr/>
          <p:nvPr/>
        </p:nvSpPr>
        <p:spPr>
          <a:xfrm>
            <a:off x="960120" y="5074920"/>
            <a:ext cx="457200" cy="457200"/>
          </a:xfrm>
          <a:prstGeom prst="ellipse">
            <a:avLst/>
          </a:prstGeom>
          <a:solidFill>
            <a:srgbClr val="00B8D9"/>
          </a:solidFill>
          <a:ln w="12700">
            <a:solidFill>
              <a:srgbClr val="00B8D9"/>
            </a:solidFill>
            <a:prstDash val="solid"/>
          </a:ln>
        </p:spPr>
      </p:sp>
      <p:sp>
        <p:nvSpPr>
          <p:cNvPr id="20" name="Text 18"/>
          <p:cNvSpPr/>
          <p:nvPr/>
        </p:nvSpPr>
        <p:spPr>
          <a:xfrm>
            <a:off x="960120" y="5074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4</a:t>
            </a:r>
            <a:endParaRPr lang="en-US" sz="1600" dirty="0"/>
          </a:p>
        </p:txBody>
      </p:sp>
      <p:sp>
        <p:nvSpPr>
          <p:cNvPr id="21" name="Text 19"/>
          <p:cNvSpPr/>
          <p:nvPr/>
        </p:nvSpPr>
        <p:spPr>
          <a:xfrm>
            <a:off x="1554480" y="4983480"/>
            <a:ext cx="9692640" cy="6400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onSettled: invalidate the key so the cache catches up to the server's truth.</a:t>
            </a:r>
            <a:endParaRPr lang="en-US" sz="1250" dirty="0"/>
          </a:p>
        </p:txBody>
      </p:sp>
      <p:sp>
        <p:nvSpPr>
          <p:cNvPr id="22" name="Text 20"/>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23" name="Text 21"/>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15 / 27</a:t>
            </a:r>
            <a:endParaRPr lang="en-US" sz="9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Optimistic updates — the code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The classic 'add post' flow with rollback on error.</a:t>
            </a:r>
            <a:endParaRPr lang="en-US" sz="1400" dirty="0"/>
          </a:p>
        </p:txBody>
      </p:sp>
      <p:sp>
        <p:nvSpPr>
          <p:cNvPr id="5" name="Shape 3"/>
          <p:cNvSpPr/>
          <p:nvPr/>
        </p:nvSpPr>
        <p:spPr>
          <a:xfrm>
            <a:off x="777240" y="1554480"/>
            <a:ext cx="10607040" cy="4754880"/>
          </a:xfrm>
          <a:prstGeom prst="rect">
            <a:avLst/>
          </a:prstGeom>
          <a:solidFill>
            <a:srgbClr val="1E2A47"/>
          </a:solidFill>
          <a:ln w="12700">
            <a:solidFill>
              <a:srgbClr val="1E2A47"/>
            </a:solidFill>
            <a:prstDash val="solid"/>
          </a:ln>
        </p:spPr>
      </p:sp>
      <p:sp>
        <p:nvSpPr>
          <p:cNvPr id="6" name="Text 4"/>
          <p:cNvSpPr/>
          <p:nvPr/>
        </p:nvSpPr>
        <p:spPr>
          <a:xfrm>
            <a:off x="960120" y="1691640"/>
            <a:ext cx="10241280" cy="4480560"/>
          </a:xfrm>
          <a:prstGeom prst="rect">
            <a:avLst/>
          </a:prstGeom>
          <a:noFill/>
          <a:ln/>
        </p:spPr>
        <p:txBody>
          <a:bodyPr wrap="square" lIns="0" tIns="0" rIns="0" bIns="0" rtlCol="0" anchor="t"/>
          <a:lstStyle/>
          <a:p>
            <a:pPr indent="0" marL="0">
              <a:buNone/>
            </a:pPr>
            <a:r>
              <a:rPr lang="en-US" sz="1200" dirty="0">
                <a:solidFill>
                  <a:srgbClr val="DCDCAA"/>
                </a:solidFill>
                <a:latin typeface="Courier New" pitchFamily="34" charset="0"/>
                <a:ea typeface="Courier New" pitchFamily="34" charset="-122"/>
                <a:cs typeface="Courier New" pitchFamily="34" charset="-120"/>
              </a:rPr>
              <a:t>useMutation</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mutationFn: api.createPost,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onMutate: async (newPost) =&gt; {</a:t>
            </a:r>
            <a:endParaRPr lang="en-US" sz="1200" dirty="0"/>
          </a:p>
          <a:p>
            <a:pPr indent="0" marL="0">
              <a:buNone/>
            </a:pPr>
            <a:r>
              <a:rPr lang="en-US" sz="1200" dirty="0">
                <a:solidFill>
                  <a:srgbClr val="DCDCAA"/>
                </a:solidFill>
                <a:latin typeface="Courier New" pitchFamily="34" charset="0"/>
                <a:ea typeface="Courier New" pitchFamily="34" charset="-122"/>
                <a:cs typeface="Courier New" pitchFamily="34" charset="-120"/>
              </a:rPr>
              <a:t>    await queryClient.</a:t>
            </a:r>
            <a:pPr indent="0" marL="0">
              <a:buNone/>
            </a:pPr>
            <a:r>
              <a:rPr lang="en-US" sz="1200" dirty="0">
                <a:solidFill>
                  <a:srgbClr val="DCDCAA"/>
                </a:solidFill>
                <a:latin typeface="Courier New" pitchFamily="34" charset="0"/>
                <a:ea typeface="Courier New" pitchFamily="34" charset="-122"/>
                <a:cs typeface="Courier New" pitchFamily="34" charset="-120"/>
              </a:rPr>
              <a:t>cancelQueries</a:t>
            </a:r>
            <a:pPr indent="0" marL="0">
              <a:buNone/>
            </a:pPr>
            <a:r>
              <a:rPr lang="en-US" sz="1200" dirty="0">
                <a:solidFill>
                  <a:srgbClr val="9CDCFE"/>
                </a:solidFill>
                <a:latin typeface="Courier New" pitchFamily="34" charset="0"/>
                <a:ea typeface="Courier New" pitchFamily="34" charset="-122"/>
                <a:cs typeface="Courier New" pitchFamily="34" charset="-120"/>
              </a:rPr>
              <a:t>({ queryKey: [</a:t>
            </a:r>
            <a:pPr indent="0" marL="0">
              <a:buNone/>
            </a:pPr>
            <a:r>
              <a:rPr lang="en-US" sz="1200" dirty="0">
                <a:solidFill>
                  <a:srgbClr val="9CDCFE"/>
                </a:solidFill>
                <a:latin typeface="Courier New" pitchFamily="34" charset="0"/>
                <a:ea typeface="Courier New" pitchFamily="34" charset="-122"/>
                <a:cs typeface="Courier New" pitchFamily="34" charset="-120"/>
              </a:rPr>
              <a:t>'posts'</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DCDCAA"/>
                </a:solidFill>
                <a:latin typeface="Courier New" pitchFamily="34" charset="0"/>
                <a:ea typeface="Courier New" pitchFamily="34" charset="-122"/>
                <a:cs typeface="Courier New" pitchFamily="34" charset="-120"/>
              </a:rPr>
              <a:t>    const snapshot = queryClient.</a:t>
            </a:r>
            <a:pPr indent="0" marL="0">
              <a:buNone/>
            </a:pPr>
            <a:r>
              <a:rPr lang="en-US" sz="1200" dirty="0">
                <a:solidFill>
                  <a:srgbClr val="DCDCAA"/>
                </a:solidFill>
                <a:latin typeface="Courier New" pitchFamily="34" charset="0"/>
                <a:ea typeface="Courier New" pitchFamily="34" charset="-122"/>
                <a:cs typeface="Courier New" pitchFamily="34" charset="-120"/>
              </a:rPr>
              <a:t>getQueryData</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9CDCFE"/>
                </a:solidFill>
                <a:latin typeface="Courier New" pitchFamily="34" charset="0"/>
                <a:ea typeface="Courier New" pitchFamily="34" charset="-122"/>
                <a:cs typeface="Courier New" pitchFamily="34" charset="-120"/>
              </a:rPr>
              <a:t>'posts'</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DCDCAA"/>
                </a:solidFill>
                <a:latin typeface="Courier New" pitchFamily="34" charset="0"/>
                <a:ea typeface="Courier New" pitchFamily="34" charset="-122"/>
                <a:cs typeface="Courier New" pitchFamily="34" charset="-120"/>
              </a:rPr>
              <a:t>    queryClient.</a:t>
            </a:r>
            <a:pPr indent="0" marL="0">
              <a:buNone/>
            </a:pPr>
            <a:r>
              <a:rPr lang="en-US" sz="1200" dirty="0">
                <a:solidFill>
                  <a:srgbClr val="DCDCAA"/>
                </a:solidFill>
                <a:latin typeface="Courier New" pitchFamily="34" charset="0"/>
                <a:ea typeface="Courier New" pitchFamily="34" charset="-122"/>
                <a:cs typeface="Courier New" pitchFamily="34" charset="-120"/>
              </a:rPr>
              <a:t>setQueryData</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9CDCFE"/>
                </a:solidFill>
                <a:latin typeface="Courier New" pitchFamily="34" charset="0"/>
                <a:ea typeface="Courier New" pitchFamily="34" charset="-122"/>
                <a:cs typeface="Courier New" pitchFamily="34" charset="-120"/>
              </a:rPr>
              <a:t>'posts'</a:t>
            </a:r>
            <a:pPr indent="0" marL="0">
              <a:buNone/>
            </a:pPr>
            <a:r>
              <a:rPr lang="en-US" sz="1200" dirty="0">
                <a:solidFill>
                  <a:srgbClr val="9CDCFE"/>
                </a:solidFill>
                <a:latin typeface="Courier New" pitchFamily="34" charset="0"/>
                <a:ea typeface="Courier New" pitchFamily="34" charset="-122"/>
                <a:cs typeface="Courier New" pitchFamily="34" charset="-120"/>
              </a:rPr>
              <a:t>], (old = []) =&gt; [{ ...newPost, sending: </a:t>
            </a:r>
            <a:pPr indent="0" marL="0">
              <a:buNone/>
            </a:pPr>
            <a:r>
              <a:rPr lang="en-US" sz="1200" dirty="0">
                <a:solidFill>
                  <a:srgbClr val="C586C0"/>
                </a:solidFill>
                <a:latin typeface="Courier New" pitchFamily="34" charset="0"/>
                <a:ea typeface="Courier New" pitchFamily="34" charset="-122"/>
                <a:cs typeface="Courier New" pitchFamily="34" charset="-120"/>
              </a:rPr>
              <a:t>true </a:t>
            </a:r>
            <a:pPr indent="0" marL="0">
              <a:buNone/>
            </a:pPr>
            <a:r>
              <a:rPr lang="en-US" sz="1200" dirty="0">
                <a:solidFill>
                  <a:srgbClr val="9CDCFE"/>
                </a:solidFill>
                <a:latin typeface="Courier New" pitchFamily="34" charset="0"/>
                <a:ea typeface="Courier New" pitchFamily="34" charset="-122"/>
                <a:cs typeface="Courier New" pitchFamily="34" charset="-120"/>
              </a:rPr>
              <a:t>}, ...old]);</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 snapshot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onError: (err, newPost, ctx) =&gt; {</a:t>
            </a:r>
            <a:endParaRPr lang="en-US" sz="1200" dirty="0"/>
          </a:p>
          <a:p>
            <a:pPr indent="0" marL="0">
              <a:buNone/>
            </a:pPr>
            <a:r>
              <a:rPr lang="en-US" sz="1200" dirty="0">
                <a:solidFill>
                  <a:srgbClr val="DCDCAA"/>
                </a:solidFill>
                <a:latin typeface="Courier New" pitchFamily="34" charset="0"/>
                <a:ea typeface="Courier New" pitchFamily="34" charset="-122"/>
                <a:cs typeface="Courier New" pitchFamily="34" charset="-120"/>
              </a:rPr>
              <a:t>    queryClient.</a:t>
            </a:r>
            <a:pPr indent="0" marL="0">
              <a:buNone/>
            </a:pPr>
            <a:r>
              <a:rPr lang="en-US" sz="1200" dirty="0">
                <a:solidFill>
                  <a:srgbClr val="DCDCAA"/>
                </a:solidFill>
                <a:latin typeface="Courier New" pitchFamily="34" charset="0"/>
                <a:ea typeface="Courier New" pitchFamily="34" charset="-122"/>
                <a:cs typeface="Courier New" pitchFamily="34" charset="-120"/>
              </a:rPr>
              <a:t>setQueryData</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9CDCFE"/>
                </a:solidFill>
                <a:latin typeface="Courier New" pitchFamily="34" charset="0"/>
                <a:ea typeface="Courier New" pitchFamily="34" charset="-122"/>
                <a:cs typeface="Courier New" pitchFamily="34" charset="-120"/>
              </a:rPr>
              <a:t>'posts'</a:t>
            </a:r>
            <a:pPr indent="0" marL="0">
              <a:buNone/>
            </a:pPr>
            <a:r>
              <a:rPr lang="en-US" sz="1200" dirty="0">
                <a:solidFill>
                  <a:srgbClr val="FFFFFF"/>
                </a:solidFill>
                <a:latin typeface="Courier New" pitchFamily="34" charset="0"/>
                <a:ea typeface="Courier New" pitchFamily="34" charset="-122"/>
                <a:cs typeface="Courier New" pitchFamily="34" charset="-120"/>
              </a:rPr>
              <a:t>], ctx.snapshot);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toast.error(err.message);</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onSettled: () =&gt; {</a:t>
            </a:r>
            <a:endParaRPr lang="en-US" sz="1200" dirty="0"/>
          </a:p>
          <a:p>
            <a:pPr indent="0" marL="0">
              <a:buNone/>
            </a:pPr>
            <a:r>
              <a:rPr lang="en-US" sz="1200" dirty="0">
                <a:solidFill>
                  <a:srgbClr val="DCDCAA"/>
                </a:solidFill>
                <a:latin typeface="Courier New" pitchFamily="34" charset="0"/>
                <a:ea typeface="Courier New" pitchFamily="34" charset="-122"/>
                <a:cs typeface="Courier New" pitchFamily="34" charset="-120"/>
              </a:rPr>
              <a:t>    queryClient.</a:t>
            </a:r>
            <a:pPr indent="0" marL="0">
              <a:buNone/>
            </a:pPr>
            <a:r>
              <a:rPr lang="en-US" sz="1200" dirty="0">
                <a:solidFill>
                  <a:srgbClr val="DCDCAA"/>
                </a:solidFill>
                <a:latin typeface="Courier New" pitchFamily="34" charset="0"/>
                <a:ea typeface="Courier New" pitchFamily="34" charset="-122"/>
                <a:cs typeface="Courier New" pitchFamily="34" charset="-120"/>
              </a:rPr>
              <a:t>invalidateQueries</a:t>
            </a:r>
            <a:pPr indent="0" marL="0">
              <a:buNone/>
            </a:pPr>
            <a:r>
              <a:rPr lang="en-US" sz="1200" dirty="0">
                <a:solidFill>
                  <a:srgbClr val="9CDCFE"/>
                </a:solidFill>
                <a:latin typeface="Courier New" pitchFamily="34" charset="0"/>
                <a:ea typeface="Courier New" pitchFamily="34" charset="-122"/>
                <a:cs typeface="Courier New" pitchFamily="34" charset="-120"/>
              </a:rPr>
              <a:t>({ queryKey: [</a:t>
            </a:r>
            <a:pPr indent="0" marL="0">
              <a:buNone/>
            </a:pPr>
            <a:r>
              <a:rPr lang="en-US" sz="1200" dirty="0">
                <a:solidFill>
                  <a:srgbClr val="9CDCFE"/>
                </a:solidFill>
                <a:latin typeface="Courier New" pitchFamily="34" charset="0"/>
                <a:ea typeface="Courier New" pitchFamily="34" charset="-122"/>
                <a:cs typeface="Courier New" pitchFamily="34" charset="-120"/>
              </a:rPr>
              <a:t>'posts'</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16 / 27</a:t>
            </a:r>
            <a:endParaRPr lang="en-US" sz="9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7">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3</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Loading and Errors</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Two patterns. Pick the one that fits the surrounding code.</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Loading — flags or Suspense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Both work with TanStack Query. Pick by what surrounds your component.</a:t>
            </a:r>
            <a:endParaRPr lang="en-US" sz="1400" dirty="0"/>
          </a:p>
        </p:txBody>
      </p:sp>
      <p:sp>
        <p:nvSpPr>
          <p:cNvPr id="5" name="Shape 3"/>
          <p:cNvSpPr/>
          <p:nvPr/>
        </p:nvSpPr>
        <p:spPr>
          <a:xfrm>
            <a:off x="777240" y="1691640"/>
            <a:ext cx="5349240" cy="4297680"/>
          </a:xfrm>
          <a:prstGeom prst="rect">
            <a:avLst/>
          </a:prstGeom>
          <a:solidFill>
            <a:srgbClr val="FFFFFF"/>
          </a:solidFill>
          <a:ln w="12700">
            <a:solidFill>
              <a:srgbClr val="E2E8F0"/>
            </a:solidFill>
            <a:prstDash val="solid"/>
          </a:ln>
        </p:spPr>
      </p:sp>
      <p:sp>
        <p:nvSpPr>
          <p:cNvPr id="6" name="Text 4"/>
          <p:cNvSpPr/>
          <p:nvPr/>
        </p:nvSpPr>
        <p:spPr>
          <a:xfrm>
            <a:off x="960120" y="1874520"/>
            <a:ext cx="5029200" cy="365760"/>
          </a:xfrm>
          <a:prstGeom prst="rect">
            <a:avLst/>
          </a:prstGeom>
          <a:noFill/>
          <a:ln/>
        </p:spPr>
        <p:txBody>
          <a:bodyPr wrap="square" lIns="0" tIns="0" rIns="0" bIns="0" rtlCol="0" anchor="ctr"/>
          <a:lstStyle/>
          <a:p>
            <a:pPr indent="0" marL="0">
              <a:buNone/>
            </a:pPr>
            <a:r>
              <a:rPr lang="en-US" sz="1600" b="1" dirty="0">
                <a:solidFill>
                  <a:srgbClr val="00B8D9"/>
                </a:solidFill>
                <a:latin typeface="Trebuchet MS" pitchFamily="34" charset="0"/>
                <a:ea typeface="Trebuchet MS" pitchFamily="34" charset="-122"/>
                <a:cs typeface="Trebuchet MS" pitchFamily="34" charset="-120"/>
              </a:rPr>
              <a:t>Status flags</a:t>
            </a:r>
            <a:endParaRPr lang="en-US" sz="1600" dirty="0"/>
          </a:p>
        </p:txBody>
      </p:sp>
      <p:sp>
        <p:nvSpPr>
          <p:cNvPr id="7" name="Shape 5"/>
          <p:cNvSpPr/>
          <p:nvPr/>
        </p:nvSpPr>
        <p:spPr>
          <a:xfrm>
            <a:off x="960120" y="2331720"/>
            <a:ext cx="4937760" cy="1463040"/>
          </a:xfrm>
          <a:prstGeom prst="rect">
            <a:avLst/>
          </a:prstGeom>
          <a:solidFill>
            <a:srgbClr val="1E2A47"/>
          </a:solidFill>
          <a:ln w="12700">
            <a:solidFill>
              <a:srgbClr val="1E2A47"/>
            </a:solidFill>
            <a:prstDash val="solid"/>
          </a:ln>
        </p:spPr>
      </p:sp>
      <p:sp>
        <p:nvSpPr>
          <p:cNvPr id="8" name="Text 6"/>
          <p:cNvSpPr/>
          <p:nvPr/>
        </p:nvSpPr>
        <p:spPr>
          <a:xfrm>
            <a:off x="1143000" y="2468880"/>
            <a:ext cx="4572000" cy="1188720"/>
          </a:xfrm>
          <a:prstGeom prst="rect">
            <a:avLst/>
          </a:prstGeom>
          <a:noFill/>
          <a:ln/>
        </p:spPr>
        <p:txBody>
          <a:bodyPr wrap="square" lIns="0" tIns="0" rIns="0" bIns="0" rtlCol="0" anchor="t"/>
          <a:lstStyle/>
          <a:p>
            <a:pPr indent="0" marL="0">
              <a:buNone/>
            </a:pPr>
            <a:r>
              <a:rPr lang="en-US" sz="1100" dirty="0">
                <a:solidFill>
                  <a:srgbClr val="FFFFFF"/>
                </a:solidFill>
                <a:latin typeface="Courier New" pitchFamily="34" charset="0"/>
                <a:ea typeface="Courier New" pitchFamily="34" charset="-122"/>
                <a:cs typeface="Courier New" pitchFamily="34" charset="-120"/>
              </a:rPr>
              <a:t>const { data, isPending }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DCDCAA"/>
                </a:solidFill>
                <a:latin typeface="Courier New" pitchFamily="34" charset="0"/>
                <a:ea typeface="Courier New" pitchFamily="34" charset="-122"/>
                <a:cs typeface="Courier New" pitchFamily="34" charset="-120"/>
              </a:rPr>
              <a:t>useQuery</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if (isPending) </a:t>
            </a:r>
            <a:pPr indent="0" marL="0">
              <a:buNone/>
            </a:pPr>
            <a:r>
              <a:rPr lang="en-US" sz="1100" dirty="0">
                <a:solidFill>
                  <a:srgbClr val="9CDCFE"/>
                </a:solidFill>
                <a:latin typeface="Courier New" pitchFamily="34" charset="0"/>
                <a:ea typeface="Courier New" pitchFamily="34" charset="-122"/>
                <a:cs typeface="Courier New" pitchFamily="34" charset="-120"/>
              </a:rPr>
              <a:t>return &lt;Spinner /&gt;;</a:t>
            </a:r>
            <a:endParaRPr lang="en-US" sz="1100" dirty="0"/>
          </a:p>
        </p:txBody>
      </p:sp>
      <p:sp>
        <p:nvSpPr>
          <p:cNvPr id="9" name="Text 7"/>
          <p:cNvSpPr/>
          <p:nvPr/>
        </p:nvSpPr>
        <p:spPr>
          <a:xfrm>
            <a:off x="960120" y="3977640"/>
            <a:ext cx="4937760" cy="18288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Component owns its loading UI</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Easy to add per-query custom states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Default — pick this unless you have a reason</a:t>
            </a:r>
            <a:endParaRPr lang="en-US" sz="1200" dirty="0"/>
          </a:p>
        </p:txBody>
      </p:sp>
      <p:sp>
        <p:nvSpPr>
          <p:cNvPr id="10" name="Shape 8"/>
          <p:cNvSpPr/>
          <p:nvPr/>
        </p:nvSpPr>
        <p:spPr>
          <a:xfrm>
            <a:off x="6355080" y="1691640"/>
            <a:ext cx="5029200" cy="4297680"/>
          </a:xfrm>
          <a:prstGeom prst="rect">
            <a:avLst/>
          </a:prstGeom>
          <a:solidFill>
            <a:srgbClr val="FFFFFF"/>
          </a:solidFill>
          <a:ln w="12700">
            <a:solidFill>
              <a:srgbClr val="E2E8F0"/>
            </a:solidFill>
            <a:prstDash val="solid"/>
          </a:ln>
        </p:spPr>
      </p:sp>
      <p:sp>
        <p:nvSpPr>
          <p:cNvPr id="11" name="Text 9"/>
          <p:cNvSpPr/>
          <p:nvPr/>
        </p:nvSpPr>
        <p:spPr>
          <a:xfrm>
            <a:off x="6537960" y="1874520"/>
            <a:ext cx="4754880" cy="365760"/>
          </a:xfrm>
          <a:prstGeom prst="rect">
            <a:avLst/>
          </a:prstGeom>
          <a:noFill/>
          <a:ln/>
        </p:spPr>
        <p:txBody>
          <a:bodyPr wrap="square" lIns="0" tIns="0" rIns="0" bIns="0" rtlCol="0" anchor="ctr"/>
          <a:lstStyle/>
          <a:p>
            <a:pPr indent="0" marL="0">
              <a:buNone/>
            </a:pPr>
            <a:r>
              <a:rPr lang="en-US" sz="1600" b="1" dirty="0">
                <a:solidFill>
                  <a:srgbClr val="00B8D9"/>
                </a:solidFill>
                <a:latin typeface="Trebuchet MS" pitchFamily="34" charset="0"/>
                <a:ea typeface="Trebuchet MS" pitchFamily="34" charset="-122"/>
                <a:cs typeface="Trebuchet MS" pitchFamily="34" charset="-120"/>
              </a:rPr>
              <a:t>Suspense mode</a:t>
            </a:r>
            <a:endParaRPr lang="en-US" sz="1600" dirty="0"/>
          </a:p>
        </p:txBody>
      </p:sp>
      <p:sp>
        <p:nvSpPr>
          <p:cNvPr id="12" name="Shape 10"/>
          <p:cNvSpPr/>
          <p:nvPr/>
        </p:nvSpPr>
        <p:spPr>
          <a:xfrm>
            <a:off x="6537960" y="2331720"/>
            <a:ext cx="4663440" cy="1463040"/>
          </a:xfrm>
          <a:prstGeom prst="rect">
            <a:avLst/>
          </a:prstGeom>
          <a:solidFill>
            <a:srgbClr val="1E2A47"/>
          </a:solidFill>
          <a:ln w="12700">
            <a:solidFill>
              <a:srgbClr val="1E2A47"/>
            </a:solidFill>
            <a:prstDash val="solid"/>
          </a:ln>
        </p:spPr>
      </p:sp>
      <p:sp>
        <p:nvSpPr>
          <p:cNvPr id="13" name="Text 11"/>
          <p:cNvSpPr/>
          <p:nvPr/>
        </p:nvSpPr>
        <p:spPr>
          <a:xfrm>
            <a:off x="6720840" y="2468880"/>
            <a:ext cx="4297680" cy="1188720"/>
          </a:xfrm>
          <a:prstGeom prst="rect">
            <a:avLst/>
          </a:prstGeom>
          <a:noFill/>
          <a:ln/>
        </p:spPr>
        <p:txBody>
          <a:bodyPr wrap="square" lIns="0" tIns="0" rIns="0" bIns="0" rtlCol="0" anchor="t"/>
          <a:lstStyle/>
          <a:p>
            <a:pPr indent="0" marL="0">
              <a:buNone/>
            </a:pPr>
            <a:r>
              <a:rPr lang="en-US" sz="1100" dirty="0">
                <a:solidFill>
                  <a:srgbClr val="C586C0"/>
                </a:solidFill>
                <a:latin typeface="Courier New" pitchFamily="34" charset="0"/>
                <a:ea typeface="Courier New" pitchFamily="34" charset="-122"/>
                <a:cs typeface="Courier New" pitchFamily="34" charset="-120"/>
              </a:rPr>
              <a:t>const { data } = </a:t>
            </a:r>
            <a:pPr indent="0" marL="0">
              <a:buNone/>
            </a:pPr>
            <a:r>
              <a:rPr lang="en-US" sz="1100" dirty="0">
                <a:solidFill>
                  <a:srgbClr val="DCDCAA"/>
                </a:solidFill>
                <a:latin typeface="Courier New" pitchFamily="34" charset="0"/>
                <a:ea typeface="Courier New" pitchFamily="34" charset="-122"/>
                <a:cs typeface="Courier New" pitchFamily="34" charset="-120"/>
              </a:rPr>
              <a:t>useSuspenseQuery</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i="1" dirty="0">
                <a:solidFill>
                  <a:srgbClr val="6A9955"/>
                </a:solidFill>
                <a:latin typeface="Courier New" pitchFamily="34" charset="0"/>
                <a:ea typeface="Courier New" pitchFamily="34" charset="-122"/>
                <a:cs typeface="Courier New" pitchFamily="34" charset="-120"/>
              </a:rPr>
              <a:t>// no isPending check — parent</a:t>
            </a:r>
            <a:endParaRPr lang="en-US" sz="1100" dirty="0"/>
          </a:p>
          <a:p>
            <a:pPr indent="0" marL="0">
              <a:buNone/>
            </a:pPr>
            <a:r>
              <a:rPr lang="en-US" sz="1100" i="1" dirty="0">
                <a:solidFill>
                  <a:srgbClr val="6A9955"/>
                </a:solidFill>
                <a:latin typeface="Courier New" pitchFamily="34" charset="0"/>
                <a:ea typeface="Courier New" pitchFamily="34" charset="-122"/>
                <a:cs typeface="Courier New" pitchFamily="34" charset="-120"/>
              </a:rPr>
              <a:t>// Suspense boundary handles it</a:t>
            </a:r>
            <a:endParaRPr lang="en-US" sz="1100" dirty="0"/>
          </a:p>
        </p:txBody>
      </p:sp>
      <p:sp>
        <p:nvSpPr>
          <p:cNvPr id="14" name="Text 12"/>
          <p:cNvSpPr/>
          <p:nvPr/>
        </p:nvSpPr>
        <p:spPr>
          <a:xfrm>
            <a:off x="6537960" y="3977640"/>
            <a:ext cx="4663440" cy="18288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Loading UI lives in a parent &lt;Suspense&gt;</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Component code reads as if data is always present</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Fits naturally with route-level loading.jsx files</a:t>
            </a:r>
            <a:endParaRPr lang="en-US" sz="1200" dirty="0"/>
          </a:p>
        </p:txBody>
      </p:sp>
      <p:sp>
        <p:nvSpPr>
          <p:cNvPr id="15" name="Text 13"/>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16" name="Text 14"/>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18 / 27</a:t>
            </a:r>
            <a:endParaRPr lang="en-US" sz="9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Errors — boundaries beat conditionals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Wrap features in error boundaries. TanStack Query throws into them when configured.</a:t>
            </a:r>
            <a:endParaRPr lang="en-US" sz="1400" dirty="0"/>
          </a:p>
        </p:txBody>
      </p:sp>
      <p:sp>
        <p:nvSpPr>
          <p:cNvPr id="5" name="Shape 3"/>
          <p:cNvSpPr/>
          <p:nvPr/>
        </p:nvSpPr>
        <p:spPr>
          <a:xfrm>
            <a:off x="777240" y="1554480"/>
            <a:ext cx="10607040" cy="42062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93192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app/main.jsx</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&lt;</a:t>
            </a:r>
            <a:pPr indent="0" marL="0">
              <a:buNone/>
            </a:pPr>
            <a:r>
              <a:rPr lang="en-US" sz="1200" dirty="0">
                <a:solidFill>
                  <a:srgbClr val="DCDCAA"/>
                </a:solidFill>
                <a:latin typeface="Courier New" pitchFamily="34" charset="0"/>
                <a:ea typeface="Courier New" pitchFamily="34" charset="-122"/>
                <a:cs typeface="Courier New" pitchFamily="34" charset="-120"/>
              </a:rPr>
              <a:t>QueryErrorResetBoundary</a:t>
            </a:r>
            <a:pPr indent="0" marL="0">
              <a:buNone/>
            </a:pPr>
            <a:r>
              <a:rPr lang="en-US" sz="1200" dirty="0">
                <a:solidFill>
                  <a:srgbClr val="9CDCFE"/>
                </a:solidFill>
                <a:latin typeface="Courier New" pitchFamily="34" charset="0"/>
                <a:ea typeface="Courier New" pitchFamily="34" charset="-122"/>
                <a:cs typeface="Courier New" pitchFamily="34" charset="-120"/>
              </a:rPr>
              <a:t>&gt;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 reset }) =&gt;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&lt;</a:t>
            </a:r>
            <a:pPr indent="0" marL="0">
              <a:buNone/>
            </a:pPr>
            <a:r>
              <a:rPr lang="en-US" sz="1200" dirty="0">
                <a:solidFill>
                  <a:srgbClr val="DCDCAA"/>
                </a:solidFill>
                <a:latin typeface="Courier New" pitchFamily="34" charset="0"/>
                <a:ea typeface="Courier New" pitchFamily="34" charset="-122"/>
                <a:cs typeface="Courier New" pitchFamily="34" charset="-120"/>
              </a:rPr>
              <a:t>ErrorBoundary</a:t>
            </a:r>
            <a:pPr indent="0" marL="0">
              <a:buNone/>
            </a:pPr>
            <a:r>
              <a:rPr lang="en-US" sz="1200" dirty="0">
                <a:solidFill>
                  <a:srgbClr val="9CDCFE"/>
                </a:solidFill>
                <a:latin typeface="Courier New" pitchFamily="34" charset="0"/>
                <a:ea typeface="Courier New" pitchFamily="34" charset="-122"/>
                <a:cs typeface="Courier New" pitchFamily="34" charset="-120"/>
              </a:rPr>
              <a:t> onReset={reset} fallbackRender={({ error, resetErrorBoundary }) =&gt;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&lt;ErrorPanel error={error} onRetry={resetErrorBoundary}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&lt;App /&gt;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&lt;/</a:t>
            </a:r>
            <a:pPr indent="0" marL="0">
              <a:buNone/>
            </a:pPr>
            <a:r>
              <a:rPr lang="en-US" sz="1200" dirty="0">
                <a:solidFill>
                  <a:srgbClr val="DCDCAA"/>
                </a:solidFill>
                <a:latin typeface="Courier New" pitchFamily="34" charset="0"/>
                <a:ea typeface="Courier New" pitchFamily="34" charset="-122"/>
                <a:cs typeface="Courier New" pitchFamily="34" charset="-120"/>
              </a:rPr>
              <a:t>ErrorBoundary</a:t>
            </a:r>
            <a:pPr indent="0" marL="0">
              <a:buNone/>
            </a:pPr>
            <a:r>
              <a:rPr lang="en-US" sz="1200" dirty="0">
                <a:solidFill>
                  <a:srgbClr val="9CDCFE"/>
                </a:solidFill>
                <a:latin typeface="Courier New" pitchFamily="34" charset="0"/>
                <a:ea typeface="Courier New" pitchFamily="34" charset="-122"/>
                <a:cs typeface="Courier New" pitchFamily="34" charset="-120"/>
              </a:rPr>
              <a:t>&gt;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&lt;/</a:t>
            </a:r>
            <a:pPr indent="0" marL="0">
              <a:buNone/>
            </a:pPr>
            <a:r>
              <a:rPr lang="en-US" sz="1200" dirty="0">
                <a:solidFill>
                  <a:srgbClr val="DCDCAA"/>
                </a:solidFill>
                <a:latin typeface="Courier New" pitchFamily="34" charset="0"/>
                <a:ea typeface="Courier New" pitchFamily="34" charset="-122"/>
                <a:cs typeface="Courier New" pitchFamily="34" charset="-120"/>
              </a:rPr>
              <a:t>QueryErrorResetBoundary</a:t>
            </a:r>
            <a:pPr indent="0" marL="0">
              <a:buNone/>
            </a:pPr>
            <a:r>
              <a:rPr lang="en-US" sz="1200" dirty="0">
                <a:solidFill>
                  <a:srgbClr val="9CDCFE"/>
                </a:solidFill>
                <a:latin typeface="Courier New" pitchFamily="34" charset="0"/>
                <a:ea typeface="Courier New" pitchFamily="34" charset="-122"/>
                <a:cs typeface="Courier New" pitchFamily="34" charset="-120"/>
              </a:rPr>
              <a:t>&gt;</a:t>
            </a:r>
            <a:endParaRPr lang="en-US" sz="1200" dirty="0"/>
          </a:p>
          <a:p>
            <a:pPr indent="0" marL="0">
              <a:buNone/>
            </a:pP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in the query</a:t>
            </a:r>
            <a:endParaRPr lang="en-US" sz="1200" dirty="0"/>
          </a:p>
          <a:p>
            <a:pPr indent="0" marL="0">
              <a:buNone/>
            </a:pPr>
            <a:r>
              <a:rPr lang="en-US" sz="1200" dirty="0">
                <a:solidFill>
                  <a:srgbClr val="DCDCAA"/>
                </a:solidFill>
                <a:latin typeface="Courier New" pitchFamily="34" charset="0"/>
                <a:ea typeface="Courier New" pitchFamily="34" charset="-122"/>
                <a:cs typeface="Courier New" pitchFamily="34" charset="-120"/>
              </a:rPr>
              <a:t>useQuery</a:t>
            </a:r>
            <a:pPr indent="0" marL="0">
              <a:buNone/>
            </a:pPr>
            <a:r>
              <a:rPr lang="en-US" sz="1200" dirty="0">
                <a:solidFill>
                  <a:srgbClr val="9CDCFE"/>
                </a:solidFill>
                <a:latin typeface="Courier New" pitchFamily="34" charset="0"/>
                <a:ea typeface="Courier New" pitchFamily="34" charset="-122"/>
                <a:cs typeface="Courier New" pitchFamily="34" charset="-120"/>
              </a:rPr>
              <a:t>({ ..., throwOnError: </a:t>
            </a:r>
            <a:pPr indent="0" marL="0">
              <a:buNone/>
            </a:pPr>
            <a:r>
              <a:rPr lang="en-US" sz="1200" dirty="0">
                <a:solidFill>
                  <a:srgbClr val="C586C0"/>
                </a:solidFill>
                <a:latin typeface="Courier New" pitchFamily="34" charset="0"/>
                <a:ea typeface="Courier New" pitchFamily="34" charset="-122"/>
                <a:cs typeface="Courier New" pitchFamily="34" charset="-120"/>
              </a:rPr>
              <a:t>true </a:t>
            </a:r>
            <a:pPr indent="0" marL="0">
              <a:buNone/>
            </a:pPr>
            <a:r>
              <a:rPr lang="en-US" sz="1200" dirty="0">
                <a:solidFill>
                  <a:srgbClr val="9CDCFE"/>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19 / 27</a:t>
            </a:r>
            <a:endParaRPr lang="en-US" sz="9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Retry — when, when not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Default retries 3 times with exponential backoff. Override per-query.</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502920" cy="502920"/>
          </a:xfrm>
          <a:prstGeom prst="rect">
            <a:avLst/>
          </a:prstGeom>
        </p:spPr>
      </p:pic>
      <p:sp>
        <p:nvSpPr>
          <p:cNvPr id="7" name="Text 4"/>
          <p:cNvSpPr/>
          <p:nvPr/>
        </p:nvSpPr>
        <p:spPr>
          <a:xfrm>
            <a:off x="1691640" y="178308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Retry transient network errors</a:t>
            </a:r>
            <a:endParaRPr lang="en-US" sz="1350" dirty="0"/>
          </a:p>
        </p:txBody>
      </p:sp>
      <p:sp>
        <p:nvSpPr>
          <p:cNvPr id="8" name="Text 5"/>
          <p:cNvSpPr/>
          <p:nvPr/>
        </p:nvSpPr>
        <p:spPr>
          <a:xfrm>
            <a:off x="1691640" y="210312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5xx, fetch failures, timeouts. Default behavior is fine.</a:t>
            </a:r>
            <a:endParaRPr lang="en-US" sz="1150" dirty="0"/>
          </a:p>
        </p:txBody>
      </p:sp>
      <p:sp>
        <p:nvSpPr>
          <p:cNvPr id="9" name="Shape 6"/>
          <p:cNvSpPr/>
          <p:nvPr/>
        </p:nvSpPr>
        <p:spPr>
          <a:xfrm>
            <a:off x="777240" y="274320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926080"/>
            <a:ext cx="502920" cy="502920"/>
          </a:xfrm>
          <a:prstGeom prst="rect">
            <a:avLst/>
          </a:prstGeom>
        </p:spPr>
      </p:pic>
      <p:sp>
        <p:nvSpPr>
          <p:cNvPr id="11" name="Text 7"/>
          <p:cNvSpPr/>
          <p:nvPr/>
        </p:nvSpPr>
        <p:spPr>
          <a:xfrm>
            <a:off x="1691640" y="283464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Don't retry 4xx errors</a:t>
            </a:r>
            <a:endParaRPr lang="en-US" sz="1350" dirty="0"/>
          </a:p>
        </p:txBody>
      </p:sp>
      <p:sp>
        <p:nvSpPr>
          <p:cNvPr id="12" name="Text 8"/>
          <p:cNvSpPr/>
          <p:nvPr/>
        </p:nvSpPr>
        <p:spPr>
          <a:xfrm>
            <a:off x="1691640" y="315468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Client mistakes won't fix themselves on retry. retry: (n, err) =&gt; err.status &lt; 500.</a:t>
            </a:r>
            <a:endParaRPr lang="en-US" sz="1150" dirty="0"/>
          </a:p>
        </p:txBody>
      </p:sp>
      <p:sp>
        <p:nvSpPr>
          <p:cNvPr id="13" name="Shape 9"/>
          <p:cNvSpPr/>
          <p:nvPr/>
        </p:nvSpPr>
        <p:spPr>
          <a:xfrm>
            <a:off x="777240" y="379476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977640"/>
            <a:ext cx="502920" cy="502920"/>
          </a:xfrm>
          <a:prstGeom prst="rect">
            <a:avLst/>
          </a:prstGeom>
        </p:spPr>
      </p:pic>
      <p:sp>
        <p:nvSpPr>
          <p:cNvPr id="15" name="Text 10"/>
          <p:cNvSpPr/>
          <p:nvPr/>
        </p:nvSpPr>
        <p:spPr>
          <a:xfrm>
            <a:off x="1691640" y="388620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Don't retry mutations by default</a:t>
            </a:r>
            <a:endParaRPr lang="en-US" sz="1350" dirty="0"/>
          </a:p>
        </p:txBody>
      </p:sp>
      <p:sp>
        <p:nvSpPr>
          <p:cNvPr id="16" name="Text 11"/>
          <p:cNvSpPr/>
          <p:nvPr/>
        </p:nvSpPr>
        <p:spPr>
          <a:xfrm>
            <a:off x="1691640" y="420624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A failed POST shouldn't auto-fire again — could double-submit. retry: false on mutations.</a:t>
            </a:r>
            <a:endParaRPr lang="en-US" sz="1150" dirty="0"/>
          </a:p>
        </p:txBody>
      </p:sp>
      <p:sp>
        <p:nvSpPr>
          <p:cNvPr id="17" name="Shape 12"/>
          <p:cNvSpPr/>
          <p:nvPr/>
        </p:nvSpPr>
        <p:spPr>
          <a:xfrm>
            <a:off x="777240" y="484632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5029200"/>
            <a:ext cx="502920" cy="502920"/>
          </a:xfrm>
          <a:prstGeom prst="rect">
            <a:avLst/>
          </a:prstGeom>
        </p:spPr>
      </p:pic>
      <p:sp>
        <p:nvSpPr>
          <p:cNvPr id="19" name="Text 13"/>
          <p:cNvSpPr/>
          <p:nvPr/>
        </p:nvSpPr>
        <p:spPr>
          <a:xfrm>
            <a:off x="1691640" y="493776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Custom backoff for rate-limited APIs</a:t>
            </a:r>
            <a:endParaRPr lang="en-US" sz="1350" dirty="0"/>
          </a:p>
        </p:txBody>
      </p:sp>
      <p:sp>
        <p:nvSpPr>
          <p:cNvPr id="20" name="Text 14"/>
          <p:cNvSpPr/>
          <p:nvPr/>
        </p:nvSpPr>
        <p:spPr>
          <a:xfrm>
            <a:off x="1691640" y="525780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retryDelay: (attempt) =&gt; Math.min(1000 * 2 ** attempt, 30000).</a:t>
            </a:r>
            <a:endParaRPr lang="en-US" sz="11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20 / 27</a:t>
            </a:r>
            <a:endParaRPr lang="en-US" sz="9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21">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4</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use() vs useQuery</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Different tools, overlapping problems. Knowing when each fits is the skill.</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 and TanStack Query — when each wins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Both can read promises. Pick by what owns the promise and what you need around it.</a:t>
            </a:r>
            <a:endParaRPr lang="en-US" sz="1400" dirty="0"/>
          </a:p>
        </p:txBody>
      </p:sp>
      <p:sp>
        <p:nvSpPr>
          <p:cNvPr id="5" name="Shape 3"/>
          <p:cNvSpPr/>
          <p:nvPr/>
        </p:nvSpPr>
        <p:spPr>
          <a:xfrm>
            <a:off x="777240" y="1691640"/>
            <a:ext cx="5349240" cy="4389120"/>
          </a:xfrm>
          <a:prstGeom prst="rect">
            <a:avLst/>
          </a:prstGeom>
          <a:solidFill>
            <a:srgbClr val="FFFFFF"/>
          </a:solidFill>
          <a:ln w="12700">
            <a:solidFill>
              <a:srgbClr val="E2E8F0"/>
            </a:solidFill>
            <a:prstDash val="solid"/>
          </a:ln>
        </p:spPr>
      </p:sp>
      <p:sp>
        <p:nvSpPr>
          <p:cNvPr id="6" name="Text 4"/>
          <p:cNvSpPr/>
          <p:nvPr/>
        </p:nvSpPr>
        <p:spPr>
          <a:xfrm>
            <a:off x="960120" y="1874520"/>
            <a:ext cx="5029200" cy="457200"/>
          </a:xfrm>
          <a:prstGeom prst="rect">
            <a:avLst/>
          </a:prstGeom>
          <a:noFill/>
          <a:ln/>
        </p:spPr>
        <p:txBody>
          <a:bodyPr wrap="square" lIns="0" tIns="0" rIns="0" bIns="0" rtlCol="0" anchor="ctr"/>
          <a:lstStyle/>
          <a:p>
            <a:pPr indent="0" marL="0">
              <a:buNone/>
            </a:pPr>
            <a:r>
              <a:rPr lang="en-US" sz="1800" b="1" dirty="0">
                <a:solidFill>
                  <a:srgbClr val="00B8D9"/>
                </a:solidFill>
                <a:latin typeface="Courier New" pitchFamily="34" charset="0"/>
                <a:ea typeface="Courier New" pitchFamily="34" charset="-122"/>
                <a:cs typeface="Courier New" pitchFamily="34" charset="-120"/>
              </a:rPr>
              <a:t>use(promise)</a:t>
            </a:r>
            <a:endParaRPr lang="en-US" sz="1800" dirty="0"/>
          </a:p>
        </p:txBody>
      </p:sp>
      <p:sp>
        <p:nvSpPr>
          <p:cNvPr id="7" name="Text 5"/>
          <p:cNvSpPr/>
          <p:nvPr/>
        </p:nvSpPr>
        <p:spPr>
          <a:xfrm>
            <a:off x="960120" y="2468880"/>
            <a:ext cx="4937760" cy="3474720"/>
          </a:xfrm>
          <a:prstGeom prst="rect">
            <a:avLst/>
          </a:prstGeom>
          <a:noFill/>
          <a:ln/>
        </p:spPr>
        <p:txBody>
          <a:bodyPr wrap="square" lIns="0" tIns="0" rIns="0" bIns="0" rtlCol="0" anchor="t"/>
          <a:lstStyle/>
          <a:p>
            <a:pPr indent="0" marL="0">
              <a:spcAft>
                <a:spcPts val="400"/>
              </a:spcAft>
              <a:buNone/>
            </a:pPr>
            <a:r>
              <a:rPr lang="en-US" sz="1300" b="1" dirty="0">
                <a:solidFill>
                  <a:srgbClr val="0F172A"/>
                </a:solidFill>
                <a:latin typeface="Arial" pitchFamily="34" charset="0"/>
                <a:ea typeface="Arial" pitchFamily="34" charset="-122"/>
                <a:cs typeface="Arial" pitchFamily="34" charset="-120"/>
              </a:rPr>
              <a:t>When</a:t>
            </a:r>
            <a:endParaRPr lang="en-US" sz="1200" dirty="0"/>
          </a:p>
          <a:p>
            <a:pPr indent="0" marL="0">
              <a:spcAft>
                <a:spcPts val="400"/>
              </a:spcAft>
              <a:buNone/>
            </a:pPr>
            <a:r>
              <a:rPr lang="en-US" sz="1200" dirty="0">
                <a:solidFill>
                  <a:srgbClr val="475569"/>
                </a:solidFill>
                <a:latin typeface="Arial" pitchFamily="34" charset="0"/>
                <a:ea typeface="Arial" pitchFamily="34" charset="-122"/>
                <a:cs typeface="Arial" pitchFamily="34" charset="-120"/>
              </a:rPr>
              <a:t>Promise is created by a route loader, Server Component, or stable parent.</a:t>
            </a:r>
            <a:endParaRPr lang="en-US" sz="1200" dirty="0"/>
          </a:p>
          <a:p>
            <a:pPr indent="0" marL="0">
              <a:spcAft>
                <a:spcPts val="400"/>
              </a:spcAft>
              <a:buNone/>
            </a:pPr>
            <a:r>
              <a:rPr lang="en-US" sz="1200" dirty="0">
                <a:solidFill>
                  <a:srgbClr val="475569"/>
                </a:solidFill>
                <a:latin typeface="Arial" pitchFamily="34" charset="0"/>
                <a:ea typeface="Arial" pitchFamily="34" charset="-122"/>
                <a:cs typeface="Arial" pitchFamily="34" charset="-120"/>
              </a:rPr>
              <a:t> </a:t>
            </a:r>
            <a:endParaRPr lang="en-US" sz="1200" dirty="0"/>
          </a:p>
          <a:p>
            <a:pPr indent="0" marL="0">
              <a:spcAft>
                <a:spcPts val="400"/>
              </a:spcAft>
              <a:buNone/>
            </a:pPr>
            <a:r>
              <a:rPr lang="en-US" sz="1300" b="1" dirty="0">
                <a:solidFill>
                  <a:srgbClr val="0F172A"/>
                </a:solidFill>
                <a:latin typeface="Arial" pitchFamily="34" charset="0"/>
                <a:ea typeface="Arial" pitchFamily="34" charset="-122"/>
                <a:cs typeface="Arial" pitchFamily="34" charset="-120"/>
              </a:rPr>
              <a:t>Win</a:t>
            </a:r>
            <a:endParaRPr lang="en-US" sz="1200" dirty="0"/>
          </a:p>
          <a:p>
            <a:pPr indent="0" marL="0">
              <a:spcAft>
                <a:spcPts val="400"/>
              </a:spcAft>
              <a:buNone/>
            </a:pPr>
            <a:r>
              <a:rPr lang="en-US" sz="1200" dirty="0">
                <a:solidFill>
                  <a:srgbClr val="475569"/>
                </a:solidFill>
                <a:latin typeface="Arial" pitchFamily="34" charset="0"/>
                <a:ea typeface="Arial" pitchFamily="34" charset="-122"/>
                <a:cs typeface="Arial" pitchFamily="34" charset="-120"/>
              </a:rPr>
              <a:t>Components read like sync code. No isPending checks. Composes naturally with Suspense.</a:t>
            </a:r>
            <a:endParaRPr lang="en-US" sz="1200" dirty="0"/>
          </a:p>
          <a:p>
            <a:pPr indent="0" marL="0">
              <a:spcAft>
                <a:spcPts val="400"/>
              </a:spcAft>
              <a:buNone/>
            </a:pPr>
            <a:r>
              <a:rPr lang="en-US" sz="1200" dirty="0">
                <a:solidFill>
                  <a:srgbClr val="475569"/>
                </a:solidFill>
                <a:latin typeface="Arial" pitchFamily="34" charset="0"/>
                <a:ea typeface="Arial" pitchFamily="34" charset="-122"/>
                <a:cs typeface="Arial" pitchFamily="34" charset="-120"/>
              </a:rPr>
              <a:t> </a:t>
            </a:r>
            <a:endParaRPr lang="en-US" sz="1200" dirty="0"/>
          </a:p>
          <a:p>
            <a:pPr indent="0" marL="0">
              <a:spcAft>
                <a:spcPts val="400"/>
              </a:spcAft>
              <a:buNone/>
            </a:pPr>
            <a:r>
              <a:rPr lang="en-US" sz="1300" b="1" dirty="0">
                <a:solidFill>
                  <a:srgbClr val="0F172A"/>
                </a:solidFill>
                <a:latin typeface="Arial" pitchFamily="34" charset="0"/>
                <a:ea typeface="Arial" pitchFamily="34" charset="-122"/>
                <a:cs typeface="Arial" pitchFamily="34" charset="-120"/>
              </a:rPr>
              <a:t>Don't get</a:t>
            </a:r>
            <a:endParaRPr lang="en-US" sz="1200" dirty="0"/>
          </a:p>
          <a:p>
            <a:pPr indent="0" marL="0">
              <a:spcAft>
                <a:spcPts val="400"/>
              </a:spcAft>
              <a:buNone/>
            </a:pPr>
            <a:r>
              <a:rPr lang="en-US" sz="1200" dirty="0">
                <a:solidFill>
                  <a:srgbClr val="475569"/>
                </a:solidFill>
                <a:latin typeface="Arial" pitchFamily="34" charset="0"/>
                <a:ea typeface="Arial" pitchFamily="34" charset="-122"/>
                <a:cs typeface="Arial" pitchFamily="34" charset="-120"/>
              </a:rPr>
              <a:t>Cache, dedup, retry, invalidation, refetch. You'd build those yourself.</a:t>
            </a:r>
            <a:endParaRPr lang="en-US" sz="1200" dirty="0"/>
          </a:p>
        </p:txBody>
      </p:sp>
      <p:sp>
        <p:nvSpPr>
          <p:cNvPr id="8" name="Shape 6"/>
          <p:cNvSpPr/>
          <p:nvPr/>
        </p:nvSpPr>
        <p:spPr>
          <a:xfrm>
            <a:off x="6355080" y="1691640"/>
            <a:ext cx="5029200" cy="4389120"/>
          </a:xfrm>
          <a:prstGeom prst="rect">
            <a:avLst/>
          </a:prstGeom>
          <a:solidFill>
            <a:srgbClr val="FFFFFF"/>
          </a:solidFill>
          <a:ln w="12700">
            <a:solidFill>
              <a:srgbClr val="E2E8F0"/>
            </a:solidFill>
            <a:prstDash val="solid"/>
          </a:ln>
        </p:spPr>
      </p:sp>
      <p:sp>
        <p:nvSpPr>
          <p:cNvPr id="9" name="Text 7"/>
          <p:cNvSpPr/>
          <p:nvPr/>
        </p:nvSpPr>
        <p:spPr>
          <a:xfrm>
            <a:off x="6537960" y="1874520"/>
            <a:ext cx="4754880" cy="457200"/>
          </a:xfrm>
          <a:prstGeom prst="rect">
            <a:avLst/>
          </a:prstGeom>
          <a:noFill/>
          <a:ln/>
        </p:spPr>
        <p:txBody>
          <a:bodyPr wrap="square" lIns="0" tIns="0" rIns="0" bIns="0" rtlCol="0" anchor="ctr"/>
          <a:lstStyle/>
          <a:p>
            <a:pPr indent="0" marL="0">
              <a:buNone/>
            </a:pPr>
            <a:r>
              <a:rPr lang="en-US" sz="1800" b="1" dirty="0">
                <a:solidFill>
                  <a:srgbClr val="00B8D9"/>
                </a:solidFill>
                <a:latin typeface="Courier New" pitchFamily="34" charset="0"/>
                <a:ea typeface="Courier New" pitchFamily="34" charset="-122"/>
                <a:cs typeface="Courier New" pitchFamily="34" charset="-120"/>
              </a:rPr>
              <a:t>useQuery / useMutation</a:t>
            </a:r>
            <a:endParaRPr lang="en-US" sz="1800" dirty="0"/>
          </a:p>
        </p:txBody>
      </p:sp>
      <p:sp>
        <p:nvSpPr>
          <p:cNvPr id="10" name="Text 8"/>
          <p:cNvSpPr/>
          <p:nvPr/>
        </p:nvSpPr>
        <p:spPr>
          <a:xfrm>
            <a:off x="6537960" y="2468880"/>
            <a:ext cx="4663440" cy="3474720"/>
          </a:xfrm>
          <a:prstGeom prst="rect">
            <a:avLst/>
          </a:prstGeom>
          <a:noFill/>
          <a:ln/>
        </p:spPr>
        <p:txBody>
          <a:bodyPr wrap="square" lIns="0" tIns="0" rIns="0" bIns="0" rtlCol="0" anchor="t"/>
          <a:lstStyle/>
          <a:p>
            <a:pPr indent="0" marL="0">
              <a:spcAft>
                <a:spcPts val="400"/>
              </a:spcAft>
              <a:buNone/>
            </a:pPr>
            <a:r>
              <a:rPr lang="en-US" sz="1300" b="1" dirty="0">
                <a:solidFill>
                  <a:srgbClr val="0F172A"/>
                </a:solidFill>
                <a:latin typeface="Arial" pitchFamily="34" charset="0"/>
                <a:ea typeface="Arial" pitchFamily="34" charset="-122"/>
                <a:cs typeface="Arial" pitchFamily="34" charset="-120"/>
              </a:rPr>
              <a:t>When</a:t>
            </a:r>
            <a:endParaRPr lang="en-US" sz="1200" dirty="0"/>
          </a:p>
          <a:p>
            <a:pPr indent="0" marL="0">
              <a:spcAft>
                <a:spcPts val="400"/>
              </a:spcAft>
              <a:buNone/>
            </a:pPr>
            <a:r>
              <a:rPr lang="en-US" sz="1200" dirty="0">
                <a:solidFill>
                  <a:srgbClr val="475569"/>
                </a:solidFill>
                <a:latin typeface="Arial" pitchFamily="34" charset="0"/>
                <a:ea typeface="Arial" pitchFamily="34" charset="-122"/>
                <a:cs typeface="Arial" pitchFamily="34" charset="-120"/>
              </a:rPr>
              <a:t>Component triggers the fetch. Multiple components share the data. Mutations and refetches matter.</a:t>
            </a:r>
            <a:endParaRPr lang="en-US" sz="1200" dirty="0"/>
          </a:p>
          <a:p>
            <a:pPr indent="0" marL="0">
              <a:spcAft>
                <a:spcPts val="400"/>
              </a:spcAft>
              <a:buNone/>
            </a:pPr>
            <a:r>
              <a:rPr lang="en-US" sz="1200" dirty="0">
                <a:solidFill>
                  <a:srgbClr val="475569"/>
                </a:solidFill>
                <a:latin typeface="Arial" pitchFamily="34" charset="0"/>
                <a:ea typeface="Arial" pitchFamily="34" charset="-122"/>
                <a:cs typeface="Arial" pitchFamily="34" charset="-120"/>
              </a:rPr>
              <a:t> </a:t>
            </a:r>
            <a:endParaRPr lang="en-US" sz="1200" dirty="0"/>
          </a:p>
          <a:p>
            <a:pPr indent="0" marL="0">
              <a:spcAft>
                <a:spcPts val="400"/>
              </a:spcAft>
              <a:buNone/>
            </a:pPr>
            <a:r>
              <a:rPr lang="en-US" sz="1300" b="1" dirty="0">
                <a:solidFill>
                  <a:srgbClr val="0F172A"/>
                </a:solidFill>
                <a:latin typeface="Arial" pitchFamily="34" charset="0"/>
                <a:ea typeface="Arial" pitchFamily="34" charset="-122"/>
                <a:cs typeface="Arial" pitchFamily="34" charset="-120"/>
              </a:rPr>
              <a:t>Win</a:t>
            </a:r>
            <a:endParaRPr lang="en-US" sz="1200" dirty="0"/>
          </a:p>
          <a:p>
            <a:pPr indent="0" marL="0">
              <a:spcAft>
                <a:spcPts val="400"/>
              </a:spcAft>
              <a:buNone/>
            </a:pPr>
            <a:r>
              <a:rPr lang="en-US" sz="1200" dirty="0">
                <a:solidFill>
                  <a:srgbClr val="475569"/>
                </a:solidFill>
                <a:latin typeface="Arial" pitchFamily="34" charset="0"/>
                <a:ea typeface="Arial" pitchFamily="34" charset="-122"/>
                <a:cs typeface="Arial" pitchFamily="34" charset="-120"/>
              </a:rPr>
              <a:t>Cache, dedup, retry, invalidation, refetch. The full data layer.</a:t>
            </a:r>
            <a:endParaRPr lang="en-US" sz="1200" dirty="0"/>
          </a:p>
          <a:p>
            <a:pPr indent="0" marL="0">
              <a:spcAft>
                <a:spcPts val="400"/>
              </a:spcAft>
              <a:buNone/>
            </a:pPr>
            <a:r>
              <a:rPr lang="en-US" sz="1200" dirty="0">
                <a:solidFill>
                  <a:srgbClr val="475569"/>
                </a:solidFill>
                <a:latin typeface="Arial" pitchFamily="34" charset="0"/>
                <a:ea typeface="Arial" pitchFamily="34" charset="-122"/>
                <a:cs typeface="Arial" pitchFamily="34" charset="-120"/>
              </a:rPr>
              <a:t> </a:t>
            </a:r>
            <a:endParaRPr lang="en-US" sz="1200" dirty="0"/>
          </a:p>
          <a:p>
            <a:pPr indent="0" marL="0">
              <a:spcAft>
                <a:spcPts val="400"/>
              </a:spcAft>
              <a:buNone/>
            </a:pPr>
            <a:r>
              <a:rPr lang="en-US" sz="1300" b="1" dirty="0">
                <a:solidFill>
                  <a:srgbClr val="0F172A"/>
                </a:solidFill>
                <a:latin typeface="Arial" pitchFamily="34" charset="0"/>
                <a:ea typeface="Arial" pitchFamily="34" charset="-122"/>
                <a:cs typeface="Arial" pitchFamily="34" charset="-120"/>
              </a:rPr>
              <a:t>Don't get</a:t>
            </a:r>
            <a:endParaRPr lang="en-US" sz="1200" dirty="0"/>
          </a:p>
          <a:p>
            <a:pPr indent="0" marL="0">
              <a:spcAft>
                <a:spcPts val="400"/>
              </a:spcAft>
              <a:buNone/>
            </a:pPr>
            <a:r>
              <a:rPr lang="en-US" sz="1200" dirty="0">
                <a:solidFill>
                  <a:srgbClr val="475569"/>
                </a:solidFill>
                <a:latin typeface="Arial" pitchFamily="34" charset="0"/>
                <a:ea typeface="Arial" pitchFamily="34" charset="-122"/>
                <a:cs typeface="Arial" pitchFamily="34" charset="-120"/>
              </a:rPr>
              <a:t>The 'reads like sync code' ergonomic of use() — but useSuspenseQuery gets close.</a:t>
            </a:r>
            <a:endParaRPr lang="en-US" sz="1200" dirty="0"/>
          </a:p>
        </p:txBody>
      </p:sp>
      <p:sp>
        <p:nvSpPr>
          <p:cNvPr id="11"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12"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22 / 27</a:t>
            </a:r>
            <a:endParaRPr lang="en-US" sz="9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Module 5 takeaways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What to remember when you're back at your desk.</a:t>
            </a:r>
            <a:endParaRPr lang="en-US" sz="1400" dirty="0"/>
          </a:p>
        </p:txBody>
      </p:sp>
      <p:sp>
        <p:nvSpPr>
          <p:cNvPr id="5" name="Shape 3"/>
          <p:cNvSpPr/>
          <p:nvPr/>
        </p:nvSpPr>
        <p:spPr>
          <a:xfrm>
            <a:off x="777240" y="1691640"/>
            <a:ext cx="10607040" cy="603504"/>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10512"/>
            <a:ext cx="365760" cy="365760"/>
          </a:xfrm>
          <a:prstGeom prst="rect">
            <a:avLst/>
          </a:prstGeom>
        </p:spPr>
      </p:pic>
      <p:sp>
        <p:nvSpPr>
          <p:cNvPr id="7" name="Text 4"/>
          <p:cNvSpPr/>
          <p:nvPr/>
        </p:nvSpPr>
        <p:spPr>
          <a:xfrm>
            <a:off x="1508760" y="1737360"/>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Default to TanStack Query for client-driven data. It solves the dozen problems plain fetch + useEffect doesn't.</a:t>
            </a:r>
            <a:endParaRPr lang="en-US" sz="1200" dirty="0"/>
          </a:p>
        </p:txBody>
      </p:sp>
      <p:sp>
        <p:nvSpPr>
          <p:cNvPr id="8" name="Shape 5"/>
          <p:cNvSpPr/>
          <p:nvPr/>
        </p:nvSpPr>
        <p:spPr>
          <a:xfrm>
            <a:off x="777240" y="2404872"/>
            <a:ext cx="10607040" cy="603504"/>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960120" y="2523744"/>
            <a:ext cx="365760" cy="365760"/>
          </a:xfrm>
          <a:prstGeom prst="rect">
            <a:avLst/>
          </a:prstGeom>
        </p:spPr>
      </p:pic>
      <p:sp>
        <p:nvSpPr>
          <p:cNvPr id="10" name="Text 6"/>
          <p:cNvSpPr/>
          <p:nvPr/>
        </p:nvSpPr>
        <p:spPr>
          <a:xfrm>
            <a:off x="1508760" y="2450592"/>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Query keys are the cache contract. Hierarchical, parameterized, never mutable. Centralize them.</a:t>
            </a:r>
            <a:endParaRPr lang="en-US" sz="1200" dirty="0"/>
          </a:p>
        </p:txBody>
      </p:sp>
      <p:sp>
        <p:nvSpPr>
          <p:cNvPr id="11" name="Shape 7"/>
          <p:cNvSpPr/>
          <p:nvPr/>
        </p:nvSpPr>
        <p:spPr>
          <a:xfrm>
            <a:off x="777240" y="3118104"/>
            <a:ext cx="10607040" cy="603504"/>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236976"/>
            <a:ext cx="365760" cy="365760"/>
          </a:xfrm>
          <a:prstGeom prst="rect">
            <a:avLst/>
          </a:prstGeom>
        </p:spPr>
      </p:pic>
      <p:sp>
        <p:nvSpPr>
          <p:cNvPr id="13" name="Text 8"/>
          <p:cNvSpPr/>
          <p:nvPr/>
        </p:nvSpPr>
        <p:spPr>
          <a:xfrm>
            <a:off x="1508760" y="3163824"/>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Mutations finish with invalidation. The whole pattern is: do the thing, then tell the cache.</a:t>
            </a:r>
            <a:endParaRPr lang="en-US" sz="1200" dirty="0"/>
          </a:p>
        </p:txBody>
      </p:sp>
      <p:sp>
        <p:nvSpPr>
          <p:cNvPr id="14" name="Shape 9"/>
          <p:cNvSpPr/>
          <p:nvPr/>
        </p:nvSpPr>
        <p:spPr>
          <a:xfrm>
            <a:off x="777240" y="3831336"/>
            <a:ext cx="10607040" cy="603504"/>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960120" y="3950208"/>
            <a:ext cx="365760" cy="365760"/>
          </a:xfrm>
          <a:prstGeom prst="rect">
            <a:avLst/>
          </a:prstGeom>
        </p:spPr>
      </p:pic>
      <p:sp>
        <p:nvSpPr>
          <p:cNvPr id="16" name="Text 10"/>
          <p:cNvSpPr/>
          <p:nvPr/>
        </p:nvSpPr>
        <p:spPr>
          <a:xfrm>
            <a:off x="1508760" y="3877056"/>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Optimistic updates have four phases: cancel → snapshot → write → reconcile. Don't memorize, recognize.</a:t>
            </a:r>
            <a:endParaRPr lang="en-US" sz="1200" dirty="0"/>
          </a:p>
        </p:txBody>
      </p:sp>
      <p:sp>
        <p:nvSpPr>
          <p:cNvPr id="17" name="Shape 11"/>
          <p:cNvSpPr/>
          <p:nvPr/>
        </p:nvSpPr>
        <p:spPr>
          <a:xfrm>
            <a:off x="777240" y="4544568"/>
            <a:ext cx="10607040" cy="603504"/>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663440"/>
            <a:ext cx="365760" cy="365760"/>
          </a:xfrm>
          <a:prstGeom prst="rect">
            <a:avLst/>
          </a:prstGeom>
        </p:spPr>
      </p:pic>
      <p:sp>
        <p:nvSpPr>
          <p:cNvPr id="19" name="Text 12"/>
          <p:cNvSpPr/>
          <p:nvPr/>
        </p:nvSpPr>
        <p:spPr>
          <a:xfrm>
            <a:off x="1508760" y="4590288"/>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Status flags or Suspense — pick by what surrounds the component. Errors belong in boundaries.</a:t>
            </a:r>
            <a:endParaRPr lang="en-US" sz="1200" dirty="0"/>
          </a:p>
        </p:txBody>
      </p:sp>
      <p:sp>
        <p:nvSpPr>
          <p:cNvPr id="20" name="Shape 13"/>
          <p:cNvSpPr/>
          <p:nvPr/>
        </p:nvSpPr>
        <p:spPr>
          <a:xfrm>
            <a:off x="777240" y="5257800"/>
            <a:ext cx="10607040" cy="603504"/>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960120" y="5376672"/>
            <a:ext cx="365760" cy="365760"/>
          </a:xfrm>
          <a:prstGeom prst="rect">
            <a:avLst/>
          </a:prstGeom>
        </p:spPr>
      </p:pic>
      <p:sp>
        <p:nvSpPr>
          <p:cNvPr id="22" name="Text 14"/>
          <p:cNvSpPr/>
          <p:nvPr/>
        </p:nvSpPr>
        <p:spPr>
          <a:xfrm>
            <a:off x="1508760" y="5303520"/>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use() wins when a parent owns the promise. Server Components win when the data lives on the server.</a:t>
            </a:r>
            <a:endParaRPr lang="en-US" sz="1200" dirty="0"/>
          </a:p>
        </p:txBody>
      </p:sp>
      <p:sp>
        <p:nvSpPr>
          <p:cNvPr id="23"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24"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23 / 27</a:t>
            </a:r>
            <a:endParaRPr lang="en-US" sz="9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AI mistakes in data fetching</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What to look for when AI helps you wire up data.</a:t>
            </a:r>
            <a:endParaRPr lang="en-US" sz="1400" dirty="0"/>
          </a:p>
        </p:txBody>
      </p:sp>
      <p:sp>
        <p:nvSpPr>
          <p:cNvPr id="5" name="Shape 3"/>
          <p:cNvSpPr/>
          <p:nvPr/>
        </p:nvSpPr>
        <p:spPr>
          <a:xfrm>
            <a:off x="777240" y="1691640"/>
            <a:ext cx="5212080" cy="10972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2011680"/>
            <a:ext cx="457200" cy="457200"/>
          </a:xfrm>
          <a:prstGeom prst="rect">
            <a:avLst/>
          </a:prstGeom>
        </p:spPr>
      </p:pic>
      <p:sp>
        <p:nvSpPr>
          <p:cNvPr id="7" name="Text 4"/>
          <p:cNvSpPr/>
          <p:nvPr/>
        </p:nvSpPr>
        <p:spPr>
          <a:xfrm>
            <a:off x="1554480" y="178308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Reaching for useEffect + fetch instead of useQuery — old pattern from training data</a:t>
            </a:r>
            <a:endParaRPr lang="en-US" sz="1200" dirty="0"/>
          </a:p>
        </p:txBody>
      </p:sp>
      <p:sp>
        <p:nvSpPr>
          <p:cNvPr id="8" name="Shape 5"/>
          <p:cNvSpPr/>
          <p:nvPr/>
        </p:nvSpPr>
        <p:spPr>
          <a:xfrm>
            <a:off x="6126480" y="1691640"/>
            <a:ext cx="5212080" cy="1097280"/>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6309360" y="2011680"/>
            <a:ext cx="457200" cy="457200"/>
          </a:xfrm>
          <a:prstGeom prst="rect">
            <a:avLst/>
          </a:prstGeom>
        </p:spPr>
      </p:pic>
      <p:sp>
        <p:nvSpPr>
          <p:cNvPr id="10" name="Text 6"/>
          <p:cNvSpPr/>
          <p:nvPr/>
        </p:nvSpPr>
        <p:spPr>
          <a:xfrm>
            <a:off x="6903720" y="178308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Recreating the QueryClient on every render — multiple caches, broken dedup</a:t>
            </a:r>
            <a:endParaRPr lang="en-US" sz="1200" dirty="0"/>
          </a:p>
        </p:txBody>
      </p:sp>
      <p:sp>
        <p:nvSpPr>
          <p:cNvPr id="11" name="Shape 7"/>
          <p:cNvSpPr/>
          <p:nvPr/>
        </p:nvSpPr>
        <p:spPr>
          <a:xfrm>
            <a:off x="777240" y="2971800"/>
            <a:ext cx="5212080" cy="1097280"/>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291840"/>
            <a:ext cx="457200" cy="457200"/>
          </a:xfrm>
          <a:prstGeom prst="rect">
            <a:avLst/>
          </a:prstGeom>
        </p:spPr>
      </p:pic>
      <p:sp>
        <p:nvSpPr>
          <p:cNvPr id="13" name="Text 8"/>
          <p:cNvSpPr/>
          <p:nvPr/>
        </p:nvSpPr>
        <p:spPr>
          <a:xfrm>
            <a:off x="1554480" y="306324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Mutable query keys: ['posts', new Date()] — cache miss every render</a:t>
            </a:r>
            <a:endParaRPr lang="en-US" sz="1200" dirty="0"/>
          </a:p>
        </p:txBody>
      </p:sp>
      <p:sp>
        <p:nvSpPr>
          <p:cNvPr id="14" name="Shape 9"/>
          <p:cNvSpPr/>
          <p:nvPr/>
        </p:nvSpPr>
        <p:spPr>
          <a:xfrm>
            <a:off x="6126480" y="2971800"/>
            <a:ext cx="5212080" cy="1097280"/>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6309360" y="3291840"/>
            <a:ext cx="457200" cy="457200"/>
          </a:xfrm>
          <a:prstGeom prst="rect">
            <a:avLst/>
          </a:prstGeom>
        </p:spPr>
      </p:pic>
      <p:sp>
        <p:nvSpPr>
          <p:cNvPr id="16" name="Text 10"/>
          <p:cNvSpPr/>
          <p:nvPr/>
        </p:nvSpPr>
        <p:spPr>
          <a:xfrm>
            <a:off x="6903720" y="306324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Missing invalidation after a mutation — stale UI until next manual refetch</a:t>
            </a:r>
            <a:endParaRPr lang="en-US" sz="1200" dirty="0"/>
          </a:p>
        </p:txBody>
      </p:sp>
      <p:sp>
        <p:nvSpPr>
          <p:cNvPr id="17" name="Shape 11"/>
          <p:cNvSpPr/>
          <p:nvPr/>
        </p:nvSpPr>
        <p:spPr>
          <a:xfrm>
            <a:off x="777240" y="4251960"/>
            <a:ext cx="5212080" cy="1097280"/>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572000"/>
            <a:ext cx="457200" cy="457200"/>
          </a:xfrm>
          <a:prstGeom prst="rect">
            <a:avLst/>
          </a:prstGeom>
        </p:spPr>
      </p:pic>
      <p:sp>
        <p:nvSpPr>
          <p:cNvPr id="19" name="Text 12"/>
          <p:cNvSpPr/>
          <p:nvPr/>
        </p:nvSpPr>
        <p:spPr>
          <a:xfrm>
            <a:off x="1554480" y="434340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Retrying mutations by default — risk of double-submits</a:t>
            </a:r>
            <a:endParaRPr lang="en-US" sz="1200" dirty="0"/>
          </a:p>
        </p:txBody>
      </p:sp>
      <p:sp>
        <p:nvSpPr>
          <p:cNvPr id="20" name="Shape 13"/>
          <p:cNvSpPr/>
          <p:nvPr/>
        </p:nvSpPr>
        <p:spPr>
          <a:xfrm>
            <a:off x="6126480" y="4251960"/>
            <a:ext cx="5212080" cy="1097280"/>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6309360" y="4572000"/>
            <a:ext cx="457200" cy="457200"/>
          </a:xfrm>
          <a:prstGeom prst="rect">
            <a:avLst/>
          </a:prstGeom>
        </p:spPr>
      </p:pic>
      <p:sp>
        <p:nvSpPr>
          <p:cNvPr id="22" name="Text 14"/>
          <p:cNvSpPr/>
          <p:nvPr/>
        </p:nvSpPr>
        <p:spPr>
          <a:xfrm>
            <a:off x="6903720" y="434340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Promise created inside the use() consumer — infinite Suspense loop</a:t>
            </a:r>
            <a:endParaRPr lang="en-US" sz="1200" dirty="0"/>
          </a:p>
        </p:txBody>
      </p:sp>
      <p:sp>
        <p:nvSpPr>
          <p:cNvPr id="23"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24"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24 / 27</a:t>
            </a:r>
            <a:endParaRPr lang="en-US" sz="9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Coming up: Lab 4</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Convert the social-media app's ad-hoc fetch calls to TanStack Query.</a:t>
            </a:r>
            <a:endParaRPr lang="en-US" sz="1400" dirty="0"/>
          </a:p>
        </p:txBody>
      </p:sp>
      <p:sp>
        <p:nvSpPr>
          <p:cNvPr id="5" name="Shape 3"/>
          <p:cNvSpPr/>
          <p:nvPr/>
        </p:nvSpPr>
        <p:spPr>
          <a:xfrm>
            <a:off x="777240" y="1691640"/>
            <a:ext cx="10607040" cy="43891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97280" y="1920240"/>
            <a:ext cx="822960" cy="822960"/>
          </a:xfrm>
          <a:prstGeom prst="rect">
            <a:avLst/>
          </a:prstGeom>
        </p:spPr>
      </p:pic>
      <p:sp>
        <p:nvSpPr>
          <p:cNvPr id="7" name="Text 4"/>
          <p:cNvSpPr/>
          <p:nvPr/>
        </p:nvSpPr>
        <p:spPr>
          <a:xfrm>
            <a:off x="2194560" y="1920240"/>
            <a:ext cx="9144000" cy="640080"/>
          </a:xfrm>
          <a:prstGeom prst="rect">
            <a:avLst/>
          </a:prstGeom>
          <a:noFill/>
          <a:ln/>
        </p:spPr>
        <p:txBody>
          <a:bodyPr wrap="square" lIns="0" tIns="0" rIns="0" bIns="0" rtlCol="0" anchor="ctr"/>
          <a:lstStyle/>
          <a:p>
            <a:pPr indent="0" marL="0">
              <a:buNone/>
            </a:pPr>
            <a:r>
              <a:rPr lang="en-US" sz="2400" b="1" dirty="0">
                <a:solidFill>
                  <a:srgbClr val="0F172A"/>
                </a:solidFill>
                <a:latin typeface="Trebuchet MS" pitchFamily="34" charset="0"/>
                <a:ea typeface="Trebuchet MS" pitchFamily="34" charset="-122"/>
                <a:cs typeface="Trebuchet MS" pitchFamily="34" charset="-120"/>
              </a:rPr>
              <a:t>Lab 4: TanStack Query Migration</a:t>
            </a:r>
            <a:endParaRPr lang="en-US" sz="2400" dirty="0"/>
          </a:p>
        </p:txBody>
      </p:sp>
      <p:sp>
        <p:nvSpPr>
          <p:cNvPr id="8" name="Text 5"/>
          <p:cNvSpPr/>
          <p:nvPr/>
        </p:nvSpPr>
        <p:spPr>
          <a:xfrm>
            <a:off x="2194560" y="2514600"/>
            <a:ext cx="9144000" cy="365760"/>
          </a:xfrm>
          <a:prstGeom prst="rect">
            <a:avLst/>
          </a:prstGeom>
          <a:noFill/>
          <a:ln/>
        </p:spPr>
        <p:txBody>
          <a:bodyPr wrap="square" lIns="0" tIns="0" rIns="0" bIns="0" rtlCol="0" anchor="ctr"/>
          <a:lstStyle/>
          <a:p>
            <a:pPr indent="0" marL="0">
              <a:buNone/>
            </a:pPr>
            <a:r>
              <a:rPr lang="en-US" sz="1300" i="1" dirty="0">
                <a:solidFill>
                  <a:srgbClr val="475569"/>
                </a:solidFill>
                <a:latin typeface="Arial" pitchFamily="34" charset="0"/>
                <a:ea typeface="Arial" pitchFamily="34" charset="-122"/>
                <a:cs typeface="Arial" pitchFamily="34" charset="-120"/>
              </a:rPr>
              <a:t>75 minutes  ·  Hands-on  ·  Solution: solutions/lab-04-tanstack-query/</a:t>
            </a:r>
            <a:endParaRPr lang="en-US" sz="1300" dirty="0"/>
          </a:p>
        </p:txBody>
      </p:sp>
      <p:sp>
        <p:nvSpPr>
          <p:cNvPr id="9" name="Text 6"/>
          <p:cNvSpPr/>
          <p:nvPr/>
        </p:nvSpPr>
        <p:spPr>
          <a:xfrm>
            <a:off x="1097280" y="3200400"/>
            <a:ext cx="100584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What you'll do:</a:t>
            </a:r>
            <a:endParaRPr lang="en-US" sz="1400" dirty="0"/>
          </a:p>
        </p:txBody>
      </p:sp>
      <p:sp>
        <p:nvSpPr>
          <p:cNvPr id="10" name="Text 7"/>
          <p:cNvSpPr/>
          <p:nvPr/>
        </p:nvSpPr>
        <p:spPr>
          <a:xfrm>
            <a:off x="1097280" y="3611880"/>
            <a:ext cx="1005840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Replace ad-hoc fetch + useEffect calls in the social-media client with useQuery</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Convert the create-post flow to a useMutation with invalidation</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Add an optimistic update — posts appear instantly</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Wrap the feed in &lt;Suspense&gt; + an ErrorBoundary for proper loading/error UX</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Stretch: implement infinite scroll for the posts feed using useInfiniteQuery</a:t>
            </a:r>
            <a:endParaRPr lang="en-US" sz="1250" dirty="0"/>
          </a:p>
        </p:txBody>
      </p:sp>
      <p:sp>
        <p:nvSpPr>
          <p:cNvPr id="11" name="Text 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12" name="Text 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25 / 27</a:t>
            </a:r>
            <a:endParaRPr lang="en-US" sz="9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After the lab: Module 6</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Server Components and Server Actions in depth.</a:t>
            </a:r>
            <a:endParaRPr lang="en-US" sz="1400" dirty="0"/>
          </a:p>
        </p:txBody>
      </p:sp>
      <p:sp>
        <p:nvSpPr>
          <p:cNvPr id="5" name="Shape 3"/>
          <p:cNvSpPr/>
          <p:nvPr/>
        </p:nvSpPr>
        <p:spPr>
          <a:xfrm>
            <a:off x="777240" y="1691640"/>
            <a:ext cx="10607040" cy="4206240"/>
          </a:xfrm>
          <a:prstGeom prst="rect">
            <a:avLst/>
          </a:prstGeom>
          <a:solidFill>
            <a:srgbClr val="CBF1F6"/>
          </a:solidFill>
          <a:ln w="12700">
            <a:solidFill>
              <a:srgbClr val="CBF1F6"/>
            </a:solidFill>
            <a:prstDash val="solid"/>
          </a:ln>
        </p:spPr>
      </p:sp>
      <p:sp>
        <p:nvSpPr>
          <p:cNvPr id="6" name="Text 4"/>
          <p:cNvSpPr/>
          <p:nvPr/>
        </p:nvSpPr>
        <p:spPr>
          <a:xfrm>
            <a:off x="1097280" y="2011680"/>
            <a:ext cx="10058400" cy="4572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Module 6 picks up the server-side flavor we touched on today:</a:t>
            </a:r>
            <a:endParaRPr lang="en-US" sz="1400" dirty="0"/>
          </a:p>
        </p:txBody>
      </p:sp>
      <p:sp>
        <p:nvSpPr>
          <p:cNvPr id="7" name="Text 5"/>
          <p:cNvSpPr/>
          <p:nvPr/>
        </p:nvSpPr>
        <p:spPr>
          <a:xfrm>
            <a:off x="1097280" y="2606040"/>
            <a:ext cx="10058400" cy="3108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Server Components — what runs where, what props can cross the boundary</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Server Actions with progressive enhancement and useActionState</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Streaming with multiple Suspense boundaries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The boundary mistakes AI tools love to make — and how to spot them</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Lab 5: build a Server Components dashboard with a Server Action form</a:t>
            </a:r>
            <a:endParaRPr lang="en-US" sz="1250" dirty="0"/>
          </a:p>
        </p:txBody>
      </p:sp>
      <p:sp>
        <p:nvSpPr>
          <p:cNvPr id="8" name="Text 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9" name="Text 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26 / 27</a:t>
            </a:r>
            <a:endParaRPr lang="en-US" sz="9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End of Module 5</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Day 2 still has Module 6 + Lab 5 after Lab 4.</a:t>
            </a:r>
            <a:endParaRPr lang="en-US" sz="1400" dirty="0"/>
          </a:p>
        </p:txBody>
      </p:sp>
      <p:sp>
        <p:nvSpPr>
          <p:cNvPr id="5" name="Shape 3"/>
          <p:cNvSpPr/>
          <p:nvPr/>
        </p:nvSpPr>
        <p:spPr>
          <a:xfrm>
            <a:off x="777240" y="1691640"/>
            <a:ext cx="10607040" cy="4206240"/>
          </a:xfrm>
          <a:prstGeom prst="rect">
            <a:avLst/>
          </a:prstGeom>
          <a:solidFill>
            <a:srgbClr val="FFFFFF"/>
          </a:solidFill>
          <a:ln w="12700">
            <a:solidFill>
              <a:srgbClr val="E2E8F0"/>
            </a:solidFill>
            <a:prstDash val="solid"/>
          </a:ln>
        </p:spPr>
      </p:sp>
      <p:sp>
        <p:nvSpPr>
          <p:cNvPr id="6" name="Text 4"/>
          <p:cNvSpPr/>
          <p:nvPr/>
        </p:nvSpPr>
        <p:spPr>
          <a:xfrm>
            <a:off x="1097280" y="1920240"/>
            <a:ext cx="10058400" cy="4572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Where we are in Day 2:</a:t>
            </a:r>
            <a:endParaRPr lang="en-US" sz="1400" dirty="0"/>
          </a:p>
        </p:txBody>
      </p:sp>
      <p:sp>
        <p:nvSpPr>
          <p:cNvPr id="7" name="Text 5"/>
          <p:cNvSpPr/>
          <p:nvPr/>
        </p:nvSpPr>
        <p:spPr>
          <a:xfrm>
            <a:off x="1097280" y="2423160"/>
            <a:ext cx="10058400" cy="32918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Module 4 — State management decision framework ✓</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Lab 3 — Pick-your-tool state refactor ✓</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Module 5 — Modern data fetching ✓ (just finished)</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Lab 4 — TanStack Query migration (next)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Module 6 — Server Components + Server Actions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Lab 5 — Server Components dashboard</a:t>
            </a:r>
            <a:endParaRPr lang="en-US" sz="1250" dirty="0"/>
          </a:p>
        </p:txBody>
      </p:sp>
      <p:sp>
        <p:nvSpPr>
          <p:cNvPr id="8" name="Text 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5 — Modern Data Fetching</a:t>
            </a:r>
            <a:endParaRPr lang="en-US" sz="900" dirty="0"/>
          </a:p>
        </p:txBody>
      </p:sp>
      <p:sp>
        <p:nvSpPr>
          <p:cNvPr id="9" name="Text 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27 / 27</a:t>
            </a:r>
            <a:endParaRPr lang="en-US" sz="9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377440"/>
            <a:ext cx="548640" cy="73152"/>
          </a:xfrm>
          <a:prstGeom prst="rect">
            <a:avLst/>
          </a:prstGeom>
          <a:solidFill>
            <a:srgbClr val="00B8D9"/>
          </a:solidFill>
          <a:ln w="12700">
            <a:solidFill>
              <a:srgbClr val="00B8D9"/>
            </a:solidFill>
            <a:prstDash val="solid"/>
          </a:ln>
        </p:spPr>
      </p:sp>
      <p:sp>
        <p:nvSpPr>
          <p:cNvPr id="3" name="Text 1"/>
          <p:cNvSpPr/>
          <p:nvPr/>
        </p:nvSpPr>
        <p:spPr>
          <a:xfrm>
            <a:off x="640080" y="2542032"/>
            <a:ext cx="5486400" cy="457200"/>
          </a:xfrm>
          <a:prstGeom prst="rect">
            <a:avLst/>
          </a:prstGeom>
          <a:noFill/>
          <a:ln/>
        </p:spPr>
        <p:txBody>
          <a:bodyPr wrap="square" lIns="0" tIns="0" rIns="0" bIns="0" rtlCol="0" anchor="ctr"/>
          <a:lstStyle/>
          <a:p>
            <a:pPr indent="0" marL="0">
              <a:buNone/>
            </a:pPr>
            <a:r>
              <a:rPr lang="en-US" sz="1800" dirty="0">
                <a:solidFill>
                  <a:srgbClr val="00B8D9"/>
                </a:solidFill>
                <a:latin typeface="Trebuchet MS" pitchFamily="34" charset="0"/>
                <a:ea typeface="Trebuchet MS" pitchFamily="34" charset="-122"/>
                <a:cs typeface="Trebuchet MS" pitchFamily="34" charset="-120"/>
              </a:rPr>
              <a:t>Module 6</a:t>
            </a:r>
            <a:endParaRPr lang="en-US" sz="1800" dirty="0"/>
          </a:p>
        </p:txBody>
      </p:sp>
      <p:sp>
        <p:nvSpPr>
          <p:cNvPr id="4" name="Text 2"/>
          <p:cNvSpPr/>
          <p:nvPr/>
        </p:nvSpPr>
        <p:spPr>
          <a:xfrm>
            <a:off x="640080" y="3017520"/>
            <a:ext cx="11155680" cy="109728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Server Components &amp; Server Actions</a:t>
            </a:r>
            <a:endParaRPr lang="en-US" sz="4000" dirty="0"/>
          </a:p>
        </p:txBody>
      </p:sp>
      <p:sp>
        <p:nvSpPr>
          <p:cNvPr id="5" name="Text 3"/>
          <p:cNvSpPr/>
          <p:nvPr/>
        </p:nvSpPr>
        <p:spPr>
          <a:xfrm>
            <a:off x="640080" y="4160520"/>
            <a:ext cx="10972800" cy="64008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Where code runs is the new mental model. Get the boundary right and the rest follows.</a:t>
            </a:r>
            <a:endParaRPr lang="en-US" sz="1800" dirty="0"/>
          </a:p>
        </p:txBody>
      </p:sp>
      <p:sp>
        <p:nvSpPr>
          <p:cNvPr id="6" name="Text 4"/>
          <p:cNvSpPr/>
          <p:nvPr/>
        </p:nvSpPr>
        <p:spPr>
          <a:xfrm>
            <a:off x="640080" y="5029200"/>
            <a:ext cx="10972800" cy="45720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75 minutes  ·  Lecture + demos  ·  Lab 5 follows</a:t>
            </a:r>
            <a:endParaRPr lang="en-US" sz="1400" dirty="0"/>
          </a:p>
        </p:txBody>
      </p:sp>
      <p:pic>
        <p:nvPicPr>
          <p:cNvPr id="7" name="Image 0" descr="preencoded.png">    </p:cNvPr>
          <p:cNvPicPr>
            <a:picLocks noChangeAspect="1"/>
          </p:cNvPicPr>
          <p:nvPr/>
        </p:nvPicPr>
        <p:blipFill>
          <a:blip r:embed="rId1">
            <a:alphaModFix amt="75000"/>
          </a:blip>
          <a:stretch>
            <a:fillRect/>
          </a:stretch>
        </p:blipFill>
        <p:spPr>
          <a:xfrm>
            <a:off x="10728655" y="4663440"/>
            <a:ext cx="914400" cy="914400"/>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mental model</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Every component runs somewhere. The job is knowing where, and what's allowed there.</a:t>
            </a:r>
            <a:endParaRPr lang="en-US" sz="1400" dirty="0"/>
          </a:p>
        </p:txBody>
      </p:sp>
      <p:sp>
        <p:nvSpPr>
          <p:cNvPr id="5" name="Shape 3"/>
          <p:cNvSpPr/>
          <p:nvPr/>
        </p:nvSpPr>
        <p:spPr>
          <a:xfrm>
            <a:off x="777240" y="1691640"/>
            <a:ext cx="5349240" cy="4297680"/>
          </a:xfrm>
          <a:prstGeom prst="rect">
            <a:avLst/>
          </a:prstGeom>
          <a:solidFill>
            <a:srgbClr val="1E2A47"/>
          </a:solidFill>
          <a:ln w="12700">
            <a:solidFill>
              <a:srgbClr val="1E2A47"/>
            </a:solidFill>
            <a:prstDash val="solid"/>
          </a:ln>
        </p:spPr>
      </p:sp>
      <p:pic>
        <p:nvPicPr>
          <p:cNvPr id="6" name="Image 0" descr="preencoded.png">    </p:cNvPr>
          <p:cNvPicPr>
            <a:picLocks noChangeAspect="1"/>
          </p:cNvPicPr>
          <p:nvPr/>
        </p:nvPicPr>
        <p:blipFill>
          <a:blip r:embed="rId1"/>
          <a:stretch>
            <a:fillRect/>
          </a:stretch>
        </p:blipFill>
        <p:spPr>
          <a:xfrm>
            <a:off x="1005840" y="1920240"/>
            <a:ext cx="640080" cy="640080"/>
          </a:xfrm>
          <a:prstGeom prst="rect">
            <a:avLst/>
          </a:prstGeom>
        </p:spPr>
      </p:pic>
      <p:sp>
        <p:nvSpPr>
          <p:cNvPr id="7" name="Text 4"/>
          <p:cNvSpPr/>
          <p:nvPr/>
        </p:nvSpPr>
        <p:spPr>
          <a:xfrm>
            <a:off x="1828800" y="1920240"/>
            <a:ext cx="4114800" cy="640080"/>
          </a:xfrm>
          <a:prstGeom prst="rect">
            <a:avLst/>
          </a:prstGeom>
          <a:noFill/>
          <a:ln/>
        </p:spPr>
        <p:txBody>
          <a:bodyPr wrap="square" lIns="0" tIns="0" rIns="0" bIns="0" rtlCol="0" anchor="ctr"/>
          <a:lstStyle/>
          <a:p>
            <a:pPr indent="0" marL="0">
              <a:buNone/>
            </a:pPr>
            <a:r>
              <a:rPr lang="en-US" sz="2200" b="1" dirty="0">
                <a:solidFill>
                  <a:srgbClr val="00B8D9"/>
                </a:solidFill>
                <a:latin typeface="Trebuchet MS" pitchFamily="34" charset="0"/>
                <a:ea typeface="Trebuchet MS" pitchFamily="34" charset="-122"/>
                <a:cs typeface="Trebuchet MS" pitchFamily="34" charset="-120"/>
              </a:rPr>
              <a:t>Server</a:t>
            </a:r>
            <a:endParaRPr lang="en-US" sz="2200" dirty="0"/>
          </a:p>
        </p:txBody>
      </p:sp>
      <p:sp>
        <p:nvSpPr>
          <p:cNvPr id="8" name="Text 5"/>
          <p:cNvSpPr/>
          <p:nvPr/>
        </p:nvSpPr>
        <p:spPr>
          <a:xfrm>
            <a:off x="1005840" y="2743200"/>
            <a:ext cx="5029200" cy="31089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Runs in your Node process (or edge runtime)</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Has access to the database, file system, secrets</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Renders to a streamed payload</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No browser, no DOM, no event handlers</a:t>
            </a:r>
            <a:endParaRPr lang="en-US" sz="1300" dirty="0"/>
          </a:p>
        </p:txBody>
      </p:sp>
      <p:sp>
        <p:nvSpPr>
          <p:cNvPr id="9" name="Shape 6"/>
          <p:cNvSpPr/>
          <p:nvPr/>
        </p:nvSpPr>
        <p:spPr>
          <a:xfrm>
            <a:off x="6355080" y="1691640"/>
            <a:ext cx="5029200" cy="4297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6583680" y="1920240"/>
            <a:ext cx="640080" cy="640080"/>
          </a:xfrm>
          <a:prstGeom prst="rect">
            <a:avLst/>
          </a:prstGeom>
        </p:spPr>
      </p:pic>
      <p:sp>
        <p:nvSpPr>
          <p:cNvPr id="11" name="Text 7"/>
          <p:cNvSpPr/>
          <p:nvPr/>
        </p:nvSpPr>
        <p:spPr>
          <a:xfrm>
            <a:off x="7406640" y="1920240"/>
            <a:ext cx="3840480" cy="64008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Client (Browser)</a:t>
            </a:r>
            <a:endParaRPr lang="en-US" sz="2200" dirty="0"/>
          </a:p>
        </p:txBody>
      </p:sp>
      <p:sp>
        <p:nvSpPr>
          <p:cNvPr id="12" name="Text 8"/>
          <p:cNvSpPr/>
          <p:nvPr/>
        </p:nvSpPr>
        <p:spPr>
          <a:xfrm>
            <a:off x="6583680" y="2743200"/>
            <a:ext cx="4572000" cy="31089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Runs in the user's browser tab</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Has DOM, event handlers, browser APIs</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Hydrates from the server's payload</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Can't access your DB or your secrets</a:t>
            </a:r>
            <a:endParaRPr lang="en-US" sz="1300" dirty="0"/>
          </a:p>
        </p:txBody>
      </p:sp>
      <p:sp>
        <p:nvSpPr>
          <p:cNvPr id="13"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14"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 / 31</a:t>
            </a:r>
            <a:endParaRPr lang="en-US" sz="9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3">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1</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Server Components</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Components that only run on the server. The default in modern frameworks.</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What's a Server Component?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 component that runs on the server, returns serializable output, and ships zero JS to the browser.</a:t>
            </a:r>
            <a:endParaRPr lang="en-US" sz="1400" dirty="0"/>
          </a:p>
        </p:txBody>
      </p:sp>
      <p:sp>
        <p:nvSpPr>
          <p:cNvPr id="5" name="Shape 3"/>
          <p:cNvSpPr/>
          <p:nvPr/>
        </p:nvSpPr>
        <p:spPr>
          <a:xfrm>
            <a:off x="777240" y="1554480"/>
            <a:ext cx="10607040" cy="36576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38328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app/posts/page.jsx — Next.js Server Component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import { db } from </a:t>
            </a:r>
            <a:pPr indent="0" marL="0">
              <a:buNone/>
            </a:pPr>
            <a:r>
              <a:rPr lang="en-US" sz="1200" dirty="0">
                <a:solidFill>
                  <a:srgbClr val="9CDCFE"/>
                </a:solidFill>
                <a:latin typeface="Courier New" pitchFamily="34" charset="0"/>
                <a:ea typeface="Courier New" pitchFamily="34" charset="-122"/>
                <a:cs typeface="Courier New" pitchFamily="34" charset="-120"/>
              </a:rPr>
              <a:t>'@/lib/db'</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PostsPage</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posts = await db.posts.findMany();</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&lt;main&gt;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{posts.map((p) =&gt; &lt;article key={p.id}&gt;{p.title}&lt;/article&gt;)}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&lt;/main&gt;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777240" y="5349240"/>
            <a:ext cx="10607040" cy="914400"/>
          </a:xfrm>
          <a:prstGeom prst="rect">
            <a:avLst/>
          </a:prstGeom>
          <a:solidFill>
            <a:srgbClr val="CBF1F6"/>
          </a:solidFill>
          <a:ln w="12700">
            <a:solidFill>
              <a:srgbClr val="CBF1F6"/>
            </a:solidFill>
            <a:prstDash val="solid"/>
          </a:ln>
        </p:spPr>
      </p:sp>
      <p:pic>
        <p:nvPicPr>
          <p:cNvPr id="8" name="Image 0" descr="preencoded.png">    </p:cNvPr>
          <p:cNvPicPr>
            <a:picLocks noChangeAspect="1"/>
          </p:cNvPicPr>
          <p:nvPr/>
        </p:nvPicPr>
        <p:blipFill>
          <a:blip r:embed="rId1"/>
          <a:stretch>
            <a:fillRect/>
          </a:stretch>
        </p:blipFill>
        <p:spPr>
          <a:xfrm>
            <a:off x="1005840" y="5532120"/>
            <a:ext cx="502920" cy="502920"/>
          </a:xfrm>
          <a:prstGeom prst="rect">
            <a:avLst/>
          </a:prstGeom>
        </p:spPr>
      </p:pic>
      <p:sp>
        <p:nvSpPr>
          <p:cNvPr id="9" name="Text 6"/>
          <p:cNvSpPr/>
          <p:nvPr/>
        </p:nvSpPr>
        <p:spPr>
          <a:xfrm>
            <a:off x="1691640" y="5394960"/>
            <a:ext cx="9601200" cy="86868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The function is async. Database access at the top of the component. Zero JS in the browser for this code.</a:t>
            </a:r>
            <a:endParaRPr lang="en-US" sz="1300" dirty="0"/>
          </a:p>
        </p:txBody>
      </p:sp>
      <p:sp>
        <p:nvSpPr>
          <p:cNvPr id="10"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11"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4 / 31</a:t>
            </a:r>
            <a:endParaRPr lang="en-US" sz="9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Server first is the new default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In Next.js 15 and RR v7 framework mode, every component is a Server Component unless you opt out.</a:t>
            </a:r>
            <a:endParaRPr lang="en-US" sz="1400" dirty="0"/>
          </a:p>
        </p:txBody>
      </p:sp>
      <p:sp>
        <p:nvSpPr>
          <p:cNvPr id="5" name="Shape 3"/>
          <p:cNvSpPr/>
          <p:nvPr/>
        </p:nvSpPr>
        <p:spPr>
          <a:xfrm>
            <a:off x="777240" y="1691640"/>
            <a:ext cx="10607040" cy="4572000"/>
          </a:xfrm>
          <a:prstGeom prst="rect">
            <a:avLst/>
          </a:prstGeom>
          <a:solidFill>
            <a:srgbClr val="FFFFFF"/>
          </a:solidFill>
          <a:ln w="12700">
            <a:solidFill>
              <a:srgbClr val="E2E8F0"/>
            </a:solidFill>
            <a:prstDash val="solid"/>
          </a:ln>
        </p:spPr>
      </p:sp>
      <p:sp>
        <p:nvSpPr>
          <p:cNvPr id="6" name="Text 4"/>
          <p:cNvSpPr/>
          <p:nvPr/>
        </p:nvSpPr>
        <p:spPr>
          <a:xfrm>
            <a:off x="960120" y="1874520"/>
            <a:ext cx="10058400" cy="45720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The shift in defaults</a:t>
            </a:r>
            <a:endParaRPr lang="en-US" sz="1800" dirty="0"/>
          </a:p>
        </p:txBody>
      </p:sp>
      <p:pic>
        <p:nvPicPr>
          <p:cNvPr id="7" name="Image 0" descr="preencoded.png">    </p:cNvPr>
          <p:cNvPicPr>
            <a:picLocks noChangeAspect="1"/>
          </p:cNvPicPr>
          <p:nvPr/>
        </p:nvPicPr>
        <p:blipFill>
          <a:blip r:embed="rId1"/>
          <a:stretch>
            <a:fillRect/>
          </a:stretch>
        </p:blipFill>
        <p:spPr>
          <a:xfrm>
            <a:off x="1051560" y="2560320"/>
            <a:ext cx="457200" cy="457200"/>
          </a:xfrm>
          <a:prstGeom prst="rect">
            <a:avLst/>
          </a:prstGeom>
        </p:spPr>
      </p:pic>
      <p:sp>
        <p:nvSpPr>
          <p:cNvPr id="8" name="Text 5"/>
          <p:cNvSpPr/>
          <p:nvPr/>
        </p:nvSpPr>
        <p:spPr>
          <a:xfrm>
            <a:off x="1691640" y="2468880"/>
            <a:ext cx="950976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All components are server components by default</a:t>
            </a:r>
            <a:endParaRPr lang="en-US" sz="1350" dirty="0"/>
          </a:p>
        </p:txBody>
      </p:sp>
      <p:sp>
        <p:nvSpPr>
          <p:cNvPr id="9" name="Text 6"/>
          <p:cNvSpPr/>
          <p:nvPr/>
        </p:nvSpPr>
        <p:spPr>
          <a:xfrm>
            <a:off x="1691640" y="2834640"/>
            <a:ext cx="950976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page.jsx, layout.jsx, and any component they import — server unless marked otherwise.</a:t>
            </a:r>
            <a:endParaRPr lang="en-US" sz="1150" dirty="0"/>
          </a:p>
        </p:txBody>
      </p:sp>
      <p:pic>
        <p:nvPicPr>
          <p:cNvPr id="10" name="Image 1" descr="preencoded.png">    </p:cNvPr>
          <p:cNvPicPr>
            <a:picLocks noChangeAspect="1"/>
          </p:cNvPicPr>
          <p:nvPr/>
        </p:nvPicPr>
        <p:blipFill>
          <a:blip r:embed="rId2"/>
          <a:stretch>
            <a:fillRect/>
          </a:stretch>
        </p:blipFill>
        <p:spPr>
          <a:xfrm>
            <a:off x="1051560" y="3474720"/>
            <a:ext cx="457200" cy="457200"/>
          </a:xfrm>
          <a:prstGeom prst="rect">
            <a:avLst/>
          </a:prstGeom>
        </p:spPr>
      </p:pic>
      <p:sp>
        <p:nvSpPr>
          <p:cNvPr id="11" name="Text 7"/>
          <p:cNvSpPr/>
          <p:nvPr/>
        </p:nvSpPr>
        <p:spPr>
          <a:xfrm>
            <a:off x="1691640" y="3383280"/>
            <a:ext cx="950976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Opt in to client with 'use client'</a:t>
            </a:r>
            <a:endParaRPr lang="en-US" sz="1350" dirty="0"/>
          </a:p>
        </p:txBody>
      </p:sp>
      <p:sp>
        <p:nvSpPr>
          <p:cNvPr id="12" name="Text 8"/>
          <p:cNvSpPr/>
          <p:nvPr/>
        </p:nvSpPr>
        <p:spPr>
          <a:xfrm>
            <a:off x="1691640" y="3749040"/>
            <a:ext cx="950976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First line of a file. Everything in that file (and its imports) is now client-side.</a:t>
            </a:r>
            <a:endParaRPr lang="en-US" sz="1150" dirty="0"/>
          </a:p>
        </p:txBody>
      </p:sp>
      <p:pic>
        <p:nvPicPr>
          <p:cNvPr id="13" name="Image 2" descr="preencoded.png">    </p:cNvPr>
          <p:cNvPicPr>
            <a:picLocks noChangeAspect="1"/>
          </p:cNvPicPr>
          <p:nvPr/>
        </p:nvPicPr>
        <p:blipFill>
          <a:blip r:embed="rId3"/>
          <a:stretch>
            <a:fillRect/>
          </a:stretch>
        </p:blipFill>
        <p:spPr>
          <a:xfrm>
            <a:off x="1051560" y="4389120"/>
            <a:ext cx="457200" cy="457200"/>
          </a:xfrm>
          <a:prstGeom prst="rect">
            <a:avLst/>
          </a:prstGeom>
        </p:spPr>
      </p:pic>
      <p:sp>
        <p:nvSpPr>
          <p:cNvPr id="14" name="Text 9"/>
          <p:cNvSpPr/>
          <p:nvPr/>
        </p:nvSpPr>
        <p:spPr>
          <a:xfrm>
            <a:off x="1691640" y="4297680"/>
            <a:ext cx="950976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Client components import client components</a:t>
            </a:r>
            <a:endParaRPr lang="en-US" sz="1350" dirty="0"/>
          </a:p>
        </p:txBody>
      </p:sp>
      <p:sp>
        <p:nvSpPr>
          <p:cNvPr id="15" name="Text 10"/>
          <p:cNvSpPr/>
          <p:nvPr/>
        </p:nvSpPr>
        <p:spPr>
          <a:xfrm>
            <a:off x="1691640" y="4663440"/>
            <a:ext cx="950976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Once you cross the boundary into client code, the rest of that subtree is client too.</a:t>
            </a:r>
            <a:endParaRPr lang="en-US" sz="1150" dirty="0"/>
          </a:p>
        </p:txBody>
      </p:sp>
      <p:pic>
        <p:nvPicPr>
          <p:cNvPr id="16" name="Image 3" descr="preencoded.png">    </p:cNvPr>
          <p:cNvPicPr>
            <a:picLocks noChangeAspect="1"/>
          </p:cNvPicPr>
          <p:nvPr/>
        </p:nvPicPr>
        <p:blipFill>
          <a:blip r:embed="rId4"/>
          <a:stretch>
            <a:fillRect/>
          </a:stretch>
        </p:blipFill>
        <p:spPr>
          <a:xfrm>
            <a:off x="1051560" y="5303520"/>
            <a:ext cx="457200" cy="457200"/>
          </a:xfrm>
          <a:prstGeom prst="rect">
            <a:avLst/>
          </a:prstGeom>
        </p:spPr>
      </p:pic>
      <p:sp>
        <p:nvSpPr>
          <p:cNvPr id="17" name="Text 11"/>
          <p:cNvSpPr/>
          <p:nvPr/>
        </p:nvSpPr>
        <p:spPr>
          <a:xfrm>
            <a:off x="1691640" y="5212080"/>
            <a:ext cx="950976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The boundary is per-file, not per-component</a:t>
            </a:r>
            <a:endParaRPr lang="en-US" sz="1350" dirty="0"/>
          </a:p>
        </p:txBody>
      </p:sp>
      <p:sp>
        <p:nvSpPr>
          <p:cNvPr id="18" name="Text 12"/>
          <p:cNvSpPr/>
          <p:nvPr/>
        </p:nvSpPr>
        <p:spPr>
          <a:xfrm>
            <a:off x="1691640" y="5577840"/>
            <a:ext cx="950976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You can't have a server function and a client function in the same file.</a:t>
            </a:r>
            <a:endParaRPr lang="en-US" sz="1150" dirty="0"/>
          </a:p>
        </p:txBody>
      </p:sp>
      <p:sp>
        <p:nvSpPr>
          <p:cNvPr id="19" name="Text 13"/>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20" name="Text 14"/>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5 / 31</a:t>
            </a:r>
            <a:endParaRPr lang="en-US" sz="9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 Server Components can do</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Things you couldn't do in a Client Component without a separate API layer.</a:t>
            </a:r>
            <a:endParaRPr lang="en-US" sz="1400" dirty="0"/>
          </a:p>
        </p:txBody>
      </p:sp>
      <p:sp>
        <p:nvSpPr>
          <p:cNvPr id="5" name="Shape 3"/>
          <p:cNvSpPr/>
          <p:nvPr/>
        </p:nvSpPr>
        <p:spPr>
          <a:xfrm>
            <a:off x="777240" y="1691640"/>
            <a:ext cx="5212080" cy="10972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2011680"/>
            <a:ext cx="457200" cy="457200"/>
          </a:xfrm>
          <a:prstGeom prst="rect">
            <a:avLst/>
          </a:prstGeom>
        </p:spPr>
      </p:pic>
      <p:sp>
        <p:nvSpPr>
          <p:cNvPr id="7" name="Text 4"/>
          <p:cNvSpPr/>
          <p:nvPr/>
        </p:nvSpPr>
        <p:spPr>
          <a:xfrm>
            <a:off x="1554480" y="1783080"/>
            <a:ext cx="4297680" cy="91440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Query the database directly — no API endpoint needed</a:t>
            </a:r>
            <a:endParaRPr lang="en-US" sz="1250" dirty="0"/>
          </a:p>
        </p:txBody>
      </p:sp>
      <p:sp>
        <p:nvSpPr>
          <p:cNvPr id="8" name="Shape 5"/>
          <p:cNvSpPr/>
          <p:nvPr/>
        </p:nvSpPr>
        <p:spPr>
          <a:xfrm>
            <a:off x="6126480" y="1691640"/>
            <a:ext cx="5212080" cy="1097280"/>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6309360" y="2011680"/>
            <a:ext cx="457200" cy="457200"/>
          </a:xfrm>
          <a:prstGeom prst="rect">
            <a:avLst/>
          </a:prstGeom>
        </p:spPr>
      </p:pic>
      <p:sp>
        <p:nvSpPr>
          <p:cNvPr id="10" name="Text 6"/>
          <p:cNvSpPr/>
          <p:nvPr/>
        </p:nvSpPr>
        <p:spPr>
          <a:xfrm>
            <a:off x="6903720" y="1783080"/>
            <a:ext cx="4297680" cy="91440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Read files from disk, including markdown and config</a:t>
            </a:r>
            <a:endParaRPr lang="en-US" sz="1250" dirty="0"/>
          </a:p>
        </p:txBody>
      </p:sp>
      <p:sp>
        <p:nvSpPr>
          <p:cNvPr id="11" name="Shape 7"/>
          <p:cNvSpPr/>
          <p:nvPr/>
        </p:nvSpPr>
        <p:spPr>
          <a:xfrm>
            <a:off x="777240" y="2971800"/>
            <a:ext cx="5212080" cy="1097280"/>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291840"/>
            <a:ext cx="457200" cy="457200"/>
          </a:xfrm>
          <a:prstGeom prst="rect">
            <a:avLst/>
          </a:prstGeom>
        </p:spPr>
      </p:pic>
      <p:sp>
        <p:nvSpPr>
          <p:cNvPr id="13" name="Text 8"/>
          <p:cNvSpPr/>
          <p:nvPr/>
        </p:nvSpPr>
        <p:spPr>
          <a:xfrm>
            <a:off x="1554480" y="3063240"/>
            <a:ext cx="4297680" cy="91440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Use environment variables and secrets without exposing them</a:t>
            </a:r>
            <a:endParaRPr lang="en-US" sz="1250" dirty="0"/>
          </a:p>
        </p:txBody>
      </p:sp>
      <p:sp>
        <p:nvSpPr>
          <p:cNvPr id="14" name="Shape 9"/>
          <p:cNvSpPr/>
          <p:nvPr/>
        </p:nvSpPr>
        <p:spPr>
          <a:xfrm>
            <a:off x="6126480" y="2971800"/>
            <a:ext cx="5212080" cy="1097280"/>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6309360" y="3291840"/>
            <a:ext cx="457200" cy="457200"/>
          </a:xfrm>
          <a:prstGeom prst="rect">
            <a:avLst/>
          </a:prstGeom>
        </p:spPr>
      </p:pic>
      <p:sp>
        <p:nvSpPr>
          <p:cNvPr id="16" name="Text 10"/>
          <p:cNvSpPr/>
          <p:nvPr/>
        </p:nvSpPr>
        <p:spPr>
          <a:xfrm>
            <a:off x="6903720" y="3063240"/>
            <a:ext cx="4297680" cy="91440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Call private internal services that aren't internet-accessible</a:t>
            </a:r>
            <a:endParaRPr lang="en-US" sz="1250" dirty="0"/>
          </a:p>
        </p:txBody>
      </p:sp>
      <p:sp>
        <p:nvSpPr>
          <p:cNvPr id="17" name="Shape 11"/>
          <p:cNvSpPr/>
          <p:nvPr/>
        </p:nvSpPr>
        <p:spPr>
          <a:xfrm>
            <a:off x="777240" y="4251960"/>
            <a:ext cx="5212080" cy="1097280"/>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572000"/>
            <a:ext cx="457200" cy="457200"/>
          </a:xfrm>
          <a:prstGeom prst="rect">
            <a:avLst/>
          </a:prstGeom>
        </p:spPr>
      </p:pic>
      <p:sp>
        <p:nvSpPr>
          <p:cNvPr id="19" name="Text 12"/>
          <p:cNvSpPr/>
          <p:nvPr/>
        </p:nvSpPr>
        <p:spPr>
          <a:xfrm>
            <a:off x="1554480" y="4343400"/>
            <a:ext cx="4297680" cy="91440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Run heavy computations without shipping the JS to the browser</a:t>
            </a:r>
            <a:endParaRPr lang="en-US" sz="1250" dirty="0"/>
          </a:p>
        </p:txBody>
      </p:sp>
      <p:sp>
        <p:nvSpPr>
          <p:cNvPr id="20" name="Shape 13"/>
          <p:cNvSpPr/>
          <p:nvPr/>
        </p:nvSpPr>
        <p:spPr>
          <a:xfrm>
            <a:off x="6126480" y="4251960"/>
            <a:ext cx="5212080" cy="1097280"/>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6309360" y="4572000"/>
            <a:ext cx="457200" cy="457200"/>
          </a:xfrm>
          <a:prstGeom prst="rect">
            <a:avLst/>
          </a:prstGeom>
        </p:spPr>
      </p:pic>
      <p:sp>
        <p:nvSpPr>
          <p:cNvPr id="22" name="Text 14"/>
          <p:cNvSpPr/>
          <p:nvPr/>
        </p:nvSpPr>
        <p:spPr>
          <a:xfrm>
            <a:off x="6903720" y="4343400"/>
            <a:ext cx="4297680" cy="91440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Import server-only libraries (e.g., Node crypto, fs, ORM clients)</a:t>
            </a:r>
            <a:endParaRPr lang="en-US" sz="1250" dirty="0"/>
          </a:p>
        </p:txBody>
      </p:sp>
      <p:sp>
        <p:nvSpPr>
          <p:cNvPr id="23"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24"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6 / 31</a:t>
            </a:r>
            <a:endParaRPr lang="en-US" sz="9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 Server Components can't do</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Anything that needs the browser. The list is shorter than you'd think.</a:t>
            </a:r>
            <a:endParaRPr lang="en-US" sz="1400" dirty="0"/>
          </a:p>
        </p:txBody>
      </p:sp>
      <p:sp>
        <p:nvSpPr>
          <p:cNvPr id="5" name="Shape 3"/>
          <p:cNvSpPr/>
          <p:nvPr/>
        </p:nvSpPr>
        <p:spPr>
          <a:xfrm>
            <a:off x="777240" y="1691640"/>
            <a:ext cx="5212080" cy="10972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2011680"/>
            <a:ext cx="457200" cy="457200"/>
          </a:xfrm>
          <a:prstGeom prst="rect">
            <a:avLst/>
          </a:prstGeom>
        </p:spPr>
      </p:pic>
      <p:sp>
        <p:nvSpPr>
          <p:cNvPr id="7" name="Text 4"/>
          <p:cNvSpPr/>
          <p:nvPr/>
        </p:nvSpPr>
        <p:spPr>
          <a:xfrm>
            <a:off x="1554480" y="1783080"/>
            <a:ext cx="4297680" cy="91440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Use useState, useEffect, useReducer, or any hook with state</a:t>
            </a:r>
            <a:endParaRPr lang="en-US" sz="1250" dirty="0"/>
          </a:p>
        </p:txBody>
      </p:sp>
      <p:sp>
        <p:nvSpPr>
          <p:cNvPr id="8" name="Shape 5"/>
          <p:cNvSpPr/>
          <p:nvPr/>
        </p:nvSpPr>
        <p:spPr>
          <a:xfrm>
            <a:off x="6126480" y="1691640"/>
            <a:ext cx="5212080" cy="1097280"/>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6309360" y="2011680"/>
            <a:ext cx="457200" cy="457200"/>
          </a:xfrm>
          <a:prstGeom prst="rect">
            <a:avLst/>
          </a:prstGeom>
        </p:spPr>
      </p:pic>
      <p:sp>
        <p:nvSpPr>
          <p:cNvPr id="10" name="Text 6"/>
          <p:cNvSpPr/>
          <p:nvPr/>
        </p:nvSpPr>
        <p:spPr>
          <a:xfrm>
            <a:off x="6903720" y="1783080"/>
            <a:ext cx="4297680" cy="91440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Attach event handlers (onClick, onChange, etc.)</a:t>
            </a:r>
            <a:endParaRPr lang="en-US" sz="1250" dirty="0"/>
          </a:p>
        </p:txBody>
      </p:sp>
      <p:sp>
        <p:nvSpPr>
          <p:cNvPr id="11" name="Shape 7"/>
          <p:cNvSpPr/>
          <p:nvPr/>
        </p:nvSpPr>
        <p:spPr>
          <a:xfrm>
            <a:off x="777240" y="2971800"/>
            <a:ext cx="5212080" cy="1097280"/>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291840"/>
            <a:ext cx="457200" cy="457200"/>
          </a:xfrm>
          <a:prstGeom prst="rect">
            <a:avLst/>
          </a:prstGeom>
        </p:spPr>
      </p:pic>
      <p:sp>
        <p:nvSpPr>
          <p:cNvPr id="13" name="Text 8"/>
          <p:cNvSpPr/>
          <p:nvPr/>
        </p:nvSpPr>
        <p:spPr>
          <a:xfrm>
            <a:off x="1554480" y="3063240"/>
            <a:ext cx="4297680" cy="91440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Use browser APIs — window, document, localStorage, fetch</a:t>
            </a:r>
            <a:endParaRPr lang="en-US" sz="1250" dirty="0"/>
          </a:p>
        </p:txBody>
      </p:sp>
      <p:sp>
        <p:nvSpPr>
          <p:cNvPr id="14" name="Shape 9"/>
          <p:cNvSpPr/>
          <p:nvPr/>
        </p:nvSpPr>
        <p:spPr>
          <a:xfrm>
            <a:off x="6126480" y="2971800"/>
            <a:ext cx="5212080" cy="1097280"/>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6309360" y="3291840"/>
            <a:ext cx="457200" cy="457200"/>
          </a:xfrm>
          <a:prstGeom prst="rect">
            <a:avLst/>
          </a:prstGeom>
        </p:spPr>
      </p:pic>
      <p:sp>
        <p:nvSpPr>
          <p:cNvPr id="16" name="Text 10"/>
          <p:cNvSpPr/>
          <p:nvPr/>
        </p:nvSpPr>
        <p:spPr>
          <a:xfrm>
            <a:off x="6903720" y="3063240"/>
            <a:ext cx="4297680" cy="91440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Use refs — useRef won't work without state to back it</a:t>
            </a:r>
            <a:endParaRPr lang="en-US" sz="1250" dirty="0"/>
          </a:p>
        </p:txBody>
      </p:sp>
      <p:sp>
        <p:nvSpPr>
          <p:cNvPr id="17" name="Shape 11"/>
          <p:cNvSpPr/>
          <p:nvPr/>
        </p:nvSpPr>
        <p:spPr>
          <a:xfrm>
            <a:off x="777240" y="4251960"/>
            <a:ext cx="5212080" cy="1097280"/>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572000"/>
            <a:ext cx="457200" cy="457200"/>
          </a:xfrm>
          <a:prstGeom prst="rect">
            <a:avLst/>
          </a:prstGeom>
        </p:spPr>
      </p:pic>
      <p:sp>
        <p:nvSpPr>
          <p:cNvPr id="19" name="Text 12"/>
          <p:cNvSpPr/>
          <p:nvPr/>
        </p:nvSpPr>
        <p:spPr>
          <a:xfrm>
            <a:off x="1554480" y="4343400"/>
            <a:ext cx="4297680" cy="91440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Be marked 'use client' — that flips the file to client</a:t>
            </a:r>
            <a:endParaRPr lang="en-US" sz="1250" dirty="0"/>
          </a:p>
        </p:txBody>
      </p:sp>
      <p:sp>
        <p:nvSpPr>
          <p:cNvPr id="20" name="Shape 13"/>
          <p:cNvSpPr/>
          <p:nvPr/>
        </p:nvSpPr>
        <p:spPr>
          <a:xfrm>
            <a:off x="6126480" y="4251960"/>
            <a:ext cx="5212080" cy="1097280"/>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6309360" y="4572000"/>
            <a:ext cx="457200" cy="457200"/>
          </a:xfrm>
          <a:prstGeom prst="rect">
            <a:avLst/>
          </a:prstGeom>
        </p:spPr>
      </p:pic>
      <p:sp>
        <p:nvSpPr>
          <p:cNvPr id="22" name="Text 14"/>
          <p:cNvSpPr/>
          <p:nvPr/>
        </p:nvSpPr>
        <p:spPr>
          <a:xfrm>
            <a:off x="6903720" y="4343400"/>
            <a:ext cx="4297680" cy="91440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Be re-rendered on the client — they render once, on the server</a:t>
            </a:r>
            <a:endParaRPr lang="en-US" sz="1250" dirty="0"/>
          </a:p>
        </p:txBody>
      </p:sp>
      <p:sp>
        <p:nvSpPr>
          <p:cNvPr id="23"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24"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7 / 31</a:t>
            </a:r>
            <a:endParaRPr lang="en-US" sz="9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'use client' directive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First line of a file. Everything in that file is client-side from there.</a:t>
            </a:r>
            <a:endParaRPr lang="en-US" sz="1400" dirty="0"/>
          </a:p>
        </p:txBody>
      </p:sp>
      <p:sp>
        <p:nvSpPr>
          <p:cNvPr id="5" name="Shape 3"/>
          <p:cNvSpPr/>
          <p:nvPr/>
        </p:nvSpPr>
        <p:spPr>
          <a:xfrm>
            <a:off x="777240" y="1554480"/>
            <a:ext cx="10607040" cy="41148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840480"/>
          </a:xfrm>
          <a:prstGeom prst="rect">
            <a:avLst/>
          </a:prstGeom>
          <a:noFill/>
          <a:ln/>
        </p:spPr>
        <p:txBody>
          <a:bodyPr wrap="square" lIns="0" tIns="0" rIns="0" bIns="0" rtlCol="0" anchor="t"/>
          <a:lstStyle/>
          <a:p>
            <a:pPr indent="0" marL="0">
              <a:buNone/>
            </a:pPr>
            <a:r>
              <a:rPr lang="en-US" sz="1200" dirty="0">
                <a:solidFill>
                  <a:srgbClr val="9CDCFE"/>
                </a:solidFill>
                <a:latin typeface="Courier New" pitchFamily="34" charset="0"/>
                <a:ea typeface="Courier New" pitchFamily="34" charset="-122"/>
                <a:cs typeface="Courier New" pitchFamily="34" charset="-120"/>
              </a:rPr>
              <a:t>'use client'</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Now we can use hooks, event handlers, browser APIs</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import { useState } from </a:t>
            </a:r>
            <a:pPr indent="0" marL="0">
              <a:buNone/>
            </a:pPr>
            <a:r>
              <a:rPr lang="en-US" sz="1200" dirty="0">
                <a:solidFill>
                  <a:srgbClr val="9CDCFE"/>
                </a:solidFill>
                <a:latin typeface="Courier New" pitchFamily="34" charset="0"/>
                <a:ea typeface="Courier New" pitchFamily="34" charset="-122"/>
                <a:cs typeface="Courier New" pitchFamily="34" charset="-120"/>
              </a:rPr>
              <a:t>'react'</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200" dirty="0">
                <a:solidFill>
                  <a:srgbClr val="DCDCAA"/>
                </a:solidFill>
                <a:latin typeface="Courier New" pitchFamily="34" charset="0"/>
                <a:ea typeface="Courier New" pitchFamily="34" charset="-122"/>
                <a:cs typeface="Courier New" pitchFamily="34" charset="-120"/>
              </a:rPr>
              <a:t>Counter</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[count, setCount] = </a:t>
            </a:r>
            <a:pPr indent="0" marL="0">
              <a:buNone/>
            </a:pPr>
            <a:r>
              <a:rPr lang="en-US" sz="1200" dirty="0">
                <a:solidFill>
                  <a:srgbClr val="DCDCAA"/>
                </a:solidFill>
                <a:latin typeface="Courier New" pitchFamily="34" charset="0"/>
                <a:ea typeface="Courier New" pitchFamily="34" charset="-122"/>
                <a:cs typeface="Courier New" pitchFamily="34" charset="-120"/>
              </a:rPr>
              <a:t>useState</a:t>
            </a:r>
            <a:pPr indent="0" marL="0">
              <a:buNone/>
            </a:pPr>
            <a:r>
              <a:rPr lang="en-US" sz="1200" dirty="0">
                <a:solidFill>
                  <a:srgbClr val="FFFFFF"/>
                </a:solidFill>
                <a:latin typeface="Courier New" pitchFamily="34" charset="0"/>
                <a:ea typeface="Courier New" pitchFamily="34" charset="-122"/>
                <a:cs typeface="Courier New" pitchFamily="34" charset="-120"/>
              </a:rPr>
              <a:t>(0);</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&lt;button onClick={() =&gt; setCount(</a:t>
            </a:r>
            <a:pPr indent="0" marL="0">
              <a:buNone/>
            </a:pPr>
            <a:r>
              <a:rPr lang="en-US" sz="1200" dirty="0">
                <a:solidFill>
                  <a:srgbClr val="9CDCFE"/>
                </a:solidFill>
                <a:latin typeface="Courier New" pitchFamily="34" charset="0"/>
                <a:ea typeface="Courier New" pitchFamily="34" charset="-122"/>
                <a:cs typeface="Courier New" pitchFamily="34" charset="-120"/>
              </a:rPr>
              <a:t>n</a:t>
            </a:r>
            <a:pPr indent="0" marL="0">
              <a:buNone/>
            </a:pPr>
            <a:r>
              <a:rPr lang="en-US" sz="1200" dirty="0">
                <a:solidFill>
                  <a:srgbClr val="9CDCFE"/>
                </a:solidFill>
                <a:latin typeface="Courier New" pitchFamily="34" charset="0"/>
                <a:ea typeface="Courier New" pitchFamily="34" charset="-122"/>
                <a:cs typeface="Courier New" pitchFamily="34" charset="-120"/>
              </a:rPr>
              <a:t> =&gt; n + 1)}&gt;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Clicked {count} times</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&lt;/button&gt;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777240" y="5806440"/>
            <a:ext cx="10607040" cy="457200"/>
          </a:xfrm>
          <a:prstGeom prst="rect">
            <a:avLst/>
          </a:prstGeom>
          <a:solidFill>
            <a:srgbClr val="CBF1F6"/>
          </a:solidFill>
          <a:ln w="12700">
            <a:solidFill>
              <a:srgbClr val="CBF1F6"/>
            </a:solidFill>
            <a:prstDash val="solid"/>
          </a:ln>
        </p:spPr>
      </p:sp>
      <p:sp>
        <p:nvSpPr>
          <p:cNvPr id="8" name="Text 6"/>
          <p:cNvSpPr/>
          <p:nvPr/>
        </p:nvSpPr>
        <p:spPr>
          <a:xfrm>
            <a:off x="960120" y="5806440"/>
            <a:ext cx="10424160" cy="457200"/>
          </a:xfrm>
          <a:prstGeom prst="rect">
            <a:avLst/>
          </a:prstGeom>
          <a:noFill/>
          <a:ln/>
        </p:spPr>
        <p:txBody>
          <a:bodyPr wrap="square" lIns="0" tIns="0" rIns="0" bIns="0" rtlCol="0" anchor="ctr"/>
          <a:lstStyle/>
          <a:p>
            <a:pPr indent="0" marL="0">
              <a:buNone/>
            </a:pPr>
            <a:r>
              <a:rPr lang="en-US" sz="1150" i="1" dirty="0">
                <a:solidFill>
                  <a:srgbClr val="0F172A"/>
                </a:solidFill>
                <a:latin typeface="Arial" pitchFamily="34" charset="0"/>
                <a:ea typeface="Arial" pitchFamily="34" charset="-122"/>
                <a:cs typeface="Arial" pitchFamily="34" charset="-120"/>
              </a:rPr>
              <a:t>The directive is per-FILE. Once present, every export from that file is a Client Component, and every component imported into the file becomes client.</a:t>
            </a:r>
            <a:endParaRPr lang="en-US" sz="115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8 / 31</a:t>
            </a:r>
            <a:endParaRPr lang="en-US" sz="9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client/server boundary</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Components 'cross' from server into client. They never cross back.</a:t>
            </a:r>
            <a:endParaRPr lang="en-US" sz="1400" dirty="0"/>
          </a:p>
        </p:txBody>
      </p:sp>
      <p:sp>
        <p:nvSpPr>
          <p:cNvPr id="5" name="Shape 3"/>
          <p:cNvSpPr/>
          <p:nvPr/>
        </p:nvSpPr>
        <p:spPr>
          <a:xfrm>
            <a:off x="777240" y="1691640"/>
            <a:ext cx="5349240" cy="4389120"/>
          </a:xfrm>
          <a:prstGeom prst="rect">
            <a:avLst/>
          </a:prstGeom>
          <a:solidFill>
            <a:srgbClr val="1E2A47"/>
          </a:solidFill>
          <a:ln w="12700">
            <a:solidFill>
              <a:srgbClr val="1E2A47"/>
            </a:solidFill>
            <a:prstDash val="solid"/>
          </a:ln>
        </p:spPr>
      </p:sp>
      <p:sp>
        <p:nvSpPr>
          <p:cNvPr id="6" name="Text 4"/>
          <p:cNvSpPr/>
          <p:nvPr/>
        </p:nvSpPr>
        <p:spPr>
          <a:xfrm>
            <a:off x="960120" y="1874520"/>
            <a:ext cx="5029200" cy="411480"/>
          </a:xfrm>
          <a:prstGeom prst="rect">
            <a:avLst/>
          </a:prstGeom>
          <a:noFill/>
          <a:ln/>
        </p:spPr>
        <p:txBody>
          <a:bodyPr wrap="square" lIns="0" tIns="0" rIns="0" bIns="0" rtlCol="0" anchor="ctr"/>
          <a:lstStyle/>
          <a:p>
            <a:pPr indent="0" marL="0">
              <a:buNone/>
            </a:pPr>
            <a:r>
              <a:rPr lang="en-US" sz="1400" b="1" dirty="0">
                <a:solidFill>
                  <a:srgbClr val="00B8D9"/>
                </a:solidFill>
                <a:latin typeface="Trebuchet MS" pitchFamily="34" charset="0"/>
                <a:ea typeface="Trebuchet MS" pitchFamily="34" charset="-122"/>
                <a:cs typeface="Trebuchet MS" pitchFamily="34" charset="-120"/>
              </a:rPr>
              <a:t>Server Components</a:t>
            </a:r>
            <a:endParaRPr lang="en-US" sz="1400" dirty="0"/>
          </a:p>
        </p:txBody>
      </p:sp>
      <p:sp>
        <p:nvSpPr>
          <p:cNvPr id="7" name="Text 5"/>
          <p:cNvSpPr/>
          <p:nvPr/>
        </p:nvSpPr>
        <p:spPr>
          <a:xfrm>
            <a:off x="960120" y="2423160"/>
            <a:ext cx="5029200" cy="3474720"/>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&lt;Page&gt;</a:t>
            </a:r>
            <a:endParaRPr lang="en-US" sz="1400" dirty="0"/>
          </a:p>
          <a:p>
            <a:pPr indent="0" marL="0">
              <a:buNone/>
            </a:pPr>
            <a:r>
              <a:rPr lang="en-US" sz="1400" dirty="0">
                <a:solidFill>
                  <a:srgbClr val="CBF1F6"/>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&lt;Layout&gt;</a:t>
            </a:r>
            <a:endParaRPr lang="en-US" sz="1400" dirty="0"/>
          </a:p>
          <a:p>
            <a:pPr indent="0" marL="0">
              <a:buNone/>
            </a:pPr>
            <a:r>
              <a:rPr lang="en-US" sz="1400" dirty="0">
                <a:solidFill>
                  <a:srgbClr val="CBF1F6"/>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&lt;PostsList&gt;  </a:t>
            </a:r>
            <a:pPr indent="0" marL="0">
              <a:buNone/>
            </a:pPr>
            <a:r>
              <a:rPr lang="en-US" sz="1400" i="1" dirty="0">
                <a:solidFill>
                  <a:srgbClr val="6A9955"/>
                </a:solidFill>
                <a:latin typeface="Courier New" pitchFamily="34" charset="0"/>
                <a:ea typeface="Courier New" pitchFamily="34" charset="-122"/>
                <a:cs typeface="Courier New" pitchFamily="34" charset="-120"/>
              </a:rPr>
              <a:t>← awaits db</a:t>
            </a:r>
            <a:endParaRPr lang="en-US" sz="1400" dirty="0"/>
          </a:p>
          <a:p>
            <a:pPr indent="0" marL="0">
              <a:buNone/>
            </a:pPr>
            <a:r>
              <a:rPr lang="en-US" sz="1400" dirty="0">
                <a:solidFill>
                  <a:srgbClr val="CBF1F6"/>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&lt;Post&gt; &lt;Post&gt; &lt;Post&gt;</a:t>
            </a:r>
            <a:endParaRPr lang="en-US" sz="1400" dirty="0"/>
          </a:p>
        </p:txBody>
      </p:sp>
      <p:pic>
        <p:nvPicPr>
          <p:cNvPr id="8" name="Image 0" descr="preencoded.png">    </p:cNvPr>
          <p:cNvPicPr>
            <a:picLocks noChangeAspect="1"/>
          </p:cNvPicPr>
          <p:nvPr/>
        </p:nvPicPr>
        <p:blipFill>
          <a:blip r:embed="rId1"/>
          <a:stretch>
            <a:fillRect/>
          </a:stretch>
        </p:blipFill>
        <p:spPr>
          <a:xfrm>
            <a:off x="6126480" y="3520440"/>
            <a:ext cx="457200" cy="457200"/>
          </a:xfrm>
          <a:prstGeom prst="rect">
            <a:avLst/>
          </a:prstGeom>
        </p:spPr>
      </p:pic>
      <p:sp>
        <p:nvSpPr>
          <p:cNvPr id="9" name="Text 6"/>
          <p:cNvSpPr/>
          <p:nvPr/>
        </p:nvSpPr>
        <p:spPr>
          <a:xfrm>
            <a:off x="5852160" y="4023360"/>
            <a:ext cx="1005840" cy="274320"/>
          </a:xfrm>
          <a:prstGeom prst="rect">
            <a:avLst/>
          </a:prstGeom>
          <a:noFill/>
          <a:ln/>
        </p:spPr>
        <p:txBody>
          <a:bodyPr wrap="square" lIns="0" tIns="0" rIns="0" bIns="0" rtlCol="0" anchor="ctr"/>
          <a:lstStyle/>
          <a:p>
            <a:pPr algn="ctr" indent="0" marL="0">
              <a:buNone/>
            </a:pPr>
            <a:r>
              <a:rPr lang="en-US" sz="1000" i="1" dirty="0">
                <a:solidFill>
                  <a:srgbClr val="475569"/>
                </a:solidFill>
                <a:latin typeface="Arial" pitchFamily="34" charset="0"/>
                <a:ea typeface="Arial" pitchFamily="34" charset="-122"/>
                <a:cs typeface="Arial" pitchFamily="34" charset="-120"/>
              </a:rPr>
              <a:t>crosses</a:t>
            </a:r>
            <a:endParaRPr lang="en-US" sz="1000" dirty="0"/>
          </a:p>
        </p:txBody>
      </p:sp>
      <p:sp>
        <p:nvSpPr>
          <p:cNvPr id="10" name="Shape 7"/>
          <p:cNvSpPr/>
          <p:nvPr/>
        </p:nvSpPr>
        <p:spPr>
          <a:xfrm>
            <a:off x="6766560" y="1691640"/>
            <a:ext cx="4617720" cy="4389120"/>
          </a:xfrm>
          <a:prstGeom prst="rect">
            <a:avLst/>
          </a:prstGeom>
          <a:solidFill>
            <a:srgbClr val="FFFFFF"/>
          </a:solidFill>
          <a:ln w="12700">
            <a:solidFill>
              <a:srgbClr val="E2E8F0"/>
            </a:solidFill>
            <a:prstDash val="solid"/>
          </a:ln>
        </p:spPr>
      </p:sp>
      <p:sp>
        <p:nvSpPr>
          <p:cNvPr id="11" name="Text 8"/>
          <p:cNvSpPr/>
          <p:nvPr/>
        </p:nvSpPr>
        <p:spPr>
          <a:xfrm>
            <a:off x="6949440" y="1874520"/>
            <a:ext cx="4297680" cy="41148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Client Components</a:t>
            </a:r>
            <a:endParaRPr lang="en-US" sz="1400" dirty="0"/>
          </a:p>
        </p:txBody>
      </p:sp>
      <p:sp>
        <p:nvSpPr>
          <p:cNvPr id="12" name="Text 9"/>
          <p:cNvSpPr/>
          <p:nvPr/>
        </p:nvSpPr>
        <p:spPr>
          <a:xfrm>
            <a:off x="6949440" y="2423160"/>
            <a:ext cx="4297680" cy="3474720"/>
          </a:xfrm>
          <a:prstGeom prst="rect">
            <a:avLst/>
          </a:prstGeom>
          <a:noFill/>
          <a:ln/>
        </p:spPr>
        <p:txBody>
          <a:bodyPr wrap="square" lIns="0" tIns="0" rIns="0" bIns="0" rtlCol="0" anchor="t"/>
          <a:lstStyle/>
          <a:p>
            <a:pPr indent="0" marL="0">
              <a:buNone/>
            </a:pPr>
            <a:r>
              <a:rPr lang="en-US" sz="1300" dirty="0">
                <a:solidFill>
                  <a:srgbClr val="0F172A"/>
                </a:solidFill>
                <a:latin typeface="Courier New" pitchFamily="34" charset="0"/>
                <a:ea typeface="Courier New" pitchFamily="34" charset="-122"/>
                <a:cs typeface="Courier New" pitchFamily="34" charset="-120"/>
              </a:rPr>
              <a:t>&lt;LikeButton&gt;</a:t>
            </a:r>
            <a:endParaRPr lang="en-US" sz="1300" dirty="0"/>
          </a:p>
          <a:p>
            <a:pPr indent="0" marL="0">
              <a:buNone/>
            </a:pPr>
            <a:r>
              <a:rPr lang="en-US" sz="1300" dirty="0">
                <a:solidFill>
                  <a:srgbClr val="00B8D9"/>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6A9955"/>
                </a:solidFill>
                <a:latin typeface="Courier New" pitchFamily="34" charset="0"/>
                <a:ea typeface="Courier New" pitchFamily="34" charset="-122"/>
                <a:cs typeface="Courier New" pitchFamily="34" charset="-120"/>
              </a:rPr>
              <a:t>useState, onClick</a:t>
            </a:r>
            <a:endParaRPr lang="en-US" sz="1300" dirty="0"/>
          </a:p>
          <a:p>
            <a:pPr indent="0" marL="0">
              <a:buNone/>
            </a:pPr>
            <a:r>
              <a:rPr lang="en-US" sz="1300" dirty="0">
                <a:solidFill>
                  <a:srgbClr val="000000"/>
                </a:solidFill>
              </a:rPr>
              <a:t> </a:t>
            </a:r>
            <a:endParaRPr lang="en-US" sz="1300" dirty="0"/>
          </a:p>
          <a:p>
            <a:pPr indent="0" marL="0">
              <a:buNone/>
            </a:pPr>
            <a:r>
              <a:rPr lang="en-US" sz="1300" dirty="0">
                <a:solidFill>
                  <a:srgbClr val="0F172A"/>
                </a:solidFill>
                <a:latin typeface="Courier New" pitchFamily="34" charset="0"/>
                <a:ea typeface="Courier New" pitchFamily="34" charset="-122"/>
                <a:cs typeface="Courier New" pitchFamily="34" charset="-120"/>
              </a:rPr>
              <a:t>&lt;CommentBox&gt;</a:t>
            </a:r>
            <a:endParaRPr lang="en-US" sz="1300" dirty="0"/>
          </a:p>
          <a:p>
            <a:pPr indent="0" marL="0">
              <a:buNone/>
            </a:pPr>
            <a:r>
              <a:rPr lang="en-US" sz="1300" dirty="0">
                <a:solidFill>
                  <a:srgbClr val="00B8D9"/>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6A9955"/>
                </a:solidFill>
                <a:latin typeface="Courier New" pitchFamily="34" charset="0"/>
                <a:ea typeface="Courier New" pitchFamily="34" charset="-122"/>
                <a:cs typeface="Courier New" pitchFamily="34" charset="-120"/>
              </a:rPr>
              <a:t>useState, useFormStatus</a:t>
            </a:r>
            <a:endParaRPr lang="en-US" sz="1300" dirty="0"/>
          </a:p>
        </p:txBody>
      </p:sp>
      <p:sp>
        <p:nvSpPr>
          <p:cNvPr id="13" name="Text 10"/>
          <p:cNvSpPr/>
          <p:nvPr/>
        </p:nvSpPr>
        <p:spPr>
          <a:xfrm>
            <a:off x="777240" y="6126480"/>
            <a:ext cx="10607040" cy="320040"/>
          </a:xfrm>
          <a:prstGeom prst="rect">
            <a:avLst/>
          </a:prstGeom>
          <a:noFill/>
          <a:ln/>
        </p:spPr>
        <p:txBody>
          <a:bodyPr wrap="square" lIns="0" tIns="0" rIns="0" bIns="0" rtlCol="0" anchor="ctr"/>
          <a:lstStyle/>
          <a:p>
            <a:pPr indent="0" marL="0">
              <a:buNone/>
            </a:pPr>
            <a:r>
              <a:rPr lang="en-US" sz="1100" i="1" dirty="0">
                <a:solidFill>
                  <a:srgbClr val="475569"/>
                </a:solidFill>
                <a:latin typeface="Arial" pitchFamily="34" charset="0"/>
                <a:ea typeface="Arial" pitchFamily="34" charset="-122"/>
                <a:cs typeface="Arial" pitchFamily="34" charset="-120"/>
              </a:rPr>
              <a:t>Server components can render client components as children. Client components cannot import server components.</a:t>
            </a:r>
            <a:endParaRPr lang="en-US" sz="1100" dirty="0"/>
          </a:p>
        </p:txBody>
      </p:sp>
      <p:sp>
        <p:nvSpPr>
          <p:cNvPr id="14" name="Text 1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15" name="Text 1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9 / 31</a:t>
            </a:r>
            <a:endParaRPr lang="en-US" sz="9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 can cross the boundary</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Props from a Server Component to a Client Component must be serializable.</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400" b="1" dirty="0">
                <a:solidFill>
                  <a:srgbClr val="059669"/>
                </a:solidFill>
                <a:latin typeface="Trebuchet MS" pitchFamily="34" charset="0"/>
                <a:ea typeface="Trebuchet MS" pitchFamily="34" charset="-122"/>
                <a:cs typeface="Trebuchet MS" pitchFamily="34" charset="-120"/>
              </a:rPr>
              <a:t>Allowed props</a:t>
            </a:r>
            <a:endParaRPr lang="en-US" sz="1400" dirty="0"/>
          </a:p>
        </p:txBody>
      </p:sp>
      <p:sp>
        <p:nvSpPr>
          <p:cNvPr id="6" name="Text 4"/>
          <p:cNvSpPr/>
          <p:nvPr/>
        </p:nvSpPr>
        <p:spPr>
          <a:xfrm>
            <a:off x="777240" y="1920240"/>
            <a:ext cx="5349240" cy="3657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Strings, numbers, booleans, null, undefined</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Plain objects and arrays of the above</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Date, Map, Set, Promise (yes — promises serialize)</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Server Action functions (passed by reference, executed on server)</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JSX as a children prop (renders separately)</a:t>
            </a:r>
            <a:endParaRPr lang="en-US" sz="1250" dirty="0"/>
          </a:p>
        </p:txBody>
      </p:sp>
      <p:sp>
        <p:nvSpPr>
          <p:cNvPr id="7" name="Text 5"/>
          <p:cNvSpPr/>
          <p:nvPr/>
        </p:nvSpPr>
        <p:spPr>
          <a:xfrm>
            <a:off x="6355080" y="1554480"/>
            <a:ext cx="5029200" cy="365760"/>
          </a:xfrm>
          <a:prstGeom prst="rect">
            <a:avLst/>
          </a:prstGeom>
          <a:noFill/>
          <a:ln/>
        </p:spPr>
        <p:txBody>
          <a:bodyPr wrap="square" lIns="0" tIns="0" rIns="0" bIns="0" rtlCol="0" anchor="ctr"/>
          <a:lstStyle/>
          <a:p>
            <a:pPr indent="0" marL="0">
              <a:buNone/>
            </a:pPr>
            <a:r>
              <a:rPr lang="en-US" sz="1400" b="1" dirty="0">
                <a:solidFill>
                  <a:srgbClr val="DC2626"/>
                </a:solidFill>
                <a:latin typeface="Trebuchet MS" pitchFamily="34" charset="0"/>
                <a:ea typeface="Trebuchet MS" pitchFamily="34" charset="-122"/>
                <a:cs typeface="Trebuchet MS" pitchFamily="34" charset="-120"/>
              </a:rPr>
              <a:t>Not allowed</a:t>
            </a:r>
            <a:endParaRPr lang="en-US" sz="1400" dirty="0"/>
          </a:p>
        </p:txBody>
      </p:sp>
      <p:sp>
        <p:nvSpPr>
          <p:cNvPr id="8" name="Text 6"/>
          <p:cNvSpPr/>
          <p:nvPr/>
        </p:nvSpPr>
        <p:spPr>
          <a:xfrm>
            <a:off x="6355080" y="1920240"/>
            <a:ext cx="5029200" cy="3657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Regular functions defined inline (not Server Actions)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Class instances with methods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Symbols (other than well-known)</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Functions returned from libraries (e.g., a configured logger)</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DOM elements or refs</a:t>
            </a:r>
            <a:endParaRPr lang="en-US" sz="125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10 / 31</a:t>
            </a:r>
            <a:endParaRPr lang="en-US" sz="9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Composition: pass Client Components as children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 Client Component can render Server Component children — they just need to be passed in, not imported.</a:t>
            </a:r>
            <a:endParaRPr lang="en-US" sz="1400" dirty="0"/>
          </a:p>
        </p:txBody>
      </p:sp>
      <p:sp>
        <p:nvSpPr>
          <p:cNvPr id="5" name="Shape 3"/>
          <p:cNvSpPr/>
          <p:nvPr/>
        </p:nvSpPr>
        <p:spPr>
          <a:xfrm>
            <a:off x="777240" y="1554480"/>
            <a:ext cx="10607040" cy="41148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84048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AccordionPanel.jsx — Client Component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'use client'</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200" dirty="0">
                <a:solidFill>
                  <a:srgbClr val="DCDCAA"/>
                </a:solidFill>
                <a:latin typeface="Courier New" pitchFamily="34" charset="0"/>
                <a:ea typeface="Courier New" pitchFamily="34" charset="-122"/>
                <a:cs typeface="Courier New" pitchFamily="34" charset="-120"/>
              </a:rPr>
              <a:t>AccordionPanel</a:t>
            </a:r>
            <a:pPr indent="0" marL="0">
              <a:buNone/>
            </a:pPr>
            <a:r>
              <a:rPr lang="en-US" sz="1200" dirty="0">
                <a:solidFill>
                  <a:srgbClr val="FFFFFF"/>
                </a:solidFill>
                <a:latin typeface="Courier New" pitchFamily="34" charset="0"/>
                <a:ea typeface="Courier New" pitchFamily="34" charset="-122"/>
                <a:cs typeface="Courier New" pitchFamily="34" charset="-120"/>
              </a:rPr>
              <a:t>({ children, summary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[open, setOpen] = </a:t>
            </a:r>
            <a:pPr indent="0" marL="0">
              <a:buNone/>
            </a:pPr>
            <a:r>
              <a:rPr lang="en-US" sz="1200" dirty="0">
                <a:solidFill>
                  <a:srgbClr val="DCDCAA"/>
                </a:solidFill>
                <a:latin typeface="Courier New" pitchFamily="34" charset="0"/>
                <a:ea typeface="Courier New" pitchFamily="34" charset="-122"/>
                <a:cs typeface="Courier New" pitchFamily="34" charset="-120"/>
              </a:rPr>
              <a:t>useState</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C586C0"/>
                </a:solidFill>
                <a:latin typeface="Courier New" pitchFamily="34" charset="0"/>
                <a:ea typeface="Courier New" pitchFamily="34" charset="-122"/>
                <a:cs typeface="Courier New" pitchFamily="34" charset="-120"/>
              </a:rPr>
              <a:t>false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DCDCAA"/>
                </a:solidFill>
                <a:latin typeface="Courier New" pitchFamily="34" charset="0"/>
                <a:ea typeface="Courier New" pitchFamily="34" charset="-122"/>
                <a:cs typeface="Courier New" pitchFamily="34" charset="-120"/>
              </a:rPr>
              <a:t>  return &lt;details onClick={() =&gt; setOpen(</a:t>
            </a:r>
            <a:pPr indent="0" marL="0">
              <a:buNone/>
            </a:pPr>
            <a:r>
              <a:rPr lang="en-US" sz="1200" dirty="0">
                <a:solidFill>
                  <a:srgbClr val="9CDCFE"/>
                </a:solidFill>
                <a:latin typeface="Courier New" pitchFamily="34" charset="0"/>
                <a:ea typeface="Courier New" pitchFamily="34" charset="-122"/>
                <a:cs typeface="Courier New" pitchFamily="34" charset="-120"/>
              </a:rPr>
              <a:t>o</a:t>
            </a:r>
            <a:pPr indent="0" marL="0">
              <a:buNone/>
            </a:pPr>
            <a:r>
              <a:rPr lang="en-US" sz="1200" dirty="0">
                <a:solidFill>
                  <a:srgbClr val="FFFFFF"/>
                </a:solidFill>
                <a:latin typeface="Courier New" pitchFamily="34" charset="0"/>
                <a:ea typeface="Courier New" pitchFamily="34" charset="-122"/>
                <a:cs typeface="Courier New" pitchFamily="34" charset="-120"/>
              </a:rPr>
              <a:t> =&gt; !o)}&gt;&lt;summary&gt;{summary}&lt;/summary&gt;{open &amp;&amp; children}&lt;/details&gt;;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page.jsx — Server Component using it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import AccordionPanel from </a:t>
            </a:r>
            <a:pPr indent="0" marL="0">
              <a:buNone/>
            </a:pPr>
            <a:r>
              <a:rPr lang="en-US" sz="1200" dirty="0">
                <a:solidFill>
                  <a:srgbClr val="9CDCFE"/>
                </a:solidFill>
                <a:latin typeface="Courier New" pitchFamily="34" charset="0"/>
                <a:ea typeface="Courier New" pitchFamily="34" charset="-122"/>
                <a:cs typeface="Courier New" pitchFamily="34" charset="-120"/>
              </a:rPr>
              <a:t>'./AccordionPanel'</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import PostsList from </a:t>
            </a:r>
            <a:pPr indent="0" marL="0">
              <a:buNone/>
            </a:pPr>
            <a:r>
              <a:rPr lang="en-US" sz="1200" dirty="0">
                <a:solidFill>
                  <a:srgbClr val="9CDCFE"/>
                </a:solidFill>
                <a:latin typeface="Courier New" pitchFamily="34" charset="0"/>
                <a:ea typeface="Courier New" pitchFamily="34" charset="-122"/>
                <a:cs typeface="Courier New" pitchFamily="34" charset="-120"/>
              </a:rPr>
              <a:t>'./PostsList'</a:t>
            </a:r>
            <a:pPr indent="0" marL="0">
              <a:buNone/>
            </a:pPr>
            <a:r>
              <a:rPr lang="en-US" sz="1200" dirty="0">
                <a:solidFill>
                  <a:srgbClr val="9CDCFE"/>
                </a:solidFill>
                <a:latin typeface="Courier New" pitchFamily="34" charset="0"/>
                <a:ea typeface="Courier New" pitchFamily="34" charset="-122"/>
                <a:cs typeface="Courier New" pitchFamily="34" charset="-120"/>
              </a:rPr>
              <a:t>;   </a:t>
            </a:r>
            <a:pPr indent="0" marL="0">
              <a:buNone/>
            </a:pPr>
            <a:r>
              <a:rPr lang="en-US" sz="1200" i="1" dirty="0">
                <a:solidFill>
                  <a:srgbClr val="6A9955"/>
                </a:solidFill>
                <a:latin typeface="Courier New" pitchFamily="34" charset="0"/>
                <a:ea typeface="Courier New" pitchFamily="34" charset="-122"/>
                <a:cs typeface="Courier New" pitchFamily="34" charset="-120"/>
              </a:rPr>
              <a:t>// also a Server Component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Page</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&lt;AccordionPanel summary=</a:t>
            </a:r>
            <a:pPr indent="0" marL="0">
              <a:buNone/>
            </a:pPr>
            <a:r>
              <a:rPr lang="en-US" sz="1200" dirty="0">
                <a:solidFill>
                  <a:srgbClr val="9CDCFE"/>
                </a:solidFill>
                <a:latin typeface="Courier New" pitchFamily="34" charset="0"/>
                <a:ea typeface="Courier New" pitchFamily="34" charset="-122"/>
                <a:cs typeface="Courier New" pitchFamily="34" charset="-120"/>
              </a:rPr>
              <a:t>'Recent posts'</a:t>
            </a:r>
            <a:pPr indent="0" marL="0">
              <a:buNone/>
            </a:pPr>
            <a:r>
              <a:rPr lang="en-US" sz="1200" dirty="0">
                <a:solidFill>
                  <a:srgbClr val="FFFFFF"/>
                </a:solidFill>
                <a:latin typeface="Courier New" pitchFamily="34" charset="0"/>
                <a:ea typeface="Courier New" pitchFamily="34" charset="-122"/>
                <a:cs typeface="Courier New" pitchFamily="34" charset="-120"/>
              </a:rPr>
              <a:t>&gt;</a:t>
            </a:r>
            <a:endParaRPr lang="en-US" sz="1200" dirty="0"/>
          </a:p>
          <a:p>
            <a:pPr indent="0" marL="0">
              <a:buNone/>
            </a:pPr>
            <a:r>
              <a:rPr lang="en-US" sz="1200" dirty="0">
                <a:solidFill>
                  <a:srgbClr val="DCDCAA"/>
                </a:solidFill>
                <a:latin typeface="Courier New" pitchFamily="34" charset="0"/>
                <a:ea typeface="Courier New" pitchFamily="34" charset="-122"/>
                <a:cs typeface="Courier New" pitchFamily="34" charset="-120"/>
              </a:rPr>
              <a:t>      &lt;PostsList /&gt;     </a:t>
            </a:r>
            <a:pPr indent="0" marL="0">
              <a:buNone/>
            </a:pPr>
            <a:r>
              <a:rPr lang="en-US" sz="1200" i="1" dirty="0">
                <a:solidFill>
                  <a:srgbClr val="6A9955"/>
                </a:solidFill>
                <a:latin typeface="Courier New" pitchFamily="34" charset="0"/>
                <a:ea typeface="Courier New" pitchFamily="34" charset="-122"/>
                <a:cs typeface="Courier New" pitchFamily="34" charset="-120"/>
              </a:rPr>
              <a:t>// Server Component as a child of a Client Component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&lt;/AccordionPanel&gt;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11 / 31</a:t>
            </a:r>
            <a:endParaRPr lang="en-US" sz="9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2">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2</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Server Actions</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Functions that run on the server when called from the client. Forms become quiet again.</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What's a Server Action?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 function marked 'use server'. Called from the client; runs on the server.</a:t>
            </a:r>
            <a:endParaRPr lang="en-US" sz="1400" dirty="0"/>
          </a:p>
        </p:txBody>
      </p:sp>
      <p:sp>
        <p:nvSpPr>
          <p:cNvPr id="5" name="Shape 3"/>
          <p:cNvSpPr/>
          <p:nvPr/>
        </p:nvSpPr>
        <p:spPr>
          <a:xfrm>
            <a:off x="777240" y="1554480"/>
            <a:ext cx="10607040" cy="41148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84048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app/posts/new/page.jsx</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import { redirect } from </a:t>
            </a:r>
            <a:pPr indent="0" marL="0">
              <a:buNone/>
            </a:pPr>
            <a:r>
              <a:rPr lang="en-US" sz="1200" dirty="0">
                <a:solidFill>
                  <a:srgbClr val="9CDCFE"/>
                </a:solidFill>
                <a:latin typeface="Courier New" pitchFamily="34" charset="0"/>
                <a:ea typeface="Courier New" pitchFamily="34" charset="-122"/>
                <a:cs typeface="Courier New" pitchFamily="34" charset="-120"/>
              </a:rPr>
              <a:t>'next/navigation'</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import { db } from </a:t>
            </a:r>
            <a:pPr indent="0" marL="0">
              <a:buNone/>
            </a:pPr>
            <a:r>
              <a:rPr lang="en-US" sz="1200" dirty="0">
                <a:solidFill>
                  <a:srgbClr val="9CDCFE"/>
                </a:solidFill>
                <a:latin typeface="Courier New" pitchFamily="34" charset="0"/>
                <a:ea typeface="Courier New" pitchFamily="34" charset="-122"/>
                <a:cs typeface="Courier New" pitchFamily="34" charset="-120"/>
              </a:rPr>
              <a:t>'@/lib/db'</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createPost</a:t>
            </a:r>
            <a:pPr indent="0" marL="0">
              <a:buNone/>
            </a:pPr>
            <a:r>
              <a:rPr lang="en-US" sz="1200" dirty="0">
                <a:solidFill>
                  <a:srgbClr val="FFFFFF"/>
                </a:solidFill>
                <a:latin typeface="Courier New" pitchFamily="34" charset="0"/>
                <a:ea typeface="Courier New" pitchFamily="34" charset="-122"/>
                <a:cs typeface="Courier New" pitchFamily="34" charset="-120"/>
              </a:rPr>
              <a:t>(formData)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9CDCFE"/>
                </a:solidFill>
                <a:latin typeface="Courier New" pitchFamily="34" charset="0"/>
                <a:ea typeface="Courier New" pitchFamily="34" charset="-122"/>
                <a:cs typeface="Courier New" pitchFamily="34" charset="-120"/>
              </a:rPr>
              <a:t>'use server'</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post = await db.posts.create({</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data: { title: formData.get(</a:t>
            </a:r>
            <a:pPr indent="0" marL="0">
              <a:buNone/>
            </a:pPr>
            <a:r>
              <a:rPr lang="en-US" sz="1200" dirty="0">
                <a:solidFill>
                  <a:srgbClr val="9CDCFE"/>
                </a:solidFill>
                <a:latin typeface="Courier New" pitchFamily="34" charset="0"/>
                <a:ea typeface="Courier New" pitchFamily="34" charset="-122"/>
                <a:cs typeface="Courier New" pitchFamily="34" charset="-120"/>
              </a:rPr>
              <a:t>'title'</a:t>
            </a:r>
            <a:pPr indent="0" marL="0">
              <a:buNone/>
            </a:pPr>
            <a:r>
              <a:rPr lang="en-US" sz="1200" dirty="0">
                <a:solidFill>
                  <a:srgbClr val="C586C0"/>
                </a:solidFill>
                <a:latin typeface="Courier New" pitchFamily="34" charset="0"/>
                <a:ea typeface="Courier New" pitchFamily="34" charset="-122"/>
                <a:cs typeface="Courier New" pitchFamily="34" charset="-120"/>
              </a:rPr>
              <a:t>), body: formData.get(</a:t>
            </a:r>
            <a:pPr indent="0" marL="0">
              <a:buNone/>
            </a:pPr>
            <a:r>
              <a:rPr lang="en-US" sz="1200" dirty="0">
                <a:solidFill>
                  <a:srgbClr val="9CDCFE"/>
                </a:solidFill>
                <a:latin typeface="Courier New" pitchFamily="34" charset="0"/>
                <a:ea typeface="Courier New" pitchFamily="34" charset="-122"/>
                <a:cs typeface="Courier New" pitchFamily="34" charset="-120"/>
              </a:rPr>
              <a:t>'body'</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a:t>
            </a:r>
            <a:pPr indent="0" marL="0">
              <a:buNone/>
            </a:pPr>
            <a:r>
              <a:rPr lang="en-US" sz="1200" dirty="0">
                <a:solidFill>
                  <a:srgbClr val="DCDCAA"/>
                </a:solidFill>
                <a:latin typeface="Courier New" pitchFamily="34" charset="0"/>
                <a:ea typeface="Courier New" pitchFamily="34" charset="-122"/>
                <a:cs typeface="Courier New" pitchFamily="34" charset="-120"/>
              </a:rPr>
              <a:t>redirect</a:t>
            </a:r>
            <a:pPr indent="0" marL="0">
              <a:buNone/>
            </a:pPr>
            <a:r>
              <a:rPr lang="en-US" sz="1200" dirty="0">
                <a:solidFill>
                  <a:srgbClr val="FFFFFF"/>
                </a:solidFill>
                <a:latin typeface="Courier New" pitchFamily="34" charset="0"/>
                <a:ea typeface="Courier New" pitchFamily="34" charset="-122"/>
                <a:cs typeface="Courier New" pitchFamily="34" charset="-120"/>
              </a:rPr>
              <a:t>(`/posts/${post.id}`);</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200" dirty="0">
                <a:solidFill>
                  <a:srgbClr val="DCDCAA"/>
                </a:solidFill>
                <a:latin typeface="Courier New" pitchFamily="34" charset="0"/>
                <a:ea typeface="Courier New" pitchFamily="34" charset="-122"/>
                <a:cs typeface="Courier New" pitchFamily="34" charset="-120"/>
              </a:rPr>
              <a:t>NewPost</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&lt;form action={createPost}&gt; ... &lt;/form&gt;;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13 / 31</a:t>
            </a:r>
            <a:endParaRPr lang="en-US" sz="9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Server Actions in forms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Pass the action to &lt;form action&gt;. React handles the rest.</a:t>
            </a:r>
            <a:endParaRPr lang="en-US" sz="1400" dirty="0"/>
          </a:p>
        </p:txBody>
      </p:sp>
      <p:sp>
        <p:nvSpPr>
          <p:cNvPr id="5" name="Shape 3"/>
          <p:cNvSpPr/>
          <p:nvPr/>
        </p:nvSpPr>
        <p:spPr>
          <a:xfrm>
            <a:off x="777240" y="1691640"/>
            <a:ext cx="10607040" cy="9144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92808"/>
            <a:ext cx="502920" cy="502920"/>
          </a:xfrm>
          <a:prstGeom prst="rect">
            <a:avLst/>
          </a:prstGeom>
        </p:spPr>
      </p:pic>
      <p:sp>
        <p:nvSpPr>
          <p:cNvPr id="7" name="Text 4"/>
          <p:cNvSpPr/>
          <p:nvPr/>
        </p:nvSpPr>
        <p:spPr>
          <a:xfrm>
            <a:off x="1691640" y="178308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FormData is the input</a:t>
            </a:r>
            <a:endParaRPr lang="en-US" sz="1400" dirty="0"/>
          </a:p>
        </p:txBody>
      </p:sp>
      <p:sp>
        <p:nvSpPr>
          <p:cNvPr id="8" name="Text 5"/>
          <p:cNvSpPr/>
          <p:nvPr/>
        </p:nvSpPr>
        <p:spPr>
          <a:xfrm>
            <a:off x="1691640" y="2148840"/>
            <a:ext cx="9601200" cy="45720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Action receives a FormData object. No JSON parsing, no useState for fields.</a:t>
            </a:r>
            <a:endParaRPr lang="en-US" sz="1200" dirty="0"/>
          </a:p>
        </p:txBody>
      </p:sp>
      <p:sp>
        <p:nvSpPr>
          <p:cNvPr id="9" name="Shape 6"/>
          <p:cNvSpPr/>
          <p:nvPr/>
        </p:nvSpPr>
        <p:spPr>
          <a:xfrm>
            <a:off x="777240" y="2788920"/>
            <a:ext cx="10607040" cy="91440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990088"/>
            <a:ext cx="502920" cy="502920"/>
          </a:xfrm>
          <a:prstGeom prst="rect">
            <a:avLst/>
          </a:prstGeom>
        </p:spPr>
      </p:pic>
      <p:sp>
        <p:nvSpPr>
          <p:cNvPr id="11" name="Text 7"/>
          <p:cNvSpPr/>
          <p:nvPr/>
        </p:nvSpPr>
        <p:spPr>
          <a:xfrm>
            <a:off x="1691640" y="288036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Submission is intercepted</a:t>
            </a:r>
            <a:endParaRPr lang="en-US" sz="1400" dirty="0"/>
          </a:p>
        </p:txBody>
      </p:sp>
      <p:sp>
        <p:nvSpPr>
          <p:cNvPr id="12" name="Text 8"/>
          <p:cNvSpPr/>
          <p:nvPr/>
        </p:nvSpPr>
        <p:spPr>
          <a:xfrm>
            <a:off x="1691640" y="3246120"/>
            <a:ext cx="9601200" cy="45720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React posts to the action; no full page reload. The page revalidates after.</a:t>
            </a:r>
            <a:endParaRPr lang="en-US" sz="1200" dirty="0"/>
          </a:p>
        </p:txBody>
      </p:sp>
      <p:sp>
        <p:nvSpPr>
          <p:cNvPr id="13" name="Shape 9"/>
          <p:cNvSpPr/>
          <p:nvPr/>
        </p:nvSpPr>
        <p:spPr>
          <a:xfrm>
            <a:off x="777240" y="3886200"/>
            <a:ext cx="10607040" cy="91440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4087368"/>
            <a:ext cx="502920" cy="502920"/>
          </a:xfrm>
          <a:prstGeom prst="rect">
            <a:avLst/>
          </a:prstGeom>
        </p:spPr>
      </p:pic>
      <p:sp>
        <p:nvSpPr>
          <p:cNvPr id="15" name="Text 10"/>
          <p:cNvSpPr/>
          <p:nvPr/>
        </p:nvSpPr>
        <p:spPr>
          <a:xfrm>
            <a:off x="1691640" y="397764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Pending state is automatic</a:t>
            </a:r>
            <a:endParaRPr lang="en-US" sz="1400" dirty="0"/>
          </a:p>
        </p:txBody>
      </p:sp>
      <p:sp>
        <p:nvSpPr>
          <p:cNvPr id="16" name="Text 11"/>
          <p:cNvSpPr/>
          <p:nvPr/>
        </p:nvSpPr>
        <p:spPr>
          <a:xfrm>
            <a:off x="1691640" y="4343400"/>
            <a:ext cx="9601200" cy="45720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useFormStatus inside any descendant of the form sees pending: true while the action runs.</a:t>
            </a:r>
            <a:endParaRPr lang="en-US" sz="1200" dirty="0"/>
          </a:p>
        </p:txBody>
      </p:sp>
      <p:sp>
        <p:nvSpPr>
          <p:cNvPr id="17" name="Shape 12"/>
          <p:cNvSpPr/>
          <p:nvPr/>
        </p:nvSpPr>
        <p:spPr>
          <a:xfrm>
            <a:off x="777240" y="4983480"/>
            <a:ext cx="10607040" cy="91440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5184648"/>
            <a:ext cx="502920" cy="502920"/>
          </a:xfrm>
          <a:prstGeom prst="rect">
            <a:avLst/>
          </a:prstGeom>
        </p:spPr>
      </p:pic>
      <p:sp>
        <p:nvSpPr>
          <p:cNvPr id="19" name="Text 13"/>
          <p:cNvSpPr/>
          <p:nvPr/>
        </p:nvSpPr>
        <p:spPr>
          <a:xfrm>
            <a:off x="1691640" y="507492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Works without JS</a:t>
            </a:r>
            <a:endParaRPr lang="en-US" sz="1400" dirty="0"/>
          </a:p>
        </p:txBody>
      </p:sp>
      <p:sp>
        <p:nvSpPr>
          <p:cNvPr id="20" name="Text 14"/>
          <p:cNvSpPr/>
          <p:nvPr/>
        </p:nvSpPr>
        <p:spPr>
          <a:xfrm>
            <a:off x="1691640" y="5440680"/>
            <a:ext cx="9601200" cy="45720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If JS hasn't loaded yet, the browser does a regular form POST. Progressive enhancement built-in.</a:t>
            </a:r>
            <a:endParaRPr lang="en-US" sz="120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14 / 31</a:t>
            </a:r>
            <a:endParaRPr lang="en-US" sz="9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Pair with useActionState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useActionState wraps the action and gives you state, the wrapped action, and isPending.</a:t>
            </a:r>
            <a:endParaRPr lang="en-US" sz="1400" dirty="0"/>
          </a:p>
        </p:txBody>
      </p:sp>
      <p:sp>
        <p:nvSpPr>
          <p:cNvPr id="5" name="Shape 3"/>
          <p:cNvSpPr/>
          <p:nvPr/>
        </p:nvSpPr>
        <p:spPr>
          <a:xfrm>
            <a:off x="777240" y="1554480"/>
            <a:ext cx="10607040" cy="45720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4297680"/>
          </a:xfrm>
          <a:prstGeom prst="rect">
            <a:avLst/>
          </a:prstGeom>
          <a:noFill/>
          <a:ln/>
        </p:spPr>
        <p:txBody>
          <a:bodyPr wrap="square" lIns="0" tIns="0" rIns="0" bIns="0" rtlCol="0" anchor="t"/>
          <a:lstStyle/>
          <a:p>
            <a:pPr indent="0" marL="0">
              <a:buNone/>
            </a:pPr>
            <a:r>
              <a:rPr lang="en-US" sz="1150" i="1" dirty="0">
                <a:solidFill>
                  <a:srgbClr val="6A9955"/>
                </a:solidFill>
                <a:latin typeface="Courier New" pitchFamily="34" charset="0"/>
                <a:ea typeface="Courier New" pitchFamily="34" charset="-122"/>
                <a:cs typeface="Courier New" pitchFamily="34" charset="-120"/>
              </a:rPr>
              <a:t>// LoginForm.jsx — Client Component</a:t>
            </a:r>
            <a:endParaRPr lang="en-US" sz="1150" dirty="0"/>
          </a:p>
          <a:p>
            <a:pPr indent="0" marL="0">
              <a:buNone/>
            </a:pPr>
            <a:r>
              <a:rPr lang="en-US" sz="1150" dirty="0">
                <a:solidFill>
                  <a:srgbClr val="9CDCFE"/>
                </a:solidFill>
                <a:latin typeface="Courier New" pitchFamily="34" charset="0"/>
                <a:ea typeface="Courier New" pitchFamily="34" charset="-122"/>
                <a:cs typeface="Courier New" pitchFamily="34" charset="-120"/>
              </a:rPr>
              <a:t>'use client'</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import { useActionState } from </a:t>
            </a:r>
            <a:pPr indent="0" marL="0">
              <a:buNone/>
            </a:pPr>
            <a:r>
              <a:rPr lang="en-US" sz="1150" dirty="0">
                <a:solidFill>
                  <a:srgbClr val="9CDCFE"/>
                </a:solidFill>
                <a:latin typeface="Courier New" pitchFamily="34" charset="0"/>
                <a:ea typeface="Courier New" pitchFamily="34" charset="-122"/>
                <a:cs typeface="Courier New" pitchFamily="34" charset="-120"/>
              </a:rPr>
              <a:t>'react'</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import { login } from </a:t>
            </a:r>
            <a:pPr indent="0" marL="0">
              <a:buNone/>
            </a:pPr>
            <a:r>
              <a:rPr lang="en-US" sz="1150" dirty="0">
                <a:solidFill>
                  <a:srgbClr val="9CDCFE"/>
                </a:solidFill>
                <a:latin typeface="Courier New" pitchFamily="34" charset="0"/>
                <a:ea typeface="Courier New" pitchFamily="34" charset="-122"/>
                <a:cs typeface="Courier New" pitchFamily="34" charset="-120"/>
              </a:rPr>
              <a:t>'@/actions/auth'</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150" dirty="0">
                <a:solidFill>
                  <a:srgbClr val="DCDCAA"/>
                </a:solidFill>
                <a:latin typeface="Courier New" pitchFamily="34" charset="0"/>
                <a:ea typeface="Courier New" pitchFamily="34" charset="-122"/>
                <a:cs typeface="Courier New" pitchFamily="34" charset="-120"/>
              </a:rPr>
              <a:t>LoginForm</a:t>
            </a:r>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const [state, action, isPending] = </a:t>
            </a:r>
            <a:pPr indent="0" marL="0">
              <a:buNone/>
            </a:pPr>
            <a:r>
              <a:rPr lang="en-US" sz="1150" dirty="0">
                <a:solidFill>
                  <a:srgbClr val="DCDCAA"/>
                </a:solidFill>
                <a:latin typeface="Courier New" pitchFamily="34" charset="0"/>
                <a:ea typeface="Courier New" pitchFamily="34" charset="-122"/>
                <a:cs typeface="Courier New" pitchFamily="34" charset="-120"/>
              </a:rPr>
              <a:t>useActionState</a:t>
            </a:r>
            <a:pPr indent="0" marL="0">
              <a:buNone/>
            </a:pPr>
            <a:r>
              <a:rPr lang="en-US" sz="1150" dirty="0">
                <a:solidFill>
                  <a:srgbClr val="FFFFFF"/>
                </a:solidFill>
                <a:latin typeface="Courier New" pitchFamily="34" charset="0"/>
                <a:ea typeface="Courier New" pitchFamily="34" charset="-122"/>
                <a:cs typeface="Courier New" pitchFamily="34" charset="-120"/>
              </a:rPr>
              <a:t>(login, {});</a:t>
            </a:r>
            <a:endParaRPr lang="en-US" sz="1150" dirty="0"/>
          </a:p>
          <a:p>
            <a:pPr indent="0" marL="0">
              <a:buNone/>
            </a:pP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return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&lt;form action={action}&gt;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&lt;input name=</a:t>
            </a:r>
            <a:pPr indent="0" marL="0">
              <a:buNone/>
            </a:pPr>
            <a:r>
              <a:rPr lang="en-US" sz="1150" dirty="0">
                <a:solidFill>
                  <a:srgbClr val="9CDCFE"/>
                </a:solidFill>
                <a:latin typeface="Courier New" pitchFamily="34" charset="0"/>
                <a:ea typeface="Courier New" pitchFamily="34" charset="-122"/>
                <a:cs typeface="Courier New" pitchFamily="34" charset="-120"/>
              </a:rPr>
              <a:t>'email'</a:t>
            </a:r>
            <a:pPr indent="0" marL="0">
              <a:buNone/>
            </a:pPr>
            <a:r>
              <a:rPr lang="en-US" sz="1150" dirty="0">
                <a:solidFill>
                  <a:srgbClr val="FFFFFF"/>
                </a:solidFill>
                <a:latin typeface="Courier New" pitchFamily="34" charset="0"/>
                <a:ea typeface="Courier New" pitchFamily="34" charset="-122"/>
                <a:cs typeface="Courier New" pitchFamily="34" charset="-120"/>
              </a:rPr>
              <a:t> defaultValue={state.email} /&gt;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&lt;input name=</a:t>
            </a:r>
            <a:pPr indent="0" marL="0">
              <a:buNone/>
            </a:pPr>
            <a:r>
              <a:rPr lang="en-US" sz="1150" dirty="0">
                <a:solidFill>
                  <a:srgbClr val="9CDCFE"/>
                </a:solidFill>
                <a:latin typeface="Courier New" pitchFamily="34" charset="0"/>
                <a:ea typeface="Courier New" pitchFamily="34" charset="-122"/>
                <a:cs typeface="Courier New" pitchFamily="34" charset="-120"/>
              </a:rPr>
              <a:t>'password'</a:t>
            </a:r>
            <a:pPr indent="0" marL="0">
              <a:buNone/>
            </a:pPr>
            <a:r>
              <a:rPr lang="en-US" sz="1150" dirty="0">
                <a:solidFill>
                  <a:srgbClr val="FFFFFF"/>
                </a:solidFill>
                <a:latin typeface="Courier New" pitchFamily="34" charset="0"/>
                <a:ea typeface="Courier New" pitchFamily="34" charset="-122"/>
                <a:cs typeface="Courier New" pitchFamily="34" charset="-120"/>
              </a:rPr>
              <a:t> type=</a:t>
            </a:r>
            <a:pPr indent="0" marL="0">
              <a:buNone/>
            </a:pPr>
            <a:r>
              <a:rPr lang="en-US" sz="1150" dirty="0">
                <a:solidFill>
                  <a:srgbClr val="9CDCFE"/>
                </a:solidFill>
                <a:latin typeface="Courier New" pitchFamily="34" charset="0"/>
                <a:ea typeface="Courier New" pitchFamily="34" charset="-122"/>
                <a:cs typeface="Courier New" pitchFamily="34" charset="-120"/>
              </a:rPr>
              <a:t>'password'</a:t>
            </a:r>
            <a:pPr indent="0" marL="0">
              <a:buNone/>
            </a:pPr>
            <a:r>
              <a:rPr lang="en-US" sz="1150" dirty="0">
                <a:solidFill>
                  <a:srgbClr val="FFFFFF"/>
                </a:solidFill>
                <a:latin typeface="Courier New" pitchFamily="34" charset="0"/>
                <a:ea typeface="Courier New" pitchFamily="34" charset="-122"/>
                <a:cs typeface="Courier New" pitchFamily="34" charset="-120"/>
              </a:rPr>
              <a:t> /&gt;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{state.error &amp;&amp; &lt;p className=</a:t>
            </a:r>
            <a:pPr indent="0" marL="0">
              <a:buNone/>
            </a:pPr>
            <a:r>
              <a:rPr lang="en-US" sz="1150" dirty="0">
                <a:solidFill>
                  <a:srgbClr val="9CDCFE"/>
                </a:solidFill>
                <a:latin typeface="Courier New" pitchFamily="34" charset="0"/>
                <a:ea typeface="Courier New" pitchFamily="34" charset="-122"/>
                <a:cs typeface="Courier New" pitchFamily="34" charset="-120"/>
              </a:rPr>
              <a:t>'error'</a:t>
            </a:r>
            <a:pPr indent="0" marL="0">
              <a:buNone/>
            </a:pPr>
            <a:r>
              <a:rPr lang="en-US" sz="1150" dirty="0">
                <a:solidFill>
                  <a:srgbClr val="FFFFFF"/>
                </a:solidFill>
                <a:latin typeface="Courier New" pitchFamily="34" charset="0"/>
                <a:ea typeface="Courier New" pitchFamily="34" charset="-122"/>
                <a:cs typeface="Courier New" pitchFamily="34" charset="-120"/>
              </a:rPr>
              <a:t>&gt;{state.error}&lt;/p&gt;}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&lt;button disabled={isPending}&gt;Sign in&lt;/button&gt;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&lt;/form&gt;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15 / 31</a:t>
            </a:r>
            <a:endParaRPr lang="en-US" sz="9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Server Actions from event handlers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Not all actions are forms. You can call them from any Client Component handler.</a:t>
            </a:r>
            <a:endParaRPr lang="en-US" sz="1400" dirty="0"/>
          </a:p>
        </p:txBody>
      </p:sp>
      <p:sp>
        <p:nvSpPr>
          <p:cNvPr id="5" name="Shape 3"/>
          <p:cNvSpPr/>
          <p:nvPr/>
        </p:nvSpPr>
        <p:spPr>
          <a:xfrm>
            <a:off x="777240" y="1554480"/>
            <a:ext cx="10607040" cy="41148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840480"/>
          </a:xfrm>
          <a:prstGeom prst="rect">
            <a:avLst/>
          </a:prstGeom>
          <a:noFill/>
          <a:ln/>
        </p:spPr>
        <p:txBody>
          <a:bodyPr wrap="square" lIns="0" tIns="0" rIns="0" bIns="0" rtlCol="0" anchor="t"/>
          <a:lstStyle/>
          <a:p>
            <a:pPr indent="0" marL="0">
              <a:buNone/>
            </a:pPr>
            <a:r>
              <a:rPr lang="en-US" sz="1150" i="1" dirty="0">
                <a:solidFill>
                  <a:srgbClr val="6A9955"/>
                </a:solidFill>
                <a:latin typeface="Courier New" pitchFamily="34" charset="0"/>
                <a:ea typeface="Courier New" pitchFamily="34" charset="-122"/>
                <a:cs typeface="Courier New" pitchFamily="34" charset="-120"/>
              </a:rPr>
              <a:t>// LikeButton.jsx — Client Component</a:t>
            </a:r>
            <a:endParaRPr lang="en-US" sz="1150" dirty="0"/>
          </a:p>
          <a:p>
            <a:pPr indent="0" marL="0">
              <a:buNone/>
            </a:pPr>
            <a:r>
              <a:rPr lang="en-US" sz="1150" dirty="0">
                <a:solidFill>
                  <a:srgbClr val="9CDCFE"/>
                </a:solidFill>
                <a:latin typeface="Courier New" pitchFamily="34" charset="0"/>
                <a:ea typeface="Courier New" pitchFamily="34" charset="-122"/>
                <a:cs typeface="Courier New" pitchFamily="34" charset="-120"/>
              </a:rPr>
              <a:t>'use client'</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import { useTransition } from </a:t>
            </a:r>
            <a:pPr indent="0" marL="0">
              <a:buNone/>
            </a:pPr>
            <a:r>
              <a:rPr lang="en-US" sz="1150" dirty="0">
                <a:solidFill>
                  <a:srgbClr val="9CDCFE"/>
                </a:solidFill>
                <a:latin typeface="Courier New" pitchFamily="34" charset="0"/>
                <a:ea typeface="Courier New" pitchFamily="34" charset="-122"/>
                <a:cs typeface="Courier New" pitchFamily="34" charset="-120"/>
              </a:rPr>
              <a:t>'react'</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import { likePost } from </a:t>
            </a:r>
            <a:pPr indent="0" marL="0">
              <a:buNone/>
            </a:pPr>
            <a:r>
              <a:rPr lang="en-US" sz="1150" dirty="0">
                <a:solidFill>
                  <a:srgbClr val="9CDCFE"/>
                </a:solidFill>
                <a:latin typeface="Courier New" pitchFamily="34" charset="0"/>
                <a:ea typeface="Courier New" pitchFamily="34" charset="-122"/>
                <a:cs typeface="Courier New" pitchFamily="34" charset="-120"/>
              </a:rPr>
              <a:t>'@/actions/posts'</a:t>
            </a:r>
            <a:pPr indent="0" marL="0">
              <a:buNone/>
            </a:pPr>
            <a:r>
              <a:rPr lang="en-US" sz="1150" dirty="0">
                <a:solidFill>
                  <a:srgbClr val="9CDCFE"/>
                </a:solidFill>
                <a:latin typeface="Courier New" pitchFamily="34" charset="0"/>
                <a:ea typeface="Courier New" pitchFamily="34" charset="-122"/>
                <a:cs typeface="Courier New" pitchFamily="34" charset="-120"/>
              </a:rPr>
              <a:t>;   </a:t>
            </a:r>
            <a:pPr indent="0" marL="0">
              <a:buNone/>
            </a:pPr>
            <a:r>
              <a:rPr lang="en-US" sz="1150" i="1" dirty="0">
                <a:solidFill>
                  <a:srgbClr val="6A9955"/>
                </a:solidFill>
                <a:latin typeface="Courier New" pitchFamily="34" charset="0"/>
                <a:ea typeface="Courier New" pitchFamily="34" charset="-122"/>
                <a:cs typeface="Courier New" pitchFamily="34" charset="-120"/>
              </a:rPr>
              <a:t>// 'use server' fn</a:t>
            </a:r>
            <a:endParaRPr lang="en-US" sz="1150" dirty="0"/>
          </a:p>
          <a:p>
            <a:pPr indent="0" marL="0">
              <a:buNone/>
            </a:pP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150" dirty="0">
                <a:solidFill>
                  <a:srgbClr val="DCDCAA"/>
                </a:solidFill>
                <a:latin typeface="Courier New" pitchFamily="34" charset="0"/>
                <a:ea typeface="Courier New" pitchFamily="34" charset="-122"/>
                <a:cs typeface="Courier New" pitchFamily="34" charset="-120"/>
              </a:rPr>
              <a:t>LikeButton</a:t>
            </a:r>
            <a:pPr indent="0" marL="0">
              <a:buNone/>
            </a:pPr>
            <a:r>
              <a:rPr lang="en-US" sz="1150" dirty="0">
                <a:solidFill>
                  <a:srgbClr val="FFFFFF"/>
                </a:solidFill>
                <a:latin typeface="Courier New" pitchFamily="34" charset="0"/>
                <a:ea typeface="Courier New" pitchFamily="34" charset="-122"/>
                <a:cs typeface="Courier New" pitchFamily="34" charset="-120"/>
              </a:rPr>
              <a:t>({ postId, initialLiked })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const [isPending, startTransition] = </a:t>
            </a:r>
            <a:pPr indent="0" marL="0">
              <a:buNone/>
            </a:pPr>
            <a:r>
              <a:rPr lang="en-US" sz="1150" dirty="0">
                <a:solidFill>
                  <a:srgbClr val="DCDCAA"/>
                </a:solidFill>
                <a:latin typeface="Courier New" pitchFamily="34" charset="0"/>
                <a:ea typeface="Courier New" pitchFamily="34" charset="-122"/>
                <a:cs typeface="Courier New" pitchFamily="34" charset="-120"/>
              </a:rPr>
              <a:t>useTransition</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  function </a:t>
            </a:r>
            <a:pPr indent="0" marL="0">
              <a:buNone/>
            </a:pPr>
            <a:r>
              <a:rPr lang="en-US" sz="1150" dirty="0">
                <a:solidFill>
                  <a:srgbClr val="DCDCAA"/>
                </a:solidFill>
                <a:latin typeface="Courier New" pitchFamily="34" charset="0"/>
                <a:ea typeface="Courier New" pitchFamily="34" charset="-122"/>
                <a:cs typeface="Courier New" pitchFamily="34" charset="-120"/>
              </a:rPr>
              <a:t>handleClick</a:t>
            </a:r>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pPr indent="0" marL="0">
              <a:buNone/>
            </a:pPr>
            <a:r>
              <a:rPr lang="en-US" sz="1150" dirty="0">
                <a:solidFill>
                  <a:srgbClr val="DCDCAA"/>
                </a:solidFill>
                <a:latin typeface="Courier New" pitchFamily="34" charset="0"/>
                <a:ea typeface="Courier New" pitchFamily="34" charset="-122"/>
                <a:cs typeface="Courier New" pitchFamily="34" charset="-120"/>
              </a:rPr>
              <a:t>startTransition</a:t>
            </a:r>
            <a:pPr indent="0" marL="0">
              <a:buNone/>
            </a:pPr>
            <a:r>
              <a:rPr lang="en-US" sz="1150" dirty="0">
                <a:solidFill>
                  <a:srgbClr val="FFFFFF"/>
                </a:solidFill>
                <a:latin typeface="Courier New" pitchFamily="34" charset="0"/>
                <a:ea typeface="Courier New" pitchFamily="34" charset="-122"/>
                <a:cs typeface="Courier New" pitchFamily="34" charset="-120"/>
              </a:rPr>
              <a:t>(async () =&gt; {</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      await </a:t>
            </a:r>
            <a:pPr indent="0" marL="0">
              <a:buNone/>
            </a:pPr>
            <a:r>
              <a:rPr lang="en-US" sz="1150" dirty="0">
                <a:solidFill>
                  <a:srgbClr val="DCDCAA"/>
                </a:solidFill>
                <a:latin typeface="Courier New" pitchFamily="34" charset="0"/>
                <a:ea typeface="Courier New" pitchFamily="34" charset="-122"/>
                <a:cs typeface="Courier New" pitchFamily="34" charset="-120"/>
              </a:rPr>
              <a:t>likePost</a:t>
            </a:r>
            <a:pPr indent="0" marL="0">
              <a:buNone/>
            </a:pPr>
            <a:r>
              <a:rPr lang="en-US" sz="1150" dirty="0">
                <a:solidFill>
                  <a:srgbClr val="FFFFFF"/>
                </a:solidFill>
                <a:latin typeface="Courier New" pitchFamily="34" charset="0"/>
                <a:ea typeface="Courier New" pitchFamily="34" charset="-122"/>
                <a:cs typeface="Courier New" pitchFamily="34" charset="-120"/>
              </a:rPr>
              <a:t>(postId);</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return &lt;button onClick={handleClick} disabled={isPending}&gt;♥&lt;/button&gt;;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16 / 31</a:t>
            </a:r>
            <a:endParaRPr lang="en-US" sz="9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7">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3</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Streaming on the Server</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Suspense boundaries split a page into chunks that stream in independently.</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streaming model</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The shell ships first. Slow data arrives in its own time. The user sees content sooner.</a:t>
            </a:r>
            <a:endParaRPr lang="en-US" sz="1400" dirty="0"/>
          </a:p>
        </p:txBody>
      </p:sp>
      <p:sp>
        <p:nvSpPr>
          <p:cNvPr id="5" name="Shape 3"/>
          <p:cNvSpPr/>
          <p:nvPr/>
        </p:nvSpPr>
        <p:spPr>
          <a:xfrm>
            <a:off x="777240" y="1691640"/>
            <a:ext cx="10607040" cy="4389120"/>
          </a:xfrm>
          <a:prstGeom prst="rect">
            <a:avLst/>
          </a:prstGeom>
          <a:solidFill>
            <a:srgbClr val="FFFFFF"/>
          </a:solidFill>
          <a:ln w="12700">
            <a:solidFill>
              <a:srgbClr val="E2E8F0"/>
            </a:solidFill>
            <a:prstDash val="solid"/>
          </a:ln>
        </p:spPr>
      </p:sp>
      <p:sp>
        <p:nvSpPr>
          <p:cNvPr id="6" name="Text 4"/>
          <p:cNvSpPr/>
          <p:nvPr/>
        </p:nvSpPr>
        <p:spPr>
          <a:xfrm>
            <a:off x="960120" y="1874520"/>
            <a:ext cx="10058400" cy="45720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How it flows</a:t>
            </a:r>
            <a:endParaRPr lang="en-US" sz="1800" dirty="0"/>
          </a:p>
        </p:txBody>
      </p:sp>
      <p:sp>
        <p:nvSpPr>
          <p:cNvPr id="7" name="Shape 5"/>
          <p:cNvSpPr/>
          <p:nvPr/>
        </p:nvSpPr>
        <p:spPr>
          <a:xfrm>
            <a:off x="1051560" y="2560320"/>
            <a:ext cx="457200" cy="457200"/>
          </a:xfrm>
          <a:prstGeom prst="ellipse">
            <a:avLst/>
          </a:prstGeom>
          <a:solidFill>
            <a:srgbClr val="00B8D9"/>
          </a:solidFill>
          <a:ln w="12700">
            <a:solidFill>
              <a:srgbClr val="00B8D9"/>
            </a:solidFill>
            <a:prstDash val="solid"/>
          </a:ln>
        </p:spPr>
      </p:sp>
      <p:sp>
        <p:nvSpPr>
          <p:cNvPr id="8" name="Text 6"/>
          <p:cNvSpPr/>
          <p:nvPr/>
        </p:nvSpPr>
        <p:spPr>
          <a:xfrm>
            <a:off x="105156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9" name="Text 7"/>
          <p:cNvSpPr/>
          <p:nvPr/>
        </p:nvSpPr>
        <p:spPr>
          <a:xfrm>
            <a:off x="1691640" y="2468880"/>
            <a:ext cx="9509760" cy="41148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Page request hits the server.</a:t>
            </a:r>
            <a:endParaRPr lang="en-US" sz="1350" dirty="0"/>
          </a:p>
        </p:txBody>
      </p:sp>
      <p:sp>
        <p:nvSpPr>
          <p:cNvPr id="10" name="Text 8"/>
          <p:cNvSpPr/>
          <p:nvPr/>
        </p:nvSpPr>
        <p:spPr>
          <a:xfrm>
            <a:off x="1691640" y="2880360"/>
            <a:ext cx="9509760" cy="41148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The framework starts rendering.</a:t>
            </a:r>
            <a:endParaRPr lang="en-US" sz="1150" dirty="0"/>
          </a:p>
        </p:txBody>
      </p:sp>
      <p:sp>
        <p:nvSpPr>
          <p:cNvPr id="11" name="Shape 9"/>
          <p:cNvSpPr/>
          <p:nvPr/>
        </p:nvSpPr>
        <p:spPr>
          <a:xfrm>
            <a:off x="1051560" y="3474720"/>
            <a:ext cx="457200" cy="457200"/>
          </a:xfrm>
          <a:prstGeom prst="ellipse">
            <a:avLst/>
          </a:prstGeom>
          <a:solidFill>
            <a:srgbClr val="00B8D9"/>
          </a:solidFill>
          <a:ln w="12700">
            <a:solidFill>
              <a:srgbClr val="00B8D9"/>
            </a:solidFill>
            <a:prstDash val="solid"/>
          </a:ln>
        </p:spPr>
      </p:sp>
      <p:sp>
        <p:nvSpPr>
          <p:cNvPr id="12" name="Text 10"/>
          <p:cNvSpPr/>
          <p:nvPr/>
        </p:nvSpPr>
        <p:spPr>
          <a:xfrm>
            <a:off x="1051560" y="3474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3" name="Text 11"/>
          <p:cNvSpPr/>
          <p:nvPr/>
        </p:nvSpPr>
        <p:spPr>
          <a:xfrm>
            <a:off x="1691640" y="3383280"/>
            <a:ext cx="9509760" cy="41148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Fast parts render immediately.</a:t>
            </a:r>
            <a:endParaRPr lang="en-US" sz="1350" dirty="0"/>
          </a:p>
        </p:txBody>
      </p:sp>
      <p:sp>
        <p:nvSpPr>
          <p:cNvPr id="14" name="Text 12"/>
          <p:cNvSpPr/>
          <p:nvPr/>
        </p:nvSpPr>
        <p:spPr>
          <a:xfrm>
            <a:off x="1691640" y="3794760"/>
            <a:ext cx="9509760" cy="41148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Header, nav, layout chrome — anything that doesn't await something slow.</a:t>
            </a:r>
            <a:endParaRPr lang="en-US" sz="1150" dirty="0"/>
          </a:p>
        </p:txBody>
      </p:sp>
      <p:sp>
        <p:nvSpPr>
          <p:cNvPr id="15" name="Shape 13"/>
          <p:cNvSpPr/>
          <p:nvPr/>
        </p:nvSpPr>
        <p:spPr>
          <a:xfrm>
            <a:off x="1051560" y="4389120"/>
            <a:ext cx="457200" cy="457200"/>
          </a:xfrm>
          <a:prstGeom prst="ellipse">
            <a:avLst/>
          </a:prstGeom>
          <a:solidFill>
            <a:srgbClr val="00B8D9"/>
          </a:solidFill>
          <a:ln w="12700">
            <a:solidFill>
              <a:srgbClr val="00B8D9"/>
            </a:solidFill>
            <a:prstDash val="solid"/>
          </a:ln>
        </p:spPr>
      </p:sp>
      <p:sp>
        <p:nvSpPr>
          <p:cNvPr id="16" name="Text 14"/>
          <p:cNvSpPr/>
          <p:nvPr/>
        </p:nvSpPr>
        <p:spPr>
          <a:xfrm>
            <a:off x="1051560" y="4389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17" name="Text 15"/>
          <p:cNvSpPr/>
          <p:nvPr/>
        </p:nvSpPr>
        <p:spPr>
          <a:xfrm>
            <a:off x="1691640" y="4297680"/>
            <a:ext cx="9509760" cy="41148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&lt;Suspense&gt; boundaries hold a placeholder.</a:t>
            </a:r>
            <a:endParaRPr lang="en-US" sz="1350" dirty="0"/>
          </a:p>
        </p:txBody>
      </p:sp>
      <p:sp>
        <p:nvSpPr>
          <p:cNvPr id="18" name="Text 16"/>
          <p:cNvSpPr/>
          <p:nvPr/>
        </p:nvSpPr>
        <p:spPr>
          <a:xfrm>
            <a:off x="1691640" y="4709160"/>
            <a:ext cx="9509760" cy="41148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Each boundary's fallback ships in the initial HTML. The user sees the page load.</a:t>
            </a:r>
            <a:endParaRPr lang="en-US" sz="1150" dirty="0"/>
          </a:p>
        </p:txBody>
      </p:sp>
      <p:sp>
        <p:nvSpPr>
          <p:cNvPr id="19" name="Shape 17"/>
          <p:cNvSpPr/>
          <p:nvPr/>
        </p:nvSpPr>
        <p:spPr>
          <a:xfrm>
            <a:off x="1051560" y="5303520"/>
            <a:ext cx="457200" cy="457200"/>
          </a:xfrm>
          <a:prstGeom prst="ellipse">
            <a:avLst/>
          </a:prstGeom>
          <a:solidFill>
            <a:srgbClr val="00B8D9"/>
          </a:solidFill>
          <a:ln w="12700">
            <a:solidFill>
              <a:srgbClr val="00B8D9"/>
            </a:solidFill>
            <a:prstDash val="solid"/>
          </a:ln>
        </p:spPr>
      </p:sp>
      <p:sp>
        <p:nvSpPr>
          <p:cNvPr id="20" name="Text 18"/>
          <p:cNvSpPr/>
          <p:nvPr/>
        </p:nvSpPr>
        <p:spPr>
          <a:xfrm>
            <a:off x="1051560" y="5303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21" name="Text 19"/>
          <p:cNvSpPr/>
          <p:nvPr/>
        </p:nvSpPr>
        <p:spPr>
          <a:xfrm>
            <a:off x="1691640" y="5212080"/>
            <a:ext cx="9509760" cy="41148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Slow data resolves, the chunk streams in.</a:t>
            </a:r>
            <a:endParaRPr lang="en-US" sz="1350" dirty="0"/>
          </a:p>
        </p:txBody>
      </p:sp>
      <p:sp>
        <p:nvSpPr>
          <p:cNvPr id="22" name="Text 20"/>
          <p:cNvSpPr/>
          <p:nvPr/>
        </p:nvSpPr>
        <p:spPr>
          <a:xfrm>
            <a:off x="1691640" y="5623560"/>
            <a:ext cx="9509760" cy="41148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React replaces the placeholder with the real content as it arrives.</a:t>
            </a:r>
            <a:endParaRPr lang="en-US" sz="1150" dirty="0"/>
          </a:p>
        </p:txBody>
      </p:sp>
      <p:sp>
        <p:nvSpPr>
          <p:cNvPr id="23" name="Text 2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24" name="Text 2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18 / 31</a:t>
            </a:r>
            <a:endParaRPr lang="en-US" sz="9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loading.jsx and granular boundaries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Next.js gives each segment a loading.jsx. RR v7 uses defer + Await.</a:t>
            </a:r>
            <a:endParaRPr lang="en-US" sz="1400" dirty="0"/>
          </a:p>
        </p:txBody>
      </p:sp>
      <p:sp>
        <p:nvSpPr>
          <p:cNvPr id="5" name="Shape 3"/>
          <p:cNvSpPr/>
          <p:nvPr/>
        </p:nvSpPr>
        <p:spPr>
          <a:xfrm>
            <a:off x="777240" y="1554480"/>
            <a:ext cx="5943600" cy="4572000"/>
          </a:xfrm>
          <a:prstGeom prst="rect">
            <a:avLst/>
          </a:prstGeom>
          <a:solidFill>
            <a:srgbClr val="1E2A47"/>
          </a:solidFill>
          <a:ln w="12700">
            <a:solidFill>
              <a:srgbClr val="1E2A47"/>
            </a:solidFill>
            <a:prstDash val="solid"/>
          </a:ln>
        </p:spPr>
      </p:sp>
      <p:sp>
        <p:nvSpPr>
          <p:cNvPr id="6" name="Text 4"/>
          <p:cNvSpPr/>
          <p:nvPr/>
        </p:nvSpPr>
        <p:spPr>
          <a:xfrm>
            <a:off x="960120" y="1691640"/>
            <a:ext cx="5577840" cy="4297680"/>
          </a:xfrm>
          <a:prstGeom prst="rect">
            <a:avLst/>
          </a:prstGeom>
          <a:noFill/>
          <a:ln/>
        </p:spPr>
        <p:txBody>
          <a:bodyPr wrap="square" lIns="0" tIns="0" rIns="0" bIns="0" rtlCol="0" anchor="t"/>
          <a:lstStyle/>
          <a:p>
            <a:pPr indent="0" marL="0">
              <a:buNone/>
            </a:pPr>
            <a:r>
              <a:rPr lang="en-US" sz="1100" i="1" dirty="0">
                <a:solidFill>
                  <a:srgbClr val="6A9955"/>
                </a:solidFill>
                <a:latin typeface="Courier New" pitchFamily="34" charset="0"/>
                <a:ea typeface="Courier New" pitchFamily="34" charset="-122"/>
                <a:cs typeface="Courier New" pitchFamily="34" charset="-120"/>
              </a:rPr>
              <a:t>// app/dashboard/page.jsx</a:t>
            </a: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import { Suspense } from </a:t>
            </a:r>
            <a:pPr indent="0" marL="0">
              <a:buNone/>
            </a:pPr>
            <a:r>
              <a:rPr lang="en-US" sz="1100" dirty="0">
                <a:solidFill>
                  <a:srgbClr val="9CDCFE"/>
                </a:solidFill>
                <a:latin typeface="Courier New" pitchFamily="34" charset="0"/>
                <a:ea typeface="Courier New" pitchFamily="34" charset="-122"/>
                <a:cs typeface="Courier New" pitchFamily="34" charset="-120"/>
              </a:rPr>
              <a:t>'react'</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100" dirty="0">
                <a:solidFill>
                  <a:srgbClr val="DCDCAA"/>
                </a:solidFill>
                <a:latin typeface="Courier New" pitchFamily="34" charset="0"/>
                <a:ea typeface="Courier New" pitchFamily="34" charset="-122"/>
                <a:cs typeface="Courier New" pitchFamily="34" charset="-120"/>
              </a:rPr>
              <a:t>Dashboard</a:t>
            </a:r>
            <a:pPr indent="0" marL="0">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return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&lt;main&gt;</a:t>
            </a:r>
            <a:endParaRPr lang="en-US" sz="1100" dirty="0"/>
          </a:p>
          <a:p>
            <a:pPr indent="0" marL="0">
              <a:buNone/>
            </a:pPr>
            <a:r>
              <a:rPr lang="en-US" sz="1100" dirty="0">
                <a:solidFill>
                  <a:srgbClr val="9CDCFE"/>
                </a:solidFill>
                <a:latin typeface="Courier New" pitchFamily="34" charset="0"/>
                <a:ea typeface="Courier New" pitchFamily="34" charset="-122"/>
                <a:cs typeface="Courier New" pitchFamily="34" charset="-120"/>
              </a:rPr>
              <a:t>      &lt;Header /&gt;              </a:t>
            </a:r>
            <a:pPr indent="0" marL="0">
              <a:buNone/>
            </a:pPr>
            <a:r>
              <a:rPr lang="en-US" sz="1100" i="1" dirty="0">
                <a:solidFill>
                  <a:srgbClr val="6A9955"/>
                </a:solidFill>
                <a:latin typeface="Courier New" pitchFamily="34" charset="0"/>
                <a:ea typeface="Courier New" pitchFamily="34" charset="-122"/>
                <a:cs typeface="Courier New" pitchFamily="34" charset="-120"/>
              </a:rPr>
              <a:t>// fast</a:t>
            </a:r>
            <a:endParaRPr lang="en-US" sz="1100" dirty="0"/>
          </a:p>
          <a:p>
            <a:pPr indent="0" marL="0">
              <a:buNone/>
            </a:pP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&lt;Suspense fallback={&lt;RevenueSkeleton /&gt;}&gt;</a:t>
            </a:r>
            <a:endParaRPr lang="en-US" sz="1100" dirty="0"/>
          </a:p>
          <a:p>
            <a:pPr indent="0" marL="0">
              <a:buNone/>
            </a:pPr>
            <a:r>
              <a:rPr lang="en-US" sz="1100" dirty="0">
                <a:solidFill>
                  <a:srgbClr val="9CDCFE"/>
                </a:solidFill>
                <a:latin typeface="Courier New" pitchFamily="34" charset="0"/>
                <a:ea typeface="Courier New" pitchFamily="34" charset="-122"/>
                <a:cs typeface="Courier New" pitchFamily="34" charset="-120"/>
              </a:rPr>
              <a:t>        &lt;Revenue /&gt;          </a:t>
            </a:r>
            <a:pPr indent="0" marL="0">
              <a:buNone/>
            </a:pPr>
            <a:r>
              <a:rPr lang="en-US" sz="1100" i="1" dirty="0">
                <a:solidFill>
                  <a:srgbClr val="6A9955"/>
                </a:solidFill>
                <a:latin typeface="Courier New" pitchFamily="34" charset="0"/>
                <a:ea typeface="Courier New" pitchFamily="34" charset="-122"/>
                <a:cs typeface="Courier New" pitchFamily="34" charset="-120"/>
              </a:rPr>
              <a:t>// slow query</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&lt;/Suspense&gt;</a:t>
            </a:r>
            <a:endParaRPr lang="en-US" sz="1100" dirty="0"/>
          </a:p>
          <a:p>
            <a:pPr indent="0" marL="0">
              <a:buNone/>
            </a:pP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&lt;Suspense fallback={&lt;ChartSkeleton /&gt;}&gt;</a:t>
            </a:r>
            <a:endParaRPr lang="en-US" sz="1100" dirty="0"/>
          </a:p>
          <a:p>
            <a:pPr indent="0" marL="0">
              <a:buNone/>
            </a:pPr>
            <a:r>
              <a:rPr lang="en-US" sz="1100" dirty="0">
                <a:solidFill>
                  <a:srgbClr val="9CDCFE"/>
                </a:solidFill>
                <a:latin typeface="Courier New" pitchFamily="34" charset="0"/>
                <a:ea typeface="Courier New" pitchFamily="34" charset="-122"/>
                <a:cs typeface="Courier New" pitchFamily="34" charset="-120"/>
              </a:rPr>
              <a:t>        &lt;UserChart /&gt;        </a:t>
            </a:r>
            <a:pPr indent="0" marL="0">
              <a:buNone/>
            </a:pPr>
            <a:r>
              <a:rPr lang="en-US" sz="1100" i="1" dirty="0">
                <a:solidFill>
                  <a:srgbClr val="6A9955"/>
                </a:solidFill>
                <a:latin typeface="Courier New" pitchFamily="34" charset="0"/>
                <a:ea typeface="Courier New" pitchFamily="34" charset="-122"/>
                <a:cs typeface="Courier New" pitchFamily="34" charset="-120"/>
              </a:rPr>
              <a:t>// even slower</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&lt;/Suspense&gt;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&lt;/main&gt;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7" name="Text 5"/>
          <p:cNvSpPr/>
          <p:nvPr/>
        </p:nvSpPr>
        <p:spPr>
          <a:xfrm>
            <a:off x="6949440" y="1554480"/>
            <a:ext cx="45720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Two boundaries, two streams</a:t>
            </a:r>
            <a:endParaRPr lang="en-US" sz="1400" dirty="0"/>
          </a:p>
        </p:txBody>
      </p:sp>
      <p:sp>
        <p:nvSpPr>
          <p:cNvPr id="8" name="Text 6"/>
          <p:cNvSpPr/>
          <p:nvPr/>
        </p:nvSpPr>
        <p:spPr>
          <a:xfrm>
            <a:off x="6949440" y="1920240"/>
            <a:ext cx="4572000" cy="41148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Header renders immediately</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Both skeletons appear next</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Revenue arrives, replaces its skeleton</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UserChart arrives later, replaces its skeleton</a:t>
            </a:r>
            <a:endParaRPr lang="en-US" sz="1200" dirty="0"/>
          </a:p>
          <a:p>
            <a:pPr indent="0" marL="0">
              <a:spcAft>
                <a:spcPts val="400"/>
              </a:spcAft>
              <a:buNone/>
            </a:pPr>
            <a:r>
              <a:rPr lang="en-US" sz="1200" dirty="0">
                <a:solidFill>
                  <a:srgbClr val="475569"/>
                </a:solidFill>
                <a:latin typeface="Arial" pitchFamily="34" charset="0"/>
                <a:ea typeface="Arial" pitchFamily="34" charset="-122"/>
                <a:cs typeface="Arial" pitchFamily="34" charset="-120"/>
              </a:rPr>
              <a:t> </a:t>
            </a:r>
            <a:endParaRPr lang="en-US" sz="1200" dirty="0"/>
          </a:p>
          <a:p>
            <a:pPr indent="0" marL="0">
              <a:spcAft>
                <a:spcPts val="400"/>
              </a:spcAft>
              <a:buNone/>
            </a:pPr>
            <a:r>
              <a:rPr lang="en-US" sz="1200" i="1" dirty="0">
                <a:solidFill>
                  <a:srgbClr val="475569"/>
                </a:solidFill>
                <a:latin typeface="Arial" pitchFamily="34" charset="0"/>
                <a:ea typeface="Arial" pitchFamily="34" charset="-122"/>
                <a:cs typeface="Arial" pitchFamily="34" charset="-120"/>
              </a:rPr>
              <a:t>User sees content faster than a single big-query page would deliver.</a:t>
            </a:r>
            <a:endParaRPr lang="en-US" sz="120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19 / 31</a:t>
            </a:r>
            <a:endParaRPr lang="en-US" sz="9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20">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4</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Boundary Pitfalls</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Where teams get this wrong. AI tools especially.</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Pitfall: 'use client' too high in the tree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Marking a layout 'use client' opts out the entire subtree. You lose the Server Component benefits.</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300" b="1" dirty="0">
                <a:solidFill>
                  <a:srgbClr val="DC2626"/>
                </a:solidFill>
                <a:latin typeface="Trebuchet MS" pitchFamily="34" charset="0"/>
                <a:ea typeface="Trebuchet MS" pitchFamily="34" charset="-122"/>
                <a:cs typeface="Trebuchet MS" pitchFamily="34" charset="-120"/>
              </a:rPr>
              <a:t>The mistake</a:t>
            </a:r>
            <a:endParaRPr lang="en-US" sz="1300" dirty="0"/>
          </a:p>
        </p:txBody>
      </p:sp>
      <p:sp>
        <p:nvSpPr>
          <p:cNvPr id="6" name="Shape 4"/>
          <p:cNvSpPr/>
          <p:nvPr/>
        </p:nvSpPr>
        <p:spPr>
          <a:xfrm>
            <a:off x="777240" y="1920240"/>
            <a:ext cx="5349240" cy="3657600"/>
          </a:xfrm>
          <a:prstGeom prst="rect">
            <a:avLst/>
          </a:prstGeom>
          <a:solidFill>
            <a:srgbClr val="1E2A47"/>
          </a:solidFill>
          <a:ln w="12700">
            <a:solidFill>
              <a:srgbClr val="1E2A47"/>
            </a:solidFill>
            <a:prstDash val="solid"/>
          </a:ln>
        </p:spPr>
      </p:sp>
      <p:sp>
        <p:nvSpPr>
          <p:cNvPr id="7" name="Text 5"/>
          <p:cNvSpPr/>
          <p:nvPr/>
        </p:nvSpPr>
        <p:spPr>
          <a:xfrm>
            <a:off x="960120" y="2057400"/>
            <a:ext cx="4983480" cy="338328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app/dashboard/layout.jsx</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'use client'</a:t>
            </a:r>
            <a:pPr indent="0" marL="0">
              <a:buNone/>
            </a:pPr>
            <a:r>
              <a:rPr lang="en-US" sz="1200" dirty="0">
                <a:solidFill>
                  <a:srgbClr val="9CDCFE"/>
                </a:solidFill>
                <a:latin typeface="Courier New" pitchFamily="34" charset="0"/>
                <a:ea typeface="Courier New" pitchFamily="34" charset="-122"/>
                <a:cs typeface="Courier New" pitchFamily="34" charset="-120"/>
              </a:rPr>
              <a:t>;  </a:t>
            </a:r>
            <a:pPr indent="0" marL="0">
              <a:buNone/>
            </a:pPr>
            <a:r>
              <a:rPr lang="en-US" sz="1200" i="1" dirty="0">
                <a:solidFill>
                  <a:srgbClr val="6A9955"/>
                </a:solidFill>
                <a:latin typeface="Courier New" pitchFamily="34" charset="0"/>
                <a:ea typeface="Courier New" pitchFamily="34" charset="-122"/>
                <a:cs typeface="Courier New" pitchFamily="34" charset="-120"/>
              </a:rPr>
              <a:t>// ← whole subtree</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import { useState } from </a:t>
            </a:r>
            <a:pPr indent="0" marL="0">
              <a:buNone/>
            </a:pPr>
            <a:r>
              <a:rPr lang="en-US" sz="1200" dirty="0">
                <a:solidFill>
                  <a:srgbClr val="9CDCFE"/>
                </a:solidFill>
                <a:latin typeface="Courier New" pitchFamily="34" charset="0"/>
                <a:ea typeface="Courier New" pitchFamily="34" charset="-122"/>
                <a:cs typeface="Courier New" pitchFamily="34" charset="-120"/>
              </a:rPr>
              <a:t>'react'</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function </a:t>
            </a:r>
            <a:pPr indent="0" marL="0">
              <a:buNone/>
            </a:pPr>
            <a:r>
              <a:rPr lang="en-US" sz="1200" dirty="0">
                <a:solidFill>
                  <a:srgbClr val="DCDCAA"/>
                </a:solidFill>
                <a:latin typeface="Courier New" pitchFamily="34" charset="0"/>
                <a:ea typeface="Courier New" pitchFamily="34" charset="-122"/>
                <a:cs typeface="Courier New" pitchFamily="34" charset="-120"/>
              </a:rPr>
              <a:t>Layout</a:t>
            </a:r>
            <a:pPr indent="0" marL="0">
              <a:buNone/>
            </a:pPr>
            <a:r>
              <a:rPr lang="en-US" sz="1200" dirty="0">
                <a:solidFill>
                  <a:srgbClr val="FFFFFF"/>
                </a:solidFill>
                <a:latin typeface="Courier New" pitchFamily="34" charset="0"/>
                <a:ea typeface="Courier New" pitchFamily="34" charset="-122"/>
                <a:cs typeface="Courier New" pitchFamily="34" charset="-120"/>
              </a:rPr>
              <a:t>({ children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[collapsed, setCollapsed] = </a:t>
            </a:r>
            <a:pPr indent="0" marL="0">
              <a:buNone/>
            </a:pPr>
            <a:r>
              <a:rPr lang="en-US" sz="1200" dirty="0">
                <a:solidFill>
                  <a:srgbClr val="DCDCAA"/>
                </a:solidFill>
                <a:latin typeface="Courier New" pitchFamily="34" charset="0"/>
                <a:ea typeface="Courier New" pitchFamily="34" charset="-122"/>
                <a:cs typeface="Courier New" pitchFamily="34" charset="-120"/>
              </a:rPr>
              <a:t>useState</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C586C0"/>
                </a:solidFill>
                <a:latin typeface="Courier New" pitchFamily="34" charset="0"/>
                <a:ea typeface="Courier New" pitchFamily="34" charset="-122"/>
                <a:cs typeface="Courier New" pitchFamily="34" charset="-120"/>
              </a:rPr>
              <a:t>false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&lt;div className={collapsed ? </a:t>
            </a:r>
            <a:pPr indent="0" marL="0">
              <a:buNone/>
            </a:pPr>
            <a:r>
              <a:rPr lang="en-US" sz="1200" dirty="0">
                <a:solidFill>
                  <a:srgbClr val="9CDCFE"/>
                </a:solidFill>
                <a:latin typeface="Courier New" pitchFamily="34" charset="0"/>
                <a:ea typeface="Courier New" pitchFamily="34" charset="-122"/>
                <a:cs typeface="Courier New" pitchFamily="34" charset="-120"/>
              </a:rPr>
              <a:t>'compact'</a:t>
            </a:r>
            <a:pPr indent="0" marL="0">
              <a:buNone/>
            </a:pPr>
            <a:r>
              <a:rPr lang="en-US" sz="1200" dirty="0">
                <a:solidFill>
                  <a:srgbClr val="9CDCFE"/>
                </a:solidFill>
                <a:latin typeface="Courier New" pitchFamily="34" charset="0"/>
                <a:ea typeface="Courier New" pitchFamily="34" charset="-122"/>
                <a:cs typeface="Courier New" pitchFamily="34" charset="-120"/>
              </a:rPr>
              <a:t> : </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FFFFFF"/>
                </a:solidFill>
                <a:latin typeface="Courier New" pitchFamily="34" charset="0"/>
                <a:ea typeface="Courier New" pitchFamily="34" charset="-122"/>
                <a:cs typeface="Courier New" pitchFamily="34" charset="-120"/>
              </a:rPr>
              <a:t>}&gt;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&lt;Sidebar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&lt;main&gt;{children}&lt;/main&gt;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&lt;/div&gt;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8" name="Text 6"/>
          <p:cNvSpPr/>
          <p:nvPr/>
        </p:nvSpPr>
        <p:spPr>
          <a:xfrm>
            <a:off x="6355080" y="1554480"/>
            <a:ext cx="5029200" cy="365760"/>
          </a:xfrm>
          <a:prstGeom prst="rect">
            <a:avLst/>
          </a:prstGeom>
          <a:noFill/>
          <a:ln/>
        </p:spPr>
        <p:txBody>
          <a:bodyPr wrap="square" lIns="0" tIns="0" rIns="0" bIns="0" rtlCol="0" anchor="ctr"/>
          <a:lstStyle/>
          <a:p>
            <a:pPr indent="0" marL="0">
              <a:buNone/>
            </a:pPr>
            <a:r>
              <a:rPr lang="en-US" sz="1300" b="1" dirty="0">
                <a:solidFill>
                  <a:srgbClr val="059669"/>
                </a:solidFill>
                <a:latin typeface="Trebuchet MS" pitchFamily="34" charset="0"/>
                <a:ea typeface="Trebuchet MS" pitchFamily="34" charset="-122"/>
                <a:cs typeface="Trebuchet MS" pitchFamily="34" charset="-120"/>
              </a:rPr>
              <a:t>The fix</a:t>
            </a:r>
            <a:endParaRPr lang="en-US" sz="1300" dirty="0"/>
          </a:p>
        </p:txBody>
      </p:sp>
      <p:sp>
        <p:nvSpPr>
          <p:cNvPr id="9" name="Text 7"/>
          <p:cNvSpPr/>
          <p:nvPr/>
        </p:nvSpPr>
        <p:spPr>
          <a:xfrm>
            <a:off x="6355080" y="1920240"/>
            <a:ext cx="5029200" cy="3657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Keep the layout server-only</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Extract the interactive part (the collapse toggle) into a small Client Component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Pass children through the Client Component back into the server tree</a:t>
            </a:r>
            <a:endParaRPr lang="en-US" sz="1250" dirty="0"/>
          </a:p>
          <a:p>
            <a:pPr indent="0" marL="0">
              <a:spcAft>
                <a:spcPts val="400"/>
              </a:spcAft>
              <a:buNone/>
            </a:pPr>
            <a:r>
              <a:rPr lang="en-US" sz="1250" dirty="0">
                <a:solidFill>
                  <a:srgbClr val="475569"/>
                </a:solidFill>
                <a:latin typeface="Arial" pitchFamily="34" charset="0"/>
                <a:ea typeface="Arial" pitchFamily="34" charset="-122"/>
                <a:cs typeface="Arial" pitchFamily="34" charset="-120"/>
              </a:rPr>
              <a:t> </a:t>
            </a:r>
            <a:endParaRPr lang="en-US" sz="1250" dirty="0"/>
          </a:p>
          <a:p>
            <a:pPr indent="0" marL="0">
              <a:spcAft>
                <a:spcPts val="400"/>
              </a:spcAft>
              <a:buNone/>
            </a:pPr>
            <a:r>
              <a:rPr lang="en-US" sz="1250" i="1" dirty="0">
                <a:solidFill>
                  <a:srgbClr val="475569"/>
                </a:solidFill>
                <a:latin typeface="Arial" pitchFamily="34" charset="0"/>
                <a:ea typeface="Arial" pitchFamily="34" charset="-122"/>
                <a:cs typeface="Arial" pitchFamily="34" charset="-120"/>
              </a:rPr>
              <a:t>Result: the subtree stays Server Components. Only the toggle ships JS.</a:t>
            </a:r>
            <a:endParaRPr lang="en-US" sz="1250" dirty="0"/>
          </a:p>
        </p:txBody>
      </p:sp>
      <p:sp>
        <p:nvSpPr>
          <p:cNvPr id="10" name="Text 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11" name="Text 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21 / 31</a:t>
            </a:r>
            <a:endParaRPr lang="en-US" sz="9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Pitfall: importing server-only code into a client file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The build error is opaque. The cause is usually a transitive import.</a:t>
            </a:r>
            <a:endParaRPr lang="en-US" sz="1400" dirty="0"/>
          </a:p>
        </p:txBody>
      </p:sp>
      <p:sp>
        <p:nvSpPr>
          <p:cNvPr id="5" name="Shape 3"/>
          <p:cNvSpPr/>
          <p:nvPr/>
        </p:nvSpPr>
        <p:spPr>
          <a:xfrm>
            <a:off x="777240" y="1554480"/>
            <a:ext cx="10607040" cy="36576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38328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utils.js — has no 'use client'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import { db } from </a:t>
            </a:r>
            <a:pPr indent="0" marL="0">
              <a:buNone/>
            </a:pPr>
            <a:r>
              <a:rPr lang="en-US" sz="1200" dirty="0">
                <a:solidFill>
                  <a:srgbClr val="9CDCFE"/>
                </a:solidFill>
                <a:latin typeface="Courier New" pitchFamily="34" charset="0"/>
                <a:ea typeface="Courier New" pitchFamily="34" charset="-122"/>
                <a:cs typeface="Courier New" pitchFamily="34" charset="-120"/>
              </a:rPr>
              <a:t>'@/lib/db'</a:t>
            </a:r>
            <a:pPr indent="0" marL="0">
              <a:buNone/>
            </a:pPr>
            <a:r>
              <a:rPr lang="en-US" sz="1200" dirty="0">
                <a:solidFill>
                  <a:srgbClr val="9CDCFE"/>
                </a:solidFill>
                <a:latin typeface="Courier New" pitchFamily="34" charset="0"/>
                <a:ea typeface="Courier New" pitchFamily="34" charset="-122"/>
                <a:cs typeface="Courier New" pitchFamily="34" charset="-120"/>
              </a:rPr>
              <a:t>;   </a:t>
            </a:r>
            <a:pPr indent="0" marL="0">
              <a:buNone/>
            </a:pPr>
            <a:r>
              <a:rPr lang="en-US" sz="1200" i="1" dirty="0">
                <a:solidFill>
                  <a:srgbClr val="6A9955"/>
                </a:solidFill>
                <a:latin typeface="Courier New" pitchFamily="34" charset="0"/>
                <a:ea typeface="Courier New" pitchFamily="34" charset="-122"/>
                <a:cs typeface="Courier New" pitchFamily="34" charset="-120"/>
              </a:rPr>
              <a:t>// server-only</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function </a:t>
            </a:r>
            <a:pPr indent="0" marL="0">
              <a:buNone/>
            </a:pPr>
            <a:r>
              <a:rPr lang="en-US" sz="1200" dirty="0">
                <a:solidFill>
                  <a:srgbClr val="DCDCAA"/>
                </a:solidFill>
                <a:latin typeface="Courier New" pitchFamily="34" charset="0"/>
                <a:ea typeface="Courier New" pitchFamily="34" charset="-122"/>
                <a:cs typeface="Courier New" pitchFamily="34" charset="-120"/>
              </a:rPr>
              <a:t>formatTitle</a:t>
            </a:r>
            <a:pPr indent="0" marL="0">
              <a:buNone/>
            </a:pPr>
            <a:r>
              <a:rPr lang="en-US" sz="1200" dirty="0">
                <a:solidFill>
                  <a:srgbClr val="9CDCFE"/>
                </a:solidFill>
                <a:latin typeface="Courier New" pitchFamily="34" charset="0"/>
                <a:ea typeface="Courier New" pitchFamily="34" charset="-122"/>
                <a:cs typeface="Courier New" pitchFamily="34" charset="-120"/>
              </a:rPr>
              <a:t>(post) { return post.title.toUpperCase(); }   </a:t>
            </a:r>
            <a:pPr indent="0" marL="0">
              <a:buNone/>
            </a:pPr>
            <a:r>
              <a:rPr lang="en-US" sz="1200" i="1" dirty="0">
                <a:solidFill>
                  <a:srgbClr val="6A9955"/>
                </a:solidFill>
                <a:latin typeface="Courier New" pitchFamily="34" charset="0"/>
                <a:ea typeface="Courier New" pitchFamily="34" charset="-122"/>
                <a:cs typeface="Courier New" pitchFamily="34" charset="-120"/>
              </a:rPr>
              <a:t>// pure</a:t>
            </a:r>
            <a:endParaRPr lang="en-US" sz="1200" dirty="0"/>
          </a:p>
          <a:p>
            <a:pPr indent="0" marL="0">
              <a:buNone/>
            </a:pP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LikeButton.jsx — 'use client'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'use client'</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import { formatTitle } from </a:t>
            </a:r>
            <a:pPr indent="0" marL="0">
              <a:buNone/>
            </a:pPr>
            <a:r>
              <a:rPr lang="en-US" sz="1200" dirty="0">
                <a:solidFill>
                  <a:srgbClr val="9CDCFE"/>
                </a:solidFill>
                <a:latin typeface="Courier New" pitchFamily="34" charset="0"/>
                <a:ea typeface="Courier New" pitchFamily="34" charset="-122"/>
                <a:cs typeface="Courier New" pitchFamily="34" charset="-120"/>
              </a:rPr>
              <a:t>'./utils'</a:t>
            </a:r>
            <a:pPr indent="0" marL="0">
              <a:buNone/>
            </a:pPr>
            <a:r>
              <a:rPr lang="en-US" sz="1200" dirty="0">
                <a:solidFill>
                  <a:srgbClr val="9CDCFE"/>
                </a:solidFill>
                <a:latin typeface="Courier New" pitchFamily="34" charset="0"/>
                <a:ea typeface="Courier New" pitchFamily="34" charset="-122"/>
                <a:cs typeface="Courier New" pitchFamily="34" charset="-120"/>
              </a:rPr>
              <a:t>;   </a:t>
            </a:r>
            <a:pPr indent="0" marL="0">
              <a:buNone/>
            </a:pPr>
            <a:r>
              <a:rPr lang="en-US" sz="1200" i="1" dirty="0">
                <a:solidFill>
                  <a:srgbClr val="6A9955"/>
                </a:solidFill>
                <a:latin typeface="Courier New" pitchFamily="34" charset="0"/>
                <a:ea typeface="Courier New" pitchFamily="34" charset="-122"/>
                <a:cs typeface="Courier New" pitchFamily="34" charset="-120"/>
              </a:rPr>
              <a:t>// pulls db transitively!</a:t>
            </a:r>
            <a:endParaRPr lang="en-US" sz="1200" dirty="0"/>
          </a:p>
        </p:txBody>
      </p:sp>
      <p:sp>
        <p:nvSpPr>
          <p:cNvPr id="7" name="Shape 5"/>
          <p:cNvSpPr/>
          <p:nvPr/>
        </p:nvSpPr>
        <p:spPr>
          <a:xfrm>
            <a:off x="777240" y="5349240"/>
            <a:ext cx="10607040" cy="914400"/>
          </a:xfrm>
          <a:prstGeom prst="rect">
            <a:avLst/>
          </a:prstGeom>
          <a:solidFill>
            <a:srgbClr val="CBF1F6"/>
          </a:solidFill>
          <a:ln w="12700">
            <a:solidFill>
              <a:srgbClr val="CBF1F6"/>
            </a:solidFill>
            <a:prstDash val="solid"/>
          </a:ln>
        </p:spPr>
      </p:sp>
      <p:pic>
        <p:nvPicPr>
          <p:cNvPr id="8" name="Image 0" descr="preencoded.png">    </p:cNvPr>
          <p:cNvPicPr>
            <a:picLocks noChangeAspect="1"/>
          </p:cNvPicPr>
          <p:nvPr/>
        </p:nvPicPr>
        <p:blipFill>
          <a:blip r:embed="rId1"/>
          <a:stretch>
            <a:fillRect/>
          </a:stretch>
        </p:blipFill>
        <p:spPr>
          <a:xfrm>
            <a:off x="1005840" y="5532120"/>
            <a:ext cx="502920" cy="502920"/>
          </a:xfrm>
          <a:prstGeom prst="rect">
            <a:avLst/>
          </a:prstGeom>
        </p:spPr>
      </p:pic>
      <p:sp>
        <p:nvSpPr>
          <p:cNvPr id="9" name="Text 6"/>
          <p:cNvSpPr/>
          <p:nvPr/>
        </p:nvSpPr>
        <p:spPr>
          <a:xfrm>
            <a:off x="1691640" y="5394960"/>
            <a:ext cx="9601200" cy="86868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Mark server-only files with the 'server-only' package import. Build will refuse to bundle them into client code with a clear error.</a:t>
            </a:r>
            <a:endParaRPr lang="en-US" sz="1300" dirty="0"/>
          </a:p>
        </p:txBody>
      </p:sp>
      <p:sp>
        <p:nvSpPr>
          <p:cNvPr id="10"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11"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22 / 31</a:t>
            </a:r>
            <a:endParaRPr lang="en-US" sz="9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Pitfall: non-serializable props across the boundary</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Trying to pass a function from a Server Component to a Client Component fails — unless it's a Server Action.</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300" b="1" dirty="0">
                <a:solidFill>
                  <a:srgbClr val="DC2626"/>
                </a:solidFill>
                <a:latin typeface="Trebuchet MS" pitchFamily="34" charset="0"/>
                <a:ea typeface="Trebuchet MS" pitchFamily="34" charset="-122"/>
                <a:cs typeface="Trebuchet MS" pitchFamily="34" charset="-120"/>
              </a:rPr>
              <a:t>Won't work</a:t>
            </a:r>
            <a:endParaRPr lang="en-US" sz="1300" dirty="0"/>
          </a:p>
        </p:txBody>
      </p:sp>
      <p:sp>
        <p:nvSpPr>
          <p:cNvPr id="6" name="Shape 4"/>
          <p:cNvSpPr/>
          <p:nvPr/>
        </p:nvSpPr>
        <p:spPr>
          <a:xfrm>
            <a:off x="777240" y="1920240"/>
            <a:ext cx="5349240" cy="3657600"/>
          </a:xfrm>
          <a:prstGeom prst="rect">
            <a:avLst/>
          </a:prstGeom>
          <a:solidFill>
            <a:srgbClr val="1E2A47"/>
          </a:solidFill>
          <a:ln w="12700">
            <a:solidFill>
              <a:srgbClr val="1E2A47"/>
            </a:solidFill>
            <a:prstDash val="solid"/>
          </a:ln>
        </p:spPr>
      </p:sp>
      <p:sp>
        <p:nvSpPr>
          <p:cNvPr id="7" name="Text 5"/>
          <p:cNvSpPr/>
          <p:nvPr/>
        </p:nvSpPr>
        <p:spPr>
          <a:xfrm>
            <a:off x="960120" y="2057400"/>
            <a:ext cx="4983480" cy="338328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page.jsx (server)</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function </a:t>
            </a:r>
            <a:pPr indent="0" marL="0">
              <a:buNone/>
            </a:pPr>
            <a:r>
              <a:rPr lang="en-US" sz="1200" dirty="0">
                <a:solidFill>
                  <a:srgbClr val="DCDCAA"/>
                </a:solidFill>
                <a:latin typeface="Courier New" pitchFamily="34" charset="0"/>
                <a:ea typeface="Courier New" pitchFamily="34" charset="-122"/>
                <a:cs typeface="Courier New" pitchFamily="34" charset="-120"/>
              </a:rPr>
              <a:t>handleSomething</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DCDCAA"/>
                </a:solidFill>
                <a:latin typeface="Courier New" pitchFamily="34" charset="0"/>
                <a:ea typeface="Courier New" pitchFamily="34" charset="-122"/>
                <a:cs typeface="Courier New" pitchFamily="34" charset="-120"/>
              </a:rPr>
              <a:t>  console.log(</a:t>
            </a:r>
            <a:pPr indent="0" marL="0">
              <a:buNone/>
            </a:pPr>
            <a:r>
              <a:rPr lang="en-US" sz="1200" dirty="0">
                <a:solidFill>
                  <a:srgbClr val="9CDCFE"/>
                </a:solidFill>
                <a:latin typeface="Courier New" pitchFamily="34" charset="0"/>
                <a:ea typeface="Courier New" pitchFamily="34" charset="-122"/>
                <a:cs typeface="Courier New" pitchFamily="34" charset="-120"/>
              </a:rPr>
              <a:t>'hi'</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&lt;ClientButton onClick={handleSomething} /&gt;</a:t>
            </a: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 Error: cannot pass functions</a:t>
            </a:r>
            <a:endParaRPr lang="en-US" sz="1200" dirty="0"/>
          </a:p>
        </p:txBody>
      </p:sp>
      <p:sp>
        <p:nvSpPr>
          <p:cNvPr id="8" name="Text 6"/>
          <p:cNvSpPr/>
          <p:nvPr/>
        </p:nvSpPr>
        <p:spPr>
          <a:xfrm>
            <a:off x="6355080" y="1554480"/>
            <a:ext cx="5029200" cy="365760"/>
          </a:xfrm>
          <a:prstGeom prst="rect">
            <a:avLst/>
          </a:prstGeom>
          <a:noFill/>
          <a:ln/>
        </p:spPr>
        <p:txBody>
          <a:bodyPr wrap="square" lIns="0" tIns="0" rIns="0" bIns="0" rtlCol="0" anchor="ctr"/>
          <a:lstStyle/>
          <a:p>
            <a:pPr indent="0" marL="0">
              <a:buNone/>
            </a:pPr>
            <a:r>
              <a:rPr lang="en-US" sz="1300" b="1" dirty="0">
                <a:solidFill>
                  <a:srgbClr val="059669"/>
                </a:solidFill>
                <a:latin typeface="Trebuchet MS" pitchFamily="34" charset="0"/>
                <a:ea typeface="Trebuchet MS" pitchFamily="34" charset="-122"/>
                <a:cs typeface="Trebuchet MS" pitchFamily="34" charset="-120"/>
              </a:rPr>
              <a:t>Will work</a:t>
            </a:r>
            <a:endParaRPr lang="en-US" sz="1300" dirty="0"/>
          </a:p>
        </p:txBody>
      </p:sp>
      <p:sp>
        <p:nvSpPr>
          <p:cNvPr id="9" name="Shape 7"/>
          <p:cNvSpPr/>
          <p:nvPr/>
        </p:nvSpPr>
        <p:spPr>
          <a:xfrm>
            <a:off x="6355080" y="1920240"/>
            <a:ext cx="5029200" cy="3657600"/>
          </a:xfrm>
          <a:prstGeom prst="rect">
            <a:avLst/>
          </a:prstGeom>
          <a:solidFill>
            <a:srgbClr val="1E2A47"/>
          </a:solidFill>
          <a:ln w="12700">
            <a:solidFill>
              <a:srgbClr val="1E2A47"/>
            </a:solidFill>
            <a:prstDash val="solid"/>
          </a:ln>
        </p:spPr>
      </p:sp>
      <p:sp>
        <p:nvSpPr>
          <p:cNvPr id="10" name="Text 8"/>
          <p:cNvSpPr/>
          <p:nvPr/>
        </p:nvSpPr>
        <p:spPr>
          <a:xfrm>
            <a:off x="6537960" y="2057400"/>
            <a:ext cx="4663440" cy="338328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page.jsx (server)</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handleSomething</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9CDCFE"/>
                </a:solidFill>
                <a:latin typeface="Courier New" pitchFamily="34" charset="0"/>
                <a:ea typeface="Courier New" pitchFamily="34" charset="-122"/>
                <a:cs typeface="Courier New" pitchFamily="34" charset="-120"/>
              </a:rPr>
              <a:t>'use server'</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await db.something();</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&lt;ClientButton onClick={handleSomething} /&gt;</a:t>
            </a: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 Server Action; works</a:t>
            </a:r>
            <a:endParaRPr lang="en-US" sz="1200" dirty="0"/>
          </a:p>
        </p:txBody>
      </p:sp>
      <p:sp>
        <p:nvSpPr>
          <p:cNvPr id="11"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12"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23 / 31</a:t>
            </a:r>
            <a:endParaRPr lang="en-US" sz="9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Pitfall: hydration mismatches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Server renders one thing, client expects another. Often non-deterministic.</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502920" cy="502920"/>
          </a:xfrm>
          <a:prstGeom prst="rect">
            <a:avLst/>
          </a:prstGeom>
        </p:spPr>
      </p:pic>
      <p:sp>
        <p:nvSpPr>
          <p:cNvPr id="7" name="Text 4"/>
          <p:cNvSpPr/>
          <p:nvPr/>
        </p:nvSpPr>
        <p:spPr>
          <a:xfrm>
            <a:off x="1691640" y="178308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Date.now() in render</a:t>
            </a:r>
            <a:endParaRPr lang="en-US" sz="1350" dirty="0"/>
          </a:p>
        </p:txBody>
      </p:sp>
      <p:sp>
        <p:nvSpPr>
          <p:cNvPr id="8" name="Text 5"/>
          <p:cNvSpPr/>
          <p:nvPr/>
        </p:nvSpPr>
        <p:spPr>
          <a:xfrm>
            <a:off x="1691640" y="210312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Server time != client time. Use a stable key, or render conditionally on client only.</a:t>
            </a:r>
            <a:endParaRPr lang="en-US" sz="1150" dirty="0"/>
          </a:p>
        </p:txBody>
      </p:sp>
      <p:sp>
        <p:nvSpPr>
          <p:cNvPr id="9" name="Shape 6"/>
          <p:cNvSpPr/>
          <p:nvPr/>
        </p:nvSpPr>
        <p:spPr>
          <a:xfrm>
            <a:off x="777240" y="274320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926080"/>
            <a:ext cx="502920" cy="502920"/>
          </a:xfrm>
          <a:prstGeom prst="rect">
            <a:avLst/>
          </a:prstGeom>
        </p:spPr>
      </p:pic>
      <p:sp>
        <p:nvSpPr>
          <p:cNvPr id="11" name="Text 7"/>
          <p:cNvSpPr/>
          <p:nvPr/>
        </p:nvSpPr>
        <p:spPr>
          <a:xfrm>
            <a:off x="1691640" y="283464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Math.random() in render</a:t>
            </a:r>
            <a:endParaRPr lang="en-US" sz="1350" dirty="0"/>
          </a:p>
        </p:txBody>
      </p:sp>
      <p:sp>
        <p:nvSpPr>
          <p:cNvPr id="12" name="Text 8"/>
          <p:cNvSpPr/>
          <p:nvPr/>
        </p:nvSpPr>
        <p:spPr>
          <a:xfrm>
            <a:off x="1691640" y="315468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Different on each render. Move to useState with initializer or generate on the server.</a:t>
            </a:r>
            <a:endParaRPr lang="en-US" sz="1150" dirty="0"/>
          </a:p>
        </p:txBody>
      </p:sp>
      <p:sp>
        <p:nvSpPr>
          <p:cNvPr id="13" name="Shape 9"/>
          <p:cNvSpPr/>
          <p:nvPr/>
        </p:nvSpPr>
        <p:spPr>
          <a:xfrm>
            <a:off x="777240" y="379476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977640"/>
            <a:ext cx="502920" cy="502920"/>
          </a:xfrm>
          <a:prstGeom prst="rect">
            <a:avLst/>
          </a:prstGeom>
        </p:spPr>
      </p:pic>
      <p:sp>
        <p:nvSpPr>
          <p:cNvPr id="15" name="Text 10"/>
          <p:cNvSpPr/>
          <p:nvPr/>
        </p:nvSpPr>
        <p:spPr>
          <a:xfrm>
            <a:off x="1691640" y="388620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navigator.* / window.* checks</a:t>
            </a:r>
            <a:endParaRPr lang="en-US" sz="1350" dirty="0"/>
          </a:p>
        </p:txBody>
      </p:sp>
      <p:sp>
        <p:nvSpPr>
          <p:cNvPr id="16" name="Text 11"/>
          <p:cNvSpPr/>
          <p:nvPr/>
        </p:nvSpPr>
        <p:spPr>
          <a:xfrm>
            <a:off x="1691640" y="420624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Undefined on server. Wrap in useEffect or 'use client' boundary.</a:t>
            </a:r>
            <a:endParaRPr lang="en-US" sz="1150" dirty="0"/>
          </a:p>
        </p:txBody>
      </p:sp>
      <p:sp>
        <p:nvSpPr>
          <p:cNvPr id="17" name="Shape 12"/>
          <p:cNvSpPr/>
          <p:nvPr/>
        </p:nvSpPr>
        <p:spPr>
          <a:xfrm>
            <a:off x="777240" y="484632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5029200"/>
            <a:ext cx="502920" cy="502920"/>
          </a:xfrm>
          <a:prstGeom prst="rect">
            <a:avLst/>
          </a:prstGeom>
        </p:spPr>
      </p:pic>
      <p:sp>
        <p:nvSpPr>
          <p:cNvPr id="19" name="Text 13"/>
          <p:cNvSpPr/>
          <p:nvPr/>
        </p:nvSpPr>
        <p:spPr>
          <a:xfrm>
            <a:off x="1691640" y="493776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Locale-dependent formatting</a:t>
            </a:r>
            <a:endParaRPr lang="en-US" sz="1350" dirty="0"/>
          </a:p>
        </p:txBody>
      </p:sp>
      <p:sp>
        <p:nvSpPr>
          <p:cNvPr id="20" name="Text 14"/>
          <p:cNvSpPr/>
          <p:nvPr/>
        </p:nvSpPr>
        <p:spPr>
          <a:xfrm>
            <a:off x="1691640" y="525780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Server locale != browser locale. Use a stable formatter or render on client.</a:t>
            </a:r>
            <a:endParaRPr lang="en-US" sz="11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24 / 31</a:t>
            </a:r>
            <a:endParaRPr lang="en-US" sz="9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AI escape-hatch pattern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When AI hits a Server/Client boundary, it slaps 'use client' on top until the error goes away.</a:t>
            </a:r>
            <a:endParaRPr lang="en-US" sz="1400" dirty="0"/>
          </a:p>
        </p:txBody>
      </p:sp>
      <p:sp>
        <p:nvSpPr>
          <p:cNvPr id="5" name="Shape 3"/>
          <p:cNvSpPr/>
          <p:nvPr/>
        </p:nvSpPr>
        <p:spPr>
          <a:xfrm>
            <a:off x="777240" y="1691640"/>
            <a:ext cx="10607040" cy="45720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97280" y="1920240"/>
            <a:ext cx="822960" cy="822960"/>
          </a:xfrm>
          <a:prstGeom prst="rect">
            <a:avLst/>
          </a:prstGeom>
        </p:spPr>
      </p:pic>
      <p:sp>
        <p:nvSpPr>
          <p:cNvPr id="7" name="Text 4"/>
          <p:cNvSpPr/>
          <p:nvPr/>
        </p:nvSpPr>
        <p:spPr>
          <a:xfrm>
            <a:off x="2194560" y="1920240"/>
            <a:ext cx="9144000" cy="64008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What you'll see in AI-generated code</a:t>
            </a:r>
            <a:endParaRPr lang="en-US" sz="1800" dirty="0"/>
          </a:p>
        </p:txBody>
      </p:sp>
      <p:sp>
        <p:nvSpPr>
          <p:cNvPr id="8" name="Text 5"/>
          <p:cNvSpPr/>
          <p:nvPr/>
        </p:nvSpPr>
        <p:spPr>
          <a:xfrm>
            <a:off x="1097280" y="2834640"/>
            <a:ext cx="10058400" cy="3291840"/>
          </a:xfrm>
          <a:prstGeom prst="rect">
            <a:avLst/>
          </a:prstGeom>
          <a:noFill/>
          <a:ln/>
        </p:spPr>
        <p:txBody>
          <a:bodyPr wrap="square" lIns="0" tIns="0" rIns="0" bIns="0" rtlCol="0" anchor="t"/>
          <a:lstStyle/>
          <a:p>
            <a:pPr indent="0" marL="0">
              <a:spcAft>
                <a:spcPts val="600"/>
              </a:spcAft>
              <a:buNone/>
            </a:pPr>
            <a:r>
              <a:rPr lang="en-US" sz="1300" dirty="0">
                <a:solidFill>
                  <a:srgbClr val="475569"/>
                </a:solidFill>
                <a:latin typeface="Arial" pitchFamily="34" charset="0"/>
                <a:ea typeface="Arial" pitchFamily="34" charset="-122"/>
                <a:cs typeface="Arial" pitchFamily="34" charset="-120"/>
              </a:rPr>
              <a:t>1. AI writes a Server Component that uses useState. Build fails.</a:t>
            </a:r>
            <a:endParaRPr lang="en-US" sz="1300" dirty="0"/>
          </a:p>
          <a:p>
            <a:pPr indent="0" marL="0">
              <a:spcAft>
                <a:spcPts val="600"/>
              </a:spcAft>
              <a:buNone/>
            </a:pPr>
            <a:r>
              <a:rPr lang="en-US" sz="1300" dirty="0">
                <a:solidFill>
                  <a:srgbClr val="475569"/>
                </a:solidFill>
                <a:latin typeface="Arial" pitchFamily="34" charset="0"/>
                <a:ea typeface="Arial" pitchFamily="34" charset="-122"/>
                <a:cs typeface="Arial" pitchFamily="34" charset="-120"/>
              </a:rPr>
              <a:t>2. AI adds 'use client' to the top of the file. Build passes.</a:t>
            </a:r>
            <a:endParaRPr lang="en-US" sz="1300" dirty="0"/>
          </a:p>
          <a:p>
            <a:pPr indent="0" marL="0">
              <a:spcAft>
                <a:spcPts val="600"/>
              </a:spcAft>
              <a:buNone/>
            </a:pPr>
            <a:r>
              <a:rPr lang="en-US" sz="1300" dirty="0">
                <a:solidFill>
                  <a:srgbClr val="475569"/>
                </a:solidFill>
                <a:latin typeface="Arial" pitchFamily="34" charset="0"/>
                <a:ea typeface="Arial" pitchFamily="34" charset="-122"/>
                <a:cs typeface="Arial" pitchFamily="34" charset="-120"/>
              </a:rPr>
              <a:t>3. The component is now a Client Component — and so is everything it imports.</a:t>
            </a:r>
            <a:endParaRPr lang="en-US" sz="1300" dirty="0"/>
          </a:p>
          <a:p>
            <a:pPr indent="0" marL="0">
              <a:spcAft>
                <a:spcPts val="600"/>
              </a:spcAft>
              <a:buNone/>
            </a:pPr>
            <a:r>
              <a:rPr lang="en-US" sz="1300" dirty="0">
                <a:solidFill>
                  <a:srgbClr val="475569"/>
                </a:solidFill>
                <a:latin typeface="Arial" pitchFamily="34" charset="0"/>
                <a:ea typeface="Arial" pitchFamily="34" charset="-122"/>
                <a:cs typeface="Arial" pitchFamily="34" charset="-120"/>
              </a:rPr>
              <a:t>4. The benefits of Server Components are gone. JS bundle grew. Server-only imports break.</a:t>
            </a:r>
            <a:endParaRPr lang="en-US" sz="1300" dirty="0"/>
          </a:p>
          <a:p>
            <a:pPr indent="0" marL="0">
              <a:spcAft>
                <a:spcPts val="600"/>
              </a:spcAft>
              <a:buNone/>
            </a:pPr>
            <a:r>
              <a:rPr lang="en-US" sz="1300" dirty="0">
                <a:solidFill>
                  <a:srgbClr val="475569"/>
                </a:solidFill>
                <a:latin typeface="Arial" pitchFamily="34" charset="0"/>
                <a:ea typeface="Arial" pitchFamily="34" charset="-122"/>
                <a:cs typeface="Arial" pitchFamily="34" charset="-120"/>
              </a:rPr>
              <a:t> </a:t>
            </a:r>
            <a:endParaRPr lang="en-US" sz="1300" dirty="0"/>
          </a:p>
          <a:p>
            <a:pPr indent="0" marL="0">
              <a:spcAft>
                <a:spcPts val="600"/>
              </a:spcAft>
              <a:buNone/>
            </a:pPr>
            <a:r>
              <a:rPr lang="en-US" sz="1300" i="1" dirty="0">
                <a:solidFill>
                  <a:srgbClr val="475569"/>
                </a:solidFill>
                <a:latin typeface="Arial" pitchFamily="34" charset="0"/>
                <a:ea typeface="Arial" pitchFamily="34" charset="-122"/>
                <a:cs typeface="Arial" pitchFamily="34" charset="-120"/>
              </a:rPr>
              <a:t>The right fix is almost always to extract just the interactive part as a small Client Component and leave the parent server-side.</a:t>
            </a:r>
            <a:endParaRPr lang="en-US" sz="1300" dirty="0"/>
          </a:p>
        </p:txBody>
      </p:sp>
      <p:sp>
        <p:nvSpPr>
          <p:cNvPr id="9" name="Text 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10" name="Text 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25 / 31</a:t>
            </a:r>
            <a:endParaRPr lang="en-US" sz="9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26">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5</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Wrap-up</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Two frameworks, same primitives. Then the lab.</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Next.js vs RR v7 — same primitives, different syntax</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Once you understand the boundary, both frameworks are mostly bookkeeping.</a:t>
            </a:r>
            <a:endParaRPr lang="en-US" sz="1400" dirty="0"/>
          </a:p>
        </p:txBody>
      </p:sp>
      <p:sp>
        <p:nvSpPr>
          <p:cNvPr id="5" name="Shape 3"/>
          <p:cNvSpPr/>
          <p:nvPr/>
        </p:nvSpPr>
        <p:spPr>
          <a:xfrm>
            <a:off x="777240" y="1325880"/>
            <a:ext cx="10607040" cy="411480"/>
          </a:xfrm>
          <a:prstGeom prst="rect">
            <a:avLst/>
          </a:prstGeom>
          <a:solidFill>
            <a:srgbClr val="1E2A47"/>
          </a:solidFill>
          <a:ln w="12700">
            <a:solidFill>
              <a:srgbClr val="1E2A47"/>
            </a:solidFill>
            <a:prstDash val="solid"/>
          </a:ln>
        </p:spPr>
      </p:sp>
      <p:sp>
        <p:nvSpPr>
          <p:cNvPr id="6" name="Text 4"/>
          <p:cNvSpPr/>
          <p:nvPr/>
        </p:nvSpPr>
        <p:spPr>
          <a:xfrm>
            <a:off x="914400" y="1325880"/>
            <a:ext cx="365760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Primitive</a:t>
            </a:r>
            <a:endParaRPr lang="en-US" sz="1200" dirty="0"/>
          </a:p>
        </p:txBody>
      </p:sp>
      <p:sp>
        <p:nvSpPr>
          <p:cNvPr id="7" name="Text 5"/>
          <p:cNvSpPr/>
          <p:nvPr/>
        </p:nvSpPr>
        <p:spPr>
          <a:xfrm>
            <a:off x="4617720" y="1325880"/>
            <a:ext cx="338328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Next.js 15</a:t>
            </a:r>
            <a:endParaRPr lang="en-US" sz="1200" dirty="0"/>
          </a:p>
        </p:txBody>
      </p:sp>
      <p:sp>
        <p:nvSpPr>
          <p:cNvPr id="8" name="Text 6"/>
          <p:cNvSpPr/>
          <p:nvPr/>
        </p:nvSpPr>
        <p:spPr>
          <a:xfrm>
            <a:off x="8046720" y="1325880"/>
            <a:ext cx="329184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React Router v7</a:t>
            </a:r>
            <a:endParaRPr lang="en-US" sz="1200" dirty="0"/>
          </a:p>
        </p:txBody>
      </p:sp>
      <p:sp>
        <p:nvSpPr>
          <p:cNvPr id="9" name="Shape 7"/>
          <p:cNvSpPr/>
          <p:nvPr/>
        </p:nvSpPr>
        <p:spPr>
          <a:xfrm>
            <a:off x="777240" y="1737360"/>
            <a:ext cx="10607040" cy="640080"/>
          </a:xfrm>
          <a:prstGeom prst="rect">
            <a:avLst/>
          </a:prstGeom>
          <a:solidFill>
            <a:srgbClr val="FFFFFF"/>
          </a:solidFill>
          <a:ln w="12700">
            <a:solidFill>
              <a:srgbClr val="E2E8F0"/>
            </a:solidFill>
            <a:prstDash val="solid"/>
          </a:ln>
        </p:spPr>
      </p:sp>
      <p:sp>
        <p:nvSpPr>
          <p:cNvPr id="10" name="Text 8"/>
          <p:cNvSpPr/>
          <p:nvPr/>
        </p:nvSpPr>
        <p:spPr>
          <a:xfrm>
            <a:off x="914400" y="1783080"/>
            <a:ext cx="3657600" cy="548640"/>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Server Component default</a:t>
            </a:r>
            <a:endParaRPr lang="en-US" sz="1150" dirty="0"/>
          </a:p>
        </p:txBody>
      </p:sp>
      <p:sp>
        <p:nvSpPr>
          <p:cNvPr id="11" name="Text 9"/>
          <p:cNvSpPr/>
          <p:nvPr/>
        </p:nvSpPr>
        <p:spPr>
          <a:xfrm>
            <a:off x="4617720" y="1783080"/>
            <a:ext cx="3383280" cy="54864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page.jsx, layout.jsx</a:t>
            </a:r>
            <a:endParaRPr lang="en-US" sz="1100" dirty="0"/>
          </a:p>
        </p:txBody>
      </p:sp>
      <p:sp>
        <p:nvSpPr>
          <p:cNvPr id="12" name="Text 10"/>
          <p:cNvSpPr/>
          <p:nvPr/>
        </p:nvSpPr>
        <p:spPr>
          <a:xfrm>
            <a:off x="8046720" y="1783080"/>
            <a:ext cx="3291840" cy="54864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Routes are server by default</a:t>
            </a:r>
            <a:endParaRPr lang="en-US" sz="1100" dirty="0"/>
          </a:p>
        </p:txBody>
      </p:sp>
      <p:sp>
        <p:nvSpPr>
          <p:cNvPr id="13" name="Shape 11"/>
          <p:cNvSpPr/>
          <p:nvPr/>
        </p:nvSpPr>
        <p:spPr>
          <a:xfrm>
            <a:off x="777240" y="2450592"/>
            <a:ext cx="10607040" cy="640080"/>
          </a:xfrm>
          <a:prstGeom prst="rect">
            <a:avLst/>
          </a:prstGeom>
          <a:solidFill>
            <a:srgbClr val="F8FAFC"/>
          </a:solidFill>
          <a:ln w="12700">
            <a:solidFill>
              <a:srgbClr val="E2E8F0"/>
            </a:solidFill>
            <a:prstDash val="solid"/>
          </a:ln>
        </p:spPr>
      </p:sp>
      <p:sp>
        <p:nvSpPr>
          <p:cNvPr id="14" name="Text 12"/>
          <p:cNvSpPr/>
          <p:nvPr/>
        </p:nvSpPr>
        <p:spPr>
          <a:xfrm>
            <a:off x="914400" y="2496312"/>
            <a:ext cx="3657600" cy="548640"/>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Client opt-in</a:t>
            </a:r>
            <a:endParaRPr lang="en-US" sz="1150" dirty="0"/>
          </a:p>
        </p:txBody>
      </p:sp>
      <p:sp>
        <p:nvSpPr>
          <p:cNvPr id="15" name="Text 13"/>
          <p:cNvSpPr/>
          <p:nvPr/>
        </p:nvSpPr>
        <p:spPr>
          <a:xfrm>
            <a:off x="4617720" y="2496312"/>
            <a:ext cx="3383280" cy="54864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'use client'</a:t>
            </a:r>
            <a:endParaRPr lang="en-US" sz="1100" dirty="0"/>
          </a:p>
        </p:txBody>
      </p:sp>
      <p:sp>
        <p:nvSpPr>
          <p:cNvPr id="16" name="Text 14"/>
          <p:cNvSpPr/>
          <p:nvPr/>
        </p:nvSpPr>
        <p:spPr>
          <a:xfrm>
            <a:off x="8046720" y="2496312"/>
            <a:ext cx="3291840" cy="54864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'use client'</a:t>
            </a:r>
            <a:endParaRPr lang="en-US" sz="1100" dirty="0"/>
          </a:p>
        </p:txBody>
      </p:sp>
      <p:sp>
        <p:nvSpPr>
          <p:cNvPr id="17" name="Shape 15"/>
          <p:cNvSpPr/>
          <p:nvPr/>
        </p:nvSpPr>
        <p:spPr>
          <a:xfrm>
            <a:off x="777240" y="3163824"/>
            <a:ext cx="10607040" cy="640080"/>
          </a:xfrm>
          <a:prstGeom prst="rect">
            <a:avLst/>
          </a:prstGeom>
          <a:solidFill>
            <a:srgbClr val="FFFFFF"/>
          </a:solidFill>
          <a:ln w="12700">
            <a:solidFill>
              <a:srgbClr val="E2E8F0"/>
            </a:solidFill>
            <a:prstDash val="solid"/>
          </a:ln>
        </p:spPr>
      </p:sp>
      <p:sp>
        <p:nvSpPr>
          <p:cNvPr id="18" name="Text 16"/>
          <p:cNvSpPr/>
          <p:nvPr/>
        </p:nvSpPr>
        <p:spPr>
          <a:xfrm>
            <a:off x="914400" y="3209544"/>
            <a:ext cx="3657600" cy="548640"/>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Server Action declaration</a:t>
            </a:r>
            <a:endParaRPr lang="en-US" sz="1150" dirty="0"/>
          </a:p>
        </p:txBody>
      </p:sp>
      <p:sp>
        <p:nvSpPr>
          <p:cNvPr id="19" name="Text 17"/>
          <p:cNvSpPr/>
          <p:nvPr/>
        </p:nvSpPr>
        <p:spPr>
          <a:xfrm>
            <a:off x="4617720" y="3209544"/>
            <a:ext cx="3383280" cy="54864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'use server' inline or in module</a:t>
            </a:r>
            <a:endParaRPr lang="en-US" sz="1100" dirty="0"/>
          </a:p>
        </p:txBody>
      </p:sp>
      <p:sp>
        <p:nvSpPr>
          <p:cNvPr id="20" name="Text 18"/>
          <p:cNvSpPr/>
          <p:nvPr/>
        </p:nvSpPr>
        <p:spPr>
          <a:xfrm>
            <a:off x="8046720" y="3209544"/>
            <a:ext cx="3291840" cy="54864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'use server' inline or in module</a:t>
            </a:r>
            <a:endParaRPr lang="en-US" sz="1100" dirty="0"/>
          </a:p>
        </p:txBody>
      </p:sp>
      <p:sp>
        <p:nvSpPr>
          <p:cNvPr id="21" name="Shape 19"/>
          <p:cNvSpPr/>
          <p:nvPr/>
        </p:nvSpPr>
        <p:spPr>
          <a:xfrm>
            <a:off x="777240" y="3877056"/>
            <a:ext cx="10607040" cy="640080"/>
          </a:xfrm>
          <a:prstGeom prst="rect">
            <a:avLst/>
          </a:prstGeom>
          <a:solidFill>
            <a:srgbClr val="F8FAFC"/>
          </a:solidFill>
          <a:ln w="12700">
            <a:solidFill>
              <a:srgbClr val="E2E8F0"/>
            </a:solidFill>
            <a:prstDash val="solid"/>
          </a:ln>
        </p:spPr>
      </p:sp>
      <p:sp>
        <p:nvSpPr>
          <p:cNvPr id="22" name="Text 20"/>
          <p:cNvSpPr/>
          <p:nvPr/>
        </p:nvSpPr>
        <p:spPr>
          <a:xfrm>
            <a:off x="914400" y="3922776"/>
            <a:ext cx="3657600" cy="548640"/>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Form action</a:t>
            </a:r>
            <a:endParaRPr lang="en-US" sz="1150" dirty="0"/>
          </a:p>
        </p:txBody>
      </p:sp>
      <p:sp>
        <p:nvSpPr>
          <p:cNvPr id="23" name="Text 21"/>
          <p:cNvSpPr/>
          <p:nvPr/>
        </p:nvSpPr>
        <p:spPr>
          <a:xfrm>
            <a:off x="4617720" y="3922776"/>
            <a:ext cx="3383280" cy="54864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&lt;form action={fn}&gt;</a:t>
            </a:r>
            <a:endParaRPr lang="en-US" sz="1100" dirty="0"/>
          </a:p>
        </p:txBody>
      </p:sp>
      <p:sp>
        <p:nvSpPr>
          <p:cNvPr id="24" name="Text 22"/>
          <p:cNvSpPr/>
          <p:nvPr/>
        </p:nvSpPr>
        <p:spPr>
          <a:xfrm>
            <a:off x="8046720" y="3922776"/>
            <a:ext cx="3291840" cy="54864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&lt;form action={fn}&gt; or &lt;Form action&gt;</a:t>
            </a:r>
            <a:endParaRPr lang="en-US" sz="1100" dirty="0"/>
          </a:p>
        </p:txBody>
      </p:sp>
      <p:sp>
        <p:nvSpPr>
          <p:cNvPr id="25" name="Shape 23"/>
          <p:cNvSpPr/>
          <p:nvPr/>
        </p:nvSpPr>
        <p:spPr>
          <a:xfrm>
            <a:off x="777240" y="4590288"/>
            <a:ext cx="10607040" cy="640080"/>
          </a:xfrm>
          <a:prstGeom prst="rect">
            <a:avLst/>
          </a:prstGeom>
          <a:solidFill>
            <a:srgbClr val="FFFFFF"/>
          </a:solidFill>
          <a:ln w="12700">
            <a:solidFill>
              <a:srgbClr val="E2E8F0"/>
            </a:solidFill>
            <a:prstDash val="solid"/>
          </a:ln>
        </p:spPr>
      </p:sp>
      <p:sp>
        <p:nvSpPr>
          <p:cNvPr id="26" name="Text 24"/>
          <p:cNvSpPr/>
          <p:nvPr/>
        </p:nvSpPr>
        <p:spPr>
          <a:xfrm>
            <a:off x="914400" y="4636008"/>
            <a:ext cx="3657600" cy="548640"/>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Streaming primitive</a:t>
            </a:r>
            <a:endParaRPr lang="en-US" sz="1150" dirty="0"/>
          </a:p>
        </p:txBody>
      </p:sp>
      <p:sp>
        <p:nvSpPr>
          <p:cNvPr id="27" name="Text 25"/>
          <p:cNvSpPr/>
          <p:nvPr/>
        </p:nvSpPr>
        <p:spPr>
          <a:xfrm>
            <a:off x="4617720" y="4636008"/>
            <a:ext cx="3383280" cy="54864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&lt;Suspense&gt; + loading.jsx</a:t>
            </a:r>
            <a:endParaRPr lang="en-US" sz="1100" dirty="0"/>
          </a:p>
        </p:txBody>
      </p:sp>
      <p:sp>
        <p:nvSpPr>
          <p:cNvPr id="28" name="Text 26"/>
          <p:cNvSpPr/>
          <p:nvPr/>
        </p:nvSpPr>
        <p:spPr>
          <a:xfrm>
            <a:off x="8046720" y="4636008"/>
            <a:ext cx="3291840" cy="54864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&lt;Suspense&gt; + defer/Await</a:t>
            </a:r>
            <a:endParaRPr lang="en-US" sz="1100" dirty="0"/>
          </a:p>
        </p:txBody>
      </p:sp>
      <p:sp>
        <p:nvSpPr>
          <p:cNvPr id="29" name="Shape 27"/>
          <p:cNvSpPr/>
          <p:nvPr/>
        </p:nvSpPr>
        <p:spPr>
          <a:xfrm>
            <a:off x="777240" y="5303520"/>
            <a:ext cx="10607040" cy="640080"/>
          </a:xfrm>
          <a:prstGeom prst="rect">
            <a:avLst/>
          </a:prstGeom>
          <a:solidFill>
            <a:srgbClr val="F8FAFC"/>
          </a:solidFill>
          <a:ln w="12700">
            <a:solidFill>
              <a:srgbClr val="E2E8F0"/>
            </a:solidFill>
            <a:prstDash val="solid"/>
          </a:ln>
        </p:spPr>
      </p:sp>
      <p:sp>
        <p:nvSpPr>
          <p:cNvPr id="30" name="Text 28"/>
          <p:cNvSpPr/>
          <p:nvPr/>
        </p:nvSpPr>
        <p:spPr>
          <a:xfrm>
            <a:off x="914400" y="5349240"/>
            <a:ext cx="3657600" cy="548640"/>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Server Actions on event handlers</a:t>
            </a:r>
            <a:endParaRPr lang="en-US" sz="1150" dirty="0"/>
          </a:p>
        </p:txBody>
      </p:sp>
      <p:sp>
        <p:nvSpPr>
          <p:cNvPr id="31" name="Text 29"/>
          <p:cNvSpPr/>
          <p:nvPr/>
        </p:nvSpPr>
        <p:spPr>
          <a:xfrm>
            <a:off x="4617720" y="5349240"/>
            <a:ext cx="3383280" cy="54864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Yes — use directly</a:t>
            </a:r>
            <a:endParaRPr lang="en-US" sz="1100" dirty="0"/>
          </a:p>
        </p:txBody>
      </p:sp>
      <p:sp>
        <p:nvSpPr>
          <p:cNvPr id="32" name="Text 30"/>
          <p:cNvSpPr/>
          <p:nvPr/>
        </p:nvSpPr>
        <p:spPr>
          <a:xfrm>
            <a:off x="8046720" y="5349240"/>
            <a:ext cx="3291840" cy="54864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Yes — call in transition</a:t>
            </a:r>
            <a:endParaRPr lang="en-US" sz="1100" dirty="0"/>
          </a:p>
        </p:txBody>
      </p:sp>
      <p:sp>
        <p:nvSpPr>
          <p:cNvPr id="33" name="Text 3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34" name="Text 3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27 / 31</a:t>
            </a:r>
            <a:endParaRPr lang="en-US" sz="9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AI mistakes in Server Components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Your review checklist for Lab 5 and beyond.</a:t>
            </a:r>
            <a:endParaRPr lang="en-US" sz="1400" dirty="0"/>
          </a:p>
        </p:txBody>
      </p:sp>
      <p:sp>
        <p:nvSpPr>
          <p:cNvPr id="5" name="Shape 3"/>
          <p:cNvSpPr/>
          <p:nvPr/>
        </p:nvSpPr>
        <p:spPr>
          <a:xfrm>
            <a:off x="777240" y="1691640"/>
            <a:ext cx="5212080" cy="10972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2011680"/>
            <a:ext cx="457200" cy="457200"/>
          </a:xfrm>
          <a:prstGeom prst="rect">
            <a:avLst/>
          </a:prstGeom>
        </p:spPr>
      </p:pic>
      <p:sp>
        <p:nvSpPr>
          <p:cNvPr id="7" name="Text 4"/>
          <p:cNvSpPr/>
          <p:nvPr/>
        </p:nvSpPr>
        <p:spPr>
          <a:xfrm>
            <a:off x="1554480" y="178308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'use client' added at the file top to silence a hook-related error</a:t>
            </a:r>
            <a:endParaRPr lang="en-US" sz="1200" dirty="0"/>
          </a:p>
        </p:txBody>
      </p:sp>
      <p:sp>
        <p:nvSpPr>
          <p:cNvPr id="8" name="Shape 5"/>
          <p:cNvSpPr/>
          <p:nvPr/>
        </p:nvSpPr>
        <p:spPr>
          <a:xfrm>
            <a:off x="6126480" y="1691640"/>
            <a:ext cx="5212080" cy="1097280"/>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6309360" y="2011680"/>
            <a:ext cx="457200" cy="457200"/>
          </a:xfrm>
          <a:prstGeom prst="rect">
            <a:avLst/>
          </a:prstGeom>
        </p:spPr>
      </p:pic>
      <p:sp>
        <p:nvSpPr>
          <p:cNvPr id="10" name="Text 6"/>
          <p:cNvSpPr/>
          <p:nvPr/>
        </p:nvSpPr>
        <p:spPr>
          <a:xfrm>
            <a:off x="6903720" y="178308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Server-only import (db client, env vars) leaked into a 'use client' file</a:t>
            </a:r>
            <a:endParaRPr lang="en-US" sz="1200" dirty="0"/>
          </a:p>
        </p:txBody>
      </p:sp>
      <p:sp>
        <p:nvSpPr>
          <p:cNvPr id="11" name="Shape 7"/>
          <p:cNvSpPr/>
          <p:nvPr/>
        </p:nvSpPr>
        <p:spPr>
          <a:xfrm>
            <a:off x="777240" y="2971800"/>
            <a:ext cx="5212080" cy="1097280"/>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291840"/>
            <a:ext cx="457200" cy="457200"/>
          </a:xfrm>
          <a:prstGeom prst="rect">
            <a:avLst/>
          </a:prstGeom>
        </p:spPr>
      </p:pic>
      <p:sp>
        <p:nvSpPr>
          <p:cNvPr id="13" name="Text 8"/>
          <p:cNvSpPr/>
          <p:nvPr/>
        </p:nvSpPr>
        <p:spPr>
          <a:xfrm>
            <a:off x="1554480" y="306324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Inline event handler passed across the boundary as a regular function</a:t>
            </a:r>
            <a:endParaRPr lang="en-US" sz="1200" dirty="0"/>
          </a:p>
        </p:txBody>
      </p:sp>
      <p:sp>
        <p:nvSpPr>
          <p:cNvPr id="14" name="Shape 9"/>
          <p:cNvSpPr/>
          <p:nvPr/>
        </p:nvSpPr>
        <p:spPr>
          <a:xfrm>
            <a:off x="6126480" y="2971800"/>
            <a:ext cx="5212080" cy="1097280"/>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6309360" y="3291840"/>
            <a:ext cx="457200" cy="457200"/>
          </a:xfrm>
          <a:prstGeom prst="rect">
            <a:avLst/>
          </a:prstGeom>
        </p:spPr>
      </p:pic>
      <p:sp>
        <p:nvSpPr>
          <p:cNvPr id="16" name="Text 10"/>
          <p:cNvSpPr/>
          <p:nvPr/>
        </p:nvSpPr>
        <p:spPr>
          <a:xfrm>
            <a:off x="6903720" y="306324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Date.now() or Math.random() in render — hydration mismatch coming</a:t>
            </a:r>
            <a:endParaRPr lang="en-US" sz="1200" dirty="0"/>
          </a:p>
        </p:txBody>
      </p:sp>
      <p:sp>
        <p:nvSpPr>
          <p:cNvPr id="17" name="Shape 11"/>
          <p:cNvSpPr/>
          <p:nvPr/>
        </p:nvSpPr>
        <p:spPr>
          <a:xfrm>
            <a:off x="777240" y="4251960"/>
            <a:ext cx="5212080" cy="1097280"/>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572000"/>
            <a:ext cx="457200" cy="457200"/>
          </a:xfrm>
          <a:prstGeom prst="rect">
            <a:avLst/>
          </a:prstGeom>
        </p:spPr>
      </p:pic>
      <p:sp>
        <p:nvSpPr>
          <p:cNvPr id="19" name="Text 12"/>
          <p:cNvSpPr/>
          <p:nvPr/>
        </p:nvSpPr>
        <p:spPr>
          <a:xfrm>
            <a:off x="1554480" y="434340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The whole page wrapped in one Suspense — no streaming benefit</a:t>
            </a:r>
            <a:endParaRPr lang="en-US" sz="1200" dirty="0"/>
          </a:p>
        </p:txBody>
      </p:sp>
      <p:sp>
        <p:nvSpPr>
          <p:cNvPr id="20" name="Shape 13"/>
          <p:cNvSpPr/>
          <p:nvPr/>
        </p:nvSpPr>
        <p:spPr>
          <a:xfrm>
            <a:off x="6126480" y="4251960"/>
            <a:ext cx="5212080" cy="1097280"/>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6309360" y="4572000"/>
            <a:ext cx="457200" cy="457200"/>
          </a:xfrm>
          <a:prstGeom prst="rect">
            <a:avLst/>
          </a:prstGeom>
        </p:spPr>
      </p:pic>
      <p:sp>
        <p:nvSpPr>
          <p:cNvPr id="22" name="Text 14"/>
          <p:cNvSpPr/>
          <p:nvPr/>
        </p:nvSpPr>
        <p:spPr>
          <a:xfrm>
            <a:off x="6903720" y="434340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Server Action without 'use server' directive — runs as a regular client function</a:t>
            </a:r>
            <a:endParaRPr lang="en-US" sz="1200" dirty="0"/>
          </a:p>
        </p:txBody>
      </p:sp>
      <p:sp>
        <p:nvSpPr>
          <p:cNvPr id="23"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24"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28 / 31</a:t>
            </a:r>
            <a:endParaRPr lang="en-US" sz="9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Module 6 takeaways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What to remember when you're back at your desk.</a:t>
            </a:r>
            <a:endParaRPr lang="en-US" sz="1400" dirty="0"/>
          </a:p>
        </p:txBody>
      </p:sp>
      <p:sp>
        <p:nvSpPr>
          <p:cNvPr id="5" name="Shape 3"/>
          <p:cNvSpPr/>
          <p:nvPr/>
        </p:nvSpPr>
        <p:spPr>
          <a:xfrm>
            <a:off x="777240" y="1691640"/>
            <a:ext cx="10607040" cy="603504"/>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10512"/>
            <a:ext cx="365760" cy="365760"/>
          </a:xfrm>
          <a:prstGeom prst="rect">
            <a:avLst/>
          </a:prstGeom>
        </p:spPr>
      </p:pic>
      <p:sp>
        <p:nvSpPr>
          <p:cNvPr id="7" name="Text 4"/>
          <p:cNvSpPr/>
          <p:nvPr/>
        </p:nvSpPr>
        <p:spPr>
          <a:xfrm>
            <a:off x="1508760" y="1737360"/>
            <a:ext cx="97840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Server-first is the new default. Add 'use client' only where you need state or events.</a:t>
            </a:r>
            <a:endParaRPr lang="en-US" sz="1150" dirty="0"/>
          </a:p>
        </p:txBody>
      </p:sp>
      <p:sp>
        <p:nvSpPr>
          <p:cNvPr id="8" name="Shape 5"/>
          <p:cNvSpPr/>
          <p:nvPr/>
        </p:nvSpPr>
        <p:spPr>
          <a:xfrm>
            <a:off x="777240" y="2404872"/>
            <a:ext cx="10607040" cy="603504"/>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960120" y="2523744"/>
            <a:ext cx="365760" cy="365760"/>
          </a:xfrm>
          <a:prstGeom prst="rect">
            <a:avLst/>
          </a:prstGeom>
        </p:spPr>
      </p:pic>
      <p:sp>
        <p:nvSpPr>
          <p:cNvPr id="10" name="Text 6"/>
          <p:cNvSpPr/>
          <p:nvPr/>
        </p:nvSpPr>
        <p:spPr>
          <a:xfrm>
            <a:off x="1508760" y="2450592"/>
            <a:ext cx="97840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The boundary is per-file. Once a file is 'use client', everything in it (and downstream) is client.</a:t>
            </a:r>
            <a:endParaRPr lang="en-US" sz="1150" dirty="0"/>
          </a:p>
        </p:txBody>
      </p:sp>
      <p:sp>
        <p:nvSpPr>
          <p:cNvPr id="11" name="Shape 7"/>
          <p:cNvSpPr/>
          <p:nvPr/>
        </p:nvSpPr>
        <p:spPr>
          <a:xfrm>
            <a:off x="777240" y="3118104"/>
            <a:ext cx="10607040" cy="603504"/>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236976"/>
            <a:ext cx="365760" cy="365760"/>
          </a:xfrm>
          <a:prstGeom prst="rect">
            <a:avLst/>
          </a:prstGeom>
        </p:spPr>
      </p:pic>
      <p:sp>
        <p:nvSpPr>
          <p:cNvPr id="13" name="Text 8"/>
          <p:cNvSpPr/>
          <p:nvPr/>
        </p:nvSpPr>
        <p:spPr>
          <a:xfrm>
            <a:off x="1508760" y="3163824"/>
            <a:ext cx="97840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Server Components can render Client Components. Client Components can receive Server Components as children — never import them.</a:t>
            </a:r>
            <a:endParaRPr lang="en-US" sz="1150" dirty="0"/>
          </a:p>
        </p:txBody>
      </p:sp>
      <p:sp>
        <p:nvSpPr>
          <p:cNvPr id="14" name="Shape 9"/>
          <p:cNvSpPr/>
          <p:nvPr/>
        </p:nvSpPr>
        <p:spPr>
          <a:xfrm>
            <a:off x="777240" y="3831336"/>
            <a:ext cx="10607040" cy="603504"/>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960120" y="3950208"/>
            <a:ext cx="365760" cy="365760"/>
          </a:xfrm>
          <a:prstGeom prst="rect">
            <a:avLst/>
          </a:prstGeom>
        </p:spPr>
      </p:pic>
      <p:sp>
        <p:nvSpPr>
          <p:cNvPr id="16" name="Text 10"/>
          <p:cNvSpPr/>
          <p:nvPr/>
        </p:nvSpPr>
        <p:spPr>
          <a:xfrm>
            <a:off x="1508760" y="3877056"/>
            <a:ext cx="97840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Props across the boundary must be serializable. Inline event handlers are the most common violation.</a:t>
            </a:r>
            <a:endParaRPr lang="en-US" sz="1150" dirty="0"/>
          </a:p>
        </p:txBody>
      </p:sp>
      <p:sp>
        <p:nvSpPr>
          <p:cNvPr id="17" name="Shape 11"/>
          <p:cNvSpPr/>
          <p:nvPr/>
        </p:nvSpPr>
        <p:spPr>
          <a:xfrm>
            <a:off x="777240" y="4544568"/>
            <a:ext cx="10607040" cy="603504"/>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663440"/>
            <a:ext cx="365760" cy="365760"/>
          </a:xfrm>
          <a:prstGeom prst="rect">
            <a:avLst/>
          </a:prstGeom>
        </p:spPr>
      </p:pic>
      <p:sp>
        <p:nvSpPr>
          <p:cNvPr id="19" name="Text 12"/>
          <p:cNvSpPr/>
          <p:nvPr/>
        </p:nvSpPr>
        <p:spPr>
          <a:xfrm>
            <a:off x="1508760" y="4590288"/>
            <a:ext cx="97840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Server Actions = 'use server' functions. Pair with useActionState for forms, useTransition for handlers.</a:t>
            </a:r>
            <a:endParaRPr lang="en-US" sz="1150" dirty="0"/>
          </a:p>
        </p:txBody>
      </p:sp>
      <p:sp>
        <p:nvSpPr>
          <p:cNvPr id="20" name="Shape 13"/>
          <p:cNvSpPr/>
          <p:nvPr/>
        </p:nvSpPr>
        <p:spPr>
          <a:xfrm>
            <a:off x="777240" y="5257800"/>
            <a:ext cx="10607040" cy="603504"/>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960120" y="5376672"/>
            <a:ext cx="365760" cy="365760"/>
          </a:xfrm>
          <a:prstGeom prst="rect">
            <a:avLst/>
          </a:prstGeom>
        </p:spPr>
      </p:pic>
      <p:sp>
        <p:nvSpPr>
          <p:cNvPr id="22" name="Text 14"/>
          <p:cNvSpPr/>
          <p:nvPr/>
        </p:nvSpPr>
        <p:spPr>
          <a:xfrm>
            <a:off x="1508760" y="5303520"/>
            <a:ext cx="97840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Streaming wins come from MULTIPLE Suspense boundaries. One boundary around everything is no win at all.</a:t>
            </a:r>
            <a:endParaRPr lang="en-US" sz="1150" dirty="0"/>
          </a:p>
        </p:txBody>
      </p:sp>
      <p:sp>
        <p:nvSpPr>
          <p:cNvPr id="23"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24"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29 / 31</a:t>
            </a:r>
            <a:endParaRPr lang="en-US" sz="9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Coming up: Lab 5</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Build a Server Components dashboard with a Server Action form.</a:t>
            </a:r>
            <a:endParaRPr lang="en-US" sz="1400" dirty="0"/>
          </a:p>
        </p:txBody>
      </p:sp>
      <p:sp>
        <p:nvSpPr>
          <p:cNvPr id="5" name="Shape 3"/>
          <p:cNvSpPr/>
          <p:nvPr/>
        </p:nvSpPr>
        <p:spPr>
          <a:xfrm>
            <a:off x="777240" y="1691640"/>
            <a:ext cx="10607040" cy="43891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97280" y="1920240"/>
            <a:ext cx="822960" cy="822960"/>
          </a:xfrm>
          <a:prstGeom prst="rect">
            <a:avLst/>
          </a:prstGeom>
        </p:spPr>
      </p:pic>
      <p:sp>
        <p:nvSpPr>
          <p:cNvPr id="7" name="Text 4"/>
          <p:cNvSpPr/>
          <p:nvPr/>
        </p:nvSpPr>
        <p:spPr>
          <a:xfrm>
            <a:off x="2194560" y="1920240"/>
            <a:ext cx="9144000" cy="64008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Lab 5: Server Components Dashboard</a:t>
            </a:r>
            <a:endParaRPr lang="en-US" sz="2200" dirty="0"/>
          </a:p>
        </p:txBody>
      </p:sp>
      <p:sp>
        <p:nvSpPr>
          <p:cNvPr id="8" name="Text 5"/>
          <p:cNvSpPr/>
          <p:nvPr/>
        </p:nvSpPr>
        <p:spPr>
          <a:xfrm>
            <a:off x="2194560" y="2514600"/>
            <a:ext cx="9144000" cy="365760"/>
          </a:xfrm>
          <a:prstGeom prst="rect">
            <a:avLst/>
          </a:prstGeom>
          <a:noFill/>
          <a:ln/>
        </p:spPr>
        <p:txBody>
          <a:bodyPr wrap="square" lIns="0" tIns="0" rIns="0" bIns="0" rtlCol="0" anchor="ctr"/>
          <a:lstStyle/>
          <a:p>
            <a:pPr indent="0" marL="0">
              <a:buNone/>
            </a:pPr>
            <a:r>
              <a:rPr lang="en-US" sz="1300" i="1" dirty="0">
                <a:solidFill>
                  <a:srgbClr val="475569"/>
                </a:solidFill>
                <a:latin typeface="Arial" pitchFamily="34" charset="0"/>
                <a:ea typeface="Arial" pitchFamily="34" charset="-122"/>
                <a:cs typeface="Arial" pitchFamily="34" charset="-120"/>
              </a:rPr>
              <a:t>75 minutes  ·  Hands-on  ·  Solution: solutions/lab-05-dashboard/</a:t>
            </a:r>
            <a:endParaRPr lang="en-US" sz="1300" dirty="0"/>
          </a:p>
        </p:txBody>
      </p:sp>
      <p:sp>
        <p:nvSpPr>
          <p:cNvPr id="9" name="Text 6"/>
          <p:cNvSpPr/>
          <p:nvPr/>
        </p:nvSpPr>
        <p:spPr>
          <a:xfrm>
            <a:off x="1097280" y="3200400"/>
            <a:ext cx="100584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What you'll do:</a:t>
            </a:r>
            <a:endParaRPr lang="en-US" sz="1400" dirty="0"/>
          </a:p>
        </p:txBody>
      </p:sp>
      <p:sp>
        <p:nvSpPr>
          <p:cNvPr id="10" name="Text 7"/>
          <p:cNvSpPr/>
          <p:nvPr/>
        </p:nvSpPr>
        <p:spPr>
          <a:xfrm>
            <a:off x="1097280" y="3611880"/>
            <a:ext cx="1005840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Build a small dashboard page with Server Components fetching data</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Add a Server Action form using useActionState for state and validation</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Identify which components must be 'use client' and document why</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Stretch: add streaming with multiple Suspense boundaries</a:t>
            </a:r>
            <a:endParaRPr lang="en-US" sz="1250" dirty="0"/>
          </a:p>
        </p:txBody>
      </p:sp>
      <p:sp>
        <p:nvSpPr>
          <p:cNvPr id="11" name="Text 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12" name="Text 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30 / 31</a:t>
            </a:r>
            <a:endParaRPr lang="en-US" sz="9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End of Day 2</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Lab 5 closes the day. Day 3 covers performance, testing, and AI.</a:t>
            </a:r>
            <a:endParaRPr lang="en-US" sz="1400" dirty="0"/>
          </a:p>
        </p:txBody>
      </p:sp>
      <p:sp>
        <p:nvSpPr>
          <p:cNvPr id="5" name="Shape 3"/>
          <p:cNvSpPr/>
          <p:nvPr/>
        </p:nvSpPr>
        <p:spPr>
          <a:xfrm>
            <a:off x="777240" y="1691640"/>
            <a:ext cx="10607040" cy="4206240"/>
          </a:xfrm>
          <a:prstGeom prst="rect">
            <a:avLst/>
          </a:prstGeom>
          <a:solidFill>
            <a:srgbClr val="CBF1F6"/>
          </a:solidFill>
          <a:ln w="12700">
            <a:solidFill>
              <a:srgbClr val="CBF1F6"/>
            </a:solidFill>
            <a:prstDash val="solid"/>
          </a:ln>
        </p:spPr>
      </p:sp>
      <p:sp>
        <p:nvSpPr>
          <p:cNvPr id="6" name="Text 4"/>
          <p:cNvSpPr/>
          <p:nvPr/>
        </p:nvSpPr>
        <p:spPr>
          <a:xfrm>
            <a:off x="1097280" y="1920240"/>
            <a:ext cx="100584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Day 2 covered:</a:t>
            </a:r>
            <a:endParaRPr lang="en-US" sz="1400" dirty="0"/>
          </a:p>
        </p:txBody>
      </p:sp>
      <p:sp>
        <p:nvSpPr>
          <p:cNvPr id="7" name="Text 5"/>
          <p:cNvSpPr/>
          <p:nvPr/>
        </p:nvSpPr>
        <p:spPr>
          <a:xfrm>
            <a:off x="1097280" y="2331720"/>
            <a:ext cx="10058400" cy="25603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State management decision framework + pick-your-tool refactor</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Modern data fetching + TanStack Query migration</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Server Components + Server Actions (just finished)</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Lab 5 — Server Components dashboard (next)</a:t>
            </a:r>
            <a:endParaRPr lang="en-US" sz="1250" dirty="0"/>
          </a:p>
        </p:txBody>
      </p:sp>
      <p:sp>
        <p:nvSpPr>
          <p:cNvPr id="8" name="Text 6"/>
          <p:cNvSpPr/>
          <p:nvPr/>
        </p:nvSpPr>
        <p:spPr>
          <a:xfrm>
            <a:off x="1097280" y="5166360"/>
            <a:ext cx="10058400" cy="548640"/>
          </a:xfrm>
          <a:prstGeom prst="rect">
            <a:avLst/>
          </a:prstGeom>
          <a:noFill/>
          <a:ln/>
        </p:spPr>
        <p:txBody>
          <a:bodyPr wrap="square" lIns="0" tIns="0" rIns="0" bIns="0" rtlCol="0" anchor="ctr"/>
          <a:lstStyle/>
          <a:p>
            <a:pPr indent="0" marL="0">
              <a:buNone/>
            </a:pPr>
            <a:r>
              <a:rPr lang="en-US" sz="1300" i="1" dirty="0">
                <a:solidFill>
                  <a:srgbClr val="475569"/>
                </a:solidFill>
                <a:latin typeface="Arial" pitchFamily="34" charset="0"/>
                <a:ea typeface="Arial" pitchFamily="34" charset="-122"/>
                <a:cs typeface="Arial" pitchFamily="34" charset="-120"/>
              </a:rPr>
              <a:t>Tomorrow: performance in the Compiler era, testing with Vitest + RTL, and a full module on working with AI assistants.</a:t>
            </a:r>
            <a:endParaRPr lang="en-US" sz="130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6 — Server Components &amp; Actions</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31 / 31</a:t>
            </a:r>
            <a:endParaRPr lang="en-US" sz="9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377440"/>
            <a:ext cx="548640" cy="73152"/>
          </a:xfrm>
          <a:prstGeom prst="rect">
            <a:avLst/>
          </a:prstGeom>
          <a:solidFill>
            <a:srgbClr val="00B8D9"/>
          </a:solidFill>
          <a:ln w="12700">
            <a:solidFill>
              <a:srgbClr val="00B8D9"/>
            </a:solidFill>
            <a:prstDash val="solid"/>
          </a:ln>
        </p:spPr>
      </p:sp>
      <p:sp>
        <p:nvSpPr>
          <p:cNvPr id="3" name="Text 1"/>
          <p:cNvSpPr/>
          <p:nvPr/>
        </p:nvSpPr>
        <p:spPr>
          <a:xfrm>
            <a:off x="640080" y="2542032"/>
            <a:ext cx="5486400" cy="457200"/>
          </a:xfrm>
          <a:prstGeom prst="rect">
            <a:avLst/>
          </a:prstGeom>
          <a:noFill/>
          <a:ln/>
        </p:spPr>
        <p:txBody>
          <a:bodyPr wrap="square" lIns="0" tIns="0" rIns="0" bIns="0" rtlCol="0" anchor="ctr"/>
          <a:lstStyle/>
          <a:p>
            <a:pPr indent="0" marL="0">
              <a:buNone/>
            </a:pPr>
            <a:r>
              <a:rPr lang="en-US" sz="1800" dirty="0">
                <a:solidFill>
                  <a:srgbClr val="00B8D9"/>
                </a:solidFill>
                <a:latin typeface="Trebuchet MS" pitchFamily="34" charset="0"/>
                <a:ea typeface="Trebuchet MS" pitchFamily="34" charset="-122"/>
                <a:cs typeface="Trebuchet MS" pitchFamily="34" charset="-120"/>
              </a:rPr>
              <a:t>Module 7</a:t>
            </a:r>
            <a:endParaRPr lang="en-US" sz="1800" dirty="0"/>
          </a:p>
        </p:txBody>
      </p:sp>
      <p:sp>
        <p:nvSpPr>
          <p:cNvPr id="4" name="Text 2"/>
          <p:cNvSpPr/>
          <p:nvPr/>
        </p:nvSpPr>
        <p:spPr>
          <a:xfrm>
            <a:off x="640080" y="3017520"/>
            <a:ext cx="1115568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Performance in the Compiler Era</a:t>
            </a:r>
            <a:endParaRPr lang="en-US" sz="4400" dirty="0"/>
          </a:p>
        </p:txBody>
      </p:sp>
      <p:sp>
        <p:nvSpPr>
          <p:cNvPr id="5" name="Text 3"/>
          <p:cNvSpPr/>
          <p:nvPr/>
        </p:nvSpPr>
        <p:spPr>
          <a:xfrm>
            <a:off x="640080" y="416052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Measure first. Use the Compiler. Reach for hand work only when the data says so.</a:t>
            </a:r>
            <a:endParaRPr lang="en-US" sz="1800" dirty="0"/>
          </a:p>
        </p:txBody>
      </p:sp>
      <p:sp>
        <p:nvSpPr>
          <p:cNvPr id="6" name="Text 4"/>
          <p:cNvSpPr/>
          <p:nvPr/>
        </p:nvSpPr>
        <p:spPr>
          <a:xfrm>
            <a:off x="640080" y="4937760"/>
            <a:ext cx="10972800" cy="45720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60 minutes  ·  Lecture + demos  ·  Lab 6 follows</a:t>
            </a:r>
            <a:endParaRPr lang="en-US" sz="1400" dirty="0"/>
          </a:p>
        </p:txBody>
      </p:sp>
      <p:pic>
        <p:nvPicPr>
          <p:cNvPr id="7" name="Image 0" descr="preencoded.png">    </p:cNvPr>
          <p:cNvPicPr>
            <a:picLocks noChangeAspect="1"/>
          </p:cNvPicPr>
          <p:nvPr/>
        </p:nvPicPr>
        <p:blipFill>
          <a:blip r:embed="rId1">
            <a:alphaModFix amt="75000"/>
          </a:blip>
          <a:stretch>
            <a:fillRect/>
          </a:stretch>
        </p:blipFill>
        <p:spPr>
          <a:xfrm>
            <a:off x="10728655" y="4663440"/>
            <a:ext cx="914400" cy="914400"/>
          </a:xfrm>
          <a:prstGeom prst="rect">
            <a:avLst/>
          </a:prstGeom>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 we'll cover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Five tools, in the order you'd reach for them.</a:t>
            </a:r>
            <a:endParaRPr lang="en-US" sz="1400" dirty="0"/>
          </a:p>
        </p:txBody>
      </p:sp>
      <p:sp>
        <p:nvSpPr>
          <p:cNvPr id="5" name="Shape 3"/>
          <p:cNvSpPr/>
          <p:nvPr/>
        </p:nvSpPr>
        <p:spPr>
          <a:xfrm>
            <a:off x="777240" y="1691640"/>
            <a:ext cx="10607040" cy="77724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56232"/>
            <a:ext cx="457200" cy="457200"/>
          </a:xfrm>
          <a:prstGeom prst="rect">
            <a:avLst/>
          </a:prstGeom>
        </p:spPr>
      </p:pic>
      <p:sp>
        <p:nvSpPr>
          <p:cNvPr id="7" name="Text 4"/>
          <p:cNvSpPr/>
          <p:nvPr/>
        </p:nvSpPr>
        <p:spPr>
          <a:xfrm>
            <a:off x="1600200" y="1764792"/>
            <a:ext cx="36576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Measurement</a:t>
            </a:r>
            <a:endParaRPr lang="en-US" sz="1400" dirty="0"/>
          </a:p>
        </p:txBody>
      </p:sp>
      <p:sp>
        <p:nvSpPr>
          <p:cNvPr id="8" name="Text 5"/>
          <p:cNvSpPr/>
          <p:nvPr/>
        </p:nvSpPr>
        <p:spPr>
          <a:xfrm>
            <a:off x="1600200" y="2103120"/>
            <a:ext cx="9692640" cy="32004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Profiler, Lighthouse, Core Web Vitals — before any optimization.</a:t>
            </a:r>
            <a:endParaRPr lang="en-US" sz="1200" dirty="0"/>
          </a:p>
        </p:txBody>
      </p:sp>
      <p:sp>
        <p:nvSpPr>
          <p:cNvPr id="9" name="Shape 6"/>
          <p:cNvSpPr/>
          <p:nvPr/>
        </p:nvSpPr>
        <p:spPr>
          <a:xfrm>
            <a:off x="777240" y="2606040"/>
            <a:ext cx="10607040" cy="77724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770632"/>
            <a:ext cx="457200" cy="457200"/>
          </a:xfrm>
          <a:prstGeom prst="rect">
            <a:avLst/>
          </a:prstGeom>
        </p:spPr>
      </p:pic>
      <p:sp>
        <p:nvSpPr>
          <p:cNvPr id="11" name="Text 7"/>
          <p:cNvSpPr/>
          <p:nvPr/>
        </p:nvSpPr>
        <p:spPr>
          <a:xfrm>
            <a:off x="1600200" y="2679192"/>
            <a:ext cx="36576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The React Compiler</a:t>
            </a:r>
            <a:endParaRPr lang="en-US" sz="1400" dirty="0"/>
          </a:p>
        </p:txBody>
      </p:sp>
      <p:sp>
        <p:nvSpPr>
          <p:cNvPr id="12" name="Text 8"/>
          <p:cNvSpPr/>
          <p:nvPr/>
        </p:nvSpPr>
        <p:spPr>
          <a:xfrm>
            <a:off x="1600200" y="3017520"/>
            <a:ext cx="9692640" cy="32004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Auto-memoization. What it does, what it doesn't.</a:t>
            </a:r>
            <a:endParaRPr lang="en-US" sz="1200" dirty="0"/>
          </a:p>
        </p:txBody>
      </p:sp>
      <p:sp>
        <p:nvSpPr>
          <p:cNvPr id="13" name="Shape 9"/>
          <p:cNvSpPr/>
          <p:nvPr/>
        </p:nvSpPr>
        <p:spPr>
          <a:xfrm>
            <a:off x="777240" y="3520440"/>
            <a:ext cx="10607040" cy="77724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685032"/>
            <a:ext cx="457200" cy="457200"/>
          </a:xfrm>
          <a:prstGeom prst="rect">
            <a:avLst/>
          </a:prstGeom>
        </p:spPr>
      </p:pic>
      <p:sp>
        <p:nvSpPr>
          <p:cNvPr id="15" name="Text 10"/>
          <p:cNvSpPr/>
          <p:nvPr/>
        </p:nvSpPr>
        <p:spPr>
          <a:xfrm>
            <a:off x="1600200" y="3593592"/>
            <a:ext cx="36576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Manual memoization</a:t>
            </a:r>
            <a:endParaRPr lang="en-US" sz="1400" dirty="0"/>
          </a:p>
        </p:txBody>
      </p:sp>
      <p:sp>
        <p:nvSpPr>
          <p:cNvPr id="16" name="Text 11"/>
          <p:cNvSpPr/>
          <p:nvPr/>
        </p:nvSpPr>
        <p:spPr>
          <a:xfrm>
            <a:off x="1600200" y="3931920"/>
            <a:ext cx="9692640" cy="32004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When useMemo, useCallback, React.memo still earn their keep.</a:t>
            </a:r>
            <a:endParaRPr lang="en-US" sz="1200" dirty="0"/>
          </a:p>
        </p:txBody>
      </p:sp>
      <p:sp>
        <p:nvSpPr>
          <p:cNvPr id="17" name="Shape 12"/>
          <p:cNvSpPr/>
          <p:nvPr/>
        </p:nvSpPr>
        <p:spPr>
          <a:xfrm>
            <a:off x="777240" y="4434840"/>
            <a:ext cx="10607040" cy="77724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4599432"/>
            <a:ext cx="457200" cy="457200"/>
          </a:xfrm>
          <a:prstGeom prst="rect">
            <a:avLst/>
          </a:prstGeom>
        </p:spPr>
      </p:pic>
      <p:sp>
        <p:nvSpPr>
          <p:cNvPr id="19" name="Text 13"/>
          <p:cNvSpPr/>
          <p:nvPr/>
        </p:nvSpPr>
        <p:spPr>
          <a:xfrm>
            <a:off x="1600200" y="4507992"/>
            <a:ext cx="36576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Code splitting</a:t>
            </a:r>
            <a:endParaRPr lang="en-US" sz="1400" dirty="0"/>
          </a:p>
        </p:txBody>
      </p:sp>
      <p:sp>
        <p:nvSpPr>
          <p:cNvPr id="20" name="Text 14"/>
          <p:cNvSpPr/>
          <p:nvPr/>
        </p:nvSpPr>
        <p:spPr>
          <a:xfrm>
            <a:off x="1600200" y="4846320"/>
            <a:ext cx="9692640" cy="32004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React.lazy + Suspense. Route-level and component-level.</a:t>
            </a:r>
            <a:endParaRPr lang="en-US" sz="1200" dirty="0"/>
          </a:p>
        </p:txBody>
      </p:sp>
      <p:sp>
        <p:nvSpPr>
          <p:cNvPr id="21" name="Shape 15"/>
          <p:cNvSpPr/>
          <p:nvPr/>
        </p:nvSpPr>
        <p:spPr>
          <a:xfrm>
            <a:off x="777240" y="5349240"/>
            <a:ext cx="10607040" cy="777240"/>
          </a:xfrm>
          <a:prstGeom prst="rect">
            <a:avLst/>
          </a:prstGeom>
          <a:solidFill>
            <a:srgbClr val="FFFFFF"/>
          </a:solidFill>
          <a:ln w="12700">
            <a:solidFill>
              <a:srgbClr val="E2E8F0"/>
            </a:solidFill>
            <a:prstDash val="solid"/>
          </a:ln>
        </p:spPr>
      </p:sp>
      <p:pic>
        <p:nvPicPr>
          <p:cNvPr id="22" name="Image 4" descr="preencoded.png">    </p:cNvPr>
          <p:cNvPicPr>
            <a:picLocks noChangeAspect="1"/>
          </p:cNvPicPr>
          <p:nvPr/>
        </p:nvPicPr>
        <p:blipFill>
          <a:blip r:embed="rId5"/>
          <a:stretch>
            <a:fillRect/>
          </a:stretch>
        </p:blipFill>
        <p:spPr>
          <a:xfrm>
            <a:off x="960120" y="5513832"/>
            <a:ext cx="457200" cy="457200"/>
          </a:xfrm>
          <a:prstGeom prst="rect">
            <a:avLst/>
          </a:prstGeom>
        </p:spPr>
      </p:pic>
      <p:sp>
        <p:nvSpPr>
          <p:cNvPr id="23" name="Text 16"/>
          <p:cNvSpPr/>
          <p:nvPr/>
        </p:nvSpPr>
        <p:spPr>
          <a:xfrm>
            <a:off x="1600200" y="5422392"/>
            <a:ext cx="36576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Beyond the render</a:t>
            </a:r>
            <a:endParaRPr lang="en-US" sz="1400" dirty="0"/>
          </a:p>
        </p:txBody>
      </p:sp>
      <p:sp>
        <p:nvSpPr>
          <p:cNvPr id="24" name="Text 17"/>
          <p:cNvSpPr/>
          <p:nvPr/>
        </p:nvSpPr>
        <p:spPr>
          <a:xfrm>
            <a:off x="1600200" y="5760720"/>
            <a:ext cx="9692640" cy="32004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Virtualization, Web Workers, throttling/debouncing.</a:t>
            </a:r>
            <a:endParaRPr lang="en-US" sz="1200" dirty="0"/>
          </a:p>
        </p:txBody>
      </p:sp>
      <p:sp>
        <p:nvSpPr>
          <p:cNvPr id="25" name="Text 1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26" name="Text 1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 / 25</a:t>
            </a:r>
            <a:endParaRPr lang="en-US" sz="9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3">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1</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Measure First</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Optimization without measurement is theater. Pick a tool, get a baseline.</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'no measurement' trap</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Most performance work in 2026 React is on the wrong thing.</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502920" cy="502920"/>
          </a:xfrm>
          <a:prstGeom prst="rect">
            <a:avLst/>
          </a:prstGeom>
        </p:spPr>
      </p:pic>
      <p:sp>
        <p:nvSpPr>
          <p:cNvPr id="7" name="Text 4"/>
          <p:cNvSpPr/>
          <p:nvPr/>
        </p:nvSpPr>
        <p:spPr>
          <a:xfrm>
            <a:off x="1691640" y="178308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Symptom: 'Add useMemo everywhere, just in case'</a:t>
            </a:r>
            <a:endParaRPr lang="en-US" sz="1350" dirty="0"/>
          </a:p>
        </p:txBody>
      </p:sp>
      <p:sp>
        <p:nvSpPr>
          <p:cNvPr id="8" name="Text 5"/>
          <p:cNvSpPr/>
          <p:nvPr/>
        </p:nvSpPr>
        <p:spPr>
          <a:xfrm>
            <a:off x="1691640" y="210312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Memoization without measurement adds bugs and code, not speed. Most components don't need it.</a:t>
            </a:r>
            <a:endParaRPr lang="en-US" sz="1150" dirty="0"/>
          </a:p>
        </p:txBody>
      </p:sp>
      <p:sp>
        <p:nvSpPr>
          <p:cNvPr id="9" name="Shape 6"/>
          <p:cNvSpPr/>
          <p:nvPr/>
        </p:nvSpPr>
        <p:spPr>
          <a:xfrm>
            <a:off x="777240" y="274320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926080"/>
            <a:ext cx="502920" cy="502920"/>
          </a:xfrm>
          <a:prstGeom prst="rect">
            <a:avLst/>
          </a:prstGeom>
        </p:spPr>
      </p:pic>
      <p:sp>
        <p:nvSpPr>
          <p:cNvPr id="11" name="Text 7"/>
          <p:cNvSpPr/>
          <p:nvPr/>
        </p:nvSpPr>
        <p:spPr>
          <a:xfrm>
            <a:off x="1691640" y="283464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Symptom: 'It feels slow'</a:t>
            </a:r>
            <a:endParaRPr lang="en-US" sz="1350" dirty="0"/>
          </a:p>
        </p:txBody>
      </p:sp>
      <p:sp>
        <p:nvSpPr>
          <p:cNvPr id="12" name="Text 8"/>
          <p:cNvSpPr/>
          <p:nvPr/>
        </p:nvSpPr>
        <p:spPr>
          <a:xfrm>
            <a:off x="1691640" y="315468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Without numbers, you can't tell if your fix worked. You're chasing a vibe.</a:t>
            </a:r>
            <a:endParaRPr lang="en-US" sz="1150" dirty="0"/>
          </a:p>
        </p:txBody>
      </p:sp>
      <p:sp>
        <p:nvSpPr>
          <p:cNvPr id="13" name="Shape 9"/>
          <p:cNvSpPr/>
          <p:nvPr/>
        </p:nvSpPr>
        <p:spPr>
          <a:xfrm>
            <a:off x="777240" y="379476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977640"/>
            <a:ext cx="502920" cy="502920"/>
          </a:xfrm>
          <a:prstGeom prst="rect">
            <a:avLst/>
          </a:prstGeom>
        </p:spPr>
      </p:pic>
      <p:sp>
        <p:nvSpPr>
          <p:cNvPr id="15" name="Text 10"/>
          <p:cNvSpPr/>
          <p:nvPr/>
        </p:nvSpPr>
        <p:spPr>
          <a:xfrm>
            <a:off x="1691640" y="388620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Symptom: 'The first thing I tried was code splitting'</a:t>
            </a:r>
            <a:endParaRPr lang="en-US" sz="1350" dirty="0"/>
          </a:p>
        </p:txBody>
      </p:sp>
      <p:sp>
        <p:nvSpPr>
          <p:cNvPr id="16" name="Text 11"/>
          <p:cNvSpPr/>
          <p:nvPr/>
        </p:nvSpPr>
        <p:spPr>
          <a:xfrm>
            <a:off x="1691640" y="420624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If your bottleneck is a render storm, code splitting won't help. Profile first.</a:t>
            </a:r>
            <a:endParaRPr lang="en-US" sz="1150" dirty="0"/>
          </a:p>
        </p:txBody>
      </p:sp>
      <p:sp>
        <p:nvSpPr>
          <p:cNvPr id="17" name="Shape 12"/>
          <p:cNvSpPr/>
          <p:nvPr/>
        </p:nvSpPr>
        <p:spPr>
          <a:xfrm>
            <a:off x="777240" y="484632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5029200"/>
            <a:ext cx="502920" cy="502920"/>
          </a:xfrm>
          <a:prstGeom prst="rect">
            <a:avLst/>
          </a:prstGeom>
        </p:spPr>
      </p:pic>
      <p:sp>
        <p:nvSpPr>
          <p:cNvPr id="19" name="Text 13"/>
          <p:cNvSpPr/>
          <p:nvPr/>
        </p:nvSpPr>
        <p:spPr>
          <a:xfrm>
            <a:off x="1691640" y="493776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Symptom: 'I'll just optimize all the things'</a:t>
            </a:r>
            <a:endParaRPr lang="en-US" sz="1350" dirty="0"/>
          </a:p>
        </p:txBody>
      </p:sp>
      <p:sp>
        <p:nvSpPr>
          <p:cNvPr id="20" name="Text 14"/>
          <p:cNvSpPr/>
          <p:nvPr/>
        </p:nvSpPr>
        <p:spPr>
          <a:xfrm>
            <a:off x="1691640" y="525780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Most components are not the bottleneck. Optimizing 80% of components for 0% gain is what burns weeks.</a:t>
            </a:r>
            <a:endParaRPr lang="en-US" sz="11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4 / 25</a:t>
            </a:r>
            <a:endParaRPr lang="en-US" sz="9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React DevTools profiler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Records render counts and durations. Tells you which components are actually expensive.</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How to use it</a:t>
            </a:r>
            <a:endParaRPr lang="en-US" sz="1400" dirty="0"/>
          </a:p>
        </p:txBody>
      </p:sp>
      <p:sp>
        <p:nvSpPr>
          <p:cNvPr id="6" name="Text 4"/>
          <p:cNvSpPr/>
          <p:nvPr/>
        </p:nvSpPr>
        <p:spPr>
          <a:xfrm>
            <a:off x="777240" y="1920240"/>
            <a:ext cx="5349240" cy="292608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Open the Profiler tab in React DevTools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Click record, interact with your app, click stop</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The flame graph shows render time per component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Sort by 'rendered most' to find re-render storms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Click any bar to see why that component rendered</a:t>
            </a:r>
            <a:endParaRPr lang="en-US" sz="1250" dirty="0"/>
          </a:p>
        </p:txBody>
      </p:sp>
      <p:sp>
        <p:nvSpPr>
          <p:cNvPr id="7" name="Text 5"/>
          <p:cNvSpPr/>
          <p:nvPr/>
        </p:nvSpPr>
        <p:spPr>
          <a:xfrm>
            <a:off x="6355080" y="1554480"/>
            <a:ext cx="5029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What to look for</a:t>
            </a:r>
            <a:endParaRPr lang="en-US" sz="1400" dirty="0"/>
          </a:p>
        </p:txBody>
      </p:sp>
      <p:sp>
        <p:nvSpPr>
          <p:cNvPr id="8" name="Text 6"/>
          <p:cNvSpPr/>
          <p:nvPr/>
        </p:nvSpPr>
        <p:spPr>
          <a:xfrm>
            <a:off x="6355080" y="1920240"/>
            <a:ext cx="5029200" cy="292608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Components rendering on every keystroke</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A component rendering &gt;10× per user action</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Long render durations (&gt;16ms = dropped frame)</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'Why did this render?' showing prop changes you didn't intend</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Unexpected re-renders after the Compiler memoizes</a:t>
            </a:r>
            <a:endParaRPr lang="en-US" sz="125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5 / 25</a:t>
            </a:r>
            <a:endParaRPr lang="en-US" sz="9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Lighthouse + Core Web Vitals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Lighthouse measures the user's experience. Profiler measures your code.</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sp>
        <p:nvSpPr>
          <p:cNvPr id="6" name="Text 4"/>
          <p:cNvSpPr/>
          <p:nvPr/>
        </p:nvSpPr>
        <p:spPr>
          <a:xfrm>
            <a:off x="960120" y="1783080"/>
            <a:ext cx="5029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LCP — Largest Contentful Paint</a:t>
            </a:r>
            <a:endParaRPr lang="en-US" sz="1350" dirty="0"/>
          </a:p>
        </p:txBody>
      </p:sp>
      <p:sp>
        <p:nvSpPr>
          <p:cNvPr id="7" name="Text 5"/>
          <p:cNvSpPr/>
          <p:nvPr/>
        </p:nvSpPr>
        <p:spPr>
          <a:xfrm>
            <a:off x="960120" y="2103120"/>
            <a:ext cx="5029200" cy="365760"/>
          </a:xfrm>
          <a:prstGeom prst="rect">
            <a:avLst/>
          </a:prstGeom>
          <a:noFill/>
          <a:ln/>
        </p:spPr>
        <p:txBody>
          <a:bodyPr wrap="square" lIns="0" tIns="0" rIns="0" bIns="0" rtlCol="0" anchor="ctr"/>
          <a:lstStyle/>
          <a:p>
            <a:pPr indent="0" marL="0">
              <a:buNone/>
            </a:pPr>
            <a:r>
              <a:rPr lang="en-US" sz="1150" i="1" dirty="0">
                <a:solidFill>
                  <a:srgbClr val="00B8D9"/>
                </a:solidFill>
                <a:latin typeface="Courier New" pitchFamily="34" charset="0"/>
                <a:ea typeface="Courier New" pitchFamily="34" charset="-122"/>
                <a:cs typeface="Courier New" pitchFamily="34" charset="-120"/>
              </a:rPr>
              <a:t>good: ≤ 2.5s</a:t>
            </a:r>
            <a:endParaRPr lang="en-US" sz="1150" dirty="0"/>
          </a:p>
        </p:txBody>
      </p:sp>
      <p:sp>
        <p:nvSpPr>
          <p:cNvPr id="8" name="Text 6"/>
          <p:cNvSpPr/>
          <p:nvPr/>
        </p:nvSpPr>
        <p:spPr>
          <a:xfrm>
            <a:off x="6126480" y="1783080"/>
            <a:ext cx="512064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How quickly the main content appears. Server Components and streaming help most.</a:t>
            </a:r>
            <a:endParaRPr lang="en-US" sz="1150" dirty="0"/>
          </a:p>
        </p:txBody>
      </p:sp>
      <p:sp>
        <p:nvSpPr>
          <p:cNvPr id="9" name="Shape 7"/>
          <p:cNvSpPr/>
          <p:nvPr/>
        </p:nvSpPr>
        <p:spPr>
          <a:xfrm>
            <a:off x="777240" y="2743200"/>
            <a:ext cx="10607040" cy="868680"/>
          </a:xfrm>
          <a:prstGeom prst="rect">
            <a:avLst/>
          </a:prstGeom>
          <a:solidFill>
            <a:srgbClr val="FFFFFF"/>
          </a:solidFill>
          <a:ln w="12700">
            <a:solidFill>
              <a:srgbClr val="E2E8F0"/>
            </a:solidFill>
            <a:prstDash val="solid"/>
          </a:ln>
        </p:spPr>
      </p:sp>
      <p:sp>
        <p:nvSpPr>
          <p:cNvPr id="10" name="Text 8"/>
          <p:cNvSpPr/>
          <p:nvPr/>
        </p:nvSpPr>
        <p:spPr>
          <a:xfrm>
            <a:off x="960120" y="2834640"/>
            <a:ext cx="5029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INP — Interaction to Next Paint</a:t>
            </a:r>
            <a:endParaRPr lang="en-US" sz="1350" dirty="0"/>
          </a:p>
        </p:txBody>
      </p:sp>
      <p:sp>
        <p:nvSpPr>
          <p:cNvPr id="11" name="Text 9"/>
          <p:cNvSpPr/>
          <p:nvPr/>
        </p:nvSpPr>
        <p:spPr>
          <a:xfrm>
            <a:off x="960120" y="3154680"/>
            <a:ext cx="5029200" cy="365760"/>
          </a:xfrm>
          <a:prstGeom prst="rect">
            <a:avLst/>
          </a:prstGeom>
          <a:noFill/>
          <a:ln/>
        </p:spPr>
        <p:txBody>
          <a:bodyPr wrap="square" lIns="0" tIns="0" rIns="0" bIns="0" rtlCol="0" anchor="ctr"/>
          <a:lstStyle/>
          <a:p>
            <a:pPr indent="0" marL="0">
              <a:buNone/>
            </a:pPr>
            <a:r>
              <a:rPr lang="en-US" sz="1150" i="1" dirty="0">
                <a:solidFill>
                  <a:srgbClr val="00B8D9"/>
                </a:solidFill>
                <a:latin typeface="Courier New" pitchFamily="34" charset="0"/>
                <a:ea typeface="Courier New" pitchFamily="34" charset="-122"/>
                <a:cs typeface="Courier New" pitchFamily="34" charset="-120"/>
              </a:rPr>
              <a:t>good: ≤ 200ms</a:t>
            </a:r>
            <a:endParaRPr lang="en-US" sz="1150" dirty="0"/>
          </a:p>
        </p:txBody>
      </p:sp>
      <p:sp>
        <p:nvSpPr>
          <p:cNvPr id="12" name="Text 10"/>
          <p:cNvSpPr/>
          <p:nvPr/>
        </p:nvSpPr>
        <p:spPr>
          <a:xfrm>
            <a:off x="6126480" y="2834640"/>
            <a:ext cx="512064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How responsive your app feels. Replaced FID in 2024. Long tasks are the killer.</a:t>
            </a:r>
            <a:endParaRPr lang="en-US" sz="1150" dirty="0"/>
          </a:p>
        </p:txBody>
      </p:sp>
      <p:sp>
        <p:nvSpPr>
          <p:cNvPr id="13" name="Shape 11"/>
          <p:cNvSpPr/>
          <p:nvPr/>
        </p:nvSpPr>
        <p:spPr>
          <a:xfrm>
            <a:off x="777240" y="3794760"/>
            <a:ext cx="10607040" cy="868680"/>
          </a:xfrm>
          <a:prstGeom prst="rect">
            <a:avLst/>
          </a:prstGeom>
          <a:solidFill>
            <a:srgbClr val="FFFFFF"/>
          </a:solidFill>
          <a:ln w="12700">
            <a:solidFill>
              <a:srgbClr val="E2E8F0"/>
            </a:solidFill>
            <a:prstDash val="solid"/>
          </a:ln>
        </p:spPr>
      </p:sp>
      <p:sp>
        <p:nvSpPr>
          <p:cNvPr id="14" name="Text 12"/>
          <p:cNvSpPr/>
          <p:nvPr/>
        </p:nvSpPr>
        <p:spPr>
          <a:xfrm>
            <a:off x="960120" y="3886200"/>
            <a:ext cx="5029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CLS — Cumulative Layout Shift</a:t>
            </a:r>
            <a:endParaRPr lang="en-US" sz="1350" dirty="0"/>
          </a:p>
        </p:txBody>
      </p:sp>
      <p:sp>
        <p:nvSpPr>
          <p:cNvPr id="15" name="Text 13"/>
          <p:cNvSpPr/>
          <p:nvPr/>
        </p:nvSpPr>
        <p:spPr>
          <a:xfrm>
            <a:off x="960120" y="4206240"/>
            <a:ext cx="5029200" cy="365760"/>
          </a:xfrm>
          <a:prstGeom prst="rect">
            <a:avLst/>
          </a:prstGeom>
          <a:noFill/>
          <a:ln/>
        </p:spPr>
        <p:txBody>
          <a:bodyPr wrap="square" lIns="0" tIns="0" rIns="0" bIns="0" rtlCol="0" anchor="ctr"/>
          <a:lstStyle/>
          <a:p>
            <a:pPr indent="0" marL="0">
              <a:buNone/>
            </a:pPr>
            <a:r>
              <a:rPr lang="en-US" sz="1150" i="1" dirty="0">
                <a:solidFill>
                  <a:srgbClr val="00B8D9"/>
                </a:solidFill>
                <a:latin typeface="Courier New" pitchFamily="34" charset="0"/>
                <a:ea typeface="Courier New" pitchFamily="34" charset="-122"/>
                <a:cs typeface="Courier New" pitchFamily="34" charset="-120"/>
              </a:rPr>
              <a:t>good: ≤ 0.1</a:t>
            </a:r>
            <a:endParaRPr lang="en-US" sz="1150" dirty="0"/>
          </a:p>
        </p:txBody>
      </p:sp>
      <p:sp>
        <p:nvSpPr>
          <p:cNvPr id="16" name="Text 14"/>
          <p:cNvSpPr/>
          <p:nvPr/>
        </p:nvSpPr>
        <p:spPr>
          <a:xfrm>
            <a:off x="6126480" y="3886200"/>
            <a:ext cx="512064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How stable the layout is. Skeletons that match real content shape avoid this.</a:t>
            </a:r>
            <a:endParaRPr lang="en-US" sz="1150" dirty="0"/>
          </a:p>
        </p:txBody>
      </p:sp>
      <p:sp>
        <p:nvSpPr>
          <p:cNvPr id="17" name="Shape 15"/>
          <p:cNvSpPr/>
          <p:nvPr/>
        </p:nvSpPr>
        <p:spPr>
          <a:xfrm>
            <a:off x="777240" y="4846320"/>
            <a:ext cx="10607040" cy="868680"/>
          </a:xfrm>
          <a:prstGeom prst="rect">
            <a:avLst/>
          </a:prstGeom>
          <a:solidFill>
            <a:srgbClr val="FFFFFF"/>
          </a:solidFill>
          <a:ln w="12700">
            <a:solidFill>
              <a:srgbClr val="E2E8F0"/>
            </a:solidFill>
            <a:prstDash val="solid"/>
          </a:ln>
        </p:spPr>
      </p:sp>
      <p:sp>
        <p:nvSpPr>
          <p:cNvPr id="18" name="Text 16"/>
          <p:cNvSpPr/>
          <p:nvPr/>
        </p:nvSpPr>
        <p:spPr>
          <a:xfrm>
            <a:off x="960120" y="4937760"/>
            <a:ext cx="5029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TTFB — Time to First Byte</a:t>
            </a:r>
            <a:endParaRPr lang="en-US" sz="1350" dirty="0"/>
          </a:p>
        </p:txBody>
      </p:sp>
      <p:sp>
        <p:nvSpPr>
          <p:cNvPr id="19" name="Text 17"/>
          <p:cNvSpPr/>
          <p:nvPr/>
        </p:nvSpPr>
        <p:spPr>
          <a:xfrm>
            <a:off x="960120" y="5257800"/>
            <a:ext cx="5029200" cy="365760"/>
          </a:xfrm>
          <a:prstGeom prst="rect">
            <a:avLst/>
          </a:prstGeom>
          <a:noFill/>
          <a:ln/>
        </p:spPr>
        <p:txBody>
          <a:bodyPr wrap="square" lIns="0" tIns="0" rIns="0" bIns="0" rtlCol="0" anchor="ctr"/>
          <a:lstStyle/>
          <a:p>
            <a:pPr indent="0" marL="0">
              <a:buNone/>
            </a:pPr>
            <a:r>
              <a:rPr lang="en-US" sz="1150" i="1" dirty="0">
                <a:solidFill>
                  <a:srgbClr val="00B8D9"/>
                </a:solidFill>
                <a:latin typeface="Courier New" pitchFamily="34" charset="0"/>
                <a:ea typeface="Courier New" pitchFamily="34" charset="-122"/>
                <a:cs typeface="Courier New" pitchFamily="34" charset="-120"/>
              </a:rPr>
              <a:t>good: ≤ 800ms</a:t>
            </a:r>
            <a:endParaRPr lang="en-US" sz="1150" dirty="0"/>
          </a:p>
        </p:txBody>
      </p:sp>
      <p:sp>
        <p:nvSpPr>
          <p:cNvPr id="20" name="Text 18"/>
          <p:cNvSpPr/>
          <p:nvPr/>
        </p:nvSpPr>
        <p:spPr>
          <a:xfrm>
            <a:off x="6126480" y="4937760"/>
            <a:ext cx="512064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Server response time. Mostly your backend, but streaming SSR helps.</a:t>
            </a:r>
            <a:endParaRPr lang="en-US" sz="1150" dirty="0"/>
          </a:p>
        </p:txBody>
      </p:sp>
      <p:sp>
        <p:nvSpPr>
          <p:cNvPr id="21" name="Text 1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22" name="Text 2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6 / 25</a:t>
            </a:r>
            <a:endParaRPr lang="en-US" sz="9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7">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2</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The React Compiler</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Auto-memoization. The biggest 2024-to-2026 shift in how we write React.</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 the Compiler does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Reads your component, figures out what's safe to memoize, generates the equivalent code.</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300" b="1" dirty="0">
                <a:solidFill>
                  <a:srgbClr val="D97706"/>
                </a:solidFill>
                <a:latin typeface="Trebuchet MS" pitchFamily="34" charset="0"/>
                <a:ea typeface="Trebuchet MS" pitchFamily="34" charset="-122"/>
                <a:cs typeface="Trebuchet MS" pitchFamily="34" charset="-120"/>
              </a:rPr>
              <a:t>Before — manual</a:t>
            </a:r>
            <a:endParaRPr lang="en-US" sz="1300" dirty="0"/>
          </a:p>
        </p:txBody>
      </p:sp>
      <p:sp>
        <p:nvSpPr>
          <p:cNvPr id="6" name="Shape 4"/>
          <p:cNvSpPr/>
          <p:nvPr/>
        </p:nvSpPr>
        <p:spPr>
          <a:xfrm>
            <a:off x="777240" y="1920240"/>
            <a:ext cx="5349240" cy="3657600"/>
          </a:xfrm>
          <a:prstGeom prst="rect">
            <a:avLst/>
          </a:prstGeom>
          <a:solidFill>
            <a:srgbClr val="1E2A47"/>
          </a:solidFill>
          <a:ln w="12700">
            <a:solidFill>
              <a:srgbClr val="1E2A47"/>
            </a:solidFill>
            <a:prstDash val="solid"/>
          </a:ln>
        </p:spPr>
      </p:sp>
      <p:sp>
        <p:nvSpPr>
          <p:cNvPr id="7" name="Text 5"/>
          <p:cNvSpPr/>
          <p:nvPr/>
        </p:nvSpPr>
        <p:spPr>
          <a:xfrm>
            <a:off x="960120" y="2057400"/>
            <a:ext cx="4983480" cy="3383280"/>
          </a:xfrm>
          <a:prstGeom prst="rect">
            <a:avLst/>
          </a:prstGeom>
          <a:noFill/>
          <a:ln/>
        </p:spPr>
        <p:txBody>
          <a:bodyPr wrap="square" lIns="0" tIns="0" rIns="0" bIns="0" rtlCol="0" anchor="t"/>
          <a:lstStyle/>
          <a:p>
            <a:pPr indent="0" marL="0">
              <a:buNone/>
            </a:pPr>
            <a:r>
              <a:rPr lang="en-US" sz="1200" dirty="0">
                <a:solidFill>
                  <a:srgbClr val="C586C0"/>
                </a:solidFill>
                <a:latin typeface="Courier New" pitchFamily="34" charset="0"/>
                <a:ea typeface="Courier New" pitchFamily="34" charset="-122"/>
                <a:cs typeface="Courier New" pitchFamily="34" charset="-120"/>
              </a:rPr>
              <a:t>function </a:t>
            </a:r>
            <a:pPr indent="0" marL="0">
              <a:buNone/>
            </a:pPr>
            <a:r>
              <a:rPr lang="en-US" sz="1200" dirty="0">
                <a:solidFill>
                  <a:srgbClr val="DCDCAA"/>
                </a:solidFill>
                <a:latin typeface="Courier New" pitchFamily="34" charset="0"/>
                <a:ea typeface="Courier New" pitchFamily="34" charset="-122"/>
                <a:cs typeface="Courier New" pitchFamily="34" charset="-120"/>
              </a:rPr>
              <a:t>List</a:t>
            </a:r>
            <a:pPr indent="0" marL="0">
              <a:buNone/>
            </a:pPr>
            <a:r>
              <a:rPr lang="en-US" sz="1200" dirty="0">
                <a:solidFill>
                  <a:srgbClr val="FFFFFF"/>
                </a:solidFill>
                <a:latin typeface="Courier New" pitchFamily="34" charset="0"/>
                <a:ea typeface="Courier New" pitchFamily="34" charset="-122"/>
                <a:cs typeface="Courier New" pitchFamily="34" charset="-120"/>
              </a:rPr>
              <a:t>({ items, query })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const filtered = </a:t>
            </a:r>
            <a:pPr indent="0" marL="0">
              <a:buNone/>
            </a:pPr>
            <a:r>
              <a:rPr lang="en-US" sz="1200" dirty="0">
                <a:solidFill>
                  <a:srgbClr val="DCDCAA"/>
                </a:solidFill>
                <a:latin typeface="Courier New" pitchFamily="34" charset="0"/>
                <a:ea typeface="Courier New" pitchFamily="34" charset="-122"/>
                <a:cs typeface="Courier New" pitchFamily="34" charset="-120"/>
              </a:rPr>
              <a:t>useMemo</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 =&gt; items.filter(</a:t>
            </a:r>
            <a:pPr indent="0" marL="0">
              <a:buNone/>
            </a:pPr>
            <a:r>
              <a:rPr lang="en-US" sz="1200" dirty="0">
                <a:solidFill>
                  <a:srgbClr val="9CDCFE"/>
                </a:solidFill>
                <a:latin typeface="Courier New" pitchFamily="34" charset="0"/>
                <a:ea typeface="Courier New" pitchFamily="34" charset="-122"/>
                <a:cs typeface="Courier New" pitchFamily="34" charset="-120"/>
              </a:rPr>
              <a:t>i</a:t>
            </a:r>
            <a:pPr indent="0" marL="0">
              <a:buNone/>
            </a:pPr>
            <a:r>
              <a:rPr lang="en-US" sz="1200" dirty="0">
                <a:solidFill>
                  <a:srgbClr val="FFFFFF"/>
                </a:solidFill>
                <a:latin typeface="Courier New" pitchFamily="34" charset="0"/>
                <a:ea typeface="Courier New" pitchFamily="34" charset="-122"/>
                <a:cs typeface="Courier New" pitchFamily="34" charset="-120"/>
              </a:rPr>
              <a:t> =&gt; i.includes(query)),</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[items, query]</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const onClick = </a:t>
            </a:r>
            <a:pPr indent="0" marL="0">
              <a:buNone/>
            </a:pPr>
            <a:r>
              <a:rPr lang="en-US" sz="1200" dirty="0">
                <a:solidFill>
                  <a:srgbClr val="DCDCAA"/>
                </a:solidFill>
                <a:latin typeface="Courier New" pitchFamily="34" charset="0"/>
                <a:ea typeface="Courier New" pitchFamily="34" charset="-122"/>
                <a:cs typeface="Courier New" pitchFamily="34" charset="-120"/>
              </a:rPr>
              <a:t>useCallback</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(e) =&gt; save(e), [save]</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&lt;Items items={filtered} onClick={onClick}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export default </a:t>
            </a:r>
            <a:pPr indent="0" marL="0">
              <a:buNone/>
            </a:pPr>
            <a:r>
              <a:rPr lang="en-US" sz="1200" dirty="0">
                <a:solidFill>
                  <a:srgbClr val="DCDCAA"/>
                </a:solidFill>
                <a:latin typeface="Courier New" pitchFamily="34" charset="0"/>
                <a:ea typeface="Courier New" pitchFamily="34" charset="-122"/>
                <a:cs typeface="Courier New" pitchFamily="34" charset="-120"/>
              </a:rPr>
              <a:t>memo</a:t>
            </a:r>
            <a:pPr indent="0" marL="0">
              <a:buNone/>
            </a:pPr>
            <a:r>
              <a:rPr lang="en-US" sz="1200" dirty="0">
                <a:solidFill>
                  <a:srgbClr val="FFFFFF"/>
                </a:solidFill>
                <a:latin typeface="Courier New" pitchFamily="34" charset="0"/>
                <a:ea typeface="Courier New" pitchFamily="34" charset="-122"/>
                <a:cs typeface="Courier New" pitchFamily="34" charset="-120"/>
              </a:rPr>
              <a:t>(List);</a:t>
            </a:r>
            <a:endParaRPr lang="en-US" sz="1200" dirty="0"/>
          </a:p>
        </p:txBody>
      </p:sp>
      <p:sp>
        <p:nvSpPr>
          <p:cNvPr id="8" name="Text 6"/>
          <p:cNvSpPr/>
          <p:nvPr/>
        </p:nvSpPr>
        <p:spPr>
          <a:xfrm>
            <a:off x="6355080" y="1554480"/>
            <a:ext cx="5029200" cy="365760"/>
          </a:xfrm>
          <a:prstGeom prst="rect">
            <a:avLst/>
          </a:prstGeom>
          <a:noFill/>
          <a:ln/>
        </p:spPr>
        <p:txBody>
          <a:bodyPr wrap="square" lIns="0" tIns="0" rIns="0" bIns="0" rtlCol="0" anchor="ctr"/>
          <a:lstStyle/>
          <a:p>
            <a:pPr indent="0" marL="0">
              <a:buNone/>
            </a:pPr>
            <a:r>
              <a:rPr lang="en-US" sz="1300" b="1" dirty="0">
                <a:solidFill>
                  <a:srgbClr val="059669"/>
                </a:solidFill>
                <a:latin typeface="Trebuchet MS" pitchFamily="34" charset="0"/>
                <a:ea typeface="Trebuchet MS" pitchFamily="34" charset="-122"/>
                <a:cs typeface="Trebuchet MS" pitchFamily="34" charset="-120"/>
              </a:rPr>
              <a:t>After — Compiler enabled</a:t>
            </a:r>
            <a:endParaRPr lang="en-US" sz="1300" dirty="0"/>
          </a:p>
        </p:txBody>
      </p:sp>
      <p:sp>
        <p:nvSpPr>
          <p:cNvPr id="9" name="Shape 7"/>
          <p:cNvSpPr/>
          <p:nvPr/>
        </p:nvSpPr>
        <p:spPr>
          <a:xfrm>
            <a:off x="6355080" y="1920240"/>
            <a:ext cx="5029200" cy="3657600"/>
          </a:xfrm>
          <a:prstGeom prst="rect">
            <a:avLst/>
          </a:prstGeom>
          <a:solidFill>
            <a:srgbClr val="1E2A47"/>
          </a:solidFill>
          <a:ln w="12700">
            <a:solidFill>
              <a:srgbClr val="1E2A47"/>
            </a:solidFill>
            <a:prstDash val="solid"/>
          </a:ln>
        </p:spPr>
      </p:sp>
      <p:sp>
        <p:nvSpPr>
          <p:cNvPr id="10" name="Text 8"/>
          <p:cNvSpPr/>
          <p:nvPr/>
        </p:nvSpPr>
        <p:spPr>
          <a:xfrm>
            <a:off x="6537960" y="2057400"/>
            <a:ext cx="4663440" cy="3383280"/>
          </a:xfrm>
          <a:prstGeom prst="rect">
            <a:avLst/>
          </a:prstGeom>
          <a:noFill/>
          <a:ln/>
        </p:spPr>
        <p:txBody>
          <a:bodyPr wrap="square" lIns="0" tIns="0" rIns="0" bIns="0" rtlCol="0" anchor="t"/>
          <a:lstStyle/>
          <a:p>
            <a:pPr indent="0" marL="0">
              <a:buNone/>
            </a:pPr>
            <a:r>
              <a:rPr lang="en-US" sz="1200" dirty="0">
                <a:solidFill>
                  <a:srgbClr val="C586C0"/>
                </a:solidFill>
                <a:latin typeface="Courier New" pitchFamily="34" charset="0"/>
                <a:ea typeface="Courier New" pitchFamily="34" charset="-122"/>
                <a:cs typeface="Courier New" pitchFamily="34" charset="-120"/>
              </a:rPr>
              <a:t>function </a:t>
            </a:r>
            <a:pPr indent="0" marL="0">
              <a:buNone/>
            </a:pPr>
            <a:r>
              <a:rPr lang="en-US" sz="1200" dirty="0">
                <a:solidFill>
                  <a:srgbClr val="DCDCAA"/>
                </a:solidFill>
                <a:latin typeface="Courier New" pitchFamily="34" charset="0"/>
                <a:ea typeface="Courier New" pitchFamily="34" charset="-122"/>
                <a:cs typeface="Courier New" pitchFamily="34" charset="-120"/>
              </a:rPr>
              <a:t>List</a:t>
            </a:r>
            <a:pPr indent="0" marL="0">
              <a:buNone/>
            </a:pPr>
            <a:r>
              <a:rPr lang="en-US" sz="1200" dirty="0">
                <a:solidFill>
                  <a:srgbClr val="FFFFFF"/>
                </a:solidFill>
                <a:latin typeface="Courier New" pitchFamily="34" charset="0"/>
                <a:ea typeface="Courier New" pitchFamily="34" charset="-122"/>
                <a:cs typeface="Courier New" pitchFamily="34" charset="-120"/>
              </a:rPr>
              <a:t>({ items, query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filtered = items.filter(</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9CDCFE"/>
                </a:solidFill>
                <a:latin typeface="Courier New" pitchFamily="34" charset="0"/>
                <a:ea typeface="Courier New" pitchFamily="34" charset="-122"/>
                <a:cs typeface="Courier New" pitchFamily="34" charset="-120"/>
              </a:rPr>
              <a:t>i</a:t>
            </a:r>
            <a:pPr indent="0" marL="0">
              <a:buNone/>
            </a:pPr>
            <a:r>
              <a:rPr lang="en-US" sz="1200" dirty="0">
                <a:solidFill>
                  <a:srgbClr val="FFFFFF"/>
                </a:solidFill>
                <a:latin typeface="Courier New" pitchFamily="34" charset="0"/>
                <a:ea typeface="Courier New" pitchFamily="34" charset="-122"/>
                <a:cs typeface="Courier New" pitchFamily="34" charset="-120"/>
              </a:rPr>
              <a:t> =&gt; i.includes(query)</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onClick = (e) =&gt; save(e);</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&lt;Items items={filtered} onClick={onClick}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Compiler memoizes equivalently</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export default List;</a:t>
            </a:r>
            <a:endParaRPr lang="en-US" sz="1200" dirty="0"/>
          </a:p>
        </p:txBody>
      </p:sp>
      <p:sp>
        <p:nvSpPr>
          <p:cNvPr id="11"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12"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8 / 25</a:t>
            </a:r>
            <a:endParaRPr lang="en-US" sz="9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 the Compiler doesn't do</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Knowing the limits is what keeps performance work honest.</a:t>
            </a:r>
            <a:endParaRPr lang="en-US" sz="1400" dirty="0"/>
          </a:p>
        </p:txBody>
      </p:sp>
      <p:sp>
        <p:nvSpPr>
          <p:cNvPr id="5" name="Shape 3"/>
          <p:cNvSpPr/>
          <p:nvPr/>
        </p:nvSpPr>
        <p:spPr>
          <a:xfrm>
            <a:off x="777240" y="1691640"/>
            <a:ext cx="10607040" cy="713232"/>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10512"/>
            <a:ext cx="457200" cy="457200"/>
          </a:xfrm>
          <a:prstGeom prst="rect">
            <a:avLst/>
          </a:prstGeom>
        </p:spPr>
      </p:pic>
      <p:sp>
        <p:nvSpPr>
          <p:cNvPr id="7" name="Text 4"/>
          <p:cNvSpPr/>
          <p:nvPr/>
        </p:nvSpPr>
        <p:spPr>
          <a:xfrm>
            <a:off x="1554480" y="1737360"/>
            <a:ext cx="429768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It doesn't fix Rules of Hooks violations</a:t>
            </a:r>
            <a:endParaRPr lang="en-US" sz="1250" dirty="0"/>
          </a:p>
        </p:txBody>
      </p:sp>
      <p:sp>
        <p:nvSpPr>
          <p:cNvPr id="8" name="Text 5"/>
          <p:cNvSpPr/>
          <p:nvPr/>
        </p:nvSpPr>
        <p:spPr>
          <a:xfrm>
            <a:off x="5989320" y="1737360"/>
            <a:ext cx="530352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Same rules as before. Components that violate them bail out — and you get an eslint warning.</a:t>
            </a:r>
            <a:endParaRPr lang="en-US" sz="1150" dirty="0"/>
          </a:p>
        </p:txBody>
      </p:sp>
      <p:sp>
        <p:nvSpPr>
          <p:cNvPr id="9" name="Shape 6"/>
          <p:cNvSpPr/>
          <p:nvPr/>
        </p:nvSpPr>
        <p:spPr>
          <a:xfrm>
            <a:off x="777240" y="2560320"/>
            <a:ext cx="10607040" cy="713232"/>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679192"/>
            <a:ext cx="457200" cy="457200"/>
          </a:xfrm>
          <a:prstGeom prst="rect">
            <a:avLst/>
          </a:prstGeom>
        </p:spPr>
      </p:pic>
      <p:sp>
        <p:nvSpPr>
          <p:cNvPr id="11" name="Text 7"/>
          <p:cNvSpPr/>
          <p:nvPr/>
        </p:nvSpPr>
        <p:spPr>
          <a:xfrm>
            <a:off x="1554480" y="2606040"/>
            <a:ext cx="429768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It doesn't memoize across mutation</a:t>
            </a:r>
            <a:endParaRPr lang="en-US" sz="1250" dirty="0"/>
          </a:p>
        </p:txBody>
      </p:sp>
      <p:sp>
        <p:nvSpPr>
          <p:cNvPr id="12" name="Text 8"/>
          <p:cNvSpPr/>
          <p:nvPr/>
        </p:nvSpPr>
        <p:spPr>
          <a:xfrm>
            <a:off x="5989320" y="2606040"/>
            <a:ext cx="530352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Mutating an object and reusing it still breaks memoization. Use immutable updates.</a:t>
            </a:r>
            <a:endParaRPr lang="en-US" sz="1150" dirty="0"/>
          </a:p>
        </p:txBody>
      </p:sp>
      <p:sp>
        <p:nvSpPr>
          <p:cNvPr id="13" name="Shape 9"/>
          <p:cNvSpPr/>
          <p:nvPr/>
        </p:nvSpPr>
        <p:spPr>
          <a:xfrm>
            <a:off x="777240" y="3429000"/>
            <a:ext cx="10607040" cy="713232"/>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547872"/>
            <a:ext cx="457200" cy="457200"/>
          </a:xfrm>
          <a:prstGeom prst="rect">
            <a:avLst/>
          </a:prstGeom>
        </p:spPr>
      </p:pic>
      <p:sp>
        <p:nvSpPr>
          <p:cNvPr id="15" name="Text 10"/>
          <p:cNvSpPr/>
          <p:nvPr/>
        </p:nvSpPr>
        <p:spPr>
          <a:xfrm>
            <a:off x="1554480" y="3474720"/>
            <a:ext cx="429768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It doesn't replace algorithmic optimization</a:t>
            </a:r>
            <a:endParaRPr lang="en-US" sz="1250" dirty="0"/>
          </a:p>
        </p:txBody>
      </p:sp>
      <p:sp>
        <p:nvSpPr>
          <p:cNvPr id="16" name="Text 11"/>
          <p:cNvSpPr/>
          <p:nvPr/>
        </p:nvSpPr>
        <p:spPr>
          <a:xfrm>
            <a:off x="5989320" y="3474720"/>
            <a:ext cx="530352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An O(n²) filter is still O(n²). Look at the data, not just the renders.</a:t>
            </a:r>
            <a:endParaRPr lang="en-US" sz="1150" dirty="0"/>
          </a:p>
        </p:txBody>
      </p:sp>
      <p:sp>
        <p:nvSpPr>
          <p:cNvPr id="17" name="Shape 12"/>
          <p:cNvSpPr/>
          <p:nvPr/>
        </p:nvSpPr>
        <p:spPr>
          <a:xfrm>
            <a:off x="777240" y="4297680"/>
            <a:ext cx="10607040" cy="713232"/>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4416552"/>
            <a:ext cx="457200" cy="457200"/>
          </a:xfrm>
          <a:prstGeom prst="rect">
            <a:avLst/>
          </a:prstGeom>
        </p:spPr>
      </p:pic>
      <p:sp>
        <p:nvSpPr>
          <p:cNvPr id="19" name="Text 13"/>
          <p:cNvSpPr/>
          <p:nvPr/>
        </p:nvSpPr>
        <p:spPr>
          <a:xfrm>
            <a:off x="1554480" y="4343400"/>
            <a:ext cx="429768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It doesn't help with non-React work</a:t>
            </a:r>
            <a:endParaRPr lang="en-US" sz="1250" dirty="0"/>
          </a:p>
        </p:txBody>
      </p:sp>
      <p:sp>
        <p:nvSpPr>
          <p:cNvPr id="20" name="Text 14"/>
          <p:cNvSpPr/>
          <p:nvPr/>
        </p:nvSpPr>
        <p:spPr>
          <a:xfrm>
            <a:off x="5989320" y="4343400"/>
            <a:ext cx="530352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A 200ms blocking request is still 200ms. Web Workers, Suspense, streaming still apply.</a:t>
            </a:r>
            <a:endParaRPr lang="en-US" sz="1150" dirty="0"/>
          </a:p>
        </p:txBody>
      </p:sp>
      <p:sp>
        <p:nvSpPr>
          <p:cNvPr id="21" name="Shape 15"/>
          <p:cNvSpPr/>
          <p:nvPr/>
        </p:nvSpPr>
        <p:spPr>
          <a:xfrm>
            <a:off x="777240" y="5166360"/>
            <a:ext cx="10607040" cy="713232"/>
          </a:xfrm>
          <a:prstGeom prst="rect">
            <a:avLst/>
          </a:prstGeom>
          <a:solidFill>
            <a:srgbClr val="FFFFFF"/>
          </a:solidFill>
          <a:ln w="12700">
            <a:solidFill>
              <a:srgbClr val="E2E8F0"/>
            </a:solidFill>
            <a:prstDash val="solid"/>
          </a:ln>
        </p:spPr>
      </p:sp>
      <p:pic>
        <p:nvPicPr>
          <p:cNvPr id="22" name="Image 4" descr="preencoded.png">    </p:cNvPr>
          <p:cNvPicPr>
            <a:picLocks noChangeAspect="1"/>
          </p:cNvPicPr>
          <p:nvPr/>
        </p:nvPicPr>
        <p:blipFill>
          <a:blip r:embed="rId5"/>
          <a:stretch>
            <a:fillRect/>
          </a:stretch>
        </p:blipFill>
        <p:spPr>
          <a:xfrm>
            <a:off x="960120" y="5285232"/>
            <a:ext cx="457200" cy="457200"/>
          </a:xfrm>
          <a:prstGeom prst="rect">
            <a:avLst/>
          </a:prstGeom>
        </p:spPr>
      </p:pic>
      <p:sp>
        <p:nvSpPr>
          <p:cNvPr id="23" name="Text 16"/>
          <p:cNvSpPr/>
          <p:nvPr/>
        </p:nvSpPr>
        <p:spPr>
          <a:xfrm>
            <a:off x="1554480" y="5212080"/>
            <a:ext cx="429768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It doesn't make a slow render fast</a:t>
            </a:r>
            <a:endParaRPr lang="en-US" sz="1250" dirty="0"/>
          </a:p>
        </p:txBody>
      </p:sp>
      <p:sp>
        <p:nvSpPr>
          <p:cNvPr id="24" name="Text 17"/>
          <p:cNvSpPr/>
          <p:nvPr/>
        </p:nvSpPr>
        <p:spPr>
          <a:xfrm>
            <a:off x="5989320" y="5212080"/>
            <a:ext cx="530352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If a single render is slow because the work is heavy, memoization caches it but the first run is the same speed.</a:t>
            </a:r>
            <a:endParaRPr lang="en-US" sz="1150" dirty="0"/>
          </a:p>
        </p:txBody>
      </p:sp>
      <p:sp>
        <p:nvSpPr>
          <p:cNvPr id="25" name="Text 1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26" name="Text 1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9 / 25</a:t>
            </a:r>
            <a:endParaRPr lang="en-US" sz="9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Compiler eslint plugin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Tells you which components opted out of memoization. Treat its warnings as bugs.</a:t>
            </a:r>
            <a:endParaRPr lang="en-US" sz="1400" dirty="0"/>
          </a:p>
        </p:txBody>
      </p:sp>
      <p:sp>
        <p:nvSpPr>
          <p:cNvPr id="5" name="Shape 3"/>
          <p:cNvSpPr/>
          <p:nvPr/>
        </p:nvSpPr>
        <p:spPr>
          <a:xfrm>
            <a:off x="777240" y="1554480"/>
            <a:ext cx="10607040" cy="18288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1554480"/>
          </a:xfrm>
          <a:prstGeom prst="rect">
            <a:avLst/>
          </a:prstGeom>
          <a:noFill/>
          <a:ln/>
        </p:spPr>
        <p:txBody>
          <a:bodyPr wrap="square" lIns="0" tIns="0" rIns="0" bIns="0" rtlCol="0" anchor="t"/>
          <a:lstStyle/>
          <a:p>
            <a:pPr indent="0" marL="0">
              <a:buNone/>
            </a:pPr>
            <a:r>
              <a:rPr lang="en-US" sz="1300" i="1" dirty="0">
                <a:solidFill>
                  <a:srgbClr val="6A9955"/>
                </a:solidFill>
                <a:latin typeface="Courier New" pitchFamily="34" charset="0"/>
                <a:ea typeface="Courier New" pitchFamily="34" charset="-122"/>
                <a:cs typeface="Courier New" pitchFamily="34" charset="-120"/>
              </a:rPr>
              <a:t>// .eslintrc.cjs</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module.exports = {</a:t>
            </a:r>
            <a:endParaRPr lang="en-US" sz="1300" dirty="0"/>
          </a:p>
          <a:p>
            <a:pPr indent="0" marL="0">
              <a:buNone/>
            </a:pPr>
            <a:r>
              <a:rPr lang="en-US" sz="1300" dirty="0">
                <a:solidFill>
                  <a:srgbClr val="C586C0"/>
                </a:solidFill>
                <a:latin typeface="Courier New" pitchFamily="34" charset="0"/>
                <a:ea typeface="Courier New" pitchFamily="34" charset="-122"/>
                <a:cs typeface="Courier New" pitchFamily="34" charset="-120"/>
              </a:rPr>
              <a:t>  plugins: [</a:t>
            </a:r>
            <a:pPr indent="0" marL="0">
              <a:buNone/>
            </a:pPr>
            <a:r>
              <a:rPr lang="en-US" sz="1300" dirty="0">
                <a:solidFill>
                  <a:srgbClr val="9CDCFE"/>
                </a:solidFill>
                <a:latin typeface="Courier New" pitchFamily="34" charset="0"/>
                <a:ea typeface="Courier New" pitchFamily="34" charset="-122"/>
                <a:cs typeface="Courier New" pitchFamily="34" charset="-120"/>
              </a:rPr>
              <a:t>'react-compiler'</a:t>
            </a:r>
            <a:pPr indent="0" marL="0">
              <a:buNone/>
            </a:pPr>
            <a:r>
              <a:rPr lang="en-US" sz="1300" dirty="0">
                <a:solidFill>
                  <a:srgbClr val="C586C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rules: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t>
            </a:r>
            <a:pPr indent="0" marL="0">
              <a:buNone/>
            </a:pPr>
            <a:r>
              <a:rPr lang="en-US" sz="1300" dirty="0">
                <a:solidFill>
                  <a:srgbClr val="9CDCFE"/>
                </a:solidFill>
                <a:latin typeface="Courier New" pitchFamily="34" charset="0"/>
                <a:ea typeface="Courier New" pitchFamily="34" charset="-122"/>
                <a:cs typeface="Courier New" pitchFamily="34" charset="-120"/>
              </a:rPr>
              <a:t>'react-compiler/react-compiler'</a:t>
            </a:r>
            <a:pPr indent="0" marL="0">
              <a:buNone/>
            </a:pPr>
            <a:r>
              <a:rPr lang="en-US" sz="1300" dirty="0">
                <a:solidFill>
                  <a:srgbClr val="C586C0"/>
                </a:solidFill>
                <a:latin typeface="Courier New" pitchFamily="34" charset="0"/>
                <a:ea typeface="Courier New" pitchFamily="34" charset="-122"/>
                <a:cs typeface="Courier New" pitchFamily="34" charset="-120"/>
              </a:rPr>
              <a:t>: </a:t>
            </a:r>
            <a:pPr indent="0" marL="0">
              <a:buNone/>
            </a:pPr>
            <a:r>
              <a:rPr lang="en-US" sz="1300" dirty="0">
                <a:solidFill>
                  <a:srgbClr val="9CDCFE"/>
                </a:solidFill>
                <a:latin typeface="Courier New" pitchFamily="34" charset="0"/>
                <a:ea typeface="Courier New" pitchFamily="34" charset="-122"/>
                <a:cs typeface="Courier New" pitchFamily="34" charset="-120"/>
              </a:rPr>
              <a:t>'error'</a:t>
            </a:r>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7" name="Text 5"/>
          <p:cNvSpPr/>
          <p:nvPr/>
        </p:nvSpPr>
        <p:spPr>
          <a:xfrm>
            <a:off x="777240" y="3657600"/>
            <a:ext cx="10607040" cy="36576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Common bail-out causes the lint will flag:</a:t>
            </a:r>
            <a:endParaRPr lang="en-US" sz="1300" dirty="0"/>
          </a:p>
        </p:txBody>
      </p:sp>
      <p:sp>
        <p:nvSpPr>
          <p:cNvPr id="8" name="Text 6"/>
          <p:cNvSpPr/>
          <p:nvPr/>
        </p:nvSpPr>
        <p:spPr>
          <a:xfrm>
            <a:off x="777240" y="4023360"/>
            <a:ext cx="10607040" cy="2286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Mutating values inside the render function</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Calling functions with side effects during render</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Using refs.current.value as if it were reactive</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Conditional hook calls (always a violation, regardless of compiler)</a:t>
            </a:r>
            <a:endParaRPr lang="en-US" sz="125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10 / 25</a:t>
            </a:r>
            <a:endParaRPr lang="en-US" sz="9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When manual memoization still earns its keep</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Edge cases the Compiler won't reach. Reach for hand work only when the data says so.</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502920" cy="502920"/>
          </a:xfrm>
          <a:prstGeom prst="rect">
            <a:avLst/>
          </a:prstGeom>
        </p:spPr>
      </p:pic>
      <p:sp>
        <p:nvSpPr>
          <p:cNvPr id="7" name="Text 4"/>
          <p:cNvSpPr/>
          <p:nvPr/>
        </p:nvSpPr>
        <p:spPr>
          <a:xfrm>
            <a:off x="1691640" y="178308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Truly expensive computations</a:t>
            </a:r>
            <a:endParaRPr lang="en-US" sz="1350" dirty="0"/>
          </a:p>
        </p:txBody>
      </p:sp>
      <p:sp>
        <p:nvSpPr>
          <p:cNvPr id="8" name="Text 5"/>
          <p:cNvSpPr/>
          <p:nvPr/>
        </p:nvSpPr>
        <p:spPr>
          <a:xfrm>
            <a:off x="1691640" y="210312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Image processing, large CSV parses — useMemo prevents redundant work even with the Compiler enabled.</a:t>
            </a:r>
            <a:endParaRPr lang="en-US" sz="1150" dirty="0"/>
          </a:p>
        </p:txBody>
      </p:sp>
      <p:sp>
        <p:nvSpPr>
          <p:cNvPr id="9" name="Shape 6"/>
          <p:cNvSpPr/>
          <p:nvPr/>
        </p:nvSpPr>
        <p:spPr>
          <a:xfrm>
            <a:off x="777240" y="274320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926080"/>
            <a:ext cx="502920" cy="502920"/>
          </a:xfrm>
          <a:prstGeom prst="rect">
            <a:avLst/>
          </a:prstGeom>
        </p:spPr>
      </p:pic>
      <p:sp>
        <p:nvSpPr>
          <p:cNvPr id="11" name="Text 7"/>
          <p:cNvSpPr/>
          <p:nvPr/>
        </p:nvSpPr>
        <p:spPr>
          <a:xfrm>
            <a:off x="1691640" y="283464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Stable references for external libs</a:t>
            </a:r>
            <a:endParaRPr lang="en-US" sz="1350" dirty="0"/>
          </a:p>
        </p:txBody>
      </p:sp>
      <p:sp>
        <p:nvSpPr>
          <p:cNvPr id="12" name="Text 8"/>
          <p:cNvSpPr/>
          <p:nvPr/>
        </p:nvSpPr>
        <p:spPr>
          <a:xfrm>
            <a:off x="1691640" y="315468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Some libraries (D3, charts) misbehave when their props change identity. useCallback gives you that stability.</a:t>
            </a:r>
            <a:endParaRPr lang="en-US" sz="1150" dirty="0"/>
          </a:p>
        </p:txBody>
      </p:sp>
      <p:sp>
        <p:nvSpPr>
          <p:cNvPr id="13" name="Shape 9"/>
          <p:cNvSpPr/>
          <p:nvPr/>
        </p:nvSpPr>
        <p:spPr>
          <a:xfrm>
            <a:off x="777240" y="379476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977640"/>
            <a:ext cx="502920" cy="502920"/>
          </a:xfrm>
          <a:prstGeom prst="rect">
            <a:avLst/>
          </a:prstGeom>
        </p:spPr>
      </p:pic>
      <p:sp>
        <p:nvSpPr>
          <p:cNvPr id="15" name="Text 10"/>
          <p:cNvSpPr/>
          <p:nvPr/>
        </p:nvSpPr>
        <p:spPr>
          <a:xfrm>
            <a:off x="1691640" y="388620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Components that opted out of the Compiler</a:t>
            </a:r>
            <a:endParaRPr lang="en-US" sz="1350" dirty="0"/>
          </a:p>
        </p:txBody>
      </p:sp>
      <p:sp>
        <p:nvSpPr>
          <p:cNvPr id="16" name="Text 11"/>
          <p:cNvSpPr/>
          <p:nvPr/>
        </p:nvSpPr>
        <p:spPr>
          <a:xfrm>
            <a:off x="1691640" y="420624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Legacy code with side effects in render. eslint plugin shows you which.</a:t>
            </a:r>
            <a:endParaRPr lang="en-US" sz="1150" dirty="0"/>
          </a:p>
        </p:txBody>
      </p:sp>
      <p:sp>
        <p:nvSpPr>
          <p:cNvPr id="17" name="Shape 12"/>
          <p:cNvSpPr/>
          <p:nvPr/>
        </p:nvSpPr>
        <p:spPr>
          <a:xfrm>
            <a:off x="777240" y="484632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5029200"/>
            <a:ext cx="502920" cy="502920"/>
          </a:xfrm>
          <a:prstGeom prst="rect">
            <a:avLst/>
          </a:prstGeom>
        </p:spPr>
      </p:pic>
      <p:sp>
        <p:nvSpPr>
          <p:cNvPr id="19" name="Text 13"/>
          <p:cNvSpPr/>
          <p:nvPr/>
        </p:nvSpPr>
        <p:spPr>
          <a:xfrm>
            <a:off x="1691640" y="493776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Object/array deps in useEffect or useMemo</a:t>
            </a:r>
            <a:endParaRPr lang="en-US" sz="1350" dirty="0"/>
          </a:p>
        </p:txBody>
      </p:sp>
      <p:sp>
        <p:nvSpPr>
          <p:cNvPr id="20" name="Text 14"/>
          <p:cNvSpPr/>
          <p:nvPr/>
        </p:nvSpPr>
        <p:spPr>
          <a:xfrm>
            <a:off x="1691640" y="525780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If you derive an object you pass as a dep, you may need useMemo even with the Compiler — depends on your code shape.</a:t>
            </a:r>
            <a:endParaRPr lang="en-US" sz="11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11 / 25</a:t>
            </a:r>
            <a:endParaRPr lang="en-US" sz="9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2">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3</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Code Splitting</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Don't ship code the user won't use. The bundle analyzer is your friend.</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React.lazy + Suspense — the basics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Defer loading a component until it's actually rendered.</a:t>
            </a:r>
            <a:endParaRPr lang="en-US" sz="1400" dirty="0"/>
          </a:p>
        </p:txBody>
      </p:sp>
      <p:sp>
        <p:nvSpPr>
          <p:cNvPr id="5" name="Shape 3"/>
          <p:cNvSpPr/>
          <p:nvPr/>
        </p:nvSpPr>
        <p:spPr>
          <a:xfrm>
            <a:off x="777240" y="1554480"/>
            <a:ext cx="10607040" cy="41148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840480"/>
          </a:xfrm>
          <a:prstGeom prst="rect">
            <a:avLst/>
          </a:prstGeom>
          <a:noFill/>
          <a:ln/>
        </p:spPr>
        <p:txBody>
          <a:bodyPr wrap="square" lIns="0" tIns="0" rIns="0" bIns="0" rtlCol="0" anchor="t"/>
          <a:lstStyle/>
          <a:p>
            <a:pPr indent="0" marL="0">
              <a:buNone/>
            </a:pPr>
            <a:r>
              <a:rPr lang="en-US" sz="1200" dirty="0">
                <a:solidFill>
                  <a:srgbClr val="C586C0"/>
                </a:solidFill>
                <a:latin typeface="Courier New" pitchFamily="34" charset="0"/>
                <a:ea typeface="Courier New" pitchFamily="34" charset="-122"/>
                <a:cs typeface="Courier New" pitchFamily="34" charset="-120"/>
              </a:rPr>
              <a:t>import { lazy, Suspense } from </a:t>
            </a:r>
            <a:pPr indent="0" marL="0">
              <a:buNone/>
            </a:pPr>
            <a:r>
              <a:rPr lang="en-US" sz="1200" dirty="0">
                <a:solidFill>
                  <a:srgbClr val="9CDCFE"/>
                </a:solidFill>
                <a:latin typeface="Courier New" pitchFamily="34" charset="0"/>
                <a:ea typeface="Courier New" pitchFamily="34" charset="-122"/>
                <a:cs typeface="Courier New" pitchFamily="34" charset="-120"/>
              </a:rPr>
              <a:t>'react'</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const Settings = </a:t>
            </a:r>
            <a:pPr indent="0" marL="0">
              <a:buNone/>
            </a:pPr>
            <a:r>
              <a:rPr lang="en-US" sz="1200" dirty="0">
                <a:solidFill>
                  <a:srgbClr val="DCDCAA"/>
                </a:solidFill>
                <a:latin typeface="Courier New" pitchFamily="34" charset="0"/>
                <a:ea typeface="Courier New" pitchFamily="34" charset="-122"/>
                <a:cs typeface="Courier New" pitchFamily="34" charset="-120"/>
              </a:rPr>
              <a:t>lazy</a:t>
            </a:r>
            <a:pPr indent="0" marL="0">
              <a:buNone/>
            </a:pPr>
            <a:r>
              <a:rPr lang="en-US" sz="1200" dirty="0">
                <a:solidFill>
                  <a:srgbClr val="9CDCFE"/>
                </a:solidFill>
                <a:latin typeface="Courier New" pitchFamily="34" charset="0"/>
                <a:ea typeface="Courier New" pitchFamily="34" charset="-122"/>
                <a:cs typeface="Courier New" pitchFamily="34" charset="-120"/>
              </a:rPr>
              <a:t>(() =&gt; import(</a:t>
            </a:r>
            <a:pPr indent="0" marL="0">
              <a:buNone/>
            </a:pPr>
            <a:r>
              <a:rPr lang="en-US" sz="1200" dirty="0">
                <a:solidFill>
                  <a:srgbClr val="9CDCFE"/>
                </a:solidFill>
                <a:latin typeface="Courier New" pitchFamily="34" charset="0"/>
                <a:ea typeface="Courier New" pitchFamily="34" charset="-122"/>
                <a:cs typeface="Courier New" pitchFamily="34" charset="-120"/>
              </a:rPr>
              <a:t>'./Settings'</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function </a:t>
            </a:r>
            <a:pPr indent="0" marL="0">
              <a:buNone/>
            </a:pPr>
            <a:r>
              <a:rPr lang="en-US" sz="1200" dirty="0">
                <a:solidFill>
                  <a:srgbClr val="DCDCAA"/>
                </a:solidFill>
                <a:latin typeface="Courier New" pitchFamily="34" charset="0"/>
                <a:ea typeface="Courier New" pitchFamily="34" charset="-122"/>
                <a:cs typeface="Courier New" pitchFamily="34" charset="-120"/>
              </a:rPr>
              <a:t>App</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[showSettings, setShowSettings] = </a:t>
            </a:r>
            <a:pPr indent="0" marL="0">
              <a:buNone/>
            </a:pPr>
            <a:r>
              <a:rPr lang="en-US" sz="1200" dirty="0">
                <a:solidFill>
                  <a:srgbClr val="DCDCAA"/>
                </a:solidFill>
                <a:latin typeface="Courier New" pitchFamily="34" charset="0"/>
                <a:ea typeface="Courier New" pitchFamily="34" charset="-122"/>
                <a:cs typeface="Courier New" pitchFamily="34" charset="-120"/>
              </a:rPr>
              <a:t>useState</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C586C0"/>
                </a:solidFill>
                <a:latin typeface="Courier New" pitchFamily="34" charset="0"/>
                <a:ea typeface="Courier New" pitchFamily="34" charset="-122"/>
                <a:cs typeface="Courier New" pitchFamily="34" charset="-120"/>
              </a:rPr>
              <a:t>false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&lt;&gt;</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&lt;button onClick={() =&gt; setShowSettings(</a:t>
            </a:r>
            <a:pPr indent="0" marL="0">
              <a:buNone/>
            </a:pPr>
            <a:r>
              <a:rPr lang="en-US" sz="1200" dirty="0">
                <a:solidFill>
                  <a:srgbClr val="C586C0"/>
                </a:solidFill>
                <a:latin typeface="Courier New" pitchFamily="34" charset="0"/>
                <a:ea typeface="Courier New" pitchFamily="34" charset="-122"/>
                <a:cs typeface="Courier New" pitchFamily="34" charset="-120"/>
              </a:rPr>
              <a:t>true</a:t>
            </a:r>
            <a:pPr indent="0" marL="0">
              <a:buNone/>
            </a:pPr>
            <a:r>
              <a:rPr lang="en-US" sz="1200" dirty="0">
                <a:solidFill>
                  <a:srgbClr val="FFFFFF"/>
                </a:solidFill>
                <a:latin typeface="Courier New" pitchFamily="34" charset="0"/>
                <a:ea typeface="Courier New" pitchFamily="34" charset="-122"/>
                <a:cs typeface="Courier New" pitchFamily="34" charset="-120"/>
              </a:rPr>
              <a:t>)}&gt;Open settings&lt;/button&gt;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{showSettings &amp;&amp;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&lt;Suspense fallback={&lt;Spinner /&gt;}&gt;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&lt;Settings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&lt;/Suspense&gt;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&lt;/&gt;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13 / 25</a:t>
            </a:r>
            <a:endParaRPr lang="en-US" sz="9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Where code splitting actually wins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Frameworks split routes for free. Your job is to spot the components inside a route.</a:t>
            </a:r>
            <a:endParaRPr lang="en-US" sz="1400" dirty="0"/>
          </a:p>
        </p:txBody>
      </p:sp>
      <p:sp>
        <p:nvSpPr>
          <p:cNvPr id="5" name="Shape 3"/>
          <p:cNvSpPr/>
          <p:nvPr/>
        </p:nvSpPr>
        <p:spPr>
          <a:xfrm>
            <a:off x="777240" y="1691640"/>
            <a:ext cx="10607040" cy="713232"/>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10512"/>
            <a:ext cx="411480" cy="411480"/>
          </a:xfrm>
          <a:prstGeom prst="rect">
            <a:avLst/>
          </a:prstGeom>
        </p:spPr>
      </p:pic>
      <p:sp>
        <p:nvSpPr>
          <p:cNvPr id="7" name="Text 4"/>
          <p:cNvSpPr/>
          <p:nvPr/>
        </p:nvSpPr>
        <p:spPr>
          <a:xfrm>
            <a:off x="1508760" y="1737360"/>
            <a:ext cx="365760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Routes — usually automatic</a:t>
            </a:r>
            <a:endParaRPr lang="en-US" sz="1250" dirty="0"/>
          </a:p>
        </p:txBody>
      </p:sp>
      <p:sp>
        <p:nvSpPr>
          <p:cNvPr id="8" name="Text 5"/>
          <p:cNvSpPr/>
          <p:nvPr/>
        </p:nvSpPr>
        <p:spPr>
          <a:xfrm>
            <a:off x="5212080" y="1737360"/>
            <a:ext cx="61264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Next.js and RR v7 split per-route by default. Each page is its own chunk.</a:t>
            </a:r>
            <a:endParaRPr lang="en-US" sz="1150" dirty="0"/>
          </a:p>
        </p:txBody>
      </p:sp>
      <p:sp>
        <p:nvSpPr>
          <p:cNvPr id="9" name="Shape 6"/>
          <p:cNvSpPr/>
          <p:nvPr/>
        </p:nvSpPr>
        <p:spPr>
          <a:xfrm>
            <a:off x="777240" y="2560320"/>
            <a:ext cx="10607040" cy="713232"/>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679192"/>
            <a:ext cx="411480" cy="411480"/>
          </a:xfrm>
          <a:prstGeom prst="rect">
            <a:avLst/>
          </a:prstGeom>
        </p:spPr>
      </p:pic>
      <p:sp>
        <p:nvSpPr>
          <p:cNvPr id="11" name="Text 7"/>
          <p:cNvSpPr/>
          <p:nvPr/>
        </p:nvSpPr>
        <p:spPr>
          <a:xfrm>
            <a:off x="1508760" y="2606040"/>
            <a:ext cx="365760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Modal dialogs</a:t>
            </a:r>
            <a:endParaRPr lang="en-US" sz="1250" dirty="0"/>
          </a:p>
        </p:txBody>
      </p:sp>
      <p:sp>
        <p:nvSpPr>
          <p:cNvPr id="12" name="Text 8"/>
          <p:cNvSpPr/>
          <p:nvPr/>
        </p:nvSpPr>
        <p:spPr>
          <a:xfrm>
            <a:off x="5212080" y="2606040"/>
            <a:ext cx="61264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Open by user action, often heavy (rich-text editor, file picker). Lazy-load on first open.</a:t>
            </a:r>
            <a:endParaRPr lang="en-US" sz="1150" dirty="0"/>
          </a:p>
        </p:txBody>
      </p:sp>
      <p:sp>
        <p:nvSpPr>
          <p:cNvPr id="13" name="Shape 9"/>
          <p:cNvSpPr/>
          <p:nvPr/>
        </p:nvSpPr>
        <p:spPr>
          <a:xfrm>
            <a:off x="777240" y="3429000"/>
            <a:ext cx="10607040" cy="713232"/>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547872"/>
            <a:ext cx="411480" cy="411480"/>
          </a:xfrm>
          <a:prstGeom prst="rect">
            <a:avLst/>
          </a:prstGeom>
        </p:spPr>
      </p:pic>
      <p:sp>
        <p:nvSpPr>
          <p:cNvPr id="15" name="Text 10"/>
          <p:cNvSpPr/>
          <p:nvPr/>
        </p:nvSpPr>
        <p:spPr>
          <a:xfrm>
            <a:off x="1508760" y="3474720"/>
            <a:ext cx="365760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Admin or settings panels</a:t>
            </a:r>
            <a:endParaRPr lang="en-US" sz="1250" dirty="0"/>
          </a:p>
        </p:txBody>
      </p:sp>
      <p:sp>
        <p:nvSpPr>
          <p:cNvPr id="16" name="Text 11"/>
          <p:cNvSpPr/>
          <p:nvPr/>
        </p:nvSpPr>
        <p:spPr>
          <a:xfrm>
            <a:off x="5212080" y="3474720"/>
            <a:ext cx="61264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Most users never open them. Don't ship that JS in the main bundle.</a:t>
            </a:r>
            <a:endParaRPr lang="en-US" sz="1150" dirty="0"/>
          </a:p>
        </p:txBody>
      </p:sp>
      <p:sp>
        <p:nvSpPr>
          <p:cNvPr id="17" name="Shape 12"/>
          <p:cNvSpPr/>
          <p:nvPr/>
        </p:nvSpPr>
        <p:spPr>
          <a:xfrm>
            <a:off x="777240" y="4297680"/>
            <a:ext cx="10607040" cy="713232"/>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4416552"/>
            <a:ext cx="411480" cy="411480"/>
          </a:xfrm>
          <a:prstGeom prst="rect">
            <a:avLst/>
          </a:prstGeom>
        </p:spPr>
      </p:pic>
      <p:sp>
        <p:nvSpPr>
          <p:cNvPr id="19" name="Text 13"/>
          <p:cNvSpPr/>
          <p:nvPr/>
        </p:nvSpPr>
        <p:spPr>
          <a:xfrm>
            <a:off x="1508760" y="4343400"/>
            <a:ext cx="365760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Visualization libraries</a:t>
            </a:r>
            <a:endParaRPr lang="en-US" sz="1250" dirty="0"/>
          </a:p>
        </p:txBody>
      </p:sp>
      <p:sp>
        <p:nvSpPr>
          <p:cNvPr id="20" name="Text 14"/>
          <p:cNvSpPr/>
          <p:nvPr/>
        </p:nvSpPr>
        <p:spPr>
          <a:xfrm>
            <a:off x="5212080" y="4343400"/>
            <a:ext cx="61264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Chart.js, D3, Recharts can be 100KB+. Lazy-load the visualization, not the page.</a:t>
            </a:r>
            <a:endParaRPr lang="en-US" sz="1150" dirty="0"/>
          </a:p>
        </p:txBody>
      </p:sp>
      <p:sp>
        <p:nvSpPr>
          <p:cNvPr id="21" name="Shape 15"/>
          <p:cNvSpPr/>
          <p:nvPr/>
        </p:nvSpPr>
        <p:spPr>
          <a:xfrm>
            <a:off x="777240" y="5166360"/>
            <a:ext cx="10607040" cy="713232"/>
          </a:xfrm>
          <a:prstGeom prst="rect">
            <a:avLst/>
          </a:prstGeom>
          <a:solidFill>
            <a:srgbClr val="FFFFFF"/>
          </a:solidFill>
          <a:ln w="12700">
            <a:solidFill>
              <a:srgbClr val="E2E8F0"/>
            </a:solidFill>
            <a:prstDash val="solid"/>
          </a:ln>
        </p:spPr>
      </p:sp>
      <p:pic>
        <p:nvPicPr>
          <p:cNvPr id="22" name="Image 4" descr="preencoded.png">    </p:cNvPr>
          <p:cNvPicPr>
            <a:picLocks noChangeAspect="1"/>
          </p:cNvPicPr>
          <p:nvPr/>
        </p:nvPicPr>
        <p:blipFill>
          <a:blip r:embed="rId5"/>
          <a:stretch>
            <a:fillRect/>
          </a:stretch>
        </p:blipFill>
        <p:spPr>
          <a:xfrm>
            <a:off x="960120" y="5285232"/>
            <a:ext cx="411480" cy="411480"/>
          </a:xfrm>
          <a:prstGeom prst="rect">
            <a:avLst/>
          </a:prstGeom>
        </p:spPr>
      </p:pic>
      <p:sp>
        <p:nvSpPr>
          <p:cNvPr id="23" name="Text 16"/>
          <p:cNvSpPr/>
          <p:nvPr/>
        </p:nvSpPr>
        <p:spPr>
          <a:xfrm>
            <a:off x="1508760" y="5212080"/>
            <a:ext cx="365760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Tiny utilities</a:t>
            </a:r>
            <a:endParaRPr lang="en-US" sz="1250" dirty="0"/>
          </a:p>
        </p:txBody>
      </p:sp>
      <p:sp>
        <p:nvSpPr>
          <p:cNvPr id="24" name="Text 17"/>
          <p:cNvSpPr/>
          <p:nvPr/>
        </p:nvSpPr>
        <p:spPr>
          <a:xfrm>
            <a:off x="5212080" y="5212080"/>
            <a:ext cx="61264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Splitting a 2KB module costs more in network round-trips than it saves.</a:t>
            </a:r>
            <a:endParaRPr lang="en-US" sz="1150" dirty="0"/>
          </a:p>
        </p:txBody>
      </p:sp>
      <p:sp>
        <p:nvSpPr>
          <p:cNvPr id="25" name="Text 1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26" name="Text 1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14 / 25</a:t>
            </a:r>
            <a:endParaRPr lang="en-US" sz="9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5">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4</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Beyond the Render</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Sometimes the bottleneck isn't React — it's the work React is asking the browser to do.</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Virtualization — render only what's visible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Long lists are death. TanStack Virtual renders only the rows in view.</a:t>
            </a:r>
            <a:endParaRPr lang="en-US" sz="1400" dirty="0"/>
          </a:p>
        </p:txBody>
      </p:sp>
      <p:sp>
        <p:nvSpPr>
          <p:cNvPr id="5" name="Shape 3"/>
          <p:cNvSpPr/>
          <p:nvPr/>
        </p:nvSpPr>
        <p:spPr>
          <a:xfrm>
            <a:off x="777240" y="1554480"/>
            <a:ext cx="10607040" cy="41148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840480"/>
          </a:xfrm>
          <a:prstGeom prst="rect">
            <a:avLst/>
          </a:prstGeom>
          <a:noFill/>
          <a:ln/>
        </p:spPr>
        <p:txBody>
          <a:bodyPr wrap="square" lIns="0" tIns="0" rIns="0" bIns="0" rtlCol="0" anchor="t"/>
          <a:lstStyle/>
          <a:p>
            <a:pPr indent="0" marL="0">
              <a:buNone/>
            </a:pPr>
            <a:r>
              <a:rPr lang="en-US" sz="1100" dirty="0">
                <a:solidFill>
                  <a:srgbClr val="C586C0"/>
                </a:solidFill>
                <a:latin typeface="Courier New" pitchFamily="34" charset="0"/>
                <a:ea typeface="Courier New" pitchFamily="34" charset="-122"/>
                <a:cs typeface="Courier New" pitchFamily="34" charset="-120"/>
              </a:rPr>
              <a:t>import { useVirtualizer } from </a:t>
            </a:r>
            <a:pPr indent="0" marL="0">
              <a:buNone/>
            </a:pPr>
            <a:r>
              <a:rPr lang="en-US" sz="1100" dirty="0">
                <a:solidFill>
                  <a:srgbClr val="9CDCFE"/>
                </a:solidFill>
                <a:latin typeface="Courier New" pitchFamily="34" charset="0"/>
                <a:ea typeface="Courier New" pitchFamily="34" charset="-122"/>
                <a:cs typeface="Courier New" pitchFamily="34" charset="-120"/>
              </a:rPr>
              <a:t>'@tanstack/react-virtual'</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function </a:t>
            </a:r>
            <a:pPr indent="0" marL="0">
              <a:buNone/>
            </a:pPr>
            <a:r>
              <a:rPr lang="en-US" sz="1100" dirty="0">
                <a:solidFill>
                  <a:srgbClr val="DCDCAA"/>
                </a:solidFill>
                <a:latin typeface="Courier New" pitchFamily="34" charset="0"/>
                <a:ea typeface="Courier New" pitchFamily="34" charset="-122"/>
                <a:cs typeface="Courier New" pitchFamily="34" charset="-120"/>
              </a:rPr>
              <a:t>BigList</a:t>
            </a:r>
            <a:pPr indent="0" marL="0">
              <a:buNone/>
            </a:pPr>
            <a:r>
              <a:rPr lang="en-US" sz="1100" dirty="0">
                <a:solidFill>
                  <a:srgbClr val="FFFFFF"/>
                </a:solidFill>
                <a:latin typeface="Courier New" pitchFamily="34" charset="0"/>
                <a:ea typeface="Courier New" pitchFamily="34" charset="-122"/>
                <a:cs typeface="Courier New" pitchFamily="34" charset="-120"/>
              </a:rPr>
              <a:t>({ items }) {</a:t>
            </a: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  const parentRef = </a:t>
            </a:r>
            <a:pPr indent="0" marL="0">
              <a:buNone/>
            </a:pPr>
            <a:r>
              <a:rPr lang="en-US" sz="1100" dirty="0">
                <a:solidFill>
                  <a:srgbClr val="DCDCAA"/>
                </a:solidFill>
                <a:latin typeface="Courier New" pitchFamily="34" charset="0"/>
                <a:ea typeface="Courier New" pitchFamily="34" charset="-122"/>
                <a:cs typeface="Courier New" pitchFamily="34" charset="-120"/>
              </a:rPr>
              <a:t>useRef</a:t>
            </a:r>
            <a:pPr indent="0" marL="0">
              <a:buNone/>
            </a:pPr>
            <a:r>
              <a:rPr lang="en-US" sz="1100" dirty="0">
                <a:solidFill>
                  <a:srgbClr val="9CDCFE"/>
                </a:solidFill>
                <a:latin typeface="Courier New" pitchFamily="34" charset="0"/>
                <a:ea typeface="Courier New" pitchFamily="34" charset="-122"/>
                <a:cs typeface="Courier New" pitchFamily="34" charset="-120"/>
              </a:rPr>
              <a:t>(</a:t>
            </a:r>
            <a:pPr indent="0" marL="0">
              <a:buNone/>
            </a:pPr>
            <a:r>
              <a:rPr lang="en-US" sz="1100" dirty="0">
                <a:solidFill>
                  <a:srgbClr val="C586C0"/>
                </a:solidFill>
                <a:latin typeface="Courier New" pitchFamily="34" charset="0"/>
                <a:ea typeface="Courier New" pitchFamily="34" charset="-122"/>
                <a:cs typeface="Courier New" pitchFamily="34" charset="-120"/>
              </a:rPr>
              <a:t>null</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  const virtualizer = </a:t>
            </a:r>
            <a:pPr indent="0" marL="0">
              <a:buNone/>
            </a:pPr>
            <a:r>
              <a:rPr lang="en-US" sz="1100" dirty="0">
                <a:solidFill>
                  <a:srgbClr val="DCDCAA"/>
                </a:solidFill>
                <a:latin typeface="Courier New" pitchFamily="34" charset="0"/>
                <a:ea typeface="Courier New" pitchFamily="34" charset="-122"/>
                <a:cs typeface="Courier New" pitchFamily="34" charset="-120"/>
              </a:rPr>
              <a:t>useVirtualizer</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count: items.length,</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getScrollElement: () =&gt; parentRef.current,</a:t>
            </a:r>
            <a:endParaRPr lang="en-US" sz="1100" dirty="0"/>
          </a:p>
          <a:p>
            <a:pPr indent="0" marL="0">
              <a:buNone/>
            </a:pPr>
            <a:r>
              <a:rPr lang="en-US" sz="1100" dirty="0">
                <a:solidFill>
                  <a:srgbClr val="DCDCAA"/>
                </a:solidFill>
                <a:latin typeface="Courier New" pitchFamily="34" charset="0"/>
                <a:ea typeface="Courier New" pitchFamily="34" charset="-122"/>
                <a:cs typeface="Courier New" pitchFamily="34" charset="-120"/>
              </a:rPr>
              <a:t>    estimateSize: () =&gt; </a:t>
            </a:r>
            <a:pPr indent="0" marL="0">
              <a:buNone/>
            </a:pPr>
            <a:r>
              <a:rPr lang="en-US" sz="1100" dirty="0">
                <a:solidFill>
                  <a:srgbClr val="9CDCFE"/>
                </a:solidFill>
                <a:latin typeface="Courier New" pitchFamily="34" charset="0"/>
                <a:ea typeface="Courier New" pitchFamily="34" charset="-122"/>
                <a:cs typeface="Courier New" pitchFamily="34" charset="-120"/>
              </a:rPr>
              <a:t>44</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indent="0" marL="0">
              <a:buNone/>
            </a:pP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return (</a:t>
            </a:r>
            <a:endParaRPr lang="en-US" sz="1100" dirty="0"/>
          </a:p>
          <a:p>
            <a:pPr indent="0" marL="0">
              <a:buNone/>
            </a:pPr>
            <a:r>
              <a:rPr lang="en-US" sz="1100" dirty="0">
                <a:solidFill>
                  <a:srgbClr val="9CDCFE"/>
                </a:solidFill>
                <a:latin typeface="Courier New" pitchFamily="34" charset="0"/>
                <a:ea typeface="Courier New" pitchFamily="34" charset="-122"/>
                <a:cs typeface="Courier New" pitchFamily="34" charset="-120"/>
              </a:rPr>
              <a:t>    &lt;div ref={parentRef} style={{ height: </a:t>
            </a:r>
            <a:pPr indent="0" marL="0">
              <a:buNone/>
            </a:pPr>
            <a:r>
              <a:rPr lang="en-US" sz="1100" dirty="0">
                <a:solidFill>
                  <a:srgbClr val="9CDCFE"/>
                </a:solidFill>
                <a:latin typeface="Courier New" pitchFamily="34" charset="0"/>
                <a:ea typeface="Courier New" pitchFamily="34" charset="-122"/>
                <a:cs typeface="Courier New" pitchFamily="34" charset="-120"/>
              </a:rPr>
              <a:t>400</a:t>
            </a:r>
            <a:pPr indent="0" marL="0">
              <a:buNone/>
            </a:pPr>
            <a:r>
              <a:rPr lang="en-US" sz="1100" dirty="0">
                <a:solidFill>
                  <a:srgbClr val="9CDCFE"/>
                </a:solidFill>
                <a:latin typeface="Courier New" pitchFamily="34" charset="0"/>
                <a:ea typeface="Courier New" pitchFamily="34" charset="-122"/>
                <a:cs typeface="Courier New" pitchFamily="34" charset="-120"/>
              </a:rPr>
              <a:t>, overflow: </a:t>
            </a:r>
            <a:pPr indent="0" marL="0">
              <a:buNone/>
            </a:pPr>
            <a:r>
              <a:rPr lang="en-US" sz="1100" dirty="0">
                <a:solidFill>
                  <a:srgbClr val="9CDCFE"/>
                </a:solidFill>
                <a:latin typeface="Courier New" pitchFamily="34" charset="0"/>
                <a:ea typeface="Courier New" pitchFamily="34" charset="-122"/>
                <a:cs typeface="Courier New" pitchFamily="34" charset="-120"/>
              </a:rPr>
              <a:t>'auto'</a:t>
            </a:r>
            <a:pPr indent="0" marL="0">
              <a:buNone/>
            </a:pPr>
            <a:r>
              <a:rPr lang="en-US" sz="1100" dirty="0">
                <a:solidFill>
                  <a:srgbClr val="FFFFFF"/>
                </a:solidFill>
                <a:latin typeface="Courier New" pitchFamily="34" charset="0"/>
                <a:ea typeface="Courier New" pitchFamily="34" charset="-122"/>
                <a:cs typeface="Courier New" pitchFamily="34" charset="-120"/>
              </a:rPr>
              <a:t> }}&gt;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&lt;div style={{ height: virtualizer.getTotalSize() }}&gt;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{virtualizer.getVirtualItems().map(({ key, index, start }) =&gt;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&lt;Row key={key} data={items[index]} top={start} /&gt;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&lt;/div&gt;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&lt;/div&gt;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16 / 25</a:t>
            </a:r>
            <a:endParaRPr lang="en-US" sz="9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Web Workers — off the main thread</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If a calculation locks the UI, move it to a worker. The main thread stays responsive.</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Use a worker when:</a:t>
            </a:r>
            <a:endParaRPr lang="en-US" sz="1400" dirty="0"/>
          </a:p>
        </p:txBody>
      </p:sp>
      <p:sp>
        <p:nvSpPr>
          <p:cNvPr id="6" name="Text 4"/>
          <p:cNvSpPr/>
          <p:nvPr/>
        </p:nvSpPr>
        <p:spPr>
          <a:xfrm>
            <a:off x="777240" y="1920240"/>
            <a:ext cx="5349240" cy="27432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A computation takes &gt;50ms and runs frequently</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Parsing large JSON or CSV blobs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Image processing in JS (resize, filter)</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Cryptography (hashing, encrypting client-side data)</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Anything that drops INP below 200ms</a:t>
            </a:r>
            <a:endParaRPr lang="en-US" sz="1250" dirty="0"/>
          </a:p>
        </p:txBody>
      </p:sp>
      <p:sp>
        <p:nvSpPr>
          <p:cNvPr id="7" name="Text 5"/>
          <p:cNvSpPr/>
          <p:nvPr/>
        </p:nvSpPr>
        <p:spPr>
          <a:xfrm>
            <a:off x="6355080" y="1554480"/>
            <a:ext cx="5029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Don't reach for it when:</a:t>
            </a:r>
            <a:endParaRPr lang="en-US" sz="1400" dirty="0"/>
          </a:p>
        </p:txBody>
      </p:sp>
      <p:sp>
        <p:nvSpPr>
          <p:cNvPr id="8" name="Text 6"/>
          <p:cNvSpPr/>
          <p:nvPr/>
        </p:nvSpPr>
        <p:spPr>
          <a:xfrm>
            <a:off x="6355080" y="1920240"/>
            <a:ext cx="5029200" cy="27432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The work is fast (&lt;16ms) — overhead exceeds benefit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The work needs DOM access (workers can't reach it)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The data round-trip dominates the work itself</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Server Components could do it instead — usually they should</a:t>
            </a:r>
            <a:endParaRPr lang="en-US" sz="1250" dirty="0"/>
          </a:p>
        </p:txBody>
      </p:sp>
      <p:sp>
        <p:nvSpPr>
          <p:cNvPr id="9" name="Shape 7"/>
          <p:cNvSpPr/>
          <p:nvPr/>
        </p:nvSpPr>
        <p:spPr>
          <a:xfrm>
            <a:off x="777240" y="5029200"/>
            <a:ext cx="10607040" cy="1097280"/>
          </a:xfrm>
          <a:prstGeom prst="rect">
            <a:avLst/>
          </a:prstGeom>
          <a:solidFill>
            <a:srgbClr val="CBF1F6"/>
          </a:solidFill>
          <a:ln w="12700">
            <a:solidFill>
              <a:srgbClr val="CBF1F6"/>
            </a:solidFill>
            <a:prstDash val="solid"/>
          </a:ln>
        </p:spPr>
      </p:sp>
      <p:pic>
        <p:nvPicPr>
          <p:cNvPr id="10" name="Image 0" descr="preencoded.png">    </p:cNvPr>
          <p:cNvPicPr>
            <a:picLocks noChangeAspect="1"/>
          </p:cNvPicPr>
          <p:nvPr/>
        </p:nvPicPr>
        <p:blipFill>
          <a:blip r:embed="rId1"/>
          <a:stretch>
            <a:fillRect/>
          </a:stretch>
        </p:blipFill>
        <p:spPr>
          <a:xfrm>
            <a:off x="1005840" y="5349240"/>
            <a:ext cx="502920" cy="502920"/>
          </a:xfrm>
          <a:prstGeom prst="rect">
            <a:avLst/>
          </a:prstGeom>
        </p:spPr>
      </p:pic>
      <p:sp>
        <p:nvSpPr>
          <p:cNvPr id="11" name="Text 8"/>
          <p:cNvSpPr/>
          <p:nvPr/>
        </p:nvSpPr>
        <p:spPr>
          <a:xfrm>
            <a:off x="1691640" y="5074920"/>
            <a:ext cx="9601200" cy="1005840"/>
          </a:xfrm>
          <a:prstGeom prst="rect">
            <a:avLst/>
          </a:prstGeom>
          <a:noFill/>
          <a:ln/>
        </p:spPr>
        <p:txBody>
          <a:bodyPr wrap="square" lIns="0" tIns="0" rIns="0" bIns="0" rtlCol="0" anchor="ctr"/>
          <a:lstStyle/>
          <a:p>
            <a:pPr indent="0" marL="0">
              <a:buNone/>
            </a:pPr>
            <a:r>
              <a:rPr lang="en-US" sz="1250" i="1" dirty="0">
                <a:solidFill>
                  <a:srgbClr val="0F172A"/>
                </a:solidFill>
                <a:latin typeface="Arial" pitchFamily="34" charset="0"/>
                <a:ea typeface="Arial" pitchFamily="34" charset="-122"/>
                <a:cs typeface="Arial" pitchFamily="34" charset="-120"/>
              </a:rPr>
              <a:t>Comlink (https://github.com/GoogleChromeLabs/comlink) makes worker messaging feel like async function calls. Strongly recommended over raw postMessage.</a:t>
            </a:r>
            <a:endParaRPr lang="en-US" sz="1250" dirty="0"/>
          </a:p>
        </p:txBody>
      </p:sp>
      <p:sp>
        <p:nvSpPr>
          <p:cNvPr id="12"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13"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17 / 25</a:t>
            </a:r>
            <a:endParaRPr lang="en-US" sz="9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Throttling vs debouncing</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Both limit how often a handler runs. They limit it differently.</a:t>
            </a:r>
            <a:endParaRPr lang="en-US" sz="1400" dirty="0"/>
          </a:p>
        </p:txBody>
      </p:sp>
      <p:sp>
        <p:nvSpPr>
          <p:cNvPr id="5" name="Shape 3"/>
          <p:cNvSpPr/>
          <p:nvPr/>
        </p:nvSpPr>
        <p:spPr>
          <a:xfrm>
            <a:off x="777240" y="1691640"/>
            <a:ext cx="5349240" cy="4297680"/>
          </a:xfrm>
          <a:prstGeom prst="rect">
            <a:avLst/>
          </a:prstGeom>
          <a:solidFill>
            <a:srgbClr val="FFFFFF"/>
          </a:solidFill>
          <a:ln w="12700">
            <a:solidFill>
              <a:srgbClr val="E2E8F0"/>
            </a:solidFill>
            <a:prstDash val="solid"/>
          </a:ln>
        </p:spPr>
      </p:sp>
      <p:sp>
        <p:nvSpPr>
          <p:cNvPr id="6" name="Text 4"/>
          <p:cNvSpPr/>
          <p:nvPr/>
        </p:nvSpPr>
        <p:spPr>
          <a:xfrm>
            <a:off x="960120" y="1874520"/>
            <a:ext cx="5029200" cy="457200"/>
          </a:xfrm>
          <a:prstGeom prst="rect">
            <a:avLst/>
          </a:prstGeom>
          <a:noFill/>
          <a:ln/>
        </p:spPr>
        <p:txBody>
          <a:bodyPr wrap="square" lIns="0" tIns="0" rIns="0" bIns="0" rtlCol="0" anchor="ctr"/>
          <a:lstStyle/>
          <a:p>
            <a:pPr indent="0" marL="0">
              <a:buNone/>
            </a:pPr>
            <a:r>
              <a:rPr lang="en-US" sz="1800" b="1" dirty="0">
                <a:solidFill>
                  <a:srgbClr val="00B8D9"/>
                </a:solidFill>
                <a:latin typeface="Trebuchet MS" pitchFamily="34" charset="0"/>
                <a:ea typeface="Trebuchet MS" pitchFamily="34" charset="-122"/>
                <a:cs typeface="Trebuchet MS" pitchFamily="34" charset="-120"/>
              </a:rPr>
              <a:t>Throttle</a:t>
            </a:r>
            <a:endParaRPr lang="en-US" sz="1800" dirty="0"/>
          </a:p>
        </p:txBody>
      </p:sp>
      <p:sp>
        <p:nvSpPr>
          <p:cNvPr id="7" name="Text 5"/>
          <p:cNvSpPr/>
          <p:nvPr/>
        </p:nvSpPr>
        <p:spPr>
          <a:xfrm>
            <a:off x="960120" y="2468880"/>
            <a:ext cx="4937760" cy="457200"/>
          </a:xfrm>
          <a:prstGeom prst="rect">
            <a:avLst/>
          </a:prstGeom>
          <a:noFill/>
          <a:ln/>
        </p:spPr>
        <p:txBody>
          <a:bodyPr wrap="square" lIns="0" tIns="0" rIns="0" bIns="0" rtlCol="0" anchor="ctr"/>
          <a:lstStyle/>
          <a:p>
            <a:pPr indent="0" marL="0">
              <a:buNone/>
            </a:pPr>
            <a:r>
              <a:rPr lang="en-US" sz="1300" i="1" dirty="0">
                <a:solidFill>
                  <a:srgbClr val="475569"/>
                </a:solidFill>
                <a:latin typeface="Arial" pitchFamily="34" charset="0"/>
                <a:ea typeface="Arial" pitchFamily="34" charset="-122"/>
                <a:cs typeface="Arial" pitchFamily="34" charset="-120"/>
              </a:rPr>
              <a:t>Run AT MOST every N ms.</a:t>
            </a:r>
            <a:endParaRPr lang="en-US" sz="1300" dirty="0"/>
          </a:p>
        </p:txBody>
      </p:sp>
      <p:sp>
        <p:nvSpPr>
          <p:cNvPr id="8" name="Text 6"/>
          <p:cNvSpPr/>
          <p:nvPr/>
        </p:nvSpPr>
        <p:spPr>
          <a:xfrm>
            <a:off x="960120" y="3063240"/>
            <a:ext cx="4937760" cy="2743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Use for continuous events you want sampled regularly</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Scroll handlers (sticky header, infinite scroll trigger)</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Mousemove handlers (drag tracking)</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Resize handlers</a:t>
            </a:r>
            <a:endParaRPr lang="en-US" sz="1200" dirty="0"/>
          </a:p>
        </p:txBody>
      </p:sp>
      <p:sp>
        <p:nvSpPr>
          <p:cNvPr id="9" name="Shape 7"/>
          <p:cNvSpPr/>
          <p:nvPr/>
        </p:nvSpPr>
        <p:spPr>
          <a:xfrm>
            <a:off x="6355080" y="1691640"/>
            <a:ext cx="5029200" cy="4297680"/>
          </a:xfrm>
          <a:prstGeom prst="rect">
            <a:avLst/>
          </a:prstGeom>
          <a:solidFill>
            <a:srgbClr val="FFFFFF"/>
          </a:solidFill>
          <a:ln w="12700">
            <a:solidFill>
              <a:srgbClr val="E2E8F0"/>
            </a:solidFill>
            <a:prstDash val="solid"/>
          </a:ln>
        </p:spPr>
      </p:sp>
      <p:sp>
        <p:nvSpPr>
          <p:cNvPr id="10" name="Text 8"/>
          <p:cNvSpPr/>
          <p:nvPr/>
        </p:nvSpPr>
        <p:spPr>
          <a:xfrm>
            <a:off x="6537960" y="1874520"/>
            <a:ext cx="4754880" cy="457200"/>
          </a:xfrm>
          <a:prstGeom prst="rect">
            <a:avLst/>
          </a:prstGeom>
          <a:noFill/>
          <a:ln/>
        </p:spPr>
        <p:txBody>
          <a:bodyPr wrap="square" lIns="0" tIns="0" rIns="0" bIns="0" rtlCol="0" anchor="ctr"/>
          <a:lstStyle/>
          <a:p>
            <a:pPr indent="0" marL="0">
              <a:buNone/>
            </a:pPr>
            <a:r>
              <a:rPr lang="en-US" sz="1800" b="1" dirty="0">
                <a:solidFill>
                  <a:srgbClr val="00B8D9"/>
                </a:solidFill>
                <a:latin typeface="Trebuchet MS" pitchFamily="34" charset="0"/>
                <a:ea typeface="Trebuchet MS" pitchFamily="34" charset="-122"/>
                <a:cs typeface="Trebuchet MS" pitchFamily="34" charset="-120"/>
              </a:rPr>
              <a:t>Debounce</a:t>
            </a:r>
            <a:endParaRPr lang="en-US" sz="1800" dirty="0"/>
          </a:p>
        </p:txBody>
      </p:sp>
      <p:sp>
        <p:nvSpPr>
          <p:cNvPr id="11" name="Text 9"/>
          <p:cNvSpPr/>
          <p:nvPr/>
        </p:nvSpPr>
        <p:spPr>
          <a:xfrm>
            <a:off x="6537960" y="2468880"/>
            <a:ext cx="4663440" cy="457200"/>
          </a:xfrm>
          <a:prstGeom prst="rect">
            <a:avLst/>
          </a:prstGeom>
          <a:noFill/>
          <a:ln/>
        </p:spPr>
        <p:txBody>
          <a:bodyPr wrap="square" lIns="0" tIns="0" rIns="0" bIns="0" rtlCol="0" anchor="ctr"/>
          <a:lstStyle/>
          <a:p>
            <a:pPr indent="0" marL="0">
              <a:buNone/>
            </a:pPr>
            <a:r>
              <a:rPr lang="en-US" sz="1300" i="1" dirty="0">
                <a:solidFill>
                  <a:srgbClr val="475569"/>
                </a:solidFill>
                <a:latin typeface="Arial" pitchFamily="34" charset="0"/>
                <a:ea typeface="Arial" pitchFamily="34" charset="-122"/>
                <a:cs typeface="Arial" pitchFamily="34" charset="-120"/>
              </a:rPr>
              <a:t>Run ONCE after N ms of quiet.</a:t>
            </a:r>
            <a:endParaRPr lang="en-US" sz="1300" dirty="0"/>
          </a:p>
        </p:txBody>
      </p:sp>
      <p:sp>
        <p:nvSpPr>
          <p:cNvPr id="12" name="Text 10"/>
          <p:cNvSpPr/>
          <p:nvPr/>
        </p:nvSpPr>
        <p:spPr>
          <a:xfrm>
            <a:off x="6537960" y="3063240"/>
            <a:ext cx="4663440" cy="2743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Use when you only care about the final state</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Search-as-you-type (fire after typing stops)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Auto-save (after the user stops editing)</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Form validation (after the user pauses input)</a:t>
            </a:r>
            <a:endParaRPr lang="en-US" sz="1200" dirty="0"/>
          </a:p>
        </p:txBody>
      </p:sp>
      <p:sp>
        <p:nvSpPr>
          <p:cNvPr id="13" name="Text 1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14" name="Text 1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18 / 25</a:t>
            </a:r>
            <a:endParaRPr lang="en-US" sz="9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5</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Putting it Together</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A decision flow. AI mistakes. Then the lab.</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Performance decision flow</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Five questions, in order.</a:t>
            </a:r>
            <a:endParaRPr lang="en-US" sz="1400" dirty="0"/>
          </a:p>
        </p:txBody>
      </p:sp>
      <p:sp>
        <p:nvSpPr>
          <p:cNvPr id="5" name="Shape 3"/>
          <p:cNvSpPr/>
          <p:nvPr/>
        </p:nvSpPr>
        <p:spPr>
          <a:xfrm>
            <a:off x="777240" y="1691640"/>
            <a:ext cx="10607040" cy="713232"/>
          </a:xfrm>
          <a:prstGeom prst="rect">
            <a:avLst/>
          </a:prstGeom>
          <a:solidFill>
            <a:srgbClr val="FFFFFF"/>
          </a:solidFill>
          <a:ln w="12700">
            <a:solidFill>
              <a:srgbClr val="E2E8F0"/>
            </a:solidFill>
            <a:prstDash val="solid"/>
          </a:ln>
        </p:spPr>
      </p:sp>
      <p:sp>
        <p:nvSpPr>
          <p:cNvPr id="6" name="Shape 4"/>
          <p:cNvSpPr/>
          <p:nvPr/>
        </p:nvSpPr>
        <p:spPr>
          <a:xfrm>
            <a:off x="960120" y="1856232"/>
            <a:ext cx="411480" cy="411480"/>
          </a:xfrm>
          <a:prstGeom prst="ellipse">
            <a:avLst/>
          </a:prstGeom>
          <a:solidFill>
            <a:srgbClr val="00B8D9"/>
          </a:solidFill>
          <a:ln w="12700">
            <a:solidFill>
              <a:srgbClr val="00B8D9"/>
            </a:solidFill>
            <a:prstDash val="solid"/>
          </a:ln>
        </p:spPr>
      </p:sp>
      <p:sp>
        <p:nvSpPr>
          <p:cNvPr id="7" name="Text 5"/>
          <p:cNvSpPr/>
          <p:nvPr/>
        </p:nvSpPr>
        <p:spPr>
          <a:xfrm>
            <a:off x="960120" y="185623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8" name="Text 6"/>
          <p:cNvSpPr/>
          <p:nvPr/>
        </p:nvSpPr>
        <p:spPr>
          <a:xfrm>
            <a:off x="1508760" y="1737360"/>
            <a:ext cx="4114800" cy="640080"/>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Did you measure?</a:t>
            </a:r>
            <a:endParaRPr lang="en-US" sz="1250" dirty="0"/>
          </a:p>
        </p:txBody>
      </p:sp>
      <p:sp>
        <p:nvSpPr>
          <p:cNvPr id="9" name="Text 7"/>
          <p:cNvSpPr/>
          <p:nvPr/>
        </p:nvSpPr>
        <p:spPr>
          <a:xfrm>
            <a:off x="5715000" y="1737360"/>
            <a:ext cx="5577840" cy="640080"/>
          </a:xfrm>
          <a:prstGeom prst="rect">
            <a:avLst/>
          </a:prstGeom>
          <a:noFill/>
          <a:ln/>
        </p:spPr>
        <p:txBody>
          <a:bodyPr wrap="square" lIns="0" tIns="0" rIns="0" bIns="0" rtlCol="0" anchor="ctr"/>
          <a:lstStyle/>
          <a:p>
            <a:pPr indent="0" marL="0">
              <a:buNone/>
            </a:pPr>
            <a:r>
              <a:rPr lang="en-US" sz="1150" i="1" dirty="0">
                <a:solidFill>
                  <a:srgbClr val="475569"/>
                </a:solidFill>
                <a:latin typeface="Arial" pitchFamily="34" charset="0"/>
                <a:ea typeface="Arial" pitchFamily="34" charset="-122"/>
                <a:cs typeface="Arial" pitchFamily="34" charset="-120"/>
              </a:rPr>
              <a:t>If no — go measure. Profiler + Lighthouse first.</a:t>
            </a:r>
            <a:endParaRPr lang="en-US" sz="1150" dirty="0"/>
          </a:p>
        </p:txBody>
      </p:sp>
      <p:sp>
        <p:nvSpPr>
          <p:cNvPr id="10" name="Shape 8"/>
          <p:cNvSpPr/>
          <p:nvPr/>
        </p:nvSpPr>
        <p:spPr>
          <a:xfrm>
            <a:off x="777240" y="2560320"/>
            <a:ext cx="10607040" cy="713232"/>
          </a:xfrm>
          <a:prstGeom prst="rect">
            <a:avLst/>
          </a:prstGeom>
          <a:solidFill>
            <a:srgbClr val="FFFFFF"/>
          </a:solidFill>
          <a:ln w="12700">
            <a:solidFill>
              <a:srgbClr val="E2E8F0"/>
            </a:solidFill>
            <a:prstDash val="solid"/>
          </a:ln>
        </p:spPr>
      </p:sp>
      <p:sp>
        <p:nvSpPr>
          <p:cNvPr id="11" name="Shape 9"/>
          <p:cNvSpPr/>
          <p:nvPr/>
        </p:nvSpPr>
        <p:spPr>
          <a:xfrm>
            <a:off x="960120" y="2724912"/>
            <a:ext cx="411480" cy="411480"/>
          </a:xfrm>
          <a:prstGeom prst="ellipse">
            <a:avLst/>
          </a:prstGeom>
          <a:solidFill>
            <a:srgbClr val="00B8D9"/>
          </a:solidFill>
          <a:ln w="12700">
            <a:solidFill>
              <a:srgbClr val="00B8D9"/>
            </a:solidFill>
            <a:prstDash val="solid"/>
          </a:ln>
        </p:spPr>
      </p:sp>
      <p:sp>
        <p:nvSpPr>
          <p:cNvPr id="12" name="Text 10"/>
          <p:cNvSpPr/>
          <p:nvPr/>
        </p:nvSpPr>
        <p:spPr>
          <a:xfrm>
            <a:off x="960120" y="27249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3" name="Text 11"/>
          <p:cNvSpPr/>
          <p:nvPr/>
        </p:nvSpPr>
        <p:spPr>
          <a:xfrm>
            <a:off x="1508760" y="2606040"/>
            <a:ext cx="4114800" cy="640080"/>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Is the bundle bloated?</a:t>
            </a:r>
            <a:endParaRPr lang="en-US" sz="1250" dirty="0"/>
          </a:p>
        </p:txBody>
      </p:sp>
      <p:sp>
        <p:nvSpPr>
          <p:cNvPr id="14" name="Text 12"/>
          <p:cNvSpPr/>
          <p:nvPr/>
        </p:nvSpPr>
        <p:spPr>
          <a:xfrm>
            <a:off x="5715000" y="2606040"/>
            <a:ext cx="5577840" cy="640080"/>
          </a:xfrm>
          <a:prstGeom prst="rect">
            <a:avLst/>
          </a:prstGeom>
          <a:noFill/>
          <a:ln/>
        </p:spPr>
        <p:txBody>
          <a:bodyPr wrap="square" lIns="0" tIns="0" rIns="0" bIns="0" rtlCol="0" anchor="ctr"/>
          <a:lstStyle/>
          <a:p>
            <a:pPr indent="0" marL="0">
              <a:buNone/>
            </a:pPr>
            <a:r>
              <a:rPr lang="en-US" sz="1150" i="1" dirty="0">
                <a:solidFill>
                  <a:srgbClr val="475569"/>
                </a:solidFill>
                <a:latin typeface="Arial" pitchFamily="34" charset="0"/>
                <a:ea typeface="Arial" pitchFamily="34" charset="-122"/>
                <a:cs typeface="Arial" pitchFamily="34" charset="-120"/>
              </a:rPr>
              <a:t>Yes → code splitting. React.lazy + Suspense around big modules.</a:t>
            </a:r>
            <a:endParaRPr lang="en-US" sz="1150" dirty="0"/>
          </a:p>
        </p:txBody>
      </p:sp>
      <p:sp>
        <p:nvSpPr>
          <p:cNvPr id="15" name="Shape 13"/>
          <p:cNvSpPr/>
          <p:nvPr/>
        </p:nvSpPr>
        <p:spPr>
          <a:xfrm>
            <a:off x="777240" y="3429000"/>
            <a:ext cx="10607040" cy="713232"/>
          </a:xfrm>
          <a:prstGeom prst="rect">
            <a:avLst/>
          </a:prstGeom>
          <a:solidFill>
            <a:srgbClr val="FFFFFF"/>
          </a:solidFill>
          <a:ln w="12700">
            <a:solidFill>
              <a:srgbClr val="E2E8F0"/>
            </a:solidFill>
            <a:prstDash val="solid"/>
          </a:ln>
        </p:spPr>
      </p:sp>
      <p:sp>
        <p:nvSpPr>
          <p:cNvPr id="16" name="Shape 14"/>
          <p:cNvSpPr/>
          <p:nvPr/>
        </p:nvSpPr>
        <p:spPr>
          <a:xfrm>
            <a:off x="960120" y="3593592"/>
            <a:ext cx="411480" cy="411480"/>
          </a:xfrm>
          <a:prstGeom prst="ellipse">
            <a:avLst/>
          </a:prstGeom>
          <a:solidFill>
            <a:srgbClr val="00B8D9"/>
          </a:solidFill>
          <a:ln w="12700">
            <a:solidFill>
              <a:srgbClr val="00B8D9"/>
            </a:solidFill>
            <a:prstDash val="solid"/>
          </a:ln>
        </p:spPr>
      </p:sp>
      <p:sp>
        <p:nvSpPr>
          <p:cNvPr id="17" name="Text 15"/>
          <p:cNvSpPr/>
          <p:nvPr/>
        </p:nvSpPr>
        <p:spPr>
          <a:xfrm>
            <a:off x="960120" y="359359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18" name="Text 16"/>
          <p:cNvSpPr/>
          <p:nvPr/>
        </p:nvSpPr>
        <p:spPr>
          <a:xfrm>
            <a:off x="1508760" y="3474720"/>
            <a:ext cx="4114800" cy="640080"/>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Is a single component re-rendering too much?</a:t>
            </a:r>
            <a:endParaRPr lang="en-US" sz="1250" dirty="0"/>
          </a:p>
        </p:txBody>
      </p:sp>
      <p:sp>
        <p:nvSpPr>
          <p:cNvPr id="19" name="Text 17"/>
          <p:cNvSpPr/>
          <p:nvPr/>
        </p:nvSpPr>
        <p:spPr>
          <a:xfrm>
            <a:off x="5715000" y="3474720"/>
            <a:ext cx="5577840" cy="640080"/>
          </a:xfrm>
          <a:prstGeom prst="rect">
            <a:avLst/>
          </a:prstGeom>
          <a:noFill/>
          <a:ln/>
        </p:spPr>
        <p:txBody>
          <a:bodyPr wrap="square" lIns="0" tIns="0" rIns="0" bIns="0" rtlCol="0" anchor="ctr"/>
          <a:lstStyle/>
          <a:p>
            <a:pPr indent="0" marL="0">
              <a:buNone/>
            </a:pPr>
            <a:r>
              <a:rPr lang="en-US" sz="1150" i="1" dirty="0">
                <a:solidFill>
                  <a:srgbClr val="475569"/>
                </a:solidFill>
                <a:latin typeface="Arial" pitchFamily="34" charset="0"/>
                <a:ea typeface="Arial" pitchFamily="34" charset="-122"/>
                <a:cs typeface="Arial" pitchFamily="34" charset="-120"/>
              </a:rPr>
              <a:t>Profile says so → check the Compiler eslint output. Manual memo only if needed.</a:t>
            </a:r>
            <a:endParaRPr lang="en-US" sz="1150" dirty="0"/>
          </a:p>
        </p:txBody>
      </p:sp>
      <p:sp>
        <p:nvSpPr>
          <p:cNvPr id="20" name="Shape 18"/>
          <p:cNvSpPr/>
          <p:nvPr/>
        </p:nvSpPr>
        <p:spPr>
          <a:xfrm>
            <a:off x="777240" y="4297680"/>
            <a:ext cx="10607040" cy="713232"/>
          </a:xfrm>
          <a:prstGeom prst="rect">
            <a:avLst/>
          </a:prstGeom>
          <a:solidFill>
            <a:srgbClr val="FFFFFF"/>
          </a:solidFill>
          <a:ln w="12700">
            <a:solidFill>
              <a:srgbClr val="E2E8F0"/>
            </a:solidFill>
            <a:prstDash val="solid"/>
          </a:ln>
        </p:spPr>
      </p:sp>
      <p:sp>
        <p:nvSpPr>
          <p:cNvPr id="21" name="Shape 19"/>
          <p:cNvSpPr/>
          <p:nvPr/>
        </p:nvSpPr>
        <p:spPr>
          <a:xfrm>
            <a:off x="960120" y="4462272"/>
            <a:ext cx="411480" cy="411480"/>
          </a:xfrm>
          <a:prstGeom prst="ellipse">
            <a:avLst/>
          </a:prstGeom>
          <a:solidFill>
            <a:srgbClr val="00B8D9"/>
          </a:solidFill>
          <a:ln w="12700">
            <a:solidFill>
              <a:srgbClr val="00B8D9"/>
            </a:solidFill>
            <a:prstDash val="solid"/>
          </a:ln>
        </p:spPr>
      </p:sp>
      <p:sp>
        <p:nvSpPr>
          <p:cNvPr id="22" name="Text 20"/>
          <p:cNvSpPr/>
          <p:nvPr/>
        </p:nvSpPr>
        <p:spPr>
          <a:xfrm>
            <a:off x="960120" y="446227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23" name="Text 21"/>
          <p:cNvSpPr/>
          <p:nvPr/>
        </p:nvSpPr>
        <p:spPr>
          <a:xfrm>
            <a:off x="1508760" y="4343400"/>
            <a:ext cx="4114800" cy="640080"/>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Is the list long?</a:t>
            </a:r>
            <a:endParaRPr lang="en-US" sz="1250" dirty="0"/>
          </a:p>
        </p:txBody>
      </p:sp>
      <p:sp>
        <p:nvSpPr>
          <p:cNvPr id="24" name="Text 22"/>
          <p:cNvSpPr/>
          <p:nvPr/>
        </p:nvSpPr>
        <p:spPr>
          <a:xfrm>
            <a:off x="5715000" y="4343400"/>
            <a:ext cx="5577840" cy="640080"/>
          </a:xfrm>
          <a:prstGeom prst="rect">
            <a:avLst/>
          </a:prstGeom>
          <a:noFill/>
          <a:ln/>
        </p:spPr>
        <p:txBody>
          <a:bodyPr wrap="square" lIns="0" tIns="0" rIns="0" bIns="0" rtlCol="0" anchor="ctr"/>
          <a:lstStyle/>
          <a:p>
            <a:pPr indent="0" marL="0">
              <a:buNone/>
            </a:pPr>
            <a:r>
              <a:rPr lang="en-US" sz="1150" i="1" dirty="0">
                <a:solidFill>
                  <a:srgbClr val="475569"/>
                </a:solidFill>
                <a:latin typeface="Arial" pitchFamily="34" charset="0"/>
                <a:ea typeface="Arial" pitchFamily="34" charset="-122"/>
                <a:cs typeface="Arial" pitchFamily="34" charset="-120"/>
              </a:rPr>
              <a:t>100+ items → virtualize. TanStack Virtual is the go-to.</a:t>
            </a:r>
            <a:endParaRPr lang="en-US" sz="1150" dirty="0"/>
          </a:p>
        </p:txBody>
      </p:sp>
      <p:sp>
        <p:nvSpPr>
          <p:cNvPr id="25" name="Shape 23"/>
          <p:cNvSpPr/>
          <p:nvPr/>
        </p:nvSpPr>
        <p:spPr>
          <a:xfrm>
            <a:off x="777240" y="5166360"/>
            <a:ext cx="10607040" cy="713232"/>
          </a:xfrm>
          <a:prstGeom prst="rect">
            <a:avLst/>
          </a:prstGeom>
          <a:solidFill>
            <a:srgbClr val="FFFFFF"/>
          </a:solidFill>
          <a:ln w="12700">
            <a:solidFill>
              <a:srgbClr val="E2E8F0"/>
            </a:solidFill>
            <a:prstDash val="solid"/>
          </a:ln>
        </p:spPr>
      </p:sp>
      <p:sp>
        <p:nvSpPr>
          <p:cNvPr id="26" name="Shape 24"/>
          <p:cNvSpPr/>
          <p:nvPr/>
        </p:nvSpPr>
        <p:spPr>
          <a:xfrm>
            <a:off x="960120" y="5330952"/>
            <a:ext cx="411480" cy="411480"/>
          </a:xfrm>
          <a:prstGeom prst="ellipse">
            <a:avLst/>
          </a:prstGeom>
          <a:solidFill>
            <a:srgbClr val="00B8D9"/>
          </a:solidFill>
          <a:ln w="12700">
            <a:solidFill>
              <a:srgbClr val="00B8D9"/>
            </a:solidFill>
            <a:prstDash val="solid"/>
          </a:ln>
        </p:spPr>
      </p:sp>
      <p:sp>
        <p:nvSpPr>
          <p:cNvPr id="27" name="Text 25"/>
          <p:cNvSpPr/>
          <p:nvPr/>
        </p:nvSpPr>
        <p:spPr>
          <a:xfrm>
            <a:off x="960120" y="533095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5</a:t>
            </a:r>
            <a:endParaRPr lang="en-US" sz="1400" dirty="0"/>
          </a:p>
        </p:txBody>
      </p:sp>
      <p:sp>
        <p:nvSpPr>
          <p:cNvPr id="28" name="Text 26"/>
          <p:cNvSpPr/>
          <p:nvPr/>
        </p:nvSpPr>
        <p:spPr>
          <a:xfrm>
            <a:off x="1508760" y="5212080"/>
            <a:ext cx="4114800" cy="640080"/>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Is a calculation blocking the main thread?</a:t>
            </a:r>
            <a:endParaRPr lang="en-US" sz="1250" dirty="0"/>
          </a:p>
        </p:txBody>
      </p:sp>
      <p:sp>
        <p:nvSpPr>
          <p:cNvPr id="29" name="Text 27"/>
          <p:cNvSpPr/>
          <p:nvPr/>
        </p:nvSpPr>
        <p:spPr>
          <a:xfrm>
            <a:off x="5715000" y="5212080"/>
            <a:ext cx="5577840" cy="640080"/>
          </a:xfrm>
          <a:prstGeom prst="rect">
            <a:avLst/>
          </a:prstGeom>
          <a:noFill/>
          <a:ln/>
        </p:spPr>
        <p:txBody>
          <a:bodyPr wrap="square" lIns="0" tIns="0" rIns="0" bIns="0" rtlCol="0" anchor="ctr"/>
          <a:lstStyle/>
          <a:p>
            <a:pPr indent="0" marL="0">
              <a:buNone/>
            </a:pPr>
            <a:r>
              <a:rPr lang="en-US" sz="1150" i="1" dirty="0">
                <a:solidFill>
                  <a:srgbClr val="475569"/>
                </a:solidFill>
                <a:latin typeface="Arial" pitchFamily="34" charset="0"/>
                <a:ea typeface="Arial" pitchFamily="34" charset="-122"/>
                <a:cs typeface="Arial" pitchFamily="34" charset="-120"/>
              </a:rPr>
              <a:t>Yes → Web Worker. Or move to the server.</a:t>
            </a:r>
            <a:endParaRPr lang="en-US" sz="1150" dirty="0"/>
          </a:p>
        </p:txBody>
      </p:sp>
      <p:sp>
        <p:nvSpPr>
          <p:cNvPr id="30" name="Text 2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31" name="Text 2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20 / 25</a:t>
            </a:r>
            <a:endParaRPr lang="en-US" sz="9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AI mistakes in performance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What to look for when AI suggests an optimization.</a:t>
            </a:r>
            <a:endParaRPr lang="en-US" sz="1400" dirty="0"/>
          </a:p>
        </p:txBody>
      </p:sp>
      <p:sp>
        <p:nvSpPr>
          <p:cNvPr id="5" name="Shape 3"/>
          <p:cNvSpPr/>
          <p:nvPr/>
        </p:nvSpPr>
        <p:spPr>
          <a:xfrm>
            <a:off x="777240" y="1691640"/>
            <a:ext cx="5212080" cy="10972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2011680"/>
            <a:ext cx="457200" cy="457200"/>
          </a:xfrm>
          <a:prstGeom prst="rect">
            <a:avLst/>
          </a:prstGeom>
        </p:spPr>
      </p:pic>
      <p:sp>
        <p:nvSpPr>
          <p:cNvPr id="7" name="Text 4"/>
          <p:cNvSpPr/>
          <p:nvPr/>
        </p:nvSpPr>
        <p:spPr>
          <a:xfrm>
            <a:off x="1554480" y="178308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Adding useMemo/useCallback to every value (cargo-culted from 2024)</a:t>
            </a:r>
            <a:endParaRPr lang="en-US" sz="1200" dirty="0"/>
          </a:p>
        </p:txBody>
      </p:sp>
      <p:sp>
        <p:nvSpPr>
          <p:cNvPr id="8" name="Shape 5"/>
          <p:cNvSpPr/>
          <p:nvPr/>
        </p:nvSpPr>
        <p:spPr>
          <a:xfrm>
            <a:off x="6126480" y="1691640"/>
            <a:ext cx="5212080" cy="1097280"/>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6309360" y="2011680"/>
            <a:ext cx="457200" cy="457200"/>
          </a:xfrm>
          <a:prstGeom prst="rect">
            <a:avLst/>
          </a:prstGeom>
        </p:spPr>
      </p:pic>
      <p:sp>
        <p:nvSpPr>
          <p:cNvPr id="10" name="Text 6"/>
          <p:cNvSpPr/>
          <p:nvPr/>
        </p:nvSpPr>
        <p:spPr>
          <a:xfrm>
            <a:off x="6903720" y="178308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React.memo wrapping every component, even ones with complex props</a:t>
            </a:r>
            <a:endParaRPr lang="en-US" sz="1200" dirty="0"/>
          </a:p>
        </p:txBody>
      </p:sp>
      <p:sp>
        <p:nvSpPr>
          <p:cNvPr id="11" name="Shape 7"/>
          <p:cNvSpPr/>
          <p:nvPr/>
        </p:nvSpPr>
        <p:spPr>
          <a:xfrm>
            <a:off x="777240" y="2971800"/>
            <a:ext cx="5212080" cy="1097280"/>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291840"/>
            <a:ext cx="457200" cy="457200"/>
          </a:xfrm>
          <a:prstGeom prst="rect">
            <a:avLst/>
          </a:prstGeom>
        </p:spPr>
      </p:pic>
      <p:sp>
        <p:nvSpPr>
          <p:cNvPr id="13" name="Text 8"/>
          <p:cNvSpPr/>
          <p:nvPr/>
        </p:nvSpPr>
        <p:spPr>
          <a:xfrm>
            <a:off x="1554480" y="306324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useEffect for derived data — same mistake as Module 2</a:t>
            </a:r>
            <a:endParaRPr lang="en-US" sz="1200" dirty="0"/>
          </a:p>
        </p:txBody>
      </p:sp>
      <p:sp>
        <p:nvSpPr>
          <p:cNvPr id="14" name="Shape 9"/>
          <p:cNvSpPr/>
          <p:nvPr/>
        </p:nvSpPr>
        <p:spPr>
          <a:xfrm>
            <a:off x="6126480" y="2971800"/>
            <a:ext cx="5212080" cy="1097280"/>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6309360" y="3291840"/>
            <a:ext cx="457200" cy="457200"/>
          </a:xfrm>
          <a:prstGeom prst="rect">
            <a:avLst/>
          </a:prstGeom>
        </p:spPr>
      </p:pic>
      <p:sp>
        <p:nvSpPr>
          <p:cNvPr id="16" name="Text 10"/>
          <p:cNvSpPr/>
          <p:nvPr/>
        </p:nvSpPr>
        <p:spPr>
          <a:xfrm>
            <a:off x="6903720" y="306324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Code splitting tiny utility modules — net regression</a:t>
            </a:r>
            <a:endParaRPr lang="en-US" sz="1200" dirty="0"/>
          </a:p>
        </p:txBody>
      </p:sp>
      <p:sp>
        <p:nvSpPr>
          <p:cNvPr id="17" name="Shape 11"/>
          <p:cNvSpPr/>
          <p:nvPr/>
        </p:nvSpPr>
        <p:spPr>
          <a:xfrm>
            <a:off x="777240" y="4251960"/>
            <a:ext cx="5212080" cy="1097280"/>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572000"/>
            <a:ext cx="457200" cy="457200"/>
          </a:xfrm>
          <a:prstGeom prst="rect">
            <a:avLst/>
          </a:prstGeom>
        </p:spPr>
      </p:pic>
      <p:sp>
        <p:nvSpPr>
          <p:cNvPr id="19" name="Text 12"/>
          <p:cNvSpPr/>
          <p:nvPr/>
        </p:nvSpPr>
        <p:spPr>
          <a:xfrm>
            <a:off x="1554480" y="434340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Suggesting Web Workers for fast computations (overhead &gt; work)</a:t>
            </a:r>
            <a:endParaRPr lang="en-US" sz="1200" dirty="0"/>
          </a:p>
        </p:txBody>
      </p:sp>
      <p:sp>
        <p:nvSpPr>
          <p:cNvPr id="20" name="Shape 13"/>
          <p:cNvSpPr/>
          <p:nvPr/>
        </p:nvSpPr>
        <p:spPr>
          <a:xfrm>
            <a:off x="6126480" y="4251960"/>
            <a:ext cx="5212080" cy="1097280"/>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6309360" y="4572000"/>
            <a:ext cx="457200" cy="457200"/>
          </a:xfrm>
          <a:prstGeom prst="rect">
            <a:avLst/>
          </a:prstGeom>
        </p:spPr>
      </p:pic>
      <p:sp>
        <p:nvSpPr>
          <p:cNvPr id="22" name="Text 14"/>
          <p:cNvSpPr/>
          <p:nvPr/>
        </p:nvSpPr>
        <p:spPr>
          <a:xfrm>
            <a:off x="6903720" y="4343400"/>
            <a:ext cx="4297680" cy="91440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Optimizing without measuring first — the cardinal AI sin here</a:t>
            </a:r>
            <a:endParaRPr lang="en-US" sz="1200" dirty="0"/>
          </a:p>
        </p:txBody>
      </p:sp>
      <p:sp>
        <p:nvSpPr>
          <p:cNvPr id="23"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24"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21 / 25</a:t>
            </a:r>
            <a:endParaRPr lang="en-US" sz="90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Module 7 takeaways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What to remember when you're back at your desk.</a:t>
            </a:r>
            <a:endParaRPr lang="en-US" sz="1400" dirty="0"/>
          </a:p>
        </p:txBody>
      </p:sp>
      <p:sp>
        <p:nvSpPr>
          <p:cNvPr id="5" name="Shape 3"/>
          <p:cNvSpPr/>
          <p:nvPr/>
        </p:nvSpPr>
        <p:spPr>
          <a:xfrm>
            <a:off x="777240" y="1691640"/>
            <a:ext cx="10607040" cy="603504"/>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10512"/>
            <a:ext cx="365760" cy="365760"/>
          </a:xfrm>
          <a:prstGeom prst="rect">
            <a:avLst/>
          </a:prstGeom>
        </p:spPr>
      </p:pic>
      <p:sp>
        <p:nvSpPr>
          <p:cNvPr id="7" name="Text 4"/>
          <p:cNvSpPr/>
          <p:nvPr/>
        </p:nvSpPr>
        <p:spPr>
          <a:xfrm>
            <a:off x="1508760" y="1737360"/>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Measure before you optimize. Profiler for component cost, Lighthouse for user experience.</a:t>
            </a:r>
            <a:endParaRPr lang="en-US" sz="1200" dirty="0"/>
          </a:p>
        </p:txBody>
      </p:sp>
      <p:sp>
        <p:nvSpPr>
          <p:cNvPr id="8" name="Shape 5"/>
          <p:cNvSpPr/>
          <p:nvPr/>
        </p:nvSpPr>
        <p:spPr>
          <a:xfrm>
            <a:off x="777240" y="2404872"/>
            <a:ext cx="10607040" cy="603504"/>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960120" y="2523744"/>
            <a:ext cx="365760" cy="365760"/>
          </a:xfrm>
          <a:prstGeom prst="rect">
            <a:avLst/>
          </a:prstGeom>
        </p:spPr>
      </p:pic>
      <p:sp>
        <p:nvSpPr>
          <p:cNvPr id="10" name="Text 6"/>
          <p:cNvSpPr/>
          <p:nvPr/>
        </p:nvSpPr>
        <p:spPr>
          <a:xfrm>
            <a:off x="1508760" y="2450592"/>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Enable the React Compiler. Most manual useMemo/useCallback/React.memo from 2024 becomes optional.</a:t>
            </a:r>
            <a:endParaRPr lang="en-US" sz="1200" dirty="0"/>
          </a:p>
        </p:txBody>
      </p:sp>
      <p:sp>
        <p:nvSpPr>
          <p:cNvPr id="11" name="Shape 7"/>
          <p:cNvSpPr/>
          <p:nvPr/>
        </p:nvSpPr>
        <p:spPr>
          <a:xfrm>
            <a:off x="777240" y="3118104"/>
            <a:ext cx="10607040" cy="603504"/>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236976"/>
            <a:ext cx="365760" cy="365760"/>
          </a:xfrm>
          <a:prstGeom prst="rect">
            <a:avLst/>
          </a:prstGeom>
        </p:spPr>
      </p:pic>
      <p:sp>
        <p:nvSpPr>
          <p:cNvPr id="13" name="Text 8"/>
          <p:cNvSpPr/>
          <p:nvPr/>
        </p:nvSpPr>
        <p:spPr>
          <a:xfrm>
            <a:off x="1508760" y="3163824"/>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Manual memoization still wins for truly expensive work and stable references for external libs.</a:t>
            </a:r>
            <a:endParaRPr lang="en-US" sz="1200" dirty="0"/>
          </a:p>
        </p:txBody>
      </p:sp>
      <p:sp>
        <p:nvSpPr>
          <p:cNvPr id="14" name="Shape 9"/>
          <p:cNvSpPr/>
          <p:nvPr/>
        </p:nvSpPr>
        <p:spPr>
          <a:xfrm>
            <a:off x="777240" y="3831336"/>
            <a:ext cx="10607040" cy="603504"/>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960120" y="3950208"/>
            <a:ext cx="365760" cy="365760"/>
          </a:xfrm>
          <a:prstGeom prst="rect">
            <a:avLst/>
          </a:prstGeom>
        </p:spPr>
      </p:pic>
      <p:sp>
        <p:nvSpPr>
          <p:cNvPr id="16" name="Text 10"/>
          <p:cNvSpPr/>
          <p:nvPr/>
        </p:nvSpPr>
        <p:spPr>
          <a:xfrm>
            <a:off x="1508760" y="3877056"/>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Code splitting wins on routes (free), modals, and visualization libraries — not on tiny utilities.</a:t>
            </a:r>
            <a:endParaRPr lang="en-US" sz="1200" dirty="0"/>
          </a:p>
        </p:txBody>
      </p:sp>
      <p:sp>
        <p:nvSpPr>
          <p:cNvPr id="17" name="Shape 11"/>
          <p:cNvSpPr/>
          <p:nvPr/>
        </p:nvSpPr>
        <p:spPr>
          <a:xfrm>
            <a:off x="777240" y="4544568"/>
            <a:ext cx="10607040" cy="603504"/>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663440"/>
            <a:ext cx="365760" cy="365760"/>
          </a:xfrm>
          <a:prstGeom prst="rect">
            <a:avLst/>
          </a:prstGeom>
        </p:spPr>
      </p:pic>
      <p:sp>
        <p:nvSpPr>
          <p:cNvPr id="19" name="Text 12"/>
          <p:cNvSpPr/>
          <p:nvPr/>
        </p:nvSpPr>
        <p:spPr>
          <a:xfrm>
            <a:off x="1508760" y="4590288"/>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Virtualize lists with more than ~100 items. Web Workers for &gt;50ms blocking work.</a:t>
            </a:r>
            <a:endParaRPr lang="en-US" sz="1200" dirty="0"/>
          </a:p>
        </p:txBody>
      </p:sp>
      <p:sp>
        <p:nvSpPr>
          <p:cNvPr id="20" name="Shape 13"/>
          <p:cNvSpPr/>
          <p:nvPr/>
        </p:nvSpPr>
        <p:spPr>
          <a:xfrm>
            <a:off x="777240" y="5257800"/>
            <a:ext cx="10607040" cy="603504"/>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960120" y="5376672"/>
            <a:ext cx="365760" cy="365760"/>
          </a:xfrm>
          <a:prstGeom prst="rect">
            <a:avLst/>
          </a:prstGeom>
        </p:spPr>
      </p:pic>
      <p:sp>
        <p:nvSpPr>
          <p:cNvPr id="22" name="Text 14"/>
          <p:cNvSpPr/>
          <p:nvPr/>
        </p:nvSpPr>
        <p:spPr>
          <a:xfrm>
            <a:off x="1508760" y="5303520"/>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Throttle for sampled continuous events; debounce for 'final value' events.</a:t>
            </a:r>
            <a:endParaRPr lang="en-US" sz="1200" dirty="0"/>
          </a:p>
        </p:txBody>
      </p:sp>
      <p:sp>
        <p:nvSpPr>
          <p:cNvPr id="23"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24"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22 / 25</a:t>
            </a:r>
            <a:endParaRPr lang="en-US" sz="9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Coming up: Lab 6</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Profile the social-media app, identify bottlenecks, apply at least three optimizations.</a:t>
            </a:r>
            <a:endParaRPr lang="en-US" sz="1400" dirty="0"/>
          </a:p>
        </p:txBody>
      </p:sp>
      <p:sp>
        <p:nvSpPr>
          <p:cNvPr id="5" name="Shape 3"/>
          <p:cNvSpPr/>
          <p:nvPr/>
        </p:nvSpPr>
        <p:spPr>
          <a:xfrm>
            <a:off x="777240" y="1691640"/>
            <a:ext cx="10607040" cy="43891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97280" y="1920240"/>
            <a:ext cx="822960" cy="822960"/>
          </a:xfrm>
          <a:prstGeom prst="rect">
            <a:avLst/>
          </a:prstGeom>
        </p:spPr>
      </p:pic>
      <p:sp>
        <p:nvSpPr>
          <p:cNvPr id="7" name="Text 4"/>
          <p:cNvSpPr/>
          <p:nvPr/>
        </p:nvSpPr>
        <p:spPr>
          <a:xfrm>
            <a:off x="2194560" y="1920240"/>
            <a:ext cx="9144000" cy="640080"/>
          </a:xfrm>
          <a:prstGeom prst="rect">
            <a:avLst/>
          </a:prstGeom>
          <a:noFill/>
          <a:ln/>
        </p:spPr>
        <p:txBody>
          <a:bodyPr wrap="square" lIns="0" tIns="0" rIns="0" bIns="0" rtlCol="0" anchor="ctr"/>
          <a:lstStyle/>
          <a:p>
            <a:pPr indent="0" marL="0">
              <a:buNone/>
            </a:pPr>
            <a:r>
              <a:rPr lang="en-US" sz="2400" b="1" dirty="0">
                <a:solidFill>
                  <a:srgbClr val="0F172A"/>
                </a:solidFill>
                <a:latin typeface="Trebuchet MS" pitchFamily="34" charset="0"/>
                <a:ea typeface="Trebuchet MS" pitchFamily="34" charset="-122"/>
                <a:cs typeface="Trebuchet MS" pitchFamily="34" charset="-120"/>
              </a:rPr>
              <a:t>Lab 6: Profile and Optimize</a:t>
            </a:r>
            <a:endParaRPr lang="en-US" sz="2400" dirty="0"/>
          </a:p>
        </p:txBody>
      </p:sp>
      <p:sp>
        <p:nvSpPr>
          <p:cNvPr id="8" name="Text 5"/>
          <p:cNvSpPr/>
          <p:nvPr/>
        </p:nvSpPr>
        <p:spPr>
          <a:xfrm>
            <a:off x="2194560" y="2514600"/>
            <a:ext cx="9144000" cy="365760"/>
          </a:xfrm>
          <a:prstGeom prst="rect">
            <a:avLst/>
          </a:prstGeom>
          <a:noFill/>
          <a:ln/>
        </p:spPr>
        <p:txBody>
          <a:bodyPr wrap="square" lIns="0" tIns="0" rIns="0" bIns="0" rtlCol="0" anchor="ctr"/>
          <a:lstStyle/>
          <a:p>
            <a:pPr indent="0" marL="0">
              <a:buNone/>
            </a:pPr>
            <a:r>
              <a:rPr lang="en-US" sz="1300" i="1" dirty="0">
                <a:solidFill>
                  <a:srgbClr val="475569"/>
                </a:solidFill>
                <a:latin typeface="Arial" pitchFamily="34" charset="0"/>
                <a:ea typeface="Arial" pitchFamily="34" charset="-122"/>
                <a:cs typeface="Arial" pitchFamily="34" charset="-120"/>
              </a:rPr>
              <a:t>75 minutes  ·  Hands-on  ·  Solution: solutions/lab-06-perf/</a:t>
            </a:r>
            <a:endParaRPr lang="en-US" sz="1300" dirty="0"/>
          </a:p>
        </p:txBody>
      </p:sp>
      <p:sp>
        <p:nvSpPr>
          <p:cNvPr id="9" name="Text 6"/>
          <p:cNvSpPr/>
          <p:nvPr/>
        </p:nvSpPr>
        <p:spPr>
          <a:xfrm>
            <a:off x="1097280" y="3200400"/>
            <a:ext cx="100584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What you'll do:</a:t>
            </a:r>
            <a:endParaRPr lang="en-US" sz="1400" dirty="0"/>
          </a:p>
        </p:txBody>
      </p:sp>
      <p:sp>
        <p:nvSpPr>
          <p:cNvPr id="10" name="Text 7"/>
          <p:cNvSpPr/>
          <p:nvPr/>
        </p:nvSpPr>
        <p:spPr>
          <a:xfrm>
            <a:off x="1097280" y="3611880"/>
            <a:ext cx="1005840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Run the Profiler and Lighthouse to capture a baseline of the social-media app</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Identify the top three bottlenecks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Apply at least three different optimizations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Report before/after numbers (render time, bundle size, or Web Vitals)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Stretch: add a virtualized posts feed using TanStack Virtual</a:t>
            </a:r>
            <a:endParaRPr lang="en-US" sz="1250" dirty="0"/>
          </a:p>
        </p:txBody>
      </p:sp>
      <p:sp>
        <p:nvSpPr>
          <p:cNvPr id="11" name="Text 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12" name="Text 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23 / 25</a:t>
            </a:r>
            <a:endParaRPr lang="en-US" sz="90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After the lab: Module 8</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Testing React apps in 2026 — Vitest, RTL, MSW, Playwright.</a:t>
            </a:r>
            <a:endParaRPr lang="en-US" sz="1400" dirty="0"/>
          </a:p>
        </p:txBody>
      </p:sp>
      <p:sp>
        <p:nvSpPr>
          <p:cNvPr id="5" name="Shape 3"/>
          <p:cNvSpPr/>
          <p:nvPr/>
        </p:nvSpPr>
        <p:spPr>
          <a:xfrm>
            <a:off x="777240" y="1691640"/>
            <a:ext cx="10607040" cy="4206240"/>
          </a:xfrm>
          <a:prstGeom prst="rect">
            <a:avLst/>
          </a:prstGeom>
          <a:solidFill>
            <a:srgbClr val="CBF1F6"/>
          </a:solidFill>
          <a:ln w="12700">
            <a:solidFill>
              <a:srgbClr val="CBF1F6"/>
            </a:solidFill>
            <a:prstDash val="solid"/>
          </a:ln>
        </p:spPr>
      </p:sp>
      <p:sp>
        <p:nvSpPr>
          <p:cNvPr id="6" name="Text 4"/>
          <p:cNvSpPr/>
          <p:nvPr/>
        </p:nvSpPr>
        <p:spPr>
          <a:xfrm>
            <a:off x="1097280" y="2011680"/>
            <a:ext cx="10058400" cy="4572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Module 8 covers:</a:t>
            </a:r>
            <a:endParaRPr lang="en-US" sz="1400" dirty="0"/>
          </a:p>
        </p:txBody>
      </p:sp>
      <p:sp>
        <p:nvSpPr>
          <p:cNvPr id="7" name="Text 5"/>
          <p:cNvSpPr/>
          <p:nvPr/>
        </p:nvSpPr>
        <p:spPr>
          <a:xfrm>
            <a:off x="1097280" y="2606040"/>
            <a:ext cx="10058400" cy="3108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Vitest as the test runner — fast, ESM-native, Jest-compatible API</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React Testing Library — query priorities, user-event, async patterns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MSW for API mocking — same mocks for tests and dev</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Playwright for end-to-end (overview)</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Evaluating AI-generated tests — behavior vs implementation</a:t>
            </a:r>
            <a:endParaRPr lang="en-US" sz="1250" dirty="0"/>
          </a:p>
        </p:txBody>
      </p:sp>
      <p:sp>
        <p:nvSpPr>
          <p:cNvPr id="8" name="Text 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9" name="Text 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24 / 25</a:t>
            </a:r>
            <a:endParaRPr lang="en-US" sz="9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Where we are in Day 3</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Performance done. Testing and AI still to come.</a:t>
            </a:r>
            <a:endParaRPr lang="en-US" sz="1400" dirty="0"/>
          </a:p>
        </p:txBody>
      </p:sp>
      <p:sp>
        <p:nvSpPr>
          <p:cNvPr id="5" name="Shape 3"/>
          <p:cNvSpPr/>
          <p:nvPr/>
        </p:nvSpPr>
        <p:spPr>
          <a:xfrm>
            <a:off x="777240" y="1691640"/>
            <a:ext cx="10607040" cy="4206240"/>
          </a:xfrm>
          <a:prstGeom prst="rect">
            <a:avLst/>
          </a:prstGeom>
          <a:solidFill>
            <a:srgbClr val="FFFFFF"/>
          </a:solidFill>
          <a:ln w="12700">
            <a:solidFill>
              <a:srgbClr val="E2E8F0"/>
            </a:solidFill>
            <a:prstDash val="solid"/>
          </a:ln>
        </p:spPr>
      </p:sp>
      <p:sp>
        <p:nvSpPr>
          <p:cNvPr id="6" name="Text 4"/>
          <p:cNvSpPr/>
          <p:nvPr/>
        </p:nvSpPr>
        <p:spPr>
          <a:xfrm>
            <a:off x="1097280" y="1920240"/>
            <a:ext cx="10058400" cy="4572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Day 3 plan:</a:t>
            </a:r>
            <a:endParaRPr lang="en-US" sz="1400" dirty="0"/>
          </a:p>
        </p:txBody>
      </p:sp>
      <p:sp>
        <p:nvSpPr>
          <p:cNvPr id="7" name="Text 5"/>
          <p:cNvSpPr/>
          <p:nvPr/>
        </p:nvSpPr>
        <p:spPr>
          <a:xfrm>
            <a:off x="1097280" y="2377440"/>
            <a:ext cx="10058400" cy="33832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Module 7 — Performance in the Compiler era ✓ (just finished)</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Lab 6 — Profile and optimize (next)</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Module 8 — Testing in 2026</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Lab 7 — Test suite from scratch + AI-generated test review</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Module 9 — Advanced React with AI assistants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Lab 8 — AI-assisted feature, end to end</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Module 10 — Production concerns + wrap-up</a:t>
            </a:r>
            <a:endParaRPr lang="en-US" sz="1200" dirty="0"/>
          </a:p>
        </p:txBody>
      </p:sp>
      <p:sp>
        <p:nvSpPr>
          <p:cNvPr id="8" name="Text 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7 — Performance</a:t>
            </a:r>
            <a:endParaRPr lang="en-US" sz="900" dirty="0"/>
          </a:p>
        </p:txBody>
      </p:sp>
      <p:sp>
        <p:nvSpPr>
          <p:cNvPr id="9" name="Text 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25 / 25</a:t>
            </a:r>
            <a:endParaRPr lang="en-US" sz="90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1">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377440"/>
            <a:ext cx="548640" cy="73152"/>
          </a:xfrm>
          <a:prstGeom prst="rect">
            <a:avLst/>
          </a:prstGeom>
          <a:solidFill>
            <a:srgbClr val="00B8D9"/>
          </a:solidFill>
          <a:ln w="12700">
            <a:solidFill>
              <a:srgbClr val="00B8D9"/>
            </a:solidFill>
            <a:prstDash val="solid"/>
          </a:ln>
        </p:spPr>
      </p:sp>
      <p:sp>
        <p:nvSpPr>
          <p:cNvPr id="3" name="Text 1"/>
          <p:cNvSpPr/>
          <p:nvPr/>
        </p:nvSpPr>
        <p:spPr>
          <a:xfrm>
            <a:off x="640080" y="2542032"/>
            <a:ext cx="5486400" cy="457200"/>
          </a:xfrm>
          <a:prstGeom prst="rect">
            <a:avLst/>
          </a:prstGeom>
          <a:noFill/>
          <a:ln/>
        </p:spPr>
        <p:txBody>
          <a:bodyPr wrap="square" lIns="0" tIns="0" rIns="0" bIns="0" rtlCol="0" anchor="ctr"/>
          <a:lstStyle/>
          <a:p>
            <a:pPr indent="0" marL="0">
              <a:buNone/>
            </a:pPr>
            <a:r>
              <a:rPr lang="en-US" sz="1800" dirty="0">
                <a:solidFill>
                  <a:srgbClr val="00B8D9"/>
                </a:solidFill>
                <a:latin typeface="Trebuchet MS" pitchFamily="34" charset="0"/>
                <a:ea typeface="Trebuchet MS" pitchFamily="34" charset="-122"/>
                <a:cs typeface="Trebuchet MS" pitchFamily="34" charset="-120"/>
              </a:rPr>
              <a:t>Module 8</a:t>
            </a:r>
            <a:endParaRPr lang="en-US" sz="1800" dirty="0"/>
          </a:p>
        </p:txBody>
      </p:sp>
      <p:sp>
        <p:nvSpPr>
          <p:cNvPr id="4" name="Text 2"/>
          <p:cNvSpPr/>
          <p:nvPr/>
        </p:nvSpPr>
        <p:spPr>
          <a:xfrm>
            <a:off x="640080" y="3017520"/>
            <a:ext cx="1115568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Testing React Apps in 2026</a:t>
            </a:r>
            <a:endParaRPr lang="en-US" sz="4400" dirty="0"/>
          </a:p>
        </p:txBody>
      </p:sp>
      <p:sp>
        <p:nvSpPr>
          <p:cNvPr id="5" name="Text 3"/>
          <p:cNvSpPr/>
          <p:nvPr/>
        </p:nvSpPr>
        <p:spPr>
          <a:xfrm>
            <a:off x="640080" y="416052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Vitest, RTL, MSW, Playwright. And the AI-generated test review skill.</a:t>
            </a:r>
            <a:endParaRPr lang="en-US" sz="1800" dirty="0"/>
          </a:p>
        </p:txBody>
      </p:sp>
      <p:sp>
        <p:nvSpPr>
          <p:cNvPr id="6" name="Text 4"/>
          <p:cNvSpPr/>
          <p:nvPr/>
        </p:nvSpPr>
        <p:spPr>
          <a:xfrm>
            <a:off x="640080" y="4937760"/>
            <a:ext cx="10972800" cy="45720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60 minutes  ·  Lecture + demos  ·  Lab 7 follows</a:t>
            </a:r>
            <a:endParaRPr lang="en-US" sz="1400" dirty="0"/>
          </a:p>
        </p:txBody>
      </p:sp>
      <p:pic>
        <p:nvPicPr>
          <p:cNvPr id="7" name="Image 0" descr="preencoded.png">    </p:cNvPr>
          <p:cNvPicPr>
            <a:picLocks noChangeAspect="1"/>
          </p:cNvPicPr>
          <p:nvPr/>
        </p:nvPicPr>
        <p:blipFill>
          <a:blip r:embed="rId1">
            <a:alphaModFix amt="75000"/>
          </a:blip>
          <a:stretch>
            <a:fillRect/>
          </a:stretch>
        </p:blipFill>
        <p:spPr>
          <a:xfrm>
            <a:off x="10728655" y="4663440"/>
            <a:ext cx="914400" cy="914400"/>
          </a:xfrm>
          <a:prstGeom prst="rect">
            <a:avLst/>
          </a:prstGeom>
        </p:spPr>
      </p:pic>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2026 testing stack</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Four tools, each at a different layer.</a:t>
            </a:r>
            <a:endParaRPr lang="en-US" sz="1400" dirty="0"/>
          </a:p>
        </p:txBody>
      </p:sp>
      <p:sp>
        <p:nvSpPr>
          <p:cNvPr id="5" name="Shape 3"/>
          <p:cNvSpPr/>
          <p:nvPr/>
        </p:nvSpPr>
        <p:spPr>
          <a:xfrm>
            <a:off x="777240" y="1691640"/>
            <a:ext cx="10607040" cy="9144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92808"/>
            <a:ext cx="502920" cy="502920"/>
          </a:xfrm>
          <a:prstGeom prst="rect">
            <a:avLst/>
          </a:prstGeom>
        </p:spPr>
      </p:pic>
      <p:sp>
        <p:nvSpPr>
          <p:cNvPr id="7" name="Text 4"/>
          <p:cNvSpPr/>
          <p:nvPr/>
        </p:nvSpPr>
        <p:spPr>
          <a:xfrm>
            <a:off x="1691640" y="1783080"/>
            <a:ext cx="4114800" cy="365760"/>
          </a:xfrm>
          <a:prstGeom prst="rect">
            <a:avLst/>
          </a:prstGeom>
          <a:noFill/>
          <a:ln/>
        </p:spPr>
        <p:txBody>
          <a:bodyPr wrap="square" lIns="0" tIns="0" rIns="0" bIns="0" rtlCol="0" anchor="ctr"/>
          <a:lstStyle/>
          <a:p>
            <a:pPr indent="0" marL="0">
              <a:buNone/>
            </a:pPr>
            <a:r>
              <a:rPr lang="en-US" sz="1600" b="1" dirty="0">
                <a:solidFill>
                  <a:srgbClr val="00B8D9"/>
                </a:solidFill>
                <a:latin typeface="Trebuchet MS" pitchFamily="34" charset="0"/>
                <a:ea typeface="Trebuchet MS" pitchFamily="34" charset="-122"/>
                <a:cs typeface="Trebuchet MS" pitchFamily="34" charset="-120"/>
              </a:rPr>
              <a:t>Vitest</a:t>
            </a:r>
            <a:endParaRPr lang="en-US" sz="1600" dirty="0"/>
          </a:p>
        </p:txBody>
      </p:sp>
      <p:sp>
        <p:nvSpPr>
          <p:cNvPr id="8" name="Text 5"/>
          <p:cNvSpPr/>
          <p:nvPr/>
        </p:nvSpPr>
        <p:spPr>
          <a:xfrm>
            <a:off x="1691640" y="2148840"/>
            <a:ext cx="9601200" cy="45720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The test runner. Fast, ESM-native, Jest-compatible API. Replaces Jest in new projects.</a:t>
            </a:r>
            <a:endParaRPr lang="en-US" sz="1200" dirty="0"/>
          </a:p>
        </p:txBody>
      </p:sp>
      <p:sp>
        <p:nvSpPr>
          <p:cNvPr id="9" name="Shape 6"/>
          <p:cNvSpPr/>
          <p:nvPr/>
        </p:nvSpPr>
        <p:spPr>
          <a:xfrm>
            <a:off x="777240" y="2788920"/>
            <a:ext cx="10607040" cy="91440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990088"/>
            <a:ext cx="502920" cy="502920"/>
          </a:xfrm>
          <a:prstGeom prst="rect">
            <a:avLst/>
          </a:prstGeom>
        </p:spPr>
      </p:pic>
      <p:sp>
        <p:nvSpPr>
          <p:cNvPr id="11" name="Text 7"/>
          <p:cNvSpPr/>
          <p:nvPr/>
        </p:nvSpPr>
        <p:spPr>
          <a:xfrm>
            <a:off x="1691640" y="2880360"/>
            <a:ext cx="4114800" cy="365760"/>
          </a:xfrm>
          <a:prstGeom prst="rect">
            <a:avLst/>
          </a:prstGeom>
          <a:noFill/>
          <a:ln/>
        </p:spPr>
        <p:txBody>
          <a:bodyPr wrap="square" lIns="0" tIns="0" rIns="0" bIns="0" rtlCol="0" anchor="ctr"/>
          <a:lstStyle/>
          <a:p>
            <a:pPr indent="0" marL="0">
              <a:buNone/>
            </a:pPr>
            <a:r>
              <a:rPr lang="en-US" sz="1600" b="1" dirty="0">
                <a:solidFill>
                  <a:srgbClr val="00B8D9"/>
                </a:solidFill>
                <a:latin typeface="Trebuchet MS" pitchFamily="34" charset="0"/>
                <a:ea typeface="Trebuchet MS" pitchFamily="34" charset="-122"/>
                <a:cs typeface="Trebuchet MS" pitchFamily="34" charset="-120"/>
              </a:rPr>
              <a:t>React Testing Library</a:t>
            </a:r>
            <a:endParaRPr lang="en-US" sz="1600" dirty="0"/>
          </a:p>
        </p:txBody>
      </p:sp>
      <p:sp>
        <p:nvSpPr>
          <p:cNvPr id="12" name="Text 8"/>
          <p:cNvSpPr/>
          <p:nvPr/>
        </p:nvSpPr>
        <p:spPr>
          <a:xfrm>
            <a:off x="1691640" y="3246120"/>
            <a:ext cx="9601200" cy="45720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The DOM-querying library. Forces you to test what users see, not what your components import.</a:t>
            </a:r>
            <a:endParaRPr lang="en-US" sz="1200" dirty="0"/>
          </a:p>
        </p:txBody>
      </p:sp>
      <p:sp>
        <p:nvSpPr>
          <p:cNvPr id="13" name="Shape 9"/>
          <p:cNvSpPr/>
          <p:nvPr/>
        </p:nvSpPr>
        <p:spPr>
          <a:xfrm>
            <a:off x="777240" y="3886200"/>
            <a:ext cx="10607040" cy="91440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4087368"/>
            <a:ext cx="502920" cy="502920"/>
          </a:xfrm>
          <a:prstGeom prst="rect">
            <a:avLst/>
          </a:prstGeom>
        </p:spPr>
      </p:pic>
      <p:sp>
        <p:nvSpPr>
          <p:cNvPr id="15" name="Text 10"/>
          <p:cNvSpPr/>
          <p:nvPr/>
        </p:nvSpPr>
        <p:spPr>
          <a:xfrm>
            <a:off x="1691640" y="3977640"/>
            <a:ext cx="4114800" cy="365760"/>
          </a:xfrm>
          <a:prstGeom prst="rect">
            <a:avLst/>
          </a:prstGeom>
          <a:noFill/>
          <a:ln/>
        </p:spPr>
        <p:txBody>
          <a:bodyPr wrap="square" lIns="0" tIns="0" rIns="0" bIns="0" rtlCol="0" anchor="ctr"/>
          <a:lstStyle/>
          <a:p>
            <a:pPr indent="0" marL="0">
              <a:buNone/>
            </a:pPr>
            <a:r>
              <a:rPr lang="en-US" sz="1600" b="1" dirty="0">
                <a:solidFill>
                  <a:srgbClr val="00B8D9"/>
                </a:solidFill>
                <a:latin typeface="Trebuchet MS" pitchFamily="34" charset="0"/>
                <a:ea typeface="Trebuchet MS" pitchFamily="34" charset="-122"/>
                <a:cs typeface="Trebuchet MS" pitchFamily="34" charset="-120"/>
              </a:rPr>
              <a:t>MSW (Mock Service Worker)</a:t>
            </a:r>
            <a:endParaRPr lang="en-US" sz="1600" dirty="0"/>
          </a:p>
        </p:txBody>
      </p:sp>
      <p:sp>
        <p:nvSpPr>
          <p:cNvPr id="16" name="Text 11"/>
          <p:cNvSpPr/>
          <p:nvPr/>
        </p:nvSpPr>
        <p:spPr>
          <a:xfrm>
            <a:off x="1691640" y="4343400"/>
            <a:ext cx="9601200" cy="45720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Intercepts network requests. Same mocks for tests and dev. No more mocking fetch by hand.</a:t>
            </a:r>
            <a:endParaRPr lang="en-US" sz="1200" dirty="0"/>
          </a:p>
        </p:txBody>
      </p:sp>
      <p:sp>
        <p:nvSpPr>
          <p:cNvPr id="17" name="Shape 12"/>
          <p:cNvSpPr/>
          <p:nvPr/>
        </p:nvSpPr>
        <p:spPr>
          <a:xfrm>
            <a:off x="777240" y="4983480"/>
            <a:ext cx="10607040" cy="91440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5184648"/>
            <a:ext cx="502920" cy="502920"/>
          </a:xfrm>
          <a:prstGeom prst="rect">
            <a:avLst/>
          </a:prstGeom>
        </p:spPr>
      </p:pic>
      <p:sp>
        <p:nvSpPr>
          <p:cNvPr id="19" name="Text 13"/>
          <p:cNvSpPr/>
          <p:nvPr/>
        </p:nvSpPr>
        <p:spPr>
          <a:xfrm>
            <a:off x="1691640" y="5074920"/>
            <a:ext cx="4114800" cy="365760"/>
          </a:xfrm>
          <a:prstGeom prst="rect">
            <a:avLst/>
          </a:prstGeom>
          <a:noFill/>
          <a:ln/>
        </p:spPr>
        <p:txBody>
          <a:bodyPr wrap="square" lIns="0" tIns="0" rIns="0" bIns="0" rtlCol="0" anchor="ctr"/>
          <a:lstStyle/>
          <a:p>
            <a:pPr indent="0" marL="0">
              <a:buNone/>
            </a:pPr>
            <a:r>
              <a:rPr lang="en-US" sz="1600" b="1" dirty="0">
                <a:solidFill>
                  <a:srgbClr val="00B8D9"/>
                </a:solidFill>
                <a:latin typeface="Trebuchet MS" pitchFamily="34" charset="0"/>
                <a:ea typeface="Trebuchet MS" pitchFamily="34" charset="-122"/>
                <a:cs typeface="Trebuchet MS" pitchFamily="34" charset="-120"/>
              </a:rPr>
              <a:t>Playwright</a:t>
            </a:r>
            <a:endParaRPr lang="en-US" sz="1600" dirty="0"/>
          </a:p>
        </p:txBody>
      </p:sp>
      <p:sp>
        <p:nvSpPr>
          <p:cNvPr id="20" name="Text 14"/>
          <p:cNvSpPr/>
          <p:nvPr/>
        </p:nvSpPr>
        <p:spPr>
          <a:xfrm>
            <a:off x="1691640" y="5440680"/>
            <a:ext cx="9601200" cy="45720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End-to-end. Real browser, real user flows. The expensive layer — use sparingly.</a:t>
            </a:r>
            <a:endParaRPr lang="en-US" sz="120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 / 27</a:t>
            </a:r>
            <a:endParaRPr lang="en-US" sz="90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3">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1</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Vitest</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The Jest-compatible runner for the Vite era.</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Why Vitest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Same API as Jest. Faster startup. ESM-native. Plays well with Vite.</a:t>
            </a:r>
            <a:endParaRPr lang="en-US" sz="1400" dirty="0"/>
          </a:p>
        </p:txBody>
      </p:sp>
      <p:sp>
        <p:nvSpPr>
          <p:cNvPr id="5" name="Shape 3"/>
          <p:cNvSpPr/>
          <p:nvPr/>
        </p:nvSpPr>
        <p:spPr>
          <a:xfrm>
            <a:off x="777240" y="1691640"/>
            <a:ext cx="10607040" cy="713232"/>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10512"/>
            <a:ext cx="411480" cy="411480"/>
          </a:xfrm>
          <a:prstGeom prst="rect">
            <a:avLst/>
          </a:prstGeom>
        </p:spPr>
      </p:pic>
      <p:sp>
        <p:nvSpPr>
          <p:cNvPr id="7" name="Text 4"/>
          <p:cNvSpPr/>
          <p:nvPr/>
        </p:nvSpPr>
        <p:spPr>
          <a:xfrm>
            <a:off x="1554480" y="1737360"/>
            <a:ext cx="365760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Jest-compatible expect, describe, it, vi.fn()</a:t>
            </a:r>
            <a:endParaRPr lang="en-US" sz="1250" dirty="0"/>
          </a:p>
        </p:txBody>
      </p:sp>
      <p:sp>
        <p:nvSpPr>
          <p:cNvPr id="8" name="Text 5"/>
          <p:cNvSpPr/>
          <p:nvPr/>
        </p:nvSpPr>
        <p:spPr>
          <a:xfrm>
            <a:off x="5212080" y="1737360"/>
            <a:ext cx="61264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Migrating from Jest is mostly removing config, not rewriting tests.</a:t>
            </a:r>
            <a:endParaRPr lang="en-US" sz="1150" dirty="0"/>
          </a:p>
        </p:txBody>
      </p:sp>
      <p:sp>
        <p:nvSpPr>
          <p:cNvPr id="9" name="Shape 6"/>
          <p:cNvSpPr/>
          <p:nvPr/>
        </p:nvSpPr>
        <p:spPr>
          <a:xfrm>
            <a:off x="777240" y="2560320"/>
            <a:ext cx="10607040" cy="713232"/>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679192"/>
            <a:ext cx="411480" cy="411480"/>
          </a:xfrm>
          <a:prstGeom prst="rect">
            <a:avLst/>
          </a:prstGeom>
        </p:spPr>
      </p:pic>
      <p:sp>
        <p:nvSpPr>
          <p:cNvPr id="11" name="Text 7"/>
          <p:cNvSpPr/>
          <p:nvPr/>
        </p:nvSpPr>
        <p:spPr>
          <a:xfrm>
            <a:off x="1554480" y="2606040"/>
            <a:ext cx="365760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ESM-native, no babel transform overhead</a:t>
            </a:r>
            <a:endParaRPr lang="en-US" sz="1250" dirty="0"/>
          </a:p>
        </p:txBody>
      </p:sp>
      <p:sp>
        <p:nvSpPr>
          <p:cNvPr id="12" name="Text 8"/>
          <p:cNvSpPr/>
          <p:nvPr/>
        </p:nvSpPr>
        <p:spPr>
          <a:xfrm>
            <a:off x="5212080" y="2606040"/>
            <a:ext cx="61264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Test startup measured in hundreds of ms, not seconds.</a:t>
            </a:r>
            <a:endParaRPr lang="en-US" sz="1150" dirty="0"/>
          </a:p>
        </p:txBody>
      </p:sp>
      <p:sp>
        <p:nvSpPr>
          <p:cNvPr id="13" name="Shape 9"/>
          <p:cNvSpPr/>
          <p:nvPr/>
        </p:nvSpPr>
        <p:spPr>
          <a:xfrm>
            <a:off x="777240" y="3429000"/>
            <a:ext cx="10607040" cy="713232"/>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547872"/>
            <a:ext cx="411480" cy="411480"/>
          </a:xfrm>
          <a:prstGeom prst="rect">
            <a:avLst/>
          </a:prstGeom>
        </p:spPr>
      </p:pic>
      <p:sp>
        <p:nvSpPr>
          <p:cNvPr id="15" name="Text 10"/>
          <p:cNvSpPr/>
          <p:nvPr/>
        </p:nvSpPr>
        <p:spPr>
          <a:xfrm>
            <a:off x="1554480" y="3474720"/>
            <a:ext cx="365760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Watch mode that's actually fast</a:t>
            </a:r>
            <a:endParaRPr lang="en-US" sz="1250" dirty="0"/>
          </a:p>
        </p:txBody>
      </p:sp>
      <p:sp>
        <p:nvSpPr>
          <p:cNvPr id="16" name="Text 11"/>
          <p:cNvSpPr/>
          <p:nvPr/>
        </p:nvSpPr>
        <p:spPr>
          <a:xfrm>
            <a:off x="5212080" y="3474720"/>
            <a:ext cx="61264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Re-runs only the affected tests on file change. Real TDD speed.</a:t>
            </a:r>
            <a:endParaRPr lang="en-US" sz="1150" dirty="0"/>
          </a:p>
        </p:txBody>
      </p:sp>
      <p:sp>
        <p:nvSpPr>
          <p:cNvPr id="17" name="Shape 12"/>
          <p:cNvSpPr/>
          <p:nvPr/>
        </p:nvSpPr>
        <p:spPr>
          <a:xfrm>
            <a:off x="777240" y="4297680"/>
            <a:ext cx="10607040" cy="713232"/>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4416552"/>
            <a:ext cx="411480" cy="411480"/>
          </a:xfrm>
          <a:prstGeom prst="rect">
            <a:avLst/>
          </a:prstGeom>
        </p:spPr>
      </p:pic>
      <p:sp>
        <p:nvSpPr>
          <p:cNvPr id="19" name="Text 13"/>
          <p:cNvSpPr/>
          <p:nvPr/>
        </p:nvSpPr>
        <p:spPr>
          <a:xfrm>
            <a:off x="1554480" y="4343400"/>
            <a:ext cx="365760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Built-in coverage via v8 (no Istanbul)</a:t>
            </a:r>
            <a:endParaRPr lang="en-US" sz="1250" dirty="0"/>
          </a:p>
        </p:txBody>
      </p:sp>
      <p:sp>
        <p:nvSpPr>
          <p:cNvPr id="20" name="Text 14"/>
          <p:cNvSpPr/>
          <p:nvPr/>
        </p:nvSpPr>
        <p:spPr>
          <a:xfrm>
            <a:off x="5212080" y="4343400"/>
            <a:ext cx="61264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Faster than Jest's coverage. JSON / HTML / lcov outputs supported.</a:t>
            </a:r>
            <a:endParaRPr lang="en-US" sz="1150" dirty="0"/>
          </a:p>
        </p:txBody>
      </p:sp>
      <p:sp>
        <p:nvSpPr>
          <p:cNvPr id="21" name="Shape 15"/>
          <p:cNvSpPr/>
          <p:nvPr/>
        </p:nvSpPr>
        <p:spPr>
          <a:xfrm>
            <a:off x="777240" y="5166360"/>
            <a:ext cx="10607040" cy="713232"/>
          </a:xfrm>
          <a:prstGeom prst="rect">
            <a:avLst/>
          </a:prstGeom>
          <a:solidFill>
            <a:srgbClr val="FFFFFF"/>
          </a:solidFill>
          <a:ln w="12700">
            <a:solidFill>
              <a:srgbClr val="E2E8F0"/>
            </a:solidFill>
            <a:prstDash val="solid"/>
          </a:ln>
        </p:spPr>
      </p:sp>
      <p:pic>
        <p:nvPicPr>
          <p:cNvPr id="22" name="Image 4" descr="preencoded.png">    </p:cNvPr>
          <p:cNvPicPr>
            <a:picLocks noChangeAspect="1"/>
          </p:cNvPicPr>
          <p:nvPr/>
        </p:nvPicPr>
        <p:blipFill>
          <a:blip r:embed="rId5"/>
          <a:stretch>
            <a:fillRect/>
          </a:stretch>
        </p:blipFill>
        <p:spPr>
          <a:xfrm>
            <a:off x="960120" y="5285232"/>
            <a:ext cx="411480" cy="411480"/>
          </a:xfrm>
          <a:prstGeom prst="rect">
            <a:avLst/>
          </a:prstGeom>
        </p:spPr>
      </p:pic>
      <p:sp>
        <p:nvSpPr>
          <p:cNvPr id="23" name="Text 16"/>
          <p:cNvSpPr/>
          <p:nvPr/>
        </p:nvSpPr>
        <p:spPr>
          <a:xfrm>
            <a:off x="1554480" y="5212080"/>
            <a:ext cx="365760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Shares your Vite config</a:t>
            </a:r>
            <a:endParaRPr lang="en-US" sz="1250" dirty="0"/>
          </a:p>
        </p:txBody>
      </p:sp>
      <p:sp>
        <p:nvSpPr>
          <p:cNvPr id="24" name="Text 17"/>
          <p:cNvSpPr/>
          <p:nvPr/>
        </p:nvSpPr>
        <p:spPr>
          <a:xfrm>
            <a:off x="5212080" y="5212080"/>
            <a:ext cx="61264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Path aliases, env vars, transformers — all reused from the app's Vite config.</a:t>
            </a:r>
            <a:endParaRPr lang="en-US" sz="1150" dirty="0"/>
          </a:p>
        </p:txBody>
      </p:sp>
      <p:sp>
        <p:nvSpPr>
          <p:cNvPr id="25" name="Text 1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26" name="Text 1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4 / 27</a:t>
            </a:r>
            <a:endParaRPr lang="en-US" sz="90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Vitest — setup and a first test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Two files. Done.</a:t>
            </a:r>
            <a:endParaRPr lang="en-US" sz="1400" dirty="0"/>
          </a:p>
        </p:txBody>
      </p:sp>
      <p:sp>
        <p:nvSpPr>
          <p:cNvPr id="5" name="Shape 3"/>
          <p:cNvSpPr/>
          <p:nvPr/>
        </p:nvSpPr>
        <p:spPr>
          <a:xfrm>
            <a:off x="777240" y="1554480"/>
            <a:ext cx="5943600" cy="4206240"/>
          </a:xfrm>
          <a:prstGeom prst="rect">
            <a:avLst/>
          </a:prstGeom>
          <a:solidFill>
            <a:srgbClr val="1E2A47"/>
          </a:solidFill>
          <a:ln w="12700">
            <a:solidFill>
              <a:srgbClr val="1E2A47"/>
            </a:solidFill>
            <a:prstDash val="solid"/>
          </a:ln>
        </p:spPr>
      </p:sp>
      <p:sp>
        <p:nvSpPr>
          <p:cNvPr id="6" name="Text 4"/>
          <p:cNvSpPr/>
          <p:nvPr/>
        </p:nvSpPr>
        <p:spPr>
          <a:xfrm>
            <a:off x="960120" y="1691640"/>
            <a:ext cx="5577840" cy="3931920"/>
          </a:xfrm>
          <a:prstGeom prst="rect">
            <a:avLst/>
          </a:prstGeom>
          <a:noFill/>
          <a:ln/>
        </p:spPr>
        <p:txBody>
          <a:bodyPr wrap="square" lIns="0" tIns="0" rIns="0" bIns="0" rtlCol="0" anchor="t"/>
          <a:lstStyle/>
          <a:p>
            <a:pPr indent="0" marL="0">
              <a:buNone/>
            </a:pPr>
            <a:r>
              <a:rPr lang="en-US" sz="1150" i="1" dirty="0">
                <a:solidFill>
                  <a:srgbClr val="6A9955"/>
                </a:solidFill>
                <a:latin typeface="Courier New" pitchFamily="34" charset="0"/>
                <a:ea typeface="Courier New" pitchFamily="34" charset="-122"/>
                <a:cs typeface="Courier New" pitchFamily="34" charset="-120"/>
              </a:rPr>
              <a:t>// vite.config.js</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import { defineConfig } from </a:t>
            </a:r>
            <a:pPr indent="0" marL="0">
              <a:buNone/>
            </a:pPr>
            <a:r>
              <a:rPr lang="en-US" sz="1150" dirty="0">
                <a:solidFill>
                  <a:srgbClr val="9CDCFE"/>
                </a:solidFill>
                <a:latin typeface="Courier New" pitchFamily="34" charset="0"/>
                <a:ea typeface="Courier New" pitchFamily="34" charset="-122"/>
                <a:cs typeface="Courier New" pitchFamily="34" charset="-120"/>
              </a:rPr>
              <a:t>'vitest/config'</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import react from </a:t>
            </a:r>
            <a:pPr indent="0" marL="0">
              <a:buNone/>
            </a:pPr>
            <a:r>
              <a:rPr lang="en-US" sz="1150" dirty="0">
                <a:solidFill>
                  <a:srgbClr val="9CDCFE"/>
                </a:solidFill>
                <a:latin typeface="Courier New" pitchFamily="34" charset="0"/>
                <a:ea typeface="Courier New" pitchFamily="34" charset="-122"/>
                <a:cs typeface="Courier New" pitchFamily="34" charset="-120"/>
              </a:rPr>
              <a:t>'@vitejs/plugin-react'</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export default </a:t>
            </a:r>
            <a:pPr indent="0" marL="0">
              <a:buNone/>
            </a:pPr>
            <a:r>
              <a:rPr lang="en-US" sz="1150" dirty="0">
                <a:solidFill>
                  <a:srgbClr val="DCDCAA"/>
                </a:solidFill>
                <a:latin typeface="Courier New" pitchFamily="34" charset="0"/>
                <a:ea typeface="Courier New" pitchFamily="34" charset="-122"/>
                <a:cs typeface="Courier New" pitchFamily="34" charset="-120"/>
              </a:rPr>
              <a:t>defineConfig</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9CDCFE"/>
                </a:solidFill>
                <a:latin typeface="Courier New" pitchFamily="34" charset="0"/>
                <a:ea typeface="Courier New" pitchFamily="34" charset="-122"/>
                <a:cs typeface="Courier New" pitchFamily="34" charset="-120"/>
              </a:rPr>
              <a:t>  plugins: [</a:t>
            </a:r>
            <a:pPr indent="0" marL="0">
              <a:buNone/>
            </a:pPr>
            <a:r>
              <a:rPr lang="en-US" sz="1150" dirty="0">
                <a:solidFill>
                  <a:srgbClr val="DCDCAA"/>
                </a:solidFill>
                <a:latin typeface="Courier New" pitchFamily="34" charset="0"/>
                <a:ea typeface="Courier New" pitchFamily="34" charset="-122"/>
                <a:cs typeface="Courier New" pitchFamily="34" charset="-120"/>
              </a:rPr>
              <a:t>react</a:t>
            </a:r>
            <a:pPr indent="0" marL="0">
              <a:buNone/>
            </a:pPr>
            <a:r>
              <a:rPr lang="en-US" sz="1150" dirty="0">
                <a:solidFill>
                  <a:srgbClr val="9CDCFE"/>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test: {</a:t>
            </a:r>
            <a:endParaRPr lang="en-US" sz="1150" dirty="0"/>
          </a:p>
          <a:p>
            <a:pPr indent="0" marL="0">
              <a:buNone/>
            </a:pPr>
            <a:r>
              <a:rPr lang="en-US" sz="1150" dirty="0">
                <a:solidFill>
                  <a:srgbClr val="9CDCFE"/>
                </a:solidFill>
                <a:latin typeface="Courier New" pitchFamily="34" charset="0"/>
                <a:ea typeface="Courier New" pitchFamily="34" charset="-122"/>
                <a:cs typeface="Courier New" pitchFamily="34" charset="-120"/>
              </a:rPr>
              <a:t>    environment: </a:t>
            </a:r>
            <a:pPr indent="0" marL="0">
              <a:buNone/>
            </a:pPr>
            <a:r>
              <a:rPr lang="en-US" sz="1150" dirty="0">
                <a:solidFill>
                  <a:srgbClr val="9CDCFE"/>
                </a:solidFill>
                <a:latin typeface="Courier New" pitchFamily="34" charset="0"/>
                <a:ea typeface="Courier New" pitchFamily="34" charset="-122"/>
                <a:cs typeface="Courier New" pitchFamily="34" charset="-120"/>
              </a:rPr>
              <a:t>'jsdom'</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9CDCFE"/>
                </a:solidFill>
                <a:latin typeface="Courier New" pitchFamily="34" charset="0"/>
                <a:ea typeface="Courier New" pitchFamily="34" charset="-122"/>
                <a:cs typeface="Courier New" pitchFamily="34" charset="-120"/>
              </a:rPr>
              <a:t>    setupFiles: [</a:t>
            </a:r>
            <a:pPr indent="0" marL="0">
              <a:buNone/>
            </a:pPr>
            <a:r>
              <a:rPr lang="en-US" sz="1150" dirty="0">
                <a:solidFill>
                  <a:srgbClr val="9CDCFE"/>
                </a:solidFill>
                <a:latin typeface="Courier New" pitchFamily="34" charset="0"/>
                <a:ea typeface="Courier New" pitchFamily="34" charset="-122"/>
                <a:cs typeface="Courier New" pitchFamily="34" charset="-120"/>
              </a:rPr>
              <a:t>'./src/test/setup.js'</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9CDCFE"/>
                </a:solidFill>
                <a:latin typeface="Courier New" pitchFamily="34" charset="0"/>
                <a:ea typeface="Courier New" pitchFamily="34" charset="-122"/>
                <a:cs typeface="Courier New" pitchFamily="34" charset="-120"/>
              </a:rPr>
              <a:t>    globals: </a:t>
            </a:r>
            <a:pPr indent="0" marL="0">
              <a:buNone/>
            </a:pPr>
            <a:r>
              <a:rPr lang="en-US" sz="1150" dirty="0">
                <a:solidFill>
                  <a:srgbClr val="C586C0"/>
                </a:solidFill>
                <a:latin typeface="Courier New" pitchFamily="34" charset="0"/>
                <a:ea typeface="Courier New" pitchFamily="34" charset="-122"/>
                <a:cs typeface="Courier New" pitchFamily="34" charset="-120"/>
              </a:rPr>
              <a:t>true</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p:txBody>
      </p:sp>
      <p:sp>
        <p:nvSpPr>
          <p:cNvPr id="7" name="Shape 5"/>
          <p:cNvSpPr/>
          <p:nvPr/>
        </p:nvSpPr>
        <p:spPr>
          <a:xfrm>
            <a:off x="6949440" y="1554480"/>
            <a:ext cx="4434840" cy="4206240"/>
          </a:xfrm>
          <a:prstGeom prst="rect">
            <a:avLst/>
          </a:prstGeom>
          <a:solidFill>
            <a:srgbClr val="1E2A47"/>
          </a:solidFill>
          <a:ln w="12700">
            <a:solidFill>
              <a:srgbClr val="1E2A47"/>
            </a:solidFill>
            <a:prstDash val="solid"/>
          </a:ln>
        </p:spPr>
      </p:sp>
      <p:sp>
        <p:nvSpPr>
          <p:cNvPr id="8" name="Text 6"/>
          <p:cNvSpPr/>
          <p:nvPr/>
        </p:nvSpPr>
        <p:spPr>
          <a:xfrm>
            <a:off x="7132320" y="1691640"/>
            <a:ext cx="4069080" cy="3931920"/>
          </a:xfrm>
          <a:prstGeom prst="rect">
            <a:avLst/>
          </a:prstGeom>
          <a:noFill/>
          <a:ln/>
        </p:spPr>
        <p:txBody>
          <a:bodyPr wrap="square" lIns="0" tIns="0" rIns="0" bIns="0" rtlCol="0" anchor="t"/>
          <a:lstStyle/>
          <a:p>
            <a:pPr indent="0" marL="0">
              <a:buNone/>
            </a:pPr>
            <a:r>
              <a:rPr lang="en-US" sz="1100" i="1" dirty="0">
                <a:solidFill>
                  <a:srgbClr val="6A9955"/>
                </a:solidFill>
                <a:latin typeface="Courier New" pitchFamily="34" charset="0"/>
                <a:ea typeface="Courier New" pitchFamily="34" charset="-122"/>
                <a:cs typeface="Courier New" pitchFamily="34" charset="-120"/>
              </a:rPr>
              <a:t>// src/sum.test.js</a:t>
            </a: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import { sum } from </a:t>
            </a:r>
            <a:pPr indent="0" marL="0">
              <a:buNone/>
            </a:pPr>
            <a:r>
              <a:rPr lang="en-US" sz="1100" dirty="0">
                <a:solidFill>
                  <a:srgbClr val="9CDCFE"/>
                </a:solidFill>
                <a:latin typeface="Courier New" pitchFamily="34" charset="0"/>
                <a:ea typeface="Courier New" pitchFamily="34" charset="-122"/>
                <a:cs typeface="Courier New" pitchFamily="34" charset="-120"/>
              </a:rPr>
              <a:t>'./sum'</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endParaRPr lang="en-US" sz="1100" dirty="0"/>
          </a:p>
          <a:p>
            <a:pPr indent="0" marL="0">
              <a:buNone/>
            </a:pPr>
            <a:r>
              <a:rPr lang="en-US" sz="1100" dirty="0">
                <a:solidFill>
                  <a:srgbClr val="DCDCAA"/>
                </a:solidFill>
                <a:latin typeface="Courier New" pitchFamily="34" charset="0"/>
                <a:ea typeface="Courier New" pitchFamily="34" charset="-122"/>
                <a:cs typeface="Courier New" pitchFamily="34" charset="-120"/>
              </a:rPr>
              <a:t>describe</a:t>
            </a:r>
            <a:pPr indent="0" marL="0">
              <a:buNone/>
            </a:pPr>
            <a:r>
              <a:rPr lang="en-US" sz="1100" dirty="0">
                <a:solidFill>
                  <a:srgbClr val="9CDCFE"/>
                </a:solidFill>
                <a:latin typeface="Courier New" pitchFamily="34" charset="0"/>
                <a:ea typeface="Courier New" pitchFamily="34" charset="-122"/>
                <a:cs typeface="Courier New" pitchFamily="34" charset="-120"/>
              </a:rPr>
              <a:t>(</a:t>
            </a:r>
            <a:pPr indent="0" marL="0">
              <a:buNone/>
            </a:pPr>
            <a:r>
              <a:rPr lang="en-US" sz="1100" dirty="0">
                <a:solidFill>
                  <a:srgbClr val="9CDCFE"/>
                </a:solidFill>
                <a:latin typeface="Courier New" pitchFamily="34" charset="0"/>
                <a:ea typeface="Courier New" pitchFamily="34" charset="-122"/>
                <a:cs typeface="Courier New" pitchFamily="34" charset="-120"/>
              </a:rPr>
              <a:t>'sum'</a:t>
            </a:r>
            <a:pPr indent="0" marL="0">
              <a:buNone/>
            </a:pPr>
            <a:r>
              <a:rPr lang="en-US" sz="1100" dirty="0">
                <a:solidFill>
                  <a:srgbClr val="FFFFFF"/>
                </a:solidFill>
                <a:latin typeface="Courier New" pitchFamily="34" charset="0"/>
                <a:ea typeface="Courier New" pitchFamily="34" charset="-122"/>
                <a:cs typeface="Courier New" pitchFamily="34" charset="-120"/>
              </a:rPr>
              <a:t>, () =&gt; {</a:t>
            </a:r>
            <a:endParaRPr lang="en-US" sz="1100" dirty="0"/>
          </a:p>
          <a:p>
            <a:pPr indent="0" marL="0">
              <a:buNone/>
            </a:pPr>
            <a:r>
              <a:rPr lang="en-US" sz="1100" dirty="0">
                <a:solidFill>
                  <a:srgbClr val="DCDCAA"/>
                </a:solidFill>
                <a:latin typeface="Courier New" pitchFamily="34" charset="0"/>
                <a:ea typeface="Courier New" pitchFamily="34" charset="-122"/>
                <a:cs typeface="Courier New" pitchFamily="34" charset="-120"/>
              </a:rPr>
              <a:t>  it</a:t>
            </a:r>
            <a:pPr indent="0" marL="0">
              <a:buNone/>
            </a:pPr>
            <a:r>
              <a:rPr lang="en-US" sz="1100" dirty="0">
                <a:solidFill>
                  <a:srgbClr val="9CDCFE"/>
                </a:solidFill>
                <a:latin typeface="Courier New" pitchFamily="34" charset="0"/>
                <a:ea typeface="Courier New" pitchFamily="34" charset="-122"/>
                <a:cs typeface="Courier New" pitchFamily="34" charset="-120"/>
              </a:rPr>
              <a:t>(</a:t>
            </a:r>
            <a:pPr indent="0" marL="0">
              <a:buNone/>
            </a:pPr>
            <a:r>
              <a:rPr lang="en-US" sz="1100" dirty="0">
                <a:solidFill>
                  <a:srgbClr val="9CDCFE"/>
                </a:solidFill>
                <a:latin typeface="Courier New" pitchFamily="34" charset="0"/>
                <a:ea typeface="Courier New" pitchFamily="34" charset="-122"/>
                <a:cs typeface="Courier New" pitchFamily="34" charset="-120"/>
              </a:rPr>
              <a:t>'adds two numbers'</a:t>
            </a:r>
            <a:pPr indent="0" marL="0">
              <a:buNone/>
            </a:pPr>
            <a:r>
              <a:rPr lang="en-US" sz="1100" dirty="0">
                <a:solidFill>
                  <a:srgbClr val="FFFFFF"/>
                </a:solidFill>
                <a:latin typeface="Courier New" pitchFamily="34" charset="0"/>
                <a:ea typeface="Courier New" pitchFamily="34" charset="-122"/>
                <a:cs typeface="Courier New" pitchFamily="34" charset="-120"/>
              </a:rPr>
              <a:t>, () =&gt; {</a:t>
            </a:r>
            <a:endParaRPr lang="en-US" sz="1100" dirty="0"/>
          </a:p>
          <a:p>
            <a:pPr indent="0" marL="0">
              <a:buNone/>
            </a:pPr>
            <a:r>
              <a:rPr lang="en-US" sz="1100" dirty="0">
                <a:solidFill>
                  <a:srgbClr val="DCDCAA"/>
                </a:solidFill>
                <a:latin typeface="Courier New" pitchFamily="34" charset="0"/>
                <a:ea typeface="Courier New" pitchFamily="34" charset="-122"/>
                <a:cs typeface="Courier New" pitchFamily="34" charset="-120"/>
              </a:rPr>
              <a:t>    expect</a:t>
            </a:r>
            <a:pPr indent="0" marL="0">
              <a:buNone/>
            </a:pPr>
            <a:r>
              <a:rPr lang="en-US" sz="1100" dirty="0">
                <a:solidFill>
                  <a:srgbClr val="FFFFFF"/>
                </a:solidFill>
                <a:latin typeface="Courier New" pitchFamily="34" charset="0"/>
                <a:ea typeface="Courier New" pitchFamily="34" charset="-122"/>
                <a:cs typeface="Courier New" pitchFamily="34" charset="-120"/>
              </a:rPr>
              <a:t>(sum(1, 2)).toBe(3);</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endParaRPr lang="en-US" sz="1100" dirty="0"/>
          </a:p>
          <a:p>
            <a:pPr indent="0" marL="0">
              <a:buNone/>
            </a:pPr>
            <a:r>
              <a:rPr lang="en-US" sz="1100" i="1" dirty="0">
                <a:solidFill>
                  <a:srgbClr val="6A9955"/>
                </a:solidFill>
                <a:latin typeface="Courier New" pitchFamily="34" charset="0"/>
                <a:ea typeface="Courier New" pitchFamily="34" charset="-122"/>
                <a:cs typeface="Courier New" pitchFamily="34" charset="-120"/>
              </a:rPr>
              <a:t>// run: npx vitest</a:t>
            </a:r>
            <a:endParaRPr lang="en-US" sz="110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5 / 27</a:t>
            </a:r>
            <a:endParaRPr lang="en-US" sz="90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6">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2</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React Testing Library</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Test what users see. Forget about implementation details.</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RTL philosophy</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If your test breaks every time you refactor without changing behavior, your test is wrong.</a:t>
            </a:r>
            <a:endParaRPr lang="en-US" sz="1400" dirty="0"/>
          </a:p>
        </p:txBody>
      </p:sp>
      <p:sp>
        <p:nvSpPr>
          <p:cNvPr id="5" name="Shape 3"/>
          <p:cNvSpPr/>
          <p:nvPr/>
        </p:nvSpPr>
        <p:spPr>
          <a:xfrm>
            <a:off x="777240" y="1691640"/>
            <a:ext cx="10607040" cy="1371600"/>
          </a:xfrm>
          <a:prstGeom prst="rect">
            <a:avLst/>
          </a:prstGeom>
          <a:solidFill>
            <a:srgbClr val="CBF1F6"/>
          </a:solidFill>
          <a:ln w="12700">
            <a:solidFill>
              <a:srgbClr val="CBF1F6"/>
            </a:solidFill>
            <a:prstDash val="solid"/>
          </a:ln>
        </p:spPr>
      </p:sp>
      <p:sp>
        <p:nvSpPr>
          <p:cNvPr id="6" name="Text 4"/>
          <p:cNvSpPr/>
          <p:nvPr/>
        </p:nvSpPr>
        <p:spPr>
          <a:xfrm>
            <a:off x="960120" y="1691640"/>
            <a:ext cx="10424160" cy="1371600"/>
          </a:xfrm>
          <a:prstGeom prst="rect">
            <a:avLst/>
          </a:prstGeom>
          <a:noFill/>
          <a:ln/>
        </p:spPr>
        <p:txBody>
          <a:bodyPr wrap="square" lIns="0" tIns="0" rIns="0" bIns="0" rtlCol="0" anchor="ctr"/>
          <a:lstStyle/>
          <a:p>
            <a:pPr algn="ctr" indent="0" marL="0">
              <a:buNone/>
            </a:pPr>
            <a:r>
              <a:rPr lang="en-US" sz="1700" i="1" dirty="0">
                <a:solidFill>
                  <a:srgbClr val="0F172A"/>
                </a:solidFill>
                <a:latin typeface="Arial" pitchFamily="34" charset="0"/>
                <a:ea typeface="Arial" pitchFamily="34" charset="-122"/>
                <a:cs typeface="Arial" pitchFamily="34" charset="-120"/>
              </a:rPr>
              <a:t>"The more your tests resemble the way your software is used, the more confidence they can give you."</a:t>
            </a:r>
            <a:endParaRPr lang="en-US" sz="1700" dirty="0"/>
          </a:p>
        </p:txBody>
      </p:sp>
      <p:sp>
        <p:nvSpPr>
          <p:cNvPr id="7" name="Text 5"/>
          <p:cNvSpPr/>
          <p:nvPr/>
        </p:nvSpPr>
        <p:spPr>
          <a:xfrm>
            <a:off x="960120" y="2743200"/>
            <a:ext cx="10424160" cy="365760"/>
          </a:xfrm>
          <a:prstGeom prst="rect">
            <a:avLst/>
          </a:prstGeom>
          <a:noFill/>
          <a:ln/>
        </p:spPr>
        <p:txBody>
          <a:bodyPr wrap="square" lIns="0" tIns="0" rIns="0" bIns="0" rtlCol="0" anchor="ctr"/>
          <a:lstStyle/>
          <a:p>
            <a:pPr algn="ctr" indent="0" marL="0">
              <a:buNone/>
            </a:pPr>
            <a:r>
              <a:rPr lang="en-US" sz="1200" i="1" dirty="0">
                <a:solidFill>
                  <a:srgbClr val="475569"/>
                </a:solidFill>
                <a:latin typeface="Arial" pitchFamily="34" charset="0"/>
                <a:ea typeface="Arial" pitchFamily="34" charset="-122"/>
                <a:cs typeface="Arial" pitchFamily="34" charset="-120"/>
              </a:rPr>
              <a:t>— Kent C. Dodds, RTL author</a:t>
            </a:r>
            <a:endParaRPr lang="en-US" sz="1200" dirty="0"/>
          </a:p>
        </p:txBody>
      </p:sp>
      <p:sp>
        <p:nvSpPr>
          <p:cNvPr id="8" name="Text 6"/>
          <p:cNvSpPr/>
          <p:nvPr/>
        </p:nvSpPr>
        <p:spPr>
          <a:xfrm>
            <a:off x="777240" y="3383280"/>
            <a:ext cx="1060704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Practical implications</a:t>
            </a:r>
            <a:endParaRPr lang="en-US" sz="1400" dirty="0"/>
          </a:p>
        </p:txBody>
      </p:sp>
      <p:sp>
        <p:nvSpPr>
          <p:cNvPr id="9" name="Text 7"/>
          <p:cNvSpPr/>
          <p:nvPr/>
        </p:nvSpPr>
        <p:spPr>
          <a:xfrm>
            <a:off x="777240" y="3749040"/>
            <a:ext cx="10607040" cy="2377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Query by ROLE first, then by accessible name, label, or text — not by class names or test IDs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Simulate USER actions (user-event), not DOM events (fireEvent)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Assert on what the user can perceive — visible text, focused element, navigation</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Don't test that a useState was called or that a callback received a specific argument</a:t>
            </a:r>
            <a:endParaRPr lang="en-US" sz="1250" dirty="0"/>
          </a:p>
        </p:txBody>
      </p:sp>
      <p:sp>
        <p:nvSpPr>
          <p:cNvPr id="10" name="Text 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11" name="Text 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7 / 27</a:t>
            </a:r>
            <a:endParaRPr lang="en-US" sz="90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Query priority hierarchy</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Use the highest-priority query that fits. The lower you go, the brittler the test.</a:t>
            </a:r>
            <a:endParaRPr lang="en-US" sz="1400" dirty="0"/>
          </a:p>
        </p:txBody>
      </p:sp>
      <p:sp>
        <p:nvSpPr>
          <p:cNvPr id="5" name="Shape 3"/>
          <p:cNvSpPr/>
          <p:nvPr/>
        </p:nvSpPr>
        <p:spPr>
          <a:xfrm>
            <a:off x="777240" y="1691640"/>
            <a:ext cx="10607040" cy="566928"/>
          </a:xfrm>
          <a:prstGeom prst="rect">
            <a:avLst/>
          </a:prstGeom>
          <a:solidFill>
            <a:srgbClr val="FFFFFF"/>
          </a:solidFill>
          <a:ln w="12700">
            <a:solidFill>
              <a:srgbClr val="E2E8F0"/>
            </a:solidFill>
            <a:prstDash val="solid"/>
          </a:ln>
        </p:spPr>
      </p:sp>
      <p:sp>
        <p:nvSpPr>
          <p:cNvPr id="6" name="Shape 4"/>
          <p:cNvSpPr/>
          <p:nvPr/>
        </p:nvSpPr>
        <p:spPr>
          <a:xfrm>
            <a:off x="914400" y="1837944"/>
            <a:ext cx="292608" cy="292608"/>
          </a:xfrm>
          <a:prstGeom prst="ellipse">
            <a:avLst/>
          </a:prstGeom>
          <a:solidFill>
            <a:srgbClr val="00B8D9"/>
          </a:solidFill>
          <a:ln w="12700">
            <a:solidFill>
              <a:srgbClr val="00B8D9"/>
            </a:solidFill>
            <a:prstDash val="solid"/>
          </a:ln>
        </p:spPr>
      </p:sp>
      <p:sp>
        <p:nvSpPr>
          <p:cNvPr id="7" name="Text 5"/>
          <p:cNvSpPr/>
          <p:nvPr/>
        </p:nvSpPr>
        <p:spPr>
          <a:xfrm>
            <a:off x="914400" y="18379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1</a:t>
            </a:r>
            <a:endParaRPr lang="en-US" sz="1100" dirty="0"/>
          </a:p>
        </p:txBody>
      </p:sp>
      <p:sp>
        <p:nvSpPr>
          <p:cNvPr id="8" name="Text 6"/>
          <p:cNvSpPr/>
          <p:nvPr/>
        </p:nvSpPr>
        <p:spPr>
          <a:xfrm>
            <a:off x="1325880" y="1737360"/>
            <a:ext cx="3200400" cy="502920"/>
          </a:xfrm>
          <a:prstGeom prst="rect">
            <a:avLst/>
          </a:prstGeom>
          <a:noFill/>
          <a:ln/>
        </p:spPr>
        <p:txBody>
          <a:bodyPr wrap="square" lIns="0" tIns="0" rIns="0" bIns="0" rtlCol="0" anchor="ctr"/>
          <a:lstStyle/>
          <a:p>
            <a:pPr indent="0" marL="0">
              <a:buNone/>
            </a:pPr>
            <a:r>
              <a:rPr lang="en-US" sz="1200" b="1" dirty="0">
                <a:solidFill>
                  <a:srgbClr val="0F172A"/>
                </a:solidFill>
                <a:latin typeface="Courier New" pitchFamily="34" charset="0"/>
                <a:ea typeface="Courier New" pitchFamily="34" charset="-122"/>
                <a:cs typeface="Courier New" pitchFamily="34" charset="-120"/>
              </a:rPr>
              <a:t>getByRole</a:t>
            </a:r>
            <a:endParaRPr lang="en-US" sz="1200" dirty="0"/>
          </a:p>
        </p:txBody>
      </p:sp>
      <p:sp>
        <p:nvSpPr>
          <p:cNvPr id="9" name="Text 7"/>
          <p:cNvSpPr/>
          <p:nvPr/>
        </p:nvSpPr>
        <p:spPr>
          <a:xfrm>
            <a:off x="4572000" y="1737360"/>
            <a:ext cx="676656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Accessible to everyone, including screen readers. Almost always the right answer.</a:t>
            </a:r>
            <a:endParaRPr lang="en-US" sz="1100" dirty="0"/>
          </a:p>
        </p:txBody>
      </p:sp>
      <p:sp>
        <p:nvSpPr>
          <p:cNvPr id="10" name="Shape 8"/>
          <p:cNvSpPr/>
          <p:nvPr/>
        </p:nvSpPr>
        <p:spPr>
          <a:xfrm>
            <a:off x="777240" y="2331720"/>
            <a:ext cx="10607040" cy="566928"/>
          </a:xfrm>
          <a:prstGeom prst="rect">
            <a:avLst/>
          </a:prstGeom>
          <a:solidFill>
            <a:srgbClr val="F8FAFC"/>
          </a:solidFill>
          <a:ln w="12700">
            <a:solidFill>
              <a:srgbClr val="E2E8F0"/>
            </a:solidFill>
            <a:prstDash val="solid"/>
          </a:ln>
        </p:spPr>
      </p:sp>
      <p:sp>
        <p:nvSpPr>
          <p:cNvPr id="11" name="Shape 9"/>
          <p:cNvSpPr/>
          <p:nvPr/>
        </p:nvSpPr>
        <p:spPr>
          <a:xfrm>
            <a:off x="914400" y="2478024"/>
            <a:ext cx="292608" cy="292608"/>
          </a:xfrm>
          <a:prstGeom prst="ellipse">
            <a:avLst/>
          </a:prstGeom>
          <a:solidFill>
            <a:srgbClr val="00B8D9"/>
          </a:solidFill>
          <a:ln w="12700">
            <a:solidFill>
              <a:srgbClr val="00B8D9"/>
            </a:solidFill>
            <a:prstDash val="solid"/>
          </a:ln>
        </p:spPr>
      </p:sp>
      <p:sp>
        <p:nvSpPr>
          <p:cNvPr id="12" name="Text 10"/>
          <p:cNvSpPr/>
          <p:nvPr/>
        </p:nvSpPr>
        <p:spPr>
          <a:xfrm>
            <a:off x="914400" y="247802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a:t>
            </a:r>
            <a:endParaRPr lang="en-US" sz="1100" dirty="0"/>
          </a:p>
        </p:txBody>
      </p:sp>
      <p:sp>
        <p:nvSpPr>
          <p:cNvPr id="13" name="Text 11"/>
          <p:cNvSpPr/>
          <p:nvPr/>
        </p:nvSpPr>
        <p:spPr>
          <a:xfrm>
            <a:off x="1325880" y="2377440"/>
            <a:ext cx="3200400" cy="502920"/>
          </a:xfrm>
          <a:prstGeom prst="rect">
            <a:avLst/>
          </a:prstGeom>
          <a:noFill/>
          <a:ln/>
        </p:spPr>
        <p:txBody>
          <a:bodyPr wrap="square" lIns="0" tIns="0" rIns="0" bIns="0" rtlCol="0" anchor="ctr"/>
          <a:lstStyle/>
          <a:p>
            <a:pPr indent="0" marL="0">
              <a:buNone/>
            </a:pPr>
            <a:r>
              <a:rPr lang="en-US" sz="1200" b="1" dirty="0">
                <a:solidFill>
                  <a:srgbClr val="0F172A"/>
                </a:solidFill>
                <a:latin typeface="Courier New" pitchFamily="34" charset="0"/>
                <a:ea typeface="Courier New" pitchFamily="34" charset="-122"/>
                <a:cs typeface="Courier New" pitchFamily="34" charset="-120"/>
              </a:rPr>
              <a:t>getByLabelText</a:t>
            </a:r>
            <a:endParaRPr lang="en-US" sz="1200" dirty="0"/>
          </a:p>
        </p:txBody>
      </p:sp>
      <p:sp>
        <p:nvSpPr>
          <p:cNvPr id="14" name="Text 12"/>
          <p:cNvSpPr/>
          <p:nvPr/>
        </p:nvSpPr>
        <p:spPr>
          <a:xfrm>
            <a:off x="4572000" y="2377440"/>
            <a:ext cx="676656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Form fields. Labels carry semantic meaning.</a:t>
            </a:r>
            <a:endParaRPr lang="en-US" sz="1100" dirty="0"/>
          </a:p>
        </p:txBody>
      </p:sp>
      <p:sp>
        <p:nvSpPr>
          <p:cNvPr id="15" name="Shape 13"/>
          <p:cNvSpPr/>
          <p:nvPr/>
        </p:nvSpPr>
        <p:spPr>
          <a:xfrm>
            <a:off x="777240" y="2971800"/>
            <a:ext cx="10607040" cy="566928"/>
          </a:xfrm>
          <a:prstGeom prst="rect">
            <a:avLst/>
          </a:prstGeom>
          <a:solidFill>
            <a:srgbClr val="FFFFFF"/>
          </a:solidFill>
          <a:ln w="12700">
            <a:solidFill>
              <a:srgbClr val="E2E8F0"/>
            </a:solidFill>
            <a:prstDash val="solid"/>
          </a:ln>
        </p:spPr>
      </p:sp>
      <p:sp>
        <p:nvSpPr>
          <p:cNvPr id="16" name="Shape 14"/>
          <p:cNvSpPr/>
          <p:nvPr/>
        </p:nvSpPr>
        <p:spPr>
          <a:xfrm>
            <a:off x="914400" y="3118104"/>
            <a:ext cx="292608" cy="292608"/>
          </a:xfrm>
          <a:prstGeom prst="ellipse">
            <a:avLst/>
          </a:prstGeom>
          <a:solidFill>
            <a:srgbClr val="00B8D9"/>
          </a:solidFill>
          <a:ln w="12700">
            <a:solidFill>
              <a:srgbClr val="00B8D9"/>
            </a:solidFill>
            <a:prstDash val="solid"/>
          </a:ln>
        </p:spPr>
      </p:sp>
      <p:sp>
        <p:nvSpPr>
          <p:cNvPr id="17" name="Text 15"/>
          <p:cNvSpPr/>
          <p:nvPr/>
        </p:nvSpPr>
        <p:spPr>
          <a:xfrm>
            <a:off x="914400" y="311810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3</a:t>
            </a:r>
            <a:endParaRPr lang="en-US" sz="1100" dirty="0"/>
          </a:p>
        </p:txBody>
      </p:sp>
      <p:sp>
        <p:nvSpPr>
          <p:cNvPr id="18" name="Text 16"/>
          <p:cNvSpPr/>
          <p:nvPr/>
        </p:nvSpPr>
        <p:spPr>
          <a:xfrm>
            <a:off x="1325880" y="3017520"/>
            <a:ext cx="3200400" cy="502920"/>
          </a:xfrm>
          <a:prstGeom prst="rect">
            <a:avLst/>
          </a:prstGeom>
          <a:noFill/>
          <a:ln/>
        </p:spPr>
        <p:txBody>
          <a:bodyPr wrap="square" lIns="0" tIns="0" rIns="0" bIns="0" rtlCol="0" anchor="ctr"/>
          <a:lstStyle/>
          <a:p>
            <a:pPr indent="0" marL="0">
              <a:buNone/>
            </a:pPr>
            <a:r>
              <a:rPr lang="en-US" sz="1200" b="1" dirty="0">
                <a:solidFill>
                  <a:srgbClr val="0F172A"/>
                </a:solidFill>
                <a:latin typeface="Courier New" pitchFamily="34" charset="0"/>
                <a:ea typeface="Courier New" pitchFamily="34" charset="-122"/>
                <a:cs typeface="Courier New" pitchFamily="34" charset="-120"/>
              </a:rPr>
              <a:t>getByPlaceholderText</a:t>
            </a:r>
            <a:endParaRPr lang="en-US" sz="1200" dirty="0"/>
          </a:p>
        </p:txBody>
      </p:sp>
      <p:sp>
        <p:nvSpPr>
          <p:cNvPr id="19" name="Text 17"/>
          <p:cNvSpPr/>
          <p:nvPr/>
        </p:nvSpPr>
        <p:spPr>
          <a:xfrm>
            <a:off x="4572000" y="3017520"/>
            <a:ext cx="676656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Fallback for inputs without a proper label. Worse than 2 — fix the label instead.</a:t>
            </a:r>
            <a:endParaRPr lang="en-US" sz="1100" dirty="0"/>
          </a:p>
        </p:txBody>
      </p:sp>
      <p:sp>
        <p:nvSpPr>
          <p:cNvPr id="20" name="Shape 18"/>
          <p:cNvSpPr/>
          <p:nvPr/>
        </p:nvSpPr>
        <p:spPr>
          <a:xfrm>
            <a:off x="777240" y="3611880"/>
            <a:ext cx="10607040" cy="566928"/>
          </a:xfrm>
          <a:prstGeom prst="rect">
            <a:avLst/>
          </a:prstGeom>
          <a:solidFill>
            <a:srgbClr val="F8FAFC"/>
          </a:solidFill>
          <a:ln w="12700">
            <a:solidFill>
              <a:srgbClr val="E2E8F0"/>
            </a:solidFill>
            <a:prstDash val="solid"/>
          </a:ln>
        </p:spPr>
      </p:sp>
      <p:sp>
        <p:nvSpPr>
          <p:cNvPr id="21" name="Shape 19"/>
          <p:cNvSpPr/>
          <p:nvPr/>
        </p:nvSpPr>
        <p:spPr>
          <a:xfrm>
            <a:off x="914400" y="3758184"/>
            <a:ext cx="292608" cy="292608"/>
          </a:xfrm>
          <a:prstGeom prst="ellipse">
            <a:avLst/>
          </a:prstGeom>
          <a:solidFill>
            <a:srgbClr val="00B8D9"/>
          </a:solidFill>
          <a:ln w="12700">
            <a:solidFill>
              <a:srgbClr val="00B8D9"/>
            </a:solidFill>
            <a:prstDash val="solid"/>
          </a:ln>
        </p:spPr>
      </p:sp>
      <p:sp>
        <p:nvSpPr>
          <p:cNvPr id="22" name="Text 20"/>
          <p:cNvSpPr/>
          <p:nvPr/>
        </p:nvSpPr>
        <p:spPr>
          <a:xfrm>
            <a:off x="914400" y="375818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4</a:t>
            </a:r>
            <a:endParaRPr lang="en-US" sz="1100" dirty="0"/>
          </a:p>
        </p:txBody>
      </p:sp>
      <p:sp>
        <p:nvSpPr>
          <p:cNvPr id="23" name="Text 21"/>
          <p:cNvSpPr/>
          <p:nvPr/>
        </p:nvSpPr>
        <p:spPr>
          <a:xfrm>
            <a:off x="1325880" y="3657600"/>
            <a:ext cx="3200400" cy="502920"/>
          </a:xfrm>
          <a:prstGeom prst="rect">
            <a:avLst/>
          </a:prstGeom>
          <a:noFill/>
          <a:ln/>
        </p:spPr>
        <p:txBody>
          <a:bodyPr wrap="square" lIns="0" tIns="0" rIns="0" bIns="0" rtlCol="0" anchor="ctr"/>
          <a:lstStyle/>
          <a:p>
            <a:pPr indent="0" marL="0">
              <a:buNone/>
            </a:pPr>
            <a:r>
              <a:rPr lang="en-US" sz="1200" b="1" dirty="0">
                <a:solidFill>
                  <a:srgbClr val="0F172A"/>
                </a:solidFill>
                <a:latin typeface="Courier New" pitchFamily="34" charset="0"/>
                <a:ea typeface="Courier New" pitchFamily="34" charset="-122"/>
                <a:cs typeface="Courier New" pitchFamily="34" charset="-120"/>
              </a:rPr>
              <a:t>getByText</a:t>
            </a:r>
            <a:endParaRPr lang="en-US" sz="1200" dirty="0"/>
          </a:p>
        </p:txBody>
      </p:sp>
      <p:sp>
        <p:nvSpPr>
          <p:cNvPr id="24" name="Text 22"/>
          <p:cNvSpPr/>
          <p:nvPr/>
        </p:nvSpPr>
        <p:spPr>
          <a:xfrm>
            <a:off x="4572000" y="3657600"/>
            <a:ext cx="676656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Non-interactive content. Use sparingly — text changes more than roles.</a:t>
            </a:r>
            <a:endParaRPr lang="en-US" sz="1100" dirty="0"/>
          </a:p>
        </p:txBody>
      </p:sp>
      <p:sp>
        <p:nvSpPr>
          <p:cNvPr id="25" name="Shape 23"/>
          <p:cNvSpPr/>
          <p:nvPr/>
        </p:nvSpPr>
        <p:spPr>
          <a:xfrm>
            <a:off x="777240" y="4251960"/>
            <a:ext cx="10607040" cy="566928"/>
          </a:xfrm>
          <a:prstGeom prst="rect">
            <a:avLst/>
          </a:prstGeom>
          <a:solidFill>
            <a:srgbClr val="FFFFFF"/>
          </a:solidFill>
          <a:ln w="12700">
            <a:solidFill>
              <a:srgbClr val="E2E8F0"/>
            </a:solidFill>
            <a:prstDash val="solid"/>
          </a:ln>
        </p:spPr>
      </p:sp>
      <p:sp>
        <p:nvSpPr>
          <p:cNvPr id="26" name="Shape 24"/>
          <p:cNvSpPr/>
          <p:nvPr/>
        </p:nvSpPr>
        <p:spPr>
          <a:xfrm>
            <a:off x="914400" y="4398264"/>
            <a:ext cx="292608" cy="292608"/>
          </a:xfrm>
          <a:prstGeom prst="ellipse">
            <a:avLst/>
          </a:prstGeom>
          <a:solidFill>
            <a:srgbClr val="00B8D9"/>
          </a:solidFill>
          <a:ln w="12700">
            <a:solidFill>
              <a:srgbClr val="00B8D9"/>
            </a:solidFill>
            <a:prstDash val="solid"/>
          </a:ln>
        </p:spPr>
      </p:sp>
      <p:sp>
        <p:nvSpPr>
          <p:cNvPr id="27" name="Text 25"/>
          <p:cNvSpPr/>
          <p:nvPr/>
        </p:nvSpPr>
        <p:spPr>
          <a:xfrm>
            <a:off x="914400" y="43982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5</a:t>
            </a:r>
            <a:endParaRPr lang="en-US" sz="1100" dirty="0"/>
          </a:p>
        </p:txBody>
      </p:sp>
      <p:sp>
        <p:nvSpPr>
          <p:cNvPr id="28" name="Text 26"/>
          <p:cNvSpPr/>
          <p:nvPr/>
        </p:nvSpPr>
        <p:spPr>
          <a:xfrm>
            <a:off x="1325880" y="4297680"/>
            <a:ext cx="3200400" cy="502920"/>
          </a:xfrm>
          <a:prstGeom prst="rect">
            <a:avLst/>
          </a:prstGeom>
          <a:noFill/>
          <a:ln/>
        </p:spPr>
        <p:txBody>
          <a:bodyPr wrap="square" lIns="0" tIns="0" rIns="0" bIns="0" rtlCol="0" anchor="ctr"/>
          <a:lstStyle/>
          <a:p>
            <a:pPr indent="0" marL="0">
              <a:buNone/>
            </a:pPr>
            <a:r>
              <a:rPr lang="en-US" sz="1200" b="1" dirty="0">
                <a:solidFill>
                  <a:srgbClr val="0F172A"/>
                </a:solidFill>
                <a:latin typeface="Courier New" pitchFamily="34" charset="0"/>
                <a:ea typeface="Courier New" pitchFamily="34" charset="-122"/>
                <a:cs typeface="Courier New" pitchFamily="34" charset="-120"/>
              </a:rPr>
              <a:t>getByDisplayValue</a:t>
            </a:r>
            <a:endParaRPr lang="en-US" sz="1200" dirty="0"/>
          </a:p>
        </p:txBody>
      </p:sp>
      <p:sp>
        <p:nvSpPr>
          <p:cNvPr id="29" name="Text 27"/>
          <p:cNvSpPr/>
          <p:nvPr/>
        </p:nvSpPr>
        <p:spPr>
          <a:xfrm>
            <a:off x="4572000" y="4297680"/>
            <a:ext cx="676656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The current value of an input. Useful in form-driven tests.</a:t>
            </a:r>
            <a:endParaRPr lang="en-US" sz="1100" dirty="0"/>
          </a:p>
        </p:txBody>
      </p:sp>
      <p:sp>
        <p:nvSpPr>
          <p:cNvPr id="30" name="Shape 28"/>
          <p:cNvSpPr/>
          <p:nvPr/>
        </p:nvSpPr>
        <p:spPr>
          <a:xfrm>
            <a:off x="777240" y="4892040"/>
            <a:ext cx="10607040" cy="566928"/>
          </a:xfrm>
          <a:prstGeom prst="rect">
            <a:avLst/>
          </a:prstGeom>
          <a:solidFill>
            <a:srgbClr val="F8FAFC"/>
          </a:solidFill>
          <a:ln w="12700">
            <a:solidFill>
              <a:srgbClr val="E2E8F0"/>
            </a:solidFill>
            <a:prstDash val="solid"/>
          </a:ln>
        </p:spPr>
      </p:sp>
      <p:sp>
        <p:nvSpPr>
          <p:cNvPr id="31" name="Shape 29"/>
          <p:cNvSpPr/>
          <p:nvPr/>
        </p:nvSpPr>
        <p:spPr>
          <a:xfrm>
            <a:off x="914400" y="5038344"/>
            <a:ext cx="292608" cy="292608"/>
          </a:xfrm>
          <a:prstGeom prst="ellipse">
            <a:avLst/>
          </a:prstGeom>
          <a:solidFill>
            <a:srgbClr val="00B8D9"/>
          </a:solidFill>
          <a:ln w="12700">
            <a:solidFill>
              <a:srgbClr val="00B8D9"/>
            </a:solidFill>
            <a:prstDash val="solid"/>
          </a:ln>
        </p:spPr>
      </p:sp>
      <p:sp>
        <p:nvSpPr>
          <p:cNvPr id="32" name="Text 30"/>
          <p:cNvSpPr/>
          <p:nvPr/>
        </p:nvSpPr>
        <p:spPr>
          <a:xfrm>
            <a:off x="914400" y="50383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6</a:t>
            </a:r>
            <a:endParaRPr lang="en-US" sz="1100" dirty="0"/>
          </a:p>
        </p:txBody>
      </p:sp>
      <p:sp>
        <p:nvSpPr>
          <p:cNvPr id="33" name="Text 31"/>
          <p:cNvSpPr/>
          <p:nvPr/>
        </p:nvSpPr>
        <p:spPr>
          <a:xfrm>
            <a:off x="1325880" y="4937760"/>
            <a:ext cx="3200400" cy="502920"/>
          </a:xfrm>
          <a:prstGeom prst="rect">
            <a:avLst/>
          </a:prstGeom>
          <a:noFill/>
          <a:ln/>
        </p:spPr>
        <p:txBody>
          <a:bodyPr wrap="square" lIns="0" tIns="0" rIns="0" bIns="0" rtlCol="0" anchor="ctr"/>
          <a:lstStyle/>
          <a:p>
            <a:pPr indent="0" marL="0">
              <a:buNone/>
            </a:pPr>
            <a:r>
              <a:rPr lang="en-US" sz="1200" b="1" dirty="0">
                <a:solidFill>
                  <a:srgbClr val="0F172A"/>
                </a:solidFill>
                <a:latin typeface="Courier New" pitchFamily="34" charset="0"/>
                <a:ea typeface="Courier New" pitchFamily="34" charset="-122"/>
                <a:cs typeface="Courier New" pitchFamily="34" charset="-120"/>
              </a:rPr>
              <a:t>getByAltText, getByTitle</a:t>
            </a:r>
            <a:endParaRPr lang="en-US" sz="1200" dirty="0"/>
          </a:p>
        </p:txBody>
      </p:sp>
      <p:sp>
        <p:nvSpPr>
          <p:cNvPr id="34" name="Text 32"/>
          <p:cNvSpPr/>
          <p:nvPr/>
        </p:nvSpPr>
        <p:spPr>
          <a:xfrm>
            <a:off x="4572000" y="4937760"/>
            <a:ext cx="676656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Images, abbreviations. Tied to accessible attributes.</a:t>
            </a:r>
            <a:endParaRPr lang="en-US" sz="1100" dirty="0"/>
          </a:p>
        </p:txBody>
      </p:sp>
      <p:sp>
        <p:nvSpPr>
          <p:cNvPr id="35" name="Shape 33"/>
          <p:cNvSpPr/>
          <p:nvPr/>
        </p:nvSpPr>
        <p:spPr>
          <a:xfrm>
            <a:off x="777240" y="5532120"/>
            <a:ext cx="10607040" cy="566928"/>
          </a:xfrm>
          <a:prstGeom prst="rect">
            <a:avLst/>
          </a:prstGeom>
          <a:solidFill>
            <a:srgbClr val="FFFFFF"/>
          </a:solidFill>
          <a:ln w="12700">
            <a:solidFill>
              <a:srgbClr val="E2E8F0"/>
            </a:solidFill>
            <a:prstDash val="solid"/>
          </a:ln>
        </p:spPr>
      </p:sp>
      <p:sp>
        <p:nvSpPr>
          <p:cNvPr id="36" name="Shape 34"/>
          <p:cNvSpPr/>
          <p:nvPr/>
        </p:nvSpPr>
        <p:spPr>
          <a:xfrm>
            <a:off x="914400" y="5678424"/>
            <a:ext cx="292608" cy="292608"/>
          </a:xfrm>
          <a:prstGeom prst="ellipse">
            <a:avLst/>
          </a:prstGeom>
          <a:solidFill>
            <a:srgbClr val="00B8D9"/>
          </a:solidFill>
          <a:ln w="12700">
            <a:solidFill>
              <a:srgbClr val="00B8D9"/>
            </a:solidFill>
            <a:prstDash val="solid"/>
          </a:ln>
        </p:spPr>
      </p:sp>
      <p:sp>
        <p:nvSpPr>
          <p:cNvPr id="37" name="Text 35"/>
          <p:cNvSpPr/>
          <p:nvPr/>
        </p:nvSpPr>
        <p:spPr>
          <a:xfrm>
            <a:off x="914400" y="567842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7</a:t>
            </a:r>
            <a:endParaRPr lang="en-US" sz="1100" dirty="0"/>
          </a:p>
        </p:txBody>
      </p:sp>
      <p:sp>
        <p:nvSpPr>
          <p:cNvPr id="38" name="Text 36"/>
          <p:cNvSpPr/>
          <p:nvPr/>
        </p:nvSpPr>
        <p:spPr>
          <a:xfrm>
            <a:off x="1325880" y="5577840"/>
            <a:ext cx="3200400" cy="502920"/>
          </a:xfrm>
          <a:prstGeom prst="rect">
            <a:avLst/>
          </a:prstGeom>
          <a:noFill/>
          <a:ln/>
        </p:spPr>
        <p:txBody>
          <a:bodyPr wrap="square" lIns="0" tIns="0" rIns="0" bIns="0" rtlCol="0" anchor="ctr"/>
          <a:lstStyle/>
          <a:p>
            <a:pPr indent="0" marL="0">
              <a:buNone/>
            </a:pPr>
            <a:r>
              <a:rPr lang="en-US" sz="1200" b="1" dirty="0">
                <a:solidFill>
                  <a:srgbClr val="0F172A"/>
                </a:solidFill>
                <a:latin typeface="Courier New" pitchFamily="34" charset="0"/>
                <a:ea typeface="Courier New" pitchFamily="34" charset="-122"/>
                <a:cs typeface="Courier New" pitchFamily="34" charset="-120"/>
              </a:rPr>
              <a:t>getByTestId</a:t>
            </a:r>
            <a:endParaRPr lang="en-US" sz="1200" dirty="0"/>
          </a:p>
        </p:txBody>
      </p:sp>
      <p:sp>
        <p:nvSpPr>
          <p:cNvPr id="39" name="Text 37"/>
          <p:cNvSpPr/>
          <p:nvPr/>
        </p:nvSpPr>
        <p:spPr>
          <a:xfrm>
            <a:off x="4572000" y="5577840"/>
            <a:ext cx="6766560" cy="502920"/>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Last resort. Treat as code smell — usually means the UI lacks accessibility metadata.</a:t>
            </a:r>
            <a:endParaRPr lang="en-US" sz="1100" dirty="0"/>
          </a:p>
        </p:txBody>
      </p:sp>
      <p:sp>
        <p:nvSpPr>
          <p:cNvPr id="40" name="Text 3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41" name="Text 3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8 / 27</a:t>
            </a:r>
            <a:endParaRPr lang="en-US" sz="90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user-event vs fireEvent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Both type characters into a field. Only one simulates what the user actually does.</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300" b="1" dirty="0">
                <a:solidFill>
                  <a:srgbClr val="D97706"/>
                </a:solidFill>
                <a:latin typeface="Trebuchet MS" pitchFamily="34" charset="0"/>
                <a:ea typeface="Trebuchet MS" pitchFamily="34" charset="-122"/>
                <a:cs typeface="Trebuchet MS" pitchFamily="34" charset="-120"/>
              </a:rPr>
              <a:t>fireEvent — low-level</a:t>
            </a:r>
            <a:endParaRPr lang="en-US" sz="1300" dirty="0"/>
          </a:p>
        </p:txBody>
      </p:sp>
      <p:sp>
        <p:nvSpPr>
          <p:cNvPr id="6" name="Shape 4"/>
          <p:cNvSpPr/>
          <p:nvPr/>
        </p:nvSpPr>
        <p:spPr>
          <a:xfrm>
            <a:off x="777240" y="1920240"/>
            <a:ext cx="5349240" cy="2286000"/>
          </a:xfrm>
          <a:prstGeom prst="rect">
            <a:avLst/>
          </a:prstGeom>
          <a:solidFill>
            <a:srgbClr val="1E2A47"/>
          </a:solidFill>
          <a:ln w="12700">
            <a:solidFill>
              <a:srgbClr val="1E2A47"/>
            </a:solidFill>
            <a:prstDash val="solid"/>
          </a:ln>
        </p:spPr>
      </p:sp>
      <p:sp>
        <p:nvSpPr>
          <p:cNvPr id="7" name="Text 5"/>
          <p:cNvSpPr/>
          <p:nvPr/>
        </p:nvSpPr>
        <p:spPr>
          <a:xfrm>
            <a:off x="960120" y="2057400"/>
            <a:ext cx="4983480" cy="2011680"/>
          </a:xfrm>
          <a:prstGeom prst="rect">
            <a:avLst/>
          </a:prstGeom>
          <a:noFill/>
          <a:ln/>
        </p:spPr>
        <p:txBody>
          <a:bodyPr wrap="square" lIns="0" tIns="0" rIns="0" bIns="0" rtlCol="0" anchor="t"/>
          <a:lstStyle/>
          <a:p>
            <a:pPr indent="0" marL="0">
              <a:buNone/>
            </a:pPr>
            <a:r>
              <a:rPr lang="en-US" sz="1100" dirty="0">
                <a:solidFill>
                  <a:srgbClr val="C586C0"/>
                </a:solidFill>
                <a:latin typeface="Courier New" pitchFamily="34" charset="0"/>
                <a:ea typeface="Courier New" pitchFamily="34" charset="-122"/>
                <a:cs typeface="Courier New" pitchFamily="34" charset="-120"/>
              </a:rPr>
              <a:t>import { fireEvent } from </a:t>
            </a:r>
            <a:pPr indent="0" marL="0">
              <a:buNone/>
            </a:pPr>
            <a:r>
              <a:rPr lang="en-US" sz="1100" dirty="0">
                <a:solidFill>
                  <a:srgbClr val="9CDCFE"/>
                </a:solidFill>
                <a:latin typeface="Courier New" pitchFamily="34" charset="0"/>
                <a:ea typeface="Courier New" pitchFamily="34" charset="-122"/>
                <a:cs typeface="Courier New" pitchFamily="34" charset="-120"/>
              </a:rPr>
              <a:t>'@testing-library/react'</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endParaRPr lang="en-US" sz="1100" dirty="0"/>
          </a:p>
          <a:p>
            <a:pPr indent="0" marL="0">
              <a:buNone/>
            </a:pPr>
            <a:r>
              <a:rPr lang="en-US" sz="1100" dirty="0">
                <a:solidFill>
                  <a:srgbClr val="DCDCAA"/>
                </a:solidFill>
                <a:latin typeface="Courier New" pitchFamily="34" charset="0"/>
                <a:ea typeface="Courier New" pitchFamily="34" charset="-122"/>
                <a:cs typeface="Courier New" pitchFamily="34" charset="-120"/>
              </a:rPr>
              <a:t>fireEvent</a:t>
            </a:r>
            <a:pPr indent="0" marL="0">
              <a:buNone/>
            </a:pPr>
            <a:r>
              <a:rPr lang="en-US" sz="1100" dirty="0">
                <a:solidFill>
                  <a:srgbClr val="FFFFFF"/>
                </a:solidFill>
                <a:latin typeface="Courier New" pitchFamily="34" charset="0"/>
                <a:ea typeface="Courier New" pitchFamily="34" charset="-122"/>
                <a:cs typeface="Courier New" pitchFamily="34" charset="-120"/>
              </a:rPr>
              <a:t>.change(input, {</a:t>
            </a:r>
            <a:endParaRPr lang="en-US" sz="1100" dirty="0"/>
          </a:p>
          <a:p>
            <a:pPr indent="0" marL="0">
              <a:buNone/>
            </a:pPr>
            <a:r>
              <a:rPr lang="en-US" sz="1100" dirty="0">
                <a:solidFill>
                  <a:srgbClr val="9CDCFE"/>
                </a:solidFill>
                <a:latin typeface="Courier New" pitchFamily="34" charset="0"/>
                <a:ea typeface="Courier New" pitchFamily="34" charset="-122"/>
                <a:cs typeface="Courier New" pitchFamily="34" charset="-120"/>
              </a:rPr>
              <a:t>  target: { value: </a:t>
            </a:r>
            <a:pPr indent="0" marL="0">
              <a:buNone/>
            </a:pPr>
            <a:r>
              <a:rPr lang="en-US" sz="1100" dirty="0">
                <a:solidFill>
                  <a:srgbClr val="9CDCFE"/>
                </a:solidFill>
                <a:latin typeface="Courier New" pitchFamily="34" charset="0"/>
                <a:ea typeface="Courier New" pitchFamily="34" charset="-122"/>
                <a:cs typeface="Courier New" pitchFamily="34" charset="-120"/>
              </a:rPr>
              <a:t>'hello'</a:t>
            </a:r>
            <a:pPr indent="0" marL="0">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i="1" dirty="0">
                <a:solidFill>
                  <a:srgbClr val="6A9955"/>
                </a:solidFill>
                <a:latin typeface="Courier New" pitchFamily="34" charset="0"/>
                <a:ea typeface="Courier New" pitchFamily="34" charset="-122"/>
                <a:cs typeface="Courier New" pitchFamily="34" charset="-120"/>
              </a:rPr>
              <a:t>// fires one synthetic event</a:t>
            </a:r>
            <a:endParaRPr lang="en-US" sz="1100" dirty="0"/>
          </a:p>
        </p:txBody>
      </p:sp>
      <p:sp>
        <p:nvSpPr>
          <p:cNvPr id="8" name="Text 6"/>
          <p:cNvSpPr/>
          <p:nvPr/>
        </p:nvSpPr>
        <p:spPr>
          <a:xfrm>
            <a:off x="777240" y="4297680"/>
            <a:ext cx="5349240" cy="457200"/>
          </a:xfrm>
          <a:prstGeom prst="rect">
            <a:avLst/>
          </a:prstGeom>
          <a:noFill/>
          <a:ln/>
        </p:spPr>
        <p:txBody>
          <a:bodyPr wrap="square" lIns="0" tIns="0" rIns="0" bIns="0" rtlCol="0" anchor="ctr"/>
          <a:lstStyle/>
          <a:p>
            <a:pPr indent="0" marL="0">
              <a:buNone/>
            </a:pPr>
            <a:r>
              <a:rPr lang="en-US" sz="1150" i="1" dirty="0">
                <a:solidFill>
                  <a:srgbClr val="475569"/>
                </a:solidFill>
                <a:latin typeface="Arial" pitchFamily="34" charset="0"/>
                <a:ea typeface="Arial" pitchFamily="34" charset="-122"/>
                <a:cs typeface="Arial" pitchFamily="34" charset="-120"/>
              </a:rPr>
              <a:t>Skips: focus, keypress, key validation, paste handling.</a:t>
            </a:r>
            <a:endParaRPr lang="en-US" sz="1150" dirty="0"/>
          </a:p>
        </p:txBody>
      </p:sp>
      <p:sp>
        <p:nvSpPr>
          <p:cNvPr id="9" name="Text 7"/>
          <p:cNvSpPr/>
          <p:nvPr/>
        </p:nvSpPr>
        <p:spPr>
          <a:xfrm>
            <a:off x="6355080" y="1554480"/>
            <a:ext cx="5029200" cy="365760"/>
          </a:xfrm>
          <a:prstGeom prst="rect">
            <a:avLst/>
          </a:prstGeom>
          <a:noFill/>
          <a:ln/>
        </p:spPr>
        <p:txBody>
          <a:bodyPr wrap="square" lIns="0" tIns="0" rIns="0" bIns="0" rtlCol="0" anchor="ctr"/>
          <a:lstStyle/>
          <a:p>
            <a:pPr indent="0" marL="0">
              <a:buNone/>
            </a:pPr>
            <a:r>
              <a:rPr lang="en-US" sz="1300" b="1" dirty="0">
                <a:solidFill>
                  <a:srgbClr val="059669"/>
                </a:solidFill>
                <a:latin typeface="Trebuchet MS" pitchFamily="34" charset="0"/>
                <a:ea typeface="Trebuchet MS" pitchFamily="34" charset="-122"/>
                <a:cs typeface="Trebuchet MS" pitchFamily="34" charset="-120"/>
              </a:rPr>
              <a:t>user-event — high-level</a:t>
            </a:r>
            <a:endParaRPr lang="en-US" sz="1300" dirty="0"/>
          </a:p>
        </p:txBody>
      </p:sp>
      <p:sp>
        <p:nvSpPr>
          <p:cNvPr id="10" name="Shape 8"/>
          <p:cNvSpPr/>
          <p:nvPr/>
        </p:nvSpPr>
        <p:spPr>
          <a:xfrm>
            <a:off x="6355080" y="1920240"/>
            <a:ext cx="5029200" cy="2286000"/>
          </a:xfrm>
          <a:prstGeom prst="rect">
            <a:avLst/>
          </a:prstGeom>
          <a:solidFill>
            <a:srgbClr val="1E2A47"/>
          </a:solidFill>
          <a:ln w="12700">
            <a:solidFill>
              <a:srgbClr val="1E2A47"/>
            </a:solidFill>
            <a:prstDash val="solid"/>
          </a:ln>
        </p:spPr>
      </p:sp>
      <p:sp>
        <p:nvSpPr>
          <p:cNvPr id="11" name="Text 9"/>
          <p:cNvSpPr/>
          <p:nvPr/>
        </p:nvSpPr>
        <p:spPr>
          <a:xfrm>
            <a:off x="6537960" y="2057400"/>
            <a:ext cx="4663440" cy="2011680"/>
          </a:xfrm>
          <a:prstGeom prst="rect">
            <a:avLst/>
          </a:prstGeom>
          <a:noFill/>
          <a:ln/>
        </p:spPr>
        <p:txBody>
          <a:bodyPr wrap="square" lIns="0" tIns="0" rIns="0" bIns="0" rtlCol="0" anchor="t"/>
          <a:lstStyle/>
          <a:p>
            <a:pPr indent="0" marL="0">
              <a:buNone/>
            </a:pPr>
            <a:r>
              <a:rPr lang="en-US" sz="1100" dirty="0">
                <a:solidFill>
                  <a:srgbClr val="C586C0"/>
                </a:solidFill>
                <a:latin typeface="Courier New" pitchFamily="34" charset="0"/>
                <a:ea typeface="Courier New" pitchFamily="34" charset="-122"/>
                <a:cs typeface="Courier New" pitchFamily="34" charset="-120"/>
              </a:rPr>
              <a:t>import userEvent from </a:t>
            </a:r>
            <a:pPr indent="0" marL="0">
              <a:buNone/>
            </a:pPr>
            <a:r>
              <a:rPr lang="en-US" sz="1100" dirty="0">
                <a:solidFill>
                  <a:srgbClr val="9CDCFE"/>
                </a:solidFill>
                <a:latin typeface="Courier New" pitchFamily="34" charset="0"/>
                <a:ea typeface="Courier New" pitchFamily="34" charset="-122"/>
                <a:cs typeface="Courier New" pitchFamily="34" charset="-120"/>
              </a:rPr>
              <a:t>'@testing-library/user-event'</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const user = </a:t>
            </a:r>
            <a:pPr indent="0" marL="0">
              <a:buNone/>
            </a:pPr>
            <a:r>
              <a:rPr lang="en-US" sz="1100" dirty="0">
                <a:solidFill>
                  <a:srgbClr val="DCDCAA"/>
                </a:solidFill>
                <a:latin typeface="Courier New" pitchFamily="34" charset="0"/>
                <a:ea typeface="Courier New" pitchFamily="34" charset="-122"/>
                <a:cs typeface="Courier New" pitchFamily="34" charset="-120"/>
              </a:rPr>
              <a:t>userEvent</a:t>
            </a:r>
            <a:pPr indent="0" marL="0">
              <a:buNone/>
            </a:pPr>
            <a:r>
              <a:rPr lang="en-US" sz="1100" dirty="0">
                <a:solidFill>
                  <a:srgbClr val="FFFFFF"/>
                </a:solidFill>
                <a:latin typeface="Courier New" pitchFamily="34" charset="0"/>
                <a:ea typeface="Courier New" pitchFamily="34" charset="-122"/>
                <a:cs typeface="Courier New" pitchFamily="34" charset="-120"/>
              </a:rPr>
              <a:t>.setup();</a:t>
            </a: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await user.type(input, </a:t>
            </a:r>
            <a:pPr indent="0" marL="0">
              <a:buNone/>
            </a:pPr>
            <a:r>
              <a:rPr lang="en-US" sz="1100" dirty="0">
                <a:solidFill>
                  <a:srgbClr val="9CDCFE"/>
                </a:solidFill>
                <a:latin typeface="Courier New" pitchFamily="34" charset="0"/>
                <a:ea typeface="Courier New" pitchFamily="34" charset="-122"/>
                <a:cs typeface="Courier New" pitchFamily="34" charset="-120"/>
              </a:rPr>
              <a:t>'hello'</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i="1" dirty="0">
                <a:solidFill>
                  <a:srgbClr val="6A9955"/>
                </a:solidFill>
                <a:latin typeface="Courier New" pitchFamily="34" charset="0"/>
                <a:ea typeface="Courier New" pitchFamily="34" charset="-122"/>
                <a:cs typeface="Courier New" pitchFamily="34" charset="-120"/>
              </a:rPr>
              <a:t>// fires focus, keydown, keypress, keyup,</a:t>
            </a:r>
            <a:endParaRPr lang="en-US" sz="1100" dirty="0"/>
          </a:p>
          <a:p>
            <a:pPr indent="0" marL="0">
              <a:buNone/>
            </a:pPr>
            <a:r>
              <a:rPr lang="en-US" sz="1100" i="1" dirty="0">
                <a:solidFill>
                  <a:srgbClr val="6A9955"/>
                </a:solidFill>
                <a:latin typeface="Courier New" pitchFamily="34" charset="0"/>
                <a:ea typeface="Courier New" pitchFamily="34" charset="-122"/>
                <a:cs typeface="Courier New" pitchFamily="34" charset="-120"/>
              </a:rPr>
              <a:t>// input, change — for each character</a:t>
            </a:r>
            <a:endParaRPr lang="en-US" sz="1100" dirty="0"/>
          </a:p>
        </p:txBody>
      </p:sp>
      <p:sp>
        <p:nvSpPr>
          <p:cNvPr id="12" name="Text 10"/>
          <p:cNvSpPr/>
          <p:nvPr/>
        </p:nvSpPr>
        <p:spPr>
          <a:xfrm>
            <a:off x="6355080" y="4297680"/>
            <a:ext cx="5029200" cy="457200"/>
          </a:xfrm>
          <a:prstGeom prst="rect">
            <a:avLst/>
          </a:prstGeom>
          <a:noFill/>
          <a:ln/>
        </p:spPr>
        <p:txBody>
          <a:bodyPr wrap="square" lIns="0" tIns="0" rIns="0" bIns="0" rtlCol="0" anchor="ctr"/>
          <a:lstStyle/>
          <a:p>
            <a:pPr indent="0" marL="0">
              <a:buNone/>
            </a:pPr>
            <a:r>
              <a:rPr lang="en-US" sz="1150" i="1" dirty="0">
                <a:solidFill>
                  <a:srgbClr val="475569"/>
                </a:solidFill>
                <a:latin typeface="Arial" pitchFamily="34" charset="0"/>
                <a:ea typeface="Arial" pitchFamily="34" charset="-122"/>
                <a:cs typeface="Arial" pitchFamily="34" charset="-120"/>
              </a:rPr>
              <a:t>Catches: missing key handlers, paste handlers, IME input, more.</a:t>
            </a:r>
            <a:endParaRPr lang="en-US" sz="1150" dirty="0"/>
          </a:p>
        </p:txBody>
      </p:sp>
      <p:sp>
        <p:nvSpPr>
          <p:cNvPr id="13" name="Shape 11"/>
          <p:cNvSpPr/>
          <p:nvPr/>
        </p:nvSpPr>
        <p:spPr>
          <a:xfrm>
            <a:off x="777240" y="5029200"/>
            <a:ext cx="10607040" cy="1097280"/>
          </a:xfrm>
          <a:prstGeom prst="rect">
            <a:avLst/>
          </a:prstGeom>
          <a:solidFill>
            <a:srgbClr val="CBF1F6"/>
          </a:solidFill>
          <a:ln w="12700">
            <a:solidFill>
              <a:srgbClr val="CBF1F6"/>
            </a:solidFill>
            <a:prstDash val="solid"/>
          </a:ln>
        </p:spPr>
      </p:sp>
      <p:pic>
        <p:nvPicPr>
          <p:cNvPr id="14" name="Image 0" descr="preencoded.png">    </p:cNvPr>
          <p:cNvPicPr>
            <a:picLocks noChangeAspect="1"/>
          </p:cNvPicPr>
          <p:nvPr/>
        </p:nvPicPr>
        <p:blipFill>
          <a:blip r:embed="rId1"/>
          <a:stretch>
            <a:fillRect/>
          </a:stretch>
        </p:blipFill>
        <p:spPr>
          <a:xfrm>
            <a:off x="1005840" y="5349240"/>
            <a:ext cx="502920" cy="502920"/>
          </a:xfrm>
          <a:prstGeom prst="rect">
            <a:avLst/>
          </a:prstGeom>
        </p:spPr>
      </p:pic>
      <p:sp>
        <p:nvSpPr>
          <p:cNvPr id="15" name="Text 12"/>
          <p:cNvSpPr/>
          <p:nvPr/>
        </p:nvSpPr>
        <p:spPr>
          <a:xfrm>
            <a:off x="1691640" y="5074920"/>
            <a:ext cx="9601200" cy="100584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Default to user-event. Reach for fireEvent only when user-event can't simulate the action (rare in practice).</a:t>
            </a:r>
            <a:endParaRPr lang="en-US" sz="1300" dirty="0"/>
          </a:p>
        </p:txBody>
      </p:sp>
      <p:sp>
        <p:nvSpPr>
          <p:cNvPr id="16" name="Text 13"/>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17" name="Text 14"/>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9 / 27</a:t>
            </a:r>
            <a:endParaRPr lang="en-US" sz="90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Async patterns — find vs waitFor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Most modern UI is async. Use the right primitive for the wait.</a:t>
            </a:r>
            <a:endParaRPr lang="en-US" sz="1400" dirty="0"/>
          </a:p>
        </p:txBody>
      </p:sp>
      <p:sp>
        <p:nvSpPr>
          <p:cNvPr id="5" name="Shape 3"/>
          <p:cNvSpPr/>
          <p:nvPr/>
        </p:nvSpPr>
        <p:spPr>
          <a:xfrm>
            <a:off x="777240" y="1554480"/>
            <a:ext cx="10607040" cy="42062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931920"/>
          </a:xfrm>
          <a:prstGeom prst="rect">
            <a:avLst/>
          </a:prstGeom>
          <a:noFill/>
          <a:ln/>
        </p:spPr>
        <p:txBody>
          <a:bodyPr wrap="square" lIns="0" tIns="0" rIns="0" bIns="0" rtlCol="0" anchor="t"/>
          <a:lstStyle/>
          <a:p>
            <a:pPr indent="0" marL="0">
              <a:buNone/>
            </a:pPr>
            <a:r>
              <a:rPr lang="en-US" sz="1150" i="1" dirty="0">
                <a:solidFill>
                  <a:srgbClr val="6A9955"/>
                </a:solidFill>
                <a:latin typeface="Courier New" pitchFamily="34" charset="0"/>
                <a:ea typeface="Courier New" pitchFamily="34" charset="-122"/>
                <a:cs typeface="Courier New" pitchFamily="34" charset="-120"/>
              </a:rPr>
              <a:t>// findBy: returns a promise that resolves when an element appears</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const post = await </a:t>
            </a:r>
            <a:pPr indent="0" marL="0">
              <a:buNone/>
            </a:pPr>
            <a:r>
              <a:rPr lang="en-US" sz="1150" dirty="0">
                <a:solidFill>
                  <a:srgbClr val="9CDCFE"/>
                </a:solidFill>
                <a:latin typeface="Courier New" pitchFamily="34" charset="0"/>
                <a:ea typeface="Courier New" pitchFamily="34" charset="-122"/>
                <a:cs typeface="Courier New" pitchFamily="34" charset="-120"/>
              </a:rPr>
              <a:t>screen</a:t>
            </a:r>
            <a:pPr indent="0" marL="0">
              <a:buNone/>
            </a:pPr>
            <a:r>
              <a:rPr lang="en-US" sz="1150" dirty="0">
                <a:solidFill>
                  <a:srgbClr val="DCDCAA"/>
                </a:solidFill>
                <a:latin typeface="Courier New" pitchFamily="34" charset="0"/>
                <a:ea typeface="Courier New" pitchFamily="34" charset="-122"/>
                <a:cs typeface="Courier New" pitchFamily="34" charset="-120"/>
              </a:rPr>
              <a:t>.findByRole(</a:t>
            </a:r>
            <a:pPr indent="0" marL="0">
              <a:buNone/>
            </a:pPr>
            <a:r>
              <a:rPr lang="en-US" sz="1150" dirty="0">
                <a:solidFill>
                  <a:srgbClr val="9CDCFE"/>
                </a:solidFill>
                <a:latin typeface="Courier New" pitchFamily="34" charset="0"/>
                <a:ea typeface="Courier New" pitchFamily="34" charset="-122"/>
                <a:cs typeface="Courier New" pitchFamily="34" charset="-120"/>
              </a:rPr>
              <a:t>'article'</a:t>
            </a:r>
            <a:pPr indent="0" marL="0">
              <a:buNone/>
            </a:pPr>
            <a:r>
              <a:rPr lang="en-US" sz="1150" dirty="0">
                <a:solidFill>
                  <a:srgbClr val="DCDCAA"/>
                </a:solidFill>
                <a:latin typeface="Courier New" pitchFamily="34" charset="0"/>
                <a:ea typeface="Courier New" pitchFamily="34" charset="-122"/>
                <a:cs typeface="Courier New" pitchFamily="34" charset="-120"/>
              </a:rPr>
              <a:t>, { name: </a:t>
            </a:r>
            <a:pPr indent="0" marL="0">
              <a:buNone/>
            </a:pPr>
            <a:r>
              <a:rPr lang="en-US" sz="1150" dirty="0">
                <a:solidFill>
                  <a:srgbClr val="9CDCFE"/>
                </a:solidFill>
                <a:latin typeface="Courier New" pitchFamily="34" charset="0"/>
                <a:ea typeface="Courier New" pitchFamily="34" charset="-122"/>
                <a:cs typeface="Courier New" pitchFamily="34" charset="-120"/>
              </a:rPr>
              <a:t>/welcome/i</a:t>
            </a:r>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endParaRPr lang="en-US" sz="1150" dirty="0"/>
          </a:p>
          <a:p>
            <a:pPr indent="0" marL="0">
              <a:buNone/>
            </a:pPr>
            <a:r>
              <a:rPr lang="en-US" sz="1150" i="1" dirty="0">
                <a:solidFill>
                  <a:srgbClr val="6A9955"/>
                </a:solidFill>
                <a:latin typeface="Courier New" pitchFamily="34" charset="0"/>
                <a:ea typeface="Courier New" pitchFamily="34" charset="-122"/>
                <a:cs typeface="Courier New" pitchFamily="34" charset="-120"/>
              </a:rPr>
              <a:t>// waitFor: re-runs the assertion until it passes (or times out)</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await </a:t>
            </a:r>
            <a:pPr indent="0" marL="0">
              <a:buNone/>
            </a:pPr>
            <a:r>
              <a:rPr lang="en-US" sz="1150" dirty="0">
                <a:solidFill>
                  <a:srgbClr val="DCDCAA"/>
                </a:solidFill>
                <a:latin typeface="Courier New" pitchFamily="34" charset="0"/>
                <a:ea typeface="Courier New" pitchFamily="34" charset="-122"/>
                <a:cs typeface="Courier New" pitchFamily="34" charset="-120"/>
              </a:rPr>
              <a:t>waitFor</a:t>
            </a:r>
            <a:pPr indent="0" marL="0">
              <a:buNone/>
            </a:pPr>
            <a:r>
              <a:rPr lang="en-US" sz="1150" dirty="0">
                <a:solidFill>
                  <a:srgbClr val="FFFFFF"/>
                </a:solidFill>
                <a:latin typeface="Courier New" pitchFamily="34" charset="0"/>
                <a:ea typeface="Courier New" pitchFamily="34" charset="-122"/>
                <a:cs typeface="Courier New" pitchFamily="34" charset="-120"/>
              </a:rPr>
              <a:t>(() =&gt;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pPr indent="0" marL="0">
              <a:buNone/>
            </a:pPr>
            <a:r>
              <a:rPr lang="en-US" sz="1150" dirty="0">
                <a:solidFill>
                  <a:srgbClr val="DCDCAA"/>
                </a:solidFill>
                <a:latin typeface="Courier New" pitchFamily="34" charset="0"/>
                <a:ea typeface="Courier New" pitchFamily="34" charset="-122"/>
                <a:cs typeface="Courier New" pitchFamily="34" charset="-120"/>
              </a:rPr>
              <a:t>expect</a:t>
            </a:r>
            <a:pPr indent="0" marL="0">
              <a:buNone/>
            </a:pPr>
            <a:r>
              <a:rPr lang="en-US" sz="1150" dirty="0">
                <a:solidFill>
                  <a:srgbClr val="9CDCFE"/>
                </a:solidFill>
                <a:latin typeface="Courier New" pitchFamily="34" charset="0"/>
                <a:ea typeface="Courier New" pitchFamily="34" charset="-122"/>
                <a:cs typeface="Courier New" pitchFamily="34" charset="-120"/>
              </a:rPr>
              <a:t>(</a:t>
            </a:r>
            <a:pPr indent="0" marL="0">
              <a:buNone/>
            </a:pPr>
            <a:r>
              <a:rPr lang="en-US" sz="1150" dirty="0">
                <a:solidFill>
                  <a:srgbClr val="9CDCFE"/>
                </a:solidFill>
                <a:latin typeface="Courier New" pitchFamily="34" charset="0"/>
                <a:ea typeface="Courier New" pitchFamily="34" charset="-122"/>
                <a:cs typeface="Courier New" pitchFamily="34" charset="-120"/>
              </a:rPr>
              <a:t>screen</a:t>
            </a:r>
            <a:pPr indent="0" marL="0">
              <a:buNone/>
            </a:pPr>
            <a:r>
              <a:rPr lang="en-US" sz="1150" dirty="0">
                <a:solidFill>
                  <a:srgbClr val="DCDCAA"/>
                </a:solidFill>
                <a:latin typeface="Courier New" pitchFamily="34" charset="0"/>
                <a:ea typeface="Courier New" pitchFamily="34" charset="-122"/>
                <a:cs typeface="Courier New" pitchFamily="34" charset="-120"/>
              </a:rPr>
              <a:t>.getByText(</a:t>
            </a:r>
            <a:pPr indent="0" marL="0">
              <a:buNone/>
            </a:pPr>
            <a:r>
              <a:rPr lang="en-US" sz="1150" dirty="0">
                <a:solidFill>
                  <a:srgbClr val="9CDCFE"/>
                </a:solidFill>
                <a:latin typeface="Courier New" pitchFamily="34" charset="0"/>
                <a:ea typeface="Courier New" pitchFamily="34" charset="-122"/>
                <a:cs typeface="Courier New" pitchFamily="34" charset="-120"/>
              </a:rPr>
              <a:t>/loading/i</a:t>
            </a:r>
            <a:pPr indent="0" marL="0">
              <a:buNone/>
            </a:pPr>
            <a:r>
              <a:rPr lang="en-US" sz="1150" dirty="0">
                <a:solidFill>
                  <a:srgbClr val="FFFFFF"/>
                </a:solidFill>
                <a:latin typeface="Courier New" pitchFamily="34" charset="0"/>
                <a:ea typeface="Courier New" pitchFamily="34" charset="-122"/>
                <a:cs typeface="Courier New" pitchFamily="34" charset="-120"/>
              </a:rPr>
              <a:t>)).not.toBeInTheDocument();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endParaRPr lang="en-US" sz="1150" dirty="0"/>
          </a:p>
          <a:p>
            <a:pPr indent="0" marL="0">
              <a:buNone/>
            </a:pPr>
            <a:r>
              <a:rPr lang="en-US" sz="1150" i="1" dirty="0">
                <a:solidFill>
                  <a:srgbClr val="6A9955"/>
                </a:solidFill>
                <a:latin typeface="Courier New" pitchFamily="34" charset="0"/>
                <a:ea typeface="Courier New" pitchFamily="34" charset="-122"/>
                <a:cs typeface="Courier New" pitchFamily="34" charset="-120"/>
              </a:rPr>
              <a:t>// waitForElementToBeRemoved: when something disappears</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await </a:t>
            </a:r>
            <a:pPr indent="0" marL="0">
              <a:buNone/>
            </a:pPr>
            <a:r>
              <a:rPr lang="en-US" sz="1150" dirty="0">
                <a:solidFill>
                  <a:srgbClr val="DCDCAA"/>
                </a:solidFill>
                <a:latin typeface="Courier New" pitchFamily="34" charset="0"/>
                <a:ea typeface="Courier New" pitchFamily="34" charset="-122"/>
                <a:cs typeface="Courier New" pitchFamily="34" charset="-120"/>
              </a:rPr>
              <a:t>waitForElementToBeRemoved</a:t>
            </a:r>
            <a:pPr indent="0" marL="0">
              <a:buNone/>
            </a:pPr>
            <a:r>
              <a:rPr lang="en-US" sz="1150" dirty="0">
                <a:solidFill>
                  <a:srgbClr val="9CDCFE"/>
                </a:solidFill>
                <a:latin typeface="Courier New" pitchFamily="34" charset="0"/>
                <a:ea typeface="Courier New" pitchFamily="34" charset="-122"/>
                <a:cs typeface="Courier New" pitchFamily="34" charset="-120"/>
              </a:rPr>
              <a:t>(() =&gt; </a:t>
            </a:r>
            <a:pPr indent="0" marL="0">
              <a:buNone/>
            </a:pPr>
            <a:r>
              <a:rPr lang="en-US" sz="1150" dirty="0">
                <a:solidFill>
                  <a:srgbClr val="9CDCFE"/>
                </a:solidFill>
                <a:latin typeface="Courier New" pitchFamily="34" charset="0"/>
                <a:ea typeface="Courier New" pitchFamily="34" charset="-122"/>
                <a:cs typeface="Courier New" pitchFamily="34" charset="-120"/>
              </a:rPr>
              <a:t>screen</a:t>
            </a:r>
            <a:pPr indent="0" marL="0">
              <a:buNone/>
            </a:pPr>
            <a:r>
              <a:rPr lang="en-US" sz="1150" dirty="0">
                <a:solidFill>
                  <a:srgbClr val="DCDCAA"/>
                </a:solidFill>
                <a:latin typeface="Courier New" pitchFamily="34" charset="0"/>
                <a:ea typeface="Courier New" pitchFamily="34" charset="-122"/>
                <a:cs typeface="Courier New" pitchFamily="34" charset="-120"/>
              </a:rPr>
              <a:t>.queryByText(</a:t>
            </a:r>
            <a:pPr indent="0" marL="0">
              <a:buNone/>
            </a:pPr>
            <a:r>
              <a:rPr lang="en-US" sz="1150" dirty="0">
                <a:solidFill>
                  <a:srgbClr val="9CDCFE"/>
                </a:solidFill>
                <a:latin typeface="Courier New" pitchFamily="34" charset="0"/>
                <a:ea typeface="Courier New" pitchFamily="34" charset="-122"/>
                <a:cs typeface="Courier New" pitchFamily="34" charset="-120"/>
              </a:rPr>
              <a:t>/loading/i</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endParaRPr lang="en-US" sz="1150" dirty="0"/>
          </a:p>
          <a:p>
            <a:pPr indent="0" marL="0">
              <a:buNone/>
            </a:pPr>
            <a:r>
              <a:rPr lang="en-US" sz="1150" i="1" dirty="0">
                <a:solidFill>
                  <a:srgbClr val="6A9955"/>
                </a:solidFill>
                <a:latin typeface="Courier New" pitchFamily="34" charset="0"/>
                <a:ea typeface="Courier New" pitchFamily="34" charset="-122"/>
                <a:cs typeface="Courier New" pitchFamily="34" charset="-120"/>
              </a:rPr>
              <a:t>// AVOID: arbitrary timeouts</a:t>
            </a:r>
            <a:endParaRPr lang="en-US" sz="1150" dirty="0"/>
          </a:p>
          <a:p>
            <a:pPr indent="0" marL="0">
              <a:buNone/>
            </a:pPr>
            <a:r>
              <a:rPr lang="en-US" sz="1150" dirty="0">
                <a:solidFill>
                  <a:srgbClr val="DCDCAA"/>
                </a:solidFill>
                <a:latin typeface="Courier New" pitchFamily="34" charset="0"/>
                <a:ea typeface="Courier New" pitchFamily="34" charset="-122"/>
                <a:cs typeface="Courier New" pitchFamily="34" charset="-120"/>
              </a:rPr>
              <a:t>await new Promise(</a:t>
            </a:r>
            <a:pPr indent="0" marL="0">
              <a:buNone/>
            </a:pPr>
            <a:r>
              <a:rPr lang="en-US" sz="1150" dirty="0">
                <a:solidFill>
                  <a:srgbClr val="9CDCFE"/>
                </a:solidFill>
                <a:latin typeface="Courier New" pitchFamily="34" charset="0"/>
                <a:ea typeface="Courier New" pitchFamily="34" charset="-122"/>
                <a:cs typeface="Courier New" pitchFamily="34" charset="-120"/>
              </a:rPr>
              <a:t>r</a:t>
            </a:r>
            <a:pPr indent="0" marL="0">
              <a:buNone/>
            </a:pPr>
            <a:r>
              <a:rPr lang="en-US" sz="1150" dirty="0">
                <a:solidFill>
                  <a:srgbClr val="DCDCAA"/>
                </a:solidFill>
                <a:latin typeface="Courier New" pitchFamily="34" charset="0"/>
                <a:ea typeface="Courier New" pitchFamily="34" charset="-122"/>
                <a:cs typeface="Courier New" pitchFamily="34" charset="-120"/>
              </a:rPr>
              <a:t> =&gt; setTimeout(r, 1000)); </a:t>
            </a:r>
            <a:pPr indent="0" marL="0">
              <a:buNone/>
            </a:pPr>
            <a:r>
              <a:rPr lang="en-US" sz="1150" i="1" dirty="0">
                <a:solidFill>
                  <a:srgbClr val="6A9955"/>
                </a:solidFill>
                <a:latin typeface="Courier New" pitchFamily="34" charset="0"/>
                <a:ea typeface="Courier New" pitchFamily="34" charset="-122"/>
                <a:cs typeface="Courier New" pitchFamily="34" charset="-120"/>
              </a:rPr>
              <a:t>// flaky</a:t>
            </a:r>
            <a:endParaRPr lang="en-US" sz="115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10 / 27</a:t>
            </a:r>
            <a:endParaRPr lang="en-US" sz="90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 complete RTL example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Test the form's behavior, not its internals.</a:t>
            </a:r>
            <a:endParaRPr lang="en-US" sz="1400" dirty="0"/>
          </a:p>
        </p:txBody>
      </p:sp>
      <p:sp>
        <p:nvSpPr>
          <p:cNvPr id="5" name="Shape 3"/>
          <p:cNvSpPr/>
          <p:nvPr/>
        </p:nvSpPr>
        <p:spPr>
          <a:xfrm>
            <a:off x="777240" y="1554480"/>
            <a:ext cx="10607040" cy="45720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4297680"/>
          </a:xfrm>
          <a:prstGeom prst="rect">
            <a:avLst/>
          </a:prstGeom>
          <a:noFill/>
          <a:ln/>
        </p:spPr>
        <p:txBody>
          <a:bodyPr wrap="square" lIns="0" tIns="0" rIns="0" bIns="0" rtlCol="0" anchor="t"/>
          <a:lstStyle/>
          <a:p>
            <a:pPr indent="0" marL="0">
              <a:buNone/>
            </a:pPr>
            <a:r>
              <a:rPr lang="en-US" sz="1100" dirty="0">
                <a:solidFill>
                  <a:srgbClr val="C586C0"/>
                </a:solidFill>
                <a:latin typeface="Courier New" pitchFamily="34" charset="0"/>
                <a:ea typeface="Courier New" pitchFamily="34" charset="-122"/>
                <a:cs typeface="Courier New" pitchFamily="34" charset="-120"/>
              </a:rPr>
              <a:t>import { render, screen } from </a:t>
            </a:r>
            <a:pPr indent="0" marL="0">
              <a:buNone/>
            </a:pPr>
            <a:r>
              <a:rPr lang="en-US" sz="1100" dirty="0">
                <a:solidFill>
                  <a:srgbClr val="9CDCFE"/>
                </a:solidFill>
                <a:latin typeface="Courier New" pitchFamily="34" charset="0"/>
                <a:ea typeface="Courier New" pitchFamily="34" charset="-122"/>
                <a:cs typeface="Courier New" pitchFamily="34" charset="-120"/>
              </a:rPr>
              <a:t>'@testing-library/react'</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import userEvent from </a:t>
            </a:r>
            <a:pPr indent="0" marL="0">
              <a:buNone/>
            </a:pPr>
            <a:r>
              <a:rPr lang="en-US" sz="1100" dirty="0">
                <a:solidFill>
                  <a:srgbClr val="9CDCFE"/>
                </a:solidFill>
                <a:latin typeface="Courier New" pitchFamily="34" charset="0"/>
                <a:ea typeface="Courier New" pitchFamily="34" charset="-122"/>
                <a:cs typeface="Courier New" pitchFamily="34" charset="-120"/>
              </a:rPr>
              <a:t>'@testing-library/user-event'</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import LoginForm from </a:t>
            </a:r>
            <a:pPr indent="0" marL="0">
              <a:buNone/>
            </a:pPr>
            <a:r>
              <a:rPr lang="en-US" sz="1100" dirty="0">
                <a:solidFill>
                  <a:srgbClr val="9CDCFE"/>
                </a:solidFill>
                <a:latin typeface="Courier New" pitchFamily="34" charset="0"/>
                <a:ea typeface="Courier New" pitchFamily="34" charset="-122"/>
                <a:cs typeface="Courier New" pitchFamily="34" charset="-120"/>
              </a:rPr>
              <a:t>'./LoginForm'</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endParaRPr lang="en-US" sz="1100" dirty="0"/>
          </a:p>
          <a:p>
            <a:pPr indent="0" marL="0">
              <a:buNone/>
            </a:pPr>
            <a:r>
              <a:rPr lang="en-US" sz="1100" dirty="0">
                <a:solidFill>
                  <a:srgbClr val="DCDCAA"/>
                </a:solidFill>
                <a:latin typeface="Courier New" pitchFamily="34" charset="0"/>
                <a:ea typeface="Courier New" pitchFamily="34" charset="-122"/>
                <a:cs typeface="Courier New" pitchFamily="34" charset="-120"/>
              </a:rPr>
              <a:t>describe</a:t>
            </a:r>
            <a:pPr indent="0" marL="0">
              <a:buNone/>
            </a:pPr>
            <a:r>
              <a:rPr lang="en-US" sz="1100" dirty="0">
                <a:solidFill>
                  <a:srgbClr val="9CDCFE"/>
                </a:solidFill>
                <a:latin typeface="Courier New" pitchFamily="34" charset="0"/>
                <a:ea typeface="Courier New" pitchFamily="34" charset="-122"/>
                <a:cs typeface="Courier New" pitchFamily="34" charset="-120"/>
              </a:rPr>
              <a:t>(</a:t>
            </a:r>
            <a:pPr indent="0" marL="0">
              <a:buNone/>
            </a:pPr>
            <a:r>
              <a:rPr lang="en-US" sz="1100" dirty="0">
                <a:solidFill>
                  <a:srgbClr val="9CDCFE"/>
                </a:solidFill>
                <a:latin typeface="Courier New" pitchFamily="34" charset="0"/>
                <a:ea typeface="Courier New" pitchFamily="34" charset="-122"/>
                <a:cs typeface="Courier New" pitchFamily="34" charset="-120"/>
              </a:rPr>
              <a:t>'LoginForm'</a:t>
            </a:r>
            <a:pPr indent="0" marL="0">
              <a:buNone/>
            </a:pPr>
            <a:r>
              <a:rPr lang="en-US" sz="1100" dirty="0">
                <a:solidFill>
                  <a:srgbClr val="FFFFFF"/>
                </a:solidFill>
                <a:latin typeface="Courier New" pitchFamily="34" charset="0"/>
                <a:ea typeface="Courier New" pitchFamily="34" charset="-122"/>
                <a:cs typeface="Courier New" pitchFamily="34" charset="-120"/>
              </a:rPr>
              <a:t>, () =&gt; {</a:t>
            </a:r>
            <a:endParaRPr lang="en-US" sz="1100" dirty="0"/>
          </a:p>
          <a:p>
            <a:pPr indent="0" marL="0">
              <a:buNone/>
            </a:pPr>
            <a:r>
              <a:rPr lang="en-US" sz="1100" dirty="0">
                <a:solidFill>
                  <a:srgbClr val="DCDCAA"/>
                </a:solidFill>
                <a:latin typeface="Courier New" pitchFamily="34" charset="0"/>
                <a:ea typeface="Courier New" pitchFamily="34" charset="-122"/>
                <a:cs typeface="Courier New" pitchFamily="34" charset="-120"/>
              </a:rPr>
              <a:t>  it</a:t>
            </a:r>
            <a:pPr indent="0" marL="0">
              <a:buNone/>
            </a:pPr>
            <a:r>
              <a:rPr lang="en-US" sz="1100" dirty="0">
                <a:solidFill>
                  <a:srgbClr val="9CDCFE"/>
                </a:solidFill>
                <a:latin typeface="Courier New" pitchFamily="34" charset="0"/>
                <a:ea typeface="Courier New" pitchFamily="34" charset="-122"/>
                <a:cs typeface="Courier New" pitchFamily="34" charset="-120"/>
              </a:rPr>
              <a:t>(</a:t>
            </a:r>
            <a:pPr indent="0" marL="0">
              <a:buNone/>
            </a:pPr>
            <a:r>
              <a:rPr lang="en-US" sz="1100" dirty="0">
                <a:solidFill>
                  <a:srgbClr val="9CDCFE"/>
                </a:solidFill>
                <a:latin typeface="Courier New" pitchFamily="34" charset="0"/>
                <a:ea typeface="Courier New" pitchFamily="34" charset="-122"/>
                <a:cs typeface="Courier New" pitchFamily="34" charset="-120"/>
              </a:rPr>
              <a:t>'shows a validation error when the password is empty'</a:t>
            </a:r>
            <a:pPr indent="0" marL="0">
              <a:buNone/>
            </a:pPr>
            <a:r>
              <a:rPr lang="en-US" sz="1100" dirty="0">
                <a:solidFill>
                  <a:srgbClr val="FFFFFF"/>
                </a:solidFill>
                <a:latin typeface="Courier New" pitchFamily="34" charset="0"/>
                <a:ea typeface="Courier New" pitchFamily="34" charset="-122"/>
                <a:cs typeface="Courier New" pitchFamily="34" charset="-120"/>
              </a:rPr>
              <a:t>, async () =&gt; {</a:t>
            </a: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    const user = </a:t>
            </a:r>
            <a:pPr indent="0" marL="0">
              <a:buNone/>
            </a:pPr>
            <a:r>
              <a:rPr lang="en-US" sz="1100" dirty="0">
                <a:solidFill>
                  <a:srgbClr val="DCDCAA"/>
                </a:solidFill>
                <a:latin typeface="Courier New" pitchFamily="34" charset="0"/>
                <a:ea typeface="Courier New" pitchFamily="34" charset="-122"/>
                <a:cs typeface="Courier New" pitchFamily="34" charset="-120"/>
              </a:rPr>
              <a:t>userEvent</a:t>
            </a:r>
            <a:pPr indent="0" marL="0">
              <a:buNone/>
            </a:pPr>
            <a:r>
              <a:rPr lang="en-US" sz="1100" dirty="0">
                <a:solidFill>
                  <a:srgbClr val="FFFFFF"/>
                </a:solidFill>
                <a:latin typeface="Courier New" pitchFamily="34" charset="0"/>
                <a:ea typeface="Courier New" pitchFamily="34" charset="-122"/>
                <a:cs typeface="Courier New" pitchFamily="34" charset="-120"/>
              </a:rPr>
              <a:t>.setup();</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DCDCAA"/>
                </a:solidFill>
                <a:latin typeface="Courier New" pitchFamily="34" charset="0"/>
                <a:ea typeface="Courier New" pitchFamily="34" charset="-122"/>
                <a:cs typeface="Courier New" pitchFamily="34" charset="-120"/>
              </a:rPr>
              <a:t>render</a:t>
            </a:r>
            <a:pPr indent="0" marL="0">
              <a:buNone/>
            </a:pPr>
            <a:r>
              <a:rPr lang="en-US" sz="1100" dirty="0">
                <a:solidFill>
                  <a:srgbClr val="FFFFFF"/>
                </a:solidFill>
                <a:latin typeface="Courier New" pitchFamily="34" charset="0"/>
                <a:ea typeface="Courier New" pitchFamily="34" charset="-122"/>
                <a:cs typeface="Courier New" pitchFamily="34" charset="-120"/>
              </a:rPr>
              <a:t>(&lt;LoginForm /&gt;);</a:t>
            </a:r>
            <a:endParaRPr lang="en-US" sz="1100" dirty="0"/>
          </a:p>
          <a:p>
            <a:pPr indent="0" marL="0">
              <a:buNone/>
            </a:pP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    await user.type(</a:t>
            </a:r>
            <a:pPr indent="0" marL="0">
              <a:buNone/>
            </a:pPr>
            <a:r>
              <a:rPr lang="en-US" sz="1100" dirty="0">
                <a:solidFill>
                  <a:srgbClr val="9CDCFE"/>
                </a:solidFill>
                <a:latin typeface="Courier New" pitchFamily="34" charset="0"/>
                <a:ea typeface="Courier New" pitchFamily="34" charset="-122"/>
                <a:cs typeface="Courier New" pitchFamily="34" charset="-120"/>
              </a:rPr>
              <a:t>screen</a:t>
            </a:r>
            <a:pPr indent="0" marL="0">
              <a:buNone/>
            </a:pPr>
            <a:r>
              <a:rPr lang="en-US" sz="1100" dirty="0">
                <a:solidFill>
                  <a:srgbClr val="DCDCAA"/>
                </a:solidFill>
                <a:latin typeface="Courier New" pitchFamily="34" charset="0"/>
                <a:ea typeface="Courier New" pitchFamily="34" charset="-122"/>
                <a:cs typeface="Courier New" pitchFamily="34" charset="-120"/>
              </a:rPr>
              <a:t>.getByLabelText(</a:t>
            </a:r>
            <a:pPr indent="0" marL="0">
              <a:buNone/>
            </a:pPr>
            <a:r>
              <a:rPr lang="en-US" sz="1100" dirty="0">
                <a:solidFill>
                  <a:srgbClr val="9CDCFE"/>
                </a:solidFill>
                <a:latin typeface="Courier New" pitchFamily="34" charset="0"/>
                <a:ea typeface="Courier New" pitchFamily="34" charset="-122"/>
                <a:cs typeface="Courier New" pitchFamily="34" charset="-120"/>
              </a:rPr>
              <a:t>/email/i</a:t>
            </a:r>
            <a:pPr indent="0" marL="0">
              <a:buNone/>
            </a:pPr>
            <a:r>
              <a:rPr lang="en-US" sz="1100" dirty="0">
                <a:solidFill>
                  <a:srgbClr val="9CDCFE"/>
                </a:solidFill>
                <a:latin typeface="Courier New" pitchFamily="34" charset="0"/>
                <a:ea typeface="Courier New" pitchFamily="34" charset="-122"/>
                <a:cs typeface="Courier New" pitchFamily="34" charset="-120"/>
              </a:rPr>
              <a:t>), </a:t>
            </a:r>
            <a:pPr indent="0" marL="0">
              <a:buNone/>
            </a:pPr>
            <a:r>
              <a:rPr lang="en-US" sz="1100" dirty="0">
                <a:solidFill>
                  <a:srgbClr val="9CDCFE"/>
                </a:solidFill>
                <a:latin typeface="Courier New" pitchFamily="34" charset="0"/>
                <a:ea typeface="Courier New" pitchFamily="34" charset="-122"/>
                <a:cs typeface="Courier New" pitchFamily="34" charset="-120"/>
              </a:rPr>
              <a:t>'a@b.com'</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    await user.click(</a:t>
            </a:r>
            <a:pPr indent="0" marL="0">
              <a:buNone/>
            </a:pPr>
            <a:r>
              <a:rPr lang="en-US" sz="1100" dirty="0">
                <a:solidFill>
                  <a:srgbClr val="9CDCFE"/>
                </a:solidFill>
                <a:latin typeface="Courier New" pitchFamily="34" charset="0"/>
                <a:ea typeface="Courier New" pitchFamily="34" charset="-122"/>
                <a:cs typeface="Courier New" pitchFamily="34" charset="-120"/>
              </a:rPr>
              <a:t>screen</a:t>
            </a:r>
            <a:pPr indent="0" marL="0">
              <a:buNone/>
            </a:pPr>
            <a:r>
              <a:rPr lang="en-US" sz="1100" dirty="0">
                <a:solidFill>
                  <a:srgbClr val="DCDCAA"/>
                </a:solidFill>
                <a:latin typeface="Courier New" pitchFamily="34" charset="0"/>
                <a:ea typeface="Courier New" pitchFamily="34" charset="-122"/>
                <a:cs typeface="Courier New" pitchFamily="34" charset="-120"/>
              </a:rPr>
              <a:t>.getByRole(</a:t>
            </a:r>
            <a:pPr indent="0" marL="0">
              <a:buNone/>
            </a:pPr>
            <a:r>
              <a:rPr lang="en-US" sz="1100" dirty="0">
                <a:solidFill>
                  <a:srgbClr val="9CDCFE"/>
                </a:solidFill>
                <a:latin typeface="Courier New" pitchFamily="34" charset="0"/>
                <a:ea typeface="Courier New" pitchFamily="34" charset="-122"/>
                <a:cs typeface="Courier New" pitchFamily="34" charset="-120"/>
              </a:rPr>
              <a:t>'button'</a:t>
            </a:r>
            <a:pPr indent="0" marL="0">
              <a:buNone/>
            </a:pPr>
            <a:r>
              <a:rPr lang="en-US" sz="1100" dirty="0">
                <a:solidFill>
                  <a:srgbClr val="DCDCAA"/>
                </a:solidFill>
                <a:latin typeface="Courier New" pitchFamily="34" charset="0"/>
                <a:ea typeface="Courier New" pitchFamily="34" charset="-122"/>
                <a:cs typeface="Courier New" pitchFamily="34" charset="-120"/>
              </a:rPr>
              <a:t>, { name: </a:t>
            </a:r>
            <a:pPr indent="0" marL="0">
              <a:buNone/>
            </a:pPr>
            <a:r>
              <a:rPr lang="en-US" sz="1100" dirty="0">
                <a:solidFill>
                  <a:srgbClr val="9CDCFE"/>
                </a:solidFill>
                <a:latin typeface="Courier New" pitchFamily="34" charset="0"/>
                <a:ea typeface="Courier New" pitchFamily="34" charset="-122"/>
                <a:cs typeface="Courier New" pitchFamily="34" charset="-120"/>
              </a:rPr>
              <a:t>/sign in/i</a:t>
            </a:r>
            <a:pPr indent="0" marL="0">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indent="0" marL="0">
              <a:buNone/>
            </a:pPr>
            <a:endParaRPr lang="en-US" sz="1100" dirty="0"/>
          </a:p>
          <a:p>
            <a:pPr indent="0" marL="0">
              <a:buNone/>
            </a:pPr>
            <a:r>
              <a:rPr lang="en-US" sz="1100" dirty="0">
                <a:solidFill>
                  <a:srgbClr val="DCDCAA"/>
                </a:solidFill>
                <a:latin typeface="Courier New" pitchFamily="34" charset="0"/>
                <a:ea typeface="Courier New" pitchFamily="34" charset="-122"/>
                <a:cs typeface="Courier New" pitchFamily="34" charset="-120"/>
              </a:rPr>
              <a:t>    expect</a:t>
            </a:r>
            <a:pPr indent="0" marL="0">
              <a:buNone/>
            </a:pPr>
            <a:r>
              <a:rPr lang="en-US" sz="1100" dirty="0">
                <a:solidFill>
                  <a:srgbClr val="C586C0"/>
                </a:solidFill>
                <a:latin typeface="Courier New" pitchFamily="34" charset="0"/>
                <a:ea typeface="Courier New" pitchFamily="34" charset="-122"/>
                <a:cs typeface="Courier New" pitchFamily="34" charset="-120"/>
              </a:rPr>
              <a:t>(await </a:t>
            </a:r>
            <a:pPr indent="0" marL="0">
              <a:buNone/>
            </a:pPr>
            <a:r>
              <a:rPr lang="en-US" sz="1100" dirty="0">
                <a:solidFill>
                  <a:srgbClr val="9CDCFE"/>
                </a:solidFill>
                <a:latin typeface="Courier New" pitchFamily="34" charset="0"/>
                <a:ea typeface="Courier New" pitchFamily="34" charset="-122"/>
                <a:cs typeface="Courier New" pitchFamily="34" charset="-120"/>
              </a:rPr>
              <a:t>screen</a:t>
            </a:r>
            <a:pPr indent="0" marL="0">
              <a:buNone/>
            </a:pPr>
            <a:r>
              <a:rPr lang="en-US" sz="1100" dirty="0">
                <a:solidFill>
                  <a:srgbClr val="DCDCAA"/>
                </a:solidFill>
                <a:latin typeface="Courier New" pitchFamily="34" charset="0"/>
                <a:ea typeface="Courier New" pitchFamily="34" charset="-122"/>
                <a:cs typeface="Courier New" pitchFamily="34" charset="-120"/>
              </a:rPr>
              <a:t>.findByText(</a:t>
            </a:r>
            <a:pPr indent="0" marL="0">
              <a:buNone/>
            </a:pPr>
            <a:r>
              <a:rPr lang="en-US" sz="1100" dirty="0">
                <a:solidFill>
                  <a:srgbClr val="9CDCFE"/>
                </a:solidFill>
                <a:latin typeface="Courier New" pitchFamily="34" charset="0"/>
                <a:ea typeface="Courier New" pitchFamily="34" charset="-122"/>
                <a:cs typeface="Courier New" pitchFamily="34" charset="-120"/>
              </a:rPr>
              <a:t>/password is required/i</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.toBeInTheDocument();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11 / 27</a:t>
            </a:r>
            <a:endParaRPr lang="en-US" sz="90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12">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3</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MSW (Mock Service Worker)</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Mock at the network layer. Same mocks for tests AND dev.</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Why MSW</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Mocking fetch by hand has tradeoffs MSW avoids.</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400" b="1" dirty="0">
                <a:solidFill>
                  <a:srgbClr val="DC2626"/>
                </a:solidFill>
                <a:latin typeface="Trebuchet MS" pitchFamily="34" charset="0"/>
                <a:ea typeface="Trebuchet MS" pitchFamily="34" charset="-122"/>
                <a:cs typeface="Trebuchet MS" pitchFamily="34" charset="-120"/>
              </a:rPr>
              <a:t>Without MSW</a:t>
            </a:r>
            <a:endParaRPr lang="en-US" sz="1400" dirty="0"/>
          </a:p>
        </p:txBody>
      </p:sp>
      <p:sp>
        <p:nvSpPr>
          <p:cNvPr id="6" name="Text 4"/>
          <p:cNvSpPr/>
          <p:nvPr/>
        </p:nvSpPr>
        <p:spPr>
          <a:xfrm>
            <a:off x="777240" y="1920240"/>
            <a:ext cx="5349240" cy="2377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vi.fn() per fetch call — easy to forget one</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Mocks live in tests; dev still hits the real API</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Refactoring the API layer breaks all tests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Hard to simulate retries or error sequences</a:t>
            </a:r>
            <a:endParaRPr lang="en-US" sz="1250" dirty="0"/>
          </a:p>
        </p:txBody>
      </p:sp>
      <p:sp>
        <p:nvSpPr>
          <p:cNvPr id="7" name="Text 5"/>
          <p:cNvSpPr/>
          <p:nvPr/>
        </p:nvSpPr>
        <p:spPr>
          <a:xfrm>
            <a:off x="6355080" y="1554480"/>
            <a:ext cx="5029200" cy="365760"/>
          </a:xfrm>
          <a:prstGeom prst="rect">
            <a:avLst/>
          </a:prstGeom>
          <a:noFill/>
          <a:ln/>
        </p:spPr>
        <p:txBody>
          <a:bodyPr wrap="square" lIns="0" tIns="0" rIns="0" bIns="0" rtlCol="0" anchor="ctr"/>
          <a:lstStyle/>
          <a:p>
            <a:pPr indent="0" marL="0">
              <a:buNone/>
            </a:pPr>
            <a:r>
              <a:rPr lang="en-US" sz="1400" b="1" dirty="0">
                <a:solidFill>
                  <a:srgbClr val="059669"/>
                </a:solidFill>
                <a:latin typeface="Trebuchet MS" pitchFamily="34" charset="0"/>
                <a:ea typeface="Trebuchet MS" pitchFamily="34" charset="-122"/>
                <a:cs typeface="Trebuchet MS" pitchFamily="34" charset="-120"/>
              </a:rPr>
              <a:t>With MSW</a:t>
            </a:r>
            <a:endParaRPr lang="en-US" sz="1400" dirty="0"/>
          </a:p>
        </p:txBody>
      </p:sp>
      <p:sp>
        <p:nvSpPr>
          <p:cNvPr id="8" name="Text 6"/>
          <p:cNvSpPr/>
          <p:nvPr/>
        </p:nvSpPr>
        <p:spPr>
          <a:xfrm>
            <a:off x="6355080" y="1920240"/>
            <a:ext cx="5029200" cy="2377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Mocks intercept network requests below fetch</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Same handlers run in tests, dev (service worker), and Storybook</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Refactoring api.js doesn't break tests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Easy to simulate sequences: error then success on retry</a:t>
            </a:r>
            <a:endParaRPr lang="en-US" sz="1250" dirty="0"/>
          </a:p>
        </p:txBody>
      </p:sp>
      <p:sp>
        <p:nvSpPr>
          <p:cNvPr id="9" name="Shape 7"/>
          <p:cNvSpPr/>
          <p:nvPr/>
        </p:nvSpPr>
        <p:spPr>
          <a:xfrm>
            <a:off x="777240" y="4572000"/>
            <a:ext cx="10607040" cy="1463040"/>
          </a:xfrm>
          <a:prstGeom prst="rect">
            <a:avLst/>
          </a:prstGeom>
          <a:solidFill>
            <a:srgbClr val="CBF1F6"/>
          </a:solidFill>
          <a:ln w="12700">
            <a:solidFill>
              <a:srgbClr val="CBF1F6"/>
            </a:solidFill>
            <a:prstDash val="solid"/>
          </a:ln>
        </p:spPr>
      </p:sp>
      <p:pic>
        <p:nvPicPr>
          <p:cNvPr id="10" name="Image 0" descr="preencoded.png">    </p:cNvPr>
          <p:cNvPicPr>
            <a:picLocks noChangeAspect="1"/>
          </p:cNvPicPr>
          <p:nvPr/>
        </p:nvPicPr>
        <p:blipFill>
          <a:blip r:embed="rId1"/>
          <a:stretch>
            <a:fillRect/>
          </a:stretch>
        </p:blipFill>
        <p:spPr>
          <a:xfrm>
            <a:off x="1005840" y="4983480"/>
            <a:ext cx="640080" cy="640080"/>
          </a:xfrm>
          <a:prstGeom prst="rect">
            <a:avLst/>
          </a:prstGeom>
        </p:spPr>
      </p:pic>
      <p:sp>
        <p:nvSpPr>
          <p:cNvPr id="11" name="Text 8"/>
          <p:cNvSpPr/>
          <p:nvPr/>
        </p:nvSpPr>
        <p:spPr>
          <a:xfrm>
            <a:off x="1828800" y="4617720"/>
            <a:ext cx="9418320" cy="1417320"/>
          </a:xfrm>
          <a:prstGeom prst="rect">
            <a:avLst/>
          </a:prstGeom>
          <a:noFill/>
          <a:ln/>
        </p:spPr>
        <p:txBody>
          <a:bodyPr wrap="square" lIns="0" tIns="0" rIns="0" bIns="0" rtlCol="0" anchor="ctr"/>
          <a:lstStyle/>
          <a:p>
            <a:pPr indent="0" marL="0">
              <a:buNone/>
            </a:pPr>
            <a:r>
              <a:rPr lang="en-US" sz="1250" i="1" dirty="0">
                <a:solidFill>
                  <a:srgbClr val="0F172A"/>
                </a:solidFill>
                <a:latin typeface="Arial" pitchFamily="34" charset="0"/>
                <a:ea typeface="Arial" pitchFamily="34" charset="-122"/>
                <a:cs typeface="Arial" pitchFamily="34" charset="-120"/>
              </a:rPr>
              <a:t>MSW intercepts at the network layer using the Service Worker API in dev and a Node-side interceptor in tests. Your application code calls fetch as normal — it never knows about the mock.</a:t>
            </a:r>
            <a:endParaRPr lang="en-US" sz="1250" dirty="0"/>
          </a:p>
        </p:txBody>
      </p:sp>
      <p:sp>
        <p:nvSpPr>
          <p:cNvPr id="12"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13"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13 / 27</a:t>
            </a:r>
            <a:endParaRPr lang="en-US" sz="90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MSW — setup and handlers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Define handlers once. Use them everywhere.</a:t>
            </a:r>
            <a:endParaRPr lang="en-US" sz="1400" dirty="0"/>
          </a:p>
        </p:txBody>
      </p:sp>
      <p:sp>
        <p:nvSpPr>
          <p:cNvPr id="5" name="Shape 3"/>
          <p:cNvSpPr/>
          <p:nvPr/>
        </p:nvSpPr>
        <p:spPr>
          <a:xfrm>
            <a:off x="777240" y="1554480"/>
            <a:ext cx="10607040" cy="45720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4297680"/>
          </a:xfrm>
          <a:prstGeom prst="rect">
            <a:avLst/>
          </a:prstGeom>
          <a:noFill/>
          <a:ln/>
        </p:spPr>
        <p:txBody>
          <a:bodyPr wrap="square" lIns="0" tIns="0" rIns="0" bIns="0" rtlCol="0" anchor="t"/>
          <a:lstStyle/>
          <a:p>
            <a:pPr indent="0" marL="0">
              <a:buNone/>
            </a:pPr>
            <a:r>
              <a:rPr lang="en-US" sz="1150" i="1" dirty="0">
                <a:solidFill>
                  <a:srgbClr val="6A9955"/>
                </a:solidFill>
                <a:latin typeface="Courier New" pitchFamily="34" charset="0"/>
                <a:ea typeface="Courier New" pitchFamily="34" charset="-122"/>
                <a:cs typeface="Courier New" pitchFamily="34" charset="-120"/>
              </a:rPr>
              <a:t>// src/test/handlers.js</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import { http, HttpResponse } from </a:t>
            </a:r>
            <a:pPr indent="0" marL="0">
              <a:buNone/>
            </a:pPr>
            <a:r>
              <a:rPr lang="en-US" sz="1150" dirty="0">
                <a:solidFill>
                  <a:srgbClr val="9CDCFE"/>
                </a:solidFill>
                <a:latin typeface="Courier New" pitchFamily="34" charset="0"/>
                <a:ea typeface="Courier New" pitchFamily="34" charset="-122"/>
                <a:cs typeface="Courier New" pitchFamily="34" charset="-120"/>
              </a:rPr>
              <a:t>'msw'</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export const handlers =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pPr indent="0" marL="0">
              <a:buNone/>
            </a:pPr>
            <a:r>
              <a:rPr lang="en-US" sz="1150" dirty="0">
                <a:solidFill>
                  <a:srgbClr val="DCDCAA"/>
                </a:solidFill>
                <a:latin typeface="Courier New" pitchFamily="34" charset="0"/>
                <a:ea typeface="Courier New" pitchFamily="34" charset="-122"/>
                <a:cs typeface="Courier New" pitchFamily="34" charset="-120"/>
              </a:rPr>
              <a:t>http</a:t>
            </a:r>
            <a:pPr indent="0" marL="0">
              <a:buNone/>
            </a:pPr>
            <a:r>
              <a:rPr lang="en-US" sz="1150" dirty="0">
                <a:solidFill>
                  <a:srgbClr val="9CDCFE"/>
                </a:solidFill>
                <a:latin typeface="Courier New" pitchFamily="34" charset="0"/>
                <a:ea typeface="Courier New" pitchFamily="34" charset="-122"/>
                <a:cs typeface="Courier New" pitchFamily="34" charset="-120"/>
              </a:rPr>
              <a:t>.get(</a:t>
            </a:r>
            <a:pPr indent="0" marL="0">
              <a:buNone/>
            </a:pPr>
            <a:r>
              <a:rPr lang="en-US" sz="1150" dirty="0">
                <a:solidFill>
                  <a:srgbClr val="9CDCFE"/>
                </a:solidFill>
                <a:latin typeface="Courier New" pitchFamily="34" charset="0"/>
                <a:ea typeface="Courier New" pitchFamily="34" charset="-122"/>
                <a:cs typeface="Courier New" pitchFamily="34" charset="-120"/>
              </a:rPr>
              <a:t>'/api/posts'</a:t>
            </a:r>
            <a:pPr indent="0" marL="0">
              <a:buNone/>
            </a:pPr>
            <a:r>
              <a:rPr lang="en-US" sz="1150" dirty="0">
                <a:solidFill>
                  <a:srgbClr val="FFFFFF"/>
                </a:solidFill>
                <a:latin typeface="Courier New" pitchFamily="34" charset="0"/>
                <a:ea typeface="Courier New" pitchFamily="34" charset="-122"/>
                <a:cs typeface="Courier New" pitchFamily="34" charset="-120"/>
              </a:rPr>
              <a:t>, () =&gt;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return HttpResponse.json([</a:t>
            </a:r>
            <a:endParaRPr lang="en-US" sz="1150" dirty="0"/>
          </a:p>
          <a:p>
            <a:pPr indent="0" marL="0">
              <a:buNone/>
            </a:pPr>
            <a:r>
              <a:rPr lang="en-US" sz="1150" dirty="0">
                <a:solidFill>
                  <a:srgbClr val="9CDCFE"/>
                </a:solidFill>
                <a:latin typeface="Courier New" pitchFamily="34" charset="0"/>
                <a:ea typeface="Courier New" pitchFamily="34" charset="-122"/>
                <a:cs typeface="Courier New" pitchFamily="34" charset="-120"/>
              </a:rPr>
              <a:t>      { id: </a:t>
            </a:r>
            <a:pPr indent="0" marL="0">
              <a:buNone/>
            </a:pPr>
            <a:r>
              <a:rPr lang="en-US" sz="1150" dirty="0">
                <a:solidFill>
                  <a:srgbClr val="9CDCFE"/>
                </a:solidFill>
                <a:latin typeface="Courier New" pitchFamily="34" charset="0"/>
                <a:ea typeface="Courier New" pitchFamily="34" charset="-122"/>
                <a:cs typeface="Courier New" pitchFamily="34" charset="-120"/>
              </a:rPr>
              <a:t>1</a:t>
            </a:r>
            <a:pPr indent="0" marL="0">
              <a:buNone/>
            </a:pPr>
            <a:r>
              <a:rPr lang="en-US" sz="1150" dirty="0">
                <a:solidFill>
                  <a:srgbClr val="9CDCFE"/>
                </a:solidFill>
                <a:latin typeface="Courier New" pitchFamily="34" charset="0"/>
                <a:ea typeface="Courier New" pitchFamily="34" charset="-122"/>
                <a:cs typeface="Courier New" pitchFamily="34" charset="-120"/>
              </a:rPr>
              <a:t>, title: </a:t>
            </a:r>
            <a:pPr indent="0" marL="0">
              <a:buNone/>
            </a:pPr>
            <a:r>
              <a:rPr lang="en-US" sz="1150" dirty="0">
                <a:solidFill>
                  <a:srgbClr val="9CDCFE"/>
                </a:solidFill>
                <a:latin typeface="Courier New" pitchFamily="34" charset="0"/>
                <a:ea typeface="Courier New" pitchFamily="34" charset="-122"/>
                <a:cs typeface="Courier New" pitchFamily="34" charset="-120"/>
              </a:rPr>
              <a:t>'Hello'</a:t>
            </a:r>
            <a:pPr indent="0" marL="0">
              <a:buNone/>
            </a:pPr>
            <a:r>
              <a:rPr lang="en-US" sz="1150" dirty="0">
                <a:solidFill>
                  <a:srgbClr val="9CDCFE"/>
                </a:solidFill>
                <a:latin typeface="Courier New" pitchFamily="34" charset="0"/>
                <a:ea typeface="Courier New" pitchFamily="34" charset="-122"/>
                <a:cs typeface="Courier New" pitchFamily="34" charset="-120"/>
              </a:rPr>
              <a:t>, body: </a:t>
            </a:r>
            <a:pPr indent="0" marL="0">
              <a:buNone/>
            </a:pPr>
            <a:r>
              <a:rPr lang="en-US" sz="1150" dirty="0">
                <a:solidFill>
                  <a:srgbClr val="9CDCFE"/>
                </a:solidFill>
                <a:latin typeface="Courier New" pitchFamily="34" charset="0"/>
                <a:ea typeface="Courier New" pitchFamily="34" charset="-122"/>
                <a:cs typeface="Courier New" pitchFamily="34" charset="-120"/>
              </a:rPr>
              <a:t>'…'</a:t>
            </a:r>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pPr indent="0" marL="0">
              <a:buNone/>
            </a:pPr>
            <a:r>
              <a:rPr lang="en-US" sz="1150" dirty="0">
                <a:solidFill>
                  <a:srgbClr val="DCDCAA"/>
                </a:solidFill>
                <a:latin typeface="Courier New" pitchFamily="34" charset="0"/>
                <a:ea typeface="Courier New" pitchFamily="34" charset="-122"/>
                <a:cs typeface="Courier New" pitchFamily="34" charset="-120"/>
              </a:rPr>
              <a:t>http</a:t>
            </a:r>
            <a:pPr indent="0" marL="0">
              <a:buNone/>
            </a:pPr>
            <a:r>
              <a:rPr lang="en-US" sz="1150" dirty="0">
                <a:solidFill>
                  <a:srgbClr val="9CDCFE"/>
                </a:solidFill>
                <a:latin typeface="Courier New" pitchFamily="34" charset="0"/>
                <a:ea typeface="Courier New" pitchFamily="34" charset="-122"/>
                <a:cs typeface="Courier New" pitchFamily="34" charset="-120"/>
              </a:rPr>
              <a:t>.post(</a:t>
            </a:r>
            <a:pPr indent="0" marL="0">
              <a:buNone/>
            </a:pPr>
            <a:r>
              <a:rPr lang="en-US" sz="1150" dirty="0">
                <a:solidFill>
                  <a:srgbClr val="9CDCFE"/>
                </a:solidFill>
                <a:latin typeface="Courier New" pitchFamily="34" charset="0"/>
                <a:ea typeface="Courier New" pitchFamily="34" charset="-122"/>
                <a:cs typeface="Courier New" pitchFamily="34" charset="-120"/>
              </a:rPr>
              <a:t>'/api/posts'</a:t>
            </a:r>
            <a:pPr indent="0" marL="0">
              <a:buNone/>
            </a:pPr>
            <a:r>
              <a:rPr lang="en-US" sz="1150" dirty="0">
                <a:solidFill>
                  <a:srgbClr val="FFFFFF"/>
                </a:solidFill>
                <a:latin typeface="Courier New" pitchFamily="34" charset="0"/>
                <a:ea typeface="Courier New" pitchFamily="34" charset="-122"/>
                <a:cs typeface="Courier New" pitchFamily="34" charset="-120"/>
              </a:rPr>
              <a:t>, async ({ request }) =&gt;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const post = await request.json();</a:t>
            </a:r>
            <a:endParaRPr lang="en-US" sz="1150" dirty="0"/>
          </a:p>
          <a:p>
            <a:pPr indent="0" marL="0">
              <a:buNone/>
            </a:pPr>
            <a:r>
              <a:rPr lang="en-US" sz="1150" dirty="0">
                <a:solidFill>
                  <a:srgbClr val="9CDCFE"/>
                </a:solidFill>
                <a:latin typeface="Courier New" pitchFamily="34" charset="0"/>
                <a:ea typeface="Courier New" pitchFamily="34" charset="-122"/>
                <a:cs typeface="Courier New" pitchFamily="34" charset="-120"/>
              </a:rPr>
              <a:t>    return HttpResponse.json({ id: </a:t>
            </a:r>
            <a:pPr indent="0" marL="0">
              <a:buNone/>
            </a:pPr>
            <a:r>
              <a:rPr lang="en-US" sz="1150" dirty="0">
                <a:solidFill>
                  <a:srgbClr val="9CDCFE"/>
                </a:solidFill>
                <a:latin typeface="Courier New" pitchFamily="34" charset="0"/>
                <a:ea typeface="Courier New" pitchFamily="34" charset="-122"/>
                <a:cs typeface="Courier New" pitchFamily="34" charset="-120"/>
              </a:rPr>
              <a:t>2</a:t>
            </a:r>
            <a:pPr indent="0" marL="0">
              <a:buNone/>
            </a:pPr>
            <a:r>
              <a:rPr lang="en-US" sz="1150" dirty="0">
                <a:solidFill>
                  <a:srgbClr val="9CDCFE"/>
                </a:solidFill>
                <a:latin typeface="Courier New" pitchFamily="34" charset="0"/>
                <a:ea typeface="Courier New" pitchFamily="34" charset="-122"/>
                <a:cs typeface="Courier New" pitchFamily="34" charset="-120"/>
              </a:rPr>
              <a:t>, ...post }, { status: </a:t>
            </a:r>
            <a:pPr indent="0" marL="0">
              <a:buNone/>
            </a:pPr>
            <a:r>
              <a:rPr lang="en-US" sz="1150" dirty="0">
                <a:solidFill>
                  <a:srgbClr val="9CDCFE"/>
                </a:solidFill>
                <a:latin typeface="Courier New" pitchFamily="34" charset="0"/>
                <a:ea typeface="Courier New" pitchFamily="34" charset="-122"/>
                <a:cs typeface="Courier New" pitchFamily="34" charset="-120"/>
              </a:rPr>
              <a:t>201</a:t>
            </a:r>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pPr indent="0" marL="0">
              <a:buNone/>
            </a:pPr>
            <a:r>
              <a:rPr lang="en-US" sz="1150" dirty="0">
                <a:solidFill>
                  <a:srgbClr val="DCDCAA"/>
                </a:solidFill>
                <a:latin typeface="Courier New" pitchFamily="34" charset="0"/>
                <a:ea typeface="Courier New" pitchFamily="34" charset="-122"/>
                <a:cs typeface="Courier New" pitchFamily="34" charset="-120"/>
              </a:rPr>
              <a:t>http</a:t>
            </a:r>
            <a:pPr indent="0" marL="0">
              <a:buNone/>
            </a:pPr>
            <a:r>
              <a:rPr lang="en-US" sz="1150" dirty="0">
                <a:solidFill>
                  <a:srgbClr val="9CDCFE"/>
                </a:solidFill>
                <a:latin typeface="Courier New" pitchFamily="34" charset="0"/>
                <a:ea typeface="Courier New" pitchFamily="34" charset="-122"/>
                <a:cs typeface="Courier New" pitchFamily="34" charset="-120"/>
              </a:rPr>
              <a:t>.get(</a:t>
            </a:r>
            <a:pPr indent="0" marL="0">
              <a:buNone/>
            </a:pPr>
            <a:r>
              <a:rPr lang="en-US" sz="1150" dirty="0">
                <a:solidFill>
                  <a:srgbClr val="9CDCFE"/>
                </a:solidFill>
                <a:latin typeface="Courier New" pitchFamily="34" charset="0"/>
                <a:ea typeface="Courier New" pitchFamily="34" charset="-122"/>
                <a:cs typeface="Courier New" pitchFamily="34" charset="-120"/>
              </a:rPr>
              <a:t>'/api/posts/:id'</a:t>
            </a:r>
            <a:pPr indent="0" marL="0">
              <a:buNone/>
            </a:pPr>
            <a:r>
              <a:rPr lang="en-US" sz="1150" dirty="0">
                <a:solidFill>
                  <a:srgbClr val="FFFFFF"/>
                </a:solidFill>
                <a:latin typeface="Courier New" pitchFamily="34" charset="0"/>
                <a:ea typeface="Courier New" pitchFamily="34" charset="-122"/>
                <a:cs typeface="Courier New" pitchFamily="34" charset="-120"/>
              </a:rPr>
              <a:t>, ({ params }) =&gt; {</a:t>
            </a:r>
            <a:endParaRPr lang="en-US" sz="1150" dirty="0"/>
          </a:p>
          <a:p>
            <a:pPr indent="0" marL="0">
              <a:buNone/>
            </a:pPr>
            <a:r>
              <a:rPr lang="en-US" sz="1150" dirty="0">
                <a:solidFill>
                  <a:srgbClr val="9CDCFE"/>
                </a:solidFill>
                <a:latin typeface="Courier New" pitchFamily="34" charset="0"/>
                <a:ea typeface="Courier New" pitchFamily="34" charset="-122"/>
                <a:cs typeface="Courier New" pitchFamily="34" charset="-120"/>
              </a:rPr>
              <a:t>    return HttpResponse.json({ id: </a:t>
            </a:r>
            <a:pPr indent="0" marL="0">
              <a:buNone/>
            </a:pPr>
            <a:r>
              <a:rPr lang="en-US" sz="1150" dirty="0">
                <a:solidFill>
                  <a:srgbClr val="9CDCFE"/>
                </a:solidFill>
                <a:latin typeface="Courier New" pitchFamily="34" charset="0"/>
                <a:ea typeface="Courier New" pitchFamily="34" charset="-122"/>
                <a:cs typeface="Courier New" pitchFamily="34" charset="-120"/>
              </a:rPr>
              <a:t>+params.id</a:t>
            </a:r>
            <a:pPr indent="0" marL="0">
              <a:buNone/>
            </a:pPr>
            <a:r>
              <a:rPr lang="en-US" sz="1150" dirty="0">
                <a:solidFill>
                  <a:srgbClr val="9CDCFE"/>
                </a:solidFill>
                <a:latin typeface="Courier New" pitchFamily="34" charset="0"/>
                <a:ea typeface="Courier New" pitchFamily="34" charset="-122"/>
                <a:cs typeface="Courier New" pitchFamily="34" charset="-120"/>
              </a:rPr>
              <a:t>, title: </a:t>
            </a:r>
            <a:pPr indent="0" marL="0">
              <a:buNone/>
            </a:pPr>
            <a:r>
              <a:rPr lang="en-US" sz="1150" dirty="0">
                <a:solidFill>
                  <a:srgbClr val="9CDCFE"/>
                </a:solidFill>
                <a:latin typeface="Courier New" pitchFamily="34" charset="0"/>
                <a:ea typeface="Courier New" pitchFamily="34" charset="-122"/>
                <a:cs typeface="Courier New" pitchFamily="34" charset="-120"/>
              </a:rPr>
              <a:t>'…'</a:t>
            </a:r>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14 / 27</a:t>
            </a:r>
            <a:endParaRPr lang="en-US" sz="90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MSW in tests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Wire it up once in test setup. Override handlers per-test for edge cases.</a:t>
            </a:r>
            <a:endParaRPr lang="en-US" sz="1400" dirty="0"/>
          </a:p>
        </p:txBody>
      </p:sp>
      <p:sp>
        <p:nvSpPr>
          <p:cNvPr id="5" name="Shape 3"/>
          <p:cNvSpPr/>
          <p:nvPr/>
        </p:nvSpPr>
        <p:spPr>
          <a:xfrm>
            <a:off x="777240" y="1554480"/>
            <a:ext cx="10607040" cy="45720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4297680"/>
          </a:xfrm>
          <a:prstGeom prst="rect">
            <a:avLst/>
          </a:prstGeom>
          <a:noFill/>
          <a:ln/>
        </p:spPr>
        <p:txBody>
          <a:bodyPr wrap="square" lIns="0" tIns="0" rIns="0" bIns="0" rtlCol="0" anchor="t"/>
          <a:lstStyle/>
          <a:p>
            <a:pPr indent="0" marL="0">
              <a:buNone/>
            </a:pPr>
            <a:r>
              <a:rPr lang="en-US" sz="1100" i="1" dirty="0">
                <a:solidFill>
                  <a:srgbClr val="6A9955"/>
                </a:solidFill>
                <a:latin typeface="Courier New" pitchFamily="34" charset="0"/>
                <a:ea typeface="Courier New" pitchFamily="34" charset="-122"/>
                <a:cs typeface="Courier New" pitchFamily="34" charset="-120"/>
              </a:rPr>
              <a:t>// src/test/setup.js</a:t>
            </a: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import { setupServer } from </a:t>
            </a:r>
            <a:pPr indent="0" marL="0">
              <a:buNone/>
            </a:pPr>
            <a:r>
              <a:rPr lang="en-US" sz="1100" dirty="0">
                <a:solidFill>
                  <a:srgbClr val="9CDCFE"/>
                </a:solidFill>
                <a:latin typeface="Courier New" pitchFamily="34" charset="0"/>
                <a:ea typeface="Courier New" pitchFamily="34" charset="-122"/>
                <a:cs typeface="Courier New" pitchFamily="34" charset="-120"/>
              </a:rPr>
              <a:t>'msw/node'</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import { handlers } from </a:t>
            </a:r>
            <a:pPr indent="0" marL="0">
              <a:buNone/>
            </a:pPr>
            <a:r>
              <a:rPr lang="en-US" sz="1100" dirty="0">
                <a:solidFill>
                  <a:srgbClr val="9CDCFE"/>
                </a:solidFill>
                <a:latin typeface="Courier New" pitchFamily="34" charset="0"/>
                <a:ea typeface="Courier New" pitchFamily="34" charset="-122"/>
                <a:cs typeface="Courier New" pitchFamily="34" charset="-120"/>
              </a:rPr>
              <a:t>'./handlers'</a:t>
            </a:r>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indent="0" marL="0">
              <a:buNone/>
            </a:pPr>
            <a:endParaRPr lang="en-US" sz="1100" dirty="0"/>
          </a:p>
          <a:p>
            <a:pPr indent="0" marL="0">
              <a:buNone/>
            </a:pPr>
            <a:r>
              <a:rPr lang="en-US" sz="1100" dirty="0">
                <a:solidFill>
                  <a:srgbClr val="C586C0"/>
                </a:solidFill>
                <a:latin typeface="Courier New" pitchFamily="34" charset="0"/>
                <a:ea typeface="Courier New" pitchFamily="34" charset="-122"/>
                <a:cs typeface="Courier New" pitchFamily="34" charset="-120"/>
              </a:rPr>
              <a:t>const server = </a:t>
            </a:r>
            <a:pPr indent="0" marL="0">
              <a:buNone/>
            </a:pPr>
            <a:r>
              <a:rPr lang="en-US" sz="1100" dirty="0">
                <a:solidFill>
                  <a:srgbClr val="DCDCAA"/>
                </a:solidFill>
                <a:latin typeface="Courier New" pitchFamily="34" charset="0"/>
                <a:ea typeface="Courier New" pitchFamily="34" charset="-122"/>
                <a:cs typeface="Courier New" pitchFamily="34" charset="-120"/>
              </a:rPr>
              <a:t>setupServer</a:t>
            </a:r>
            <a:pPr indent="0" marL="0">
              <a:buNone/>
            </a:pPr>
            <a:r>
              <a:rPr lang="en-US" sz="1100" dirty="0">
                <a:solidFill>
                  <a:srgbClr val="FFFFFF"/>
                </a:solidFill>
                <a:latin typeface="Courier New" pitchFamily="34" charset="0"/>
                <a:ea typeface="Courier New" pitchFamily="34" charset="-122"/>
                <a:cs typeface="Courier New" pitchFamily="34" charset="-120"/>
              </a:rPr>
              <a:t>(...handlers);</a:t>
            </a:r>
            <a:endParaRPr lang="en-US" sz="1100" dirty="0"/>
          </a:p>
          <a:p>
            <a:pPr indent="0" marL="0">
              <a:buNone/>
            </a:pPr>
            <a:endParaRPr lang="en-US" sz="1100" dirty="0"/>
          </a:p>
          <a:p>
            <a:pPr indent="0" marL="0">
              <a:buNone/>
            </a:pPr>
            <a:r>
              <a:rPr lang="en-US" sz="1100" dirty="0">
                <a:solidFill>
                  <a:srgbClr val="DCDCAA"/>
                </a:solidFill>
                <a:latin typeface="Courier New" pitchFamily="34" charset="0"/>
                <a:ea typeface="Courier New" pitchFamily="34" charset="-122"/>
                <a:cs typeface="Courier New" pitchFamily="34" charset="-120"/>
              </a:rPr>
              <a:t>beforeAll</a:t>
            </a:r>
            <a:pPr indent="0" marL="0">
              <a:buNone/>
            </a:pPr>
            <a:r>
              <a:rPr lang="en-US" sz="1100" dirty="0">
                <a:solidFill>
                  <a:srgbClr val="FFFFFF"/>
                </a:solidFill>
                <a:latin typeface="Courier New" pitchFamily="34" charset="0"/>
                <a:ea typeface="Courier New" pitchFamily="34" charset="-122"/>
                <a:cs typeface="Courier New" pitchFamily="34" charset="-120"/>
              </a:rPr>
              <a:t>(() =&gt; server.listen());</a:t>
            </a:r>
            <a:endParaRPr lang="en-US" sz="1100" dirty="0"/>
          </a:p>
          <a:p>
            <a:pPr indent="0" marL="0">
              <a:buNone/>
            </a:pPr>
            <a:r>
              <a:rPr lang="en-US" sz="1100" dirty="0">
                <a:solidFill>
                  <a:srgbClr val="DCDCAA"/>
                </a:solidFill>
                <a:latin typeface="Courier New" pitchFamily="34" charset="0"/>
                <a:ea typeface="Courier New" pitchFamily="34" charset="-122"/>
                <a:cs typeface="Courier New" pitchFamily="34" charset="-120"/>
              </a:rPr>
              <a:t>afterEach</a:t>
            </a:r>
            <a:pPr indent="0" marL="0">
              <a:buNone/>
            </a:pPr>
            <a:r>
              <a:rPr lang="en-US" sz="1100" dirty="0">
                <a:solidFill>
                  <a:srgbClr val="FFFFFF"/>
                </a:solidFill>
                <a:latin typeface="Courier New" pitchFamily="34" charset="0"/>
                <a:ea typeface="Courier New" pitchFamily="34" charset="-122"/>
                <a:cs typeface="Courier New" pitchFamily="34" charset="-120"/>
              </a:rPr>
              <a:t>(() =&gt; server.resetHandlers());</a:t>
            </a:r>
            <a:endParaRPr lang="en-US" sz="1100" dirty="0"/>
          </a:p>
          <a:p>
            <a:pPr indent="0" marL="0">
              <a:buNone/>
            </a:pPr>
            <a:r>
              <a:rPr lang="en-US" sz="1100" dirty="0">
                <a:solidFill>
                  <a:srgbClr val="DCDCAA"/>
                </a:solidFill>
                <a:latin typeface="Courier New" pitchFamily="34" charset="0"/>
                <a:ea typeface="Courier New" pitchFamily="34" charset="-122"/>
                <a:cs typeface="Courier New" pitchFamily="34" charset="-120"/>
              </a:rPr>
              <a:t>afterAll</a:t>
            </a:r>
            <a:pPr indent="0" marL="0">
              <a:buNone/>
            </a:pPr>
            <a:r>
              <a:rPr lang="en-US" sz="1100" dirty="0">
                <a:solidFill>
                  <a:srgbClr val="FFFFFF"/>
                </a:solidFill>
                <a:latin typeface="Courier New" pitchFamily="34" charset="0"/>
                <a:ea typeface="Courier New" pitchFamily="34" charset="-122"/>
                <a:cs typeface="Courier New" pitchFamily="34" charset="-120"/>
              </a:rPr>
              <a:t>(() =&gt; server.close());</a:t>
            </a:r>
            <a:endParaRPr lang="en-US" sz="1100" dirty="0"/>
          </a:p>
          <a:p>
            <a:pPr indent="0" marL="0">
              <a:buNone/>
            </a:pPr>
            <a:endParaRPr lang="en-US" sz="1100" dirty="0"/>
          </a:p>
          <a:p>
            <a:pPr indent="0" marL="0">
              <a:buNone/>
            </a:pPr>
            <a:r>
              <a:rPr lang="en-US" sz="1100" i="1" dirty="0">
                <a:solidFill>
                  <a:srgbClr val="6A9955"/>
                </a:solidFill>
                <a:latin typeface="Courier New" pitchFamily="34" charset="0"/>
                <a:ea typeface="Courier New" pitchFamily="34" charset="-122"/>
                <a:cs typeface="Courier New" pitchFamily="34" charset="-120"/>
              </a:rPr>
              <a:t>// Per-test override:</a:t>
            </a:r>
            <a:endParaRPr lang="en-US" sz="1100" dirty="0"/>
          </a:p>
          <a:p>
            <a:pPr indent="0" marL="0">
              <a:buNone/>
            </a:pPr>
            <a:r>
              <a:rPr lang="en-US" sz="1100" dirty="0">
                <a:solidFill>
                  <a:srgbClr val="DCDCAA"/>
                </a:solidFill>
                <a:latin typeface="Courier New" pitchFamily="34" charset="0"/>
                <a:ea typeface="Courier New" pitchFamily="34" charset="-122"/>
                <a:cs typeface="Courier New" pitchFamily="34" charset="-120"/>
              </a:rPr>
              <a:t>it</a:t>
            </a:r>
            <a:pPr indent="0" marL="0">
              <a:buNone/>
            </a:pPr>
            <a:r>
              <a:rPr lang="en-US" sz="1100" dirty="0">
                <a:solidFill>
                  <a:srgbClr val="9CDCFE"/>
                </a:solidFill>
                <a:latin typeface="Courier New" pitchFamily="34" charset="0"/>
                <a:ea typeface="Courier New" pitchFamily="34" charset="-122"/>
                <a:cs typeface="Courier New" pitchFamily="34" charset="-120"/>
              </a:rPr>
              <a:t>(</a:t>
            </a:r>
            <a:pPr indent="0" marL="0">
              <a:buNone/>
            </a:pPr>
            <a:r>
              <a:rPr lang="en-US" sz="1100" dirty="0">
                <a:solidFill>
                  <a:srgbClr val="9CDCFE"/>
                </a:solidFill>
                <a:latin typeface="Courier New" pitchFamily="34" charset="0"/>
                <a:ea typeface="Courier New" pitchFamily="34" charset="-122"/>
                <a:cs typeface="Courier New" pitchFamily="34" charset="-120"/>
              </a:rPr>
              <a:t>'shows error on 500'</a:t>
            </a:r>
            <a:pPr indent="0" marL="0">
              <a:buNone/>
            </a:pPr>
            <a:r>
              <a:rPr lang="en-US" sz="1100" dirty="0">
                <a:solidFill>
                  <a:srgbClr val="FFFFFF"/>
                </a:solidFill>
                <a:latin typeface="Courier New" pitchFamily="34" charset="0"/>
                <a:ea typeface="Courier New" pitchFamily="34" charset="-122"/>
                <a:cs typeface="Courier New" pitchFamily="34" charset="-120"/>
              </a:rPr>
              <a:t>, async () =&gt;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server.use(</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DCDCAA"/>
                </a:solidFill>
                <a:latin typeface="Courier New" pitchFamily="34" charset="0"/>
                <a:ea typeface="Courier New" pitchFamily="34" charset="-122"/>
                <a:cs typeface="Courier New" pitchFamily="34" charset="-120"/>
              </a:rPr>
              <a:t>http</a:t>
            </a:r>
            <a:pPr indent="0" marL="0">
              <a:buNone/>
            </a:pPr>
            <a:r>
              <a:rPr lang="en-US" sz="1100" dirty="0">
                <a:solidFill>
                  <a:srgbClr val="9CDCFE"/>
                </a:solidFill>
                <a:latin typeface="Courier New" pitchFamily="34" charset="0"/>
                <a:ea typeface="Courier New" pitchFamily="34" charset="-122"/>
                <a:cs typeface="Courier New" pitchFamily="34" charset="-120"/>
              </a:rPr>
              <a:t>.get(</a:t>
            </a:r>
            <a:pPr indent="0" marL="0">
              <a:buNone/>
            </a:pPr>
            <a:r>
              <a:rPr lang="en-US" sz="1100" dirty="0">
                <a:solidFill>
                  <a:srgbClr val="9CDCFE"/>
                </a:solidFill>
                <a:latin typeface="Courier New" pitchFamily="34" charset="0"/>
                <a:ea typeface="Courier New" pitchFamily="34" charset="-122"/>
                <a:cs typeface="Courier New" pitchFamily="34" charset="-120"/>
              </a:rPr>
              <a:t>'/api/posts'</a:t>
            </a:r>
            <a:pPr indent="0" marL="0">
              <a:buNone/>
            </a:pPr>
            <a:r>
              <a:rPr lang="en-US" sz="1100" dirty="0">
                <a:solidFill>
                  <a:srgbClr val="FFFFFF"/>
                </a:solidFill>
                <a:latin typeface="Courier New" pitchFamily="34" charset="0"/>
                <a:ea typeface="Courier New" pitchFamily="34" charset="-122"/>
                <a:cs typeface="Courier New" pitchFamily="34" charset="-120"/>
              </a:rPr>
              <a:t>, () =&gt; HttpResponse.error())</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DCDCAA"/>
                </a:solidFill>
                <a:latin typeface="Courier New" pitchFamily="34" charset="0"/>
                <a:ea typeface="Courier New" pitchFamily="34" charset="-122"/>
                <a:cs typeface="Courier New" pitchFamily="34" charset="-120"/>
              </a:rPr>
              <a:t>render</a:t>
            </a:r>
            <a:pPr indent="0" marL="0">
              <a:buNone/>
            </a:pPr>
            <a:r>
              <a:rPr lang="en-US" sz="1100" dirty="0">
                <a:solidFill>
                  <a:srgbClr val="FFFFFF"/>
                </a:solidFill>
                <a:latin typeface="Courier New" pitchFamily="34" charset="0"/>
                <a:ea typeface="Courier New" pitchFamily="34" charset="-122"/>
                <a:cs typeface="Courier New" pitchFamily="34" charset="-120"/>
              </a:rPr>
              <a:t>(&lt;PostsFeed /&gt;);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pPr indent="0" marL="0">
              <a:buNone/>
            </a:pPr>
            <a:r>
              <a:rPr lang="en-US" sz="1100" dirty="0">
                <a:solidFill>
                  <a:srgbClr val="DCDCAA"/>
                </a:solidFill>
                <a:latin typeface="Courier New" pitchFamily="34" charset="0"/>
                <a:ea typeface="Courier New" pitchFamily="34" charset="-122"/>
                <a:cs typeface="Courier New" pitchFamily="34" charset="-120"/>
              </a:rPr>
              <a:t>expect</a:t>
            </a:r>
            <a:pPr indent="0" marL="0">
              <a:buNone/>
            </a:pPr>
            <a:r>
              <a:rPr lang="en-US" sz="1100" dirty="0">
                <a:solidFill>
                  <a:srgbClr val="C586C0"/>
                </a:solidFill>
                <a:latin typeface="Courier New" pitchFamily="34" charset="0"/>
                <a:ea typeface="Courier New" pitchFamily="34" charset="-122"/>
                <a:cs typeface="Courier New" pitchFamily="34" charset="-120"/>
              </a:rPr>
              <a:t>(await </a:t>
            </a:r>
            <a:pPr indent="0" marL="0">
              <a:buNone/>
            </a:pPr>
            <a:r>
              <a:rPr lang="en-US" sz="1100" dirty="0">
                <a:solidFill>
                  <a:srgbClr val="9CDCFE"/>
                </a:solidFill>
                <a:latin typeface="Courier New" pitchFamily="34" charset="0"/>
                <a:ea typeface="Courier New" pitchFamily="34" charset="-122"/>
                <a:cs typeface="Courier New" pitchFamily="34" charset="-120"/>
              </a:rPr>
              <a:t>screen</a:t>
            </a:r>
            <a:pPr indent="0" marL="0">
              <a:buNone/>
            </a:pPr>
            <a:r>
              <a:rPr lang="en-US" sz="1100" dirty="0">
                <a:solidFill>
                  <a:srgbClr val="DCDCAA"/>
                </a:solidFill>
                <a:latin typeface="Courier New" pitchFamily="34" charset="0"/>
                <a:ea typeface="Courier New" pitchFamily="34" charset="-122"/>
                <a:cs typeface="Courier New" pitchFamily="34" charset="-120"/>
              </a:rPr>
              <a:t>.findByText(</a:t>
            </a:r>
            <a:pPr indent="0" marL="0">
              <a:buNone/>
            </a:pPr>
            <a:r>
              <a:rPr lang="en-US" sz="1100" dirty="0">
                <a:solidFill>
                  <a:srgbClr val="9CDCFE"/>
                </a:solidFill>
                <a:latin typeface="Courier New" pitchFamily="34" charset="0"/>
                <a:ea typeface="Courier New" pitchFamily="34" charset="-122"/>
                <a:cs typeface="Courier New" pitchFamily="34" charset="-120"/>
              </a:rPr>
              <a:t>/something went wrong/i</a:t>
            </a:r>
            <a:pPr indent="0" marL="0">
              <a:buNone/>
            </a:pPr>
            <a:r>
              <a:rPr lang="en-US" sz="1100" dirty="0">
                <a:solidFill>
                  <a:srgbClr val="FFFFFF"/>
                </a:solidFill>
                <a:latin typeface="Courier New" pitchFamily="34" charset="0"/>
                <a:ea typeface="Courier New" pitchFamily="34" charset="-122"/>
                <a:cs typeface="Courier New" pitchFamily="34" charset="-120"/>
              </a:rPr>
              <a:t>)).toBeInTheDocument();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15 / 27</a:t>
            </a:r>
            <a:endParaRPr lang="en-US" sz="90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16">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4</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Playwright</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End-to-end tests in a real browser. The expensive layer.</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When E2E is the right tool</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Slow. Expensive to write. Highest confidence. Use sparingly.</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400" b="1" dirty="0">
                <a:solidFill>
                  <a:srgbClr val="059669"/>
                </a:solidFill>
                <a:latin typeface="Trebuchet MS" pitchFamily="34" charset="0"/>
                <a:ea typeface="Trebuchet MS" pitchFamily="34" charset="-122"/>
                <a:cs typeface="Trebuchet MS" pitchFamily="34" charset="-120"/>
              </a:rPr>
              <a:t>Reach for Playwright when:</a:t>
            </a:r>
            <a:endParaRPr lang="en-US" sz="1400" dirty="0"/>
          </a:p>
        </p:txBody>
      </p:sp>
      <p:sp>
        <p:nvSpPr>
          <p:cNvPr id="6" name="Text 4"/>
          <p:cNvSpPr/>
          <p:nvPr/>
        </p:nvSpPr>
        <p:spPr>
          <a:xfrm>
            <a:off x="777240" y="1920240"/>
            <a:ext cx="5349240" cy="2743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Testing critical user flows end-to-end (auth, checkout, payment)</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Catching cross-browser bugs (Safari, Firefox, Chrome)</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Testing the real backend, not a mock</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Visual regression — screenshots over time</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Smoke tests against staging or production</a:t>
            </a:r>
            <a:endParaRPr lang="en-US" sz="1200" dirty="0"/>
          </a:p>
        </p:txBody>
      </p:sp>
      <p:sp>
        <p:nvSpPr>
          <p:cNvPr id="7" name="Text 5"/>
          <p:cNvSpPr/>
          <p:nvPr/>
        </p:nvSpPr>
        <p:spPr>
          <a:xfrm>
            <a:off x="6355080" y="1554480"/>
            <a:ext cx="5029200" cy="365760"/>
          </a:xfrm>
          <a:prstGeom prst="rect">
            <a:avLst/>
          </a:prstGeom>
          <a:noFill/>
          <a:ln/>
        </p:spPr>
        <p:txBody>
          <a:bodyPr wrap="square" lIns="0" tIns="0" rIns="0" bIns="0" rtlCol="0" anchor="ctr"/>
          <a:lstStyle/>
          <a:p>
            <a:pPr indent="0" marL="0">
              <a:buNone/>
            </a:pPr>
            <a:r>
              <a:rPr lang="en-US" sz="1400" b="1" dirty="0">
                <a:solidFill>
                  <a:srgbClr val="DC2626"/>
                </a:solidFill>
                <a:latin typeface="Trebuchet MS" pitchFamily="34" charset="0"/>
                <a:ea typeface="Trebuchet MS" pitchFamily="34" charset="-122"/>
                <a:cs typeface="Trebuchet MS" pitchFamily="34" charset="-120"/>
              </a:rPr>
              <a:t>Don't reach for Playwright when:</a:t>
            </a:r>
            <a:endParaRPr lang="en-US" sz="1400" dirty="0"/>
          </a:p>
        </p:txBody>
      </p:sp>
      <p:sp>
        <p:nvSpPr>
          <p:cNvPr id="8" name="Text 6"/>
          <p:cNvSpPr/>
          <p:nvPr/>
        </p:nvSpPr>
        <p:spPr>
          <a:xfrm>
            <a:off x="6355080" y="1920240"/>
            <a:ext cx="5029200" cy="2743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Testing a single component's rendering (use RTL)</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Testing edge cases that need many runs (slow)</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You don't have CI capacity for browser test runs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Your team won't maintain flaky tests (E2E is flaky)</a:t>
            </a:r>
            <a:endParaRPr lang="en-US" sz="1200" dirty="0"/>
          </a:p>
        </p:txBody>
      </p:sp>
      <p:sp>
        <p:nvSpPr>
          <p:cNvPr id="9" name="Shape 7"/>
          <p:cNvSpPr/>
          <p:nvPr/>
        </p:nvSpPr>
        <p:spPr>
          <a:xfrm>
            <a:off x="777240" y="5029200"/>
            <a:ext cx="10607040" cy="1097280"/>
          </a:xfrm>
          <a:prstGeom prst="rect">
            <a:avLst/>
          </a:prstGeom>
          <a:solidFill>
            <a:srgbClr val="CBF1F6"/>
          </a:solidFill>
          <a:ln w="12700">
            <a:solidFill>
              <a:srgbClr val="CBF1F6"/>
            </a:solidFill>
            <a:prstDash val="solid"/>
          </a:ln>
        </p:spPr>
      </p:sp>
      <p:pic>
        <p:nvPicPr>
          <p:cNvPr id="10" name="Image 0" descr="preencoded.png">    </p:cNvPr>
          <p:cNvPicPr>
            <a:picLocks noChangeAspect="1"/>
          </p:cNvPicPr>
          <p:nvPr/>
        </p:nvPicPr>
        <p:blipFill>
          <a:blip r:embed="rId1"/>
          <a:stretch>
            <a:fillRect/>
          </a:stretch>
        </p:blipFill>
        <p:spPr>
          <a:xfrm>
            <a:off x="1005840" y="5349240"/>
            <a:ext cx="502920" cy="502920"/>
          </a:xfrm>
          <a:prstGeom prst="rect">
            <a:avLst/>
          </a:prstGeom>
        </p:spPr>
      </p:pic>
      <p:sp>
        <p:nvSpPr>
          <p:cNvPr id="11" name="Text 8"/>
          <p:cNvSpPr/>
          <p:nvPr/>
        </p:nvSpPr>
        <p:spPr>
          <a:xfrm>
            <a:off x="1691640" y="5074920"/>
            <a:ext cx="9601200" cy="100584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Rule of thumb: 80% RTL/unit, 15% integration, 5% E2E. Inverted ratios mean expensive, slow, flaky test suites.</a:t>
            </a:r>
            <a:endParaRPr lang="en-US" sz="1300" dirty="0"/>
          </a:p>
        </p:txBody>
      </p:sp>
      <p:sp>
        <p:nvSpPr>
          <p:cNvPr id="12"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13"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17 / 27</a:t>
            </a:r>
            <a:endParaRPr lang="en-US" sz="90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Playwright at a glance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Real browser, real DOM, codegen for the boilerplate.</a:t>
            </a:r>
            <a:endParaRPr lang="en-US" sz="1400" dirty="0"/>
          </a:p>
        </p:txBody>
      </p:sp>
      <p:sp>
        <p:nvSpPr>
          <p:cNvPr id="5" name="Shape 3"/>
          <p:cNvSpPr/>
          <p:nvPr/>
        </p:nvSpPr>
        <p:spPr>
          <a:xfrm>
            <a:off x="777240" y="1554480"/>
            <a:ext cx="10607040" cy="4206240"/>
          </a:xfrm>
          <a:prstGeom prst="rect">
            <a:avLst/>
          </a:prstGeom>
          <a:solidFill>
            <a:srgbClr val="1E2A47"/>
          </a:solidFill>
          <a:ln w="12700">
            <a:solidFill>
              <a:srgbClr val="1E2A47"/>
            </a:solidFill>
            <a:prstDash val="solid"/>
          </a:ln>
        </p:spPr>
      </p:sp>
      <p:sp>
        <p:nvSpPr>
          <p:cNvPr id="6" name="Text 4"/>
          <p:cNvSpPr/>
          <p:nvPr/>
        </p:nvSpPr>
        <p:spPr>
          <a:xfrm>
            <a:off x="960120" y="1691640"/>
            <a:ext cx="10241280" cy="3931920"/>
          </a:xfrm>
          <a:prstGeom prst="rect">
            <a:avLst/>
          </a:prstGeom>
          <a:noFill/>
          <a:ln/>
        </p:spPr>
        <p:txBody>
          <a:bodyPr wrap="square" lIns="0" tIns="0" rIns="0" bIns="0" rtlCol="0" anchor="t"/>
          <a:lstStyle/>
          <a:p>
            <a:pPr indent="0" marL="0">
              <a:buNone/>
            </a:pPr>
            <a:r>
              <a:rPr lang="en-US" sz="1150" i="1" dirty="0">
                <a:solidFill>
                  <a:srgbClr val="6A9955"/>
                </a:solidFill>
                <a:latin typeface="Courier New" pitchFamily="34" charset="0"/>
                <a:ea typeface="Courier New" pitchFamily="34" charset="-122"/>
                <a:cs typeface="Courier New" pitchFamily="34" charset="-120"/>
              </a:rPr>
              <a:t>// e2e/login.spec.ts</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import { test, expect } from </a:t>
            </a:r>
            <a:pPr indent="0" marL="0">
              <a:buNone/>
            </a:pPr>
            <a:r>
              <a:rPr lang="en-US" sz="1150" dirty="0">
                <a:solidFill>
                  <a:srgbClr val="9CDCFE"/>
                </a:solidFill>
                <a:latin typeface="Courier New" pitchFamily="34" charset="0"/>
                <a:ea typeface="Courier New" pitchFamily="34" charset="-122"/>
                <a:cs typeface="Courier New" pitchFamily="34" charset="-120"/>
              </a:rPr>
              <a:t>'@playwright/test'</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endParaRPr lang="en-US" sz="1150" dirty="0"/>
          </a:p>
          <a:p>
            <a:pPr indent="0" marL="0">
              <a:buNone/>
            </a:pPr>
            <a:r>
              <a:rPr lang="en-US" sz="1150" dirty="0">
                <a:solidFill>
                  <a:srgbClr val="DCDCAA"/>
                </a:solidFill>
                <a:latin typeface="Courier New" pitchFamily="34" charset="0"/>
                <a:ea typeface="Courier New" pitchFamily="34" charset="-122"/>
                <a:cs typeface="Courier New" pitchFamily="34" charset="-120"/>
              </a:rPr>
              <a:t>test</a:t>
            </a:r>
            <a:pPr indent="0" marL="0">
              <a:buNone/>
            </a:pPr>
            <a:r>
              <a:rPr lang="en-US" sz="1150" dirty="0">
                <a:solidFill>
                  <a:srgbClr val="9CDCFE"/>
                </a:solidFill>
                <a:latin typeface="Courier New" pitchFamily="34" charset="0"/>
                <a:ea typeface="Courier New" pitchFamily="34" charset="-122"/>
                <a:cs typeface="Courier New" pitchFamily="34" charset="-120"/>
              </a:rPr>
              <a:t>(</a:t>
            </a:r>
            <a:pPr indent="0" marL="0">
              <a:buNone/>
            </a:pPr>
            <a:r>
              <a:rPr lang="en-US" sz="1150" dirty="0">
                <a:solidFill>
                  <a:srgbClr val="9CDCFE"/>
                </a:solidFill>
                <a:latin typeface="Courier New" pitchFamily="34" charset="0"/>
                <a:ea typeface="Courier New" pitchFamily="34" charset="-122"/>
                <a:cs typeface="Courier New" pitchFamily="34" charset="-120"/>
              </a:rPr>
              <a:t>'user can sign in and reach the dashboard'</a:t>
            </a:r>
            <a:pPr indent="0" marL="0">
              <a:buNone/>
            </a:pPr>
            <a:r>
              <a:rPr lang="en-US" sz="1150" dirty="0">
                <a:solidFill>
                  <a:srgbClr val="FFFFFF"/>
                </a:solidFill>
                <a:latin typeface="Courier New" pitchFamily="34" charset="0"/>
                <a:ea typeface="Courier New" pitchFamily="34" charset="-122"/>
                <a:cs typeface="Courier New" pitchFamily="34" charset="-120"/>
              </a:rPr>
              <a:t>, async ({ page }) =&gt; {</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  await page.goto(</a:t>
            </a:r>
            <a:pPr indent="0" marL="0">
              <a:buNone/>
            </a:pPr>
            <a:r>
              <a:rPr lang="en-US" sz="1150" dirty="0">
                <a:solidFill>
                  <a:srgbClr val="9CDCFE"/>
                </a:solidFill>
                <a:latin typeface="Courier New" pitchFamily="34" charset="0"/>
                <a:ea typeface="Courier New" pitchFamily="34" charset="-122"/>
                <a:cs typeface="Courier New" pitchFamily="34" charset="-120"/>
              </a:rPr>
              <a:t>'/login'</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  await page.getByLabel(</a:t>
            </a:r>
            <a:pPr indent="0" marL="0">
              <a:buNone/>
            </a:pPr>
            <a:r>
              <a:rPr lang="en-US" sz="1150" dirty="0">
                <a:solidFill>
                  <a:srgbClr val="9CDCFE"/>
                </a:solidFill>
                <a:latin typeface="Courier New" pitchFamily="34" charset="0"/>
                <a:ea typeface="Courier New" pitchFamily="34" charset="-122"/>
                <a:cs typeface="Courier New" pitchFamily="34" charset="-120"/>
              </a:rPr>
              <a:t>'Email'</a:t>
            </a:r>
            <a:pPr indent="0" marL="0">
              <a:buNone/>
            </a:pPr>
            <a:r>
              <a:rPr lang="en-US" sz="1150" dirty="0">
                <a:solidFill>
                  <a:srgbClr val="DCDCAA"/>
                </a:solidFill>
                <a:latin typeface="Courier New" pitchFamily="34" charset="0"/>
                <a:ea typeface="Courier New" pitchFamily="34" charset="-122"/>
                <a:cs typeface="Courier New" pitchFamily="34" charset="-120"/>
              </a:rPr>
              <a:t>).fill(</a:t>
            </a:r>
            <a:pPr indent="0" marL="0">
              <a:buNone/>
            </a:pPr>
            <a:r>
              <a:rPr lang="en-US" sz="1150" dirty="0">
                <a:solidFill>
                  <a:srgbClr val="9CDCFE"/>
                </a:solidFill>
                <a:latin typeface="Courier New" pitchFamily="34" charset="0"/>
                <a:ea typeface="Courier New" pitchFamily="34" charset="-122"/>
                <a:cs typeface="Courier New" pitchFamily="34" charset="-120"/>
              </a:rPr>
              <a:t>'a@b.com'</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  await page.getByLabel(</a:t>
            </a:r>
            <a:pPr indent="0" marL="0">
              <a:buNone/>
            </a:pPr>
            <a:r>
              <a:rPr lang="en-US" sz="1150" dirty="0">
                <a:solidFill>
                  <a:srgbClr val="9CDCFE"/>
                </a:solidFill>
                <a:latin typeface="Courier New" pitchFamily="34" charset="0"/>
                <a:ea typeface="Courier New" pitchFamily="34" charset="-122"/>
                <a:cs typeface="Courier New" pitchFamily="34" charset="-120"/>
              </a:rPr>
              <a:t>'Password'</a:t>
            </a:r>
            <a:pPr indent="0" marL="0">
              <a:buNone/>
            </a:pPr>
            <a:r>
              <a:rPr lang="en-US" sz="1150" dirty="0">
                <a:solidFill>
                  <a:srgbClr val="DCDCAA"/>
                </a:solidFill>
                <a:latin typeface="Courier New" pitchFamily="34" charset="0"/>
                <a:ea typeface="Courier New" pitchFamily="34" charset="-122"/>
                <a:cs typeface="Courier New" pitchFamily="34" charset="-120"/>
              </a:rPr>
              <a:t>).fill(</a:t>
            </a:r>
            <a:pPr indent="0" marL="0">
              <a:buNone/>
            </a:pPr>
            <a:r>
              <a:rPr lang="en-US" sz="1150" dirty="0">
                <a:solidFill>
                  <a:srgbClr val="9CDCFE"/>
                </a:solidFill>
                <a:latin typeface="Courier New" pitchFamily="34" charset="0"/>
                <a:ea typeface="Courier New" pitchFamily="34" charset="-122"/>
                <a:cs typeface="Courier New" pitchFamily="34" charset="-120"/>
              </a:rPr>
              <a:t>'secret123'</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  await page.getByRole(</a:t>
            </a:r>
            <a:pPr indent="0" marL="0">
              <a:buNone/>
            </a:pPr>
            <a:r>
              <a:rPr lang="en-US" sz="1150" dirty="0">
                <a:solidFill>
                  <a:srgbClr val="9CDCFE"/>
                </a:solidFill>
                <a:latin typeface="Courier New" pitchFamily="34" charset="0"/>
                <a:ea typeface="Courier New" pitchFamily="34" charset="-122"/>
                <a:cs typeface="Courier New" pitchFamily="34" charset="-120"/>
              </a:rPr>
              <a:t>'button'</a:t>
            </a:r>
            <a:pPr indent="0" marL="0">
              <a:buNone/>
            </a:pPr>
            <a:r>
              <a:rPr lang="en-US" sz="1150" dirty="0">
                <a:solidFill>
                  <a:srgbClr val="DCDCAA"/>
                </a:solidFill>
                <a:latin typeface="Courier New" pitchFamily="34" charset="0"/>
                <a:ea typeface="Courier New" pitchFamily="34" charset="-122"/>
                <a:cs typeface="Courier New" pitchFamily="34" charset="-120"/>
              </a:rPr>
              <a:t>, { name: </a:t>
            </a:r>
            <a:pPr indent="0" marL="0">
              <a:buNone/>
            </a:pPr>
            <a:r>
              <a:rPr lang="en-US" sz="1150" dirty="0">
                <a:solidFill>
                  <a:srgbClr val="9CDCFE"/>
                </a:solidFill>
                <a:latin typeface="Courier New" pitchFamily="34" charset="0"/>
                <a:ea typeface="Courier New" pitchFamily="34" charset="-122"/>
                <a:cs typeface="Courier New" pitchFamily="34" charset="-120"/>
              </a:rPr>
              <a:t>'Sign in'</a:t>
            </a:r>
            <a:pPr indent="0" marL="0">
              <a:buNone/>
            </a:pPr>
            <a:r>
              <a:rPr lang="en-US" sz="1150" dirty="0">
                <a:solidFill>
                  <a:srgbClr val="FFFFFF"/>
                </a:solidFill>
                <a:latin typeface="Courier New" pitchFamily="34" charset="0"/>
                <a:ea typeface="Courier New" pitchFamily="34" charset="-122"/>
                <a:cs typeface="Courier New" pitchFamily="34" charset="-120"/>
              </a:rPr>
              <a:t> }).click();</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  await </a:t>
            </a:r>
            <a:pPr indent="0" marL="0">
              <a:buNone/>
            </a:pPr>
            <a:r>
              <a:rPr lang="en-US" sz="1150" dirty="0">
                <a:solidFill>
                  <a:srgbClr val="DCDCAA"/>
                </a:solidFill>
                <a:latin typeface="Courier New" pitchFamily="34" charset="0"/>
                <a:ea typeface="Courier New" pitchFamily="34" charset="-122"/>
                <a:cs typeface="Courier New" pitchFamily="34" charset="-120"/>
              </a:rPr>
              <a:t>expect</a:t>
            </a:r>
            <a:pPr indent="0" marL="0">
              <a:buNone/>
            </a:pPr>
            <a:r>
              <a:rPr lang="en-US" sz="1150" dirty="0">
                <a:solidFill>
                  <a:srgbClr val="DCDCAA"/>
                </a:solidFill>
                <a:latin typeface="Courier New" pitchFamily="34" charset="0"/>
                <a:ea typeface="Courier New" pitchFamily="34" charset="-122"/>
                <a:cs typeface="Courier New" pitchFamily="34" charset="-120"/>
              </a:rPr>
              <a:t>(page).toHaveURL(</a:t>
            </a:r>
            <a:pPr indent="0" marL="0">
              <a:buNone/>
            </a:pPr>
            <a:r>
              <a:rPr lang="en-US" sz="1150" dirty="0">
                <a:solidFill>
                  <a:srgbClr val="9CDCFE"/>
                </a:solidFill>
                <a:latin typeface="Courier New" pitchFamily="34" charset="0"/>
                <a:ea typeface="Courier New" pitchFamily="34" charset="-122"/>
                <a:cs typeface="Courier New" pitchFamily="34" charset="-120"/>
              </a:rPr>
              <a:t>/.*dashboard/</a:t>
            </a:r>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C586C0"/>
                </a:solidFill>
                <a:latin typeface="Courier New" pitchFamily="34" charset="0"/>
                <a:ea typeface="Courier New" pitchFamily="34" charset="-122"/>
                <a:cs typeface="Courier New" pitchFamily="34" charset="-120"/>
              </a:rPr>
              <a:t>  await </a:t>
            </a:r>
            <a:pPr indent="0" marL="0">
              <a:buNone/>
            </a:pPr>
            <a:r>
              <a:rPr lang="en-US" sz="1150" dirty="0">
                <a:solidFill>
                  <a:srgbClr val="DCDCAA"/>
                </a:solidFill>
                <a:latin typeface="Courier New" pitchFamily="34" charset="0"/>
                <a:ea typeface="Courier New" pitchFamily="34" charset="-122"/>
                <a:cs typeface="Courier New" pitchFamily="34" charset="-120"/>
              </a:rPr>
              <a:t>expect</a:t>
            </a:r>
            <a:pPr indent="0" marL="0">
              <a:buNone/>
            </a:pPr>
            <a:r>
              <a:rPr lang="en-US" sz="1150" dirty="0">
                <a:solidFill>
                  <a:srgbClr val="DCDCAA"/>
                </a:solidFill>
                <a:latin typeface="Courier New" pitchFamily="34" charset="0"/>
                <a:ea typeface="Courier New" pitchFamily="34" charset="-122"/>
                <a:cs typeface="Courier New" pitchFamily="34" charset="-120"/>
              </a:rPr>
              <a:t>(page.getByRole(</a:t>
            </a:r>
            <a:pPr indent="0" marL="0">
              <a:buNone/>
            </a:pPr>
            <a:r>
              <a:rPr lang="en-US" sz="1150" dirty="0">
                <a:solidFill>
                  <a:srgbClr val="9CDCFE"/>
                </a:solidFill>
                <a:latin typeface="Courier New" pitchFamily="34" charset="0"/>
                <a:ea typeface="Courier New" pitchFamily="34" charset="-122"/>
                <a:cs typeface="Courier New" pitchFamily="34" charset="-120"/>
              </a:rPr>
              <a:t>'heading'</a:t>
            </a:r>
            <a:pPr indent="0" marL="0">
              <a:buNone/>
            </a:pPr>
            <a:r>
              <a:rPr lang="en-US" sz="1150" dirty="0">
                <a:solidFill>
                  <a:srgbClr val="DCDCAA"/>
                </a:solidFill>
                <a:latin typeface="Courier New" pitchFamily="34" charset="0"/>
                <a:ea typeface="Courier New" pitchFamily="34" charset="-122"/>
                <a:cs typeface="Courier New" pitchFamily="34" charset="-120"/>
              </a:rPr>
              <a:t>, { name: </a:t>
            </a:r>
            <a:pPr indent="0" marL="0">
              <a:buNone/>
            </a:pPr>
            <a:r>
              <a:rPr lang="en-US" sz="1150" dirty="0">
                <a:solidFill>
                  <a:srgbClr val="9CDCFE"/>
                </a:solidFill>
                <a:latin typeface="Courier New" pitchFamily="34" charset="0"/>
                <a:ea typeface="Courier New" pitchFamily="34" charset="-122"/>
                <a:cs typeface="Courier New" pitchFamily="34" charset="-120"/>
              </a:rPr>
              <a:t>/welcome/i</a:t>
            </a:r>
            <a:pPr indent="0" marL="0">
              <a:buNone/>
            </a:pPr>
            <a:r>
              <a:rPr lang="en-US" sz="1150" dirty="0">
                <a:solidFill>
                  <a:srgbClr val="FFFFFF"/>
                </a:solidFill>
                <a:latin typeface="Courier New" pitchFamily="34" charset="0"/>
                <a:ea typeface="Courier New" pitchFamily="34" charset="-122"/>
                <a:cs typeface="Courier New" pitchFamily="34" charset="-120"/>
              </a:rPr>
              <a:t> })).toBeVisible();</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endParaRPr lang="en-US" sz="1150" dirty="0"/>
          </a:p>
          <a:p>
            <a:pPr indent="0" marL="0">
              <a:buNone/>
            </a:pPr>
            <a:r>
              <a:rPr lang="en-US" sz="1150" i="1" dirty="0">
                <a:solidFill>
                  <a:srgbClr val="6A9955"/>
                </a:solidFill>
                <a:latin typeface="Courier New" pitchFamily="34" charset="0"/>
                <a:ea typeface="Courier New" pitchFamily="34" charset="-122"/>
                <a:cs typeface="Courier New" pitchFamily="34" charset="-120"/>
              </a:rPr>
              <a:t>// run: npx playwright test</a:t>
            </a:r>
            <a:endParaRPr lang="en-US" sz="1150" dirty="0"/>
          </a:p>
          <a:p>
            <a:pPr indent="0" marL="0">
              <a:buNone/>
            </a:pPr>
            <a:r>
              <a:rPr lang="en-US" sz="1150" i="1" dirty="0">
                <a:solidFill>
                  <a:srgbClr val="6A9955"/>
                </a:solidFill>
                <a:latin typeface="Courier New" pitchFamily="34" charset="0"/>
                <a:ea typeface="Courier New" pitchFamily="34" charset="-122"/>
                <a:cs typeface="Courier New" pitchFamily="34" charset="-120"/>
              </a:rPr>
              <a:t>// or: npx playwright codegen http://localhost:5173 (records actions)</a:t>
            </a:r>
            <a:endParaRPr lang="en-US" sz="115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18 / 27</a:t>
            </a:r>
            <a:endParaRPr lang="en-US" sz="90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19">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5</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Testing the Server Side</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The newest territory. Tools are still maturing.</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Testing Server Components and Actions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The story is incomplete in mid-2026. Here's where it stands.</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502920" cy="502920"/>
          </a:xfrm>
          <a:prstGeom prst="rect">
            <a:avLst/>
          </a:prstGeom>
        </p:spPr>
      </p:pic>
      <p:sp>
        <p:nvSpPr>
          <p:cNvPr id="7" name="Text 4"/>
          <p:cNvSpPr/>
          <p:nvPr/>
        </p:nvSpPr>
        <p:spPr>
          <a:xfrm>
            <a:off x="1691640" y="178308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Server Action functions test like any async function</a:t>
            </a:r>
            <a:endParaRPr lang="en-US" sz="1350" dirty="0"/>
          </a:p>
        </p:txBody>
      </p:sp>
      <p:sp>
        <p:nvSpPr>
          <p:cNvPr id="8" name="Text 5"/>
          <p:cNvSpPr/>
          <p:nvPr/>
        </p:nvSpPr>
        <p:spPr>
          <a:xfrm>
            <a:off x="1691640" y="210312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Import the action, call it with FormData, assert on the return value or DB state. Standard Vitest.</a:t>
            </a:r>
            <a:endParaRPr lang="en-US" sz="1150" dirty="0"/>
          </a:p>
        </p:txBody>
      </p:sp>
      <p:sp>
        <p:nvSpPr>
          <p:cNvPr id="9" name="Shape 6"/>
          <p:cNvSpPr/>
          <p:nvPr/>
        </p:nvSpPr>
        <p:spPr>
          <a:xfrm>
            <a:off x="777240" y="274320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926080"/>
            <a:ext cx="502920" cy="502920"/>
          </a:xfrm>
          <a:prstGeom prst="rect">
            <a:avLst/>
          </a:prstGeom>
        </p:spPr>
      </p:pic>
      <p:sp>
        <p:nvSpPr>
          <p:cNvPr id="11" name="Text 7"/>
          <p:cNvSpPr/>
          <p:nvPr/>
        </p:nvSpPr>
        <p:spPr>
          <a:xfrm>
            <a:off x="1691640" y="283464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Server Components — mostly E2E for now</a:t>
            </a:r>
            <a:endParaRPr lang="en-US" sz="1350" dirty="0"/>
          </a:p>
        </p:txBody>
      </p:sp>
      <p:sp>
        <p:nvSpPr>
          <p:cNvPr id="12" name="Text 8"/>
          <p:cNvSpPr/>
          <p:nvPr/>
        </p:nvSpPr>
        <p:spPr>
          <a:xfrm>
            <a:off x="1691640" y="315468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RTL doesn't render Server Components directly. Either test the data layer with unit tests + the rendered output with Playwright, or use Next.js's experimental test helpers.</a:t>
            </a:r>
            <a:endParaRPr lang="en-US" sz="1150" dirty="0"/>
          </a:p>
        </p:txBody>
      </p:sp>
      <p:sp>
        <p:nvSpPr>
          <p:cNvPr id="13" name="Shape 9"/>
          <p:cNvSpPr/>
          <p:nvPr/>
        </p:nvSpPr>
        <p:spPr>
          <a:xfrm>
            <a:off x="777240" y="379476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977640"/>
            <a:ext cx="502920" cy="502920"/>
          </a:xfrm>
          <a:prstGeom prst="rect">
            <a:avLst/>
          </a:prstGeom>
        </p:spPr>
      </p:pic>
      <p:sp>
        <p:nvSpPr>
          <p:cNvPr id="15" name="Text 10"/>
          <p:cNvSpPr/>
          <p:nvPr/>
        </p:nvSpPr>
        <p:spPr>
          <a:xfrm>
            <a:off x="1691640" y="388620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Mock the data layer, not the framework</a:t>
            </a:r>
            <a:endParaRPr lang="en-US" sz="1350" dirty="0"/>
          </a:p>
        </p:txBody>
      </p:sp>
      <p:sp>
        <p:nvSpPr>
          <p:cNvPr id="16" name="Text 11"/>
          <p:cNvSpPr/>
          <p:nvPr/>
        </p:nvSpPr>
        <p:spPr>
          <a:xfrm>
            <a:off x="1691640" y="420624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Test that getPosts() returns the expected shape; test that the page renders that shape correctly. Don't try to mock React's renderer.</a:t>
            </a:r>
            <a:endParaRPr lang="en-US" sz="1150" dirty="0"/>
          </a:p>
        </p:txBody>
      </p:sp>
      <p:sp>
        <p:nvSpPr>
          <p:cNvPr id="17" name="Shape 12"/>
          <p:cNvSpPr/>
          <p:nvPr/>
        </p:nvSpPr>
        <p:spPr>
          <a:xfrm>
            <a:off x="777240" y="484632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5029200"/>
            <a:ext cx="502920" cy="502920"/>
          </a:xfrm>
          <a:prstGeom prst="rect">
            <a:avLst/>
          </a:prstGeom>
        </p:spPr>
      </p:pic>
      <p:sp>
        <p:nvSpPr>
          <p:cNvPr id="19" name="Text 13"/>
          <p:cNvSpPr/>
          <p:nvPr/>
        </p:nvSpPr>
        <p:spPr>
          <a:xfrm>
            <a:off x="1691640" y="493776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When in doubt, push to the boundary</a:t>
            </a:r>
            <a:endParaRPr lang="en-US" sz="1350" dirty="0"/>
          </a:p>
        </p:txBody>
      </p:sp>
      <p:sp>
        <p:nvSpPr>
          <p:cNvPr id="20" name="Text 14"/>
          <p:cNvSpPr/>
          <p:nvPr/>
        </p:nvSpPr>
        <p:spPr>
          <a:xfrm>
            <a:off x="1691640" y="525780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Server Action contracts (input/output) and Client Component renders are both well-understood. The seam between them is where E2E earns its keep.</a:t>
            </a:r>
            <a:endParaRPr lang="en-US" sz="11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20 / 27</a:t>
            </a:r>
            <a:endParaRPr lang="en-US" sz="90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1">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6</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AI-Generated Tests</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AI writes a lot of tests. Most of them test the wrong thing.</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Behavior vs implementation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Two tests for the same component. One survives a refactor; one doesn't.</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300" b="1" dirty="0">
                <a:solidFill>
                  <a:srgbClr val="DC2626"/>
                </a:solidFill>
                <a:latin typeface="Trebuchet MS" pitchFamily="34" charset="0"/>
                <a:ea typeface="Trebuchet MS" pitchFamily="34" charset="-122"/>
                <a:cs typeface="Trebuchet MS" pitchFamily="34" charset="-120"/>
              </a:rPr>
              <a:t>Implementation test (don't)</a:t>
            </a:r>
            <a:endParaRPr lang="en-US" sz="1300" dirty="0"/>
          </a:p>
        </p:txBody>
      </p:sp>
      <p:sp>
        <p:nvSpPr>
          <p:cNvPr id="6" name="Shape 4"/>
          <p:cNvSpPr/>
          <p:nvPr/>
        </p:nvSpPr>
        <p:spPr>
          <a:xfrm>
            <a:off x="777240" y="1920240"/>
            <a:ext cx="5349240" cy="4023360"/>
          </a:xfrm>
          <a:prstGeom prst="rect">
            <a:avLst/>
          </a:prstGeom>
          <a:solidFill>
            <a:srgbClr val="1E2A47"/>
          </a:solidFill>
          <a:ln w="12700">
            <a:solidFill>
              <a:srgbClr val="1E2A47"/>
            </a:solidFill>
            <a:prstDash val="solid"/>
          </a:ln>
        </p:spPr>
      </p:sp>
      <p:sp>
        <p:nvSpPr>
          <p:cNvPr id="7" name="Text 5"/>
          <p:cNvSpPr/>
          <p:nvPr/>
        </p:nvSpPr>
        <p:spPr>
          <a:xfrm>
            <a:off x="960120" y="2057400"/>
            <a:ext cx="4983480" cy="3749040"/>
          </a:xfrm>
          <a:prstGeom prst="rect">
            <a:avLst/>
          </a:prstGeom>
          <a:noFill/>
          <a:ln/>
        </p:spPr>
        <p:txBody>
          <a:bodyPr wrap="square" lIns="0" tIns="0" rIns="0" bIns="0" rtlCol="0" anchor="t"/>
          <a:lstStyle/>
          <a:p>
            <a:pPr indent="0" marL="0">
              <a:buNone/>
            </a:pPr>
            <a:r>
              <a:rPr lang="en-US" sz="1200" dirty="0">
                <a:solidFill>
                  <a:srgbClr val="DCDCAA"/>
                </a:solidFill>
                <a:latin typeface="Courier New" pitchFamily="34" charset="0"/>
                <a:ea typeface="Courier New" pitchFamily="34" charset="-122"/>
                <a:cs typeface="Courier New" pitchFamily="34" charset="-120"/>
              </a:rPr>
              <a:t>it</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9CDCFE"/>
                </a:solidFill>
                <a:latin typeface="Courier New" pitchFamily="34" charset="0"/>
                <a:ea typeface="Courier New" pitchFamily="34" charset="-122"/>
                <a:cs typeface="Courier New" pitchFamily="34" charset="-120"/>
              </a:rPr>
              <a:t>'sets isOpen state on click'</a:t>
            </a:r>
            <a:pPr indent="0" marL="0">
              <a:buNone/>
            </a:pPr>
            <a:r>
              <a:rPr lang="en-US" sz="1200" dirty="0">
                <a:solidFill>
                  <a:srgbClr val="FFFFFF"/>
                </a:solidFill>
                <a:latin typeface="Courier New" pitchFamily="34" charset="0"/>
                <a:ea typeface="Courier New" pitchFamily="34" charset="-122"/>
                <a:cs typeface="Courier New" pitchFamily="34" charset="-120"/>
              </a:rPr>
              <a:t>, () =&gt;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const setState = </a:t>
            </a:r>
            <a:pPr indent="0" marL="0">
              <a:buNone/>
            </a:pPr>
            <a:r>
              <a:rPr lang="en-US" sz="1200" dirty="0">
                <a:solidFill>
                  <a:srgbClr val="DCDCAA"/>
                </a:solidFill>
                <a:latin typeface="Courier New" pitchFamily="34" charset="0"/>
                <a:ea typeface="Courier New" pitchFamily="34" charset="-122"/>
                <a:cs typeface="Courier New" pitchFamily="34" charset="-120"/>
              </a:rPr>
              <a:t>vi.spyOn</a:t>
            </a:r>
            <a:pPr indent="0" marL="0">
              <a:buNone/>
            </a:pPr>
            <a:r>
              <a:rPr lang="en-US" sz="1200" dirty="0">
                <a:solidFill>
                  <a:srgbClr val="9CDCFE"/>
                </a:solidFill>
                <a:latin typeface="Courier New" pitchFamily="34" charset="0"/>
                <a:ea typeface="Courier New" pitchFamily="34" charset="-122"/>
                <a:cs typeface="Courier New" pitchFamily="34" charset="-120"/>
              </a:rPr>
              <a:t>(React, </a:t>
            </a:r>
            <a:pPr indent="0" marL="0">
              <a:buNone/>
            </a:pPr>
            <a:r>
              <a:rPr lang="en-US" sz="1200" dirty="0">
                <a:solidFill>
                  <a:srgbClr val="9CDCFE"/>
                </a:solidFill>
                <a:latin typeface="Courier New" pitchFamily="34" charset="0"/>
                <a:ea typeface="Courier New" pitchFamily="34" charset="-122"/>
                <a:cs typeface="Courier New" pitchFamily="34" charset="-120"/>
              </a:rPr>
              <a:t>'useState'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DCDCAA"/>
                </a:solidFill>
                <a:latin typeface="Courier New" pitchFamily="34" charset="0"/>
                <a:ea typeface="Courier New" pitchFamily="34" charset="-122"/>
                <a:cs typeface="Courier New" pitchFamily="34" charset="-120"/>
              </a:rPr>
              <a:t>render</a:t>
            </a:r>
            <a:pPr indent="0" marL="0">
              <a:buNone/>
            </a:pPr>
            <a:r>
              <a:rPr lang="en-US" sz="1200" dirty="0">
                <a:solidFill>
                  <a:srgbClr val="FFFFFF"/>
                </a:solidFill>
                <a:latin typeface="Courier New" pitchFamily="34" charset="0"/>
                <a:ea typeface="Courier New" pitchFamily="34" charset="-122"/>
                <a:cs typeface="Courier New" pitchFamily="34" charset="-120"/>
              </a:rPr>
              <a:t>(&lt;Drawer /&gt;);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DCDCAA"/>
                </a:solidFill>
                <a:latin typeface="Courier New" pitchFamily="34" charset="0"/>
                <a:ea typeface="Courier New" pitchFamily="34" charset="-122"/>
                <a:cs typeface="Courier New" pitchFamily="34" charset="-120"/>
              </a:rPr>
              <a:t>fireEvent</a:t>
            </a:r>
            <a:pPr indent="0" marL="0">
              <a:buNone/>
            </a:pPr>
            <a:r>
              <a:rPr lang="en-US" sz="1200" dirty="0">
                <a:solidFill>
                  <a:srgbClr val="9CDCFE"/>
                </a:solidFill>
                <a:latin typeface="Courier New" pitchFamily="34" charset="0"/>
                <a:ea typeface="Courier New" pitchFamily="34" charset="-122"/>
                <a:cs typeface="Courier New" pitchFamily="34" charset="-120"/>
              </a:rPr>
              <a:t>.click(</a:t>
            </a:r>
            <a:pPr indent="0" marL="0">
              <a:buNone/>
            </a:pPr>
            <a:r>
              <a:rPr lang="en-US" sz="1200" dirty="0">
                <a:solidFill>
                  <a:srgbClr val="9CDCFE"/>
                </a:solidFill>
                <a:latin typeface="Courier New" pitchFamily="34" charset="0"/>
                <a:ea typeface="Courier New" pitchFamily="34" charset="-122"/>
                <a:cs typeface="Courier New" pitchFamily="34" charset="-120"/>
              </a:rPr>
              <a:t>screen</a:t>
            </a:r>
            <a:pPr indent="0" marL="0">
              <a:buNone/>
            </a:pPr>
            <a:r>
              <a:rPr lang="en-US" sz="1200" dirty="0">
                <a:solidFill>
                  <a:srgbClr val="DCDCAA"/>
                </a:solidFill>
                <a:latin typeface="Courier New" pitchFamily="34" charset="0"/>
                <a:ea typeface="Courier New" pitchFamily="34" charset="-122"/>
                <a:cs typeface="Courier New" pitchFamily="34" charset="-120"/>
              </a:rPr>
              <a:t>.getByTestId(</a:t>
            </a:r>
            <a:pPr indent="0" marL="0">
              <a:buNone/>
            </a:pPr>
            <a:r>
              <a:rPr lang="en-US" sz="1200" dirty="0">
                <a:solidFill>
                  <a:srgbClr val="9CDCFE"/>
                </a:solidFill>
                <a:latin typeface="Courier New" pitchFamily="34" charset="0"/>
                <a:ea typeface="Courier New" pitchFamily="34" charset="-122"/>
                <a:cs typeface="Courier New" pitchFamily="34" charset="-120"/>
              </a:rPr>
              <a:t>'open-btn'</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DCDCAA"/>
                </a:solidFill>
                <a:latin typeface="Courier New" pitchFamily="34" charset="0"/>
                <a:ea typeface="Courier New" pitchFamily="34" charset="-122"/>
                <a:cs typeface="Courier New" pitchFamily="34" charset="-120"/>
              </a:rPr>
              <a:t>expect</a:t>
            </a:r>
            <a:pPr indent="0" marL="0">
              <a:buNone/>
            </a:pPr>
            <a:r>
              <a:rPr lang="en-US" sz="1200" dirty="0">
                <a:solidFill>
                  <a:srgbClr val="DCDCAA"/>
                </a:solidFill>
                <a:latin typeface="Courier New" pitchFamily="34" charset="0"/>
                <a:ea typeface="Courier New" pitchFamily="34" charset="-122"/>
                <a:cs typeface="Courier New" pitchFamily="34" charset="-120"/>
              </a:rPr>
              <a:t>(setState).toHaveBeenCalledWith(</a:t>
            </a:r>
            <a:pPr indent="0" marL="0">
              <a:buNone/>
            </a:pPr>
            <a:r>
              <a:rPr lang="en-US" sz="1200" dirty="0">
                <a:solidFill>
                  <a:srgbClr val="C586C0"/>
                </a:solidFill>
                <a:latin typeface="Courier New" pitchFamily="34" charset="0"/>
                <a:ea typeface="Courier New" pitchFamily="34" charset="-122"/>
                <a:cs typeface="Courier New" pitchFamily="34" charset="-120"/>
              </a:rPr>
              <a:t>true</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breaks if you switch to useReducer</a:t>
            </a: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breaks if you rename the state var</a:t>
            </a: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breaks if you change the test ID</a:t>
            </a:r>
            <a:endParaRPr lang="en-US" sz="1200" dirty="0"/>
          </a:p>
        </p:txBody>
      </p:sp>
      <p:sp>
        <p:nvSpPr>
          <p:cNvPr id="8" name="Text 6"/>
          <p:cNvSpPr/>
          <p:nvPr/>
        </p:nvSpPr>
        <p:spPr>
          <a:xfrm>
            <a:off x="6355080" y="1554480"/>
            <a:ext cx="5029200" cy="365760"/>
          </a:xfrm>
          <a:prstGeom prst="rect">
            <a:avLst/>
          </a:prstGeom>
          <a:noFill/>
          <a:ln/>
        </p:spPr>
        <p:txBody>
          <a:bodyPr wrap="square" lIns="0" tIns="0" rIns="0" bIns="0" rtlCol="0" anchor="ctr"/>
          <a:lstStyle/>
          <a:p>
            <a:pPr indent="0" marL="0">
              <a:buNone/>
            </a:pPr>
            <a:r>
              <a:rPr lang="en-US" sz="1300" b="1" dirty="0">
                <a:solidFill>
                  <a:srgbClr val="059669"/>
                </a:solidFill>
                <a:latin typeface="Trebuchet MS" pitchFamily="34" charset="0"/>
                <a:ea typeface="Trebuchet MS" pitchFamily="34" charset="-122"/>
                <a:cs typeface="Trebuchet MS" pitchFamily="34" charset="-120"/>
              </a:rPr>
              <a:t>Behavior test (do)</a:t>
            </a:r>
            <a:endParaRPr lang="en-US" sz="1300" dirty="0"/>
          </a:p>
        </p:txBody>
      </p:sp>
      <p:sp>
        <p:nvSpPr>
          <p:cNvPr id="9" name="Shape 7"/>
          <p:cNvSpPr/>
          <p:nvPr/>
        </p:nvSpPr>
        <p:spPr>
          <a:xfrm>
            <a:off x="6355080" y="1920240"/>
            <a:ext cx="5029200" cy="4023360"/>
          </a:xfrm>
          <a:prstGeom prst="rect">
            <a:avLst/>
          </a:prstGeom>
          <a:solidFill>
            <a:srgbClr val="1E2A47"/>
          </a:solidFill>
          <a:ln w="12700">
            <a:solidFill>
              <a:srgbClr val="1E2A47"/>
            </a:solidFill>
            <a:prstDash val="solid"/>
          </a:ln>
        </p:spPr>
      </p:sp>
      <p:sp>
        <p:nvSpPr>
          <p:cNvPr id="10" name="Text 8"/>
          <p:cNvSpPr/>
          <p:nvPr/>
        </p:nvSpPr>
        <p:spPr>
          <a:xfrm>
            <a:off x="6537960" y="2057400"/>
            <a:ext cx="4663440" cy="3749040"/>
          </a:xfrm>
          <a:prstGeom prst="rect">
            <a:avLst/>
          </a:prstGeom>
          <a:noFill/>
          <a:ln/>
        </p:spPr>
        <p:txBody>
          <a:bodyPr wrap="square" lIns="0" tIns="0" rIns="0" bIns="0" rtlCol="0" anchor="t"/>
          <a:lstStyle/>
          <a:p>
            <a:pPr indent="0" marL="0">
              <a:buNone/>
            </a:pPr>
            <a:r>
              <a:rPr lang="en-US" sz="1200" dirty="0">
                <a:solidFill>
                  <a:srgbClr val="DCDCAA"/>
                </a:solidFill>
                <a:latin typeface="Courier New" pitchFamily="34" charset="0"/>
                <a:ea typeface="Courier New" pitchFamily="34" charset="-122"/>
                <a:cs typeface="Courier New" pitchFamily="34" charset="-120"/>
              </a:rPr>
              <a:t>it</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9CDCFE"/>
                </a:solidFill>
                <a:latin typeface="Courier New" pitchFamily="34" charset="0"/>
                <a:ea typeface="Courier New" pitchFamily="34" charset="-122"/>
                <a:cs typeface="Courier New" pitchFamily="34" charset="-120"/>
              </a:rPr>
              <a:t>'opens drawer on click'</a:t>
            </a:r>
            <a:pPr indent="0" marL="0">
              <a:buNone/>
            </a:pPr>
            <a:r>
              <a:rPr lang="en-US" sz="1200" dirty="0">
                <a:solidFill>
                  <a:srgbClr val="FFFFFF"/>
                </a:solidFill>
                <a:latin typeface="Courier New" pitchFamily="34" charset="0"/>
                <a:ea typeface="Courier New" pitchFamily="34" charset="-122"/>
                <a:cs typeface="Courier New" pitchFamily="34" charset="-120"/>
              </a:rPr>
              <a:t>, async () =&gt; {</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const user = </a:t>
            </a:r>
            <a:pPr indent="0" marL="0">
              <a:buNone/>
            </a:pPr>
            <a:r>
              <a:rPr lang="en-US" sz="1200" dirty="0">
                <a:solidFill>
                  <a:srgbClr val="DCDCAA"/>
                </a:solidFill>
                <a:latin typeface="Courier New" pitchFamily="34" charset="0"/>
                <a:ea typeface="Courier New" pitchFamily="34" charset="-122"/>
                <a:cs typeface="Courier New" pitchFamily="34" charset="-120"/>
              </a:rPr>
              <a:t>userEvent</a:t>
            </a:r>
            <a:pPr indent="0" marL="0">
              <a:buNone/>
            </a:pPr>
            <a:r>
              <a:rPr lang="en-US" sz="1200" dirty="0">
                <a:solidFill>
                  <a:srgbClr val="FFFFFF"/>
                </a:solidFill>
                <a:latin typeface="Courier New" pitchFamily="34" charset="0"/>
                <a:ea typeface="Courier New" pitchFamily="34" charset="-122"/>
                <a:cs typeface="Courier New" pitchFamily="34" charset="-120"/>
              </a:rPr>
              <a:t>.setup();</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DCDCAA"/>
                </a:solidFill>
                <a:latin typeface="Courier New" pitchFamily="34" charset="0"/>
                <a:ea typeface="Courier New" pitchFamily="34" charset="-122"/>
                <a:cs typeface="Courier New" pitchFamily="34" charset="-120"/>
              </a:rPr>
              <a:t>render</a:t>
            </a:r>
            <a:pPr indent="0" marL="0">
              <a:buNone/>
            </a:pPr>
            <a:r>
              <a:rPr lang="en-US" sz="1200" dirty="0">
                <a:solidFill>
                  <a:srgbClr val="FFFFFF"/>
                </a:solidFill>
                <a:latin typeface="Courier New" pitchFamily="34" charset="0"/>
                <a:ea typeface="Courier New" pitchFamily="34" charset="-122"/>
                <a:cs typeface="Courier New" pitchFamily="34" charset="-120"/>
              </a:rPr>
              <a:t>(&lt;Drawer /&gt;);</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const btn = </a:t>
            </a:r>
            <a:pPr indent="0" marL="0">
              <a:buNone/>
            </a:pPr>
            <a:r>
              <a:rPr lang="en-US" sz="1200" dirty="0">
                <a:solidFill>
                  <a:srgbClr val="9CDCFE"/>
                </a:solidFill>
                <a:latin typeface="Courier New" pitchFamily="34" charset="0"/>
                <a:ea typeface="Courier New" pitchFamily="34" charset="-122"/>
                <a:cs typeface="Courier New" pitchFamily="34" charset="-120"/>
              </a:rPr>
              <a:t>screen</a:t>
            </a:r>
            <a:pPr indent="0" marL="0">
              <a:buNone/>
            </a:pPr>
            <a:r>
              <a:rPr lang="en-US" sz="1200" dirty="0">
                <a:solidFill>
                  <a:srgbClr val="DCDCAA"/>
                </a:solidFill>
                <a:latin typeface="Courier New" pitchFamily="34" charset="0"/>
                <a:ea typeface="Courier New" pitchFamily="34" charset="-122"/>
                <a:cs typeface="Courier New" pitchFamily="34" charset="-120"/>
              </a:rPr>
              <a:t>.getByRole(</a:t>
            </a:r>
            <a:pPr indent="0" marL="0">
              <a:buNone/>
            </a:pPr>
            <a:r>
              <a:rPr lang="en-US" sz="1200" dirty="0">
                <a:solidFill>
                  <a:srgbClr val="9CDCFE"/>
                </a:solidFill>
                <a:latin typeface="Courier New" pitchFamily="34" charset="0"/>
                <a:ea typeface="Courier New" pitchFamily="34" charset="-122"/>
                <a:cs typeface="Courier New" pitchFamily="34" charset="-120"/>
              </a:rPr>
              <a:t>'button'</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await user.click(btn);</a:t>
            </a:r>
            <a:endParaRPr lang="en-US" sz="1200" dirty="0"/>
          </a:p>
          <a:p>
            <a:pPr indent="0" marL="0">
              <a:buNone/>
            </a:pP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DCDCAA"/>
                </a:solidFill>
                <a:latin typeface="Courier New" pitchFamily="34" charset="0"/>
                <a:ea typeface="Courier New" pitchFamily="34" charset="-122"/>
                <a:cs typeface="Courier New" pitchFamily="34" charset="-120"/>
              </a:rPr>
              <a:t>expect</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9CDCFE"/>
                </a:solidFill>
                <a:latin typeface="Courier New" pitchFamily="34" charset="0"/>
                <a:ea typeface="Courier New" pitchFamily="34" charset="-122"/>
                <a:cs typeface="Courier New" pitchFamily="34" charset="-120"/>
              </a:rPr>
              <a:t>screen</a:t>
            </a:r>
            <a:pPr indent="0" marL="0">
              <a:buNone/>
            </a:pPr>
            <a:r>
              <a:rPr lang="en-US" sz="1200" dirty="0">
                <a:solidFill>
                  <a:srgbClr val="DCDCAA"/>
                </a:solidFill>
                <a:latin typeface="Courier New" pitchFamily="34" charset="0"/>
                <a:ea typeface="Courier New" pitchFamily="34" charset="-122"/>
                <a:cs typeface="Courier New" pitchFamily="34" charset="-120"/>
              </a:rPr>
              <a:t>.getByRole(</a:t>
            </a:r>
            <a:pPr indent="0" marL="0">
              <a:buNone/>
            </a:pPr>
            <a:r>
              <a:rPr lang="en-US" sz="1200" dirty="0">
                <a:solidFill>
                  <a:srgbClr val="9CDCFE"/>
                </a:solidFill>
                <a:latin typeface="Courier New" pitchFamily="34" charset="0"/>
                <a:ea typeface="Courier New" pitchFamily="34" charset="-122"/>
                <a:cs typeface="Courier New" pitchFamily="34" charset="-120"/>
              </a:rPr>
              <a:t>'navigation'</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.toBeVisible();</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passes for useState, useReducer,</a:t>
            </a: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Zustand, or RTK — same behavior</a:t>
            </a:r>
            <a:endParaRPr lang="en-US" sz="1200" dirty="0"/>
          </a:p>
        </p:txBody>
      </p:sp>
      <p:sp>
        <p:nvSpPr>
          <p:cNvPr id="11"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12"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22 / 27</a:t>
            </a:r>
            <a:endParaRPr lang="en-US" sz="90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AI test red flags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When you read AI-generated tests, look for these.</a:t>
            </a:r>
            <a:endParaRPr lang="en-US" sz="1400" dirty="0"/>
          </a:p>
        </p:txBody>
      </p:sp>
      <p:sp>
        <p:nvSpPr>
          <p:cNvPr id="5" name="Shape 3"/>
          <p:cNvSpPr/>
          <p:nvPr/>
        </p:nvSpPr>
        <p:spPr>
          <a:xfrm>
            <a:off x="777240" y="1691640"/>
            <a:ext cx="5212080" cy="82296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56232"/>
            <a:ext cx="457200" cy="457200"/>
          </a:xfrm>
          <a:prstGeom prst="rect">
            <a:avLst/>
          </a:prstGeom>
        </p:spPr>
      </p:pic>
      <p:sp>
        <p:nvSpPr>
          <p:cNvPr id="7" name="Text 4"/>
          <p:cNvSpPr/>
          <p:nvPr/>
        </p:nvSpPr>
        <p:spPr>
          <a:xfrm>
            <a:off x="1554480" y="1737360"/>
            <a:ext cx="429768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vi.spyOn() on React's hooks — testing internals</a:t>
            </a:r>
            <a:endParaRPr lang="en-US" sz="1150" dirty="0"/>
          </a:p>
        </p:txBody>
      </p:sp>
      <p:sp>
        <p:nvSpPr>
          <p:cNvPr id="8" name="Shape 5"/>
          <p:cNvSpPr/>
          <p:nvPr/>
        </p:nvSpPr>
        <p:spPr>
          <a:xfrm>
            <a:off x="6126480" y="1691640"/>
            <a:ext cx="5212080" cy="822960"/>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6309360" y="1856232"/>
            <a:ext cx="457200" cy="457200"/>
          </a:xfrm>
          <a:prstGeom prst="rect">
            <a:avLst/>
          </a:prstGeom>
        </p:spPr>
      </p:pic>
      <p:sp>
        <p:nvSpPr>
          <p:cNvPr id="10" name="Text 6"/>
          <p:cNvSpPr/>
          <p:nvPr/>
        </p:nvSpPr>
        <p:spPr>
          <a:xfrm>
            <a:off x="6903720" y="1737360"/>
            <a:ext cx="429768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getByTestId everywhere instead of getByRole</a:t>
            </a:r>
            <a:endParaRPr lang="en-US" sz="1150" dirty="0"/>
          </a:p>
        </p:txBody>
      </p:sp>
      <p:sp>
        <p:nvSpPr>
          <p:cNvPr id="11" name="Shape 7"/>
          <p:cNvSpPr/>
          <p:nvPr/>
        </p:nvSpPr>
        <p:spPr>
          <a:xfrm>
            <a:off x="777240" y="2651760"/>
            <a:ext cx="5212080" cy="822960"/>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2816352"/>
            <a:ext cx="457200" cy="457200"/>
          </a:xfrm>
          <a:prstGeom prst="rect">
            <a:avLst/>
          </a:prstGeom>
        </p:spPr>
      </p:pic>
      <p:sp>
        <p:nvSpPr>
          <p:cNvPr id="13" name="Text 8"/>
          <p:cNvSpPr/>
          <p:nvPr/>
        </p:nvSpPr>
        <p:spPr>
          <a:xfrm>
            <a:off x="1554480" y="2697480"/>
            <a:ext cx="429768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expect(setState).toHaveBeenCalledWith(...) — implementation coupling</a:t>
            </a:r>
            <a:endParaRPr lang="en-US" sz="1150" dirty="0"/>
          </a:p>
        </p:txBody>
      </p:sp>
      <p:sp>
        <p:nvSpPr>
          <p:cNvPr id="14" name="Shape 9"/>
          <p:cNvSpPr/>
          <p:nvPr/>
        </p:nvSpPr>
        <p:spPr>
          <a:xfrm>
            <a:off x="6126480" y="2651760"/>
            <a:ext cx="5212080" cy="822960"/>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6309360" y="2816352"/>
            <a:ext cx="457200" cy="457200"/>
          </a:xfrm>
          <a:prstGeom prst="rect">
            <a:avLst/>
          </a:prstGeom>
        </p:spPr>
      </p:pic>
      <p:sp>
        <p:nvSpPr>
          <p:cNvPr id="16" name="Text 10"/>
          <p:cNvSpPr/>
          <p:nvPr/>
        </p:nvSpPr>
        <p:spPr>
          <a:xfrm>
            <a:off x="6903720" y="2697480"/>
            <a:ext cx="429768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fireEvent instead of userEvent — misses real user interactions</a:t>
            </a:r>
            <a:endParaRPr lang="en-US" sz="1150" dirty="0"/>
          </a:p>
        </p:txBody>
      </p:sp>
      <p:sp>
        <p:nvSpPr>
          <p:cNvPr id="17" name="Shape 11"/>
          <p:cNvSpPr/>
          <p:nvPr/>
        </p:nvSpPr>
        <p:spPr>
          <a:xfrm>
            <a:off x="777240" y="3611880"/>
            <a:ext cx="5212080" cy="822960"/>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3776472"/>
            <a:ext cx="457200" cy="457200"/>
          </a:xfrm>
          <a:prstGeom prst="rect">
            <a:avLst/>
          </a:prstGeom>
        </p:spPr>
      </p:pic>
      <p:sp>
        <p:nvSpPr>
          <p:cNvPr id="19" name="Text 12"/>
          <p:cNvSpPr/>
          <p:nvPr/>
        </p:nvSpPr>
        <p:spPr>
          <a:xfrm>
            <a:off x="1554480" y="3657600"/>
            <a:ext cx="429768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Mocking individual functions in api.js — should mock at the network</a:t>
            </a:r>
            <a:endParaRPr lang="en-US" sz="1150" dirty="0"/>
          </a:p>
        </p:txBody>
      </p:sp>
      <p:sp>
        <p:nvSpPr>
          <p:cNvPr id="20" name="Shape 13"/>
          <p:cNvSpPr/>
          <p:nvPr/>
        </p:nvSpPr>
        <p:spPr>
          <a:xfrm>
            <a:off x="6126480" y="3611880"/>
            <a:ext cx="5212080" cy="822960"/>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6309360" y="3776472"/>
            <a:ext cx="457200" cy="457200"/>
          </a:xfrm>
          <a:prstGeom prst="rect">
            <a:avLst/>
          </a:prstGeom>
        </p:spPr>
      </p:pic>
      <p:sp>
        <p:nvSpPr>
          <p:cNvPr id="22" name="Text 14"/>
          <p:cNvSpPr/>
          <p:nvPr/>
        </p:nvSpPr>
        <p:spPr>
          <a:xfrm>
            <a:off x="6903720" y="3657600"/>
            <a:ext cx="429768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setTimeout-based waits — flakiness factory</a:t>
            </a:r>
            <a:endParaRPr lang="en-US" sz="1150" dirty="0"/>
          </a:p>
        </p:txBody>
      </p:sp>
      <p:sp>
        <p:nvSpPr>
          <p:cNvPr id="23" name="Shape 15"/>
          <p:cNvSpPr/>
          <p:nvPr/>
        </p:nvSpPr>
        <p:spPr>
          <a:xfrm>
            <a:off x="777240" y="4572000"/>
            <a:ext cx="5212080" cy="822960"/>
          </a:xfrm>
          <a:prstGeom prst="rect">
            <a:avLst/>
          </a:prstGeom>
          <a:solidFill>
            <a:srgbClr val="FFFFFF"/>
          </a:solidFill>
          <a:ln w="12700">
            <a:solidFill>
              <a:srgbClr val="E2E8F0"/>
            </a:solidFill>
            <a:prstDash val="solid"/>
          </a:ln>
        </p:spPr>
      </p:sp>
      <p:pic>
        <p:nvPicPr>
          <p:cNvPr id="24" name="Image 6" descr="preencoded.png">    </p:cNvPr>
          <p:cNvPicPr>
            <a:picLocks noChangeAspect="1"/>
          </p:cNvPicPr>
          <p:nvPr/>
        </p:nvPicPr>
        <p:blipFill>
          <a:blip r:embed="rId7"/>
          <a:stretch>
            <a:fillRect/>
          </a:stretch>
        </p:blipFill>
        <p:spPr>
          <a:xfrm>
            <a:off x="960120" y="4736592"/>
            <a:ext cx="457200" cy="457200"/>
          </a:xfrm>
          <a:prstGeom prst="rect">
            <a:avLst/>
          </a:prstGeom>
        </p:spPr>
      </p:pic>
      <p:sp>
        <p:nvSpPr>
          <p:cNvPr id="25" name="Text 16"/>
          <p:cNvSpPr/>
          <p:nvPr/>
        </p:nvSpPr>
        <p:spPr>
          <a:xfrm>
            <a:off x="1554480" y="4617720"/>
            <a:ext cx="429768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Tests that pass without rendering anything — checking pure utils only</a:t>
            </a:r>
            <a:endParaRPr lang="en-US" sz="1150" dirty="0"/>
          </a:p>
        </p:txBody>
      </p:sp>
      <p:sp>
        <p:nvSpPr>
          <p:cNvPr id="26" name="Shape 17"/>
          <p:cNvSpPr/>
          <p:nvPr/>
        </p:nvSpPr>
        <p:spPr>
          <a:xfrm>
            <a:off x="6126480" y="4572000"/>
            <a:ext cx="5212080" cy="822960"/>
          </a:xfrm>
          <a:prstGeom prst="rect">
            <a:avLst/>
          </a:prstGeom>
          <a:solidFill>
            <a:srgbClr val="FFFFFF"/>
          </a:solidFill>
          <a:ln w="12700">
            <a:solidFill>
              <a:srgbClr val="E2E8F0"/>
            </a:solidFill>
            <a:prstDash val="solid"/>
          </a:ln>
        </p:spPr>
      </p:sp>
      <p:pic>
        <p:nvPicPr>
          <p:cNvPr id="27" name="Image 7" descr="preencoded.png">    </p:cNvPr>
          <p:cNvPicPr>
            <a:picLocks noChangeAspect="1"/>
          </p:cNvPicPr>
          <p:nvPr/>
        </p:nvPicPr>
        <p:blipFill>
          <a:blip r:embed="rId8"/>
          <a:stretch>
            <a:fillRect/>
          </a:stretch>
        </p:blipFill>
        <p:spPr>
          <a:xfrm>
            <a:off x="6309360" y="4736592"/>
            <a:ext cx="457200" cy="457200"/>
          </a:xfrm>
          <a:prstGeom prst="rect">
            <a:avLst/>
          </a:prstGeom>
        </p:spPr>
      </p:pic>
      <p:sp>
        <p:nvSpPr>
          <p:cNvPr id="28" name="Text 18"/>
          <p:cNvSpPr/>
          <p:nvPr/>
        </p:nvSpPr>
        <p:spPr>
          <a:xfrm>
            <a:off x="6903720" y="4617720"/>
            <a:ext cx="429768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Snapshot tests for entire components — every refactor fails them</a:t>
            </a:r>
            <a:endParaRPr lang="en-US" sz="1150" dirty="0"/>
          </a:p>
        </p:txBody>
      </p:sp>
      <p:sp>
        <p:nvSpPr>
          <p:cNvPr id="29" name="Text 1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30" name="Text 2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23 / 27</a:t>
            </a:r>
            <a:endParaRPr lang="en-US" sz="90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Module 8 takeaways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What to remember when you're back at your desk.</a:t>
            </a:r>
            <a:endParaRPr lang="en-US" sz="1400" dirty="0"/>
          </a:p>
        </p:txBody>
      </p:sp>
      <p:sp>
        <p:nvSpPr>
          <p:cNvPr id="5" name="Shape 3"/>
          <p:cNvSpPr/>
          <p:nvPr/>
        </p:nvSpPr>
        <p:spPr>
          <a:xfrm>
            <a:off x="777240" y="1691640"/>
            <a:ext cx="10607040" cy="603504"/>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10512"/>
            <a:ext cx="365760" cy="365760"/>
          </a:xfrm>
          <a:prstGeom prst="rect">
            <a:avLst/>
          </a:prstGeom>
        </p:spPr>
      </p:pic>
      <p:sp>
        <p:nvSpPr>
          <p:cNvPr id="7" name="Text 4"/>
          <p:cNvSpPr/>
          <p:nvPr/>
        </p:nvSpPr>
        <p:spPr>
          <a:xfrm>
            <a:off x="1508760" y="1737360"/>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Vitest &gt; Jest for new projects. Same API, faster startup, shared config with Vite.</a:t>
            </a:r>
            <a:endParaRPr lang="en-US" sz="1200" dirty="0"/>
          </a:p>
        </p:txBody>
      </p:sp>
      <p:sp>
        <p:nvSpPr>
          <p:cNvPr id="8" name="Shape 5"/>
          <p:cNvSpPr/>
          <p:nvPr/>
        </p:nvSpPr>
        <p:spPr>
          <a:xfrm>
            <a:off x="777240" y="2404872"/>
            <a:ext cx="10607040" cy="603504"/>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960120" y="2523744"/>
            <a:ext cx="365760" cy="365760"/>
          </a:xfrm>
          <a:prstGeom prst="rect">
            <a:avLst/>
          </a:prstGeom>
        </p:spPr>
      </p:pic>
      <p:sp>
        <p:nvSpPr>
          <p:cNvPr id="10" name="Text 6"/>
          <p:cNvSpPr/>
          <p:nvPr/>
        </p:nvSpPr>
        <p:spPr>
          <a:xfrm>
            <a:off x="1508760" y="2450592"/>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Test BEHAVIOR, not implementation. Query by ROLE first; getByTestId is the last resort.</a:t>
            </a:r>
            <a:endParaRPr lang="en-US" sz="1200" dirty="0"/>
          </a:p>
        </p:txBody>
      </p:sp>
      <p:sp>
        <p:nvSpPr>
          <p:cNvPr id="11" name="Shape 7"/>
          <p:cNvSpPr/>
          <p:nvPr/>
        </p:nvSpPr>
        <p:spPr>
          <a:xfrm>
            <a:off x="777240" y="3118104"/>
            <a:ext cx="10607040" cy="603504"/>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236976"/>
            <a:ext cx="365760" cy="365760"/>
          </a:xfrm>
          <a:prstGeom prst="rect">
            <a:avLst/>
          </a:prstGeom>
        </p:spPr>
      </p:pic>
      <p:sp>
        <p:nvSpPr>
          <p:cNvPr id="13" name="Text 8"/>
          <p:cNvSpPr/>
          <p:nvPr/>
        </p:nvSpPr>
        <p:spPr>
          <a:xfrm>
            <a:off x="1508760" y="3163824"/>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user-event over fireEvent. Always await it. It simulates real interaction.</a:t>
            </a:r>
            <a:endParaRPr lang="en-US" sz="1200" dirty="0"/>
          </a:p>
        </p:txBody>
      </p:sp>
      <p:sp>
        <p:nvSpPr>
          <p:cNvPr id="14" name="Shape 9"/>
          <p:cNvSpPr/>
          <p:nvPr/>
        </p:nvSpPr>
        <p:spPr>
          <a:xfrm>
            <a:off x="777240" y="3831336"/>
            <a:ext cx="10607040" cy="603504"/>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960120" y="3950208"/>
            <a:ext cx="365760" cy="365760"/>
          </a:xfrm>
          <a:prstGeom prst="rect">
            <a:avLst/>
          </a:prstGeom>
        </p:spPr>
      </p:pic>
      <p:sp>
        <p:nvSpPr>
          <p:cNvPr id="16" name="Text 10"/>
          <p:cNvSpPr/>
          <p:nvPr/>
        </p:nvSpPr>
        <p:spPr>
          <a:xfrm>
            <a:off x="1508760" y="3877056"/>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MSW intercepts at the network layer. Same mocks for tests AND dev. Reset handlers between tests.</a:t>
            </a:r>
            <a:endParaRPr lang="en-US" sz="1200" dirty="0"/>
          </a:p>
        </p:txBody>
      </p:sp>
      <p:sp>
        <p:nvSpPr>
          <p:cNvPr id="17" name="Shape 11"/>
          <p:cNvSpPr/>
          <p:nvPr/>
        </p:nvSpPr>
        <p:spPr>
          <a:xfrm>
            <a:off x="777240" y="4544568"/>
            <a:ext cx="10607040" cy="603504"/>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663440"/>
            <a:ext cx="365760" cy="365760"/>
          </a:xfrm>
          <a:prstGeom prst="rect">
            <a:avLst/>
          </a:prstGeom>
        </p:spPr>
      </p:pic>
      <p:sp>
        <p:nvSpPr>
          <p:cNvPr id="19" name="Text 12"/>
          <p:cNvSpPr/>
          <p:nvPr/>
        </p:nvSpPr>
        <p:spPr>
          <a:xfrm>
            <a:off x="1508760" y="4590288"/>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Playwright for critical flows only. 80/15/5 — unit/integration/E2E.</a:t>
            </a:r>
            <a:endParaRPr lang="en-US" sz="1200" dirty="0"/>
          </a:p>
        </p:txBody>
      </p:sp>
      <p:sp>
        <p:nvSpPr>
          <p:cNvPr id="20" name="Shape 13"/>
          <p:cNvSpPr/>
          <p:nvPr/>
        </p:nvSpPr>
        <p:spPr>
          <a:xfrm>
            <a:off x="777240" y="5257800"/>
            <a:ext cx="10607040" cy="603504"/>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960120" y="5376672"/>
            <a:ext cx="365760" cy="365760"/>
          </a:xfrm>
          <a:prstGeom prst="rect">
            <a:avLst/>
          </a:prstGeom>
        </p:spPr>
      </p:pic>
      <p:sp>
        <p:nvSpPr>
          <p:cNvPr id="22" name="Text 14"/>
          <p:cNvSpPr/>
          <p:nvPr/>
        </p:nvSpPr>
        <p:spPr>
          <a:xfrm>
            <a:off x="1508760" y="5303520"/>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AI-generated tests need review. Look for spyOn, fireEvent, getByTestId, setTimeout.</a:t>
            </a:r>
            <a:endParaRPr lang="en-US" sz="1200" dirty="0"/>
          </a:p>
        </p:txBody>
      </p:sp>
      <p:sp>
        <p:nvSpPr>
          <p:cNvPr id="23"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24"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24 / 27</a:t>
            </a:r>
            <a:endParaRPr lang="en-US" sz="90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Coming up: Lab 7</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Write a baseline test suite, then have AI extend it. Review every line.</a:t>
            </a:r>
            <a:endParaRPr lang="en-US" sz="1400" dirty="0"/>
          </a:p>
        </p:txBody>
      </p:sp>
      <p:sp>
        <p:nvSpPr>
          <p:cNvPr id="5" name="Shape 3"/>
          <p:cNvSpPr/>
          <p:nvPr/>
        </p:nvSpPr>
        <p:spPr>
          <a:xfrm>
            <a:off x="777240" y="1691640"/>
            <a:ext cx="10607040" cy="43891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97280" y="1920240"/>
            <a:ext cx="822960" cy="822960"/>
          </a:xfrm>
          <a:prstGeom prst="rect">
            <a:avLst/>
          </a:prstGeom>
        </p:spPr>
      </p:pic>
      <p:sp>
        <p:nvSpPr>
          <p:cNvPr id="7" name="Text 4"/>
          <p:cNvSpPr/>
          <p:nvPr/>
        </p:nvSpPr>
        <p:spPr>
          <a:xfrm>
            <a:off x="2194560" y="1920240"/>
            <a:ext cx="9144000" cy="64008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Lab 7: Test Suite from Scratch</a:t>
            </a:r>
            <a:endParaRPr lang="en-US" sz="2200" dirty="0"/>
          </a:p>
        </p:txBody>
      </p:sp>
      <p:sp>
        <p:nvSpPr>
          <p:cNvPr id="8" name="Text 5"/>
          <p:cNvSpPr/>
          <p:nvPr/>
        </p:nvSpPr>
        <p:spPr>
          <a:xfrm>
            <a:off x="2194560" y="2514600"/>
            <a:ext cx="9144000" cy="365760"/>
          </a:xfrm>
          <a:prstGeom prst="rect">
            <a:avLst/>
          </a:prstGeom>
          <a:noFill/>
          <a:ln/>
        </p:spPr>
        <p:txBody>
          <a:bodyPr wrap="square" lIns="0" tIns="0" rIns="0" bIns="0" rtlCol="0" anchor="ctr"/>
          <a:lstStyle/>
          <a:p>
            <a:pPr indent="0" marL="0">
              <a:buNone/>
            </a:pPr>
            <a:r>
              <a:rPr lang="en-US" sz="1300" i="1" dirty="0">
                <a:solidFill>
                  <a:srgbClr val="475569"/>
                </a:solidFill>
                <a:latin typeface="Arial" pitchFamily="34" charset="0"/>
                <a:ea typeface="Arial" pitchFamily="34" charset="-122"/>
                <a:cs typeface="Arial" pitchFamily="34" charset="-120"/>
              </a:rPr>
              <a:t>75 minutes  ·  Hands-on  ·  AI-test review is the load-bearing part</a:t>
            </a:r>
            <a:endParaRPr lang="en-US" sz="1300" dirty="0"/>
          </a:p>
        </p:txBody>
      </p:sp>
      <p:sp>
        <p:nvSpPr>
          <p:cNvPr id="9" name="Text 6"/>
          <p:cNvSpPr/>
          <p:nvPr/>
        </p:nvSpPr>
        <p:spPr>
          <a:xfrm>
            <a:off x="1097280" y="3200400"/>
            <a:ext cx="100584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What you'll do:</a:t>
            </a:r>
            <a:endParaRPr lang="en-US" sz="1400" dirty="0"/>
          </a:p>
        </p:txBody>
      </p:sp>
      <p:sp>
        <p:nvSpPr>
          <p:cNvPr id="10" name="Text 7"/>
          <p:cNvSpPr/>
          <p:nvPr/>
        </p:nvSpPr>
        <p:spPr>
          <a:xfrm>
            <a:off x="1097280" y="3611880"/>
            <a:ext cx="1005840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Set up Vitest + RTL + MSW for the social-media app</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Write a baseline test suite for one feature by hand</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Have AI extend the suite</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Mark each AI-generated test as keep / refactor / delete with a written reason</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Stretch: add one Playwright e2e test for the auth flow</a:t>
            </a:r>
            <a:endParaRPr lang="en-US" sz="1250" dirty="0"/>
          </a:p>
        </p:txBody>
      </p:sp>
      <p:sp>
        <p:nvSpPr>
          <p:cNvPr id="11" name="Text 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12" name="Text 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25 / 27</a:t>
            </a:r>
            <a:endParaRPr lang="en-US" sz="90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After the lab: Module 9</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Advanced React with AI assistants — the focused module.</a:t>
            </a:r>
            <a:endParaRPr lang="en-US" sz="1400" dirty="0"/>
          </a:p>
        </p:txBody>
      </p:sp>
      <p:sp>
        <p:nvSpPr>
          <p:cNvPr id="5" name="Shape 3"/>
          <p:cNvSpPr/>
          <p:nvPr/>
        </p:nvSpPr>
        <p:spPr>
          <a:xfrm>
            <a:off x="777240" y="1691640"/>
            <a:ext cx="10607040" cy="4206240"/>
          </a:xfrm>
          <a:prstGeom prst="rect">
            <a:avLst/>
          </a:prstGeom>
          <a:solidFill>
            <a:srgbClr val="CBF1F6"/>
          </a:solidFill>
          <a:ln w="12700">
            <a:solidFill>
              <a:srgbClr val="CBF1F6"/>
            </a:solidFill>
            <a:prstDash val="solid"/>
          </a:ln>
        </p:spPr>
      </p:sp>
      <p:sp>
        <p:nvSpPr>
          <p:cNvPr id="6" name="Text 4"/>
          <p:cNvSpPr/>
          <p:nvPr/>
        </p:nvSpPr>
        <p:spPr>
          <a:xfrm>
            <a:off x="1097280" y="2011680"/>
            <a:ext cx="10058400" cy="4572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Module 9 brings together the AI thread that's run through every day:</a:t>
            </a:r>
            <a:endParaRPr lang="en-US" sz="1400" dirty="0"/>
          </a:p>
        </p:txBody>
      </p:sp>
      <p:sp>
        <p:nvSpPr>
          <p:cNvPr id="7" name="Text 5"/>
          <p:cNvSpPr/>
          <p:nvPr/>
        </p:nvSpPr>
        <p:spPr>
          <a:xfrm>
            <a:off x="1097280" y="2606040"/>
            <a:ext cx="10058400" cy="3108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Tool-agnostic patterns that work across Cursor, Claude Code, Copilot, Windsurf</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Taxonomy of React mistakes LLMs make — pulled from your own findings this week</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Project context for AI: AGENTS.md / CLAUDE.md, lint rules, repo conventions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AI-assisted refactors and migrations — and verification</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Lab 8: build a feature end-to-end with AI assistance, then code-review yourself</a:t>
            </a:r>
            <a:endParaRPr lang="en-US" sz="1250" dirty="0"/>
          </a:p>
        </p:txBody>
      </p:sp>
      <p:sp>
        <p:nvSpPr>
          <p:cNvPr id="8" name="Text 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9" name="Text 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26 / 27</a:t>
            </a:r>
            <a:endParaRPr lang="en-US" sz="90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Day 3 progress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Three modules done. AI module + final wrap-up still ahead.</a:t>
            </a:r>
            <a:endParaRPr lang="en-US" sz="1400" dirty="0"/>
          </a:p>
        </p:txBody>
      </p:sp>
      <p:sp>
        <p:nvSpPr>
          <p:cNvPr id="5" name="Shape 3"/>
          <p:cNvSpPr/>
          <p:nvPr/>
        </p:nvSpPr>
        <p:spPr>
          <a:xfrm>
            <a:off x="777240" y="1691640"/>
            <a:ext cx="10607040" cy="4206240"/>
          </a:xfrm>
          <a:prstGeom prst="rect">
            <a:avLst/>
          </a:prstGeom>
          <a:solidFill>
            <a:srgbClr val="FFFFFF"/>
          </a:solidFill>
          <a:ln w="12700">
            <a:solidFill>
              <a:srgbClr val="E2E8F0"/>
            </a:solidFill>
            <a:prstDash val="solid"/>
          </a:ln>
        </p:spPr>
      </p:sp>
      <p:sp>
        <p:nvSpPr>
          <p:cNvPr id="6" name="Text 4"/>
          <p:cNvSpPr/>
          <p:nvPr/>
        </p:nvSpPr>
        <p:spPr>
          <a:xfrm>
            <a:off x="1097280" y="1920240"/>
            <a:ext cx="10058400" cy="4572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Day 3 plan:</a:t>
            </a:r>
            <a:endParaRPr lang="en-US" sz="1400" dirty="0"/>
          </a:p>
        </p:txBody>
      </p:sp>
      <p:sp>
        <p:nvSpPr>
          <p:cNvPr id="7" name="Text 5"/>
          <p:cNvSpPr/>
          <p:nvPr/>
        </p:nvSpPr>
        <p:spPr>
          <a:xfrm>
            <a:off x="1097280" y="2377440"/>
            <a:ext cx="10058400" cy="33832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Module 7 — Performance in the Compiler era ✓</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Lab 6 — Profile and optimize ✓</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Module 8 — Testing in 2026 ✓ (just finished)</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Lab 7 — Test suite + AI-generated test review (next)</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Module 9 — Working with AI assistants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Lab 8 — AI-assisted feature, end to end</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Module 10 — Production concerns + course wrap-up</a:t>
            </a:r>
            <a:endParaRPr lang="en-US" sz="1200" dirty="0"/>
          </a:p>
        </p:txBody>
      </p:sp>
      <p:sp>
        <p:nvSpPr>
          <p:cNvPr id="8" name="Text 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8 — Testing in 2026</a:t>
            </a:r>
            <a:endParaRPr lang="en-US" sz="900" dirty="0"/>
          </a:p>
        </p:txBody>
      </p:sp>
      <p:sp>
        <p:nvSpPr>
          <p:cNvPr id="9" name="Text 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27 / 27</a:t>
            </a:r>
            <a:endParaRPr lang="en-US" sz="90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1">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377440"/>
            <a:ext cx="548640" cy="73152"/>
          </a:xfrm>
          <a:prstGeom prst="rect">
            <a:avLst/>
          </a:prstGeom>
          <a:solidFill>
            <a:srgbClr val="00B8D9"/>
          </a:solidFill>
          <a:ln w="12700">
            <a:solidFill>
              <a:srgbClr val="00B8D9"/>
            </a:solidFill>
            <a:prstDash val="solid"/>
          </a:ln>
        </p:spPr>
      </p:sp>
      <p:sp>
        <p:nvSpPr>
          <p:cNvPr id="3" name="Text 1"/>
          <p:cNvSpPr/>
          <p:nvPr/>
        </p:nvSpPr>
        <p:spPr>
          <a:xfrm>
            <a:off x="640080" y="2542032"/>
            <a:ext cx="5486400" cy="457200"/>
          </a:xfrm>
          <a:prstGeom prst="rect">
            <a:avLst/>
          </a:prstGeom>
          <a:noFill/>
          <a:ln/>
        </p:spPr>
        <p:txBody>
          <a:bodyPr wrap="square" lIns="0" tIns="0" rIns="0" bIns="0" rtlCol="0" anchor="ctr"/>
          <a:lstStyle/>
          <a:p>
            <a:pPr indent="0" marL="0">
              <a:buNone/>
            </a:pPr>
            <a:r>
              <a:rPr lang="en-US" sz="1800" dirty="0">
                <a:solidFill>
                  <a:srgbClr val="00B8D9"/>
                </a:solidFill>
                <a:latin typeface="Trebuchet MS" pitchFamily="34" charset="0"/>
                <a:ea typeface="Trebuchet MS" pitchFamily="34" charset="-122"/>
                <a:cs typeface="Trebuchet MS" pitchFamily="34" charset="-120"/>
              </a:rPr>
              <a:t>Module 9</a:t>
            </a:r>
            <a:endParaRPr lang="en-US" sz="1800" dirty="0"/>
          </a:p>
        </p:txBody>
      </p:sp>
      <p:sp>
        <p:nvSpPr>
          <p:cNvPr id="4" name="Text 2"/>
          <p:cNvSpPr/>
          <p:nvPr/>
        </p:nvSpPr>
        <p:spPr>
          <a:xfrm>
            <a:off x="640080" y="3017520"/>
            <a:ext cx="11155680" cy="109728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Advanced React with AI Assistants</a:t>
            </a:r>
            <a:endParaRPr lang="en-US" sz="4000" dirty="0"/>
          </a:p>
        </p:txBody>
      </p:sp>
      <p:sp>
        <p:nvSpPr>
          <p:cNvPr id="5" name="Text 3"/>
          <p:cNvSpPr/>
          <p:nvPr/>
        </p:nvSpPr>
        <p:spPr>
          <a:xfrm>
            <a:off x="640080" y="4160520"/>
            <a:ext cx="10972800" cy="64008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Tool-agnostic patterns. The mistake taxonomy. Project context. The review checklist.</a:t>
            </a:r>
            <a:endParaRPr lang="en-US" sz="1800" dirty="0"/>
          </a:p>
        </p:txBody>
      </p:sp>
      <p:sp>
        <p:nvSpPr>
          <p:cNvPr id="6" name="Text 4"/>
          <p:cNvSpPr/>
          <p:nvPr/>
        </p:nvSpPr>
        <p:spPr>
          <a:xfrm>
            <a:off x="640080" y="5029200"/>
            <a:ext cx="10972800" cy="45720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75 minutes  ·  Lecture + demos  ·  Lab 8 follows</a:t>
            </a:r>
            <a:endParaRPr lang="en-US" sz="1400" dirty="0"/>
          </a:p>
        </p:txBody>
      </p:sp>
      <p:pic>
        <p:nvPicPr>
          <p:cNvPr id="7" name="Image 0" descr="preencoded.png">    </p:cNvPr>
          <p:cNvPicPr>
            <a:picLocks noChangeAspect="1"/>
          </p:cNvPicPr>
          <p:nvPr/>
        </p:nvPicPr>
        <p:blipFill>
          <a:blip r:embed="rId1">
            <a:alphaModFix amt="75000"/>
          </a:blip>
          <a:stretch>
            <a:fillRect/>
          </a:stretch>
        </p:blipFill>
        <p:spPr>
          <a:xfrm>
            <a:off x="10728655" y="4663440"/>
            <a:ext cx="914400" cy="914400"/>
          </a:xfrm>
          <a:prstGeom prst="rect">
            <a:avLst/>
          </a:prstGeom>
        </p:spPr>
      </p:pic>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thread so far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You've spotted AI-generated React mistakes in every lab this week.</a:t>
            </a:r>
            <a:endParaRPr lang="en-US" sz="1400" dirty="0"/>
          </a:p>
        </p:txBody>
      </p:sp>
      <p:sp>
        <p:nvSpPr>
          <p:cNvPr id="5" name="Shape 3"/>
          <p:cNvSpPr/>
          <p:nvPr/>
        </p:nvSpPr>
        <p:spPr>
          <a:xfrm>
            <a:off x="777240" y="1691640"/>
            <a:ext cx="10607040" cy="502920"/>
          </a:xfrm>
          <a:prstGeom prst="rect">
            <a:avLst/>
          </a:prstGeom>
          <a:solidFill>
            <a:srgbClr val="FFFFFF"/>
          </a:solidFill>
          <a:ln w="12700">
            <a:solidFill>
              <a:srgbClr val="E2E8F0"/>
            </a:solidFill>
            <a:prstDash val="solid"/>
          </a:ln>
        </p:spPr>
      </p:sp>
      <p:sp>
        <p:nvSpPr>
          <p:cNvPr id="6" name="Text 4"/>
          <p:cNvSpPr/>
          <p:nvPr/>
        </p:nvSpPr>
        <p:spPr>
          <a:xfrm>
            <a:off x="960120" y="1737360"/>
            <a:ext cx="137160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Lab 1</a:t>
            </a:r>
            <a:endParaRPr lang="en-US" sz="1200" dirty="0"/>
          </a:p>
        </p:txBody>
      </p:sp>
      <p:sp>
        <p:nvSpPr>
          <p:cNvPr id="7" name="Text 5"/>
          <p:cNvSpPr/>
          <p:nvPr/>
        </p:nvSpPr>
        <p:spPr>
          <a:xfrm>
            <a:off x="2468880" y="1737360"/>
            <a:ext cx="8778240" cy="4114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Stale closures, useEffect for derived state, race-prone setters</a:t>
            </a:r>
            <a:endParaRPr lang="en-US" sz="1150" dirty="0"/>
          </a:p>
        </p:txBody>
      </p:sp>
      <p:sp>
        <p:nvSpPr>
          <p:cNvPr id="8" name="Shape 6"/>
          <p:cNvSpPr/>
          <p:nvPr/>
        </p:nvSpPr>
        <p:spPr>
          <a:xfrm>
            <a:off x="777240" y="2286000"/>
            <a:ext cx="10607040" cy="502920"/>
          </a:xfrm>
          <a:prstGeom prst="rect">
            <a:avLst/>
          </a:prstGeom>
          <a:solidFill>
            <a:srgbClr val="F8FAFC"/>
          </a:solidFill>
          <a:ln w="12700">
            <a:solidFill>
              <a:srgbClr val="E2E8F0"/>
            </a:solidFill>
            <a:prstDash val="solid"/>
          </a:ln>
        </p:spPr>
      </p:sp>
      <p:sp>
        <p:nvSpPr>
          <p:cNvPr id="9" name="Text 7"/>
          <p:cNvSpPr/>
          <p:nvPr/>
        </p:nvSpPr>
        <p:spPr>
          <a:xfrm>
            <a:off x="960120" y="2331720"/>
            <a:ext cx="137160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Lab 2</a:t>
            </a:r>
            <a:endParaRPr lang="en-US" sz="1200" dirty="0"/>
          </a:p>
        </p:txBody>
      </p:sp>
      <p:sp>
        <p:nvSpPr>
          <p:cNvPr id="10" name="Text 8"/>
          <p:cNvSpPr/>
          <p:nvPr/>
        </p:nvSpPr>
        <p:spPr>
          <a:xfrm>
            <a:off x="2468880" y="2331720"/>
            <a:ext cx="8778240" cy="4114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v6 React Router patterns, Pages-Router-era Next.js, localStorage for sessions</a:t>
            </a:r>
            <a:endParaRPr lang="en-US" sz="1150" dirty="0"/>
          </a:p>
        </p:txBody>
      </p:sp>
      <p:sp>
        <p:nvSpPr>
          <p:cNvPr id="11" name="Shape 9"/>
          <p:cNvSpPr/>
          <p:nvPr/>
        </p:nvSpPr>
        <p:spPr>
          <a:xfrm>
            <a:off x="777240" y="2880360"/>
            <a:ext cx="10607040" cy="502920"/>
          </a:xfrm>
          <a:prstGeom prst="rect">
            <a:avLst/>
          </a:prstGeom>
          <a:solidFill>
            <a:srgbClr val="FFFFFF"/>
          </a:solidFill>
          <a:ln w="12700">
            <a:solidFill>
              <a:srgbClr val="E2E8F0"/>
            </a:solidFill>
            <a:prstDash val="solid"/>
          </a:ln>
        </p:spPr>
      </p:sp>
      <p:sp>
        <p:nvSpPr>
          <p:cNvPr id="12" name="Text 10"/>
          <p:cNvSpPr/>
          <p:nvPr/>
        </p:nvSpPr>
        <p:spPr>
          <a:xfrm>
            <a:off x="960120" y="2926080"/>
            <a:ext cx="137160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Lab 3</a:t>
            </a:r>
            <a:endParaRPr lang="en-US" sz="1200" dirty="0"/>
          </a:p>
        </p:txBody>
      </p:sp>
      <p:sp>
        <p:nvSpPr>
          <p:cNvPr id="13" name="Text 11"/>
          <p:cNvSpPr/>
          <p:nvPr/>
        </p:nvSpPr>
        <p:spPr>
          <a:xfrm>
            <a:off x="2468880" y="2926080"/>
            <a:ext cx="8778240" cy="4114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Server data in client store, setter-shaped action names</a:t>
            </a:r>
            <a:endParaRPr lang="en-US" sz="1150" dirty="0"/>
          </a:p>
        </p:txBody>
      </p:sp>
      <p:sp>
        <p:nvSpPr>
          <p:cNvPr id="14" name="Shape 12"/>
          <p:cNvSpPr/>
          <p:nvPr/>
        </p:nvSpPr>
        <p:spPr>
          <a:xfrm>
            <a:off x="777240" y="3474720"/>
            <a:ext cx="10607040" cy="502920"/>
          </a:xfrm>
          <a:prstGeom prst="rect">
            <a:avLst/>
          </a:prstGeom>
          <a:solidFill>
            <a:srgbClr val="F8FAFC"/>
          </a:solidFill>
          <a:ln w="12700">
            <a:solidFill>
              <a:srgbClr val="E2E8F0"/>
            </a:solidFill>
            <a:prstDash val="solid"/>
          </a:ln>
        </p:spPr>
      </p:sp>
      <p:sp>
        <p:nvSpPr>
          <p:cNvPr id="15" name="Text 13"/>
          <p:cNvSpPr/>
          <p:nvPr/>
        </p:nvSpPr>
        <p:spPr>
          <a:xfrm>
            <a:off x="960120" y="3520440"/>
            <a:ext cx="137160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Lab 4</a:t>
            </a:r>
            <a:endParaRPr lang="en-US" sz="1200" dirty="0"/>
          </a:p>
        </p:txBody>
      </p:sp>
      <p:sp>
        <p:nvSpPr>
          <p:cNvPr id="16" name="Text 14"/>
          <p:cNvSpPr/>
          <p:nvPr/>
        </p:nvSpPr>
        <p:spPr>
          <a:xfrm>
            <a:off x="2468880" y="3520440"/>
            <a:ext cx="8778240" cy="4114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Mutable query keys, missing invalidation, retry on mutations</a:t>
            </a:r>
            <a:endParaRPr lang="en-US" sz="1150" dirty="0"/>
          </a:p>
        </p:txBody>
      </p:sp>
      <p:sp>
        <p:nvSpPr>
          <p:cNvPr id="17" name="Shape 15"/>
          <p:cNvSpPr/>
          <p:nvPr/>
        </p:nvSpPr>
        <p:spPr>
          <a:xfrm>
            <a:off x="777240" y="4069080"/>
            <a:ext cx="10607040" cy="502920"/>
          </a:xfrm>
          <a:prstGeom prst="rect">
            <a:avLst/>
          </a:prstGeom>
          <a:solidFill>
            <a:srgbClr val="FFFFFF"/>
          </a:solidFill>
          <a:ln w="12700">
            <a:solidFill>
              <a:srgbClr val="E2E8F0"/>
            </a:solidFill>
            <a:prstDash val="solid"/>
          </a:ln>
        </p:spPr>
      </p:sp>
      <p:sp>
        <p:nvSpPr>
          <p:cNvPr id="18" name="Text 16"/>
          <p:cNvSpPr/>
          <p:nvPr/>
        </p:nvSpPr>
        <p:spPr>
          <a:xfrm>
            <a:off x="960120" y="4114800"/>
            <a:ext cx="137160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Lab 5</a:t>
            </a:r>
            <a:endParaRPr lang="en-US" sz="1200" dirty="0"/>
          </a:p>
        </p:txBody>
      </p:sp>
      <p:sp>
        <p:nvSpPr>
          <p:cNvPr id="19" name="Text 17"/>
          <p:cNvSpPr/>
          <p:nvPr/>
        </p:nvSpPr>
        <p:spPr>
          <a:xfrm>
            <a:off x="2468880" y="4114800"/>
            <a:ext cx="8778240" cy="4114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'use client' as escape hatch, server-only imports leaking, non-serializable props</a:t>
            </a:r>
            <a:endParaRPr lang="en-US" sz="1150" dirty="0"/>
          </a:p>
        </p:txBody>
      </p:sp>
      <p:sp>
        <p:nvSpPr>
          <p:cNvPr id="20" name="Shape 18"/>
          <p:cNvSpPr/>
          <p:nvPr/>
        </p:nvSpPr>
        <p:spPr>
          <a:xfrm>
            <a:off x="777240" y="4663440"/>
            <a:ext cx="10607040" cy="502920"/>
          </a:xfrm>
          <a:prstGeom prst="rect">
            <a:avLst/>
          </a:prstGeom>
          <a:solidFill>
            <a:srgbClr val="F8FAFC"/>
          </a:solidFill>
          <a:ln w="12700">
            <a:solidFill>
              <a:srgbClr val="E2E8F0"/>
            </a:solidFill>
            <a:prstDash val="solid"/>
          </a:ln>
        </p:spPr>
      </p:sp>
      <p:sp>
        <p:nvSpPr>
          <p:cNvPr id="21" name="Text 19"/>
          <p:cNvSpPr/>
          <p:nvPr/>
        </p:nvSpPr>
        <p:spPr>
          <a:xfrm>
            <a:off x="960120" y="4709160"/>
            <a:ext cx="137160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Lab 6</a:t>
            </a:r>
            <a:endParaRPr lang="en-US" sz="1200" dirty="0"/>
          </a:p>
        </p:txBody>
      </p:sp>
      <p:sp>
        <p:nvSpPr>
          <p:cNvPr id="22" name="Text 20"/>
          <p:cNvSpPr/>
          <p:nvPr/>
        </p:nvSpPr>
        <p:spPr>
          <a:xfrm>
            <a:off x="2468880" y="4709160"/>
            <a:ext cx="8778240" cy="4114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Optimize without measure, useMemo everywhere, Web Worker overhead</a:t>
            </a:r>
            <a:endParaRPr lang="en-US" sz="1150" dirty="0"/>
          </a:p>
        </p:txBody>
      </p:sp>
      <p:sp>
        <p:nvSpPr>
          <p:cNvPr id="23" name="Shape 21"/>
          <p:cNvSpPr/>
          <p:nvPr/>
        </p:nvSpPr>
        <p:spPr>
          <a:xfrm>
            <a:off x="777240" y="5257800"/>
            <a:ext cx="10607040" cy="502920"/>
          </a:xfrm>
          <a:prstGeom prst="rect">
            <a:avLst/>
          </a:prstGeom>
          <a:solidFill>
            <a:srgbClr val="FFFFFF"/>
          </a:solidFill>
          <a:ln w="12700">
            <a:solidFill>
              <a:srgbClr val="E2E8F0"/>
            </a:solidFill>
            <a:prstDash val="solid"/>
          </a:ln>
        </p:spPr>
      </p:sp>
      <p:sp>
        <p:nvSpPr>
          <p:cNvPr id="24" name="Text 22"/>
          <p:cNvSpPr/>
          <p:nvPr/>
        </p:nvSpPr>
        <p:spPr>
          <a:xfrm>
            <a:off x="960120" y="5303520"/>
            <a:ext cx="137160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Lab 7</a:t>
            </a:r>
            <a:endParaRPr lang="en-US" sz="1200" dirty="0"/>
          </a:p>
        </p:txBody>
      </p:sp>
      <p:sp>
        <p:nvSpPr>
          <p:cNvPr id="25" name="Text 23"/>
          <p:cNvSpPr/>
          <p:nvPr/>
        </p:nvSpPr>
        <p:spPr>
          <a:xfrm>
            <a:off x="2468880" y="5303520"/>
            <a:ext cx="8778240" cy="4114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getByTestId, fireEvent, snapshot tests, spyOn React.useState</a:t>
            </a:r>
            <a:endParaRPr lang="en-US" sz="1150" dirty="0"/>
          </a:p>
        </p:txBody>
      </p:sp>
      <p:sp>
        <p:nvSpPr>
          <p:cNvPr id="26" name="Text 24"/>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27" name="Text 25"/>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 / 29</a:t>
            </a:r>
            <a:endParaRPr lang="en-US" sz="90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3">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1</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The AI Tool Landscape</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Four big tools, one principle: agnostic patterns over tool-specific tricks.</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Tool-agnostic principles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Any tool gets better when you apply these. None gets bad when you don't.</a:t>
            </a:r>
            <a:endParaRPr lang="en-US" sz="1400" dirty="0"/>
          </a:p>
        </p:txBody>
      </p:sp>
      <p:sp>
        <p:nvSpPr>
          <p:cNvPr id="5" name="Shape 3"/>
          <p:cNvSpPr/>
          <p:nvPr/>
        </p:nvSpPr>
        <p:spPr>
          <a:xfrm>
            <a:off x="777240" y="1691640"/>
            <a:ext cx="10607040" cy="713232"/>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10512"/>
            <a:ext cx="457200" cy="457200"/>
          </a:xfrm>
          <a:prstGeom prst="rect">
            <a:avLst/>
          </a:prstGeom>
        </p:spPr>
      </p:pic>
      <p:sp>
        <p:nvSpPr>
          <p:cNvPr id="7" name="Text 4"/>
          <p:cNvSpPr/>
          <p:nvPr/>
        </p:nvSpPr>
        <p:spPr>
          <a:xfrm>
            <a:off x="1554480" y="1737360"/>
            <a:ext cx="3840480" cy="64008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Read every diff</a:t>
            </a:r>
            <a:endParaRPr lang="en-US" sz="1300" dirty="0"/>
          </a:p>
        </p:txBody>
      </p:sp>
      <p:sp>
        <p:nvSpPr>
          <p:cNvPr id="8" name="Text 5"/>
          <p:cNvSpPr/>
          <p:nvPr/>
        </p:nvSpPr>
        <p:spPr>
          <a:xfrm>
            <a:off x="5486400" y="1737360"/>
            <a:ext cx="585216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Don't accept output without reading. The friction of reading is what catches the bugs. AI gets faster — your reading discipline shouldn't.</a:t>
            </a:r>
            <a:endParaRPr lang="en-US" sz="1150" dirty="0"/>
          </a:p>
        </p:txBody>
      </p:sp>
      <p:sp>
        <p:nvSpPr>
          <p:cNvPr id="9" name="Shape 6"/>
          <p:cNvSpPr/>
          <p:nvPr/>
        </p:nvSpPr>
        <p:spPr>
          <a:xfrm>
            <a:off x="777240" y="2560320"/>
            <a:ext cx="10607040" cy="713232"/>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679192"/>
            <a:ext cx="457200" cy="457200"/>
          </a:xfrm>
          <a:prstGeom prst="rect">
            <a:avLst/>
          </a:prstGeom>
        </p:spPr>
      </p:pic>
      <p:sp>
        <p:nvSpPr>
          <p:cNvPr id="11" name="Text 7"/>
          <p:cNvSpPr/>
          <p:nvPr/>
        </p:nvSpPr>
        <p:spPr>
          <a:xfrm>
            <a:off x="1554480" y="2606040"/>
            <a:ext cx="3840480" cy="64008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Give it project context</a:t>
            </a:r>
            <a:endParaRPr lang="en-US" sz="1300" dirty="0"/>
          </a:p>
        </p:txBody>
      </p:sp>
      <p:sp>
        <p:nvSpPr>
          <p:cNvPr id="12" name="Text 8"/>
          <p:cNvSpPr/>
          <p:nvPr/>
        </p:nvSpPr>
        <p:spPr>
          <a:xfrm>
            <a:off x="5486400" y="2606040"/>
            <a:ext cx="585216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AGENTS.md, CLAUDE.md, lint rules, conventions — all of these scope the AI's output to your codebase's reality.</a:t>
            </a:r>
            <a:endParaRPr lang="en-US" sz="1150" dirty="0"/>
          </a:p>
        </p:txBody>
      </p:sp>
      <p:sp>
        <p:nvSpPr>
          <p:cNvPr id="13" name="Shape 9"/>
          <p:cNvSpPr/>
          <p:nvPr/>
        </p:nvSpPr>
        <p:spPr>
          <a:xfrm>
            <a:off x="777240" y="3429000"/>
            <a:ext cx="10607040" cy="713232"/>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547872"/>
            <a:ext cx="457200" cy="457200"/>
          </a:xfrm>
          <a:prstGeom prst="rect">
            <a:avLst/>
          </a:prstGeom>
        </p:spPr>
      </p:pic>
      <p:sp>
        <p:nvSpPr>
          <p:cNvPr id="15" name="Text 10"/>
          <p:cNvSpPr/>
          <p:nvPr/>
        </p:nvSpPr>
        <p:spPr>
          <a:xfrm>
            <a:off x="1554480" y="3474720"/>
            <a:ext cx="3840480" cy="64008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Specify the contract, not the steps</a:t>
            </a:r>
            <a:endParaRPr lang="en-US" sz="1300" dirty="0"/>
          </a:p>
        </p:txBody>
      </p:sp>
      <p:sp>
        <p:nvSpPr>
          <p:cNvPr id="16" name="Text 11"/>
          <p:cNvSpPr/>
          <p:nvPr/>
        </p:nvSpPr>
        <p:spPr>
          <a:xfrm>
            <a:off x="5486400" y="3474720"/>
            <a:ext cx="585216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"This function takes X, returns Y, mutates nothing" beats "first do A, then B, then C". The AI is good at filling in the middle.</a:t>
            </a:r>
            <a:endParaRPr lang="en-US" sz="1150" dirty="0"/>
          </a:p>
        </p:txBody>
      </p:sp>
      <p:sp>
        <p:nvSpPr>
          <p:cNvPr id="17" name="Shape 12"/>
          <p:cNvSpPr/>
          <p:nvPr/>
        </p:nvSpPr>
        <p:spPr>
          <a:xfrm>
            <a:off x="777240" y="4297680"/>
            <a:ext cx="10607040" cy="713232"/>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4416552"/>
            <a:ext cx="457200" cy="457200"/>
          </a:xfrm>
          <a:prstGeom prst="rect">
            <a:avLst/>
          </a:prstGeom>
        </p:spPr>
      </p:pic>
      <p:sp>
        <p:nvSpPr>
          <p:cNvPr id="19" name="Text 13"/>
          <p:cNvSpPr/>
          <p:nvPr/>
        </p:nvSpPr>
        <p:spPr>
          <a:xfrm>
            <a:off x="1554480" y="4343400"/>
            <a:ext cx="3840480" cy="64008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Iterate small</a:t>
            </a:r>
            <a:endParaRPr lang="en-US" sz="1300" dirty="0"/>
          </a:p>
        </p:txBody>
      </p:sp>
      <p:sp>
        <p:nvSpPr>
          <p:cNvPr id="20" name="Text 14"/>
          <p:cNvSpPr/>
          <p:nvPr/>
        </p:nvSpPr>
        <p:spPr>
          <a:xfrm>
            <a:off x="5486400" y="4343400"/>
            <a:ext cx="585216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One hook, one component, one feature. Big batches mean big diffs you can't review. Small batches give the AI feedback in the loop.</a:t>
            </a:r>
            <a:endParaRPr lang="en-US" sz="1150" dirty="0"/>
          </a:p>
        </p:txBody>
      </p:sp>
      <p:sp>
        <p:nvSpPr>
          <p:cNvPr id="21" name="Shape 15"/>
          <p:cNvSpPr/>
          <p:nvPr/>
        </p:nvSpPr>
        <p:spPr>
          <a:xfrm>
            <a:off x="777240" y="5166360"/>
            <a:ext cx="10607040" cy="713232"/>
          </a:xfrm>
          <a:prstGeom prst="rect">
            <a:avLst/>
          </a:prstGeom>
          <a:solidFill>
            <a:srgbClr val="FFFFFF"/>
          </a:solidFill>
          <a:ln w="12700">
            <a:solidFill>
              <a:srgbClr val="E2E8F0"/>
            </a:solidFill>
            <a:prstDash val="solid"/>
          </a:ln>
        </p:spPr>
      </p:sp>
      <p:pic>
        <p:nvPicPr>
          <p:cNvPr id="22" name="Image 4" descr="preencoded.png">    </p:cNvPr>
          <p:cNvPicPr>
            <a:picLocks noChangeAspect="1"/>
          </p:cNvPicPr>
          <p:nvPr/>
        </p:nvPicPr>
        <p:blipFill>
          <a:blip r:embed="rId5"/>
          <a:stretch>
            <a:fillRect/>
          </a:stretch>
        </p:blipFill>
        <p:spPr>
          <a:xfrm>
            <a:off x="960120" y="5285232"/>
            <a:ext cx="457200" cy="457200"/>
          </a:xfrm>
          <a:prstGeom prst="rect">
            <a:avLst/>
          </a:prstGeom>
        </p:spPr>
      </p:pic>
      <p:sp>
        <p:nvSpPr>
          <p:cNvPr id="23" name="Text 16"/>
          <p:cNvSpPr/>
          <p:nvPr/>
        </p:nvSpPr>
        <p:spPr>
          <a:xfrm>
            <a:off x="1554480" y="5212080"/>
            <a:ext cx="3840480" cy="64008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Verify with running code, not just reading</a:t>
            </a:r>
            <a:endParaRPr lang="en-US" sz="1300" dirty="0"/>
          </a:p>
        </p:txBody>
      </p:sp>
      <p:sp>
        <p:nvSpPr>
          <p:cNvPr id="24" name="Text 17"/>
          <p:cNvSpPr/>
          <p:nvPr/>
        </p:nvSpPr>
        <p:spPr>
          <a:xfrm>
            <a:off x="5486400" y="5212080"/>
            <a:ext cx="585216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Tests, type checks, the dev server. Reading catches some mistakes; running catches the rest.</a:t>
            </a:r>
            <a:endParaRPr lang="en-US" sz="1150" dirty="0"/>
          </a:p>
        </p:txBody>
      </p:sp>
      <p:sp>
        <p:nvSpPr>
          <p:cNvPr id="25" name="Text 1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26" name="Text 1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4 / 29</a:t>
            </a:r>
            <a:endParaRPr lang="en-US" sz="90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Four tools, different shapes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Pick by workflow, not by hype. Most teams settle on one or two.</a:t>
            </a:r>
            <a:endParaRPr lang="en-US" sz="1400" dirty="0"/>
          </a:p>
        </p:txBody>
      </p:sp>
      <p:sp>
        <p:nvSpPr>
          <p:cNvPr id="5" name="Shape 3"/>
          <p:cNvSpPr/>
          <p:nvPr/>
        </p:nvSpPr>
        <p:spPr>
          <a:xfrm>
            <a:off x="777240" y="1691640"/>
            <a:ext cx="5212080" cy="1280160"/>
          </a:xfrm>
          <a:prstGeom prst="rect">
            <a:avLst/>
          </a:prstGeom>
          <a:solidFill>
            <a:srgbClr val="FFFFFF"/>
          </a:solidFill>
          <a:ln w="12700">
            <a:solidFill>
              <a:srgbClr val="E2E8F0"/>
            </a:solidFill>
            <a:prstDash val="solid"/>
          </a:ln>
        </p:spPr>
      </p:sp>
      <p:sp>
        <p:nvSpPr>
          <p:cNvPr id="6" name="Shape 4"/>
          <p:cNvSpPr/>
          <p:nvPr/>
        </p:nvSpPr>
        <p:spPr>
          <a:xfrm>
            <a:off x="777240" y="1691640"/>
            <a:ext cx="109728" cy="1280160"/>
          </a:xfrm>
          <a:prstGeom prst="rect">
            <a:avLst/>
          </a:prstGeom>
          <a:solidFill>
            <a:srgbClr val="00B8D9"/>
          </a:solidFill>
          <a:ln w="12700">
            <a:solidFill>
              <a:srgbClr val="00B8D9"/>
            </a:solidFill>
            <a:prstDash val="solid"/>
          </a:ln>
        </p:spPr>
      </p:sp>
      <p:sp>
        <p:nvSpPr>
          <p:cNvPr id="7" name="Text 5"/>
          <p:cNvSpPr/>
          <p:nvPr/>
        </p:nvSpPr>
        <p:spPr>
          <a:xfrm>
            <a:off x="1051560" y="1828800"/>
            <a:ext cx="4846320" cy="41148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Cursor</a:t>
            </a:r>
            <a:endParaRPr lang="en-US" sz="1800" dirty="0"/>
          </a:p>
        </p:txBody>
      </p:sp>
      <p:sp>
        <p:nvSpPr>
          <p:cNvPr id="8" name="Text 6"/>
          <p:cNvSpPr/>
          <p:nvPr/>
        </p:nvSpPr>
        <p:spPr>
          <a:xfrm>
            <a:off x="1051560" y="2286000"/>
            <a:ext cx="4846320" cy="64008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VS Code fork. Inline edits + agent panel. Diff-driven. Strong for editor-in-the-loop work.</a:t>
            </a:r>
            <a:endParaRPr lang="en-US" sz="1200" dirty="0"/>
          </a:p>
        </p:txBody>
      </p:sp>
      <p:sp>
        <p:nvSpPr>
          <p:cNvPr id="9" name="Shape 7"/>
          <p:cNvSpPr/>
          <p:nvPr/>
        </p:nvSpPr>
        <p:spPr>
          <a:xfrm>
            <a:off x="6126480" y="1691640"/>
            <a:ext cx="5212080" cy="1280160"/>
          </a:xfrm>
          <a:prstGeom prst="rect">
            <a:avLst/>
          </a:prstGeom>
          <a:solidFill>
            <a:srgbClr val="FFFFFF"/>
          </a:solidFill>
          <a:ln w="12700">
            <a:solidFill>
              <a:srgbClr val="E2E8F0"/>
            </a:solidFill>
            <a:prstDash val="solid"/>
          </a:ln>
        </p:spPr>
      </p:sp>
      <p:sp>
        <p:nvSpPr>
          <p:cNvPr id="10" name="Shape 8"/>
          <p:cNvSpPr/>
          <p:nvPr/>
        </p:nvSpPr>
        <p:spPr>
          <a:xfrm>
            <a:off x="6126480" y="1691640"/>
            <a:ext cx="109728" cy="1280160"/>
          </a:xfrm>
          <a:prstGeom prst="rect">
            <a:avLst/>
          </a:prstGeom>
          <a:solidFill>
            <a:srgbClr val="00B8D9"/>
          </a:solidFill>
          <a:ln w="12700">
            <a:solidFill>
              <a:srgbClr val="00B8D9"/>
            </a:solidFill>
            <a:prstDash val="solid"/>
          </a:ln>
        </p:spPr>
      </p:sp>
      <p:sp>
        <p:nvSpPr>
          <p:cNvPr id="11" name="Text 9"/>
          <p:cNvSpPr/>
          <p:nvPr/>
        </p:nvSpPr>
        <p:spPr>
          <a:xfrm>
            <a:off x="6400800" y="1828800"/>
            <a:ext cx="4846320" cy="41148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Claude Code</a:t>
            </a:r>
            <a:endParaRPr lang="en-US" sz="1800" dirty="0"/>
          </a:p>
        </p:txBody>
      </p:sp>
      <p:sp>
        <p:nvSpPr>
          <p:cNvPr id="12" name="Text 10"/>
          <p:cNvSpPr/>
          <p:nvPr/>
        </p:nvSpPr>
        <p:spPr>
          <a:xfrm>
            <a:off x="6400800" y="2286000"/>
            <a:ext cx="4846320" cy="64008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CLI agent. Reads/edits files, runs commands. Strong for long autonomous tasks.</a:t>
            </a:r>
            <a:endParaRPr lang="en-US" sz="1200" dirty="0"/>
          </a:p>
        </p:txBody>
      </p:sp>
      <p:sp>
        <p:nvSpPr>
          <p:cNvPr id="13" name="Shape 11"/>
          <p:cNvSpPr/>
          <p:nvPr/>
        </p:nvSpPr>
        <p:spPr>
          <a:xfrm>
            <a:off x="777240" y="3154680"/>
            <a:ext cx="5212080" cy="1280160"/>
          </a:xfrm>
          <a:prstGeom prst="rect">
            <a:avLst/>
          </a:prstGeom>
          <a:solidFill>
            <a:srgbClr val="FFFFFF"/>
          </a:solidFill>
          <a:ln w="12700">
            <a:solidFill>
              <a:srgbClr val="E2E8F0"/>
            </a:solidFill>
            <a:prstDash val="solid"/>
          </a:ln>
        </p:spPr>
      </p:sp>
      <p:sp>
        <p:nvSpPr>
          <p:cNvPr id="14" name="Shape 12"/>
          <p:cNvSpPr/>
          <p:nvPr/>
        </p:nvSpPr>
        <p:spPr>
          <a:xfrm>
            <a:off x="777240" y="3154680"/>
            <a:ext cx="109728" cy="1280160"/>
          </a:xfrm>
          <a:prstGeom prst="rect">
            <a:avLst/>
          </a:prstGeom>
          <a:solidFill>
            <a:srgbClr val="00B8D9"/>
          </a:solidFill>
          <a:ln w="12700">
            <a:solidFill>
              <a:srgbClr val="00B8D9"/>
            </a:solidFill>
            <a:prstDash val="solid"/>
          </a:ln>
        </p:spPr>
      </p:sp>
      <p:sp>
        <p:nvSpPr>
          <p:cNvPr id="15" name="Text 13"/>
          <p:cNvSpPr/>
          <p:nvPr/>
        </p:nvSpPr>
        <p:spPr>
          <a:xfrm>
            <a:off x="1051560" y="3291840"/>
            <a:ext cx="4846320" cy="41148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Copilot</a:t>
            </a:r>
            <a:endParaRPr lang="en-US" sz="1800" dirty="0"/>
          </a:p>
        </p:txBody>
      </p:sp>
      <p:sp>
        <p:nvSpPr>
          <p:cNvPr id="16" name="Text 14"/>
          <p:cNvSpPr/>
          <p:nvPr/>
        </p:nvSpPr>
        <p:spPr>
          <a:xfrm>
            <a:off x="1051560" y="3749040"/>
            <a:ext cx="4846320" cy="64008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GitHub-integrated. In-editor completions + chat. Strong for 'autocomplete on steroids'.</a:t>
            </a:r>
            <a:endParaRPr lang="en-US" sz="1200" dirty="0"/>
          </a:p>
        </p:txBody>
      </p:sp>
      <p:sp>
        <p:nvSpPr>
          <p:cNvPr id="17" name="Shape 15"/>
          <p:cNvSpPr/>
          <p:nvPr/>
        </p:nvSpPr>
        <p:spPr>
          <a:xfrm>
            <a:off x="6126480" y="3154680"/>
            <a:ext cx="5212080" cy="1280160"/>
          </a:xfrm>
          <a:prstGeom prst="rect">
            <a:avLst/>
          </a:prstGeom>
          <a:solidFill>
            <a:srgbClr val="FFFFFF"/>
          </a:solidFill>
          <a:ln w="12700">
            <a:solidFill>
              <a:srgbClr val="E2E8F0"/>
            </a:solidFill>
            <a:prstDash val="solid"/>
          </a:ln>
        </p:spPr>
      </p:sp>
      <p:sp>
        <p:nvSpPr>
          <p:cNvPr id="18" name="Shape 16"/>
          <p:cNvSpPr/>
          <p:nvPr/>
        </p:nvSpPr>
        <p:spPr>
          <a:xfrm>
            <a:off x="6126480" y="3154680"/>
            <a:ext cx="109728" cy="1280160"/>
          </a:xfrm>
          <a:prstGeom prst="rect">
            <a:avLst/>
          </a:prstGeom>
          <a:solidFill>
            <a:srgbClr val="00B8D9"/>
          </a:solidFill>
          <a:ln w="12700">
            <a:solidFill>
              <a:srgbClr val="00B8D9"/>
            </a:solidFill>
            <a:prstDash val="solid"/>
          </a:ln>
        </p:spPr>
      </p:sp>
      <p:sp>
        <p:nvSpPr>
          <p:cNvPr id="19" name="Text 17"/>
          <p:cNvSpPr/>
          <p:nvPr/>
        </p:nvSpPr>
        <p:spPr>
          <a:xfrm>
            <a:off x="6400800" y="3291840"/>
            <a:ext cx="4846320" cy="41148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Windsurf</a:t>
            </a:r>
            <a:endParaRPr lang="en-US" sz="1800" dirty="0"/>
          </a:p>
        </p:txBody>
      </p:sp>
      <p:sp>
        <p:nvSpPr>
          <p:cNvPr id="20" name="Text 18"/>
          <p:cNvSpPr/>
          <p:nvPr/>
        </p:nvSpPr>
        <p:spPr>
          <a:xfrm>
            <a:off x="6400800" y="3749040"/>
            <a:ext cx="4846320" cy="64008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IDE with agent + Cascade flow. Good middle ground between Cursor and CLI agents.</a:t>
            </a:r>
            <a:endParaRPr lang="en-US" sz="1200" dirty="0"/>
          </a:p>
        </p:txBody>
      </p:sp>
      <p:sp>
        <p:nvSpPr>
          <p:cNvPr id="21" name="Shape 19"/>
          <p:cNvSpPr/>
          <p:nvPr/>
        </p:nvSpPr>
        <p:spPr>
          <a:xfrm>
            <a:off x="777240" y="4754880"/>
            <a:ext cx="10607040" cy="1280160"/>
          </a:xfrm>
          <a:prstGeom prst="rect">
            <a:avLst/>
          </a:prstGeom>
          <a:solidFill>
            <a:srgbClr val="CBF1F6"/>
          </a:solidFill>
          <a:ln w="12700">
            <a:solidFill>
              <a:srgbClr val="CBF1F6"/>
            </a:solidFill>
            <a:prstDash val="solid"/>
          </a:ln>
        </p:spPr>
      </p:sp>
      <p:pic>
        <p:nvPicPr>
          <p:cNvPr id="22" name="Image 0" descr="preencoded.png">    </p:cNvPr>
          <p:cNvPicPr>
            <a:picLocks noChangeAspect="1"/>
          </p:cNvPicPr>
          <p:nvPr/>
        </p:nvPicPr>
        <p:blipFill>
          <a:blip r:embed="rId1"/>
          <a:stretch>
            <a:fillRect/>
          </a:stretch>
        </p:blipFill>
        <p:spPr>
          <a:xfrm>
            <a:off x="1005840" y="5074920"/>
            <a:ext cx="640080" cy="640080"/>
          </a:xfrm>
          <a:prstGeom prst="rect">
            <a:avLst/>
          </a:prstGeom>
        </p:spPr>
      </p:pic>
      <p:sp>
        <p:nvSpPr>
          <p:cNvPr id="23" name="Text 20"/>
          <p:cNvSpPr/>
          <p:nvPr/>
        </p:nvSpPr>
        <p:spPr>
          <a:xfrm>
            <a:off x="1828800" y="4800600"/>
            <a:ext cx="9418320" cy="123444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All four use similar underlying models. The differences are workflow surface, not capability ceiling. Pick what fits how you actually work.</a:t>
            </a:r>
            <a:endParaRPr lang="en-US" sz="1300" dirty="0"/>
          </a:p>
        </p:txBody>
      </p:sp>
      <p:sp>
        <p:nvSpPr>
          <p:cNvPr id="24" name="Text 2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25" name="Text 2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5 / 29</a:t>
            </a:r>
            <a:endParaRPr lang="en-US" sz="90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Editor-in-the-loop vs agent-in-the-loop</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Two workflow modes. They suit different tasks.</a:t>
            </a:r>
            <a:endParaRPr lang="en-US" sz="1400" dirty="0"/>
          </a:p>
        </p:txBody>
      </p:sp>
      <p:sp>
        <p:nvSpPr>
          <p:cNvPr id="5" name="Shape 3"/>
          <p:cNvSpPr/>
          <p:nvPr/>
        </p:nvSpPr>
        <p:spPr>
          <a:xfrm>
            <a:off x="777240" y="1691640"/>
            <a:ext cx="5349240" cy="4297680"/>
          </a:xfrm>
          <a:prstGeom prst="rect">
            <a:avLst/>
          </a:prstGeom>
          <a:solidFill>
            <a:srgbClr val="FFFFFF"/>
          </a:solidFill>
          <a:ln w="12700">
            <a:solidFill>
              <a:srgbClr val="E2E8F0"/>
            </a:solidFill>
            <a:prstDash val="solid"/>
          </a:ln>
        </p:spPr>
      </p:sp>
      <p:sp>
        <p:nvSpPr>
          <p:cNvPr id="6" name="Text 4"/>
          <p:cNvSpPr/>
          <p:nvPr/>
        </p:nvSpPr>
        <p:spPr>
          <a:xfrm>
            <a:off x="960120" y="1874520"/>
            <a:ext cx="5029200" cy="457200"/>
          </a:xfrm>
          <a:prstGeom prst="rect">
            <a:avLst/>
          </a:prstGeom>
          <a:noFill/>
          <a:ln/>
        </p:spPr>
        <p:txBody>
          <a:bodyPr wrap="square" lIns="0" tIns="0" rIns="0" bIns="0" rtlCol="0" anchor="ctr"/>
          <a:lstStyle/>
          <a:p>
            <a:pPr indent="0" marL="0">
              <a:buNone/>
            </a:pPr>
            <a:r>
              <a:rPr lang="en-US" sz="1800" b="1" dirty="0">
                <a:solidFill>
                  <a:srgbClr val="00B8D9"/>
                </a:solidFill>
                <a:latin typeface="Trebuchet MS" pitchFamily="34" charset="0"/>
                <a:ea typeface="Trebuchet MS" pitchFamily="34" charset="-122"/>
                <a:cs typeface="Trebuchet MS" pitchFamily="34" charset="-120"/>
              </a:rPr>
              <a:t>Editor-in-the-loop</a:t>
            </a:r>
            <a:endParaRPr lang="en-US" sz="1800" dirty="0"/>
          </a:p>
        </p:txBody>
      </p:sp>
      <p:sp>
        <p:nvSpPr>
          <p:cNvPr id="7" name="Text 5"/>
          <p:cNvSpPr/>
          <p:nvPr/>
        </p:nvSpPr>
        <p:spPr>
          <a:xfrm>
            <a:off x="960120" y="2468880"/>
            <a:ext cx="4937760" cy="365760"/>
          </a:xfrm>
          <a:prstGeom prst="rect">
            <a:avLst/>
          </a:prstGeom>
          <a:noFill/>
          <a:ln/>
        </p:spPr>
        <p:txBody>
          <a:bodyPr wrap="square" lIns="0" tIns="0" rIns="0" bIns="0" rtlCol="0" anchor="ctr"/>
          <a:lstStyle/>
          <a:p>
            <a:pPr indent="0" marL="0">
              <a:buNone/>
            </a:pPr>
            <a:r>
              <a:rPr lang="en-US" sz="1300" i="1" dirty="0">
                <a:solidFill>
                  <a:srgbClr val="475569"/>
                </a:solidFill>
                <a:latin typeface="Arial" pitchFamily="34" charset="0"/>
                <a:ea typeface="Arial" pitchFamily="34" charset="-122"/>
                <a:cs typeface="Arial" pitchFamily="34" charset="-120"/>
              </a:rPr>
              <a:t>You drive; AI suggests.</a:t>
            </a:r>
            <a:endParaRPr lang="en-US" sz="1300" dirty="0"/>
          </a:p>
        </p:txBody>
      </p:sp>
      <p:sp>
        <p:nvSpPr>
          <p:cNvPr id="8" name="Text 6"/>
          <p:cNvSpPr/>
          <p:nvPr/>
        </p:nvSpPr>
        <p:spPr>
          <a:xfrm>
            <a:off x="960120" y="2971800"/>
            <a:ext cx="4937760" cy="2743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Inline completions + small edits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Tight loop — read, accept/reject, continue</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Best for: well-understood code, refactors with clear intent, single-file changes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Tools: Cursor, Copilot, IDE chat panels</a:t>
            </a:r>
            <a:endParaRPr lang="en-US" sz="1200" dirty="0"/>
          </a:p>
        </p:txBody>
      </p:sp>
      <p:sp>
        <p:nvSpPr>
          <p:cNvPr id="9" name="Shape 7"/>
          <p:cNvSpPr/>
          <p:nvPr/>
        </p:nvSpPr>
        <p:spPr>
          <a:xfrm>
            <a:off x="6355080" y="1691640"/>
            <a:ext cx="5029200" cy="4297680"/>
          </a:xfrm>
          <a:prstGeom prst="rect">
            <a:avLst/>
          </a:prstGeom>
          <a:solidFill>
            <a:srgbClr val="FFFFFF"/>
          </a:solidFill>
          <a:ln w="12700">
            <a:solidFill>
              <a:srgbClr val="E2E8F0"/>
            </a:solidFill>
            <a:prstDash val="solid"/>
          </a:ln>
        </p:spPr>
      </p:sp>
      <p:sp>
        <p:nvSpPr>
          <p:cNvPr id="10" name="Text 8"/>
          <p:cNvSpPr/>
          <p:nvPr/>
        </p:nvSpPr>
        <p:spPr>
          <a:xfrm>
            <a:off x="6537960" y="1874520"/>
            <a:ext cx="4754880" cy="457200"/>
          </a:xfrm>
          <a:prstGeom prst="rect">
            <a:avLst/>
          </a:prstGeom>
          <a:noFill/>
          <a:ln/>
        </p:spPr>
        <p:txBody>
          <a:bodyPr wrap="square" lIns="0" tIns="0" rIns="0" bIns="0" rtlCol="0" anchor="ctr"/>
          <a:lstStyle/>
          <a:p>
            <a:pPr indent="0" marL="0">
              <a:buNone/>
            </a:pPr>
            <a:r>
              <a:rPr lang="en-US" sz="1800" b="1" dirty="0">
                <a:solidFill>
                  <a:srgbClr val="00B8D9"/>
                </a:solidFill>
                <a:latin typeface="Trebuchet MS" pitchFamily="34" charset="0"/>
                <a:ea typeface="Trebuchet MS" pitchFamily="34" charset="-122"/>
                <a:cs typeface="Trebuchet MS" pitchFamily="34" charset="-120"/>
              </a:rPr>
              <a:t>Agent-in-the-loop</a:t>
            </a:r>
            <a:endParaRPr lang="en-US" sz="1800" dirty="0"/>
          </a:p>
        </p:txBody>
      </p:sp>
      <p:sp>
        <p:nvSpPr>
          <p:cNvPr id="11" name="Text 9"/>
          <p:cNvSpPr/>
          <p:nvPr/>
        </p:nvSpPr>
        <p:spPr>
          <a:xfrm>
            <a:off x="6537960" y="2468880"/>
            <a:ext cx="4663440" cy="365760"/>
          </a:xfrm>
          <a:prstGeom prst="rect">
            <a:avLst/>
          </a:prstGeom>
          <a:noFill/>
          <a:ln/>
        </p:spPr>
        <p:txBody>
          <a:bodyPr wrap="square" lIns="0" tIns="0" rIns="0" bIns="0" rtlCol="0" anchor="ctr"/>
          <a:lstStyle/>
          <a:p>
            <a:pPr indent="0" marL="0">
              <a:buNone/>
            </a:pPr>
            <a:r>
              <a:rPr lang="en-US" sz="1300" i="1" dirty="0">
                <a:solidFill>
                  <a:srgbClr val="475569"/>
                </a:solidFill>
                <a:latin typeface="Arial" pitchFamily="34" charset="0"/>
                <a:ea typeface="Arial" pitchFamily="34" charset="-122"/>
                <a:cs typeface="Arial" pitchFamily="34" charset="-120"/>
              </a:rPr>
              <a:t>You spec; AI executes.</a:t>
            </a:r>
            <a:endParaRPr lang="en-US" sz="1300" dirty="0"/>
          </a:p>
        </p:txBody>
      </p:sp>
      <p:sp>
        <p:nvSpPr>
          <p:cNvPr id="12" name="Text 10"/>
          <p:cNvSpPr/>
          <p:nvPr/>
        </p:nvSpPr>
        <p:spPr>
          <a:xfrm>
            <a:off x="6537960" y="2971800"/>
            <a:ext cx="4663440" cy="2743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Multi-file changes, tool use, autonomous loops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Loop is longer — minutes, not seconds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Best for: greenfield features, repetitive edits across many files, migrations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Tools: Claude Code, Cursor agent mode, Windsurf Cascade</a:t>
            </a:r>
            <a:endParaRPr lang="en-US" sz="1200" dirty="0"/>
          </a:p>
        </p:txBody>
      </p:sp>
      <p:sp>
        <p:nvSpPr>
          <p:cNvPr id="13" name="Text 1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14" name="Text 1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6 / 29</a:t>
            </a:r>
            <a:endParaRPr lang="en-US" sz="90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7">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2</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Taxonomy of Mistakes</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Six categories. The same patterns across every tool.</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Six recurring mistake categories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The same six show up regardless of which AI tool you use.</a:t>
            </a:r>
            <a:endParaRPr lang="en-US" sz="1400" dirty="0"/>
          </a:p>
        </p:txBody>
      </p:sp>
      <p:sp>
        <p:nvSpPr>
          <p:cNvPr id="5" name="Shape 3"/>
          <p:cNvSpPr/>
          <p:nvPr/>
        </p:nvSpPr>
        <p:spPr>
          <a:xfrm>
            <a:off x="777240" y="1691640"/>
            <a:ext cx="10607040" cy="603504"/>
          </a:xfrm>
          <a:prstGeom prst="rect">
            <a:avLst/>
          </a:prstGeom>
          <a:solidFill>
            <a:srgbClr val="FFFFFF"/>
          </a:solidFill>
          <a:ln w="12700">
            <a:solidFill>
              <a:srgbClr val="E2E8F0"/>
            </a:solidFill>
            <a:prstDash val="solid"/>
          </a:ln>
        </p:spPr>
      </p:sp>
      <p:sp>
        <p:nvSpPr>
          <p:cNvPr id="6" name="Shape 4"/>
          <p:cNvSpPr/>
          <p:nvPr/>
        </p:nvSpPr>
        <p:spPr>
          <a:xfrm>
            <a:off x="960120" y="1810512"/>
            <a:ext cx="365760" cy="365760"/>
          </a:xfrm>
          <a:prstGeom prst="ellipse">
            <a:avLst/>
          </a:prstGeom>
          <a:solidFill>
            <a:srgbClr val="00B8D9"/>
          </a:solidFill>
          <a:ln w="12700">
            <a:solidFill>
              <a:srgbClr val="00B8D9"/>
            </a:solidFill>
            <a:prstDash val="solid"/>
          </a:ln>
        </p:spPr>
      </p:sp>
      <p:sp>
        <p:nvSpPr>
          <p:cNvPr id="7" name="Text 5"/>
          <p:cNvSpPr/>
          <p:nvPr/>
        </p:nvSpPr>
        <p:spPr>
          <a:xfrm>
            <a:off x="960120" y="181051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1</a:t>
            </a:r>
            <a:endParaRPr lang="en-US" sz="1200" dirty="0"/>
          </a:p>
        </p:txBody>
      </p:sp>
      <p:sp>
        <p:nvSpPr>
          <p:cNvPr id="8" name="Text 6"/>
          <p:cNvSpPr/>
          <p:nvPr/>
        </p:nvSpPr>
        <p:spPr>
          <a:xfrm>
            <a:off x="1463040" y="1737360"/>
            <a:ext cx="4114800" cy="5029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Stale closures and missing deps</a:t>
            </a:r>
            <a:endParaRPr lang="en-US" sz="1250" dirty="0"/>
          </a:p>
        </p:txBody>
      </p:sp>
      <p:sp>
        <p:nvSpPr>
          <p:cNvPr id="9" name="Text 7"/>
          <p:cNvSpPr/>
          <p:nvPr/>
        </p:nvSpPr>
        <p:spPr>
          <a:xfrm>
            <a:off x="5669280" y="1737360"/>
            <a:ext cx="56692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Effects that capture old values. Always the top of the list.</a:t>
            </a:r>
            <a:endParaRPr lang="en-US" sz="1150" dirty="0"/>
          </a:p>
        </p:txBody>
      </p:sp>
      <p:sp>
        <p:nvSpPr>
          <p:cNvPr id="10" name="Shape 8"/>
          <p:cNvSpPr/>
          <p:nvPr/>
        </p:nvSpPr>
        <p:spPr>
          <a:xfrm>
            <a:off x="777240" y="2404872"/>
            <a:ext cx="10607040" cy="603504"/>
          </a:xfrm>
          <a:prstGeom prst="rect">
            <a:avLst/>
          </a:prstGeom>
          <a:solidFill>
            <a:srgbClr val="FFFFFF"/>
          </a:solidFill>
          <a:ln w="12700">
            <a:solidFill>
              <a:srgbClr val="E2E8F0"/>
            </a:solidFill>
            <a:prstDash val="solid"/>
          </a:ln>
        </p:spPr>
      </p:sp>
      <p:sp>
        <p:nvSpPr>
          <p:cNvPr id="11" name="Shape 9"/>
          <p:cNvSpPr/>
          <p:nvPr/>
        </p:nvSpPr>
        <p:spPr>
          <a:xfrm>
            <a:off x="960120" y="2523744"/>
            <a:ext cx="365760" cy="365760"/>
          </a:xfrm>
          <a:prstGeom prst="ellipse">
            <a:avLst/>
          </a:prstGeom>
          <a:solidFill>
            <a:srgbClr val="00B8D9"/>
          </a:solidFill>
          <a:ln w="12700">
            <a:solidFill>
              <a:srgbClr val="00B8D9"/>
            </a:solidFill>
            <a:prstDash val="solid"/>
          </a:ln>
        </p:spPr>
      </p:sp>
      <p:sp>
        <p:nvSpPr>
          <p:cNvPr id="12" name="Text 10"/>
          <p:cNvSpPr/>
          <p:nvPr/>
        </p:nvSpPr>
        <p:spPr>
          <a:xfrm>
            <a:off x="960120" y="25237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2</a:t>
            </a:r>
            <a:endParaRPr lang="en-US" sz="1200" dirty="0"/>
          </a:p>
        </p:txBody>
      </p:sp>
      <p:sp>
        <p:nvSpPr>
          <p:cNvPr id="13" name="Text 11"/>
          <p:cNvSpPr/>
          <p:nvPr/>
        </p:nvSpPr>
        <p:spPr>
          <a:xfrm>
            <a:off x="1463040" y="2450592"/>
            <a:ext cx="4114800" cy="5029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useEffect for things that aren't effects</a:t>
            </a:r>
            <a:endParaRPr lang="en-US" sz="1250" dirty="0"/>
          </a:p>
        </p:txBody>
      </p:sp>
      <p:sp>
        <p:nvSpPr>
          <p:cNvPr id="14" name="Text 12"/>
          <p:cNvSpPr/>
          <p:nvPr/>
        </p:nvSpPr>
        <p:spPr>
          <a:xfrm>
            <a:off x="5669280" y="2450592"/>
            <a:ext cx="56692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Derived state, prop synchronization, event-triggered actions.</a:t>
            </a:r>
            <a:endParaRPr lang="en-US" sz="1150" dirty="0"/>
          </a:p>
        </p:txBody>
      </p:sp>
      <p:sp>
        <p:nvSpPr>
          <p:cNvPr id="15" name="Shape 13"/>
          <p:cNvSpPr/>
          <p:nvPr/>
        </p:nvSpPr>
        <p:spPr>
          <a:xfrm>
            <a:off x="777240" y="3118104"/>
            <a:ext cx="10607040" cy="603504"/>
          </a:xfrm>
          <a:prstGeom prst="rect">
            <a:avLst/>
          </a:prstGeom>
          <a:solidFill>
            <a:srgbClr val="FFFFFF"/>
          </a:solidFill>
          <a:ln w="12700">
            <a:solidFill>
              <a:srgbClr val="E2E8F0"/>
            </a:solidFill>
            <a:prstDash val="solid"/>
          </a:ln>
        </p:spPr>
      </p:sp>
      <p:sp>
        <p:nvSpPr>
          <p:cNvPr id="16" name="Shape 14"/>
          <p:cNvSpPr/>
          <p:nvPr/>
        </p:nvSpPr>
        <p:spPr>
          <a:xfrm>
            <a:off x="960120" y="3236976"/>
            <a:ext cx="365760" cy="365760"/>
          </a:xfrm>
          <a:prstGeom prst="ellipse">
            <a:avLst/>
          </a:prstGeom>
          <a:solidFill>
            <a:srgbClr val="00B8D9"/>
          </a:solidFill>
          <a:ln w="12700">
            <a:solidFill>
              <a:srgbClr val="00B8D9"/>
            </a:solidFill>
            <a:prstDash val="solid"/>
          </a:ln>
        </p:spPr>
      </p:sp>
      <p:sp>
        <p:nvSpPr>
          <p:cNvPr id="17" name="Text 15"/>
          <p:cNvSpPr/>
          <p:nvPr/>
        </p:nvSpPr>
        <p:spPr>
          <a:xfrm>
            <a:off x="960120" y="32369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3</a:t>
            </a:r>
            <a:endParaRPr lang="en-US" sz="1200" dirty="0"/>
          </a:p>
        </p:txBody>
      </p:sp>
      <p:sp>
        <p:nvSpPr>
          <p:cNvPr id="18" name="Text 16"/>
          <p:cNvSpPr/>
          <p:nvPr/>
        </p:nvSpPr>
        <p:spPr>
          <a:xfrm>
            <a:off x="1463040" y="3163824"/>
            <a:ext cx="4114800" cy="5029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Server/client boundary violations</a:t>
            </a:r>
            <a:endParaRPr lang="en-US" sz="1250" dirty="0"/>
          </a:p>
        </p:txBody>
      </p:sp>
      <p:sp>
        <p:nvSpPr>
          <p:cNvPr id="19" name="Text 17"/>
          <p:cNvSpPr/>
          <p:nvPr/>
        </p:nvSpPr>
        <p:spPr>
          <a:xfrm>
            <a:off x="5669280" y="3163824"/>
            <a:ext cx="56692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'use client' as escape hatch, server imports leaking, non-serializable props.</a:t>
            </a:r>
            <a:endParaRPr lang="en-US" sz="1150" dirty="0"/>
          </a:p>
        </p:txBody>
      </p:sp>
      <p:sp>
        <p:nvSpPr>
          <p:cNvPr id="20" name="Shape 18"/>
          <p:cNvSpPr/>
          <p:nvPr/>
        </p:nvSpPr>
        <p:spPr>
          <a:xfrm>
            <a:off x="777240" y="3831336"/>
            <a:ext cx="10607040" cy="603504"/>
          </a:xfrm>
          <a:prstGeom prst="rect">
            <a:avLst/>
          </a:prstGeom>
          <a:solidFill>
            <a:srgbClr val="FFFFFF"/>
          </a:solidFill>
          <a:ln w="12700">
            <a:solidFill>
              <a:srgbClr val="E2E8F0"/>
            </a:solidFill>
            <a:prstDash val="solid"/>
          </a:ln>
        </p:spPr>
      </p:sp>
      <p:sp>
        <p:nvSpPr>
          <p:cNvPr id="21" name="Shape 19"/>
          <p:cNvSpPr/>
          <p:nvPr/>
        </p:nvSpPr>
        <p:spPr>
          <a:xfrm>
            <a:off x="960120" y="3950208"/>
            <a:ext cx="365760" cy="365760"/>
          </a:xfrm>
          <a:prstGeom prst="ellipse">
            <a:avLst/>
          </a:prstGeom>
          <a:solidFill>
            <a:srgbClr val="00B8D9"/>
          </a:solidFill>
          <a:ln w="12700">
            <a:solidFill>
              <a:srgbClr val="00B8D9"/>
            </a:solidFill>
            <a:prstDash val="solid"/>
          </a:ln>
        </p:spPr>
      </p:sp>
      <p:sp>
        <p:nvSpPr>
          <p:cNvPr id="22" name="Text 20"/>
          <p:cNvSpPr/>
          <p:nvPr/>
        </p:nvSpPr>
        <p:spPr>
          <a:xfrm>
            <a:off x="960120" y="39502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4</a:t>
            </a:r>
            <a:endParaRPr lang="en-US" sz="1200" dirty="0"/>
          </a:p>
        </p:txBody>
      </p:sp>
      <p:sp>
        <p:nvSpPr>
          <p:cNvPr id="23" name="Text 21"/>
          <p:cNvSpPr/>
          <p:nvPr/>
        </p:nvSpPr>
        <p:spPr>
          <a:xfrm>
            <a:off x="1463040" y="3877056"/>
            <a:ext cx="4114800" cy="5029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Hydration mismatches</a:t>
            </a:r>
            <a:endParaRPr lang="en-US" sz="1250" dirty="0"/>
          </a:p>
        </p:txBody>
      </p:sp>
      <p:sp>
        <p:nvSpPr>
          <p:cNvPr id="24" name="Text 22"/>
          <p:cNvSpPr/>
          <p:nvPr/>
        </p:nvSpPr>
        <p:spPr>
          <a:xfrm>
            <a:off x="5669280" y="3877056"/>
            <a:ext cx="56692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Date.now(), Math.random(), navigator checks during render.</a:t>
            </a:r>
            <a:endParaRPr lang="en-US" sz="1150" dirty="0"/>
          </a:p>
        </p:txBody>
      </p:sp>
      <p:sp>
        <p:nvSpPr>
          <p:cNvPr id="25" name="Shape 23"/>
          <p:cNvSpPr/>
          <p:nvPr/>
        </p:nvSpPr>
        <p:spPr>
          <a:xfrm>
            <a:off x="777240" y="4544568"/>
            <a:ext cx="10607040" cy="603504"/>
          </a:xfrm>
          <a:prstGeom prst="rect">
            <a:avLst/>
          </a:prstGeom>
          <a:solidFill>
            <a:srgbClr val="FFFFFF"/>
          </a:solidFill>
          <a:ln w="12700">
            <a:solidFill>
              <a:srgbClr val="E2E8F0"/>
            </a:solidFill>
            <a:prstDash val="solid"/>
          </a:ln>
        </p:spPr>
      </p:sp>
      <p:sp>
        <p:nvSpPr>
          <p:cNvPr id="26" name="Shape 24"/>
          <p:cNvSpPr/>
          <p:nvPr/>
        </p:nvSpPr>
        <p:spPr>
          <a:xfrm>
            <a:off x="960120" y="4663440"/>
            <a:ext cx="365760" cy="365760"/>
          </a:xfrm>
          <a:prstGeom prst="ellipse">
            <a:avLst/>
          </a:prstGeom>
          <a:solidFill>
            <a:srgbClr val="00B8D9"/>
          </a:solidFill>
          <a:ln w="12700">
            <a:solidFill>
              <a:srgbClr val="00B8D9"/>
            </a:solidFill>
            <a:prstDash val="solid"/>
          </a:ln>
        </p:spPr>
      </p:sp>
      <p:sp>
        <p:nvSpPr>
          <p:cNvPr id="27" name="Text 25"/>
          <p:cNvSpPr/>
          <p:nvPr/>
        </p:nvSpPr>
        <p:spPr>
          <a:xfrm>
            <a:off x="960120" y="46634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5</a:t>
            </a:r>
            <a:endParaRPr lang="en-US" sz="1200" dirty="0"/>
          </a:p>
        </p:txBody>
      </p:sp>
      <p:sp>
        <p:nvSpPr>
          <p:cNvPr id="28" name="Text 26"/>
          <p:cNvSpPr/>
          <p:nvPr/>
        </p:nvSpPr>
        <p:spPr>
          <a:xfrm>
            <a:off x="1463040" y="4590288"/>
            <a:ext cx="4114800" cy="5029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Outdated patterns from training data</a:t>
            </a:r>
            <a:endParaRPr lang="en-US" sz="1250" dirty="0"/>
          </a:p>
        </p:txBody>
      </p:sp>
      <p:sp>
        <p:nvSpPr>
          <p:cNvPr id="29" name="Text 27"/>
          <p:cNvSpPr/>
          <p:nvPr/>
        </p:nvSpPr>
        <p:spPr>
          <a:xfrm>
            <a:off x="5669280" y="4590288"/>
            <a:ext cx="56692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v6 React Router, Pages-Router Next.js, class components, Redux without Toolkit.</a:t>
            </a:r>
            <a:endParaRPr lang="en-US" sz="1150" dirty="0"/>
          </a:p>
        </p:txBody>
      </p:sp>
      <p:sp>
        <p:nvSpPr>
          <p:cNvPr id="30" name="Shape 28"/>
          <p:cNvSpPr/>
          <p:nvPr/>
        </p:nvSpPr>
        <p:spPr>
          <a:xfrm>
            <a:off x="777240" y="5257800"/>
            <a:ext cx="10607040" cy="603504"/>
          </a:xfrm>
          <a:prstGeom prst="rect">
            <a:avLst/>
          </a:prstGeom>
          <a:solidFill>
            <a:srgbClr val="FFFFFF"/>
          </a:solidFill>
          <a:ln w="12700">
            <a:solidFill>
              <a:srgbClr val="E2E8F0"/>
            </a:solidFill>
            <a:prstDash val="solid"/>
          </a:ln>
        </p:spPr>
      </p:sp>
      <p:sp>
        <p:nvSpPr>
          <p:cNvPr id="31" name="Shape 29"/>
          <p:cNvSpPr/>
          <p:nvPr/>
        </p:nvSpPr>
        <p:spPr>
          <a:xfrm>
            <a:off x="960120" y="5376672"/>
            <a:ext cx="365760" cy="365760"/>
          </a:xfrm>
          <a:prstGeom prst="ellipse">
            <a:avLst/>
          </a:prstGeom>
          <a:solidFill>
            <a:srgbClr val="00B8D9"/>
          </a:solidFill>
          <a:ln w="12700">
            <a:solidFill>
              <a:srgbClr val="00B8D9"/>
            </a:solidFill>
            <a:prstDash val="solid"/>
          </a:ln>
        </p:spPr>
      </p:sp>
      <p:sp>
        <p:nvSpPr>
          <p:cNvPr id="32" name="Text 30"/>
          <p:cNvSpPr/>
          <p:nvPr/>
        </p:nvSpPr>
        <p:spPr>
          <a:xfrm>
            <a:off x="960120" y="5376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6</a:t>
            </a:r>
            <a:endParaRPr lang="en-US" sz="1200" dirty="0"/>
          </a:p>
        </p:txBody>
      </p:sp>
      <p:sp>
        <p:nvSpPr>
          <p:cNvPr id="33" name="Text 31"/>
          <p:cNvSpPr/>
          <p:nvPr/>
        </p:nvSpPr>
        <p:spPr>
          <a:xfrm>
            <a:off x="1463040" y="5303520"/>
            <a:ext cx="4114800" cy="5029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Test coupling and accessibility skips</a:t>
            </a:r>
            <a:endParaRPr lang="en-US" sz="1250" dirty="0"/>
          </a:p>
        </p:txBody>
      </p:sp>
      <p:sp>
        <p:nvSpPr>
          <p:cNvPr id="34" name="Text 32"/>
          <p:cNvSpPr/>
          <p:nvPr/>
        </p:nvSpPr>
        <p:spPr>
          <a:xfrm>
            <a:off x="5669280" y="5303520"/>
            <a:ext cx="56692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getByTestId, fireEvent, snapshot tests, spying on hooks.</a:t>
            </a:r>
            <a:endParaRPr lang="en-US" sz="1150" dirty="0"/>
          </a:p>
        </p:txBody>
      </p:sp>
      <p:sp>
        <p:nvSpPr>
          <p:cNvPr id="35" name="Text 33"/>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36" name="Text 34"/>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8 / 29</a:t>
            </a:r>
            <a:endParaRPr lang="en-US" sz="90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1. Stale closures and missing deps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The most common AI-generated React bug. Eslint catches most; some slip through.</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300" b="1" dirty="0">
                <a:solidFill>
                  <a:srgbClr val="DC2626"/>
                </a:solidFill>
                <a:latin typeface="Trebuchet MS" pitchFamily="34" charset="0"/>
                <a:ea typeface="Trebuchet MS" pitchFamily="34" charset="-122"/>
                <a:cs typeface="Trebuchet MS" pitchFamily="34" charset="-120"/>
              </a:rPr>
              <a:t>Anti-pattern</a:t>
            </a:r>
            <a:endParaRPr lang="en-US" sz="1300" dirty="0"/>
          </a:p>
        </p:txBody>
      </p:sp>
      <p:sp>
        <p:nvSpPr>
          <p:cNvPr id="6" name="Shape 4"/>
          <p:cNvSpPr/>
          <p:nvPr/>
        </p:nvSpPr>
        <p:spPr>
          <a:xfrm>
            <a:off x="777240" y="1920240"/>
            <a:ext cx="5349240" cy="3108960"/>
          </a:xfrm>
          <a:prstGeom prst="rect">
            <a:avLst/>
          </a:prstGeom>
          <a:solidFill>
            <a:srgbClr val="1E2A47"/>
          </a:solidFill>
          <a:ln w="12700">
            <a:solidFill>
              <a:srgbClr val="1E2A47"/>
            </a:solidFill>
            <a:prstDash val="solid"/>
          </a:ln>
        </p:spPr>
      </p:sp>
      <p:sp>
        <p:nvSpPr>
          <p:cNvPr id="7" name="Text 5"/>
          <p:cNvSpPr/>
          <p:nvPr/>
        </p:nvSpPr>
        <p:spPr>
          <a:xfrm>
            <a:off x="960120" y="2057400"/>
            <a:ext cx="4983480" cy="2834640"/>
          </a:xfrm>
          <a:prstGeom prst="rect">
            <a:avLst/>
          </a:prstGeom>
          <a:noFill/>
          <a:ln/>
        </p:spPr>
        <p:txBody>
          <a:bodyPr wrap="square" lIns="0" tIns="0" rIns="0" bIns="0" rtlCol="0" anchor="t"/>
          <a:lstStyle/>
          <a:p>
            <a:pPr indent="0" marL="0">
              <a:buNone/>
            </a:pPr>
            <a:r>
              <a:rPr lang="en-US" sz="1200" dirty="0">
                <a:solidFill>
                  <a:srgbClr val="DCDCAA"/>
                </a:solidFill>
                <a:latin typeface="Courier New" pitchFamily="34" charset="0"/>
                <a:ea typeface="Courier New" pitchFamily="34" charset="-122"/>
                <a:cs typeface="Courier New" pitchFamily="34" charset="-120"/>
              </a:rPr>
              <a:t>useEffect</a:t>
            </a:r>
            <a:pPr indent="0" marL="0">
              <a:buNone/>
            </a:pPr>
            <a:r>
              <a:rPr lang="en-US" sz="1200" dirty="0">
                <a:solidFill>
                  <a:srgbClr val="FFFFFF"/>
                </a:solidFill>
                <a:latin typeface="Courier New" pitchFamily="34" charset="0"/>
                <a:ea typeface="Courier New" pitchFamily="34" charset="-122"/>
                <a:cs typeface="Courier New" pitchFamily="34" charset="-120"/>
              </a:rPr>
              <a:t>(() =&gt;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id = setInterval(() =&gt;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console.log(count);  </a:t>
            </a:r>
            <a:pPr indent="0" marL="0">
              <a:buNone/>
            </a:pPr>
            <a:r>
              <a:rPr lang="en-US" sz="1200" i="1" dirty="0">
                <a:solidFill>
                  <a:srgbClr val="6A9955"/>
                </a:solidFill>
                <a:latin typeface="Courier New" pitchFamily="34" charset="0"/>
                <a:ea typeface="Courier New" pitchFamily="34" charset="-122"/>
                <a:cs typeface="Courier New" pitchFamily="34" charset="-120"/>
              </a:rPr>
              <a:t>// always 0</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 </a:t>
            </a:r>
            <a:pPr indent="0" marL="0">
              <a:buNone/>
            </a:pPr>
            <a:r>
              <a:rPr lang="en-US" sz="1200" dirty="0">
                <a:solidFill>
                  <a:srgbClr val="9CDCFE"/>
                </a:solidFill>
                <a:latin typeface="Courier New" pitchFamily="34" charset="0"/>
                <a:ea typeface="Courier New" pitchFamily="34" charset="-122"/>
                <a:cs typeface="Courier New" pitchFamily="34" charset="-120"/>
              </a:rPr>
              <a:t>1000</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 =&gt; clearInterval(id);</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  </a:t>
            </a:r>
            <a:pPr indent="0" marL="0">
              <a:buNone/>
            </a:pPr>
            <a:r>
              <a:rPr lang="en-US" sz="1200" i="1" dirty="0">
                <a:solidFill>
                  <a:srgbClr val="6A9955"/>
                </a:solidFill>
                <a:latin typeface="Courier New" pitchFamily="34" charset="0"/>
                <a:ea typeface="Courier New" pitchFamily="34" charset="-122"/>
                <a:cs typeface="Courier New" pitchFamily="34" charset="-120"/>
              </a:rPr>
              <a:t>// missing [count]</a:t>
            </a:r>
            <a:endParaRPr lang="en-US" sz="1200" dirty="0"/>
          </a:p>
        </p:txBody>
      </p:sp>
      <p:sp>
        <p:nvSpPr>
          <p:cNvPr id="8" name="Text 6"/>
          <p:cNvSpPr/>
          <p:nvPr/>
        </p:nvSpPr>
        <p:spPr>
          <a:xfrm>
            <a:off x="6355080" y="1554480"/>
            <a:ext cx="5029200" cy="365760"/>
          </a:xfrm>
          <a:prstGeom prst="rect">
            <a:avLst/>
          </a:prstGeom>
          <a:noFill/>
          <a:ln/>
        </p:spPr>
        <p:txBody>
          <a:bodyPr wrap="square" lIns="0" tIns="0" rIns="0" bIns="0" rtlCol="0" anchor="ctr"/>
          <a:lstStyle/>
          <a:p>
            <a:pPr indent="0" marL="0">
              <a:buNone/>
            </a:pPr>
            <a:r>
              <a:rPr lang="en-US" sz="1300" b="1" dirty="0">
                <a:solidFill>
                  <a:srgbClr val="059669"/>
                </a:solidFill>
                <a:latin typeface="Trebuchet MS" pitchFamily="34" charset="0"/>
                <a:ea typeface="Trebuchet MS" pitchFamily="34" charset="-122"/>
                <a:cs typeface="Trebuchet MS" pitchFamily="34" charset="-120"/>
              </a:rPr>
              <a:t>Fix</a:t>
            </a:r>
            <a:endParaRPr lang="en-US" sz="1300" dirty="0"/>
          </a:p>
        </p:txBody>
      </p:sp>
      <p:sp>
        <p:nvSpPr>
          <p:cNvPr id="9" name="Shape 7"/>
          <p:cNvSpPr/>
          <p:nvPr/>
        </p:nvSpPr>
        <p:spPr>
          <a:xfrm>
            <a:off x="6355080" y="1920240"/>
            <a:ext cx="5029200" cy="3108960"/>
          </a:xfrm>
          <a:prstGeom prst="rect">
            <a:avLst/>
          </a:prstGeom>
          <a:solidFill>
            <a:srgbClr val="1E2A47"/>
          </a:solidFill>
          <a:ln w="12700">
            <a:solidFill>
              <a:srgbClr val="1E2A47"/>
            </a:solidFill>
            <a:prstDash val="solid"/>
          </a:ln>
        </p:spPr>
      </p:sp>
      <p:sp>
        <p:nvSpPr>
          <p:cNvPr id="10" name="Text 8"/>
          <p:cNvSpPr/>
          <p:nvPr/>
        </p:nvSpPr>
        <p:spPr>
          <a:xfrm>
            <a:off x="6537960" y="2057400"/>
            <a:ext cx="4663440" cy="2834640"/>
          </a:xfrm>
          <a:prstGeom prst="rect">
            <a:avLst/>
          </a:prstGeom>
          <a:noFill/>
          <a:ln/>
        </p:spPr>
        <p:txBody>
          <a:bodyPr wrap="square" lIns="0" tIns="0" rIns="0" bIns="0" rtlCol="0" anchor="t"/>
          <a:lstStyle/>
          <a:p>
            <a:pPr indent="0" marL="0">
              <a:buNone/>
            </a:pPr>
            <a:r>
              <a:rPr lang="en-US" sz="1200" dirty="0">
                <a:solidFill>
                  <a:srgbClr val="DCDCAA"/>
                </a:solidFill>
                <a:latin typeface="Courier New" pitchFamily="34" charset="0"/>
                <a:ea typeface="Courier New" pitchFamily="34" charset="-122"/>
                <a:cs typeface="Courier New" pitchFamily="34" charset="-120"/>
              </a:rPr>
              <a:t>useEffect</a:t>
            </a:r>
            <a:pPr indent="0" marL="0">
              <a:buNone/>
            </a:pPr>
            <a:r>
              <a:rPr lang="en-US" sz="1200" dirty="0">
                <a:solidFill>
                  <a:srgbClr val="FFFFFF"/>
                </a:solidFill>
                <a:latin typeface="Courier New" pitchFamily="34" charset="0"/>
                <a:ea typeface="Courier New" pitchFamily="34" charset="-122"/>
                <a:cs typeface="Courier New" pitchFamily="34" charset="-120"/>
              </a:rPr>
              <a:t>(() =&gt;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id = setInterval(() =&gt; {</a:t>
            </a:r>
            <a:endParaRPr lang="en-US" sz="1200" dirty="0"/>
          </a:p>
          <a:p>
            <a:pPr indent="0" marL="0">
              <a:buNone/>
            </a:pPr>
            <a:r>
              <a:rPr lang="en-US" sz="1200" dirty="0">
                <a:solidFill>
                  <a:srgbClr val="DCDCAA"/>
                </a:solidFill>
                <a:latin typeface="Courier New" pitchFamily="34" charset="0"/>
                <a:ea typeface="Courier New" pitchFamily="34" charset="-122"/>
                <a:cs typeface="Courier New" pitchFamily="34" charset="-120"/>
              </a:rPr>
              <a:t>    setCount(</a:t>
            </a:r>
            <a:pPr indent="0" marL="0">
              <a:buNone/>
            </a:pPr>
            <a:r>
              <a:rPr lang="en-US" sz="1200" dirty="0">
                <a:solidFill>
                  <a:srgbClr val="9CDCFE"/>
                </a:solidFill>
                <a:latin typeface="Courier New" pitchFamily="34" charset="0"/>
                <a:ea typeface="Courier New" pitchFamily="34" charset="-122"/>
                <a:cs typeface="Courier New" pitchFamily="34" charset="-120"/>
              </a:rPr>
              <a:t>n</a:t>
            </a:r>
            <a:pPr indent="0" marL="0">
              <a:buNone/>
            </a:pPr>
            <a:r>
              <a:rPr lang="en-US" sz="1200" dirty="0">
                <a:solidFill>
                  <a:srgbClr val="FFFFFF"/>
                </a:solidFill>
                <a:latin typeface="Courier New" pitchFamily="34" charset="0"/>
                <a:ea typeface="Courier New" pitchFamily="34" charset="-122"/>
                <a:cs typeface="Courier New" pitchFamily="34" charset="-120"/>
              </a:rPr>
              <a:t> =&gt; n + 1);</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 </a:t>
            </a:r>
            <a:pPr indent="0" marL="0">
              <a:buNone/>
            </a:pPr>
            <a:r>
              <a:rPr lang="en-US" sz="1200" dirty="0">
                <a:solidFill>
                  <a:srgbClr val="9CDCFE"/>
                </a:solidFill>
                <a:latin typeface="Courier New" pitchFamily="34" charset="0"/>
                <a:ea typeface="Courier New" pitchFamily="34" charset="-122"/>
                <a:cs typeface="Courier New" pitchFamily="34" charset="-120"/>
              </a:rPr>
              <a:t>1000</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 =&gt; clearInterval(id);</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 []);  </a:t>
            </a:r>
            <a:pPr indent="0" marL="0">
              <a:buNone/>
            </a:pPr>
            <a:r>
              <a:rPr lang="en-US" sz="1200" i="1" dirty="0">
                <a:solidFill>
                  <a:srgbClr val="6A9955"/>
                </a:solidFill>
                <a:latin typeface="Courier New" pitchFamily="34" charset="0"/>
                <a:ea typeface="Courier New" pitchFamily="34" charset="-122"/>
                <a:cs typeface="Courier New" pitchFamily="34" charset="-120"/>
              </a:rPr>
              <a:t>// safe — functional updater</a:t>
            </a:r>
            <a:endParaRPr lang="en-US" sz="1200" dirty="0"/>
          </a:p>
        </p:txBody>
      </p:sp>
      <p:sp>
        <p:nvSpPr>
          <p:cNvPr id="11" name="Shape 9"/>
          <p:cNvSpPr/>
          <p:nvPr/>
        </p:nvSpPr>
        <p:spPr>
          <a:xfrm>
            <a:off x="777240" y="5212080"/>
            <a:ext cx="10607040" cy="914400"/>
          </a:xfrm>
          <a:prstGeom prst="rect">
            <a:avLst/>
          </a:prstGeom>
          <a:solidFill>
            <a:srgbClr val="CBF1F6"/>
          </a:solidFill>
          <a:ln w="12700">
            <a:solidFill>
              <a:srgbClr val="CBF1F6"/>
            </a:solidFill>
            <a:prstDash val="solid"/>
          </a:ln>
        </p:spPr>
      </p:sp>
      <p:pic>
        <p:nvPicPr>
          <p:cNvPr id="12" name="Image 0" descr="preencoded.png">    </p:cNvPr>
          <p:cNvPicPr>
            <a:picLocks noChangeAspect="1"/>
          </p:cNvPicPr>
          <p:nvPr/>
        </p:nvPicPr>
        <p:blipFill>
          <a:blip r:embed="rId1"/>
          <a:stretch>
            <a:fillRect/>
          </a:stretch>
        </p:blipFill>
        <p:spPr>
          <a:xfrm>
            <a:off x="1005840" y="5349240"/>
            <a:ext cx="502920" cy="502920"/>
          </a:xfrm>
          <a:prstGeom prst="rect">
            <a:avLst/>
          </a:prstGeom>
        </p:spPr>
      </p:pic>
      <p:sp>
        <p:nvSpPr>
          <p:cNvPr id="13" name="Text 10"/>
          <p:cNvSpPr/>
          <p:nvPr/>
        </p:nvSpPr>
        <p:spPr>
          <a:xfrm>
            <a:off x="1691640" y="5257800"/>
            <a:ext cx="9601200" cy="822960"/>
          </a:xfrm>
          <a:prstGeom prst="rect">
            <a:avLst/>
          </a:prstGeom>
          <a:noFill/>
          <a:ln/>
        </p:spPr>
        <p:txBody>
          <a:bodyPr wrap="square" lIns="0" tIns="0" rIns="0" bIns="0" rtlCol="0" anchor="ctr"/>
          <a:lstStyle/>
          <a:p>
            <a:pPr indent="0" marL="0">
              <a:buNone/>
            </a:pPr>
            <a:r>
              <a:rPr lang="en-US" sz="1250" i="1" dirty="0">
                <a:solidFill>
                  <a:srgbClr val="0F172A"/>
                </a:solidFill>
                <a:latin typeface="Arial" pitchFamily="34" charset="0"/>
                <a:ea typeface="Arial" pitchFamily="34" charset="-122"/>
                <a:cs typeface="Arial" pitchFamily="34" charset="-120"/>
              </a:rPr>
              <a:t>Eslint plugin react-hooks/exhaustive-deps catches the missing-dep version. Don't disable it. Functional setState avoids the dep entirely.</a:t>
            </a:r>
            <a:endParaRPr lang="en-US" sz="1250" dirty="0"/>
          </a:p>
        </p:txBody>
      </p:sp>
      <p:sp>
        <p:nvSpPr>
          <p:cNvPr id="14" name="Text 1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15" name="Text 1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9 / 29</a:t>
            </a:r>
            <a:endParaRPr lang="en-US" sz="900"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2. useEffect for things that aren't effects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If you can derive it, don't sync it. If it's an event response, don't put it in an effect.</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502920" cy="502920"/>
          </a:xfrm>
          <a:prstGeom prst="rect">
            <a:avLst/>
          </a:prstGeom>
        </p:spPr>
      </p:pic>
      <p:sp>
        <p:nvSpPr>
          <p:cNvPr id="7" name="Text 4"/>
          <p:cNvSpPr/>
          <p:nvPr/>
        </p:nvSpPr>
        <p:spPr>
          <a:xfrm>
            <a:off x="1691640" y="178308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Derived state via useEffect + useState</a:t>
            </a:r>
            <a:endParaRPr lang="en-US" sz="1350" dirty="0"/>
          </a:p>
        </p:txBody>
      </p:sp>
      <p:sp>
        <p:nvSpPr>
          <p:cNvPr id="8" name="Text 5"/>
          <p:cNvSpPr/>
          <p:nvPr/>
        </p:nvSpPr>
        <p:spPr>
          <a:xfrm>
            <a:off x="1691640" y="210312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filteredItems = items.filter() should be inline, not synchronized via setState.</a:t>
            </a:r>
            <a:endParaRPr lang="en-US" sz="1150" dirty="0"/>
          </a:p>
        </p:txBody>
      </p:sp>
      <p:sp>
        <p:nvSpPr>
          <p:cNvPr id="9" name="Shape 6"/>
          <p:cNvSpPr/>
          <p:nvPr/>
        </p:nvSpPr>
        <p:spPr>
          <a:xfrm>
            <a:off x="777240" y="274320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926080"/>
            <a:ext cx="502920" cy="502920"/>
          </a:xfrm>
          <a:prstGeom prst="rect">
            <a:avLst/>
          </a:prstGeom>
        </p:spPr>
      </p:pic>
      <p:sp>
        <p:nvSpPr>
          <p:cNvPr id="11" name="Text 7"/>
          <p:cNvSpPr/>
          <p:nvPr/>
        </p:nvSpPr>
        <p:spPr>
          <a:xfrm>
            <a:off x="1691640" y="283464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useEffect to reset state when prop changes</a:t>
            </a:r>
            <a:endParaRPr lang="en-US" sz="1350" dirty="0"/>
          </a:p>
        </p:txBody>
      </p:sp>
      <p:sp>
        <p:nvSpPr>
          <p:cNvPr id="12" name="Text 8"/>
          <p:cNvSpPr/>
          <p:nvPr/>
        </p:nvSpPr>
        <p:spPr>
          <a:xfrm>
            <a:off x="1691640" y="315468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Pass a key prop. React unmounts + remounts the subtree.</a:t>
            </a:r>
            <a:endParaRPr lang="en-US" sz="1150" dirty="0"/>
          </a:p>
        </p:txBody>
      </p:sp>
      <p:sp>
        <p:nvSpPr>
          <p:cNvPr id="13" name="Shape 9"/>
          <p:cNvSpPr/>
          <p:nvPr/>
        </p:nvSpPr>
        <p:spPr>
          <a:xfrm>
            <a:off x="777240" y="379476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977640"/>
            <a:ext cx="502920" cy="502920"/>
          </a:xfrm>
          <a:prstGeom prst="rect">
            <a:avLst/>
          </a:prstGeom>
        </p:spPr>
      </p:pic>
      <p:sp>
        <p:nvSpPr>
          <p:cNvPr id="15" name="Text 10"/>
          <p:cNvSpPr/>
          <p:nvPr/>
        </p:nvSpPr>
        <p:spPr>
          <a:xfrm>
            <a:off x="1691640" y="388620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useEffect to fetch on mount</a:t>
            </a:r>
            <a:endParaRPr lang="en-US" sz="1350" dirty="0"/>
          </a:p>
        </p:txBody>
      </p:sp>
      <p:sp>
        <p:nvSpPr>
          <p:cNvPr id="16" name="Text 11"/>
          <p:cNvSpPr/>
          <p:nvPr/>
        </p:nvSpPr>
        <p:spPr>
          <a:xfrm>
            <a:off x="1691640" y="420624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Use Suspense + use(), TanStack Query, or a route loader. Module 5.</a:t>
            </a:r>
            <a:endParaRPr lang="en-US" sz="1150" dirty="0"/>
          </a:p>
        </p:txBody>
      </p:sp>
      <p:sp>
        <p:nvSpPr>
          <p:cNvPr id="17" name="Shape 12"/>
          <p:cNvSpPr/>
          <p:nvPr/>
        </p:nvSpPr>
        <p:spPr>
          <a:xfrm>
            <a:off x="777240" y="484632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5029200"/>
            <a:ext cx="502920" cy="502920"/>
          </a:xfrm>
          <a:prstGeom prst="rect">
            <a:avLst/>
          </a:prstGeom>
        </p:spPr>
      </p:pic>
      <p:sp>
        <p:nvSpPr>
          <p:cNvPr id="19" name="Text 13"/>
          <p:cNvSpPr/>
          <p:nvPr/>
        </p:nvSpPr>
        <p:spPr>
          <a:xfrm>
            <a:off x="1691640" y="493776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useEffect to dispatch on user action</a:t>
            </a:r>
            <a:endParaRPr lang="en-US" sz="1350" dirty="0"/>
          </a:p>
        </p:txBody>
      </p:sp>
      <p:sp>
        <p:nvSpPr>
          <p:cNvPr id="20" name="Text 14"/>
          <p:cNvSpPr/>
          <p:nvPr/>
        </p:nvSpPr>
        <p:spPr>
          <a:xfrm>
            <a:off x="1691640" y="525780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Move the dispatch into the event handler. Not every state change is an effect trigger.</a:t>
            </a:r>
            <a:endParaRPr lang="en-US" sz="11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10 / 29</a:t>
            </a:r>
            <a:endParaRPr lang="en-US" sz="900"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3. Server/client boundary violations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The 2026-specific category. Module 6's content, in field form.</a:t>
            </a:r>
            <a:endParaRPr lang="en-US" sz="1400" dirty="0"/>
          </a:p>
        </p:txBody>
      </p:sp>
      <p:sp>
        <p:nvSpPr>
          <p:cNvPr id="5" name="Shape 3"/>
          <p:cNvSpPr/>
          <p:nvPr/>
        </p:nvSpPr>
        <p:spPr>
          <a:xfrm>
            <a:off x="777240" y="1691640"/>
            <a:ext cx="5212080" cy="10972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2011680"/>
            <a:ext cx="457200" cy="457200"/>
          </a:xfrm>
          <a:prstGeom prst="rect">
            <a:avLst/>
          </a:prstGeom>
        </p:spPr>
      </p:pic>
      <p:sp>
        <p:nvSpPr>
          <p:cNvPr id="7" name="Text 4"/>
          <p:cNvSpPr/>
          <p:nvPr/>
        </p:nvSpPr>
        <p:spPr>
          <a:xfrm>
            <a:off x="1554480" y="1783080"/>
            <a:ext cx="4297680" cy="9144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'use client' added at the top of a Server Component to silence a hook error</a:t>
            </a:r>
            <a:endParaRPr lang="en-US" sz="1150" dirty="0"/>
          </a:p>
        </p:txBody>
      </p:sp>
      <p:sp>
        <p:nvSpPr>
          <p:cNvPr id="8" name="Shape 5"/>
          <p:cNvSpPr/>
          <p:nvPr/>
        </p:nvSpPr>
        <p:spPr>
          <a:xfrm>
            <a:off x="6126480" y="1691640"/>
            <a:ext cx="5212080" cy="1097280"/>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6309360" y="2011680"/>
            <a:ext cx="457200" cy="457200"/>
          </a:xfrm>
          <a:prstGeom prst="rect">
            <a:avLst/>
          </a:prstGeom>
        </p:spPr>
      </p:pic>
      <p:sp>
        <p:nvSpPr>
          <p:cNvPr id="10" name="Text 6"/>
          <p:cNvSpPr/>
          <p:nvPr/>
        </p:nvSpPr>
        <p:spPr>
          <a:xfrm>
            <a:off x="6903720" y="1783080"/>
            <a:ext cx="4297680" cy="9144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Server-only utility (e.g., db client) imported into a 'use client' file</a:t>
            </a:r>
            <a:endParaRPr lang="en-US" sz="1150" dirty="0"/>
          </a:p>
        </p:txBody>
      </p:sp>
      <p:sp>
        <p:nvSpPr>
          <p:cNvPr id="11" name="Shape 7"/>
          <p:cNvSpPr/>
          <p:nvPr/>
        </p:nvSpPr>
        <p:spPr>
          <a:xfrm>
            <a:off x="777240" y="2971800"/>
            <a:ext cx="5212080" cy="1097280"/>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291840"/>
            <a:ext cx="457200" cy="457200"/>
          </a:xfrm>
          <a:prstGeom prst="rect">
            <a:avLst/>
          </a:prstGeom>
        </p:spPr>
      </p:pic>
      <p:sp>
        <p:nvSpPr>
          <p:cNvPr id="13" name="Text 8"/>
          <p:cNvSpPr/>
          <p:nvPr/>
        </p:nvSpPr>
        <p:spPr>
          <a:xfrm>
            <a:off x="1554480" y="3063240"/>
            <a:ext cx="4297680" cy="9144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Inline function passed as a prop from Server to Client Component (must be Server Action)</a:t>
            </a:r>
            <a:endParaRPr lang="en-US" sz="1150" dirty="0"/>
          </a:p>
        </p:txBody>
      </p:sp>
      <p:sp>
        <p:nvSpPr>
          <p:cNvPr id="14" name="Shape 9"/>
          <p:cNvSpPr/>
          <p:nvPr/>
        </p:nvSpPr>
        <p:spPr>
          <a:xfrm>
            <a:off x="6126480" y="2971800"/>
            <a:ext cx="5212080" cy="1097280"/>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6309360" y="3291840"/>
            <a:ext cx="457200" cy="457200"/>
          </a:xfrm>
          <a:prstGeom prst="rect">
            <a:avLst/>
          </a:prstGeom>
        </p:spPr>
      </p:pic>
      <p:sp>
        <p:nvSpPr>
          <p:cNvPr id="16" name="Text 10"/>
          <p:cNvSpPr/>
          <p:nvPr/>
        </p:nvSpPr>
        <p:spPr>
          <a:xfrm>
            <a:off x="6903720" y="3063240"/>
            <a:ext cx="4297680" cy="9144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useState in a Server Component (use a Client Component for state)</a:t>
            </a:r>
            <a:endParaRPr lang="en-US" sz="1150" dirty="0"/>
          </a:p>
        </p:txBody>
      </p:sp>
      <p:sp>
        <p:nvSpPr>
          <p:cNvPr id="17" name="Shape 11"/>
          <p:cNvSpPr/>
          <p:nvPr/>
        </p:nvSpPr>
        <p:spPr>
          <a:xfrm>
            <a:off x="777240" y="4251960"/>
            <a:ext cx="5212080" cy="1097280"/>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572000"/>
            <a:ext cx="457200" cy="457200"/>
          </a:xfrm>
          <a:prstGeom prst="rect">
            <a:avLst/>
          </a:prstGeom>
        </p:spPr>
      </p:pic>
      <p:sp>
        <p:nvSpPr>
          <p:cNvPr id="19" name="Text 12"/>
          <p:cNvSpPr/>
          <p:nvPr/>
        </p:nvSpPr>
        <p:spPr>
          <a:xfrm>
            <a:off x="1554480" y="4343400"/>
            <a:ext cx="4297680" cy="9144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Server Action without 'use server' directive — runs as a regular client function</a:t>
            </a:r>
            <a:endParaRPr lang="en-US" sz="1150" dirty="0"/>
          </a:p>
        </p:txBody>
      </p:sp>
      <p:sp>
        <p:nvSpPr>
          <p:cNvPr id="20" name="Shape 13"/>
          <p:cNvSpPr/>
          <p:nvPr/>
        </p:nvSpPr>
        <p:spPr>
          <a:xfrm>
            <a:off x="6126480" y="4251960"/>
            <a:ext cx="5212080" cy="1097280"/>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6309360" y="4572000"/>
            <a:ext cx="457200" cy="457200"/>
          </a:xfrm>
          <a:prstGeom prst="rect">
            <a:avLst/>
          </a:prstGeom>
        </p:spPr>
      </p:pic>
      <p:sp>
        <p:nvSpPr>
          <p:cNvPr id="22" name="Text 14"/>
          <p:cNvSpPr/>
          <p:nvPr/>
        </p:nvSpPr>
        <p:spPr>
          <a:xfrm>
            <a:off x="6903720" y="4343400"/>
            <a:ext cx="4297680" cy="9144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Reading cookies() or headers() inside a Client Component</a:t>
            </a:r>
            <a:endParaRPr lang="en-US" sz="1150" dirty="0"/>
          </a:p>
        </p:txBody>
      </p:sp>
      <p:sp>
        <p:nvSpPr>
          <p:cNvPr id="23"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24"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11 / 29</a:t>
            </a:r>
            <a:endParaRPr lang="en-US" sz="900"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4. Hydration mismatches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Server renders one thing, client renders another. Often non-deterministic.</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502920" cy="502920"/>
          </a:xfrm>
          <a:prstGeom prst="rect">
            <a:avLst/>
          </a:prstGeom>
        </p:spPr>
      </p:pic>
      <p:sp>
        <p:nvSpPr>
          <p:cNvPr id="7" name="Text 4"/>
          <p:cNvSpPr/>
          <p:nvPr/>
        </p:nvSpPr>
        <p:spPr>
          <a:xfrm>
            <a:off x="1691640" y="178308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Date.now() in render</a:t>
            </a:r>
            <a:endParaRPr lang="en-US" sz="1350" dirty="0"/>
          </a:p>
        </p:txBody>
      </p:sp>
      <p:sp>
        <p:nvSpPr>
          <p:cNvPr id="8" name="Text 5"/>
          <p:cNvSpPr/>
          <p:nvPr/>
        </p:nvSpPr>
        <p:spPr>
          <a:xfrm>
            <a:off x="1691640" y="210312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Server time != client time. Use a stable date or render only on client.</a:t>
            </a:r>
            <a:endParaRPr lang="en-US" sz="1150" dirty="0"/>
          </a:p>
        </p:txBody>
      </p:sp>
      <p:sp>
        <p:nvSpPr>
          <p:cNvPr id="9" name="Shape 6"/>
          <p:cNvSpPr/>
          <p:nvPr/>
        </p:nvSpPr>
        <p:spPr>
          <a:xfrm>
            <a:off x="777240" y="274320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926080"/>
            <a:ext cx="502920" cy="502920"/>
          </a:xfrm>
          <a:prstGeom prst="rect">
            <a:avLst/>
          </a:prstGeom>
        </p:spPr>
      </p:pic>
      <p:sp>
        <p:nvSpPr>
          <p:cNvPr id="11" name="Text 7"/>
          <p:cNvSpPr/>
          <p:nvPr/>
        </p:nvSpPr>
        <p:spPr>
          <a:xfrm>
            <a:off x="1691640" y="283464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Math.random() in render</a:t>
            </a:r>
            <a:endParaRPr lang="en-US" sz="1350" dirty="0"/>
          </a:p>
        </p:txBody>
      </p:sp>
      <p:sp>
        <p:nvSpPr>
          <p:cNvPr id="12" name="Text 8"/>
          <p:cNvSpPr/>
          <p:nvPr/>
        </p:nvSpPr>
        <p:spPr>
          <a:xfrm>
            <a:off x="1691640" y="315468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Different on each render. Pre-compute or move to useState init.</a:t>
            </a:r>
            <a:endParaRPr lang="en-US" sz="1150" dirty="0"/>
          </a:p>
        </p:txBody>
      </p:sp>
      <p:sp>
        <p:nvSpPr>
          <p:cNvPr id="13" name="Shape 9"/>
          <p:cNvSpPr/>
          <p:nvPr/>
        </p:nvSpPr>
        <p:spPr>
          <a:xfrm>
            <a:off x="777240" y="379476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977640"/>
            <a:ext cx="502920" cy="502920"/>
          </a:xfrm>
          <a:prstGeom prst="rect">
            <a:avLst/>
          </a:prstGeom>
        </p:spPr>
      </p:pic>
      <p:sp>
        <p:nvSpPr>
          <p:cNvPr id="15" name="Text 10"/>
          <p:cNvSpPr/>
          <p:nvPr/>
        </p:nvSpPr>
        <p:spPr>
          <a:xfrm>
            <a:off x="1691640" y="388620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navigator.* / window.* checks</a:t>
            </a:r>
            <a:endParaRPr lang="en-US" sz="1350" dirty="0"/>
          </a:p>
        </p:txBody>
      </p:sp>
      <p:sp>
        <p:nvSpPr>
          <p:cNvPr id="16" name="Text 11"/>
          <p:cNvSpPr/>
          <p:nvPr/>
        </p:nvSpPr>
        <p:spPr>
          <a:xfrm>
            <a:off x="1691640" y="420624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Undefined on server. Wrap in useEffect or use 'use client'.</a:t>
            </a:r>
            <a:endParaRPr lang="en-US" sz="1150" dirty="0"/>
          </a:p>
        </p:txBody>
      </p:sp>
      <p:sp>
        <p:nvSpPr>
          <p:cNvPr id="17" name="Shape 12"/>
          <p:cNvSpPr/>
          <p:nvPr/>
        </p:nvSpPr>
        <p:spPr>
          <a:xfrm>
            <a:off x="777240" y="484632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5029200"/>
            <a:ext cx="502920" cy="502920"/>
          </a:xfrm>
          <a:prstGeom prst="rect">
            <a:avLst/>
          </a:prstGeom>
        </p:spPr>
      </p:pic>
      <p:sp>
        <p:nvSpPr>
          <p:cNvPr id="19" name="Text 13"/>
          <p:cNvSpPr/>
          <p:nvPr/>
        </p:nvSpPr>
        <p:spPr>
          <a:xfrm>
            <a:off x="1691640" y="493776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Locale-dependent formatting</a:t>
            </a:r>
            <a:endParaRPr lang="en-US" sz="1350" dirty="0"/>
          </a:p>
        </p:txBody>
      </p:sp>
      <p:sp>
        <p:nvSpPr>
          <p:cNvPr id="20" name="Text 14"/>
          <p:cNvSpPr/>
          <p:nvPr/>
        </p:nvSpPr>
        <p:spPr>
          <a:xfrm>
            <a:off x="1691640" y="525780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Server locale != browser locale. Use a stable formatter or render client-side.</a:t>
            </a:r>
            <a:endParaRPr lang="en-US" sz="11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12 / 29</a:t>
            </a:r>
            <a:endParaRPr lang="en-US" sz="90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5. Outdated patterns from training data</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AI learned React from years of code. Some of that code is from 2020.</a:t>
            </a:r>
            <a:endParaRPr lang="en-US" sz="1400" dirty="0"/>
          </a:p>
        </p:txBody>
      </p:sp>
      <p:sp>
        <p:nvSpPr>
          <p:cNvPr id="5" name="Shape 3"/>
          <p:cNvSpPr/>
          <p:nvPr/>
        </p:nvSpPr>
        <p:spPr>
          <a:xfrm>
            <a:off x="777240" y="1508760"/>
            <a:ext cx="10607040" cy="411480"/>
          </a:xfrm>
          <a:prstGeom prst="rect">
            <a:avLst/>
          </a:prstGeom>
          <a:solidFill>
            <a:srgbClr val="1E2A47"/>
          </a:solidFill>
          <a:ln w="12700">
            <a:solidFill>
              <a:srgbClr val="1E2A47"/>
            </a:solidFill>
            <a:prstDash val="solid"/>
          </a:ln>
        </p:spPr>
      </p:sp>
      <p:sp>
        <p:nvSpPr>
          <p:cNvPr id="6" name="Text 4"/>
          <p:cNvSpPr/>
          <p:nvPr/>
        </p:nvSpPr>
        <p:spPr>
          <a:xfrm>
            <a:off x="914400" y="1508760"/>
            <a:ext cx="521208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Old pattern</a:t>
            </a:r>
            <a:endParaRPr lang="en-US" sz="1200" dirty="0"/>
          </a:p>
        </p:txBody>
      </p:sp>
      <p:sp>
        <p:nvSpPr>
          <p:cNvPr id="7" name="Text 5"/>
          <p:cNvSpPr/>
          <p:nvPr/>
        </p:nvSpPr>
        <p:spPr>
          <a:xfrm>
            <a:off x="6172200" y="1508760"/>
            <a:ext cx="5212080" cy="411480"/>
          </a:xfrm>
          <a:prstGeom prst="rect">
            <a:avLst/>
          </a:prstGeom>
          <a:noFill/>
          <a:ln/>
        </p:spPr>
        <p:txBody>
          <a:bodyPr wrap="square" lIns="0" tIns="0" rIns="0" bIns="0" rtlCol="0" anchor="ctr"/>
          <a:lstStyle/>
          <a:p>
            <a:pPr indent="0" marL="0">
              <a:buNone/>
            </a:pPr>
            <a:r>
              <a:rPr lang="en-US" sz="1200" b="1" dirty="0">
                <a:solidFill>
                  <a:srgbClr val="00B8D9"/>
                </a:solidFill>
                <a:latin typeface="Trebuchet MS" pitchFamily="34" charset="0"/>
                <a:ea typeface="Trebuchet MS" pitchFamily="34" charset="-122"/>
                <a:cs typeface="Trebuchet MS" pitchFamily="34" charset="-120"/>
              </a:rPr>
              <a:t>Modern</a:t>
            </a:r>
            <a:endParaRPr lang="en-US" sz="1200" dirty="0"/>
          </a:p>
        </p:txBody>
      </p:sp>
      <p:sp>
        <p:nvSpPr>
          <p:cNvPr id="8" name="Shape 6"/>
          <p:cNvSpPr/>
          <p:nvPr/>
        </p:nvSpPr>
        <p:spPr>
          <a:xfrm>
            <a:off x="777240" y="1920240"/>
            <a:ext cx="10607040" cy="594360"/>
          </a:xfrm>
          <a:prstGeom prst="rect">
            <a:avLst/>
          </a:prstGeom>
          <a:solidFill>
            <a:srgbClr val="FFFFFF"/>
          </a:solidFill>
          <a:ln w="12700">
            <a:solidFill>
              <a:srgbClr val="E2E8F0"/>
            </a:solidFill>
            <a:prstDash val="solid"/>
          </a:ln>
        </p:spPr>
      </p:sp>
      <p:sp>
        <p:nvSpPr>
          <p:cNvPr id="9" name="Text 7"/>
          <p:cNvSpPr/>
          <p:nvPr/>
        </p:nvSpPr>
        <p:spPr>
          <a:xfrm>
            <a:off x="914400" y="1965960"/>
            <a:ext cx="5212080" cy="502920"/>
          </a:xfrm>
          <a:prstGeom prst="rect">
            <a:avLst/>
          </a:prstGeom>
          <a:noFill/>
          <a:ln/>
        </p:spPr>
        <p:txBody>
          <a:bodyPr wrap="square" lIns="0" tIns="0" rIns="0" bIns="0" rtlCol="0" anchor="ctr"/>
          <a:lstStyle/>
          <a:p>
            <a:pPr indent="0" marL="0">
              <a:buNone/>
            </a:pPr>
            <a:r>
              <a:rPr lang="en-US" sz="1150" dirty="0">
                <a:solidFill>
                  <a:srgbClr val="D97706"/>
                </a:solidFill>
                <a:latin typeface="Arial" pitchFamily="34" charset="0"/>
                <a:ea typeface="Arial" pitchFamily="34" charset="-122"/>
                <a:cs typeface="Arial" pitchFamily="34" charset="-120"/>
              </a:rPr>
              <a:t>v6 BrowserRouter / Routes / Route JSX</a:t>
            </a:r>
            <a:endParaRPr lang="en-US" sz="1150" dirty="0"/>
          </a:p>
        </p:txBody>
      </p:sp>
      <p:pic>
        <p:nvPicPr>
          <p:cNvPr id="10" name="Image 0" descr="preencoded.png">    </p:cNvPr>
          <p:cNvPicPr>
            <a:picLocks noChangeAspect="1"/>
          </p:cNvPicPr>
          <p:nvPr/>
        </p:nvPicPr>
        <p:blipFill>
          <a:blip r:embed="rId1"/>
          <a:stretch>
            <a:fillRect/>
          </a:stretch>
        </p:blipFill>
        <p:spPr>
          <a:xfrm>
            <a:off x="5897880" y="2084832"/>
            <a:ext cx="274320" cy="274320"/>
          </a:xfrm>
          <a:prstGeom prst="rect">
            <a:avLst/>
          </a:prstGeom>
        </p:spPr>
      </p:pic>
      <p:sp>
        <p:nvSpPr>
          <p:cNvPr id="11" name="Text 8"/>
          <p:cNvSpPr/>
          <p:nvPr/>
        </p:nvSpPr>
        <p:spPr>
          <a:xfrm>
            <a:off x="6263640" y="1965960"/>
            <a:ext cx="5120640" cy="502920"/>
          </a:xfrm>
          <a:prstGeom prst="rect">
            <a:avLst/>
          </a:prstGeom>
          <a:noFill/>
          <a:ln/>
        </p:spPr>
        <p:txBody>
          <a:bodyPr wrap="square" lIns="0" tIns="0" rIns="0" bIns="0" rtlCol="0" anchor="ctr"/>
          <a:lstStyle/>
          <a:p>
            <a:pPr indent="0" marL="0">
              <a:buNone/>
            </a:pPr>
            <a:r>
              <a:rPr lang="en-US" sz="1150" dirty="0">
                <a:solidFill>
                  <a:srgbClr val="059669"/>
                </a:solidFill>
                <a:latin typeface="Arial" pitchFamily="34" charset="0"/>
                <a:ea typeface="Arial" pitchFamily="34" charset="-122"/>
                <a:cs typeface="Arial" pitchFamily="34" charset="-120"/>
              </a:rPr>
              <a:t>RR v7 routes config + framework mode</a:t>
            </a:r>
            <a:endParaRPr lang="en-US" sz="1150" dirty="0"/>
          </a:p>
        </p:txBody>
      </p:sp>
      <p:sp>
        <p:nvSpPr>
          <p:cNvPr id="12" name="Shape 9"/>
          <p:cNvSpPr/>
          <p:nvPr/>
        </p:nvSpPr>
        <p:spPr>
          <a:xfrm>
            <a:off x="777240" y="2560320"/>
            <a:ext cx="10607040" cy="594360"/>
          </a:xfrm>
          <a:prstGeom prst="rect">
            <a:avLst/>
          </a:prstGeom>
          <a:solidFill>
            <a:srgbClr val="F8FAFC"/>
          </a:solidFill>
          <a:ln w="12700">
            <a:solidFill>
              <a:srgbClr val="E2E8F0"/>
            </a:solidFill>
            <a:prstDash val="solid"/>
          </a:ln>
        </p:spPr>
      </p:sp>
      <p:sp>
        <p:nvSpPr>
          <p:cNvPr id="13" name="Text 10"/>
          <p:cNvSpPr/>
          <p:nvPr/>
        </p:nvSpPr>
        <p:spPr>
          <a:xfrm>
            <a:off x="914400" y="2606040"/>
            <a:ext cx="5212080" cy="502920"/>
          </a:xfrm>
          <a:prstGeom prst="rect">
            <a:avLst/>
          </a:prstGeom>
          <a:noFill/>
          <a:ln/>
        </p:spPr>
        <p:txBody>
          <a:bodyPr wrap="square" lIns="0" tIns="0" rIns="0" bIns="0" rtlCol="0" anchor="ctr"/>
          <a:lstStyle/>
          <a:p>
            <a:pPr indent="0" marL="0">
              <a:buNone/>
            </a:pPr>
            <a:r>
              <a:rPr lang="en-US" sz="1150" dirty="0">
                <a:solidFill>
                  <a:srgbClr val="D97706"/>
                </a:solidFill>
                <a:latin typeface="Arial" pitchFamily="34" charset="0"/>
                <a:ea typeface="Arial" pitchFamily="34" charset="-122"/>
                <a:cs typeface="Arial" pitchFamily="34" charset="-120"/>
              </a:rPr>
              <a:t>Pages Router (getServerSideProps)</a:t>
            </a:r>
            <a:endParaRPr lang="en-US" sz="1150" dirty="0"/>
          </a:p>
        </p:txBody>
      </p:sp>
      <p:pic>
        <p:nvPicPr>
          <p:cNvPr id="14" name="Image 1" descr="preencoded.png">    </p:cNvPr>
          <p:cNvPicPr>
            <a:picLocks noChangeAspect="1"/>
          </p:cNvPicPr>
          <p:nvPr/>
        </p:nvPicPr>
        <p:blipFill>
          <a:blip r:embed="rId2"/>
          <a:stretch>
            <a:fillRect/>
          </a:stretch>
        </p:blipFill>
        <p:spPr>
          <a:xfrm>
            <a:off x="5897880" y="2724912"/>
            <a:ext cx="274320" cy="274320"/>
          </a:xfrm>
          <a:prstGeom prst="rect">
            <a:avLst/>
          </a:prstGeom>
        </p:spPr>
      </p:pic>
      <p:sp>
        <p:nvSpPr>
          <p:cNvPr id="15" name="Text 11"/>
          <p:cNvSpPr/>
          <p:nvPr/>
        </p:nvSpPr>
        <p:spPr>
          <a:xfrm>
            <a:off x="6263640" y="2606040"/>
            <a:ext cx="5120640" cy="502920"/>
          </a:xfrm>
          <a:prstGeom prst="rect">
            <a:avLst/>
          </a:prstGeom>
          <a:noFill/>
          <a:ln/>
        </p:spPr>
        <p:txBody>
          <a:bodyPr wrap="square" lIns="0" tIns="0" rIns="0" bIns="0" rtlCol="0" anchor="ctr"/>
          <a:lstStyle/>
          <a:p>
            <a:pPr indent="0" marL="0">
              <a:buNone/>
            </a:pPr>
            <a:r>
              <a:rPr lang="en-US" sz="1150" dirty="0">
                <a:solidFill>
                  <a:srgbClr val="059669"/>
                </a:solidFill>
                <a:latin typeface="Arial" pitchFamily="34" charset="0"/>
                <a:ea typeface="Arial" pitchFamily="34" charset="-122"/>
                <a:cs typeface="Arial" pitchFamily="34" charset="-120"/>
              </a:rPr>
              <a:t>App Router (Server Components + Actions)</a:t>
            </a:r>
            <a:endParaRPr lang="en-US" sz="1150" dirty="0"/>
          </a:p>
        </p:txBody>
      </p:sp>
      <p:sp>
        <p:nvSpPr>
          <p:cNvPr id="16" name="Shape 12"/>
          <p:cNvSpPr/>
          <p:nvPr/>
        </p:nvSpPr>
        <p:spPr>
          <a:xfrm>
            <a:off x="777240" y="3200400"/>
            <a:ext cx="10607040" cy="594360"/>
          </a:xfrm>
          <a:prstGeom prst="rect">
            <a:avLst/>
          </a:prstGeom>
          <a:solidFill>
            <a:srgbClr val="FFFFFF"/>
          </a:solidFill>
          <a:ln w="12700">
            <a:solidFill>
              <a:srgbClr val="E2E8F0"/>
            </a:solidFill>
            <a:prstDash val="solid"/>
          </a:ln>
        </p:spPr>
      </p:sp>
      <p:sp>
        <p:nvSpPr>
          <p:cNvPr id="17" name="Text 13"/>
          <p:cNvSpPr/>
          <p:nvPr/>
        </p:nvSpPr>
        <p:spPr>
          <a:xfrm>
            <a:off x="914400" y="3246120"/>
            <a:ext cx="5212080" cy="502920"/>
          </a:xfrm>
          <a:prstGeom prst="rect">
            <a:avLst/>
          </a:prstGeom>
          <a:noFill/>
          <a:ln/>
        </p:spPr>
        <p:txBody>
          <a:bodyPr wrap="square" lIns="0" tIns="0" rIns="0" bIns="0" rtlCol="0" anchor="ctr"/>
          <a:lstStyle/>
          <a:p>
            <a:pPr indent="0" marL="0">
              <a:buNone/>
            </a:pPr>
            <a:r>
              <a:rPr lang="en-US" sz="1150" dirty="0">
                <a:solidFill>
                  <a:srgbClr val="D97706"/>
                </a:solidFill>
                <a:latin typeface="Arial" pitchFamily="34" charset="0"/>
                <a:ea typeface="Arial" pitchFamily="34" charset="-122"/>
                <a:cs typeface="Arial" pitchFamily="34" charset="-120"/>
              </a:rPr>
              <a:t>Class components</a:t>
            </a:r>
            <a:endParaRPr lang="en-US" sz="1150" dirty="0"/>
          </a:p>
        </p:txBody>
      </p:sp>
      <p:pic>
        <p:nvPicPr>
          <p:cNvPr id="18" name="Image 2" descr="preencoded.png">    </p:cNvPr>
          <p:cNvPicPr>
            <a:picLocks noChangeAspect="1"/>
          </p:cNvPicPr>
          <p:nvPr/>
        </p:nvPicPr>
        <p:blipFill>
          <a:blip r:embed="rId3"/>
          <a:stretch>
            <a:fillRect/>
          </a:stretch>
        </p:blipFill>
        <p:spPr>
          <a:xfrm>
            <a:off x="5897880" y="3364992"/>
            <a:ext cx="274320" cy="274320"/>
          </a:xfrm>
          <a:prstGeom prst="rect">
            <a:avLst/>
          </a:prstGeom>
        </p:spPr>
      </p:pic>
      <p:sp>
        <p:nvSpPr>
          <p:cNvPr id="19" name="Text 14"/>
          <p:cNvSpPr/>
          <p:nvPr/>
        </p:nvSpPr>
        <p:spPr>
          <a:xfrm>
            <a:off x="6263640" y="3246120"/>
            <a:ext cx="5120640" cy="502920"/>
          </a:xfrm>
          <a:prstGeom prst="rect">
            <a:avLst/>
          </a:prstGeom>
          <a:noFill/>
          <a:ln/>
        </p:spPr>
        <p:txBody>
          <a:bodyPr wrap="square" lIns="0" tIns="0" rIns="0" bIns="0" rtlCol="0" anchor="ctr"/>
          <a:lstStyle/>
          <a:p>
            <a:pPr indent="0" marL="0">
              <a:buNone/>
            </a:pPr>
            <a:r>
              <a:rPr lang="en-US" sz="1150" dirty="0">
                <a:solidFill>
                  <a:srgbClr val="059669"/>
                </a:solidFill>
                <a:latin typeface="Arial" pitchFamily="34" charset="0"/>
                <a:ea typeface="Arial" pitchFamily="34" charset="-122"/>
                <a:cs typeface="Arial" pitchFamily="34" charset="-120"/>
              </a:rPr>
              <a:t>Function components + hooks</a:t>
            </a:r>
            <a:endParaRPr lang="en-US" sz="1150" dirty="0"/>
          </a:p>
        </p:txBody>
      </p:sp>
      <p:sp>
        <p:nvSpPr>
          <p:cNvPr id="20" name="Shape 15"/>
          <p:cNvSpPr/>
          <p:nvPr/>
        </p:nvSpPr>
        <p:spPr>
          <a:xfrm>
            <a:off x="777240" y="3840480"/>
            <a:ext cx="10607040" cy="594360"/>
          </a:xfrm>
          <a:prstGeom prst="rect">
            <a:avLst/>
          </a:prstGeom>
          <a:solidFill>
            <a:srgbClr val="F8FAFC"/>
          </a:solidFill>
          <a:ln w="12700">
            <a:solidFill>
              <a:srgbClr val="E2E8F0"/>
            </a:solidFill>
            <a:prstDash val="solid"/>
          </a:ln>
        </p:spPr>
      </p:sp>
      <p:sp>
        <p:nvSpPr>
          <p:cNvPr id="21" name="Text 16"/>
          <p:cNvSpPr/>
          <p:nvPr/>
        </p:nvSpPr>
        <p:spPr>
          <a:xfrm>
            <a:off x="914400" y="3886200"/>
            <a:ext cx="5212080" cy="502920"/>
          </a:xfrm>
          <a:prstGeom prst="rect">
            <a:avLst/>
          </a:prstGeom>
          <a:noFill/>
          <a:ln/>
        </p:spPr>
        <p:txBody>
          <a:bodyPr wrap="square" lIns="0" tIns="0" rIns="0" bIns="0" rtlCol="0" anchor="ctr"/>
          <a:lstStyle/>
          <a:p>
            <a:pPr indent="0" marL="0">
              <a:buNone/>
            </a:pPr>
            <a:r>
              <a:rPr lang="en-US" sz="1150" dirty="0">
                <a:solidFill>
                  <a:srgbClr val="D97706"/>
                </a:solidFill>
                <a:latin typeface="Arial" pitchFamily="34" charset="0"/>
                <a:ea typeface="Arial" pitchFamily="34" charset="-122"/>
                <a:cs typeface="Arial" pitchFamily="34" charset="-120"/>
              </a:rPr>
              <a:t>Redux with createStore + Thunk</a:t>
            </a:r>
            <a:endParaRPr lang="en-US" sz="1150" dirty="0"/>
          </a:p>
        </p:txBody>
      </p:sp>
      <p:pic>
        <p:nvPicPr>
          <p:cNvPr id="22" name="Image 3" descr="preencoded.png">    </p:cNvPr>
          <p:cNvPicPr>
            <a:picLocks noChangeAspect="1"/>
          </p:cNvPicPr>
          <p:nvPr/>
        </p:nvPicPr>
        <p:blipFill>
          <a:blip r:embed="rId4"/>
          <a:stretch>
            <a:fillRect/>
          </a:stretch>
        </p:blipFill>
        <p:spPr>
          <a:xfrm>
            <a:off x="5897880" y="4005072"/>
            <a:ext cx="274320" cy="274320"/>
          </a:xfrm>
          <a:prstGeom prst="rect">
            <a:avLst/>
          </a:prstGeom>
        </p:spPr>
      </p:pic>
      <p:sp>
        <p:nvSpPr>
          <p:cNvPr id="23" name="Text 17"/>
          <p:cNvSpPr/>
          <p:nvPr/>
        </p:nvSpPr>
        <p:spPr>
          <a:xfrm>
            <a:off x="6263640" y="3886200"/>
            <a:ext cx="5120640" cy="502920"/>
          </a:xfrm>
          <a:prstGeom prst="rect">
            <a:avLst/>
          </a:prstGeom>
          <a:noFill/>
          <a:ln/>
        </p:spPr>
        <p:txBody>
          <a:bodyPr wrap="square" lIns="0" tIns="0" rIns="0" bIns="0" rtlCol="0" anchor="ctr"/>
          <a:lstStyle/>
          <a:p>
            <a:pPr indent="0" marL="0">
              <a:buNone/>
            </a:pPr>
            <a:r>
              <a:rPr lang="en-US" sz="1150" dirty="0">
                <a:solidFill>
                  <a:srgbClr val="059669"/>
                </a:solidFill>
                <a:latin typeface="Arial" pitchFamily="34" charset="0"/>
                <a:ea typeface="Arial" pitchFamily="34" charset="-122"/>
                <a:cs typeface="Arial" pitchFamily="34" charset="-120"/>
              </a:rPr>
              <a:t>Redux Toolkit (or skip Redux entirely)</a:t>
            </a:r>
            <a:endParaRPr lang="en-US" sz="1150" dirty="0"/>
          </a:p>
        </p:txBody>
      </p:sp>
      <p:sp>
        <p:nvSpPr>
          <p:cNvPr id="24" name="Shape 18"/>
          <p:cNvSpPr/>
          <p:nvPr/>
        </p:nvSpPr>
        <p:spPr>
          <a:xfrm>
            <a:off x="777240" y="4480560"/>
            <a:ext cx="10607040" cy="594360"/>
          </a:xfrm>
          <a:prstGeom prst="rect">
            <a:avLst/>
          </a:prstGeom>
          <a:solidFill>
            <a:srgbClr val="FFFFFF"/>
          </a:solidFill>
          <a:ln w="12700">
            <a:solidFill>
              <a:srgbClr val="E2E8F0"/>
            </a:solidFill>
            <a:prstDash val="solid"/>
          </a:ln>
        </p:spPr>
      </p:sp>
      <p:sp>
        <p:nvSpPr>
          <p:cNvPr id="25" name="Text 19"/>
          <p:cNvSpPr/>
          <p:nvPr/>
        </p:nvSpPr>
        <p:spPr>
          <a:xfrm>
            <a:off x="914400" y="4526280"/>
            <a:ext cx="5212080" cy="502920"/>
          </a:xfrm>
          <a:prstGeom prst="rect">
            <a:avLst/>
          </a:prstGeom>
          <a:noFill/>
          <a:ln/>
        </p:spPr>
        <p:txBody>
          <a:bodyPr wrap="square" lIns="0" tIns="0" rIns="0" bIns="0" rtlCol="0" anchor="ctr"/>
          <a:lstStyle/>
          <a:p>
            <a:pPr indent="0" marL="0">
              <a:buNone/>
            </a:pPr>
            <a:r>
              <a:rPr lang="en-US" sz="1150" dirty="0">
                <a:solidFill>
                  <a:srgbClr val="D97706"/>
                </a:solidFill>
                <a:latin typeface="Arial" pitchFamily="34" charset="0"/>
                <a:ea typeface="Arial" pitchFamily="34" charset="-122"/>
                <a:cs typeface="Arial" pitchFamily="34" charset="-120"/>
              </a:rPr>
              <a:t>componentDidMount / componentWillUnmount</a:t>
            </a:r>
            <a:endParaRPr lang="en-US" sz="1150" dirty="0"/>
          </a:p>
        </p:txBody>
      </p:sp>
      <p:pic>
        <p:nvPicPr>
          <p:cNvPr id="26" name="Image 4" descr="preencoded.png">    </p:cNvPr>
          <p:cNvPicPr>
            <a:picLocks noChangeAspect="1"/>
          </p:cNvPicPr>
          <p:nvPr/>
        </p:nvPicPr>
        <p:blipFill>
          <a:blip r:embed="rId5"/>
          <a:stretch>
            <a:fillRect/>
          </a:stretch>
        </p:blipFill>
        <p:spPr>
          <a:xfrm>
            <a:off x="5897880" y="4645152"/>
            <a:ext cx="274320" cy="274320"/>
          </a:xfrm>
          <a:prstGeom prst="rect">
            <a:avLst/>
          </a:prstGeom>
        </p:spPr>
      </p:pic>
      <p:sp>
        <p:nvSpPr>
          <p:cNvPr id="27" name="Text 20"/>
          <p:cNvSpPr/>
          <p:nvPr/>
        </p:nvSpPr>
        <p:spPr>
          <a:xfrm>
            <a:off x="6263640" y="4526280"/>
            <a:ext cx="5120640" cy="502920"/>
          </a:xfrm>
          <a:prstGeom prst="rect">
            <a:avLst/>
          </a:prstGeom>
          <a:noFill/>
          <a:ln/>
        </p:spPr>
        <p:txBody>
          <a:bodyPr wrap="square" lIns="0" tIns="0" rIns="0" bIns="0" rtlCol="0" anchor="ctr"/>
          <a:lstStyle/>
          <a:p>
            <a:pPr indent="0" marL="0">
              <a:buNone/>
            </a:pPr>
            <a:r>
              <a:rPr lang="en-US" sz="1150" dirty="0">
                <a:solidFill>
                  <a:srgbClr val="059669"/>
                </a:solidFill>
                <a:latin typeface="Arial" pitchFamily="34" charset="0"/>
                <a:ea typeface="Arial" pitchFamily="34" charset="-122"/>
                <a:cs typeface="Arial" pitchFamily="34" charset="-120"/>
              </a:rPr>
              <a:t>useEffect with cleanup</a:t>
            </a:r>
            <a:endParaRPr lang="en-US" sz="1150" dirty="0"/>
          </a:p>
        </p:txBody>
      </p:sp>
      <p:sp>
        <p:nvSpPr>
          <p:cNvPr id="28" name="Shape 21"/>
          <p:cNvSpPr/>
          <p:nvPr/>
        </p:nvSpPr>
        <p:spPr>
          <a:xfrm>
            <a:off x="777240" y="5120640"/>
            <a:ext cx="10607040" cy="594360"/>
          </a:xfrm>
          <a:prstGeom prst="rect">
            <a:avLst/>
          </a:prstGeom>
          <a:solidFill>
            <a:srgbClr val="F8FAFC"/>
          </a:solidFill>
          <a:ln w="12700">
            <a:solidFill>
              <a:srgbClr val="E2E8F0"/>
            </a:solidFill>
            <a:prstDash val="solid"/>
          </a:ln>
        </p:spPr>
      </p:sp>
      <p:sp>
        <p:nvSpPr>
          <p:cNvPr id="29" name="Text 22"/>
          <p:cNvSpPr/>
          <p:nvPr/>
        </p:nvSpPr>
        <p:spPr>
          <a:xfrm>
            <a:off x="914400" y="5166360"/>
            <a:ext cx="5212080" cy="502920"/>
          </a:xfrm>
          <a:prstGeom prst="rect">
            <a:avLst/>
          </a:prstGeom>
          <a:noFill/>
          <a:ln/>
        </p:spPr>
        <p:txBody>
          <a:bodyPr wrap="square" lIns="0" tIns="0" rIns="0" bIns="0" rtlCol="0" anchor="ctr"/>
          <a:lstStyle/>
          <a:p>
            <a:pPr indent="0" marL="0">
              <a:buNone/>
            </a:pPr>
            <a:r>
              <a:rPr lang="en-US" sz="1150" dirty="0">
                <a:solidFill>
                  <a:srgbClr val="D97706"/>
                </a:solidFill>
                <a:latin typeface="Arial" pitchFamily="34" charset="0"/>
                <a:ea typeface="Arial" pitchFamily="34" charset="-122"/>
                <a:cs typeface="Arial" pitchFamily="34" charset="-120"/>
              </a:rPr>
              <a:t>Manual useMemo/useCallback everywhere</a:t>
            </a:r>
            <a:endParaRPr lang="en-US" sz="1150" dirty="0"/>
          </a:p>
        </p:txBody>
      </p:sp>
      <p:pic>
        <p:nvPicPr>
          <p:cNvPr id="30" name="Image 5" descr="preencoded.png">    </p:cNvPr>
          <p:cNvPicPr>
            <a:picLocks noChangeAspect="1"/>
          </p:cNvPicPr>
          <p:nvPr/>
        </p:nvPicPr>
        <p:blipFill>
          <a:blip r:embed="rId6"/>
          <a:stretch>
            <a:fillRect/>
          </a:stretch>
        </p:blipFill>
        <p:spPr>
          <a:xfrm>
            <a:off x="5897880" y="5285232"/>
            <a:ext cx="274320" cy="274320"/>
          </a:xfrm>
          <a:prstGeom prst="rect">
            <a:avLst/>
          </a:prstGeom>
        </p:spPr>
      </p:pic>
      <p:sp>
        <p:nvSpPr>
          <p:cNvPr id="31" name="Text 23"/>
          <p:cNvSpPr/>
          <p:nvPr/>
        </p:nvSpPr>
        <p:spPr>
          <a:xfrm>
            <a:off x="6263640" y="5166360"/>
            <a:ext cx="5120640" cy="502920"/>
          </a:xfrm>
          <a:prstGeom prst="rect">
            <a:avLst/>
          </a:prstGeom>
          <a:noFill/>
          <a:ln/>
        </p:spPr>
        <p:txBody>
          <a:bodyPr wrap="square" lIns="0" tIns="0" rIns="0" bIns="0" rtlCol="0" anchor="ctr"/>
          <a:lstStyle/>
          <a:p>
            <a:pPr indent="0" marL="0">
              <a:buNone/>
            </a:pPr>
            <a:r>
              <a:rPr lang="en-US" sz="1150" dirty="0">
                <a:solidFill>
                  <a:srgbClr val="059669"/>
                </a:solidFill>
                <a:latin typeface="Arial" pitchFamily="34" charset="0"/>
                <a:ea typeface="Arial" pitchFamily="34" charset="-122"/>
                <a:cs typeface="Arial" pitchFamily="34" charset="-120"/>
              </a:rPr>
              <a:t>React Compiler (most cases)</a:t>
            </a:r>
            <a:endParaRPr lang="en-US" sz="1150" dirty="0"/>
          </a:p>
        </p:txBody>
      </p:sp>
      <p:sp>
        <p:nvSpPr>
          <p:cNvPr id="32" name="Text 24"/>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33" name="Text 25"/>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13 / 29</a:t>
            </a:r>
            <a:endParaRPr lang="en-US" sz="90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6. Test coupling and accessibility skips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Module 8's red-flag list, in field form.</a:t>
            </a:r>
            <a:endParaRPr lang="en-US" sz="1400" dirty="0"/>
          </a:p>
        </p:txBody>
      </p:sp>
      <p:sp>
        <p:nvSpPr>
          <p:cNvPr id="5" name="Shape 3"/>
          <p:cNvSpPr/>
          <p:nvPr/>
        </p:nvSpPr>
        <p:spPr>
          <a:xfrm>
            <a:off x="777240" y="1691640"/>
            <a:ext cx="5212080" cy="10972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2011680"/>
            <a:ext cx="457200" cy="457200"/>
          </a:xfrm>
          <a:prstGeom prst="rect">
            <a:avLst/>
          </a:prstGeom>
        </p:spPr>
      </p:pic>
      <p:sp>
        <p:nvSpPr>
          <p:cNvPr id="7" name="Text 4"/>
          <p:cNvSpPr/>
          <p:nvPr/>
        </p:nvSpPr>
        <p:spPr>
          <a:xfrm>
            <a:off x="1554480" y="1783080"/>
            <a:ext cx="4297680" cy="9144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getByTestId everywhere instead of role-based queries</a:t>
            </a:r>
            <a:endParaRPr lang="en-US" sz="1150" dirty="0"/>
          </a:p>
        </p:txBody>
      </p:sp>
      <p:sp>
        <p:nvSpPr>
          <p:cNvPr id="8" name="Shape 5"/>
          <p:cNvSpPr/>
          <p:nvPr/>
        </p:nvSpPr>
        <p:spPr>
          <a:xfrm>
            <a:off x="6126480" y="1691640"/>
            <a:ext cx="5212080" cy="1097280"/>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6309360" y="2011680"/>
            <a:ext cx="457200" cy="457200"/>
          </a:xfrm>
          <a:prstGeom prst="rect">
            <a:avLst/>
          </a:prstGeom>
        </p:spPr>
      </p:pic>
      <p:sp>
        <p:nvSpPr>
          <p:cNvPr id="10" name="Text 6"/>
          <p:cNvSpPr/>
          <p:nvPr/>
        </p:nvSpPr>
        <p:spPr>
          <a:xfrm>
            <a:off x="6903720" y="1783080"/>
            <a:ext cx="4297680" cy="9144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fireEvent instead of userEvent (misses real interactions)</a:t>
            </a:r>
            <a:endParaRPr lang="en-US" sz="1150" dirty="0"/>
          </a:p>
        </p:txBody>
      </p:sp>
      <p:sp>
        <p:nvSpPr>
          <p:cNvPr id="11" name="Shape 7"/>
          <p:cNvSpPr/>
          <p:nvPr/>
        </p:nvSpPr>
        <p:spPr>
          <a:xfrm>
            <a:off x="777240" y="2971800"/>
            <a:ext cx="5212080" cy="1097280"/>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291840"/>
            <a:ext cx="457200" cy="457200"/>
          </a:xfrm>
          <a:prstGeom prst="rect">
            <a:avLst/>
          </a:prstGeom>
        </p:spPr>
      </p:pic>
      <p:sp>
        <p:nvSpPr>
          <p:cNvPr id="13" name="Text 8"/>
          <p:cNvSpPr/>
          <p:nvPr/>
        </p:nvSpPr>
        <p:spPr>
          <a:xfrm>
            <a:off x="1554480" y="3063240"/>
            <a:ext cx="4297680" cy="9144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vi.spyOn on React hooks — testing internals</a:t>
            </a:r>
            <a:endParaRPr lang="en-US" sz="1150" dirty="0"/>
          </a:p>
        </p:txBody>
      </p:sp>
      <p:sp>
        <p:nvSpPr>
          <p:cNvPr id="14" name="Shape 9"/>
          <p:cNvSpPr/>
          <p:nvPr/>
        </p:nvSpPr>
        <p:spPr>
          <a:xfrm>
            <a:off x="6126480" y="2971800"/>
            <a:ext cx="5212080" cy="1097280"/>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6309360" y="3291840"/>
            <a:ext cx="457200" cy="457200"/>
          </a:xfrm>
          <a:prstGeom prst="rect">
            <a:avLst/>
          </a:prstGeom>
        </p:spPr>
      </p:pic>
      <p:sp>
        <p:nvSpPr>
          <p:cNvPr id="16" name="Text 10"/>
          <p:cNvSpPr/>
          <p:nvPr/>
        </p:nvSpPr>
        <p:spPr>
          <a:xfrm>
            <a:off x="6903720" y="3063240"/>
            <a:ext cx="4297680" cy="9144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Snapshot tests for entire components</a:t>
            </a:r>
            <a:endParaRPr lang="en-US" sz="1150" dirty="0"/>
          </a:p>
        </p:txBody>
      </p:sp>
      <p:sp>
        <p:nvSpPr>
          <p:cNvPr id="17" name="Shape 11"/>
          <p:cNvSpPr/>
          <p:nvPr/>
        </p:nvSpPr>
        <p:spPr>
          <a:xfrm>
            <a:off x="777240" y="4251960"/>
            <a:ext cx="5212080" cy="1097280"/>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572000"/>
            <a:ext cx="457200" cy="457200"/>
          </a:xfrm>
          <a:prstGeom prst="rect">
            <a:avLst/>
          </a:prstGeom>
        </p:spPr>
      </p:pic>
      <p:sp>
        <p:nvSpPr>
          <p:cNvPr id="19" name="Text 12"/>
          <p:cNvSpPr/>
          <p:nvPr/>
        </p:nvSpPr>
        <p:spPr>
          <a:xfrm>
            <a:off x="1554480" y="4343400"/>
            <a:ext cx="4297680" cy="9144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Mocking individual api.js functions instead of network mocks</a:t>
            </a:r>
            <a:endParaRPr lang="en-US" sz="1150" dirty="0"/>
          </a:p>
        </p:txBody>
      </p:sp>
      <p:sp>
        <p:nvSpPr>
          <p:cNvPr id="20" name="Shape 13"/>
          <p:cNvSpPr/>
          <p:nvPr/>
        </p:nvSpPr>
        <p:spPr>
          <a:xfrm>
            <a:off x="6126480" y="4251960"/>
            <a:ext cx="5212080" cy="1097280"/>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6309360" y="4572000"/>
            <a:ext cx="457200" cy="457200"/>
          </a:xfrm>
          <a:prstGeom prst="rect">
            <a:avLst/>
          </a:prstGeom>
        </p:spPr>
      </p:pic>
      <p:sp>
        <p:nvSpPr>
          <p:cNvPr id="22" name="Text 14"/>
          <p:cNvSpPr/>
          <p:nvPr/>
        </p:nvSpPr>
        <p:spPr>
          <a:xfrm>
            <a:off x="6903720" y="4343400"/>
            <a:ext cx="4297680" cy="9144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setTimeout-based waits — flakiness factory</a:t>
            </a:r>
            <a:endParaRPr lang="en-US" sz="1150" dirty="0"/>
          </a:p>
        </p:txBody>
      </p:sp>
      <p:sp>
        <p:nvSpPr>
          <p:cNvPr id="23"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24"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14 / 29</a:t>
            </a:r>
            <a:endParaRPr lang="en-US" sz="90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15">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3</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Project Context</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Set the rules in writing. AI plays by them.</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AGENTS.md / CLAUDE.md</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 markdown file at your repo root. Tells AI tools how your project does things.</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What it does</a:t>
            </a:r>
            <a:endParaRPr lang="en-US" sz="1400" dirty="0"/>
          </a:p>
        </p:txBody>
      </p:sp>
      <p:sp>
        <p:nvSpPr>
          <p:cNvPr id="6" name="Text 4"/>
          <p:cNvSpPr/>
          <p:nvPr/>
        </p:nvSpPr>
        <p:spPr>
          <a:xfrm>
            <a:off x="777240" y="1920240"/>
            <a:ext cx="5349240" cy="27432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Documents conventions: file naming, where state lives, how routes are structured</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Lists 'do not' rules: don't use useEffect for derived state, don't add deps without asking</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Specifies test commands: 'run tests with npm test'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Names key files the AI should always read first</a:t>
            </a:r>
            <a:endParaRPr lang="en-US" sz="1250" dirty="0"/>
          </a:p>
        </p:txBody>
      </p:sp>
      <p:sp>
        <p:nvSpPr>
          <p:cNvPr id="7" name="Text 5"/>
          <p:cNvSpPr/>
          <p:nvPr/>
        </p:nvSpPr>
        <p:spPr>
          <a:xfrm>
            <a:off x="6355080" y="1554480"/>
            <a:ext cx="5029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Why it works</a:t>
            </a:r>
            <a:endParaRPr lang="en-US" sz="1400" dirty="0"/>
          </a:p>
        </p:txBody>
      </p:sp>
      <p:sp>
        <p:nvSpPr>
          <p:cNvPr id="8" name="Text 6"/>
          <p:cNvSpPr/>
          <p:nvPr/>
        </p:nvSpPr>
        <p:spPr>
          <a:xfrm>
            <a:off x="6355080" y="1920240"/>
            <a:ext cx="5029200" cy="27432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Most AI tools auto-load AGENTS.md (or CLAUDE.md, depending on tool)</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Overrides training-data drift — 'we use RR v7' beats whatever the AI learned</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Lets new contributors and AI agents share the same context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Versioned in git — conventions evolve with the codebase</a:t>
            </a:r>
            <a:endParaRPr lang="en-US" sz="1250" dirty="0"/>
          </a:p>
        </p:txBody>
      </p:sp>
      <p:sp>
        <p:nvSpPr>
          <p:cNvPr id="9" name="Shape 7"/>
          <p:cNvSpPr/>
          <p:nvPr/>
        </p:nvSpPr>
        <p:spPr>
          <a:xfrm>
            <a:off x="777240" y="5029200"/>
            <a:ext cx="10607040" cy="1097280"/>
          </a:xfrm>
          <a:prstGeom prst="rect">
            <a:avLst/>
          </a:prstGeom>
          <a:solidFill>
            <a:srgbClr val="CBF1F6"/>
          </a:solidFill>
          <a:ln w="12700">
            <a:solidFill>
              <a:srgbClr val="CBF1F6"/>
            </a:solidFill>
            <a:prstDash val="solid"/>
          </a:ln>
        </p:spPr>
      </p:sp>
      <p:pic>
        <p:nvPicPr>
          <p:cNvPr id="10" name="Image 0" descr="preencoded.png">    </p:cNvPr>
          <p:cNvPicPr>
            <a:picLocks noChangeAspect="1"/>
          </p:cNvPicPr>
          <p:nvPr/>
        </p:nvPicPr>
        <p:blipFill>
          <a:blip r:embed="rId1"/>
          <a:stretch>
            <a:fillRect/>
          </a:stretch>
        </p:blipFill>
        <p:spPr>
          <a:xfrm>
            <a:off x="1005840" y="5349240"/>
            <a:ext cx="502920" cy="502920"/>
          </a:xfrm>
          <a:prstGeom prst="rect">
            <a:avLst/>
          </a:prstGeom>
        </p:spPr>
      </p:pic>
      <p:sp>
        <p:nvSpPr>
          <p:cNvPr id="11" name="Text 8"/>
          <p:cNvSpPr/>
          <p:nvPr/>
        </p:nvSpPr>
        <p:spPr>
          <a:xfrm>
            <a:off x="1691640" y="5074920"/>
            <a:ext cx="9601200" cy="1005840"/>
          </a:xfrm>
          <a:prstGeom prst="rect">
            <a:avLst/>
          </a:prstGeom>
          <a:noFill/>
          <a:ln/>
        </p:spPr>
        <p:txBody>
          <a:bodyPr wrap="square" lIns="0" tIns="0" rIns="0" bIns="0" rtlCol="0" anchor="ctr"/>
          <a:lstStyle/>
          <a:p>
            <a:pPr indent="0" marL="0">
              <a:buNone/>
            </a:pPr>
            <a:r>
              <a:rPr lang="en-US" sz="1250" i="1" dirty="0">
                <a:solidFill>
                  <a:srgbClr val="0F172A"/>
                </a:solidFill>
                <a:latin typeface="Arial" pitchFamily="34" charset="0"/>
                <a:ea typeface="Arial" pitchFamily="34" charset="-122"/>
                <a:cs typeface="Arial" pitchFamily="34" charset="-120"/>
              </a:rPr>
              <a:t>AGENTS.md is the emerging cross-tool standard. CLAUDE.md is Claude-specific. Both can exist in a repo — most tools read whichever they expect.</a:t>
            </a:r>
            <a:endParaRPr lang="en-US" sz="1250" dirty="0"/>
          </a:p>
        </p:txBody>
      </p:sp>
      <p:sp>
        <p:nvSpPr>
          <p:cNvPr id="12"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13"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16 / 29</a:t>
            </a:r>
            <a:endParaRPr lang="en-US" sz="90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Example AGENTS.md</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Short, opinionated, code-grounded. Avoid abstractions; name files.</a:t>
            </a:r>
            <a:endParaRPr lang="en-US" sz="1400" dirty="0"/>
          </a:p>
        </p:txBody>
      </p:sp>
      <p:sp>
        <p:nvSpPr>
          <p:cNvPr id="5" name="Shape 3"/>
          <p:cNvSpPr/>
          <p:nvPr/>
        </p:nvSpPr>
        <p:spPr>
          <a:xfrm>
            <a:off x="777240" y="1554480"/>
            <a:ext cx="10607040" cy="4572000"/>
          </a:xfrm>
          <a:prstGeom prst="rect">
            <a:avLst/>
          </a:prstGeom>
          <a:solidFill>
            <a:srgbClr val="1E2A47"/>
          </a:solidFill>
          <a:ln w="12700">
            <a:solidFill>
              <a:srgbClr val="1E2A47"/>
            </a:solidFill>
            <a:prstDash val="solid"/>
          </a:ln>
        </p:spPr>
      </p:sp>
      <p:sp>
        <p:nvSpPr>
          <p:cNvPr id="6" name="Text 4"/>
          <p:cNvSpPr/>
          <p:nvPr/>
        </p:nvSpPr>
        <p:spPr>
          <a:xfrm>
            <a:off x="960120" y="1691640"/>
            <a:ext cx="10241280" cy="4297680"/>
          </a:xfrm>
          <a:prstGeom prst="rect">
            <a:avLst/>
          </a:prstGeom>
          <a:noFill/>
          <a:ln/>
        </p:spPr>
        <p:txBody>
          <a:bodyPr wrap="square" lIns="0" tIns="0" rIns="0" bIns="0" rtlCol="0" anchor="t"/>
          <a:lstStyle/>
          <a:p>
            <a:pPr indent="0" marL="0">
              <a:buNone/>
            </a:pPr>
            <a:r>
              <a:rPr lang="en-US" sz="1100" dirty="0">
                <a:solidFill>
                  <a:srgbClr val="6A9955"/>
                </a:solidFill>
                <a:latin typeface="Courier New" pitchFamily="34" charset="0"/>
                <a:ea typeface="Courier New" pitchFamily="34" charset="-122"/>
                <a:cs typeface="Courier New" pitchFamily="34" charset="-120"/>
              </a:rPr>
              <a:t># AGENTS.md — social-media-rr-v7</a:t>
            </a:r>
            <a:endParaRPr lang="en-US" sz="1100" dirty="0"/>
          </a:p>
          <a:p>
            <a:pPr indent="0" marL="0">
              <a:buNone/>
            </a:pPr>
            <a:endParaRPr lang="en-US" sz="1100" dirty="0"/>
          </a:p>
          <a:p>
            <a:pPr indent="0" marL="0">
              <a:buNone/>
            </a:pPr>
            <a:r>
              <a:rPr lang="en-US" sz="1100" dirty="0">
                <a:solidFill>
                  <a:srgbClr val="6A9955"/>
                </a:solidFill>
                <a:latin typeface="Courier New" pitchFamily="34" charset="0"/>
                <a:ea typeface="Courier New" pitchFamily="34" charset="-122"/>
                <a:cs typeface="Courier New" pitchFamily="34" charset="-120"/>
              </a:rPr>
              <a:t>## Stack</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React 19, React Router v7 (framework mode), TanStack Query, Zustand for client state.</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Vite 6. Vitest + RTL + MSW for tests. ESLint with react-hooks and react-compiler plugins.</a:t>
            </a:r>
            <a:endParaRPr lang="en-US" sz="1100" dirty="0"/>
          </a:p>
          <a:p>
            <a:pPr indent="0" marL="0">
              <a:buNone/>
            </a:pPr>
            <a:endParaRPr lang="en-US" sz="1100" dirty="0"/>
          </a:p>
          <a:p>
            <a:pPr indent="0" marL="0">
              <a:buNone/>
            </a:pPr>
            <a:r>
              <a:rPr lang="en-US" sz="1100" dirty="0">
                <a:solidFill>
                  <a:srgbClr val="6A9955"/>
                </a:solidFill>
                <a:latin typeface="Courier New" pitchFamily="34" charset="0"/>
                <a:ea typeface="Courier New" pitchFamily="34" charset="-122"/>
                <a:cs typeface="Courier New" pitchFamily="34" charset="-120"/>
              </a:rPr>
              <a:t>## Conventions</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All routes go in app/routes/. Loaders + actions are exports from those files.</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Server data goes through TanStack Query. Don't use useEffect + fetch.</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Tests use userEvent.setup(), getByRole, MSW handlers (NOT vi.fn on api.js).</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Action names describe transitions: addItem, removePost. Not setItems, setPosts.</a:t>
            </a:r>
            <a:endParaRPr lang="en-US" sz="1100" dirty="0"/>
          </a:p>
          <a:p>
            <a:pPr indent="0" marL="0">
              <a:buNone/>
            </a:pPr>
            <a:endParaRPr lang="en-US" sz="1100" dirty="0"/>
          </a:p>
          <a:p>
            <a:pPr indent="0" marL="0">
              <a:buNone/>
            </a:pPr>
            <a:r>
              <a:rPr lang="en-US" sz="1100" dirty="0">
                <a:solidFill>
                  <a:srgbClr val="6A9955"/>
                </a:solidFill>
                <a:latin typeface="Courier New" pitchFamily="34" charset="0"/>
                <a:ea typeface="Courier New" pitchFamily="34" charset="-122"/>
                <a:cs typeface="Courier New" pitchFamily="34" charset="-120"/>
              </a:rPr>
              <a:t>## Do not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Add 'use client' to silence build errors. Refactor instead.</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Use getByTestId in tests. Use accessible queries.</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Add localStorage for auth tokens. Cookies are HttpOnly server-managed.</a:t>
            </a:r>
            <a:endParaRPr lang="en-US" sz="1100" dirty="0"/>
          </a:p>
          <a:p>
            <a:pPr indent="0" marL="0">
              <a:buNone/>
            </a:pPr>
            <a:endParaRPr lang="en-US" sz="1100" dirty="0"/>
          </a:p>
          <a:p>
            <a:pPr indent="0" marL="0">
              <a:buNone/>
            </a:pPr>
            <a:r>
              <a:rPr lang="en-US" sz="1100" dirty="0">
                <a:solidFill>
                  <a:srgbClr val="6A9955"/>
                </a:solidFill>
                <a:latin typeface="Courier New" pitchFamily="34" charset="0"/>
                <a:ea typeface="Courier New" pitchFamily="34" charset="-122"/>
                <a:cs typeface="Courier New" pitchFamily="34" charset="-120"/>
              </a:rPr>
              <a:t>## Read first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app/lib/queryKeys.js (cache key conventions)</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app/stores/ui.js (theme + sidebar — example of our store style)</a:t>
            </a:r>
            <a:endParaRPr lang="en-US" sz="11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17 / 29</a:t>
            </a:r>
            <a:endParaRPr lang="en-US" sz="90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Lint rules as guardrails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AI listens to errors. Make the lint config strict so AI fixes things on the way out.</a:t>
            </a:r>
            <a:endParaRPr lang="en-US" sz="1400" dirty="0"/>
          </a:p>
        </p:txBody>
      </p:sp>
      <p:sp>
        <p:nvSpPr>
          <p:cNvPr id="5" name="Shape 3"/>
          <p:cNvSpPr/>
          <p:nvPr/>
        </p:nvSpPr>
        <p:spPr>
          <a:xfrm>
            <a:off x="777240" y="1691640"/>
            <a:ext cx="10607040" cy="713232"/>
          </a:xfrm>
          <a:prstGeom prst="rect">
            <a:avLst/>
          </a:prstGeom>
          <a:solidFill>
            <a:srgbClr val="FFFFFF"/>
          </a:solidFill>
          <a:ln w="12700">
            <a:solidFill>
              <a:srgbClr val="E2E8F0"/>
            </a:solidFill>
            <a:prstDash val="solid"/>
          </a:ln>
        </p:spPr>
      </p:sp>
      <p:sp>
        <p:nvSpPr>
          <p:cNvPr id="6" name="Text 4"/>
          <p:cNvSpPr/>
          <p:nvPr/>
        </p:nvSpPr>
        <p:spPr>
          <a:xfrm>
            <a:off x="960120" y="1737360"/>
            <a:ext cx="4572000" cy="64008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react-hooks/exhaustive-deps</a:t>
            </a:r>
            <a:endParaRPr lang="en-US" sz="1150" dirty="0"/>
          </a:p>
        </p:txBody>
      </p:sp>
      <p:sp>
        <p:nvSpPr>
          <p:cNvPr id="7" name="Text 5"/>
          <p:cNvSpPr/>
          <p:nvPr/>
        </p:nvSpPr>
        <p:spPr>
          <a:xfrm>
            <a:off x="5623560" y="1737360"/>
            <a:ext cx="56692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Catches missing useEffect deps. Catches stale closures the AI introduces.</a:t>
            </a:r>
            <a:endParaRPr lang="en-US" sz="1150" dirty="0"/>
          </a:p>
        </p:txBody>
      </p:sp>
      <p:sp>
        <p:nvSpPr>
          <p:cNvPr id="8" name="Shape 6"/>
          <p:cNvSpPr/>
          <p:nvPr/>
        </p:nvSpPr>
        <p:spPr>
          <a:xfrm>
            <a:off x="777240" y="2560320"/>
            <a:ext cx="10607040" cy="713232"/>
          </a:xfrm>
          <a:prstGeom prst="rect">
            <a:avLst/>
          </a:prstGeom>
          <a:solidFill>
            <a:srgbClr val="FFFFFF"/>
          </a:solidFill>
          <a:ln w="12700">
            <a:solidFill>
              <a:srgbClr val="E2E8F0"/>
            </a:solidFill>
            <a:prstDash val="solid"/>
          </a:ln>
        </p:spPr>
      </p:sp>
      <p:sp>
        <p:nvSpPr>
          <p:cNvPr id="9" name="Text 7"/>
          <p:cNvSpPr/>
          <p:nvPr/>
        </p:nvSpPr>
        <p:spPr>
          <a:xfrm>
            <a:off x="960120" y="2606040"/>
            <a:ext cx="4572000" cy="64008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react-compiler/react-compiler</a:t>
            </a:r>
            <a:endParaRPr lang="en-US" sz="1150" dirty="0"/>
          </a:p>
        </p:txBody>
      </p:sp>
      <p:sp>
        <p:nvSpPr>
          <p:cNvPr id="10" name="Text 8"/>
          <p:cNvSpPr/>
          <p:nvPr/>
        </p:nvSpPr>
        <p:spPr>
          <a:xfrm>
            <a:off x="5623560" y="2606040"/>
            <a:ext cx="56692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Flags components that bail out of compiler memoization. Catches in-render mutation.</a:t>
            </a:r>
            <a:endParaRPr lang="en-US" sz="1150" dirty="0"/>
          </a:p>
        </p:txBody>
      </p:sp>
      <p:sp>
        <p:nvSpPr>
          <p:cNvPr id="11" name="Shape 9"/>
          <p:cNvSpPr/>
          <p:nvPr/>
        </p:nvSpPr>
        <p:spPr>
          <a:xfrm>
            <a:off x="777240" y="3429000"/>
            <a:ext cx="10607040" cy="713232"/>
          </a:xfrm>
          <a:prstGeom prst="rect">
            <a:avLst/>
          </a:prstGeom>
          <a:solidFill>
            <a:srgbClr val="FFFFFF"/>
          </a:solidFill>
          <a:ln w="12700">
            <a:solidFill>
              <a:srgbClr val="E2E8F0"/>
            </a:solidFill>
            <a:prstDash val="solid"/>
          </a:ln>
        </p:spPr>
      </p:sp>
      <p:sp>
        <p:nvSpPr>
          <p:cNvPr id="12" name="Text 10"/>
          <p:cNvSpPr/>
          <p:nvPr/>
        </p:nvSpPr>
        <p:spPr>
          <a:xfrm>
            <a:off x="960120" y="3474720"/>
            <a:ext cx="4572000" cy="64008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@typescript-eslint/no-floating-promises</a:t>
            </a:r>
            <a:endParaRPr lang="en-US" sz="1150" dirty="0"/>
          </a:p>
        </p:txBody>
      </p:sp>
      <p:sp>
        <p:nvSpPr>
          <p:cNvPr id="13" name="Text 11"/>
          <p:cNvSpPr/>
          <p:nvPr/>
        </p:nvSpPr>
        <p:spPr>
          <a:xfrm>
            <a:off x="5623560" y="3474720"/>
            <a:ext cx="56692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If TS: catches AI's tendency to forget await.</a:t>
            </a:r>
            <a:endParaRPr lang="en-US" sz="1150" dirty="0"/>
          </a:p>
        </p:txBody>
      </p:sp>
      <p:sp>
        <p:nvSpPr>
          <p:cNvPr id="14" name="Shape 12"/>
          <p:cNvSpPr/>
          <p:nvPr/>
        </p:nvSpPr>
        <p:spPr>
          <a:xfrm>
            <a:off x="777240" y="4297680"/>
            <a:ext cx="10607040" cy="713232"/>
          </a:xfrm>
          <a:prstGeom prst="rect">
            <a:avLst/>
          </a:prstGeom>
          <a:solidFill>
            <a:srgbClr val="FFFFFF"/>
          </a:solidFill>
          <a:ln w="12700">
            <a:solidFill>
              <a:srgbClr val="E2E8F0"/>
            </a:solidFill>
            <a:prstDash val="solid"/>
          </a:ln>
        </p:spPr>
      </p:sp>
      <p:sp>
        <p:nvSpPr>
          <p:cNvPr id="15" name="Text 13"/>
          <p:cNvSpPr/>
          <p:nvPr/>
        </p:nvSpPr>
        <p:spPr>
          <a:xfrm>
            <a:off x="960120" y="4343400"/>
            <a:ext cx="4572000" cy="64008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testing-library/prefer-user-event</a:t>
            </a:r>
            <a:endParaRPr lang="en-US" sz="1150" dirty="0"/>
          </a:p>
        </p:txBody>
      </p:sp>
      <p:sp>
        <p:nvSpPr>
          <p:cNvPr id="16" name="Text 14"/>
          <p:cNvSpPr/>
          <p:nvPr/>
        </p:nvSpPr>
        <p:spPr>
          <a:xfrm>
            <a:off x="5623560" y="4343400"/>
            <a:ext cx="56692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Auto-flags fireEvent suggestions in test files.</a:t>
            </a:r>
            <a:endParaRPr lang="en-US" sz="1150" dirty="0"/>
          </a:p>
        </p:txBody>
      </p:sp>
      <p:sp>
        <p:nvSpPr>
          <p:cNvPr id="17" name="Shape 15"/>
          <p:cNvSpPr/>
          <p:nvPr/>
        </p:nvSpPr>
        <p:spPr>
          <a:xfrm>
            <a:off x="777240" y="5166360"/>
            <a:ext cx="10607040" cy="713232"/>
          </a:xfrm>
          <a:prstGeom prst="rect">
            <a:avLst/>
          </a:prstGeom>
          <a:solidFill>
            <a:srgbClr val="FFFFFF"/>
          </a:solidFill>
          <a:ln w="12700">
            <a:solidFill>
              <a:srgbClr val="E2E8F0"/>
            </a:solidFill>
            <a:prstDash val="solid"/>
          </a:ln>
        </p:spPr>
      </p:sp>
      <p:sp>
        <p:nvSpPr>
          <p:cNvPr id="18" name="Text 16"/>
          <p:cNvSpPr/>
          <p:nvPr/>
        </p:nvSpPr>
        <p:spPr>
          <a:xfrm>
            <a:off x="960120" y="5212080"/>
            <a:ext cx="4572000" cy="640080"/>
          </a:xfrm>
          <a:prstGeom prst="rect">
            <a:avLst/>
          </a:prstGeom>
          <a:noFill/>
          <a:ln/>
        </p:spPr>
        <p:txBody>
          <a:bodyPr wrap="square" lIns="0" tIns="0" rIns="0" bIns="0" rtlCol="0" anchor="ctr"/>
          <a:lstStyle/>
          <a:p>
            <a:pPr indent="0" marL="0">
              <a:buNone/>
            </a:pPr>
            <a:r>
              <a:rPr lang="en-US" sz="1150" b="1" dirty="0">
                <a:solidFill>
                  <a:srgbClr val="00B8D9"/>
                </a:solidFill>
                <a:latin typeface="Courier New" pitchFamily="34" charset="0"/>
                <a:ea typeface="Courier New" pitchFamily="34" charset="-122"/>
                <a:cs typeface="Courier New" pitchFamily="34" charset="-120"/>
              </a:rPr>
              <a:t>no-restricted-imports (server-only / client-only)</a:t>
            </a:r>
            <a:endParaRPr lang="en-US" sz="1150" dirty="0"/>
          </a:p>
        </p:txBody>
      </p:sp>
      <p:sp>
        <p:nvSpPr>
          <p:cNvPr id="19" name="Text 17"/>
          <p:cNvSpPr/>
          <p:nvPr/>
        </p:nvSpPr>
        <p:spPr>
          <a:xfrm>
            <a:off x="5623560" y="5212080"/>
            <a:ext cx="56692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Prevents server modules leaking into client and vice versa.</a:t>
            </a:r>
            <a:endParaRPr lang="en-US" sz="1150" dirty="0"/>
          </a:p>
        </p:txBody>
      </p:sp>
      <p:sp>
        <p:nvSpPr>
          <p:cNvPr id="20" name="Text 1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21" name="Text 1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18 / 29</a:t>
            </a:r>
            <a:endParaRPr lang="en-US" sz="90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Repo conventions that travel</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Small, codified, durable. AI tools across your team see the same shape.</a:t>
            </a:r>
            <a:endParaRPr lang="en-US" sz="1400" dirty="0"/>
          </a:p>
        </p:txBody>
      </p:sp>
      <p:sp>
        <p:nvSpPr>
          <p:cNvPr id="5" name="Shape 3"/>
          <p:cNvSpPr/>
          <p:nvPr/>
        </p:nvSpPr>
        <p:spPr>
          <a:xfrm>
            <a:off x="777240" y="1691640"/>
            <a:ext cx="10607040" cy="713232"/>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10512"/>
            <a:ext cx="411480" cy="411480"/>
          </a:xfrm>
          <a:prstGeom prst="rect">
            <a:avLst/>
          </a:prstGeom>
        </p:spPr>
      </p:pic>
      <p:sp>
        <p:nvSpPr>
          <p:cNvPr id="7" name="Text 4"/>
          <p:cNvSpPr/>
          <p:nvPr/>
        </p:nvSpPr>
        <p:spPr>
          <a:xfrm>
            <a:off x="1554480" y="1737360"/>
            <a:ext cx="2743200" cy="640080"/>
          </a:xfrm>
          <a:prstGeom prst="rect">
            <a:avLst/>
          </a:prstGeom>
          <a:noFill/>
          <a:ln/>
        </p:spPr>
        <p:txBody>
          <a:bodyPr wrap="square" lIns="0" tIns="0" rIns="0" bIns="0" rtlCol="0" anchor="ctr"/>
          <a:lstStyle/>
          <a:p>
            <a:pPr indent="0" marL="0">
              <a:buNone/>
            </a:pPr>
            <a:r>
              <a:rPr lang="en-US" sz="1250" b="1" dirty="0">
                <a:solidFill>
                  <a:srgbClr val="0F172A"/>
                </a:solidFill>
                <a:latin typeface="Courier New" pitchFamily="34" charset="0"/>
                <a:ea typeface="Courier New" pitchFamily="34" charset="-122"/>
                <a:cs typeface="Courier New" pitchFamily="34" charset="-120"/>
              </a:rPr>
              <a:t>queryKeys.js</a:t>
            </a:r>
            <a:endParaRPr lang="en-US" sz="1250" dirty="0"/>
          </a:p>
        </p:txBody>
      </p:sp>
      <p:sp>
        <p:nvSpPr>
          <p:cNvPr id="8" name="Text 5"/>
          <p:cNvSpPr/>
          <p:nvPr/>
        </p:nvSpPr>
        <p:spPr>
          <a:xfrm>
            <a:off x="4434840" y="1737360"/>
            <a:ext cx="685800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Centralize TanStack Query keys. AI uses your factories instead of inventing new ones.</a:t>
            </a:r>
            <a:endParaRPr lang="en-US" sz="1150" dirty="0"/>
          </a:p>
        </p:txBody>
      </p:sp>
      <p:sp>
        <p:nvSpPr>
          <p:cNvPr id="9" name="Shape 6"/>
          <p:cNvSpPr/>
          <p:nvPr/>
        </p:nvSpPr>
        <p:spPr>
          <a:xfrm>
            <a:off x="777240" y="2560320"/>
            <a:ext cx="10607040" cy="713232"/>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679192"/>
            <a:ext cx="411480" cy="411480"/>
          </a:xfrm>
          <a:prstGeom prst="rect">
            <a:avLst/>
          </a:prstGeom>
        </p:spPr>
      </p:pic>
      <p:sp>
        <p:nvSpPr>
          <p:cNvPr id="11" name="Text 7"/>
          <p:cNvSpPr/>
          <p:nvPr/>
        </p:nvSpPr>
        <p:spPr>
          <a:xfrm>
            <a:off x="1554480" y="2606040"/>
            <a:ext cx="2743200" cy="640080"/>
          </a:xfrm>
          <a:prstGeom prst="rect">
            <a:avLst/>
          </a:prstGeom>
          <a:noFill/>
          <a:ln/>
        </p:spPr>
        <p:txBody>
          <a:bodyPr wrap="square" lIns="0" tIns="0" rIns="0" bIns="0" rtlCol="0" anchor="ctr"/>
          <a:lstStyle/>
          <a:p>
            <a:pPr indent="0" marL="0">
              <a:buNone/>
            </a:pPr>
            <a:r>
              <a:rPr lang="en-US" sz="1250" b="1" dirty="0">
                <a:solidFill>
                  <a:srgbClr val="0F172A"/>
                </a:solidFill>
                <a:latin typeface="Courier New" pitchFamily="34" charset="0"/>
                <a:ea typeface="Courier New" pitchFamily="34" charset="-122"/>
                <a:cs typeface="Courier New" pitchFamily="34" charset="-120"/>
              </a:rPr>
              <a:t>stores/</a:t>
            </a:r>
            <a:endParaRPr lang="en-US" sz="1250" dirty="0"/>
          </a:p>
        </p:txBody>
      </p:sp>
      <p:sp>
        <p:nvSpPr>
          <p:cNvPr id="12" name="Text 8"/>
          <p:cNvSpPr/>
          <p:nvPr/>
        </p:nvSpPr>
        <p:spPr>
          <a:xfrm>
            <a:off x="4434840" y="2606040"/>
            <a:ext cx="685800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Group client state by feature. AI mirrors the structure when adding state.</a:t>
            </a:r>
            <a:endParaRPr lang="en-US" sz="1150" dirty="0"/>
          </a:p>
        </p:txBody>
      </p:sp>
      <p:sp>
        <p:nvSpPr>
          <p:cNvPr id="13" name="Shape 9"/>
          <p:cNvSpPr/>
          <p:nvPr/>
        </p:nvSpPr>
        <p:spPr>
          <a:xfrm>
            <a:off x="777240" y="3429000"/>
            <a:ext cx="10607040" cy="713232"/>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547872"/>
            <a:ext cx="411480" cy="411480"/>
          </a:xfrm>
          <a:prstGeom prst="rect">
            <a:avLst/>
          </a:prstGeom>
        </p:spPr>
      </p:pic>
      <p:sp>
        <p:nvSpPr>
          <p:cNvPr id="15" name="Text 10"/>
          <p:cNvSpPr/>
          <p:nvPr/>
        </p:nvSpPr>
        <p:spPr>
          <a:xfrm>
            <a:off x="1554480" y="3474720"/>
            <a:ext cx="2743200" cy="640080"/>
          </a:xfrm>
          <a:prstGeom prst="rect">
            <a:avLst/>
          </a:prstGeom>
          <a:noFill/>
          <a:ln/>
        </p:spPr>
        <p:txBody>
          <a:bodyPr wrap="square" lIns="0" tIns="0" rIns="0" bIns="0" rtlCol="0" anchor="ctr"/>
          <a:lstStyle/>
          <a:p>
            <a:pPr indent="0" marL="0">
              <a:buNone/>
            </a:pPr>
            <a:r>
              <a:rPr lang="en-US" sz="1250" b="1" dirty="0">
                <a:solidFill>
                  <a:srgbClr val="0F172A"/>
                </a:solidFill>
                <a:latin typeface="Courier New" pitchFamily="34" charset="0"/>
                <a:ea typeface="Courier New" pitchFamily="34" charset="-122"/>
                <a:cs typeface="Courier New" pitchFamily="34" charset="-120"/>
              </a:rPr>
              <a:t>actions/</a:t>
            </a:r>
            <a:endParaRPr lang="en-US" sz="1250" dirty="0"/>
          </a:p>
        </p:txBody>
      </p:sp>
      <p:sp>
        <p:nvSpPr>
          <p:cNvPr id="16" name="Text 11"/>
          <p:cNvSpPr/>
          <p:nvPr/>
        </p:nvSpPr>
        <p:spPr>
          <a:xfrm>
            <a:off x="4434840" y="3474720"/>
            <a:ext cx="685800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Server Actions in one folder. 'use server' at the top of each file makes the boundary obvious.</a:t>
            </a:r>
            <a:endParaRPr lang="en-US" sz="1150" dirty="0"/>
          </a:p>
        </p:txBody>
      </p:sp>
      <p:sp>
        <p:nvSpPr>
          <p:cNvPr id="17" name="Shape 12"/>
          <p:cNvSpPr/>
          <p:nvPr/>
        </p:nvSpPr>
        <p:spPr>
          <a:xfrm>
            <a:off x="777240" y="4297680"/>
            <a:ext cx="10607040" cy="713232"/>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4416552"/>
            <a:ext cx="411480" cy="411480"/>
          </a:xfrm>
          <a:prstGeom prst="rect">
            <a:avLst/>
          </a:prstGeom>
        </p:spPr>
      </p:pic>
      <p:sp>
        <p:nvSpPr>
          <p:cNvPr id="19" name="Text 13"/>
          <p:cNvSpPr/>
          <p:nvPr/>
        </p:nvSpPr>
        <p:spPr>
          <a:xfrm>
            <a:off x="1554480" y="4343400"/>
            <a:ext cx="2743200" cy="640080"/>
          </a:xfrm>
          <a:prstGeom prst="rect">
            <a:avLst/>
          </a:prstGeom>
          <a:noFill/>
          <a:ln/>
        </p:spPr>
        <p:txBody>
          <a:bodyPr wrap="square" lIns="0" tIns="0" rIns="0" bIns="0" rtlCol="0" anchor="ctr"/>
          <a:lstStyle/>
          <a:p>
            <a:pPr indent="0" marL="0">
              <a:buNone/>
            </a:pPr>
            <a:r>
              <a:rPr lang="en-US" sz="1250" b="1" dirty="0">
                <a:solidFill>
                  <a:srgbClr val="0F172A"/>
                </a:solidFill>
                <a:latin typeface="Courier New" pitchFamily="34" charset="0"/>
                <a:ea typeface="Courier New" pitchFamily="34" charset="-122"/>
                <a:cs typeface="Courier New" pitchFamily="34" charset="-120"/>
              </a:rPr>
              <a:t>lib/api.js</a:t>
            </a:r>
            <a:endParaRPr lang="en-US" sz="1250" dirty="0"/>
          </a:p>
        </p:txBody>
      </p:sp>
      <p:sp>
        <p:nvSpPr>
          <p:cNvPr id="20" name="Text 14"/>
          <p:cNvSpPr/>
          <p:nvPr/>
        </p:nvSpPr>
        <p:spPr>
          <a:xfrm>
            <a:off x="4434840" y="4343400"/>
            <a:ext cx="685800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Single source of network calls. AI extends it instead of rolling new fetch patterns.</a:t>
            </a:r>
            <a:endParaRPr lang="en-US" sz="1150" dirty="0"/>
          </a:p>
        </p:txBody>
      </p:sp>
      <p:sp>
        <p:nvSpPr>
          <p:cNvPr id="21" name="Shape 15"/>
          <p:cNvSpPr/>
          <p:nvPr/>
        </p:nvSpPr>
        <p:spPr>
          <a:xfrm>
            <a:off x="777240" y="5166360"/>
            <a:ext cx="10607040" cy="713232"/>
          </a:xfrm>
          <a:prstGeom prst="rect">
            <a:avLst/>
          </a:prstGeom>
          <a:solidFill>
            <a:srgbClr val="FFFFFF"/>
          </a:solidFill>
          <a:ln w="12700">
            <a:solidFill>
              <a:srgbClr val="E2E8F0"/>
            </a:solidFill>
            <a:prstDash val="solid"/>
          </a:ln>
        </p:spPr>
      </p:sp>
      <p:pic>
        <p:nvPicPr>
          <p:cNvPr id="22" name="Image 4" descr="preencoded.png">    </p:cNvPr>
          <p:cNvPicPr>
            <a:picLocks noChangeAspect="1"/>
          </p:cNvPicPr>
          <p:nvPr/>
        </p:nvPicPr>
        <p:blipFill>
          <a:blip r:embed="rId5"/>
          <a:stretch>
            <a:fillRect/>
          </a:stretch>
        </p:blipFill>
        <p:spPr>
          <a:xfrm>
            <a:off x="960120" y="5285232"/>
            <a:ext cx="411480" cy="411480"/>
          </a:xfrm>
          <a:prstGeom prst="rect">
            <a:avLst/>
          </a:prstGeom>
        </p:spPr>
      </p:pic>
      <p:sp>
        <p:nvSpPr>
          <p:cNvPr id="23" name="Text 16"/>
          <p:cNvSpPr/>
          <p:nvPr/>
        </p:nvSpPr>
        <p:spPr>
          <a:xfrm>
            <a:off x="1554480" y="5212080"/>
            <a:ext cx="2743200" cy="640080"/>
          </a:xfrm>
          <a:prstGeom prst="rect">
            <a:avLst/>
          </a:prstGeom>
          <a:noFill/>
          <a:ln/>
        </p:spPr>
        <p:txBody>
          <a:bodyPr wrap="square" lIns="0" tIns="0" rIns="0" bIns="0" rtlCol="0" anchor="ctr"/>
          <a:lstStyle/>
          <a:p>
            <a:pPr indent="0" marL="0">
              <a:buNone/>
            </a:pPr>
            <a:r>
              <a:rPr lang="en-US" sz="1250" b="1" dirty="0">
                <a:solidFill>
                  <a:srgbClr val="0F172A"/>
                </a:solidFill>
                <a:latin typeface="Courier New" pitchFamily="34" charset="0"/>
                <a:ea typeface="Courier New" pitchFamily="34" charset="-122"/>
                <a:cs typeface="Courier New" pitchFamily="34" charset="-120"/>
              </a:rPr>
              <a:t>test/handlers.js</a:t>
            </a:r>
            <a:endParaRPr lang="en-US" sz="1250" dirty="0"/>
          </a:p>
        </p:txBody>
      </p:sp>
      <p:sp>
        <p:nvSpPr>
          <p:cNvPr id="24" name="Text 17"/>
          <p:cNvSpPr/>
          <p:nvPr/>
        </p:nvSpPr>
        <p:spPr>
          <a:xfrm>
            <a:off x="4434840" y="5212080"/>
            <a:ext cx="685800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MSW handlers in one place. AI extends, doesn't fragment, the mock surface.</a:t>
            </a:r>
            <a:endParaRPr lang="en-US" sz="1150" dirty="0"/>
          </a:p>
        </p:txBody>
      </p:sp>
      <p:sp>
        <p:nvSpPr>
          <p:cNvPr id="25" name="Text 1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26" name="Text 1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19 / 29</a:t>
            </a:r>
            <a:endParaRPr lang="en-US" sz="90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0">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4</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Workflows That Work</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Spec-driven dev. AI-assisted refactors. AI-assisted migrations.</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Spec-driven development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Write a brief spec. Let the AI do the typing. Review the diff.</a:t>
            </a:r>
            <a:endParaRPr lang="en-US" sz="1400" dirty="0"/>
          </a:p>
        </p:txBody>
      </p:sp>
      <p:sp>
        <p:nvSpPr>
          <p:cNvPr id="5" name="Shape 3"/>
          <p:cNvSpPr/>
          <p:nvPr/>
        </p:nvSpPr>
        <p:spPr>
          <a:xfrm>
            <a:off x="777240" y="1691640"/>
            <a:ext cx="10607040" cy="713232"/>
          </a:xfrm>
          <a:prstGeom prst="rect">
            <a:avLst/>
          </a:prstGeom>
          <a:solidFill>
            <a:srgbClr val="FFFFFF"/>
          </a:solidFill>
          <a:ln w="12700">
            <a:solidFill>
              <a:srgbClr val="E2E8F0"/>
            </a:solidFill>
            <a:prstDash val="solid"/>
          </a:ln>
        </p:spPr>
      </p:sp>
      <p:sp>
        <p:nvSpPr>
          <p:cNvPr id="6" name="Shape 4"/>
          <p:cNvSpPr/>
          <p:nvPr/>
        </p:nvSpPr>
        <p:spPr>
          <a:xfrm>
            <a:off x="960120" y="1856232"/>
            <a:ext cx="411480" cy="411480"/>
          </a:xfrm>
          <a:prstGeom prst="ellipse">
            <a:avLst/>
          </a:prstGeom>
          <a:solidFill>
            <a:srgbClr val="00B8D9"/>
          </a:solidFill>
          <a:ln w="12700">
            <a:solidFill>
              <a:srgbClr val="00B8D9"/>
            </a:solidFill>
            <a:prstDash val="solid"/>
          </a:ln>
        </p:spPr>
      </p:sp>
      <p:sp>
        <p:nvSpPr>
          <p:cNvPr id="7" name="Text 5"/>
          <p:cNvSpPr/>
          <p:nvPr/>
        </p:nvSpPr>
        <p:spPr>
          <a:xfrm>
            <a:off x="960120" y="185623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8" name="Text 6"/>
          <p:cNvSpPr/>
          <p:nvPr/>
        </p:nvSpPr>
        <p:spPr>
          <a:xfrm>
            <a:off x="1508760" y="1737360"/>
            <a:ext cx="411480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Write a one-paragraph spec</a:t>
            </a:r>
            <a:endParaRPr lang="en-US" sz="1250" dirty="0"/>
          </a:p>
        </p:txBody>
      </p:sp>
      <p:sp>
        <p:nvSpPr>
          <p:cNvPr id="9" name="Text 7"/>
          <p:cNvSpPr/>
          <p:nvPr/>
        </p:nvSpPr>
        <p:spPr>
          <a:xfrm>
            <a:off x="5715000" y="1737360"/>
            <a:ext cx="557784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What does the feature do? What's the acceptance criteria? Where does the code go? What's out of scope?</a:t>
            </a:r>
            <a:endParaRPr lang="en-US" sz="1150" dirty="0"/>
          </a:p>
        </p:txBody>
      </p:sp>
      <p:sp>
        <p:nvSpPr>
          <p:cNvPr id="10" name="Shape 8"/>
          <p:cNvSpPr/>
          <p:nvPr/>
        </p:nvSpPr>
        <p:spPr>
          <a:xfrm>
            <a:off x="777240" y="2560320"/>
            <a:ext cx="10607040" cy="713232"/>
          </a:xfrm>
          <a:prstGeom prst="rect">
            <a:avLst/>
          </a:prstGeom>
          <a:solidFill>
            <a:srgbClr val="FFFFFF"/>
          </a:solidFill>
          <a:ln w="12700">
            <a:solidFill>
              <a:srgbClr val="E2E8F0"/>
            </a:solidFill>
            <a:prstDash val="solid"/>
          </a:ln>
        </p:spPr>
      </p:sp>
      <p:sp>
        <p:nvSpPr>
          <p:cNvPr id="11" name="Shape 9"/>
          <p:cNvSpPr/>
          <p:nvPr/>
        </p:nvSpPr>
        <p:spPr>
          <a:xfrm>
            <a:off x="960120" y="2724912"/>
            <a:ext cx="411480" cy="411480"/>
          </a:xfrm>
          <a:prstGeom prst="ellipse">
            <a:avLst/>
          </a:prstGeom>
          <a:solidFill>
            <a:srgbClr val="00B8D9"/>
          </a:solidFill>
          <a:ln w="12700">
            <a:solidFill>
              <a:srgbClr val="00B8D9"/>
            </a:solidFill>
            <a:prstDash val="solid"/>
          </a:ln>
        </p:spPr>
      </p:sp>
      <p:sp>
        <p:nvSpPr>
          <p:cNvPr id="12" name="Text 10"/>
          <p:cNvSpPr/>
          <p:nvPr/>
        </p:nvSpPr>
        <p:spPr>
          <a:xfrm>
            <a:off x="960120" y="27249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3" name="Text 11"/>
          <p:cNvSpPr/>
          <p:nvPr/>
        </p:nvSpPr>
        <p:spPr>
          <a:xfrm>
            <a:off x="1508760" y="2606040"/>
            <a:ext cx="411480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Drop the spec into the AI's context</a:t>
            </a:r>
            <a:endParaRPr lang="en-US" sz="1250" dirty="0"/>
          </a:p>
        </p:txBody>
      </p:sp>
      <p:sp>
        <p:nvSpPr>
          <p:cNvPr id="14" name="Text 12"/>
          <p:cNvSpPr/>
          <p:nvPr/>
        </p:nvSpPr>
        <p:spPr>
          <a:xfrm>
            <a:off x="5715000" y="2606040"/>
            <a:ext cx="557784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Either as a prompt or as a SPEC.md file the agent reads.</a:t>
            </a:r>
            <a:endParaRPr lang="en-US" sz="1150" dirty="0"/>
          </a:p>
        </p:txBody>
      </p:sp>
      <p:sp>
        <p:nvSpPr>
          <p:cNvPr id="15" name="Shape 13"/>
          <p:cNvSpPr/>
          <p:nvPr/>
        </p:nvSpPr>
        <p:spPr>
          <a:xfrm>
            <a:off x="777240" y="3429000"/>
            <a:ext cx="10607040" cy="713232"/>
          </a:xfrm>
          <a:prstGeom prst="rect">
            <a:avLst/>
          </a:prstGeom>
          <a:solidFill>
            <a:srgbClr val="FFFFFF"/>
          </a:solidFill>
          <a:ln w="12700">
            <a:solidFill>
              <a:srgbClr val="E2E8F0"/>
            </a:solidFill>
            <a:prstDash val="solid"/>
          </a:ln>
        </p:spPr>
      </p:sp>
      <p:sp>
        <p:nvSpPr>
          <p:cNvPr id="16" name="Shape 14"/>
          <p:cNvSpPr/>
          <p:nvPr/>
        </p:nvSpPr>
        <p:spPr>
          <a:xfrm>
            <a:off x="960120" y="3593592"/>
            <a:ext cx="411480" cy="411480"/>
          </a:xfrm>
          <a:prstGeom prst="ellipse">
            <a:avLst/>
          </a:prstGeom>
          <a:solidFill>
            <a:srgbClr val="00B8D9"/>
          </a:solidFill>
          <a:ln w="12700">
            <a:solidFill>
              <a:srgbClr val="00B8D9"/>
            </a:solidFill>
            <a:prstDash val="solid"/>
          </a:ln>
        </p:spPr>
      </p:sp>
      <p:sp>
        <p:nvSpPr>
          <p:cNvPr id="17" name="Text 15"/>
          <p:cNvSpPr/>
          <p:nvPr/>
        </p:nvSpPr>
        <p:spPr>
          <a:xfrm>
            <a:off x="960120" y="359359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18" name="Text 16"/>
          <p:cNvSpPr/>
          <p:nvPr/>
        </p:nvSpPr>
        <p:spPr>
          <a:xfrm>
            <a:off x="1508760" y="3474720"/>
            <a:ext cx="411480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Let the AI propose a structure first</a:t>
            </a:r>
            <a:endParaRPr lang="en-US" sz="1250" dirty="0"/>
          </a:p>
        </p:txBody>
      </p:sp>
      <p:sp>
        <p:nvSpPr>
          <p:cNvPr id="19" name="Text 17"/>
          <p:cNvSpPr/>
          <p:nvPr/>
        </p:nvSpPr>
        <p:spPr>
          <a:xfrm>
            <a:off x="5715000" y="3474720"/>
            <a:ext cx="557784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File list, function signatures, type definitions. Review BEFORE implementation.</a:t>
            </a:r>
            <a:endParaRPr lang="en-US" sz="1150" dirty="0"/>
          </a:p>
        </p:txBody>
      </p:sp>
      <p:sp>
        <p:nvSpPr>
          <p:cNvPr id="20" name="Shape 18"/>
          <p:cNvSpPr/>
          <p:nvPr/>
        </p:nvSpPr>
        <p:spPr>
          <a:xfrm>
            <a:off x="777240" y="4297680"/>
            <a:ext cx="10607040" cy="713232"/>
          </a:xfrm>
          <a:prstGeom prst="rect">
            <a:avLst/>
          </a:prstGeom>
          <a:solidFill>
            <a:srgbClr val="FFFFFF"/>
          </a:solidFill>
          <a:ln w="12700">
            <a:solidFill>
              <a:srgbClr val="E2E8F0"/>
            </a:solidFill>
            <a:prstDash val="solid"/>
          </a:ln>
        </p:spPr>
      </p:sp>
      <p:sp>
        <p:nvSpPr>
          <p:cNvPr id="21" name="Shape 19"/>
          <p:cNvSpPr/>
          <p:nvPr/>
        </p:nvSpPr>
        <p:spPr>
          <a:xfrm>
            <a:off x="960120" y="4462272"/>
            <a:ext cx="411480" cy="411480"/>
          </a:xfrm>
          <a:prstGeom prst="ellipse">
            <a:avLst/>
          </a:prstGeom>
          <a:solidFill>
            <a:srgbClr val="00B8D9"/>
          </a:solidFill>
          <a:ln w="12700">
            <a:solidFill>
              <a:srgbClr val="00B8D9"/>
            </a:solidFill>
            <a:prstDash val="solid"/>
          </a:ln>
        </p:spPr>
      </p:sp>
      <p:sp>
        <p:nvSpPr>
          <p:cNvPr id="22" name="Text 20"/>
          <p:cNvSpPr/>
          <p:nvPr/>
        </p:nvSpPr>
        <p:spPr>
          <a:xfrm>
            <a:off x="960120" y="446227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23" name="Text 21"/>
          <p:cNvSpPr/>
          <p:nvPr/>
        </p:nvSpPr>
        <p:spPr>
          <a:xfrm>
            <a:off x="1508760" y="4343400"/>
            <a:ext cx="411480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Iterate small</a:t>
            </a:r>
            <a:endParaRPr lang="en-US" sz="1250" dirty="0"/>
          </a:p>
        </p:txBody>
      </p:sp>
      <p:sp>
        <p:nvSpPr>
          <p:cNvPr id="24" name="Text 22"/>
          <p:cNvSpPr/>
          <p:nvPr/>
        </p:nvSpPr>
        <p:spPr>
          <a:xfrm>
            <a:off x="5715000" y="4343400"/>
            <a:ext cx="557784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One file at a time. Read each diff. Run tests after each batch.</a:t>
            </a:r>
            <a:endParaRPr lang="en-US" sz="1150" dirty="0"/>
          </a:p>
        </p:txBody>
      </p:sp>
      <p:sp>
        <p:nvSpPr>
          <p:cNvPr id="25" name="Shape 23"/>
          <p:cNvSpPr/>
          <p:nvPr/>
        </p:nvSpPr>
        <p:spPr>
          <a:xfrm>
            <a:off x="777240" y="5166360"/>
            <a:ext cx="10607040" cy="713232"/>
          </a:xfrm>
          <a:prstGeom prst="rect">
            <a:avLst/>
          </a:prstGeom>
          <a:solidFill>
            <a:srgbClr val="FFFFFF"/>
          </a:solidFill>
          <a:ln w="12700">
            <a:solidFill>
              <a:srgbClr val="E2E8F0"/>
            </a:solidFill>
            <a:prstDash val="solid"/>
          </a:ln>
        </p:spPr>
      </p:sp>
      <p:sp>
        <p:nvSpPr>
          <p:cNvPr id="26" name="Shape 24"/>
          <p:cNvSpPr/>
          <p:nvPr/>
        </p:nvSpPr>
        <p:spPr>
          <a:xfrm>
            <a:off x="960120" y="5330952"/>
            <a:ext cx="411480" cy="411480"/>
          </a:xfrm>
          <a:prstGeom prst="ellipse">
            <a:avLst/>
          </a:prstGeom>
          <a:solidFill>
            <a:srgbClr val="00B8D9"/>
          </a:solidFill>
          <a:ln w="12700">
            <a:solidFill>
              <a:srgbClr val="00B8D9"/>
            </a:solidFill>
            <a:prstDash val="solid"/>
          </a:ln>
        </p:spPr>
      </p:sp>
      <p:sp>
        <p:nvSpPr>
          <p:cNvPr id="27" name="Text 25"/>
          <p:cNvSpPr/>
          <p:nvPr/>
        </p:nvSpPr>
        <p:spPr>
          <a:xfrm>
            <a:off x="960120" y="533095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5</a:t>
            </a:r>
            <a:endParaRPr lang="en-US" sz="1400" dirty="0"/>
          </a:p>
        </p:txBody>
      </p:sp>
      <p:sp>
        <p:nvSpPr>
          <p:cNvPr id="28" name="Text 26"/>
          <p:cNvSpPr/>
          <p:nvPr/>
        </p:nvSpPr>
        <p:spPr>
          <a:xfrm>
            <a:off x="1508760" y="5212080"/>
            <a:ext cx="4114800" cy="64008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Verify with tests, types, dev server</a:t>
            </a:r>
            <a:endParaRPr lang="en-US" sz="1250" dirty="0"/>
          </a:p>
        </p:txBody>
      </p:sp>
      <p:sp>
        <p:nvSpPr>
          <p:cNvPr id="29" name="Text 27"/>
          <p:cNvSpPr/>
          <p:nvPr/>
        </p:nvSpPr>
        <p:spPr>
          <a:xfrm>
            <a:off x="5715000" y="5212080"/>
            <a:ext cx="557784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All three layers. Bugs that survive any one layer often die in another.</a:t>
            </a:r>
            <a:endParaRPr lang="en-US" sz="1150" dirty="0"/>
          </a:p>
        </p:txBody>
      </p:sp>
      <p:sp>
        <p:nvSpPr>
          <p:cNvPr id="30" name="Text 2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31" name="Text 2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21 / 29</a:t>
            </a:r>
            <a:endParaRPr lang="en-US" sz="90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AI-assisted refactors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AI is great at mechanical refactors. Verify with tests, not vibes.</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502920" cy="502920"/>
          </a:xfrm>
          <a:prstGeom prst="rect">
            <a:avLst/>
          </a:prstGeom>
        </p:spPr>
      </p:pic>
      <p:sp>
        <p:nvSpPr>
          <p:cNvPr id="7" name="Text 4"/>
          <p:cNvSpPr/>
          <p:nvPr/>
        </p:nvSpPr>
        <p:spPr>
          <a:xfrm>
            <a:off x="1691640" y="178308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Class to function components</a:t>
            </a:r>
            <a:endParaRPr lang="en-US" sz="1350" dirty="0"/>
          </a:p>
        </p:txBody>
      </p:sp>
      <p:sp>
        <p:nvSpPr>
          <p:cNvPr id="8" name="Text 5"/>
          <p:cNvSpPr/>
          <p:nvPr/>
        </p:nvSpPr>
        <p:spPr>
          <a:xfrm>
            <a:off x="1691640" y="210312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Lab 1's pattern. AI handles the syntactic conversion; you fix the semantic mistakes (stale closures, state-in-effect).</a:t>
            </a:r>
            <a:endParaRPr lang="en-US" sz="1150" dirty="0"/>
          </a:p>
        </p:txBody>
      </p:sp>
      <p:sp>
        <p:nvSpPr>
          <p:cNvPr id="9" name="Shape 6"/>
          <p:cNvSpPr/>
          <p:nvPr/>
        </p:nvSpPr>
        <p:spPr>
          <a:xfrm>
            <a:off x="777240" y="274320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926080"/>
            <a:ext cx="502920" cy="502920"/>
          </a:xfrm>
          <a:prstGeom prst="rect">
            <a:avLst/>
          </a:prstGeom>
        </p:spPr>
      </p:pic>
      <p:sp>
        <p:nvSpPr>
          <p:cNvPr id="11" name="Text 7"/>
          <p:cNvSpPr/>
          <p:nvPr/>
        </p:nvSpPr>
        <p:spPr>
          <a:xfrm>
            <a:off x="1691640" y="283464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Old hooks to new hooks</a:t>
            </a:r>
            <a:endParaRPr lang="en-US" sz="1350" dirty="0"/>
          </a:p>
        </p:txBody>
      </p:sp>
      <p:sp>
        <p:nvSpPr>
          <p:cNvPr id="12" name="Text 8"/>
          <p:cNvSpPr/>
          <p:nvPr/>
        </p:nvSpPr>
        <p:spPr>
          <a:xfrm>
            <a:off x="1691640" y="315468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useState to useReducer, useEffect+fetch to TanStack Query. AI gets the structure right; you check the dep arrays.</a:t>
            </a:r>
            <a:endParaRPr lang="en-US" sz="1150" dirty="0"/>
          </a:p>
        </p:txBody>
      </p:sp>
      <p:sp>
        <p:nvSpPr>
          <p:cNvPr id="13" name="Shape 9"/>
          <p:cNvSpPr/>
          <p:nvPr/>
        </p:nvSpPr>
        <p:spPr>
          <a:xfrm>
            <a:off x="777240" y="379476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977640"/>
            <a:ext cx="502920" cy="502920"/>
          </a:xfrm>
          <a:prstGeom prst="rect">
            <a:avLst/>
          </a:prstGeom>
        </p:spPr>
      </p:pic>
      <p:sp>
        <p:nvSpPr>
          <p:cNvPr id="15" name="Text 10"/>
          <p:cNvSpPr/>
          <p:nvPr/>
        </p:nvSpPr>
        <p:spPr>
          <a:xfrm>
            <a:off x="1691640" y="388620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Renaming across files</a:t>
            </a:r>
            <a:endParaRPr lang="en-US" sz="1350" dirty="0"/>
          </a:p>
        </p:txBody>
      </p:sp>
      <p:sp>
        <p:nvSpPr>
          <p:cNvPr id="16" name="Text 11"/>
          <p:cNvSpPr/>
          <p:nvPr/>
        </p:nvSpPr>
        <p:spPr>
          <a:xfrm>
            <a:off x="1691640" y="420624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AI is faster than your IDE for cross-file renames with logic changes. Verify with tests.</a:t>
            </a:r>
            <a:endParaRPr lang="en-US" sz="1150" dirty="0"/>
          </a:p>
        </p:txBody>
      </p:sp>
      <p:sp>
        <p:nvSpPr>
          <p:cNvPr id="17" name="Shape 12"/>
          <p:cNvSpPr/>
          <p:nvPr/>
        </p:nvSpPr>
        <p:spPr>
          <a:xfrm>
            <a:off x="777240" y="484632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5029200"/>
            <a:ext cx="502920" cy="502920"/>
          </a:xfrm>
          <a:prstGeom prst="rect">
            <a:avLst/>
          </a:prstGeom>
        </p:spPr>
      </p:pic>
      <p:sp>
        <p:nvSpPr>
          <p:cNvPr id="19" name="Text 13"/>
          <p:cNvSpPr/>
          <p:nvPr/>
        </p:nvSpPr>
        <p:spPr>
          <a:xfrm>
            <a:off x="1691640" y="493776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API shape changes</a:t>
            </a:r>
            <a:endParaRPr lang="en-US" sz="1350" dirty="0"/>
          </a:p>
        </p:txBody>
      </p:sp>
      <p:sp>
        <p:nvSpPr>
          <p:cNvPr id="20" name="Text 14"/>
          <p:cNvSpPr/>
          <p:nvPr/>
        </p:nvSpPr>
        <p:spPr>
          <a:xfrm>
            <a:off x="1691640" y="525780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Backend renames a field; frontend has 30 references. AI finds them; you spot-check the edge cases.</a:t>
            </a:r>
            <a:endParaRPr lang="en-US" sz="11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22 / 29</a:t>
            </a:r>
            <a:endParaRPr lang="en-US" sz="90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AI-assisted migrations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Bigger than refactors. Plan more deliberately.</a:t>
            </a:r>
            <a:endParaRPr lang="en-US" sz="1400" dirty="0"/>
          </a:p>
        </p:txBody>
      </p:sp>
      <p:sp>
        <p:nvSpPr>
          <p:cNvPr id="5" name="Shape 3"/>
          <p:cNvSpPr/>
          <p:nvPr/>
        </p:nvSpPr>
        <p:spPr>
          <a:xfrm>
            <a:off x="777240" y="1691640"/>
            <a:ext cx="10607040" cy="603504"/>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10512"/>
            <a:ext cx="365760" cy="365760"/>
          </a:xfrm>
          <a:prstGeom prst="rect">
            <a:avLst/>
          </a:prstGeom>
        </p:spPr>
      </p:pic>
      <p:sp>
        <p:nvSpPr>
          <p:cNvPr id="7" name="Text 4"/>
          <p:cNvSpPr/>
          <p:nvPr/>
        </p:nvSpPr>
        <p:spPr>
          <a:xfrm>
            <a:off x="1508760" y="1737360"/>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Lock down a known-good baseline first — tests pass, types check, dev server works</a:t>
            </a:r>
            <a:endParaRPr lang="en-US" sz="1200" dirty="0"/>
          </a:p>
        </p:txBody>
      </p:sp>
      <p:sp>
        <p:nvSpPr>
          <p:cNvPr id="8" name="Shape 5"/>
          <p:cNvSpPr/>
          <p:nvPr/>
        </p:nvSpPr>
        <p:spPr>
          <a:xfrm>
            <a:off x="777240" y="2404872"/>
            <a:ext cx="10607040" cy="603504"/>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960120" y="2523744"/>
            <a:ext cx="365760" cy="365760"/>
          </a:xfrm>
          <a:prstGeom prst="rect">
            <a:avLst/>
          </a:prstGeom>
        </p:spPr>
      </p:pic>
      <p:sp>
        <p:nvSpPr>
          <p:cNvPr id="10" name="Text 6"/>
          <p:cNvSpPr/>
          <p:nvPr/>
        </p:nvSpPr>
        <p:spPr>
          <a:xfrm>
            <a:off x="1508760" y="2450592"/>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Migrate one module/route/feature at a time, not the whole repo</a:t>
            </a:r>
            <a:endParaRPr lang="en-US" sz="1200" dirty="0"/>
          </a:p>
        </p:txBody>
      </p:sp>
      <p:sp>
        <p:nvSpPr>
          <p:cNvPr id="11" name="Shape 7"/>
          <p:cNvSpPr/>
          <p:nvPr/>
        </p:nvSpPr>
        <p:spPr>
          <a:xfrm>
            <a:off x="777240" y="3118104"/>
            <a:ext cx="10607040" cy="603504"/>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236976"/>
            <a:ext cx="365760" cy="365760"/>
          </a:xfrm>
          <a:prstGeom prst="rect">
            <a:avLst/>
          </a:prstGeom>
        </p:spPr>
      </p:pic>
      <p:sp>
        <p:nvSpPr>
          <p:cNvPr id="13" name="Text 8"/>
          <p:cNvSpPr/>
          <p:nvPr/>
        </p:nvSpPr>
        <p:spPr>
          <a:xfrm>
            <a:off x="1508760" y="3163824"/>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Run the full test suite after each batch — if anything breaks, revert and re-prompt</a:t>
            </a:r>
            <a:endParaRPr lang="en-US" sz="1200" dirty="0"/>
          </a:p>
        </p:txBody>
      </p:sp>
      <p:sp>
        <p:nvSpPr>
          <p:cNvPr id="14" name="Shape 9"/>
          <p:cNvSpPr/>
          <p:nvPr/>
        </p:nvSpPr>
        <p:spPr>
          <a:xfrm>
            <a:off x="777240" y="3831336"/>
            <a:ext cx="10607040" cy="603504"/>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960120" y="3950208"/>
            <a:ext cx="365760" cy="365760"/>
          </a:xfrm>
          <a:prstGeom prst="rect">
            <a:avLst/>
          </a:prstGeom>
        </p:spPr>
      </p:pic>
      <p:sp>
        <p:nvSpPr>
          <p:cNvPr id="16" name="Text 10"/>
          <p:cNvSpPr/>
          <p:nvPr/>
        </p:nvSpPr>
        <p:spPr>
          <a:xfrm>
            <a:off x="1508760" y="3877056"/>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Commit each migrated module as its own change — one change, one revert path</a:t>
            </a:r>
            <a:endParaRPr lang="en-US" sz="1200" dirty="0"/>
          </a:p>
        </p:txBody>
      </p:sp>
      <p:sp>
        <p:nvSpPr>
          <p:cNvPr id="17" name="Shape 11"/>
          <p:cNvSpPr/>
          <p:nvPr/>
        </p:nvSpPr>
        <p:spPr>
          <a:xfrm>
            <a:off x="777240" y="4544568"/>
            <a:ext cx="10607040" cy="603504"/>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663440"/>
            <a:ext cx="365760" cy="365760"/>
          </a:xfrm>
          <a:prstGeom prst="rect">
            <a:avLst/>
          </a:prstGeom>
        </p:spPr>
      </p:pic>
      <p:sp>
        <p:nvSpPr>
          <p:cNvPr id="19" name="Text 12"/>
          <p:cNvSpPr/>
          <p:nvPr/>
        </p:nvSpPr>
        <p:spPr>
          <a:xfrm>
            <a:off x="1508760" y="4590288"/>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Keep a CHANGELOG of what was migrated, what's still old, and what each commit covered</a:t>
            </a:r>
            <a:endParaRPr lang="en-US" sz="1200" dirty="0"/>
          </a:p>
        </p:txBody>
      </p:sp>
      <p:sp>
        <p:nvSpPr>
          <p:cNvPr id="20" name="Shape 13"/>
          <p:cNvSpPr/>
          <p:nvPr/>
        </p:nvSpPr>
        <p:spPr>
          <a:xfrm>
            <a:off x="777240" y="5257800"/>
            <a:ext cx="10607040" cy="603504"/>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960120" y="5376672"/>
            <a:ext cx="365760" cy="365760"/>
          </a:xfrm>
          <a:prstGeom prst="rect">
            <a:avLst/>
          </a:prstGeom>
        </p:spPr>
      </p:pic>
      <p:sp>
        <p:nvSpPr>
          <p:cNvPr id="22" name="Text 14"/>
          <p:cNvSpPr/>
          <p:nvPr/>
        </p:nvSpPr>
        <p:spPr>
          <a:xfrm>
            <a:off x="1508760" y="5303520"/>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When in doubt, ask the AI to explain its choices BEFORE you accept the diff</a:t>
            </a:r>
            <a:endParaRPr lang="en-US" sz="1200" dirty="0"/>
          </a:p>
        </p:txBody>
      </p:sp>
      <p:sp>
        <p:nvSpPr>
          <p:cNvPr id="23"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24"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23 / 29</a:t>
            </a:r>
            <a:endParaRPr lang="en-US" sz="90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4">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5</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The Review Checklist</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One page. Carry it into every review of AI-generated React.</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AI-generated React review checklist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Carry it. Apply it. Lab 8 puts it into practice.</a:t>
            </a:r>
            <a:endParaRPr lang="en-US" sz="1400" dirty="0"/>
          </a:p>
        </p:txBody>
      </p:sp>
      <p:sp>
        <p:nvSpPr>
          <p:cNvPr id="5" name="Shape 3"/>
          <p:cNvSpPr/>
          <p:nvPr/>
        </p:nvSpPr>
        <p:spPr>
          <a:xfrm>
            <a:off x="777240" y="1691640"/>
            <a:ext cx="5212080" cy="1828800"/>
          </a:xfrm>
          <a:prstGeom prst="rect">
            <a:avLst/>
          </a:prstGeom>
          <a:solidFill>
            <a:srgbClr val="FFFFFF"/>
          </a:solidFill>
          <a:ln w="12700">
            <a:solidFill>
              <a:srgbClr val="E2E8F0"/>
            </a:solidFill>
            <a:prstDash val="solid"/>
          </a:ln>
        </p:spPr>
      </p:sp>
      <p:sp>
        <p:nvSpPr>
          <p:cNvPr id="6" name="Shape 4"/>
          <p:cNvSpPr/>
          <p:nvPr/>
        </p:nvSpPr>
        <p:spPr>
          <a:xfrm>
            <a:off x="777240" y="1691640"/>
            <a:ext cx="5212080" cy="411480"/>
          </a:xfrm>
          <a:prstGeom prst="rect">
            <a:avLst/>
          </a:prstGeom>
          <a:solidFill>
            <a:srgbClr val="1E2A47"/>
          </a:solidFill>
          <a:ln w="12700">
            <a:solidFill>
              <a:srgbClr val="1E2A47"/>
            </a:solidFill>
            <a:prstDash val="solid"/>
          </a:ln>
        </p:spPr>
      </p:sp>
      <p:sp>
        <p:nvSpPr>
          <p:cNvPr id="7" name="Text 5"/>
          <p:cNvSpPr/>
          <p:nvPr/>
        </p:nvSpPr>
        <p:spPr>
          <a:xfrm>
            <a:off x="960120" y="1691640"/>
            <a:ext cx="4846320" cy="411480"/>
          </a:xfrm>
          <a:prstGeom prst="rect">
            <a:avLst/>
          </a:prstGeom>
          <a:noFill/>
          <a:ln/>
        </p:spPr>
        <p:txBody>
          <a:bodyPr wrap="square" lIns="0" tIns="0" rIns="0" bIns="0" rtlCol="0" anchor="ctr"/>
          <a:lstStyle/>
          <a:p>
            <a:pPr indent="0" marL="0">
              <a:buNone/>
            </a:pPr>
            <a:r>
              <a:rPr lang="en-US" sz="1300" b="1" dirty="0">
                <a:solidFill>
                  <a:srgbClr val="00B8D9"/>
                </a:solidFill>
                <a:latin typeface="Trebuchet MS" pitchFamily="34" charset="0"/>
                <a:ea typeface="Trebuchet MS" pitchFamily="34" charset="-122"/>
                <a:cs typeface="Trebuchet MS" pitchFamily="34" charset="-120"/>
              </a:rPr>
              <a:t>Hooks</a:t>
            </a:r>
            <a:endParaRPr lang="en-US" sz="1300" dirty="0"/>
          </a:p>
        </p:txBody>
      </p:sp>
      <p:sp>
        <p:nvSpPr>
          <p:cNvPr id="8" name="Text 6"/>
          <p:cNvSpPr/>
          <p:nvPr/>
        </p:nvSpPr>
        <p:spPr>
          <a:xfrm>
            <a:off x="1005840" y="2194560"/>
            <a:ext cx="4846320" cy="128016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475569"/>
                </a:solidFill>
                <a:latin typeface="Arial" pitchFamily="34" charset="0"/>
                <a:ea typeface="Arial" pitchFamily="34" charset="-122"/>
                <a:cs typeface="Arial" pitchFamily="34" charset="-120"/>
              </a:rPr>
              <a:t>Stale closures in useEffect?</a:t>
            </a:r>
            <a:endParaRPr lang="en-US" sz="1100" dirty="0"/>
          </a:p>
          <a:p>
            <a:pPr marL="342900" indent="-342900">
              <a:spcAft>
                <a:spcPts val="200"/>
              </a:spcAft>
              <a:buSzPct val="100000"/>
              <a:buChar char="•"/>
            </a:pPr>
            <a:r>
              <a:rPr lang="en-US" sz="1100" dirty="0">
                <a:solidFill>
                  <a:srgbClr val="475569"/>
                </a:solidFill>
                <a:latin typeface="Arial" pitchFamily="34" charset="0"/>
                <a:ea typeface="Arial" pitchFamily="34" charset="-122"/>
                <a:cs typeface="Arial" pitchFamily="34" charset="-120"/>
              </a:rPr>
              <a:t>Missing dep array entries?</a:t>
            </a:r>
            <a:endParaRPr lang="en-US" sz="1100" dirty="0"/>
          </a:p>
          <a:p>
            <a:pPr marL="342900" indent="-342900">
              <a:spcAft>
                <a:spcPts val="200"/>
              </a:spcAft>
              <a:buSzPct val="100000"/>
              <a:buChar char="•"/>
            </a:pPr>
            <a:r>
              <a:rPr lang="en-US" sz="1100" dirty="0">
                <a:solidFill>
                  <a:srgbClr val="475569"/>
                </a:solidFill>
                <a:latin typeface="Arial" pitchFamily="34" charset="0"/>
                <a:ea typeface="Arial" pitchFamily="34" charset="-122"/>
                <a:cs typeface="Arial" pitchFamily="34" charset="-120"/>
              </a:rPr>
              <a:t>Hooks inside conditionals or loops?</a:t>
            </a:r>
            <a:endParaRPr lang="en-US" sz="1100" dirty="0"/>
          </a:p>
          <a:p>
            <a:pPr marL="342900" indent="-342900">
              <a:spcAft>
                <a:spcPts val="200"/>
              </a:spcAft>
              <a:buSzPct val="100000"/>
              <a:buChar char="•"/>
            </a:pPr>
            <a:r>
              <a:rPr lang="en-US" sz="1100" dirty="0">
                <a:solidFill>
                  <a:srgbClr val="475569"/>
                </a:solidFill>
                <a:latin typeface="Arial" pitchFamily="34" charset="0"/>
                <a:ea typeface="Arial" pitchFamily="34" charset="-122"/>
                <a:cs typeface="Arial" pitchFamily="34" charset="-120"/>
              </a:rPr>
              <a:t>useEffect for derived state or events?</a:t>
            </a:r>
            <a:endParaRPr lang="en-US" sz="1100" dirty="0"/>
          </a:p>
        </p:txBody>
      </p:sp>
      <p:sp>
        <p:nvSpPr>
          <p:cNvPr id="9" name="Shape 7"/>
          <p:cNvSpPr/>
          <p:nvPr/>
        </p:nvSpPr>
        <p:spPr>
          <a:xfrm>
            <a:off x="777240" y="3794760"/>
            <a:ext cx="5212080" cy="1828800"/>
          </a:xfrm>
          <a:prstGeom prst="rect">
            <a:avLst/>
          </a:prstGeom>
          <a:solidFill>
            <a:srgbClr val="FFFFFF"/>
          </a:solidFill>
          <a:ln w="12700">
            <a:solidFill>
              <a:srgbClr val="E2E8F0"/>
            </a:solidFill>
            <a:prstDash val="solid"/>
          </a:ln>
        </p:spPr>
      </p:sp>
      <p:sp>
        <p:nvSpPr>
          <p:cNvPr id="10" name="Shape 8"/>
          <p:cNvSpPr/>
          <p:nvPr/>
        </p:nvSpPr>
        <p:spPr>
          <a:xfrm>
            <a:off x="777240" y="3794760"/>
            <a:ext cx="5212080" cy="411480"/>
          </a:xfrm>
          <a:prstGeom prst="rect">
            <a:avLst/>
          </a:prstGeom>
          <a:solidFill>
            <a:srgbClr val="1E2A47"/>
          </a:solidFill>
          <a:ln w="12700">
            <a:solidFill>
              <a:srgbClr val="1E2A47"/>
            </a:solidFill>
            <a:prstDash val="solid"/>
          </a:ln>
        </p:spPr>
      </p:sp>
      <p:sp>
        <p:nvSpPr>
          <p:cNvPr id="11" name="Text 9"/>
          <p:cNvSpPr/>
          <p:nvPr/>
        </p:nvSpPr>
        <p:spPr>
          <a:xfrm>
            <a:off x="960120" y="3794760"/>
            <a:ext cx="4846320" cy="411480"/>
          </a:xfrm>
          <a:prstGeom prst="rect">
            <a:avLst/>
          </a:prstGeom>
          <a:noFill/>
          <a:ln/>
        </p:spPr>
        <p:txBody>
          <a:bodyPr wrap="square" lIns="0" tIns="0" rIns="0" bIns="0" rtlCol="0" anchor="ctr"/>
          <a:lstStyle/>
          <a:p>
            <a:pPr indent="0" marL="0">
              <a:buNone/>
            </a:pPr>
            <a:r>
              <a:rPr lang="en-US" sz="1300" b="1" dirty="0">
                <a:solidFill>
                  <a:srgbClr val="00B8D9"/>
                </a:solidFill>
                <a:latin typeface="Trebuchet MS" pitchFamily="34" charset="0"/>
                <a:ea typeface="Trebuchet MS" pitchFamily="34" charset="-122"/>
                <a:cs typeface="Trebuchet MS" pitchFamily="34" charset="-120"/>
              </a:rPr>
              <a:t>Boundaries</a:t>
            </a:r>
            <a:endParaRPr lang="en-US" sz="1300" dirty="0"/>
          </a:p>
        </p:txBody>
      </p:sp>
      <p:sp>
        <p:nvSpPr>
          <p:cNvPr id="12" name="Text 10"/>
          <p:cNvSpPr/>
          <p:nvPr/>
        </p:nvSpPr>
        <p:spPr>
          <a:xfrm>
            <a:off x="1005840" y="4297680"/>
            <a:ext cx="4846320" cy="128016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475569"/>
                </a:solidFill>
                <a:latin typeface="Arial" pitchFamily="34" charset="0"/>
                <a:ea typeface="Arial" pitchFamily="34" charset="-122"/>
                <a:cs typeface="Arial" pitchFamily="34" charset="-120"/>
              </a:rPr>
              <a:t>'use client' at the right level?</a:t>
            </a:r>
            <a:endParaRPr lang="en-US" sz="1100" dirty="0"/>
          </a:p>
          <a:p>
            <a:pPr marL="342900" indent="-342900">
              <a:spcAft>
                <a:spcPts val="200"/>
              </a:spcAft>
              <a:buSzPct val="100000"/>
              <a:buChar char="•"/>
            </a:pPr>
            <a:r>
              <a:rPr lang="en-US" sz="1100" dirty="0">
                <a:solidFill>
                  <a:srgbClr val="475569"/>
                </a:solidFill>
                <a:latin typeface="Arial" pitchFamily="34" charset="0"/>
                <a:ea typeface="Arial" pitchFamily="34" charset="-122"/>
                <a:cs typeface="Arial" pitchFamily="34" charset="-120"/>
              </a:rPr>
              <a:t>Server-only imports staying server-side?</a:t>
            </a:r>
            <a:endParaRPr lang="en-US" sz="1100" dirty="0"/>
          </a:p>
          <a:p>
            <a:pPr marL="342900" indent="-342900">
              <a:spcAft>
                <a:spcPts val="200"/>
              </a:spcAft>
              <a:buSzPct val="100000"/>
              <a:buChar char="•"/>
            </a:pPr>
            <a:r>
              <a:rPr lang="en-US" sz="1100" dirty="0">
                <a:solidFill>
                  <a:srgbClr val="475569"/>
                </a:solidFill>
                <a:latin typeface="Arial" pitchFamily="34" charset="0"/>
                <a:ea typeface="Arial" pitchFamily="34" charset="-122"/>
                <a:cs typeface="Arial" pitchFamily="34" charset="-120"/>
              </a:rPr>
              <a:t>Functions across boundary marked 'use server'?</a:t>
            </a:r>
            <a:endParaRPr lang="en-US" sz="1100" dirty="0"/>
          </a:p>
          <a:p>
            <a:pPr marL="342900" indent="-342900">
              <a:spcAft>
                <a:spcPts val="200"/>
              </a:spcAft>
              <a:buSzPct val="100000"/>
              <a:buChar char="•"/>
            </a:pPr>
            <a:r>
              <a:rPr lang="en-US" sz="1100" dirty="0">
                <a:solidFill>
                  <a:srgbClr val="475569"/>
                </a:solidFill>
                <a:latin typeface="Arial" pitchFamily="34" charset="0"/>
                <a:ea typeface="Arial" pitchFamily="34" charset="-122"/>
                <a:cs typeface="Arial" pitchFamily="34" charset="-120"/>
              </a:rPr>
              <a:t>Non-serializable props eliminated?</a:t>
            </a:r>
            <a:endParaRPr lang="en-US" sz="1100" dirty="0"/>
          </a:p>
        </p:txBody>
      </p:sp>
      <p:sp>
        <p:nvSpPr>
          <p:cNvPr id="13" name="Shape 11"/>
          <p:cNvSpPr/>
          <p:nvPr/>
        </p:nvSpPr>
        <p:spPr>
          <a:xfrm>
            <a:off x="6126480" y="1691640"/>
            <a:ext cx="5212080" cy="1828800"/>
          </a:xfrm>
          <a:prstGeom prst="rect">
            <a:avLst/>
          </a:prstGeom>
          <a:solidFill>
            <a:srgbClr val="FFFFFF"/>
          </a:solidFill>
          <a:ln w="12700">
            <a:solidFill>
              <a:srgbClr val="E2E8F0"/>
            </a:solidFill>
            <a:prstDash val="solid"/>
          </a:ln>
        </p:spPr>
      </p:sp>
      <p:sp>
        <p:nvSpPr>
          <p:cNvPr id="14" name="Shape 12"/>
          <p:cNvSpPr/>
          <p:nvPr/>
        </p:nvSpPr>
        <p:spPr>
          <a:xfrm>
            <a:off x="6126480" y="1691640"/>
            <a:ext cx="5212080" cy="411480"/>
          </a:xfrm>
          <a:prstGeom prst="rect">
            <a:avLst/>
          </a:prstGeom>
          <a:solidFill>
            <a:srgbClr val="1E2A47"/>
          </a:solidFill>
          <a:ln w="12700">
            <a:solidFill>
              <a:srgbClr val="1E2A47"/>
            </a:solidFill>
            <a:prstDash val="solid"/>
          </a:ln>
        </p:spPr>
      </p:sp>
      <p:sp>
        <p:nvSpPr>
          <p:cNvPr id="15" name="Text 13"/>
          <p:cNvSpPr/>
          <p:nvPr/>
        </p:nvSpPr>
        <p:spPr>
          <a:xfrm>
            <a:off x="6309360" y="1691640"/>
            <a:ext cx="4846320" cy="411480"/>
          </a:xfrm>
          <a:prstGeom prst="rect">
            <a:avLst/>
          </a:prstGeom>
          <a:noFill/>
          <a:ln/>
        </p:spPr>
        <p:txBody>
          <a:bodyPr wrap="square" lIns="0" tIns="0" rIns="0" bIns="0" rtlCol="0" anchor="ctr"/>
          <a:lstStyle/>
          <a:p>
            <a:pPr indent="0" marL="0">
              <a:buNone/>
            </a:pPr>
            <a:r>
              <a:rPr lang="en-US" sz="1300" b="1" dirty="0">
                <a:solidFill>
                  <a:srgbClr val="00B8D9"/>
                </a:solidFill>
                <a:latin typeface="Trebuchet MS" pitchFamily="34" charset="0"/>
                <a:ea typeface="Trebuchet MS" pitchFamily="34" charset="-122"/>
                <a:cs typeface="Trebuchet MS" pitchFamily="34" charset="-120"/>
              </a:rPr>
              <a:t>Patterns</a:t>
            </a:r>
            <a:endParaRPr lang="en-US" sz="1300" dirty="0"/>
          </a:p>
        </p:txBody>
      </p:sp>
      <p:sp>
        <p:nvSpPr>
          <p:cNvPr id="16" name="Text 14"/>
          <p:cNvSpPr/>
          <p:nvPr/>
        </p:nvSpPr>
        <p:spPr>
          <a:xfrm>
            <a:off x="6355080" y="2194560"/>
            <a:ext cx="4846320" cy="128016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475569"/>
                </a:solidFill>
                <a:latin typeface="Arial" pitchFamily="34" charset="0"/>
                <a:ea typeface="Arial" pitchFamily="34" charset="-122"/>
                <a:cs typeface="Arial" pitchFamily="34" charset="-120"/>
              </a:rPr>
              <a:t>Modern Router APIs (RR v7 / Next.js App Router)?</a:t>
            </a:r>
            <a:endParaRPr lang="en-US" sz="1100" dirty="0"/>
          </a:p>
          <a:p>
            <a:pPr marL="342900" indent="-342900">
              <a:spcAft>
                <a:spcPts val="200"/>
              </a:spcAft>
              <a:buSzPct val="100000"/>
              <a:buChar char="•"/>
            </a:pPr>
            <a:r>
              <a:rPr lang="en-US" sz="1100" dirty="0">
                <a:solidFill>
                  <a:srgbClr val="475569"/>
                </a:solidFill>
                <a:latin typeface="Arial" pitchFamily="34" charset="0"/>
                <a:ea typeface="Arial" pitchFamily="34" charset="-122"/>
                <a:cs typeface="Arial" pitchFamily="34" charset="-120"/>
              </a:rPr>
              <a:t>Modern state (Zustand/Jotai/RTK or just useState)?</a:t>
            </a:r>
            <a:endParaRPr lang="en-US" sz="1100" dirty="0"/>
          </a:p>
          <a:p>
            <a:pPr marL="342900" indent="-342900">
              <a:spcAft>
                <a:spcPts val="200"/>
              </a:spcAft>
              <a:buSzPct val="100000"/>
              <a:buChar char="•"/>
            </a:pPr>
            <a:r>
              <a:rPr lang="en-US" sz="1100" dirty="0">
                <a:solidFill>
                  <a:srgbClr val="475569"/>
                </a:solidFill>
                <a:latin typeface="Arial" pitchFamily="34" charset="0"/>
                <a:ea typeface="Arial" pitchFamily="34" charset="-122"/>
                <a:cs typeface="Arial" pitchFamily="34" charset="-120"/>
              </a:rPr>
              <a:t>Server data through TanStack Query, not useEffect+fetch?</a:t>
            </a:r>
            <a:endParaRPr lang="en-US" sz="1100" dirty="0"/>
          </a:p>
          <a:p>
            <a:pPr marL="342900" indent="-342900">
              <a:spcAft>
                <a:spcPts val="200"/>
              </a:spcAft>
              <a:buSzPct val="100000"/>
              <a:buChar char="•"/>
            </a:pPr>
            <a:r>
              <a:rPr lang="en-US" sz="1100" dirty="0">
                <a:solidFill>
                  <a:srgbClr val="475569"/>
                </a:solidFill>
                <a:latin typeface="Arial" pitchFamily="34" charset="0"/>
                <a:ea typeface="Arial" pitchFamily="34" charset="-122"/>
                <a:cs typeface="Arial" pitchFamily="34" charset="-120"/>
              </a:rPr>
              <a:t>Functional setState where it matters?</a:t>
            </a:r>
            <a:endParaRPr lang="en-US" sz="1100" dirty="0"/>
          </a:p>
        </p:txBody>
      </p:sp>
      <p:sp>
        <p:nvSpPr>
          <p:cNvPr id="17" name="Shape 15"/>
          <p:cNvSpPr/>
          <p:nvPr/>
        </p:nvSpPr>
        <p:spPr>
          <a:xfrm>
            <a:off x="6126480" y="3794760"/>
            <a:ext cx="5212080" cy="1828800"/>
          </a:xfrm>
          <a:prstGeom prst="rect">
            <a:avLst/>
          </a:prstGeom>
          <a:solidFill>
            <a:srgbClr val="FFFFFF"/>
          </a:solidFill>
          <a:ln w="12700">
            <a:solidFill>
              <a:srgbClr val="E2E8F0"/>
            </a:solidFill>
            <a:prstDash val="solid"/>
          </a:ln>
        </p:spPr>
      </p:sp>
      <p:sp>
        <p:nvSpPr>
          <p:cNvPr id="18" name="Shape 16"/>
          <p:cNvSpPr/>
          <p:nvPr/>
        </p:nvSpPr>
        <p:spPr>
          <a:xfrm>
            <a:off x="6126480" y="3794760"/>
            <a:ext cx="5212080" cy="411480"/>
          </a:xfrm>
          <a:prstGeom prst="rect">
            <a:avLst/>
          </a:prstGeom>
          <a:solidFill>
            <a:srgbClr val="1E2A47"/>
          </a:solidFill>
          <a:ln w="12700">
            <a:solidFill>
              <a:srgbClr val="1E2A47"/>
            </a:solidFill>
            <a:prstDash val="solid"/>
          </a:ln>
        </p:spPr>
      </p:sp>
      <p:sp>
        <p:nvSpPr>
          <p:cNvPr id="19" name="Text 17"/>
          <p:cNvSpPr/>
          <p:nvPr/>
        </p:nvSpPr>
        <p:spPr>
          <a:xfrm>
            <a:off x="6309360" y="3794760"/>
            <a:ext cx="4846320" cy="411480"/>
          </a:xfrm>
          <a:prstGeom prst="rect">
            <a:avLst/>
          </a:prstGeom>
          <a:noFill/>
          <a:ln/>
        </p:spPr>
        <p:txBody>
          <a:bodyPr wrap="square" lIns="0" tIns="0" rIns="0" bIns="0" rtlCol="0" anchor="ctr"/>
          <a:lstStyle/>
          <a:p>
            <a:pPr indent="0" marL="0">
              <a:buNone/>
            </a:pPr>
            <a:r>
              <a:rPr lang="en-US" sz="1300" b="1" dirty="0">
                <a:solidFill>
                  <a:srgbClr val="00B8D9"/>
                </a:solidFill>
                <a:latin typeface="Trebuchet MS" pitchFamily="34" charset="0"/>
                <a:ea typeface="Trebuchet MS" pitchFamily="34" charset="-122"/>
                <a:cs typeface="Trebuchet MS" pitchFamily="34" charset="-120"/>
              </a:rPr>
              <a:t>Tests</a:t>
            </a:r>
            <a:endParaRPr lang="en-US" sz="1300" dirty="0"/>
          </a:p>
        </p:txBody>
      </p:sp>
      <p:sp>
        <p:nvSpPr>
          <p:cNvPr id="20" name="Text 18"/>
          <p:cNvSpPr/>
          <p:nvPr/>
        </p:nvSpPr>
        <p:spPr>
          <a:xfrm>
            <a:off x="6355080" y="4297680"/>
            <a:ext cx="4846320" cy="128016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475569"/>
                </a:solidFill>
                <a:latin typeface="Arial" pitchFamily="34" charset="0"/>
                <a:ea typeface="Arial" pitchFamily="34" charset="-122"/>
                <a:cs typeface="Arial" pitchFamily="34" charset="-120"/>
              </a:rPr>
              <a:t>Role-based queries, not getByTestId?</a:t>
            </a:r>
            <a:endParaRPr lang="en-US" sz="1100" dirty="0"/>
          </a:p>
          <a:p>
            <a:pPr marL="342900" indent="-342900">
              <a:spcAft>
                <a:spcPts val="200"/>
              </a:spcAft>
              <a:buSzPct val="100000"/>
              <a:buChar char="•"/>
            </a:pPr>
            <a:r>
              <a:rPr lang="en-US" sz="1100" dirty="0">
                <a:solidFill>
                  <a:srgbClr val="475569"/>
                </a:solidFill>
                <a:latin typeface="Arial" pitchFamily="34" charset="0"/>
                <a:ea typeface="Arial" pitchFamily="34" charset="-122"/>
                <a:cs typeface="Arial" pitchFamily="34" charset="-120"/>
              </a:rPr>
              <a:t>user-event, not fireEvent?</a:t>
            </a:r>
            <a:endParaRPr lang="en-US" sz="1100" dirty="0"/>
          </a:p>
          <a:p>
            <a:pPr marL="342900" indent="-342900">
              <a:spcAft>
                <a:spcPts val="200"/>
              </a:spcAft>
              <a:buSzPct val="100000"/>
              <a:buChar char="•"/>
            </a:pPr>
            <a:r>
              <a:rPr lang="en-US" sz="1100" dirty="0">
                <a:solidFill>
                  <a:srgbClr val="475569"/>
                </a:solidFill>
                <a:latin typeface="Arial" pitchFamily="34" charset="0"/>
                <a:ea typeface="Arial" pitchFamily="34" charset="-122"/>
                <a:cs typeface="Arial" pitchFamily="34" charset="-120"/>
              </a:rPr>
              <a:t>MSW for network mocks, not vi.fn on api?</a:t>
            </a:r>
            <a:endParaRPr lang="en-US" sz="1100" dirty="0"/>
          </a:p>
          <a:p>
            <a:pPr marL="342900" indent="-342900">
              <a:spcAft>
                <a:spcPts val="200"/>
              </a:spcAft>
              <a:buSzPct val="100000"/>
              <a:buChar char="•"/>
            </a:pPr>
            <a:r>
              <a:rPr lang="en-US" sz="1100" dirty="0">
                <a:solidFill>
                  <a:srgbClr val="475569"/>
                </a:solidFill>
                <a:latin typeface="Arial" pitchFamily="34" charset="0"/>
                <a:ea typeface="Arial" pitchFamily="34" charset="-122"/>
                <a:cs typeface="Arial" pitchFamily="34" charset="-120"/>
              </a:rPr>
              <a:t>No spies on React internals?</a:t>
            </a:r>
            <a:endParaRPr lang="en-US" sz="1100" dirty="0"/>
          </a:p>
        </p:txBody>
      </p:sp>
      <p:sp>
        <p:nvSpPr>
          <p:cNvPr id="21" name="Text 1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22" name="Text 2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25 / 29</a:t>
            </a:r>
            <a:endParaRPr lang="en-US" sz="90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Module 9 takeaways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What to remember when you're back at your desk.</a:t>
            </a:r>
            <a:endParaRPr lang="en-US" sz="1400" dirty="0"/>
          </a:p>
        </p:txBody>
      </p:sp>
      <p:sp>
        <p:nvSpPr>
          <p:cNvPr id="5" name="Shape 3"/>
          <p:cNvSpPr/>
          <p:nvPr/>
        </p:nvSpPr>
        <p:spPr>
          <a:xfrm>
            <a:off x="777240" y="1691640"/>
            <a:ext cx="10607040" cy="603504"/>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10512"/>
            <a:ext cx="365760" cy="365760"/>
          </a:xfrm>
          <a:prstGeom prst="rect">
            <a:avLst/>
          </a:prstGeom>
        </p:spPr>
      </p:pic>
      <p:sp>
        <p:nvSpPr>
          <p:cNvPr id="7" name="Text 4"/>
          <p:cNvSpPr/>
          <p:nvPr/>
        </p:nvSpPr>
        <p:spPr>
          <a:xfrm>
            <a:off x="1508760" y="1737360"/>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Read every diff. The friction of reading is what catches the bugs.</a:t>
            </a:r>
            <a:endParaRPr lang="en-US" sz="1200" dirty="0"/>
          </a:p>
        </p:txBody>
      </p:sp>
      <p:sp>
        <p:nvSpPr>
          <p:cNvPr id="8" name="Shape 5"/>
          <p:cNvSpPr/>
          <p:nvPr/>
        </p:nvSpPr>
        <p:spPr>
          <a:xfrm>
            <a:off x="777240" y="2404872"/>
            <a:ext cx="10607040" cy="603504"/>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960120" y="2523744"/>
            <a:ext cx="365760" cy="365760"/>
          </a:xfrm>
          <a:prstGeom prst="rect">
            <a:avLst/>
          </a:prstGeom>
        </p:spPr>
      </p:pic>
      <p:sp>
        <p:nvSpPr>
          <p:cNvPr id="10" name="Text 6"/>
          <p:cNvSpPr/>
          <p:nvPr/>
        </p:nvSpPr>
        <p:spPr>
          <a:xfrm>
            <a:off x="1508760" y="2450592"/>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Six recurring AI mistakes: stale closures, useEffect overreach, boundary violations, hydration mismatches, outdated patterns, test coupling.</a:t>
            </a:r>
            <a:endParaRPr lang="en-US" sz="1200" dirty="0"/>
          </a:p>
        </p:txBody>
      </p:sp>
      <p:sp>
        <p:nvSpPr>
          <p:cNvPr id="11" name="Shape 7"/>
          <p:cNvSpPr/>
          <p:nvPr/>
        </p:nvSpPr>
        <p:spPr>
          <a:xfrm>
            <a:off x="777240" y="3118104"/>
            <a:ext cx="10607040" cy="603504"/>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236976"/>
            <a:ext cx="365760" cy="365760"/>
          </a:xfrm>
          <a:prstGeom prst="rect">
            <a:avLst/>
          </a:prstGeom>
        </p:spPr>
      </p:pic>
      <p:sp>
        <p:nvSpPr>
          <p:cNvPr id="13" name="Text 8"/>
          <p:cNvSpPr/>
          <p:nvPr/>
        </p:nvSpPr>
        <p:spPr>
          <a:xfrm>
            <a:off x="1508760" y="3163824"/>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AGENTS.md / CLAUDE.md is your project context for AI. Short, opinionated, names files.</a:t>
            </a:r>
            <a:endParaRPr lang="en-US" sz="1200" dirty="0"/>
          </a:p>
        </p:txBody>
      </p:sp>
      <p:sp>
        <p:nvSpPr>
          <p:cNvPr id="14" name="Shape 9"/>
          <p:cNvSpPr/>
          <p:nvPr/>
        </p:nvSpPr>
        <p:spPr>
          <a:xfrm>
            <a:off x="777240" y="3831336"/>
            <a:ext cx="10607040" cy="603504"/>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960120" y="3950208"/>
            <a:ext cx="365760" cy="365760"/>
          </a:xfrm>
          <a:prstGeom prst="rect">
            <a:avLst/>
          </a:prstGeom>
        </p:spPr>
      </p:pic>
      <p:sp>
        <p:nvSpPr>
          <p:cNvPr id="16" name="Text 10"/>
          <p:cNvSpPr/>
          <p:nvPr/>
        </p:nvSpPr>
        <p:spPr>
          <a:xfrm>
            <a:off x="1508760" y="3877056"/>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Lint rules are guardrails. Don't disable to let AI's code compile.</a:t>
            </a:r>
            <a:endParaRPr lang="en-US" sz="1200" dirty="0"/>
          </a:p>
        </p:txBody>
      </p:sp>
      <p:sp>
        <p:nvSpPr>
          <p:cNvPr id="17" name="Shape 11"/>
          <p:cNvSpPr/>
          <p:nvPr/>
        </p:nvSpPr>
        <p:spPr>
          <a:xfrm>
            <a:off x="777240" y="4544568"/>
            <a:ext cx="10607040" cy="603504"/>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663440"/>
            <a:ext cx="365760" cy="365760"/>
          </a:xfrm>
          <a:prstGeom prst="rect">
            <a:avLst/>
          </a:prstGeom>
        </p:spPr>
      </p:pic>
      <p:sp>
        <p:nvSpPr>
          <p:cNvPr id="19" name="Text 12"/>
          <p:cNvSpPr/>
          <p:nvPr/>
        </p:nvSpPr>
        <p:spPr>
          <a:xfrm>
            <a:off x="1508760" y="4590288"/>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Spec → structure → small batches → verify with tests + types + running code.</a:t>
            </a:r>
            <a:endParaRPr lang="en-US" sz="1200" dirty="0"/>
          </a:p>
        </p:txBody>
      </p:sp>
      <p:sp>
        <p:nvSpPr>
          <p:cNvPr id="20" name="Shape 13"/>
          <p:cNvSpPr/>
          <p:nvPr/>
        </p:nvSpPr>
        <p:spPr>
          <a:xfrm>
            <a:off x="777240" y="5257800"/>
            <a:ext cx="10607040" cy="603504"/>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960120" y="5376672"/>
            <a:ext cx="365760" cy="365760"/>
          </a:xfrm>
          <a:prstGeom prst="rect">
            <a:avLst/>
          </a:prstGeom>
        </p:spPr>
      </p:pic>
      <p:sp>
        <p:nvSpPr>
          <p:cNvPr id="22" name="Text 14"/>
          <p:cNvSpPr/>
          <p:nvPr/>
        </p:nvSpPr>
        <p:spPr>
          <a:xfrm>
            <a:off x="1508760" y="5303520"/>
            <a:ext cx="9784080" cy="50292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Carry the review checklist. Roles, hooks, boundaries, patterns, tests.</a:t>
            </a:r>
            <a:endParaRPr lang="en-US" sz="1200" dirty="0"/>
          </a:p>
        </p:txBody>
      </p:sp>
      <p:sp>
        <p:nvSpPr>
          <p:cNvPr id="23"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24"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26 / 29</a:t>
            </a:r>
            <a:endParaRPr lang="en-US" sz="90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Coming up: Lab 8</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Build a feature end-to-end with AI. Self-review the result.</a:t>
            </a:r>
            <a:endParaRPr lang="en-US" sz="1400" dirty="0"/>
          </a:p>
        </p:txBody>
      </p:sp>
      <p:sp>
        <p:nvSpPr>
          <p:cNvPr id="5" name="Shape 3"/>
          <p:cNvSpPr/>
          <p:nvPr/>
        </p:nvSpPr>
        <p:spPr>
          <a:xfrm>
            <a:off x="777240" y="1691640"/>
            <a:ext cx="10607040" cy="43891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97280" y="1920240"/>
            <a:ext cx="822960" cy="822960"/>
          </a:xfrm>
          <a:prstGeom prst="rect">
            <a:avLst/>
          </a:prstGeom>
        </p:spPr>
      </p:pic>
      <p:sp>
        <p:nvSpPr>
          <p:cNvPr id="7" name="Text 4"/>
          <p:cNvSpPr/>
          <p:nvPr/>
        </p:nvSpPr>
        <p:spPr>
          <a:xfrm>
            <a:off x="2194560" y="1920240"/>
            <a:ext cx="9144000" cy="64008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Lab 8: AI-Assisted Feature, End to End</a:t>
            </a:r>
            <a:endParaRPr lang="en-US" sz="2200" dirty="0"/>
          </a:p>
        </p:txBody>
      </p:sp>
      <p:sp>
        <p:nvSpPr>
          <p:cNvPr id="8" name="Text 5"/>
          <p:cNvSpPr/>
          <p:nvPr/>
        </p:nvSpPr>
        <p:spPr>
          <a:xfrm>
            <a:off x="2194560" y="2514600"/>
            <a:ext cx="9144000" cy="365760"/>
          </a:xfrm>
          <a:prstGeom prst="rect">
            <a:avLst/>
          </a:prstGeom>
          <a:noFill/>
          <a:ln/>
        </p:spPr>
        <p:txBody>
          <a:bodyPr wrap="square" lIns="0" tIns="0" rIns="0" bIns="0" rtlCol="0" anchor="ctr"/>
          <a:lstStyle/>
          <a:p>
            <a:pPr indent="0" marL="0">
              <a:buNone/>
            </a:pPr>
            <a:r>
              <a:rPr lang="en-US" sz="1300" i="1" dirty="0">
                <a:solidFill>
                  <a:srgbClr val="475569"/>
                </a:solidFill>
                <a:latin typeface="Arial" pitchFamily="34" charset="0"/>
                <a:ea typeface="Arial" pitchFamily="34" charset="-122"/>
                <a:cs typeface="Arial" pitchFamily="34" charset="-120"/>
              </a:rPr>
              <a:t>90 minutes  ·  Hands-on  ·  Self-review is the deliverable</a:t>
            </a:r>
            <a:endParaRPr lang="en-US" sz="1300" dirty="0"/>
          </a:p>
        </p:txBody>
      </p:sp>
      <p:sp>
        <p:nvSpPr>
          <p:cNvPr id="9" name="Text 6"/>
          <p:cNvSpPr/>
          <p:nvPr/>
        </p:nvSpPr>
        <p:spPr>
          <a:xfrm>
            <a:off x="1097280" y="3200400"/>
            <a:ext cx="100584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What you'll do:</a:t>
            </a:r>
            <a:endParaRPr lang="en-US" sz="1400" dirty="0"/>
          </a:p>
        </p:txBody>
      </p:sp>
      <p:sp>
        <p:nvSpPr>
          <p:cNvPr id="10" name="Text 7"/>
          <p:cNvSpPr/>
          <p:nvPr/>
        </p:nvSpPr>
        <p:spPr>
          <a:xfrm>
            <a:off x="1097280" y="3611880"/>
            <a:ext cx="1005840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Pick one feature from a provided backlog (or propose your own)</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Write a brief spec (one paragraph)</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Build the feature with heavy AI assistance</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Self-review using the checklist — find at least three issues you fixed</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End with working code + a written self-review listing the issues you caught</a:t>
            </a:r>
            <a:endParaRPr lang="en-US" sz="1250" dirty="0"/>
          </a:p>
        </p:txBody>
      </p:sp>
      <p:sp>
        <p:nvSpPr>
          <p:cNvPr id="11" name="Text 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12" name="Text 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27 / 29</a:t>
            </a:r>
            <a:endParaRPr lang="en-US" sz="90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After the lab: Module 10</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Production concerns + course wrap-up.</a:t>
            </a:r>
            <a:endParaRPr lang="en-US" sz="1400" dirty="0"/>
          </a:p>
        </p:txBody>
      </p:sp>
      <p:sp>
        <p:nvSpPr>
          <p:cNvPr id="5" name="Shape 3"/>
          <p:cNvSpPr/>
          <p:nvPr/>
        </p:nvSpPr>
        <p:spPr>
          <a:xfrm>
            <a:off x="777240" y="1691640"/>
            <a:ext cx="10607040" cy="4206240"/>
          </a:xfrm>
          <a:prstGeom prst="rect">
            <a:avLst/>
          </a:prstGeom>
          <a:solidFill>
            <a:srgbClr val="CBF1F6"/>
          </a:solidFill>
          <a:ln w="12700">
            <a:solidFill>
              <a:srgbClr val="CBF1F6"/>
            </a:solidFill>
            <a:prstDash val="solid"/>
          </a:ln>
        </p:spPr>
      </p:sp>
      <p:sp>
        <p:nvSpPr>
          <p:cNvPr id="6" name="Text 4"/>
          <p:cNvSpPr/>
          <p:nvPr/>
        </p:nvSpPr>
        <p:spPr>
          <a:xfrm>
            <a:off x="1097280" y="2011680"/>
            <a:ext cx="10058400" cy="4572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Module 10 covers:</a:t>
            </a:r>
            <a:endParaRPr lang="en-US" sz="1400" dirty="0"/>
          </a:p>
        </p:txBody>
      </p:sp>
      <p:sp>
        <p:nvSpPr>
          <p:cNvPr id="7" name="Text 5"/>
          <p:cNvSpPr/>
          <p:nvPr/>
        </p:nvSpPr>
        <p:spPr>
          <a:xfrm>
            <a:off x="1097280" y="2606040"/>
            <a:ext cx="10058400" cy="3108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React-specific security: CSP for streaming SSR, secrets in Server Actions, hydration safety</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Accessibility — what AI assistants frequently miss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Internationalization briefly</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Course wrap-up, Q&amp;A, where to go next</a:t>
            </a:r>
            <a:endParaRPr lang="en-US" sz="1250" dirty="0"/>
          </a:p>
        </p:txBody>
      </p:sp>
      <p:sp>
        <p:nvSpPr>
          <p:cNvPr id="8" name="Text 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9" name="Text 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28 / 29</a:t>
            </a:r>
            <a:endParaRPr lang="en-US" sz="90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Day 3 progress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Almost there.</a:t>
            </a:r>
            <a:endParaRPr lang="en-US" sz="1400" dirty="0"/>
          </a:p>
        </p:txBody>
      </p:sp>
      <p:sp>
        <p:nvSpPr>
          <p:cNvPr id="5" name="Shape 3"/>
          <p:cNvSpPr/>
          <p:nvPr/>
        </p:nvSpPr>
        <p:spPr>
          <a:xfrm>
            <a:off x="777240" y="1691640"/>
            <a:ext cx="10607040" cy="4206240"/>
          </a:xfrm>
          <a:prstGeom prst="rect">
            <a:avLst/>
          </a:prstGeom>
          <a:solidFill>
            <a:srgbClr val="FFFFFF"/>
          </a:solidFill>
          <a:ln w="12700">
            <a:solidFill>
              <a:srgbClr val="E2E8F0"/>
            </a:solidFill>
            <a:prstDash val="solid"/>
          </a:ln>
        </p:spPr>
      </p:sp>
      <p:sp>
        <p:nvSpPr>
          <p:cNvPr id="6" name="Text 4"/>
          <p:cNvSpPr/>
          <p:nvPr/>
        </p:nvSpPr>
        <p:spPr>
          <a:xfrm>
            <a:off x="1097280" y="1920240"/>
            <a:ext cx="10058400" cy="38404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Module 7 — Performance ✓</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Lab 6 — Profile and optimize ✓</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Module 8 — Testing in 2026 ✓</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Lab 7 — Test suite + AI review ✓</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Module 9 — AI assistants ✓ (just finished)</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Lab 8 — AI-assisted feature end-to-end (next)</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Module 10 — Production + wrap-up</a:t>
            </a:r>
            <a:endParaRPr lang="en-US" sz="1200" dirty="0"/>
          </a:p>
        </p:txBody>
      </p:sp>
      <p:sp>
        <p:nvSpPr>
          <p:cNvPr id="7" name="Text 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9 — AI Assistants</a:t>
            </a:r>
            <a:endParaRPr lang="en-US" sz="900" dirty="0"/>
          </a:p>
        </p:txBody>
      </p:sp>
      <p:sp>
        <p:nvSpPr>
          <p:cNvPr id="8" name="Text 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29 / 29</a:t>
            </a:r>
            <a:endParaRPr lang="en-US" sz="90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1">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377440"/>
            <a:ext cx="548640" cy="73152"/>
          </a:xfrm>
          <a:prstGeom prst="rect">
            <a:avLst/>
          </a:prstGeom>
          <a:solidFill>
            <a:srgbClr val="00B8D9"/>
          </a:solidFill>
          <a:ln w="12700">
            <a:solidFill>
              <a:srgbClr val="00B8D9"/>
            </a:solidFill>
            <a:prstDash val="solid"/>
          </a:ln>
        </p:spPr>
      </p:sp>
      <p:sp>
        <p:nvSpPr>
          <p:cNvPr id="3" name="Text 1"/>
          <p:cNvSpPr/>
          <p:nvPr/>
        </p:nvSpPr>
        <p:spPr>
          <a:xfrm>
            <a:off x="640080" y="2542032"/>
            <a:ext cx="5486400" cy="457200"/>
          </a:xfrm>
          <a:prstGeom prst="rect">
            <a:avLst/>
          </a:prstGeom>
          <a:noFill/>
          <a:ln/>
        </p:spPr>
        <p:txBody>
          <a:bodyPr wrap="square" lIns="0" tIns="0" rIns="0" bIns="0" rtlCol="0" anchor="ctr"/>
          <a:lstStyle/>
          <a:p>
            <a:pPr indent="0" marL="0">
              <a:buNone/>
            </a:pPr>
            <a:r>
              <a:rPr lang="en-US" sz="1800" dirty="0">
                <a:solidFill>
                  <a:srgbClr val="00B8D9"/>
                </a:solidFill>
                <a:latin typeface="Trebuchet MS" pitchFamily="34" charset="0"/>
                <a:ea typeface="Trebuchet MS" pitchFamily="34" charset="-122"/>
                <a:cs typeface="Trebuchet MS" pitchFamily="34" charset="-120"/>
              </a:rPr>
              <a:t>Module 10</a:t>
            </a:r>
            <a:endParaRPr lang="en-US" sz="1800" dirty="0"/>
          </a:p>
        </p:txBody>
      </p:sp>
      <p:sp>
        <p:nvSpPr>
          <p:cNvPr id="4" name="Text 2"/>
          <p:cNvSpPr/>
          <p:nvPr/>
        </p:nvSpPr>
        <p:spPr>
          <a:xfrm>
            <a:off x="640080" y="3017520"/>
            <a:ext cx="1115568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Production Concerns + Wrap-up</a:t>
            </a:r>
            <a:endParaRPr lang="en-US" sz="4400" dirty="0"/>
          </a:p>
        </p:txBody>
      </p:sp>
      <p:sp>
        <p:nvSpPr>
          <p:cNvPr id="5" name="Text 3"/>
          <p:cNvSpPr/>
          <p:nvPr/>
        </p:nvSpPr>
        <p:spPr>
          <a:xfrm>
            <a:off x="640080" y="416052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Security, accessibility, i18n, and where to go from here.</a:t>
            </a:r>
            <a:endParaRPr lang="en-US" sz="1800" dirty="0"/>
          </a:p>
        </p:txBody>
      </p:sp>
      <p:sp>
        <p:nvSpPr>
          <p:cNvPr id="6" name="Text 4"/>
          <p:cNvSpPr/>
          <p:nvPr/>
        </p:nvSpPr>
        <p:spPr>
          <a:xfrm>
            <a:off x="640080" y="4937760"/>
            <a:ext cx="10972800" cy="45720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45 minutes  ·  Lecture + Q&amp;A  ·  Final module</a:t>
            </a:r>
            <a:endParaRPr lang="en-US" sz="1400" dirty="0"/>
          </a:p>
        </p:txBody>
      </p:sp>
      <p:pic>
        <p:nvPicPr>
          <p:cNvPr id="7" name="Image 0" descr="preencoded.png">    </p:cNvPr>
          <p:cNvPicPr>
            <a:picLocks noChangeAspect="1"/>
          </p:cNvPicPr>
          <p:nvPr/>
        </p:nvPicPr>
        <p:blipFill>
          <a:blip r:embed="rId1">
            <a:alphaModFix amt="75000"/>
          </a:blip>
          <a:stretch>
            <a:fillRect/>
          </a:stretch>
        </p:blipFill>
        <p:spPr>
          <a:xfrm>
            <a:off x="10728655" y="4663440"/>
            <a:ext cx="914400" cy="914400"/>
          </a:xfrm>
          <a:prstGeom prst="rect">
            <a:avLst/>
          </a:prstGeom>
        </p:spPr>
      </p:pic>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2">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1</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React-Specific Security</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Generic security advice + the things that bite React apps in particular.</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dangerouslySetInnerHTML — when and how</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React escapes content by default. The exception is the danger zone.</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When you actually need it</a:t>
            </a:r>
            <a:endParaRPr lang="en-US" sz="1400" dirty="0"/>
          </a:p>
        </p:txBody>
      </p:sp>
      <p:sp>
        <p:nvSpPr>
          <p:cNvPr id="6" name="Text 4"/>
          <p:cNvSpPr/>
          <p:nvPr/>
        </p:nvSpPr>
        <p:spPr>
          <a:xfrm>
            <a:off x="777240" y="1920240"/>
            <a:ext cx="5349240" cy="22860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Rendering pre-sanitized HTML from a CMS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Inlining markdown that's already been parsed and sanitized</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Embedding SVG content as a string</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Inlining critical CSS for first paint (rare)</a:t>
            </a:r>
            <a:endParaRPr lang="en-US" sz="1200" dirty="0"/>
          </a:p>
        </p:txBody>
      </p:sp>
      <p:sp>
        <p:nvSpPr>
          <p:cNvPr id="7" name="Text 5"/>
          <p:cNvSpPr/>
          <p:nvPr/>
        </p:nvSpPr>
        <p:spPr>
          <a:xfrm>
            <a:off x="6355080" y="1554480"/>
            <a:ext cx="5029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Sanitize first, render second</a:t>
            </a:r>
            <a:endParaRPr lang="en-US" sz="1400" dirty="0"/>
          </a:p>
        </p:txBody>
      </p:sp>
      <p:sp>
        <p:nvSpPr>
          <p:cNvPr id="8" name="Shape 6"/>
          <p:cNvSpPr/>
          <p:nvPr/>
        </p:nvSpPr>
        <p:spPr>
          <a:xfrm>
            <a:off x="6355080" y="1920240"/>
            <a:ext cx="5029200" cy="2468880"/>
          </a:xfrm>
          <a:prstGeom prst="rect">
            <a:avLst/>
          </a:prstGeom>
          <a:solidFill>
            <a:srgbClr val="1E2A47"/>
          </a:solidFill>
          <a:ln w="12700">
            <a:solidFill>
              <a:srgbClr val="1E2A47"/>
            </a:solidFill>
            <a:prstDash val="solid"/>
          </a:ln>
        </p:spPr>
      </p:sp>
      <p:sp>
        <p:nvSpPr>
          <p:cNvPr id="9" name="Text 7"/>
          <p:cNvSpPr/>
          <p:nvPr/>
        </p:nvSpPr>
        <p:spPr>
          <a:xfrm>
            <a:off x="6537960" y="2057400"/>
            <a:ext cx="4663440" cy="2194560"/>
          </a:xfrm>
          <a:prstGeom prst="rect">
            <a:avLst/>
          </a:prstGeom>
          <a:noFill/>
          <a:ln/>
        </p:spPr>
        <p:txBody>
          <a:bodyPr wrap="square" lIns="0" tIns="0" rIns="0" bIns="0" rtlCol="0" anchor="t"/>
          <a:lstStyle/>
          <a:p>
            <a:pPr indent="0" marL="0">
              <a:buNone/>
            </a:pPr>
            <a:r>
              <a:rPr lang="en-US" sz="1200" dirty="0">
                <a:solidFill>
                  <a:srgbClr val="C586C0"/>
                </a:solidFill>
                <a:latin typeface="Courier New" pitchFamily="34" charset="0"/>
                <a:ea typeface="Courier New" pitchFamily="34" charset="-122"/>
                <a:cs typeface="Courier New" pitchFamily="34" charset="-120"/>
              </a:rPr>
              <a:t>import DOMPurify from </a:t>
            </a:r>
            <a:pPr indent="0" marL="0">
              <a:buNone/>
            </a:pPr>
            <a:r>
              <a:rPr lang="en-US" sz="1200" dirty="0">
                <a:solidFill>
                  <a:srgbClr val="9CDCFE"/>
                </a:solidFill>
                <a:latin typeface="Courier New" pitchFamily="34" charset="0"/>
                <a:ea typeface="Courier New" pitchFamily="34" charset="-122"/>
                <a:cs typeface="Courier New" pitchFamily="34" charset="-120"/>
              </a:rPr>
              <a:t>'isomorphic-dompurify'</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&lt;div</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dangerouslySetInnerHTML={{</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__html: DOMPurify.sanitize(html)</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/&gt;</a:t>
            </a:r>
            <a:endParaRPr lang="en-US" sz="1200" dirty="0"/>
          </a:p>
        </p:txBody>
      </p:sp>
      <p:sp>
        <p:nvSpPr>
          <p:cNvPr id="10" name="Shape 8"/>
          <p:cNvSpPr/>
          <p:nvPr/>
        </p:nvSpPr>
        <p:spPr>
          <a:xfrm>
            <a:off x="777240" y="4754880"/>
            <a:ext cx="10607040" cy="1371600"/>
          </a:xfrm>
          <a:prstGeom prst="rect">
            <a:avLst/>
          </a:prstGeom>
          <a:solidFill>
            <a:srgbClr val="CBF1F6"/>
          </a:solidFill>
          <a:ln w="12700">
            <a:solidFill>
              <a:srgbClr val="CBF1F6"/>
            </a:solidFill>
            <a:prstDash val="solid"/>
          </a:ln>
        </p:spPr>
      </p:sp>
      <p:pic>
        <p:nvPicPr>
          <p:cNvPr id="11" name="Image 0" descr="preencoded.png">    </p:cNvPr>
          <p:cNvPicPr>
            <a:picLocks noChangeAspect="1"/>
          </p:cNvPicPr>
          <p:nvPr/>
        </p:nvPicPr>
        <p:blipFill>
          <a:blip r:embed="rId1"/>
          <a:stretch>
            <a:fillRect/>
          </a:stretch>
        </p:blipFill>
        <p:spPr>
          <a:xfrm>
            <a:off x="1005840" y="5166360"/>
            <a:ext cx="548640" cy="548640"/>
          </a:xfrm>
          <a:prstGeom prst="rect">
            <a:avLst/>
          </a:prstGeom>
        </p:spPr>
      </p:pic>
      <p:sp>
        <p:nvSpPr>
          <p:cNvPr id="12" name="Text 9"/>
          <p:cNvSpPr/>
          <p:nvPr/>
        </p:nvSpPr>
        <p:spPr>
          <a:xfrm>
            <a:off x="1828800" y="4800600"/>
            <a:ext cx="9418320" cy="128016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AI tools sometimes use dangerouslySetInnerHTML to render plain user input — that's an XSS bug. Always sanitize, or use plain children if the content is text.</a:t>
            </a:r>
            <a:endParaRPr lang="en-US" sz="1300" dirty="0"/>
          </a:p>
        </p:txBody>
      </p:sp>
      <p:sp>
        <p:nvSpPr>
          <p:cNvPr id="13" name="Text 10"/>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10 — Production &amp; Wrap-up</a:t>
            </a:r>
            <a:endParaRPr lang="en-US" sz="900" dirty="0"/>
          </a:p>
        </p:txBody>
      </p:sp>
      <p:sp>
        <p:nvSpPr>
          <p:cNvPr id="14" name="Text 11"/>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3 / 21</a:t>
            </a:r>
            <a:endParaRPr lang="en-US" sz="900" dirty="0"/>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CSP for streaming SSR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Streaming responses make the inline-script story trickier than 2024.</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502920" cy="502920"/>
          </a:xfrm>
          <a:prstGeom prst="rect">
            <a:avLst/>
          </a:prstGeom>
        </p:spPr>
      </p:pic>
      <p:sp>
        <p:nvSpPr>
          <p:cNvPr id="7" name="Text 4"/>
          <p:cNvSpPr/>
          <p:nvPr/>
        </p:nvSpPr>
        <p:spPr>
          <a:xfrm>
            <a:off x="1691640" y="178308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Inline scripts in streaming SSR need a nonce</a:t>
            </a:r>
            <a:endParaRPr lang="en-US" sz="1350" dirty="0"/>
          </a:p>
        </p:txBody>
      </p:sp>
      <p:sp>
        <p:nvSpPr>
          <p:cNvPr id="8" name="Text 5"/>
          <p:cNvSpPr/>
          <p:nvPr/>
        </p:nvSpPr>
        <p:spPr>
          <a:xfrm>
            <a:off x="1691640" y="210312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React injects scripts during streaming hydration. Without a nonce in the CSP, browser blocks them — silently breaking your app.</a:t>
            </a:r>
            <a:endParaRPr lang="en-US" sz="1150" dirty="0"/>
          </a:p>
        </p:txBody>
      </p:sp>
      <p:sp>
        <p:nvSpPr>
          <p:cNvPr id="9" name="Shape 6"/>
          <p:cNvSpPr/>
          <p:nvPr/>
        </p:nvSpPr>
        <p:spPr>
          <a:xfrm>
            <a:off x="777240" y="274320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926080"/>
            <a:ext cx="502920" cy="502920"/>
          </a:xfrm>
          <a:prstGeom prst="rect">
            <a:avLst/>
          </a:prstGeom>
        </p:spPr>
      </p:pic>
      <p:sp>
        <p:nvSpPr>
          <p:cNvPr id="11" name="Text 7"/>
          <p:cNvSpPr/>
          <p:nvPr/>
        </p:nvSpPr>
        <p:spPr>
          <a:xfrm>
            <a:off x="1691640" y="283464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Use a per-request nonce</a:t>
            </a:r>
            <a:endParaRPr lang="en-US" sz="1350" dirty="0"/>
          </a:p>
        </p:txBody>
      </p:sp>
      <p:sp>
        <p:nvSpPr>
          <p:cNvPr id="12" name="Text 8"/>
          <p:cNvSpPr/>
          <p:nvPr/>
        </p:nvSpPr>
        <p:spPr>
          <a:xfrm>
            <a:off x="1691640" y="315468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Generate at request time, attach to the response's CSP header AND pass to React's renderToPipeableStream as the nonce option.</a:t>
            </a:r>
            <a:endParaRPr lang="en-US" sz="1150" dirty="0"/>
          </a:p>
        </p:txBody>
      </p:sp>
      <p:sp>
        <p:nvSpPr>
          <p:cNvPr id="13" name="Shape 9"/>
          <p:cNvSpPr/>
          <p:nvPr/>
        </p:nvSpPr>
        <p:spPr>
          <a:xfrm>
            <a:off x="777240" y="379476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977640"/>
            <a:ext cx="502920" cy="502920"/>
          </a:xfrm>
          <a:prstGeom prst="rect">
            <a:avLst/>
          </a:prstGeom>
        </p:spPr>
      </p:pic>
      <p:sp>
        <p:nvSpPr>
          <p:cNvPr id="15" name="Text 10"/>
          <p:cNvSpPr/>
          <p:nvPr/>
        </p:nvSpPr>
        <p:spPr>
          <a:xfrm>
            <a:off x="1691640" y="388620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Frameworks handle this for you</a:t>
            </a:r>
            <a:endParaRPr lang="en-US" sz="1350" dirty="0"/>
          </a:p>
        </p:txBody>
      </p:sp>
      <p:sp>
        <p:nvSpPr>
          <p:cNvPr id="16" name="Text 11"/>
          <p:cNvSpPr/>
          <p:nvPr/>
        </p:nvSpPr>
        <p:spPr>
          <a:xfrm>
            <a:off x="1691640" y="420624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Next.js 15 and RR v7 framework mode generate nonces automatically. Vanilla SSR setups need to wire it manually.</a:t>
            </a:r>
            <a:endParaRPr lang="en-US" sz="1150" dirty="0"/>
          </a:p>
        </p:txBody>
      </p:sp>
      <p:sp>
        <p:nvSpPr>
          <p:cNvPr id="17" name="Shape 12"/>
          <p:cNvSpPr/>
          <p:nvPr/>
        </p:nvSpPr>
        <p:spPr>
          <a:xfrm>
            <a:off x="777240" y="484632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5029200"/>
            <a:ext cx="502920" cy="502920"/>
          </a:xfrm>
          <a:prstGeom prst="rect">
            <a:avLst/>
          </a:prstGeom>
        </p:spPr>
      </p:pic>
      <p:sp>
        <p:nvSpPr>
          <p:cNvPr id="19" name="Text 13"/>
          <p:cNvSpPr/>
          <p:nvPr/>
        </p:nvSpPr>
        <p:spPr>
          <a:xfrm>
            <a:off x="1691640" y="493776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Don't use 'unsafe-inline' to make it work</a:t>
            </a:r>
            <a:endParaRPr lang="en-US" sz="1350" dirty="0"/>
          </a:p>
        </p:txBody>
      </p:sp>
      <p:sp>
        <p:nvSpPr>
          <p:cNvPr id="20" name="Text 14"/>
          <p:cNvSpPr/>
          <p:nvPr/>
        </p:nvSpPr>
        <p:spPr>
          <a:xfrm>
            <a:off x="1691640" y="525780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Defeats the entire CSP. The five minutes to set up a nonce save you the actual XSS bugs CSP exists to prevent.</a:t>
            </a:r>
            <a:endParaRPr lang="en-US" sz="11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10 — Production &amp; Wrap-up</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4 / 21</a:t>
            </a:r>
            <a:endParaRPr lang="en-US" sz="90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Secrets in Server Actions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Server Actions run on the server. The closure captures variables. Be careful what those variables are.</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300" b="1" dirty="0">
                <a:solidFill>
                  <a:srgbClr val="DC2626"/>
                </a:solidFill>
                <a:latin typeface="Trebuchet MS" pitchFamily="34" charset="0"/>
                <a:ea typeface="Trebuchet MS" pitchFamily="34" charset="-122"/>
                <a:cs typeface="Trebuchet MS" pitchFamily="34" charset="-120"/>
              </a:rPr>
              <a:t>Bug pattern</a:t>
            </a:r>
            <a:endParaRPr lang="en-US" sz="1300" dirty="0"/>
          </a:p>
        </p:txBody>
      </p:sp>
      <p:sp>
        <p:nvSpPr>
          <p:cNvPr id="6" name="Shape 4"/>
          <p:cNvSpPr/>
          <p:nvPr/>
        </p:nvSpPr>
        <p:spPr>
          <a:xfrm>
            <a:off x="777240" y="1920240"/>
            <a:ext cx="5349240" cy="3657600"/>
          </a:xfrm>
          <a:prstGeom prst="rect">
            <a:avLst/>
          </a:prstGeom>
          <a:solidFill>
            <a:srgbClr val="1E2A47"/>
          </a:solidFill>
          <a:ln w="12700">
            <a:solidFill>
              <a:srgbClr val="1E2A47"/>
            </a:solidFill>
            <a:prstDash val="solid"/>
          </a:ln>
        </p:spPr>
      </p:sp>
      <p:sp>
        <p:nvSpPr>
          <p:cNvPr id="7" name="Text 5"/>
          <p:cNvSpPr/>
          <p:nvPr/>
        </p:nvSpPr>
        <p:spPr>
          <a:xfrm>
            <a:off x="960120" y="2057400"/>
            <a:ext cx="4983480" cy="3383280"/>
          </a:xfrm>
          <a:prstGeom prst="rect">
            <a:avLst/>
          </a:prstGeom>
          <a:noFill/>
          <a:ln/>
        </p:spPr>
        <p:txBody>
          <a:bodyPr wrap="square" lIns="0" tIns="0" rIns="0" bIns="0" rtlCol="0" anchor="t"/>
          <a:lstStyle/>
          <a:p>
            <a:pPr indent="0" marL="0">
              <a:buNone/>
            </a:pPr>
            <a:r>
              <a:rPr lang="en-US" sz="1200" i="1" dirty="0">
                <a:solidFill>
                  <a:srgbClr val="6A9955"/>
                </a:solidFill>
                <a:latin typeface="Courier New" pitchFamily="34" charset="0"/>
                <a:ea typeface="Courier New" pitchFamily="34" charset="-122"/>
                <a:cs typeface="Courier New" pitchFamily="34" charset="-120"/>
              </a:rPr>
              <a:t>// page.jsx (Server Component)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const apiKey = process.env.SECRET_KEY;</a:t>
            </a:r>
            <a:endParaRPr lang="en-US" sz="1200" dirty="0"/>
          </a:p>
          <a:p>
            <a:pPr indent="0" marL="0">
              <a:buNone/>
            </a:pP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doThing</a:t>
            </a:r>
            <a:pPr indent="0" marL="0">
              <a:buNone/>
            </a:pPr>
            <a:r>
              <a:rPr lang="en-US" sz="1200" dirty="0">
                <a:solidFill>
                  <a:srgbClr val="FFFFFF"/>
                </a:solidFill>
                <a:latin typeface="Courier New" pitchFamily="34" charset="0"/>
                <a:ea typeface="Courier New" pitchFamily="34" charset="-122"/>
                <a:cs typeface="Courier New" pitchFamily="34" charset="-120"/>
              </a:rPr>
              <a:t>(formData)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9CDCFE"/>
                </a:solidFill>
                <a:latin typeface="Courier New" pitchFamily="34" charset="0"/>
                <a:ea typeface="Courier New" pitchFamily="34" charset="-122"/>
                <a:cs typeface="Courier New" pitchFamily="34" charset="-120"/>
              </a:rPr>
              <a:t>'use server'</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return </a:t>
            </a:r>
            <a:pPr indent="0" marL="0">
              <a:buNone/>
            </a:pPr>
            <a:r>
              <a:rPr lang="en-US" sz="1200" dirty="0">
                <a:solidFill>
                  <a:srgbClr val="DCDCAA"/>
                </a:solidFill>
                <a:latin typeface="Courier New" pitchFamily="34" charset="0"/>
                <a:ea typeface="Courier New" pitchFamily="34" charset="-122"/>
                <a:cs typeface="Courier New" pitchFamily="34" charset="-120"/>
              </a:rPr>
              <a:t>fetch</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9CDCFE"/>
                </a:solidFill>
                <a:latin typeface="Courier New" pitchFamily="34" charset="0"/>
                <a:ea typeface="Courier New" pitchFamily="34" charset="-122"/>
                <a:cs typeface="Courier New" pitchFamily="34" charset="-120"/>
              </a:rPr>
              <a:t>url</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headers: { Authorization: apiKey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apiKey is in the action's closure</a:t>
            </a: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 it gets serialized into the bundle</a:t>
            </a: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 it ships to the client</a:t>
            </a:r>
            <a:endParaRPr lang="en-US" sz="1200" dirty="0"/>
          </a:p>
        </p:txBody>
      </p:sp>
      <p:sp>
        <p:nvSpPr>
          <p:cNvPr id="8" name="Text 6"/>
          <p:cNvSpPr/>
          <p:nvPr/>
        </p:nvSpPr>
        <p:spPr>
          <a:xfrm>
            <a:off x="6355080" y="1554480"/>
            <a:ext cx="5029200" cy="365760"/>
          </a:xfrm>
          <a:prstGeom prst="rect">
            <a:avLst/>
          </a:prstGeom>
          <a:noFill/>
          <a:ln/>
        </p:spPr>
        <p:txBody>
          <a:bodyPr wrap="square" lIns="0" tIns="0" rIns="0" bIns="0" rtlCol="0" anchor="ctr"/>
          <a:lstStyle/>
          <a:p>
            <a:pPr indent="0" marL="0">
              <a:buNone/>
            </a:pPr>
            <a:r>
              <a:rPr lang="en-US" sz="1300" b="1" dirty="0">
                <a:solidFill>
                  <a:srgbClr val="059669"/>
                </a:solidFill>
                <a:latin typeface="Trebuchet MS" pitchFamily="34" charset="0"/>
                <a:ea typeface="Trebuchet MS" pitchFamily="34" charset="-122"/>
                <a:cs typeface="Trebuchet MS" pitchFamily="34" charset="-120"/>
              </a:rPr>
              <a:t>Fix</a:t>
            </a:r>
            <a:endParaRPr lang="en-US" sz="1300" dirty="0"/>
          </a:p>
        </p:txBody>
      </p:sp>
      <p:sp>
        <p:nvSpPr>
          <p:cNvPr id="9" name="Shape 7"/>
          <p:cNvSpPr/>
          <p:nvPr/>
        </p:nvSpPr>
        <p:spPr>
          <a:xfrm>
            <a:off x="6355080" y="1920240"/>
            <a:ext cx="5029200" cy="3657600"/>
          </a:xfrm>
          <a:prstGeom prst="rect">
            <a:avLst/>
          </a:prstGeom>
          <a:solidFill>
            <a:srgbClr val="1E2A47"/>
          </a:solidFill>
          <a:ln w="12700">
            <a:solidFill>
              <a:srgbClr val="1E2A47"/>
            </a:solidFill>
            <a:prstDash val="solid"/>
          </a:ln>
        </p:spPr>
      </p:sp>
      <p:sp>
        <p:nvSpPr>
          <p:cNvPr id="10" name="Text 8"/>
          <p:cNvSpPr/>
          <p:nvPr/>
        </p:nvSpPr>
        <p:spPr>
          <a:xfrm>
            <a:off x="6537960" y="2057400"/>
            <a:ext cx="4663440" cy="3383280"/>
          </a:xfrm>
          <a:prstGeom prst="rect">
            <a:avLst/>
          </a:prstGeom>
          <a:noFill/>
          <a:ln/>
        </p:spPr>
        <p:txBody>
          <a:bodyPr wrap="square" lIns="0" tIns="0" rIns="0" bIns="0" rtlCol="0" anchor="t"/>
          <a:lstStyle/>
          <a:p>
            <a:pPr indent="0" marL="0">
              <a:buNone/>
            </a:pPr>
            <a:r>
              <a:rPr lang="en-US" sz="1200" dirty="0">
                <a:solidFill>
                  <a:srgbClr val="C586C0"/>
                </a:solidFill>
                <a:latin typeface="Courier New" pitchFamily="34" charset="0"/>
                <a:ea typeface="Courier New" pitchFamily="34" charset="-122"/>
                <a:cs typeface="Courier New" pitchFamily="34" charset="-120"/>
              </a:rPr>
              <a:t>async function </a:t>
            </a:r>
            <a:pPr indent="0" marL="0">
              <a:buNone/>
            </a:pPr>
            <a:r>
              <a:rPr lang="en-US" sz="1200" dirty="0">
                <a:solidFill>
                  <a:srgbClr val="DCDCAA"/>
                </a:solidFill>
                <a:latin typeface="Courier New" pitchFamily="34" charset="0"/>
                <a:ea typeface="Courier New" pitchFamily="34" charset="-122"/>
                <a:cs typeface="Courier New" pitchFamily="34" charset="-120"/>
              </a:rPr>
              <a:t>doThing</a:t>
            </a:r>
            <a:pPr indent="0" marL="0">
              <a:buNone/>
            </a:pPr>
            <a:r>
              <a:rPr lang="en-US" sz="1200" dirty="0">
                <a:solidFill>
                  <a:srgbClr val="FFFFFF"/>
                </a:solidFill>
                <a:latin typeface="Courier New" pitchFamily="34" charset="0"/>
                <a:ea typeface="Courier New" pitchFamily="34" charset="-122"/>
                <a:cs typeface="Courier New" pitchFamily="34" charset="-120"/>
              </a:rPr>
              <a:t>(formData)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9CDCFE"/>
                </a:solidFill>
                <a:latin typeface="Courier New" pitchFamily="34" charset="0"/>
                <a:ea typeface="Courier New" pitchFamily="34" charset="-122"/>
                <a:cs typeface="Courier New" pitchFamily="34" charset="-120"/>
              </a:rPr>
              <a:t>'use server'</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 read inside the action</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const apiKey = process.env.SECRET_KEY;</a:t>
            </a:r>
            <a:endParaRPr lang="en-US" sz="1200" dirty="0"/>
          </a:p>
          <a:p>
            <a:pPr indent="0" marL="0">
              <a:buNone/>
            </a:pPr>
            <a:r>
              <a:rPr lang="en-US" sz="1200" dirty="0">
                <a:solidFill>
                  <a:srgbClr val="C586C0"/>
                </a:solidFill>
                <a:latin typeface="Courier New" pitchFamily="34" charset="0"/>
                <a:ea typeface="Courier New" pitchFamily="34" charset="-122"/>
                <a:cs typeface="Courier New" pitchFamily="34" charset="-120"/>
              </a:rPr>
              <a:t>  return </a:t>
            </a:r>
            <a:pPr indent="0" marL="0">
              <a:buNone/>
            </a:pPr>
            <a:r>
              <a:rPr lang="en-US" sz="1200" dirty="0">
                <a:solidFill>
                  <a:srgbClr val="DCDCAA"/>
                </a:solidFill>
                <a:latin typeface="Courier New" pitchFamily="34" charset="0"/>
                <a:ea typeface="Courier New" pitchFamily="34" charset="-122"/>
                <a:cs typeface="Courier New" pitchFamily="34" charset="-120"/>
              </a:rPr>
              <a:t>fetch</a:t>
            </a:r>
            <a:pPr indent="0" marL="0">
              <a:buNone/>
            </a:pPr>
            <a:r>
              <a:rPr lang="en-US" sz="1200" dirty="0">
                <a:solidFill>
                  <a:srgbClr val="9CDCFE"/>
                </a:solidFill>
                <a:latin typeface="Courier New" pitchFamily="34" charset="0"/>
                <a:ea typeface="Courier New" pitchFamily="34" charset="-122"/>
                <a:cs typeface="Courier New" pitchFamily="34" charset="-120"/>
              </a:rPr>
              <a:t>(</a:t>
            </a:r>
            <a:pPr indent="0" marL="0">
              <a:buNone/>
            </a:pPr>
            <a:r>
              <a:rPr lang="en-US" sz="1200" dirty="0">
                <a:solidFill>
                  <a:srgbClr val="9CDCFE"/>
                </a:solidFill>
                <a:latin typeface="Courier New" pitchFamily="34" charset="0"/>
                <a:ea typeface="Courier New" pitchFamily="34" charset="-122"/>
                <a:cs typeface="Courier New" pitchFamily="34" charset="-120"/>
              </a:rPr>
              <a:t>url</a:t>
            </a:r>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headers: { Authorization: apiKey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apiKey read at call time on the server</a:t>
            </a:r>
            <a:endParaRPr lang="en-US" sz="1200" dirty="0"/>
          </a:p>
          <a:p>
            <a:pPr indent="0" marL="0">
              <a:buNone/>
            </a:pPr>
            <a:r>
              <a:rPr lang="en-US" sz="1200" i="1" dirty="0">
                <a:solidFill>
                  <a:srgbClr val="6A9955"/>
                </a:solidFill>
                <a:latin typeface="Courier New" pitchFamily="34" charset="0"/>
                <a:ea typeface="Courier New" pitchFamily="34" charset="-122"/>
                <a:cs typeface="Courier New" pitchFamily="34" charset="-120"/>
              </a:rPr>
              <a:t>// → never crosses the boundary</a:t>
            </a:r>
            <a:endParaRPr lang="en-US" sz="1200" dirty="0"/>
          </a:p>
        </p:txBody>
      </p:sp>
      <p:sp>
        <p:nvSpPr>
          <p:cNvPr id="11"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10 — Production &amp; Wrap-up</a:t>
            </a:r>
            <a:endParaRPr lang="en-US" sz="900" dirty="0"/>
          </a:p>
        </p:txBody>
      </p:sp>
      <p:sp>
        <p:nvSpPr>
          <p:cNvPr id="12"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5 / 21</a:t>
            </a:r>
            <a:endParaRPr lang="en-US" sz="90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Auth tokens belong in HttpOnly cookies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Not localStorage. Not sessionStorage. Not 'just for now.'</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502920" cy="502920"/>
          </a:xfrm>
          <a:prstGeom prst="rect">
            <a:avLst/>
          </a:prstGeom>
        </p:spPr>
      </p:pic>
      <p:sp>
        <p:nvSpPr>
          <p:cNvPr id="7" name="Text 4"/>
          <p:cNvSpPr/>
          <p:nvPr/>
        </p:nvSpPr>
        <p:spPr>
          <a:xfrm>
            <a:off x="1691640" y="178308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localStorage</a:t>
            </a:r>
            <a:endParaRPr lang="en-US" sz="1350" dirty="0"/>
          </a:p>
        </p:txBody>
      </p:sp>
      <p:sp>
        <p:nvSpPr>
          <p:cNvPr id="8" name="Text 5"/>
          <p:cNvSpPr/>
          <p:nvPr/>
        </p:nvSpPr>
        <p:spPr>
          <a:xfrm>
            <a:off x="1691640" y="210312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Readable by any JS on the page. One XSS = full account takeover. Don't use for tokens, ever.</a:t>
            </a:r>
            <a:endParaRPr lang="en-US" sz="1150" dirty="0"/>
          </a:p>
        </p:txBody>
      </p:sp>
      <p:sp>
        <p:nvSpPr>
          <p:cNvPr id="9" name="Shape 6"/>
          <p:cNvSpPr/>
          <p:nvPr/>
        </p:nvSpPr>
        <p:spPr>
          <a:xfrm>
            <a:off x="777240" y="274320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926080"/>
            <a:ext cx="502920" cy="502920"/>
          </a:xfrm>
          <a:prstGeom prst="rect">
            <a:avLst/>
          </a:prstGeom>
        </p:spPr>
      </p:pic>
      <p:sp>
        <p:nvSpPr>
          <p:cNvPr id="11" name="Text 7"/>
          <p:cNvSpPr/>
          <p:nvPr/>
        </p:nvSpPr>
        <p:spPr>
          <a:xfrm>
            <a:off x="1691640" y="283464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sessionStorage</a:t>
            </a:r>
            <a:endParaRPr lang="en-US" sz="1350" dirty="0"/>
          </a:p>
        </p:txBody>
      </p:sp>
      <p:sp>
        <p:nvSpPr>
          <p:cNvPr id="12" name="Text 8"/>
          <p:cNvSpPr/>
          <p:nvPr/>
        </p:nvSpPr>
        <p:spPr>
          <a:xfrm>
            <a:off x="1691640" y="315468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Same XSS exposure. The 'session-scoped' part doesn't help — XSS happens during the session.</a:t>
            </a:r>
            <a:endParaRPr lang="en-US" sz="1150" dirty="0"/>
          </a:p>
        </p:txBody>
      </p:sp>
      <p:sp>
        <p:nvSpPr>
          <p:cNvPr id="13" name="Shape 9"/>
          <p:cNvSpPr/>
          <p:nvPr/>
        </p:nvSpPr>
        <p:spPr>
          <a:xfrm>
            <a:off x="777240" y="379476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977640"/>
            <a:ext cx="502920" cy="502920"/>
          </a:xfrm>
          <a:prstGeom prst="rect">
            <a:avLst/>
          </a:prstGeom>
        </p:spPr>
      </p:pic>
      <p:sp>
        <p:nvSpPr>
          <p:cNvPr id="15" name="Text 10"/>
          <p:cNvSpPr/>
          <p:nvPr/>
        </p:nvSpPr>
        <p:spPr>
          <a:xfrm>
            <a:off x="1691640" y="388620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Plain cookies (not HttpOnly)</a:t>
            </a:r>
            <a:endParaRPr lang="en-US" sz="1350" dirty="0"/>
          </a:p>
        </p:txBody>
      </p:sp>
      <p:sp>
        <p:nvSpPr>
          <p:cNvPr id="16" name="Text 11"/>
          <p:cNvSpPr/>
          <p:nvPr/>
        </p:nvSpPr>
        <p:spPr>
          <a:xfrm>
            <a:off x="1691640" y="420624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Still readable by JS. Only marginally better than localStorage.</a:t>
            </a:r>
            <a:endParaRPr lang="en-US" sz="1150" dirty="0"/>
          </a:p>
        </p:txBody>
      </p:sp>
      <p:sp>
        <p:nvSpPr>
          <p:cNvPr id="17" name="Shape 12"/>
          <p:cNvSpPr/>
          <p:nvPr/>
        </p:nvSpPr>
        <p:spPr>
          <a:xfrm>
            <a:off x="777240" y="484632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5029200"/>
            <a:ext cx="502920" cy="502920"/>
          </a:xfrm>
          <a:prstGeom prst="rect">
            <a:avLst/>
          </a:prstGeom>
        </p:spPr>
      </p:pic>
      <p:sp>
        <p:nvSpPr>
          <p:cNvPr id="19" name="Text 13"/>
          <p:cNvSpPr/>
          <p:nvPr/>
        </p:nvSpPr>
        <p:spPr>
          <a:xfrm>
            <a:off x="1691640" y="493776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HttpOnly + Secure + SameSite cookies</a:t>
            </a:r>
            <a:endParaRPr lang="en-US" sz="1350" dirty="0"/>
          </a:p>
        </p:txBody>
      </p:sp>
      <p:sp>
        <p:nvSpPr>
          <p:cNvPr id="20" name="Text 14"/>
          <p:cNvSpPr/>
          <p:nvPr/>
        </p:nvSpPr>
        <p:spPr>
          <a:xfrm>
            <a:off x="1691640" y="525780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Set by the server. Sent automatically on requests. Not accessible to JavaScript. The right answer.</a:t>
            </a:r>
            <a:endParaRPr lang="en-US" sz="11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10 — Production &amp; Wrap-up</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6 / 21</a:t>
            </a:r>
            <a:endParaRPr lang="en-US" sz="90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7">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2</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Accessibility</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What AI assistants miss. What you should always check.</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accessibility minimum bar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Six things that aren't optional. AI gets some right; gets others embarrassingly wrong.</a:t>
            </a:r>
            <a:endParaRPr lang="en-US" sz="1400" dirty="0"/>
          </a:p>
        </p:txBody>
      </p:sp>
      <p:sp>
        <p:nvSpPr>
          <p:cNvPr id="5" name="Shape 3"/>
          <p:cNvSpPr/>
          <p:nvPr/>
        </p:nvSpPr>
        <p:spPr>
          <a:xfrm>
            <a:off x="777240" y="1691640"/>
            <a:ext cx="10607040" cy="603504"/>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10512"/>
            <a:ext cx="365760" cy="365760"/>
          </a:xfrm>
          <a:prstGeom prst="rect">
            <a:avLst/>
          </a:prstGeom>
        </p:spPr>
      </p:pic>
      <p:sp>
        <p:nvSpPr>
          <p:cNvPr id="7" name="Text 4"/>
          <p:cNvSpPr/>
          <p:nvPr/>
        </p:nvSpPr>
        <p:spPr>
          <a:xfrm>
            <a:off x="1508760" y="1737360"/>
            <a:ext cx="9784080" cy="50292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Every interactive element is a button, link, or properly-labeled input</a:t>
            </a:r>
            <a:endParaRPr lang="en-US" sz="1250" dirty="0"/>
          </a:p>
        </p:txBody>
      </p:sp>
      <p:sp>
        <p:nvSpPr>
          <p:cNvPr id="8" name="Shape 5"/>
          <p:cNvSpPr/>
          <p:nvPr/>
        </p:nvSpPr>
        <p:spPr>
          <a:xfrm>
            <a:off x="777240" y="2404872"/>
            <a:ext cx="10607040" cy="603504"/>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960120" y="2523744"/>
            <a:ext cx="365760" cy="365760"/>
          </a:xfrm>
          <a:prstGeom prst="rect">
            <a:avLst/>
          </a:prstGeom>
        </p:spPr>
      </p:pic>
      <p:sp>
        <p:nvSpPr>
          <p:cNvPr id="10" name="Text 6"/>
          <p:cNvSpPr/>
          <p:nvPr/>
        </p:nvSpPr>
        <p:spPr>
          <a:xfrm>
            <a:off x="1508760" y="2450592"/>
            <a:ext cx="9784080" cy="50292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All form fields have a visible &lt;label&gt; with htmlFor + id wiring</a:t>
            </a:r>
            <a:endParaRPr lang="en-US" sz="1250" dirty="0"/>
          </a:p>
        </p:txBody>
      </p:sp>
      <p:sp>
        <p:nvSpPr>
          <p:cNvPr id="11" name="Shape 7"/>
          <p:cNvSpPr/>
          <p:nvPr/>
        </p:nvSpPr>
        <p:spPr>
          <a:xfrm>
            <a:off x="777240" y="3118104"/>
            <a:ext cx="10607040" cy="603504"/>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236976"/>
            <a:ext cx="365760" cy="365760"/>
          </a:xfrm>
          <a:prstGeom prst="rect">
            <a:avLst/>
          </a:prstGeom>
        </p:spPr>
      </p:pic>
      <p:sp>
        <p:nvSpPr>
          <p:cNvPr id="13" name="Text 8"/>
          <p:cNvSpPr/>
          <p:nvPr/>
        </p:nvSpPr>
        <p:spPr>
          <a:xfrm>
            <a:off x="1508760" y="3163824"/>
            <a:ext cx="9784080" cy="50292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Color contrast meets WCAG AA (4.5:1 for body, 3:1 for large text)</a:t>
            </a:r>
            <a:endParaRPr lang="en-US" sz="1250" dirty="0"/>
          </a:p>
        </p:txBody>
      </p:sp>
      <p:sp>
        <p:nvSpPr>
          <p:cNvPr id="14" name="Shape 9"/>
          <p:cNvSpPr/>
          <p:nvPr/>
        </p:nvSpPr>
        <p:spPr>
          <a:xfrm>
            <a:off x="777240" y="3831336"/>
            <a:ext cx="10607040" cy="603504"/>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960120" y="3950208"/>
            <a:ext cx="365760" cy="365760"/>
          </a:xfrm>
          <a:prstGeom prst="rect">
            <a:avLst/>
          </a:prstGeom>
        </p:spPr>
      </p:pic>
      <p:sp>
        <p:nvSpPr>
          <p:cNvPr id="16" name="Text 10"/>
          <p:cNvSpPr/>
          <p:nvPr/>
        </p:nvSpPr>
        <p:spPr>
          <a:xfrm>
            <a:off x="1508760" y="3877056"/>
            <a:ext cx="9784080" cy="50292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Focus states are visible — never outline: none without a replacement</a:t>
            </a:r>
            <a:endParaRPr lang="en-US" sz="1250" dirty="0"/>
          </a:p>
        </p:txBody>
      </p:sp>
      <p:sp>
        <p:nvSpPr>
          <p:cNvPr id="17" name="Shape 11"/>
          <p:cNvSpPr/>
          <p:nvPr/>
        </p:nvSpPr>
        <p:spPr>
          <a:xfrm>
            <a:off x="777240" y="4544568"/>
            <a:ext cx="10607040" cy="603504"/>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4663440"/>
            <a:ext cx="365760" cy="365760"/>
          </a:xfrm>
          <a:prstGeom prst="rect">
            <a:avLst/>
          </a:prstGeom>
        </p:spPr>
      </p:pic>
      <p:sp>
        <p:nvSpPr>
          <p:cNvPr id="19" name="Text 12"/>
          <p:cNvSpPr/>
          <p:nvPr/>
        </p:nvSpPr>
        <p:spPr>
          <a:xfrm>
            <a:off x="1508760" y="4590288"/>
            <a:ext cx="9784080" cy="50292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Modal dialogs trap focus; closing returns focus to the opener</a:t>
            </a:r>
            <a:endParaRPr lang="en-US" sz="1250" dirty="0"/>
          </a:p>
        </p:txBody>
      </p:sp>
      <p:sp>
        <p:nvSpPr>
          <p:cNvPr id="20" name="Shape 13"/>
          <p:cNvSpPr/>
          <p:nvPr/>
        </p:nvSpPr>
        <p:spPr>
          <a:xfrm>
            <a:off x="777240" y="5257800"/>
            <a:ext cx="10607040" cy="603504"/>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960120" y="5376672"/>
            <a:ext cx="365760" cy="365760"/>
          </a:xfrm>
          <a:prstGeom prst="rect">
            <a:avLst/>
          </a:prstGeom>
        </p:spPr>
      </p:pic>
      <p:sp>
        <p:nvSpPr>
          <p:cNvPr id="22" name="Text 14"/>
          <p:cNvSpPr/>
          <p:nvPr/>
        </p:nvSpPr>
        <p:spPr>
          <a:xfrm>
            <a:off x="1508760" y="5303520"/>
            <a:ext cx="9784080" cy="50292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All non-decorative images have alt text; decorative ones have alt=""</a:t>
            </a:r>
            <a:endParaRPr lang="en-US" sz="1250" dirty="0"/>
          </a:p>
        </p:txBody>
      </p:sp>
      <p:sp>
        <p:nvSpPr>
          <p:cNvPr id="23"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10 — Production &amp; Wrap-up</a:t>
            </a:r>
            <a:endParaRPr lang="en-US" sz="900" dirty="0"/>
          </a:p>
        </p:txBody>
      </p:sp>
      <p:sp>
        <p:nvSpPr>
          <p:cNvPr id="24"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8 / 21</a:t>
            </a:r>
            <a:endParaRPr lang="en-US" sz="90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 AI tools systematically miss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These are the ones that show up in code review unless you're looking.</a:t>
            </a:r>
            <a:endParaRPr lang="en-US" sz="1400" dirty="0"/>
          </a:p>
        </p:txBody>
      </p:sp>
      <p:sp>
        <p:nvSpPr>
          <p:cNvPr id="5" name="Shape 3"/>
          <p:cNvSpPr/>
          <p:nvPr/>
        </p:nvSpPr>
        <p:spPr>
          <a:xfrm>
            <a:off x="777240" y="1691640"/>
            <a:ext cx="5212080" cy="82296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457200" cy="457200"/>
          </a:xfrm>
          <a:prstGeom prst="rect">
            <a:avLst/>
          </a:prstGeom>
        </p:spPr>
      </p:pic>
      <p:sp>
        <p:nvSpPr>
          <p:cNvPr id="7" name="Text 4"/>
          <p:cNvSpPr/>
          <p:nvPr/>
        </p:nvSpPr>
        <p:spPr>
          <a:xfrm>
            <a:off x="1554480" y="1737360"/>
            <a:ext cx="429768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&lt;div onClick&gt; for buttons (no keyboard handler, no role, no focus)</a:t>
            </a:r>
            <a:endParaRPr lang="en-US" sz="1150" dirty="0"/>
          </a:p>
        </p:txBody>
      </p:sp>
      <p:sp>
        <p:nvSpPr>
          <p:cNvPr id="8" name="Shape 5"/>
          <p:cNvSpPr/>
          <p:nvPr/>
        </p:nvSpPr>
        <p:spPr>
          <a:xfrm>
            <a:off x="6126480" y="1691640"/>
            <a:ext cx="5212080" cy="822960"/>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6309360" y="1874520"/>
            <a:ext cx="457200" cy="457200"/>
          </a:xfrm>
          <a:prstGeom prst="rect">
            <a:avLst/>
          </a:prstGeom>
        </p:spPr>
      </p:pic>
      <p:sp>
        <p:nvSpPr>
          <p:cNvPr id="10" name="Text 6"/>
          <p:cNvSpPr/>
          <p:nvPr/>
        </p:nvSpPr>
        <p:spPr>
          <a:xfrm>
            <a:off x="6903720" y="1737360"/>
            <a:ext cx="429768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Placeholder used as label (disappears when typing, screen reader skips it)</a:t>
            </a:r>
            <a:endParaRPr lang="en-US" sz="1150" dirty="0"/>
          </a:p>
        </p:txBody>
      </p:sp>
      <p:sp>
        <p:nvSpPr>
          <p:cNvPr id="11" name="Shape 7"/>
          <p:cNvSpPr/>
          <p:nvPr/>
        </p:nvSpPr>
        <p:spPr>
          <a:xfrm>
            <a:off x="777240" y="2651760"/>
            <a:ext cx="5212080" cy="822960"/>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2834640"/>
            <a:ext cx="457200" cy="457200"/>
          </a:xfrm>
          <a:prstGeom prst="rect">
            <a:avLst/>
          </a:prstGeom>
        </p:spPr>
      </p:pic>
      <p:sp>
        <p:nvSpPr>
          <p:cNvPr id="13" name="Text 8"/>
          <p:cNvSpPr/>
          <p:nvPr/>
        </p:nvSpPr>
        <p:spPr>
          <a:xfrm>
            <a:off x="1554480" y="2697480"/>
            <a:ext cx="429768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Custom dropdown without keyboard navigation (arrow keys, Escape)</a:t>
            </a:r>
            <a:endParaRPr lang="en-US" sz="1150" dirty="0"/>
          </a:p>
        </p:txBody>
      </p:sp>
      <p:sp>
        <p:nvSpPr>
          <p:cNvPr id="14" name="Shape 9"/>
          <p:cNvSpPr/>
          <p:nvPr/>
        </p:nvSpPr>
        <p:spPr>
          <a:xfrm>
            <a:off x="6126480" y="2651760"/>
            <a:ext cx="5212080" cy="822960"/>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6309360" y="2834640"/>
            <a:ext cx="457200" cy="457200"/>
          </a:xfrm>
          <a:prstGeom prst="rect">
            <a:avLst/>
          </a:prstGeom>
        </p:spPr>
      </p:pic>
      <p:sp>
        <p:nvSpPr>
          <p:cNvPr id="16" name="Text 10"/>
          <p:cNvSpPr/>
          <p:nvPr/>
        </p:nvSpPr>
        <p:spPr>
          <a:xfrm>
            <a:off x="6903720" y="2697480"/>
            <a:ext cx="429768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Modal that doesn't trap focus or return it on close</a:t>
            </a:r>
            <a:endParaRPr lang="en-US" sz="1150" dirty="0"/>
          </a:p>
        </p:txBody>
      </p:sp>
      <p:sp>
        <p:nvSpPr>
          <p:cNvPr id="17" name="Shape 11"/>
          <p:cNvSpPr/>
          <p:nvPr/>
        </p:nvSpPr>
        <p:spPr>
          <a:xfrm>
            <a:off x="777240" y="3611880"/>
            <a:ext cx="5212080" cy="822960"/>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3794760"/>
            <a:ext cx="457200" cy="457200"/>
          </a:xfrm>
          <a:prstGeom prst="rect">
            <a:avLst/>
          </a:prstGeom>
        </p:spPr>
      </p:pic>
      <p:sp>
        <p:nvSpPr>
          <p:cNvPr id="19" name="Text 12"/>
          <p:cNvSpPr/>
          <p:nvPr/>
        </p:nvSpPr>
        <p:spPr>
          <a:xfrm>
            <a:off x="1554480" y="3657600"/>
            <a:ext cx="429768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Loading spinner without aria-live='polite' or aria-busy</a:t>
            </a:r>
            <a:endParaRPr lang="en-US" sz="1150" dirty="0"/>
          </a:p>
        </p:txBody>
      </p:sp>
      <p:sp>
        <p:nvSpPr>
          <p:cNvPr id="20" name="Shape 13"/>
          <p:cNvSpPr/>
          <p:nvPr/>
        </p:nvSpPr>
        <p:spPr>
          <a:xfrm>
            <a:off x="6126480" y="3611880"/>
            <a:ext cx="5212080" cy="822960"/>
          </a:xfrm>
          <a:prstGeom prst="rect">
            <a:avLst/>
          </a:prstGeom>
          <a:solidFill>
            <a:srgbClr val="FFFFFF"/>
          </a:solidFill>
          <a:ln w="12700">
            <a:solidFill>
              <a:srgbClr val="E2E8F0"/>
            </a:solidFill>
            <a:prstDash val="solid"/>
          </a:ln>
        </p:spPr>
      </p:sp>
      <p:pic>
        <p:nvPicPr>
          <p:cNvPr id="21" name="Image 5" descr="preencoded.png">    </p:cNvPr>
          <p:cNvPicPr>
            <a:picLocks noChangeAspect="1"/>
          </p:cNvPicPr>
          <p:nvPr/>
        </p:nvPicPr>
        <p:blipFill>
          <a:blip r:embed="rId6"/>
          <a:stretch>
            <a:fillRect/>
          </a:stretch>
        </p:blipFill>
        <p:spPr>
          <a:xfrm>
            <a:off x="6309360" y="3794760"/>
            <a:ext cx="457200" cy="457200"/>
          </a:xfrm>
          <a:prstGeom prst="rect">
            <a:avLst/>
          </a:prstGeom>
        </p:spPr>
      </p:pic>
      <p:sp>
        <p:nvSpPr>
          <p:cNvPr id="22" name="Text 14"/>
          <p:cNvSpPr/>
          <p:nvPr/>
        </p:nvSpPr>
        <p:spPr>
          <a:xfrm>
            <a:off x="6903720" y="3657600"/>
            <a:ext cx="429768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Error messages not associated with the failing field via aria-describedby</a:t>
            </a:r>
            <a:endParaRPr lang="en-US" sz="1150" dirty="0"/>
          </a:p>
        </p:txBody>
      </p:sp>
      <p:sp>
        <p:nvSpPr>
          <p:cNvPr id="23" name="Shape 15"/>
          <p:cNvSpPr/>
          <p:nvPr/>
        </p:nvSpPr>
        <p:spPr>
          <a:xfrm>
            <a:off x="777240" y="4572000"/>
            <a:ext cx="5212080" cy="822960"/>
          </a:xfrm>
          <a:prstGeom prst="rect">
            <a:avLst/>
          </a:prstGeom>
          <a:solidFill>
            <a:srgbClr val="FFFFFF"/>
          </a:solidFill>
          <a:ln w="12700">
            <a:solidFill>
              <a:srgbClr val="E2E8F0"/>
            </a:solidFill>
            <a:prstDash val="solid"/>
          </a:ln>
        </p:spPr>
      </p:sp>
      <p:pic>
        <p:nvPicPr>
          <p:cNvPr id="24" name="Image 6" descr="preencoded.png">    </p:cNvPr>
          <p:cNvPicPr>
            <a:picLocks noChangeAspect="1"/>
          </p:cNvPicPr>
          <p:nvPr/>
        </p:nvPicPr>
        <p:blipFill>
          <a:blip r:embed="rId7"/>
          <a:stretch>
            <a:fillRect/>
          </a:stretch>
        </p:blipFill>
        <p:spPr>
          <a:xfrm>
            <a:off x="960120" y="4754880"/>
            <a:ext cx="457200" cy="457200"/>
          </a:xfrm>
          <a:prstGeom prst="rect">
            <a:avLst/>
          </a:prstGeom>
        </p:spPr>
      </p:pic>
      <p:sp>
        <p:nvSpPr>
          <p:cNvPr id="25" name="Text 16"/>
          <p:cNvSpPr/>
          <p:nvPr/>
        </p:nvSpPr>
        <p:spPr>
          <a:xfrm>
            <a:off x="1554480" y="4617720"/>
            <a:ext cx="429768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Icon buttons without aria-label (just an emoji or SVG inside &lt;button&gt;)</a:t>
            </a:r>
            <a:endParaRPr lang="en-US" sz="1150" dirty="0"/>
          </a:p>
        </p:txBody>
      </p:sp>
      <p:sp>
        <p:nvSpPr>
          <p:cNvPr id="26" name="Shape 17"/>
          <p:cNvSpPr/>
          <p:nvPr/>
        </p:nvSpPr>
        <p:spPr>
          <a:xfrm>
            <a:off x="6126480" y="4572000"/>
            <a:ext cx="5212080" cy="822960"/>
          </a:xfrm>
          <a:prstGeom prst="rect">
            <a:avLst/>
          </a:prstGeom>
          <a:solidFill>
            <a:srgbClr val="FFFFFF"/>
          </a:solidFill>
          <a:ln w="12700">
            <a:solidFill>
              <a:srgbClr val="E2E8F0"/>
            </a:solidFill>
            <a:prstDash val="solid"/>
          </a:ln>
        </p:spPr>
      </p:sp>
      <p:pic>
        <p:nvPicPr>
          <p:cNvPr id="27" name="Image 7" descr="preencoded.png">    </p:cNvPr>
          <p:cNvPicPr>
            <a:picLocks noChangeAspect="1"/>
          </p:cNvPicPr>
          <p:nvPr/>
        </p:nvPicPr>
        <p:blipFill>
          <a:blip r:embed="rId8"/>
          <a:stretch>
            <a:fillRect/>
          </a:stretch>
        </p:blipFill>
        <p:spPr>
          <a:xfrm>
            <a:off x="6309360" y="4754880"/>
            <a:ext cx="457200" cy="457200"/>
          </a:xfrm>
          <a:prstGeom prst="rect">
            <a:avLst/>
          </a:prstGeom>
        </p:spPr>
      </p:pic>
      <p:sp>
        <p:nvSpPr>
          <p:cNvPr id="28" name="Text 18"/>
          <p:cNvSpPr/>
          <p:nvPr/>
        </p:nvSpPr>
        <p:spPr>
          <a:xfrm>
            <a:off x="6903720" y="4617720"/>
            <a:ext cx="4297680" cy="7315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Tooltips on hover only (unreachable by keyboard)</a:t>
            </a:r>
            <a:endParaRPr lang="en-US" sz="1150" dirty="0"/>
          </a:p>
        </p:txBody>
      </p:sp>
      <p:sp>
        <p:nvSpPr>
          <p:cNvPr id="29" name="Text 1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10 — Production &amp; Wrap-up</a:t>
            </a:r>
            <a:endParaRPr lang="en-US" sz="900" dirty="0"/>
          </a:p>
        </p:txBody>
      </p:sp>
      <p:sp>
        <p:nvSpPr>
          <p:cNvPr id="30" name="Text 2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9 / 21</a:t>
            </a:r>
            <a:endParaRPr lang="en-US" sz="90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Accessibility review tools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Three tools that catch most issues. None catches all.</a:t>
            </a:r>
            <a:endParaRPr lang="en-US" sz="1400" dirty="0"/>
          </a:p>
        </p:txBody>
      </p:sp>
      <p:sp>
        <p:nvSpPr>
          <p:cNvPr id="5" name="Shape 3"/>
          <p:cNvSpPr/>
          <p:nvPr/>
        </p:nvSpPr>
        <p:spPr>
          <a:xfrm>
            <a:off x="777240" y="1691640"/>
            <a:ext cx="10607040" cy="11887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2011680"/>
            <a:ext cx="548640" cy="548640"/>
          </a:xfrm>
          <a:prstGeom prst="rect">
            <a:avLst/>
          </a:prstGeom>
        </p:spPr>
      </p:pic>
      <p:sp>
        <p:nvSpPr>
          <p:cNvPr id="7" name="Text 4"/>
          <p:cNvSpPr/>
          <p:nvPr/>
        </p:nvSpPr>
        <p:spPr>
          <a:xfrm>
            <a:off x="1691640" y="1828800"/>
            <a:ext cx="9601200" cy="411480"/>
          </a:xfrm>
          <a:prstGeom prst="rect">
            <a:avLst/>
          </a:prstGeom>
          <a:noFill/>
          <a:ln/>
        </p:spPr>
        <p:txBody>
          <a:bodyPr wrap="square" lIns="0" tIns="0" rIns="0" bIns="0" rtlCol="0" anchor="ctr"/>
          <a:lstStyle/>
          <a:p>
            <a:pPr indent="0" marL="0">
              <a:buNone/>
            </a:pPr>
            <a:r>
              <a:rPr lang="en-US" sz="1600" b="1" dirty="0">
                <a:solidFill>
                  <a:srgbClr val="00B8D9"/>
                </a:solidFill>
                <a:latin typeface="Trebuchet MS" pitchFamily="34" charset="0"/>
                <a:ea typeface="Trebuchet MS" pitchFamily="34" charset="-122"/>
                <a:cs typeface="Trebuchet MS" pitchFamily="34" charset="-120"/>
              </a:rPr>
              <a:t>eslint-plugin-jsx-a11y</a:t>
            </a:r>
            <a:endParaRPr lang="en-US" sz="1600" dirty="0"/>
          </a:p>
        </p:txBody>
      </p:sp>
      <p:sp>
        <p:nvSpPr>
          <p:cNvPr id="8" name="Text 5"/>
          <p:cNvSpPr/>
          <p:nvPr/>
        </p:nvSpPr>
        <p:spPr>
          <a:xfrm>
            <a:off x="1691640" y="2240280"/>
            <a:ext cx="9601200" cy="59436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Static checks. Catches missing alt, onClick on non-interactive elements, label associations. Add to your eslint config — it's lightweight.</a:t>
            </a:r>
            <a:endParaRPr lang="en-US" sz="1200" dirty="0"/>
          </a:p>
        </p:txBody>
      </p:sp>
      <p:sp>
        <p:nvSpPr>
          <p:cNvPr id="9" name="Shape 6"/>
          <p:cNvSpPr/>
          <p:nvPr/>
        </p:nvSpPr>
        <p:spPr>
          <a:xfrm>
            <a:off x="777240" y="3063240"/>
            <a:ext cx="10607040" cy="118872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3383280"/>
            <a:ext cx="548640" cy="548640"/>
          </a:xfrm>
          <a:prstGeom prst="rect">
            <a:avLst/>
          </a:prstGeom>
        </p:spPr>
      </p:pic>
      <p:sp>
        <p:nvSpPr>
          <p:cNvPr id="11" name="Text 7"/>
          <p:cNvSpPr/>
          <p:nvPr/>
        </p:nvSpPr>
        <p:spPr>
          <a:xfrm>
            <a:off x="1691640" y="3200400"/>
            <a:ext cx="9601200" cy="411480"/>
          </a:xfrm>
          <a:prstGeom prst="rect">
            <a:avLst/>
          </a:prstGeom>
          <a:noFill/>
          <a:ln/>
        </p:spPr>
        <p:txBody>
          <a:bodyPr wrap="square" lIns="0" tIns="0" rIns="0" bIns="0" rtlCol="0" anchor="ctr"/>
          <a:lstStyle/>
          <a:p>
            <a:pPr indent="0" marL="0">
              <a:buNone/>
            </a:pPr>
            <a:r>
              <a:rPr lang="en-US" sz="1600" b="1" dirty="0">
                <a:solidFill>
                  <a:srgbClr val="00B8D9"/>
                </a:solidFill>
                <a:latin typeface="Trebuchet MS" pitchFamily="34" charset="0"/>
                <a:ea typeface="Trebuchet MS" pitchFamily="34" charset="-122"/>
                <a:cs typeface="Trebuchet MS" pitchFamily="34" charset="-120"/>
              </a:rPr>
              <a:t>axe DevTools (browser extension)</a:t>
            </a:r>
            <a:endParaRPr lang="en-US" sz="1600" dirty="0"/>
          </a:p>
        </p:txBody>
      </p:sp>
      <p:sp>
        <p:nvSpPr>
          <p:cNvPr id="12" name="Text 8"/>
          <p:cNvSpPr/>
          <p:nvPr/>
        </p:nvSpPr>
        <p:spPr>
          <a:xfrm>
            <a:off x="1691640" y="3611880"/>
            <a:ext cx="9601200" cy="59436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Runtime audit. Tests color contrast, ARIA roles, keyboard nav, focus management. Run on every page before shipping.</a:t>
            </a:r>
            <a:endParaRPr lang="en-US" sz="1200" dirty="0"/>
          </a:p>
        </p:txBody>
      </p:sp>
      <p:sp>
        <p:nvSpPr>
          <p:cNvPr id="13" name="Shape 9"/>
          <p:cNvSpPr/>
          <p:nvPr/>
        </p:nvSpPr>
        <p:spPr>
          <a:xfrm>
            <a:off x="777240" y="4434840"/>
            <a:ext cx="10607040" cy="118872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4754880"/>
            <a:ext cx="548640" cy="548640"/>
          </a:xfrm>
          <a:prstGeom prst="rect">
            <a:avLst/>
          </a:prstGeom>
        </p:spPr>
      </p:pic>
      <p:sp>
        <p:nvSpPr>
          <p:cNvPr id="15" name="Text 10"/>
          <p:cNvSpPr/>
          <p:nvPr/>
        </p:nvSpPr>
        <p:spPr>
          <a:xfrm>
            <a:off x="1691640" y="4572000"/>
            <a:ext cx="9601200" cy="411480"/>
          </a:xfrm>
          <a:prstGeom prst="rect">
            <a:avLst/>
          </a:prstGeom>
          <a:noFill/>
          <a:ln/>
        </p:spPr>
        <p:txBody>
          <a:bodyPr wrap="square" lIns="0" tIns="0" rIns="0" bIns="0" rtlCol="0" anchor="ctr"/>
          <a:lstStyle/>
          <a:p>
            <a:pPr indent="0" marL="0">
              <a:buNone/>
            </a:pPr>
            <a:r>
              <a:rPr lang="en-US" sz="1600" b="1" dirty="0">
                <a:solidFill>
                  <a:srgbClr val="00B8D9"/>
                </a:solidFill>
                <a:latin typeface="Trebuchet MS" pitchFamily="34" charset="0"/>
                <a:ea typeface="Trebuchet MS" pitchFamily="34" charset="-122"/>
                <a:cs typeface="Trebuchet MS" pitchFamily="34" charset="-120"/>
              </a:rPr>
              <a:t>Manual keyboard testing</a:t>
            </a:r>
            <a:endParaRPr lang="en-US" sz="1600" dirty="0"/>
          </a:p>
        </p:txBody>
      </p:sp>
      <p:sp>
        <p:nvSpPr>
          <p:cNvPr id="16" name="Text 11"/>
          <p:cNvSpPr/>
          <p:nvPr/>
        </p:nvSpPr>
        <p:spPr>
          <a:xfrm>
            <a:off x="1691640" y="4983480"/>
            <a:ext cx="9601200" cy="59436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Tab through the page. Can you reach every interactive element? Can you escape modals? If not, neither can keyboard-only users.</a:t>
            </a:r>
            <a:endParaRPr lang="en-US" sz="1200" dirty="0"/>
          </a:p>
        </p:txBody>
      </p:sp>
      <p:sp>
        <p:nvSpPr>
          <p:cNvPr id="17" name="Text 12"/>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10 — Production &amp; Wrap-up</a:t>
            </a:r>
            <a:endParaRPr lang="en-US" sz="900" dirty="0"/>
          </a:p>
        </p:txBody>
      </p:sp>
      <p:sp>
        <p:nvSpPr>
          <p:cNvPr id="18" name="Text 13"/>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10 / 21</a:t>
            </a:r>
            <a:endParaRPr lang="en-US" sz="90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11">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3</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Internationalization</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Briefly. Enough to know what to reach for.</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minimum viable i18n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Three decisions, one library, done.</a:t>
            </a:r>
            <a:endParaRPr lang="en-US" sz="1400" dirty="0"/>
          </a:p>
        </p:txBody>
      </p:sp>
      <p:sp>
        <p:nvSpPr>
          <p:cNvPr id="5" name="Shape 3"/>
          <p:cNvSpPr/>
          <p:nvPr/>
        </p:nvSpPr>
        <p:spPr>
          <a:xfrm>
            <a:off x="777240" y="1691640"/>
            <a:ext cx="10607040" cy="1097280"/>
          </a:xfrm>
          <a:prstGeom prst="rect">
            <a:avLst/>
          </a:prstGeom>
          <a:solidFill>
            <a:srgbClr val="FFFFFF"/>
          </a:solidFill>
          <a:ln w="12700">
            <a:solidFill>
              <a:srgbClr val="E2E8F0"/>
            </a:solidFill>
            <a:prstDash val="solid"/>
          </a:ln>
        </p:spPr>
      </p:sp>
      <p:sp>
        <p:nvSpPr>
          <p:cNvPr id="6" name="Shape 4"/>
          <p:cNvSpPr/>
          <p:nvPr/>
        </p:nvSpPr>
        <p:spPr>
          <a:xfrm>
            <a:off x="960120" y="2011680"/>
            <a:ext cx="457200" cy="457200"/>
          </a:xfrm>
          <a:prstGeom prst="ellipse">
            <a:avLst/>
          </a:prstGeom>
          <a:solidFill>
            <a:srgbClr val="00B8D9"/>
          </a:solidFill>
          <a:ln w="12700">
            <a:solidFill>
              <a:srgbClr val="00B8D9"/>
            </a:solidFill>
            <a:prstDash val="solid"/>
          </a:ln>
        </p:spPr>
      </p:sp>
      <p:sp>
        <p:nvSpPr>
          <p:cNvPr id="7" name="Text 5"/>
          <p:cNvSpPr/>
          <p:nvPr/>
        </p:nvSpPr>
        <p:spPr>
          <a:xfrm>
            <a:off x="960120" y="20116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1</a:t>
            </a:r>
            <a:endParaRPr lang="en-US" sz="1800" dirty="0"/>
          </a:p>
        </p:txBody>
      </p:sp>
      <p:sp>
        <p:nvSpPr>
          <p:cNvPr id="8" name="Text 6"/>
          <p:cNvSpPr/>
          <p:nvPr/>
        </p:nvSpPr>
        <p:spPr>
          <a:xfrm>
            <a:off x="1554480" y="1828800"/>
            <a:ext cx="9692640" cy="41148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Pick a library</a:t>
            </a:r>
            <a:endParaRPr lang="en-US" sz="1500" dirty="0"/>
          </a:p>
        </p:txBody>
      </p:sp>
      <p:sp>
        <p:nvSpPr>
          <p:cNvPr id="9" name="Text 7"/>
          <p:cNvSpPr/>
          <p:nvPr/>
        </p:nvSpPr>
        <p:spPr>
          <a:xfrm>
            <a:off x="1554480" y="2240280"/>
            <a:ext cx="9692640" cy="54864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react-intl (mature, FormatJS-based) or next-intl (Next.js-flavored). Both wrap the Intl Web API and give you a t() function.</a:t>
            </a:r>
            <a:endParaRPr lang="en-US" sz="1200" dirty="0"/>
          </a:p>
        </p:txBody>
      </p:sp>
      <p:sp>
        <p:nvSpPr>
          <p:cNvPr id="10" name="Shape 8"/>
          <p:cNvSpPr/>
          <p:nvPr/>
        </p:nvSpPr>
        <p:spPr>
          <a:xfrm>
            <a:off x="777240" y="2971800"/>
            <a:ext cx="10607040" cy="1097280"/>
          </a:xfrm>
          <a:prstGeom prst="rect">
            <a:avLst/>
          </a:prstGeom>
          <a:solidFill>
            <a:srgbClr val="FFFFFF"/>
          </a:solidFill>
          <a:ln w="12700">
            <a:solidFill>
              <a:srgbClr val="E2E8F0"/>
            </a:solidFill>
            <a:prstDash val="solid"/>
          </a:ln>
        </p:spPr>
      </p:sp>
      <p:sp>
        <p:nvSpPr>
          <p:cNvPr id="11" name="Shape 9"/>
          <p:cNvSpPr/>
          <p:nvPr/>
        </p:nvSpPr>
        <p:spPr>
          <a:xfrm>
            <a:off x="960120" y="3291840"/>
            <a:ext cx="457200" cy="457200"/>
          </a:xfrm>
          <a:prstGeom prst="ellipse">
            <a:avLst/>
          </a:prstGeom>
          <a:solidFill>
            <a:srgbClr val="00B8D9"/>
          </a:solidFill>
          <a:ln w="12700">
            <a:solidFill>
              <a:srgbClr val="00B8D9"/>
            </a:solidFill>
            <a:prstDash val="solid"/>
          </a:ln>
        </p:spPr>
      </p:sp>
      <p:sp>
        <p:nvSpPr>
          <p:cNvPr id="12" name="Text 10"/>
          <p:cNvSpPr/>
          <p:nvPr/>
        </p:nvSpPr>
        <p:spPr>
          <a:xfrm>
            <a:off x="960120" y="32918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2</a:t>
            </a:r>
            <a:endParaRPr lang="en-US" sz="1800" dirty="0"/>
          </a:p>
        </p:txBody>
      </p:sp>
      <p:sp>
        <p:nvSpPr>
          <p:cNvPr id="13" name="Text 11"/>
          <p:cNvSpPr/>
          <p:nvPr/>
        </p:nvSpPr>
        <p:spPr>
          <a:xfrm>
            <a:off x="1554480" y="3108960"/>
            <a:ext cx="9692640" cy="41148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Externalize strings</a:t>
            </a:r>
            <a:endParaRPr lang="en-US" sz="1500" dirty="0"/>
          </a:p>
        </p:txBody>
      </p:sp>
      <p:sp>
        <p:nvSpPr>
          <p:cNvPr id="14" name="Text 12"/>
          <p:cNvSpPr/>
          <p:nvPr/>
        </p:nvSpPr>
        <p:spPr>
          <a:xfrm>
            <a:off x="1554480" y="3520440"/>
            <a:ext cx="9692640" cy="54864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Move every user-visible string into translation files. Avoid string concatenation — use ICU MessageFormat for plurals, gender, dates.</a:t>
            </a:r>
            <a:endParaRPr lang="en-US" sz="1200" dirty="0"/>
          </a:p>
        </p:txBody>
      </p:sp>
      <p:sp>
        <p:nvSpPr>
          <p:cNvPr id="15" name="Shape 13"/>
          <p:cNvSpPr/>
          <p:nvPr/>
        </p:nvSpPr>
        <p:spPr>
          <a:xfrm>
            <a:off x="777240" y="4251960"/>
            <a:ext cx="10607040" cy="1097280"/>
          </a:xfrm>
          <a:prstGeom prst="rect">
            <a:avLst/>
          </a:prstGeom>
          <a:solidFill>
            <a:srgbClr val="FFFFFF"/>
          </a:solidFill>
          <a:ln w="12700">
            <a:solidFill>
              <a:srgbClr val="E2E8F0"/>
            </a:solidFill>
            <a:prstDash val="solid"/>
          </a:ln>
        </p:spPr>
      </p:sp>
      <p:sp>
        <p:nvSpPr>
          <p:cNvPr id="16" name="Shape 14"/>
          <p:cNvSpPr/>
          <p:nvPr/>
        </p:nvSpPr>
        <p:spPr>
          <a:xfrm>
            <a:off x="960120" y="4572000"/>
            <a:ext cx="457200" cy="457200"/>
          </a:xfrm>
          <a:prstGeom prst="ellipse">
            <a:avLst/>
          </a:prstGeom>
          <a:solidFill>
            <a:srgbClr val="00B8D9"/>
          </a:solidFill>
          <a:ln w="12700">
            <a:solidFill>
              <a:srgbClr val="00B8D9"/>
            </a:solidFill>
            <a:prstDash val="solid"/>
          </a:ln>
        </p:spPr>
      </p:sp>
      <p:sp>
        <p:nvSpPr>
          <p:cNvPr id="17" name="Text 15"/>
          <p:cNvSpPr/>
          <p:nvPr/>
        </p:nvSpPr>
        <p:spPr>
          <a:xfrm>
            <a:off x="960120" y="45720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3</a:t>
            </a:r>
            <a:endParaRPr lang="en-US" sz="1800" dirty="0"/>
          </a:p>
        </p:txBody>
      </p:sp>
      <p:sp>
        <p:nvSpPr>
          <p:cNvPr id="18" name="Text 16"/>
          <p:cNvSpPr/>
          <p:nvPr/>
        </p:nvSpPr>
        <p:spPr>
          <a:xfrm>
            <a:off x="1554480" y="4389120"/>
            <a:ext cx="9692640" cy="41148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Decide where the locale lives</a:t>
            </a:r>
            <a:endParaRPr lang="en-US" sz="1500" dirty="0"/>
          </a:p>
        </p:txBody>
      </p:sp>
      <p:sp>
        <p:nvSpPr>
          <p:cNvPr id="19" name="Text 17"/>
          <p:cNvSpPr/>
          <p:nvPr/>
        </p:nvSpPr>
        <p:spPr>
          <a:xfrm>
            <a:off x="1554480" y="4800600"/>
            <a:ext cx="9692640" cy="548640"/>
          </a:xfrm>
          <a:prstGeom prst="rect">
            <a:avLst/>
          </a:prstGeom>
          <a:noFill/>
          <a:ln/>
        </p:spPr>
        <p:txBody>
          <a:bodyPr wrap="square" lIns="0" tIns="0" rIns="0" bIns="0" rtlCol="0" anchor="t"/>
          <a:lstStyle/>
          <a:p>
            <a:pPr indent="0" marL="0">
              <a:buNone/>
            </a:pPr>
            <a:r>
              <a:rPr lang="en-US" sz="1200" dirty="0">
                <a:solidFill>
                  <a:srgbClr val="475569"/>
                </a:solidFill>
                <a:latin typeface="Arial" pitchFamily="34" charset="0"/>
                <a:ea typeface="Arial" pitchFamily="34" charset="-122"/>
                <a:cs typeface="Arial" pitchFamily="34" charset="-120"/>
              </a:rPr>
              <a:t>URL prefix (/en/, /fr/) for SEO. Cookie-based for app state. Don't sniff Accept-Language and forget it — make the choice user-controllable.</a:t>
            </a:r>
            <a:endParaRPr lang="en-US" sz="1200" dirty="0"/>
          </a:p>
        </p:txBody>
      </p:sp>
      <p:sp>
        <p:nvSpPr>
          <p:cNvPr id="20" name="Shape 18"/>
          <p:cNvSpPr/>
          <p:nvPr/>
        </p:nvSpPr>
        <p:spPr>
          <a:xfrm>
            <a:off x="777240" y="5623560"/>
            <a:ext cx="10607040" cy="457200"/>
          </a:xfrm>
          <a:prstGeom prst="rect">
            <a:avLst/>
          </a:prstGeom>
          <a:solidFill>
            <a:srgbClr val="CBF1F6"/>
          </a:solidFill>
          <a:ln w="12700">
            <a:solidFill>
              <a:srgbClr val="CBF1F6"/>
            </a:solidFill>
            <a:prstDash val="solid"/>
          </a:ln>
        </p:spPr>
      </p:sp>
      <p:sp>
        <p:nvSpPr>
          <p:cNvPr id="21" name="Text 19"/>
          <p:cNvSpPr/>
          <p:nvPr/>
        </p:nvSpPr>
        <p:spPr>
          <a:xfrm>
            <a:off x="960120" y="5623560"/>
            <a:ext cx="10424160" cy="457200"/>
          </a:xfrm>
          <a:prstGeom prst="rect">
            <a:avLst/>
          </a:prstGeom>
          <a:noFill/>
          <a:ln/>
        </p:spPr>
        <p:txBody>
          <a:bodyPr wrap="square" lIns="0" tIns="0" rIns="0" bIns="0" rtlCol="0" anchor="ctr"/>
          <a:lstStyle/>
          <a:p>
            <a:pPr indent="0" marL="0">
              <a:buNone/>
            </a:pPr>
            <a:r>
              <a:rPr lang="en-US" sz="1200" i="1" dirty="0">
                <a:solidFill>
                  <a:srgbClr val="0F172A"/>
                </a:solidFill>
                <a:latin typeface="Arial" pitchFamily="34" charset="0"/>
                <a:ea typeface="Arial" pitchFamily="34" charset="-122"/>
                <a:cs typeface="Arial" pitchFamily="34" charset="-120"/>
              </a:rPr>
              <a:t>Add i18n early if you might need it. Retrofitting is painful — string concatenation spreads across the codebase.</a:t>
            </a:r>
            <a:endParaRPr lang="en-US" sz="1200" dirty="0"/>
          </a:p>
        </p:txBody>
      </p:sp>
      <p:sp>
        <p:nvSpPr>
          <p:cNvPr id="22" name="Text 20"/>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10 — Production &amp; Wrap-up</a:t>
            </a:r>
            <a:endParaRPr lang="en-US" sz="900" dirty="0"/>
          </a:p>
        </p:txBody>
      </p:sp>
      <p:sp>
        <p:nvSpPr>
          <p:cNvPr id="23" name="Text 21"/>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12 / 21</a:t>
            </a:r>
            <a:endParaRPr lang="en-US" sz="90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13">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4</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Course Wrap-up</a:t>
            </a:r>
            <a:endParaRPr lang="en-US" sz="44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Three days. Ten modules. Eight labs. Where to go next.</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 we covered</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Three days, ten modules, eight labs.</a:t>
            </a:r>
            <a:endParaRPr lang="en-US" sz="1400" dirty="0"/>
          </a:p>
        </p:txBody>
      </p:sp>
      <p:sp>
        <p:nvSpPr>
          <p:cNvPr id="5" name="Shape 3"/>
          <p:cNvSpPr/>
          <p:nvPr/>
        </p:nvSpPr>
        <p:spPr>
          <a:xfrm>
            <a:off x="777240" y="1691640"/>
            <a:ext cx="10607040" cy="1234440"/>
          </a:xfrm>
          <a:prstGeom prst="rect">
            <a:avLst/>
          </a:prstGeom>
          <a:solidFill>
            <a:srgbClr val="FFFFFF"/>
          </a:solidFill>
          <a:ln w="12700">
            <a:solidFill>
              <a:srgbClr val="E2E8F0"/>
            </a:solidFill>
            <a:prstDash val="solid"/>
          </a:ln>
        </p:spPr>
      </p:sp>
      <p:sp>
        <p:nvSpPr>
          <p:cNvPr id="6" name="Shape 4"/>
          <p:cNvSpPr/>
          <p:nvPr/>
        </p:nvSpPr>
        <p:spPr>
          <a:xfrm>
            <a:off x="777240" y="1691640"/>
            <a:ext cx="10607040" cy="457200"/>
          </a:xfrm>
          <a:prstGeom prst="rect">
            <a:avLst/>
          </a:prstGeom>
          <a:solidFill>
            <a:srgbClr val="1E2A47"/>
          </a:solidFill>
          <a:ln w="12700">
            <a:solidFill>
              <a:srgbClr val="1E2A47"/>
            </a:solidFill>
            <a:prstDash val="solid"/>
          </a:ln>
        </p:spPr>
      </p:sp>
      <p:sp>
        <p:nvSpPr>
          <p:cNvPr id="7" name="Text 5"/>
          <p:cNvSpPr/>
          <p:nvPr/>
        </p:nvSpPr>
        <p:spPr>
          <a:xfrm>
            <a:off x="960120" y="1691640"/>
            <a:ext cx="10241280" cy="457200"/>
          </a:xfrm>
          <a:prstGeom prst="rect">
            <a:avLst/>
          </a:prstGeom>
          <a:noFill/>
          <a:ln/>
        </p:spPr>
        <p:txBody>
          <a:bodyPr wrap="square" lIns="0" tIns="0" rIns="0" bIns="0" rtlCol="0" anchor="ctr"/>
          <a:lstStyle/>
          <a:p>
            <a:pPr indent="0" marL="0">
              <a:buNone/>
            </a:pPr>
            <a:r>
              <a:rPr lang="en-US" sz="1600" b="1" dirty="0">
                <a:solidFill>
                  <a:srgbClr val="00B8D9"/>
                </a:solidFill>
                <a:latin typeface="Trebuchet MS" pitchFamily="34" charset="0"/>
                <a:ea typeface="Trebuchet MS" pitchFamily="34" charset="-122"/>
                <a:cs typeface="Trebuchet MS" pitchFamily="34" charset="-120"/>
              </a:rPr>
              <a:t>Day 1 — Foundations</a:t>
            </a:r>
            <a:endParaRPr lang="en-US" sz="1600" dirty="0"/>
          </a:p>
        </p:txBody>
      </p:sp>
      <p:sp>
        <p:nvSpPr>
          <p:cNvPr id="8" name="Text 6"/>
          <p:cNvSpPr/>
          <p:nvPr/>
        </p:nvSpPr>
        <p:spPr>
          <a:xfrm>
            <a:off x="960120" y="2194560"/>
            <a:ext cx="10241280" cy="320040"/>
          </a:xfrm>
          <a:prstGeom prst="rect">
            <a:avLst/>
          </a:prstGeom>
          <a:noFill/>
          <a:ln/>
        </p:spPr>
        <p:txBody>
          <a:bodyPr wrap="square" lIns="0" tIns="0" rIns="0" bIns="0" rtlCol="0" anchor="ctr"/>
          <a:lstStyle/>
          <a:p>
            <a:pPr indent="0" marL="0">
              <a:buNone/>
            </a:pPr>
            <a:r>
              <a:rPr lang="en-US" sz="1200" b="1" dirty="0">
                <a:solidFill>
                  <a:srgbClr val="0F172A"/>
                </a:solidFill>
                <a:latin typeface="Arial" pitchFamily="34" charset="0"/>
                <a:ea typeface="Arial" pitchFamily="34" charset="-122"/>
                <a:cs typeface="Arial" pitchFamily="34" charset="-120"/>
              </a:rPr>
              <a:t>Modules: Landscape · Hooks · Routing</a:t>
            </a:r>
            <a:endParaRPr lang="en-US" sz="1200" dirty="0"/>
          </a:p>
        </p:txBody>
      </p:sp>
      <p:sp>
        <p:nvSpPr>
          <p:cNvPr id="9" name="Text 7"/>
          <p:cNvSpPr/>
          <p:nvPr/>
        </p:nvSpPr>
        <p:spPr>
          <a:xfrm>
            <a:off x="960120" y="2514600"/>
            <a:ext cx="10241280" cy="320040"/>
          </a:xfrm>
          <a:prstGeom prst="rect">
            <a:avLst/>
          </a:prstGeom>
          <a:noFill/>
          <a:ln/>
        </p:spPr>
        <p:txBody>
          <a:bodyPr wrap="square" lIns="0" tIns="0" rIns="0" bIns="0" rtlCol="0" anchor="ctr"/>
          <a:lstStyle/>
          <a:p>
            <a:pPr indent="0" marL="0">
              <a:buNone/>
            </a:pPr>
            <a:r>
              <a:rPr lang="en-US" sz="1200" i="1" dirty="0">
                <a:solidFill>
                  <a:srgbClr val="475569"/>
                </a:solidFill>
                <a:latin typeface="Arial" pitchFamily="34" charset="0"/>
                <a:ea typeface="Arial" pitchFamily="34" charset="-122"/>
                <a:cs typeface="Arial" pitchFamily="34" charset="-120"/>
              </a:rPr>
              <a:t>Labs: Modernize chat · Routing in two frameworks</a:t>
            </a:r>
            <a:endParaRPr lang="en-US" sz="1200" dirty="0"/>
          </a:p>
        </p:txBody>
      </p:sp>
      <p:sp>
        <p:nvSpPr>
          <p:cNvPr id="10" name="Shape 8"/>
          <p:cNvSpPr/>
          <p:nvPr/>
        </p:nvSpPr>
        <p:spPr>
          <a:xfrm>
            <a:off x="777240" y="3108960"/>
            <a:ext cx="10607040" cy="1234440"/>
          </a:xfrm>
          <a:prstGeom prst="rect">
            <a:avLst/>
          </a:prstGeom>
          <a:solidFill>
            <a:srgbClr val="FFFFFF"/>
          </a:solidFill>
          <a:ln w="12700">
            <a:solidFill>
              <a:srgbClr val="E2E8F0"/>
            </a:solidFill>
            <a:prstDash val="solid"/>
          </a:ln>
        </p:spPr>
      </p:sp>
      <p:sp>
        <p:nvSpPr>
          <p:cNvPr id="11" name="Shape 9"/>
          <p:cNvSpPr/>
          <p:nvPr/>
        </p:nvSpPr>
        <p:spPr>
          <a:xfrm>
            <a:off x="777240" y="3108960"/>
            <a:ext cx="10607040" cy="457200"/>
          </a:xfrm>
          <a:prstGeom prst="rect">
            <a:avLst/>
          </a:prstGeom>
          <a:solidFill>
            <a:srgbClr val="1E2A47"/>
          </a:solidFill>
          <a:ln w="12700">
            <a:solidFill>
              <a:srgbClr val="1E2A47"/>
            </a:solidFill>
            <a:prstDash val="solid"/>
          </a:ln>
        </p:spPr>
      </p:sp>
      <p:sp>
        <p:nvSpPr>
          <p:cNvPr id="12" name="Text 10"/>
          <p:cNvSpPr/>
          <p:nvPr/>
        </p:nvSpPr>
        <p:spPr>
          <a:xfrm>
            <a:off x="960120" y="3108960"/>
            <a:ext cx="10241280" cy="457200"/>
          </a:xfrm>
          <a:prstGeom prst="rect">
            <a:avLst/>
          </a:prstGeom>
          <a:noFill/>
          <a:ln/>
        </p:spPr>
        <p:txBody>
          <a:bodyPr wrap="square" lIns="0" tIns="0" rIns="0" bIns="0" rtlCol="0" anchor="ctr"/>
          <a:lstStyle/>
          <a:p>
            <a:pPr indent="0" marL="0">
              <a:buNone/>
            </a:pPr>
            <a:r>
              <a:rPr lang="en-US" sz="1600" b="1" dirty="0">
                <a:solidFill>
                  <a:srgbClr val="00B8D9"/>
                </a:solidFill>
                <a:latin typeface="Trebuchet MS" pitchFamily="34" charset="0"/>
                <a:ea typeface="Trebuchet MS" pitchFamily="34" charset="-122"/>
                <a:cs typeface="Trebuchet MS" pitchFamily="34" charset="-120"/>
              </a:rPr>
              <a:t>Day 2 — Data, State, Server</a:t>
            </a:r>
            <a:endParaRPr lang="en-US" sz="1600" dirty="0"/>
          </a:p>
        </p:txBody>
      </p:sp>
      <p:sp>
        <p:nvSpPr>
          <p:cNvPr id="13" name="Text 11"/>
          <p:cNvSpPr/>
          <p:nvPr/>
        </p:nvSpPr>
        <p:spPr>
          <a:xfrm>
            <a:off x="960120" y="3611880"/>
            <a:ext cx="10241280" cy="320040"/>
          </a:xfrm>
          <a:prstGeom prst="rect">
            <a:avLst/>
          </a:prstGeom>
          <a:noFill/>
          <a:ln/>
        </p:spPr>
        <p:txBody>
          <a:bodyPr wrap="square" lIns="0" tIns="0" rIns="0" bIns="0" rtlCol="0" anchor="ctr"/>
          <a:lstStyle/>
          <a:p>
            <a:pPr indent="0" marL="0">
              <a:buNone/>
            </a:pPr>
            <a:r>
              <a:rPr lang="en-US" sz="1200" b="1" dirty="0">
                <a:solidFill>
                  <a:srgbClr val="0F172A"/>
                </a:solidFill>
                <a:latin typeface="Arial" pitchFamily="34" charset="0"/>
                <a:ea typeface="Arial" pitchFamily="34" charset="-122"/>
                <a:cs typeface="Arial" pitchFamily="34" charset="-120"/>
              </a:rPr>
              <a:t>Modules: State · Data fetching · Server Components</a:t>
            </a:r>
            <a:endParaRPr lang="en-US" sz="1200" dirty="0"/>
          </a:p>
        </p:txBody>
      </p:sp>
      <p:sp>
        <p:nvSpPr>
          <p:cNvPr id="14" name="Text 12"/>
          <p:cNvSpPr/>
          <p:nvPr/>
        </p:nvSpPr>
        <p:spPr>
          <a:xfrm>
            <a:off x="960120" y="3931920"/>
            <a:ext cx="10241280" cy="320040"/>
          </a:xfrm>
          <a:prstGeom prst="rect">
            <a:avLst/>
          </a:prstGeom>
          <a:noFill/>
          <a:ln/>
        </p:spPr>
        <p:txBody>
          <a:bodyPr wrap="square" lIns="0" tIns="0" rIns="0" bIns="0" rtlCol="0" anchor="ctr"/>
          <a:lstStyle/>
          <a:p>
            <a:pPr indent="0" marL="0">
              <a:buNone/>
            </a:pPr>
            <a:r>
              <a:rPr lang="en-US" sz="1200" i="1" dirty="0">
                <a:solidFill>
                  <a:srgbClr val="475569"/>
                </a:solidFill>
                <a:latin typeface="Arial" pitchFamily="34" charset="0"/>
                <a:ea typeface="Arial" pitchFamily="34" charset="-122"/>
                <a:cs typeface="Arial" pitchFamily="34" charset="-120"/>
              </a:rPr>
              <a:t>Labs: Pick-your-tool refactor · TanStack Query · RSC dashboard</a:t>
            </a:r>
            <a:endParaRPr lang="en-US" sz="1200" dirty="0"/>
          </a:p>
        </p:txBody>
      </p:sp>
      <p:sp>
        <p:nvSpPr>
          <p:cNvPr id="15" name="Shape 13"/>
          <p:cNvSpPr/>
          <p:nvPr/>
        </p:nvSpPr>
        <p:spPr>
          <a:xfrm>
            <a:off x="777240" y="4526280"/>
            <a:ext cx="10607040" cy="1234440"/>
          </a:xfrm>
          <a:prstGeom prst="rect">
            <a:avLst/>
          </a:prstGeom>
          <a:solidFill>
            <a:srgbClr val="FFFFFF"/>
          </a:solidFill>
          <a:ln w="12700">
            <a:solidFill>
              <a:srgbClr val="E2E8F0"/>
            </a:solidFill>
            <a:prstDash val="solid"/>
          </a:ln>
        </p:spPr>
      </p:sp>
      <p:sp>
        <p:nvSpPr>
          <p:cNvPr id="16" name="Shape 14"/>
          <p:cNvSpPr/>
          <p:nvPr/>
        </p:nvSpPr>
        <p:spPr>
          <a:xfrm>
            <a:off x="777240" y="4526280"/>
            <a:ext cx="10607040" cy="457200"/>
          </a:xfrm>
          <a:prstGeom prst="rect">
            <a:avLst/>
          </a:prstGeom>
          <a:solidFill>
            <a:srgbClr val="1E2A47"/>
          </a:solidFill>
          <a:ln w="12700">
            <a:solidFill>
              <a:srgbClr val="1E2A47"/>
            </a:solidFill>
            <a:prstDash val="solid"/>
          </a:ln>
        </p:spPr>
      </p:sp>
      <p:sp>
        <p:nvSpPr>
          <p:cNvPr id="17" name="Text 15"/>
          <p:cNvSpPr/>
          <p:nvPr/>
        </p:nvSpPr>
        <p:spPr>
          <a:xfrm>
            <a:off x="960120" y="4526280"/>
            <a:ext cx="10241280" cy="457200"/>
          </a:xfrm>
          <a:prstGeom prst="rect">
            <a:avLst/>
          </a:prstGeom>
          <a:noFill/>
          <a:ln/>
        </p:spPr>
        <p:txBody>
          <a:bodyPr wrap="square" lIns="0" tIns="0" rIns="0" bIns="0" rtlCol="0" anchor="ctr"/>
          <a:lstStyle/>
          <a:p>
            <a:pPr indent="0" marL="0">
              <a:buNone/>
            </a:pPr>
            <a:r>
              <a:rPr lang="en-US" sz="1600" b="1" dirty="0">
                <a:solidFill>
                  <a:srgbClr val="00B8D9"/>
                </a:solidFill>
                <a:latin typeface="Trebuchet MS" pitchFamily="34" charset="0"/>
                <a:ea typeface="Trebuchet MS" pitchFamily="34" charset="-122"/>
                <a:cs typeface="Trebuchet MS" pitchFamily="34" charset="-120"/>
              </a:rPr>
              <a:t>Day 3 — Performance, Quality, AI</a:t>
            </a:r>
            <a:endParaRPr lang="en-US" sz="1600" dirty="0"/>
          </a:p>
        </p:txBody>
      </p:sp>
      <p:sp>
        <p:nvSpPr>
          <p:cNvPr id="18" name="Text 16"/>
          <p:cNvSpPr/>
          <p:nvPr/>
        </p:nvSpPr>
        <p:spPr>
          <a:xfrm>
            <a:off x="960120" y="5029200"/>
            <a:ext cx="10241280" cy="320040"/>
          </a:xfrm>
          <a:prstGeom prst="rect">
            <a:avLst/>
          </a:prstGeom>
          <a:noFill/>
          <a:ln/>
        </p:spPr>
        <p:txBody>
          <a:bodyPr wrap="square" lIns="0" tIns="0" rIns="0" bIns="0" rtlCol="0" anchor="ctr"/>
          <a:lstStyle/>
          <a:p>
            <a:pPr indent="0" marL="0">
              <a:buNone/>
            </a:pPr>
            <a:r>
              <a:rPr lang="en-US" sz="1200" b="1" dirty="0">
                <a:solidFill>
                  <a:srgbClr val="0F172A"/>
                </a:solidFill>
                <a:latin typeface="Arial" pitchFamily="34" charset="0"/>
                <a:ea typeface="Arial" pitchFamily="34" charset="-122"/>
                <a:cs typeface="Arial" pitchFamily="34" charset="-120"/>
              </a:rPr>
              <a:t>Modules: Performance · Testing · AI · Production</a:t>
            </a:r>
            <a:endParaRPr lang="en-US" sz="1200" dirty="0"/>
          </a:p>
        </p:txBody>
      </p:sp>
      <p:sp>
        <p:nvSpPr>
          <p:cNvPr id="19" name="Text 17"/>
          <p:cNvSpPr/>
          <p:nvPr/>
        </p:nvSpPr>
        <p:spPr>
          <a:xfrm>
            <a:off x="960120" y="5349240"/>
            <a:ext cx="10241280" cy="320040"/>
          </a:xfrm>
          <a:prstGeom prst="rect">
            <a:avLst/>
          </a:prstGeom>
          <a:noFill/>
          <a:ln/>
        </p:spPr>
        <p:txBody>
          <a:bodyPr wrap="square" lIns="0" tIns="0" rIns="0" bIns="0" rtlCol="0" anchor="ctr"/>
          <a:lstStyle/>
          <a:p>
            <a:pPr indent="0" marL="0">
              <a:buNone/>
            </a:pPr>
            <a:r>
              <a:rPr lang="en-US" sz="1200" i="1" dirty="0">
                <a:solidFill>
                  <a:srgbClr val="475569"/>
                </a:solidFill>
                <a:latin typeface="Arial" pitchFamily="34" charset="0"/>
                <a:ea typeface="Arial" pitchFamily="34" charset="-122"/>
                <a:cs typeface="Arial" pitchFamily="34" charset="-120"/>
              </a:rPr>
              <a:t>Labs: Profile + optimize · Test suite + AI review · AI-assisted feature</a:t>
            </a:r>
            <a:endParaRPr lang="en-US" sz="1200" dirty="0"/>
          </a:p>
        </p:txBody>
      </p:sp>
      <p:sp>
        <p:nvSpPr>
          <p:cNvPr id="20" name="Text 1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10 — Production &amp; Wrap-up</a:t>
            </a:r>
            <a:endParaRPr lang="en-US" sz="900" dirty="0"/>
          </a:p>
        </p:txBody>
      </p:sp>
      <p:sp>
        <p:nvSpPr>
          <p:cNvPr id="21" name="Text 1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14 / 21</a:t>
            </a:r>
            <a:endParaRPr lang="en-US" sz="900"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Ten things to take back to work</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If you remember nothing else, remember these.</a:t>
            </a:r>
            <a:endParaRPr lang="en-US" sz="1400" dirty="0"/>
          </a:p>
        </p:txBody>
      </p:sp>
      <p:sp>
        <p:nvSpPr>
          <p:cNvPr id="5" name="Shape 3"/>
          <p:cNvSpPr/>
          <p:nvPr/>
        </p:nvSpPr>
        <p:spPr>
          <a:xfrm>
            <a:off x="777240" y="1691640"/>
            <a:ext cx="5212080" cy="731520"/>
          </a:xfrm>
          <a:prstGeom prst="rect">
            <a:avLst/>
          </a:prstGeom>
          <a:solidFill>
            <a:srgbClr val="FFFFFF"/>
          </a:solidFill>
          <a:ln w="12700">
            <a:solidFill>
              <a:srgbClr val="E2E8F0"/>
            </a:solidFill>
            <a:prstDash val="solid"/>
          </a:ln>
        </p:spPr>
      </p:sp>
      <p:sp>
        <p:nvSpPr>
          <p:cNvPr id="6" name="Shape 4"/>
          <p:cNvSpPr/>
          <p:nvPr/>
        </p:nvSpPr>
        <p:spPr>
          <a:xfrm>
            <a:off x="914400" y="1874520"/>
            <a:ext cx="365760" cy="365760"/>
          </a:xfrm>
          <a:prstGeom prst="ellipse">
            <a:avLst/>
          </a:prstGeom>
          <a:solidFill>
            <a:srgbClr val="00B8D9"/>
          </a:solidFill>
          <a:ln w="12700">
            <a:solidFill>
              <a:srgbClr val="00B8D9"/>
            </a:solidFill>
            <a:prstDash val="solid"/>
          </a:ln>
        </p:spPr>
      </p:sp>
      <p:sp>
        <p:nvSpPr>
          <p:cNvPr id="7" name="Text 5"/>
          <p:cNvSpPr/>
          <p:nvPr/>
        </p:nvSpPr>
        <p:spPr>
          <a:xfrm>
            <a:off x="914400" y="18745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1</a:t>
            </a:r>
            <a:endParaRPr lang="en-US" sz="1200" dirty="0"/>
          </a:p>
        </p:txBody>
      </p:sp>
      <p:sp>
        <p:nvSpPr>
          <p:cNvPr id="8" name="Text 6"/>
          <p:cNvSpPr/>
          <p:nvPr/>
        </p:nvSpPr>
        <p:spPr>
          <a:xfrm>
            <a:off x="1417320" y="1737360"/>
            <a:ext cx="45262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Read every diff. Especially AI-generated ones.</a:t>
            </a:r>
            <a:endParaRPr lang="en-US" sz="1150" dirty="0"/>
          </a:p>
        </p:txBody>
      </p:sp>
      <p:sp>
        <p:nvSpPr>
          <p:cNvPr id="9" name="Shape 7"/>
          <p:cNvSpPr/>
          <p:nvPr/>
        </p:nvSpPr>
        <p:spPr>
          <a:xfrm>
            <a:off x="6126480" y="1691640"/>
            <a:ext cx="5212080" cy="731520"/>
          </a:xfrm>
          <a:prstGeom prst="rect">
            <a:avLst/>
          </a:prstGeom>
          <a:solidFill>
            <a:srgbClr val="FFFFFF"/>
          </a:solidFill>
          <a:ln w="12700">
            <a:solidFill>
              <a:srgbClr val="E2E8F0"/>
            </a:solidFill>
            <a:prstDash val="solid"/>
          </a:ln>
        </p:spPr>
      </p:sp>
      <p:sp>
        <p:nvSpPr>
          <p:cNvPr id="10" name="Shape 8"/>
          <p:cNvSpPr/>
          <p:nvPr/>
        </p:nvSpPr>
        <p:spPr>
          <a:xfrm>
            <a:off x="6263640" y="1874520"/>
            <a:ext cx="365760" cy="365760"/>
          </a:xfrm>
          <a:prstGeom prst="ellipse">
            <a:avLst/>
          </a:prstGeom>
          <a:solidFill>
            <a:srgbClr val="00B8D9"/>
          </a:solidFill>
          <a:ln w="12700">
            <a:solidFill>
              <a:srgbClr val="00B8D9"/>
            </a:solidFill>
            <a:prstDash val="solid"/>
          </a:ln>
        </p:spPr>
      </p:sp>
      <p:sp>
        <p:nvSpPr>
          <p:cNvPr id="11" name="Text 9"/>
          <p:cNvSpPr/>
          <p:nvPr/>
        </p:nvSpPr>
        <p:spPr>
          <a:xfrm>
            <a:off x="6263640" y="18745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2</a:t>
            </a:r>
            <a:endParaRPr lang="en-US" sz="1200" dirty="0"/>
          </a:p>
        </p:txBody>
      </p:sp>
      <p:sp>
        <p:nvSpPr>
          <p:cNvPr id="12" name="Text 10"/>
          <p:cNvSpPr/>
          <p:nvPr/>
        </p:nvSpPr>
        <p:spPr>
          <a:xfrm>
            <a:off x="6766560" y="1737360"/>
            <a:ext cx="45262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useEffect synchronizes with external systems. Almost everything else is a misuse.</a:t>
            </a:r>
            <a:endParaRPr lang="en-US" sz="1150" dirty="0"/>
          </a:p>
        </p:txBody>
      </p:sp>
      <p:sp>
        <p:nvSpPr>
          <p:cNvPr id="13" name="Shape 11"/>
          <p:cNvSpPr/>
          <p:nvPr/>
        </p:nvSpPr>
        <p:spPr>
          <a:xfrm>
            <a:off x="777240" y="2560320"/>
            <a:ext cx="5212080" cy="731520"/>
          </a:xfrm>
          <a:prstGeom prst="rect">
            <a:avLst/>
          </a:prstGeom>
          <a:solidFill>
            <a:srgbClr val="FFFFFF"/>
          </a:solidFill>
          <a:ln w="12700">
            <a:solidFill>
              <a:srgbClr val="E2E8F0"/>
            </a:solidFill>
            <a:prstDash val="solid"/>
          </a:ln>
        </p:spPr>
      </p:sp>
      <p:sp>
        <p:nvSpPr>
          <p:cNvPr id="14" name="Shape 12"/>
          <p:cNvSpPr/>
          <p:nvPr/>
        </p:nvSpPr>
        <p:spPr>
          <a:xfrm>
            <a:off x="914400" y="2743200"/>
            <a:ext cx="365760" cy="365760"/>
          </a:xfrm>
          <a:prstGeom prst="ellipse">
            <a:avLst/>
          </a:prstGeom>
          <a:solidFill>
            <a:srgbClr val="00B8D9"/>
          </a:solidFill>
          <a:ln w="12700">
            <a:solidFill>
              <a:srgbClr val="00B8D9"/>
            </a:solidFill>
            <a:prstDash val="solid"/>
          </a:ln>
        </p:spPr>
      </p:sp>
      <p:sp>
        <p:nvSpPr>
          <p:cNvPr id="15" name="Text 13"/>
          <p:cNvSpPr/>
          <p:nvPr/>
        </p:nvSpPr>
        <p:spPr>
          <a:xfrm>
            <a:off x="914400" y="27432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3</a:t>
            </a:r>
            <a:endParaRPr lang="en-US" sz="1200" dirty="0"/>
          </a:p>
        </p:txBody>
      </p:sp>
      <p:sp>
        <p:nvSpPr>
          <p:cNvPr id="16" name="Text 14"/>
          <p:cNvSpPr/>
          <p:nvPr/>
        </p:nvSpPr>
        <p:spPr>
          <a:xfrm>
            <a:off x="1417320" y="2606040"/>
            <a:ext cx="45262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Server state belongs in TanStack Query. Client state belongs in useState (or a small store).</a:t>
            </a:r>
            <a:endParaRPr lang="en-US" sz="1150" dirty="0"/>
          </a:p>
        </p:txBody>
      </p:sp>
      <p:sp>
        <p:nvSpPr>
          <p:cNvPr id="17" name="Shape 15"/>
          <p:cNvSpPr/>
          <p:nvPr/>
        </p:nvSpPr>
        <p:spPr>
          <a:xfrm>
            <a:off x="6126480" y="2560320"/>
            <a:ext cx="5212080" cy="731520"/>
          </a:xfrm>
          <a:prstGeom prst="rect">
            <a:avLst/>
          </a:prstGeom>
          <a:solidFill>
            <a:srgbClr val="FFFFFF"/>
          </a:solidFill>
          <a:ln w="12700">
            <a:solidFill>
              <a:srgbClr val="E2E8F0"/>
            </a:solidFill>
            <a:prstDash val="solid"/>
          </a:ln>
        </p:spPr>
      </p:sp>
      <p:sp>
        <p:nvSpPr>
          <p:cNvPr id="18" name="Shape 16"/>
          <p:cNvSpPr/>
          <p:nvPr/>
        </p:nvSpPr>
        <p:spPr>
          <a:xfrm>
            <a:off x="6263640" y="2743200"/>
            <a:ext cx="365760" cy="365760"/>
          </a:xfrm>
          <a:prstGeom prst="ellipse">
            <a:avLst/>
          </a:prstGeom>
          <a:solidFill>
            <a:srgbClr val="00B8D9"/>
          </a:solidFill>
          <a:ln w="12700">
            <a:solidFill>
              <a:srgbClr val="00B8D9"/>
            </a:solidFill>
            <a:prstDash val="solid"/>
          </a:ln>
        </p:spPr>
      </p:sp>
      <p:sp>
        <p:nvSpPr>
          <p:cNvPr id="19" name="Text 17"/>
          <p:cNvSpPr/>
          <p:nvPr/>
        </p:nvSpPr>
        <p:spPr>
          <a:xfrm>
            <a:off x="6263640" y="27432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4</a:t>
            </a:r>
            <a:endParaRPr lang="en-US" sz="1200" dirty="0"/>
          </a:p>
        </p:txBody>
      </p:sp>
      <p:sp>
        <p:nvSpPr>
          <p:cNvPr id="20" name="Text 18"/>
          <p:cNvSpPr/>
          <p:nvPr/>
        </p:nvSpPr>
        <p:spPr>
          <a:xfrm>
            <a:off x="6766560" y="2606040"/>
            <a:ext cx="45262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RR v7 framework mode and Next.js App Router solve the same problems. Pick by team and deploy story.</a:t>
            </a:r>
            <a:endParaRPr lang="en-US" sz="1150" dirty="0"/>
          </a:p>
        </p:txBody>
      </p:sp>
      <p:sp>
        <p:nvSpPr>
          <p:cNvPr id="21" name="Shape 19"/>
          <p:cNvSpPr/>
          <p:nvPr/>
        </p:nvSpPr>
        <p:spPr>
          <a:xfrm>
            <a:off x="777240" y="3429000"/>
            <a:ext cx="5212080" cy="731520"/>
          </a:xfrm>
          <a:prstGeom prst="rect">
            <a:avLst/>
          </a:prstGeom>
          <a:solidFill>
            <a:srgbClr val="FFFFFF"/>
          </a:solidFill>
          <a:ln w="12700">
            <a:solidFill>
              <a:srgbClr val="E2E8F0"/>
            </a:solidFill>
            <a:prstDash val="solid"/>
          </a:ln>
        </p:spPr>
      </p:sp>
      <p:sp>
        <p:nvSpPr>
          <p:cNvPr id="22" name="Shape 20"/>
          <p:cNvSpPr/>
          <p:nvPr/>
        </p:nvSpPr>
        <p:spPr>
          <a:xfrm>
            <a:off x="914400" y="3611880"/>
            <a:ext cx="365760" cy="365760"/>
          </a:xfrm>
          <a:prstGeom prst="ellipse">
            <a:avLst/>
          </a:prstGeom>
          <a:solidFill>
            <a:srgbClr val="00B8D9"/>
          </a:solidFill>
          <a:ln w="12700">
            <a:solidFill>
              <a:srgbClr val="00B8D9"/>
            </a:solidFill>
            <a:prstDash val="solid"/>
          </a:ln>
        </p:spPr>
      </p:sp>
      <p:sp>
        <p:nvSpPr>
          <p:cNvPr id="23" name="Text 21"/>
          <p:cNvSpPr/>
          <p:nvPr/>
        </p:nvSpPr>
        <p:spPr>
          <a:xfrm>
            <a:off x="914400" y="36118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5</a:t>
            </a:r>
            <a:endParaRPr lang="en-US" sz="1200" dirty="0"/>
          </a:p>
        </p:txBody>
      </p:sp>
      <p:sp>
        <p:nvSpPr>
          <p:cNvPr id="24" name="Text 22"/>
          <p:cNvSpPr/>
          <p:nvPr/>
        </p:nvSpPr>
        <p:spPr>
          <a:xfrm>
            <a:off x="1417320" y="3474720"/>
            <a:ext cx="45262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Server Components run on the server. 'use client' is opt-in, not the default.</a:t>
            </a:r>
            <a:endParaRPr lang="en-US" sz="1150" dirty="0"/>
          </a:p>
        </p:txBody>
      </p:sp>
      <p:sp>
        <p:nvSpPr>
          <p:cNvPr id="25" name="Shape 23"/>
          <p:cNvSpPr/>
          <p:nvPr/>
        </p:nvSpPr>
        <p:spPr>
          <a:xfrm>
            <a:off x="6126480" y="3429000"/>
            <a:ext cx="5212080" cy="731520"/>
          </a:xfrm>
          <a:prstGeom prst="rect">
            <a:avLst/>
          </a:prstGeom>
          <a:solidFill>
            <a:srgbClr val="FFFFFF"/>
          </a:solidFill>
          <a:ln w="12700">
            <a:solidFill>
              <a:srgbClr val="E2E8F0"/>
            </a:solidFill>
            <a:prstDash val="solid"/>
          </a:ln>
        </p:spPr>
      </p:sp>
      <p:sp>
        <p:nvSpPr>
          <p:cNvPr id="26" name="Shape 24"/>
          <p:cNvSpPr/>
          <p:nvPr/>
        </p:nvSpPr>
        <p:spPr>
          <a:xfrm>
            <a:off x="6263640" y="3611880"/>
            <a:ext cx="365760" cy="365760"/>
          </a:xfrm>
          <a:prstGeom prst="ellipse">
            <a:avLst/>
          </a:prstGeom>
          <a:solidFill>
            <a:srgbClr val="00B8D9"/>
          </a:solidFill>
          <a:ln w="12700">
            <a:solidFill>
              <a:srgbClr val="00B8D9"/>
            </a:solidFill>
            <a:prstDash val="solid"/>
          </a:ln>
        </p:spPr>
      </p:sp>
      <p:sp>
        <p:nvSpPr>
          <p:cNvPr id="27" name="Text 25"/>
          <p:cNvSpPr/>
          <p:nvPr/>
        </p:nvSpPr>
        <p:spPr>
          <a:xfrm>
            <a:off x="6263640" y="36118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6</a:t>
            </a:r>
            <a:endParaRPr lang="en-US" sz="1200" dirty="0"/>
          </a:p>
        </p:txBody>
      </p:sp>
      <p:sp>
        <p:nvSpPr>
          <p:cNvPr id="28" name="Text 26"/>
          <p:cNvSpPr/>
          <p:nvPr/>
        </p:nvSpPr>
        <p:spPr>
          <a:xfrm>
            <a:off x="6766560" y="3474720"/>
            <a:ext cx="45262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The React Compiler eliminates most manual memoization. Enable it and the eslint plugin.</a:t>
            </a:r>
            <a:endParaRPr lang="en-US" sz="1150" dirty="0"/>
          </a:p>
        </p:txBody>
      </p:sp>
      <p:sp>
        <p:nvSpPr>
          <p:cNvPr id="29" name="Shape 27"/>
          <p:cNvSpPr/>
          <p:nvPr/>
        </p:nvSpPr>
        <p:spPr>
          <a:xfrm>
            <a:off x="777240" y="4297680"/>
            <a:ext cx="5212080" cy="731520"/>
          </a:xfrm>
          <a:prstGeom prst="rect">
            <a:avLst/>
          </a:prstGeom>
          <a:solidFill>
            <a:srgbClr val="FFFFFF"/>
          </a:solidFill>
          <a:ln w="12700">
            <a:solidFill>
              <a:srgbClr val="E2E8F0"/>
            </a:solidFill>
            <a:prstDash val="solid"/>
          </a:ln>
        </p:spPr>
      </p:sp>
      <p:sp>
        <p:nvSpPr>
          <p:cNvPr id="30" name="Shape 28"/>
          <p:cNvSpPr/>
          <p:nvPr/>
        </p:nvSpPr>
        <p:spPr>
          <a:xfrm>
            <a:off x="914400" y="4480560"/>
            <a:ext cx="365760" cy="365760"/>
          </a:xfrm>
          <a:prstGeom prst="ellipse">
            <a:avLst/>
          </a:prstGeom>
          <a:solidFill>
            <a:srgbClr val="00B8D9"/>
          </a:solidFill>
          <a:ln w="12700">
            <a:solidFill>
              <a:srgbClr val="00B8D9"/>
            </a:solidFill>
            <a:prstDash val="solid"/>
          </a:ln>
        </p:spPr>
      </p:sp>
      <p:sp>
        <p:nvSpPr>
          <p:cNvPr id="31" name="Text 29"/>
          <p:cNvSpPr/>
          <p:nvPr/>
        </p:nvSpPr>
        <p:spPr>
          <a:xfrm>
            <a:off x="914400" y="44805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7</a:t>
            </a:r>
            <a:endParaRPr lang="en-US" sz="1200" dirty="0"/>
          </a:p>
        </p:txBody>
      </p:sp>
      <p:sp>
        <p:nvSpPr>
          <p:cNvPr id="32" name="Text 30"/>
          <p:cNvSpPr/>
          <p:nvPr/>
        </p:nvSpPr>
        <p:spPr>
          <a:xfrm>
            <a:off x="1417320" y="4343400"/>
            <a:ext cx="45262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Measure before you optimize. Profiler + Lighthouse + bundle analyzer.</a:t>
            </a:r>
            <a:endParaRPr lang="en-US" sz="1150" dirty="0"/>
          </a:p>
        </p:txBody>
      </p:sp>
      <p:sp>
        <p:nvSpPr>
          <p:cNvPr id="33" name="Shape 31"/>
          <p:cNvSpPr/>
          <p:nvPr/>
        </p:nvSpPr>
        <p:spPr>
          <a:xfrm>
            <a:off x="6126480" y="4297680"/>
            <a:ext cx="5212080" cy="731520"/>
          </a:xfrm>
          <a:prstGeom prst="rect">
            <a:avLst/>
          </a:prstGeom>
          <a:solidFill>
            <a:srgbClr val="FFFFFF"/>
          </a:solidFill>
          <a:ln w="12700">
            <a:solidFill>
              <a:srgbClr val="E2E8F0"/>
            </a:solidFill>
            <a:prstDash val="solid"/>
          </a:ln>
        </p:spPr>
      </p:sp>
      <p:sp>
        <p:nvSpPr>
          <p:cNvPr id="34" name="Shape 32"/>
          <p:cNvSpPr/>
          <p:nvPr/>
        </p:nvSpPr>
        <p:spPr>
          <a:xfrm>
            <a:off x="6263640" y="4480560"/>
            <a:ext cx="365760" cy="365760"/>
          </a:xfrm>
          <a:prstGeom prst="ellipse">
            <a:avLst/>
          </a:prstGeom>
          <a:solidFill>
            <a:srgbClr val="00B8D9"/>
          </a:solidFill>
          <a:ln w="12700">
            <a:solidFill>
              <a:srgbClr val="00B8D9"/>
            </a:solidFill>
            <a:prstDash val="solid"/>
          </a:ln>
        </p:spPr>
      </p:sp>
      <p:sp>
        <p:nvSpPr>
          <p:cNvPr id="35" name="Text 33"/>
          <p:cNvSpPr/>
          <p:nvPr/>
        </p:nvSpPr>
        <p:spPr>
          <a:xfrm>
            <a:off x="6263640" y="44805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8</a:t>
            </a:r>
            <a:endParaRPr lang="en-US" sz="1200" dirty="0"/>
          </a:p>
        </p:txBody>
      </p:sp>
      <p:sp>
        <p:nvSpPr>
          <p:cNvPr id="36" name="Text 34"/>
          <p:cNvSpPr/>
          <p:nvPr/>
        </p:nvSpPr>
        <p:spPr>
          <a:xfrm>
            <a:off x="6766560" y="4343400"/>
            <a:ext cx="45262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Test behavior, not implementation. getByRole, userEvent, MSW.</a:t>
            </a:r>
            <a:endParaRPr lang="en-US" sz="1150" dirty="0"/>
          </a:p>
        </p:txBody>
      </p:sp>
      <p:sp>
        <p:nvSpPr>
          <p:cNvPr id="37" name="Shape 35"/>
          <p:cNvSpPr/>
          <p:nvPr/>
        </p:nvSpPr>
        <p:spPr>
          <a:xfrm>
            <a:off x="777240" y="5166360"/>
            <a:ext cx="5212080" cy="731520"/>
          </a:xfrm>
          <a:prstGeom prst="rect">
            <a:avLst/>
          </a:prstGeom>
          <a:solidFill>
            <a:srgbClr val="FFFFFF"/>
          </a:solidFill>
          <a:ln w="12700">
            <a:solidFill>
              <a:srgbClr val="E2E8F0"/>
            </a:solidFill>
            <a:prstDash val="solid"/>
          </a:ln>
        </p:spPr>
      </p:sp>
      <p:sp>
        <p:nvSpPr>
          <p:cNvPr id="38" name="Shape 36"/>
          <p:cNvSpPr/>
          <p:nvPr/>
        </p:nvSpPr>
        <p:spPr>
          <a:xfrm>
            <a:off x="914400" y="5349240"/>
            <a:ext cx="365760" cy="365760"/>
          </a:xfrm>
          <a:prstGeom prst="ellipse">
            <a:avLst/>
          </a:prstGeom>
          <a:solidFill>
            <a:srgbClr val="00B8D9"/>
          </a:solidFill>
          <a:ln w="12700">
            <a:solidFill>
              <a:srgbClr val="00B8D9"/>
            </a:solidFill>
            <a:prstDash val="solid"/>
          </a:ln>
        </p:spPr>
      </p:sp>
      <p:sp>
        <p:nvSpPr>
          <p:cNvPr id="39" name="Text 37"/>
          <p:cNvSpPr/>
          <p:nvPr/>
        </p:nvSpPr>
        <p:spPr>
          <a:xfrm>
            <a:off x="914400" y="53492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9</a:t>
            </a:r>
            <a:endParaRPr lang="en-US" sz="1200" dirty="0"/>
          </a:p>
        </p:txBody>
      </p:sp>
      <p:sp>
        <p:nvSpPr>
          <p:cNvPr id="40" name="Text 38"/>
          <p:cNvSpPr/>
          <p:nvPr/>
        </p:nvSpPr>
        <p:spPr>
          <a:xfrm>
            <a:off x="1417320" y="5212080"/>
            <a:ext cx="45262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AGENTS.md / CLAUDE.md is your project context for AI. Short, specific, names files.</a:t>
            </a:r>
            <a:endParaRPr lang="en-US" sz="1150" dirty="0"/>
          </a:p>
        </p:txBody>
      </p:sp>
      <p:sp>
        <p:nvSpPr>
          <p:cNvPr id="41" name="Shape 39"/>
          <p:cNvSpPr/>
          <p:nvPr/>
        </p:nvSpPr>
        <p:spPr>
          <a:xfrm>
            <a:off x="6126480" y="5166360"/>
            <a:ext cx="5212080" cy="731520"/>
          </a:xfrm>
          <a:prstGeom prst="rect">
            <a:avLst/>
          </a:prstGeom>
          <a:solidFill>
            <a:srgbClr val="FFFFFF"/>
          </a:solidFill>
          <a:ln w="12700">
            <a:solidFill>
              <a:srgbClr val="E2E8F0"/>
            </a:solidFill>
            <a:prstDash val="solid"/>
          </a:ln>
        </p:spPr>
      </p:sp>
      <p:sp>
        <p:nvSpPr>
          <p:cNvPr id="42" name="Shape 40"/>
          <p:cNvSpPr/>
          <p:nvPr/>
        </p:nvSpPr>
        <p:spPr>
          <a:xfrm>
            <a:off x="6263640" y="5349240"/>
            <a:ext cx="365760" cy="365760"/>
          </a:xfrm>
          <a:prstGeom prst="ellipse">
            <a:avLst/>
          </a:prstGeom>
          <a:solidFill>
            <a:srgbClr val="00B8D9"/>
          </a:solidFill>
          <a:ln w="12700">
            <a:solidFill>
              <a:srgbClr val="00B8D9"/>
            </a:solidFill>
            <a:prstDash val="solid"/>
          </a:ln>
        </p:spPr>
      </p:sp>
      <p:sp>
        <p:nvSpPr>
          <p:cNvPr id="43" name="Text 41"/>
          <p:cNvSpPr/>
          <p:nvPr/>
        </p:nvSpPr>
        <p:spPr>
          <a:xfrm>
            <a:off x="6263640" y="53492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10</a:t>
            </a:r>
            <a:endParaRPr lang="en-US" sz="1200" dirty="0"/>
          </a:p>
        </p:txBody>
      </p:sp>
      <p:sp>
        <p:nvSpPr>
          <p:cNvPr id="44" name="Text 42"/>
          <p:cNvSpPr/>
          <p:nvPr/>
        </p:nvSpPr>
        <p:spPr>
          <a:xfrm>
            <a:off x="6766560" y="5212080"/>
            <a:ext cx="4526280" cy="64008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HttpOnly cookies for auth. Never localStorage.</a:t>
            </a:r>
            <a:endParaRPr lang="en-US" sz="1150" dirty="0"/>
          </a:p>
        </p:txBody>
      </p:sp>
      <p:sp>
        <p:nvSpPr>
          <p:cNvPr id="45" name="Text 43"/>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10 — Production &amp; Wrap-up</a:t>
            </a:r>
            <a:endParaRPr lang="en-US" sz="900" dirty="0"/>
          </a:p>
        </p:txBody>
      </p:sp>
      <p:sp>
        <p:nvSpPr>
          <p:cNvPr id="46" name="Text 44"/>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15 / 21</a:t>
            </a:r>
            <a:endParaRPr lang="en-US" sz="900"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Where to go next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Concrete next steps for the week after the course.</a:t>
            </a:r>
            <a:endParaRPr lang="en-US" sz="1400" dirty="0"/>
          </a:p>
        </p:txBody>
      </p:sp>
      <p:sp>
        <p:nvSpPr>
          <p:cNvPr id="5" name="Shape 3"/>
          <p:cNvSpPr/>
          <p:nvPr/>
        </p:nvSpPr>
        <p:spPr>
          <a:xfrm>
            <a:off x="777240" y="169164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502920" cy="502920"/>
          </a:xfrm>
          <a:prstGeom prst="rect">
            <a:avLst/>
          </a:prstGeom>
        </p:spPr>
      </p:pic>
      <p:sp>
        <p:nvSpPr>
          <p:cNvPr id="7" name="Text 4"/>
          <p:cNvSpPr/>
          <p:nvPr/>
        </p:nvSpPr>
        <p:spPr>
          <a:xfrm>
            <a:off x="1691640" y="178308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This week: pick one thing</a:t>
            </a:r>
            <a:endParaRPr lang="en-US" sz="1350" dirty="0"/>
          </a:p>
        </p:txBody>
      </p:sp>
      <p:sp>
        <p:nvSpPr>
          <p:cNvPr id="8" name="Text 5"/>
          <p:cNvSpPr/>
          <p:nvPr/>
        </p:nvSpPr>
        <p:spPr>
          <a:xfrm>
            <a:off x="1691640" y="210312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Enable the React Compiler in one project. Or migrate one route to Server Components. Or write AGENTS.md for one repo. Don't try all three.</a:t>
            </a:r>
            <a:endParaRPr lang="en-US" sz="1150" dirty="0"/>
          </a:p>
        </p:txBody>
      </p:sp>
      <p:sp>
        <p:nvSpPr>
          <p:cNvPr id="9" name="Shape 6"/>
          <p:cNvSpPr/>
          <p:nvPr/>
        </p:nvSpPr>
        <p:spPr>
          <a:xfrm>
            <a:off x="777240" y="274320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926080"/>
            <a:ext cx="502920" cy="502920"/>
          </a:xfrm>
          <a:prstGeom prst="rect">
            <a:avLst/>
          </a:prstGeom>
        </p:spPr>
      </p:pic>
      <p:sp>
        <p:nvSpPr>
          <p:cNvPr id="11" name="Text 7"/>
          <p:cNvSpPr/>
          <p:nvPr/>
        </p:nvSpPr>
        <p:spPr>
          <a:xfrm>
            <a:off x="1691640" y="283464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Next month: deepen one area</a:t>
            </a:r>
            <a:endParaRPr lang="en-US" sz="1350" dirty="0"/>
          </a:p>
        </p:txBody>
      </p:sp>
      <p:sp>
        <p:nvSpPr>
          <p:cNvPr id="12" name="Text 8"/>
          <p:cNvSpPr/>
          <p:nvPr/>
        </p:nvSpPr>
        <p:spPr>
          <a:xfrm>
            <a:off x="1691640" y="315468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If RSC bent your mind, build something with Next.js or RR v7 framework mode. If state shape clicked, refactor a real codebase. Pick the one that matters most for your work.</a:t>
            </a:r>
            <a:endParaRPr lang="en-US" sz="1150" dirty="0"/>
          </a:p>
        </p:txBody>
      </p:sp>
      <p:sp>
        <p:nvSpPr>
          <p:cNvPr id="13" name="Shape 9"/>
          <p:cNvSpPr/>
          <p:nvPr/>
        </p:nvSpPr>
        <p:spPr>
          <a:xfrm>
            <a:off x="777240" y="379476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977640"/>
            <a:ext cx="502920" cy="502920"/>
          </a:xfrm>
          <a:prstGeom prst="rect">
            <a:avLst/>
          </a:prstGeom>
        </p:spPr>
      </p:pic>
      <p:sp>
        <p:nvSpPr>
          <p:cNvPr id="15" name="Text 10"/>
          <p:cNvSpPr/>
          <p:nvPr/>
        </p:nvSpPr>
        <p:spPr>
          <a:xfrm>
            <a:off x="1691640" y="388620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Make the AI thread a habit</a:t>
            </a:r>
            <a:endParaRPr lang="en-US" sz="1350" dirty="0"/>
          </a:p>
        </p:txBody>
      </p:sp>
      <p:sp>
        <p:nvSpPr>
          <p:cNvPr id="16" name="Text 11"/>
          <p:cNvSpPr/>
          <p:nvPr/>
        </p:nvSpPr>
        <p:spPr>
          <a:xfrm>
            <a:off x="1691640" y="420624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Pull the Module 9 checklist into your team's PR template. Write your team's AGENTS.md. Establish review norms for AI-generated code.</a:t>
            </a:r>
            <a:endParaRPr lang="en-US" sz="1150" dirty="0"/>
          </a:p>
        </p:txBody>
      </p:sp>
      <p:sp>
        <p:nvSpPr>
          <p:cNvPr id="17" name="Shape 12"/>
          <p:cNvSpPr/>
          <p:nvPr/>
        </p:nvSpPr>
        <p:spPr>
          <a:xfrm>
            <a:off x="777240" y="484632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5029200"/>
            <a:ext cx="502920" cy="502920"/>
          </a:xfrm>
          <a:prstGeom prst="rect">
            <a:avLst/>
          </a:prstGeom>
        </p:spPr>
      </p:pic>
      <p:sp>
        <p:nvSpPr>
          <p:cNvPr id="19" name="Text 13"/>
          <p:cNvSpPr/>
          <p:nvPr/>
        </p:nvSpPr>
        <p:spPr>
          <a:xfrm>
            <a:off x="1691640" y="4937760"/>
            <a:ext cx="960120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Share what worked</a:t>
            </a:r>
            <a:endParaRPr lang="en-US" sz="1350" dirty="0"/>
          </a:p>
        </p:txBody>
      </p:sp>
      <p:sp>
        <p:nvSpPr>
          <p:cNvPr id="20" name="Text 14"/>
          <p:cNvSpPr/>
          <p:nvPr/>
        </p:nvSpPr>
        <p:spPr>
          <a:xfrm>
            <a:off x="1691640" y="5257800"/>
            <a:ext cx="9601200" cy="457200"/>
          </a:xfrm>
          <a:prstGeom prst="rect">
            <a:avLst/>
          </a:prstGeom>
          <a:noFill/>
          <a:ln/>
        </p:spPr>
        <p:txBody>
          <a:bodyPr wrap="square" lIns="0" tIns="0" rIns="0" bIns="0" rtlCol="0" anchor="t"/>
          <a:lstStyle/>
          <a:p>
            <a:pPr indent="0" marL="0">
              <a:buNone/>
            </a:pPr>
            <a:r>
              <a:rPr lang="en-US" sz="1150" dirty="0">
                <a:solidFill>
                  <a:srgbClr val="475569"/>
                </a:solidFill>
                <a:latin typeface="Arial" pitchFamily="34" charset="0"/>
                <a:ea typeface="Arial" pitchFamily="34" charset="-122"/>
                <a:cs typeface="Arial" pitchFamily="34" charset="-120"/>
              </a:rPr>
              <a:t>Internal lunch-and-learn on one module. The teaching is the test of whether you understood it.</a:t>
            </a:r>
            <a:endParaRPr lang="en-US" sz="11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10 — Production &amp; Wrap-up</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16 / 21</a:t>
            </a:r>
            <a:endParaRPr lang="en-US" sz="900" dirty="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Resources for continued learning</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Links that will still be relevant in six months.</a:t>
            </a:r>
            <a:endParaRPr lang="en-US" sz="1400" dirty="0"/>
          </a:p>
        </p:txBody>
      </p:sp>
      <p:sp>
        <p:nvSpPr>
          <p:cNvPr id="5" name="Shape 3"/>
          <p:cNvSpPr/>
          <p:nvPr/>
        </p:nvSpPr>
        <p:spPr>
          <a:xfrm>
            <a:off x="777240" y="1691640"/>
            <a:ext cx="10607040" cy="603504"/>
          </a:xfrm>
          <a:prstGeom prst="rect">
            <a:avLst/>
          </a:prstGeom>
          <a:solidFill>
            <a:srgbClr val="FFFFFF"/>
          </a:solidFill>
          <a:ln w="12700">
            <a:solidFill>
              <a:srgbClr val="E2E8F0"/>
            </a:solidFill>
            <a:prstDash val="solid"/>
          </a:ln>
        </p:spPr>
      </p:sp>
      <p:sp>
        <p:nvSpPr>
          <p:cNvPr id="6" name="Text 4"/>
          <p:cNvSpPr/>
          <p:nvPr/>
        </p:nvSpPr>
        <p:spPr>
          <a:xfrm>
            <a:off x="960120" y="1737360"/>
            <a:ext cx="4114800" cy="502920"/>
          </a:xfrm>
          <a:prstGeom prst="rect">
            <a:avLst/>
          </a:prstGeom>
          <a:noFill/>
          <a:ln/>
        </p:spPr>
        <p:txBody>
          <a:bodyPr wrap="square" lIns="0" tIns="0" rIns="0" bIns="0" rtlCol="0" anchor="ctr"/>
          <a:lstStyle/>
          <a:p>
            <a:pPr indent="0" marL="0">
              <a:buNone/>
            </a:pPr>
            <a:r>
              <a:rPr lang="en-US" sz="1250" b="1" dirty="0">
                <a:solidFill>
                  <a:srgbClr val="00B8D9"/>
                </a:solidFill>
                <a:latin typeface="Courier New" pitchFamily="34" charset="0"/>
                <a:ea typeface="Courier New" pitchFamily="34" charset="-122"/>
                <a:cs typeface="Courier New" pitchFamily="34" charset="-120"/>
              </a:rPr>
              <a:t>react.dev</a:t>
            </a:r>
            <a:endParaRPr lang="en-US" sz="1250" dirty="0"/>
          </a:p>
        </p:txBody>
      </p:sp>
      <p:sp>
        <p:nvSpPr>
          <p:cNvPr id="7" name="Text 5"/>
          <p:cNvSpPr/>
          <p:nvPr/>
        </p:nvSpPr>
        <p:spPr>
          <a:xfrm>
            <a:off x="5212080" y="1737360"/>
            <a:ext cx="61264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The official React docs. The hooks reference is the canonical source.</a:t>
            </a:r>
            <a:endParaRPr lang="en-US" sz="1150" dirty="0"/>
          </a:p>
        </p:txBody>
      </p:sp>
      <p:sp>
        <p:nvSpPr>
          <p:cNvPr id="8" name="Shape 6"/>
          <p:cNvSpPr/>
          <p:nvPr/>
        </p:nvSpPr>
        <p:spPr>
          <a:xfrm>
            <a:off x="777240" y="2404872"/>
            <a:ext cx="10607040" cy="603504"/>
          </a:xfrm>
          <a:prstGeom prst="rect">
            <a:avLst/>
          </a:prstGeom>
          <a:solidFill>
            <a:srgbClr val="FFFFFF"/>
          </a:solidFill>
          <a:ln w="12700">
            <a:solidFill>
              <a:srgbClr val="E2E8F0"/>
            </a:solidFill>
            <a:prstDash val="solid"/>
          </a:ln>
        </p:spPr>
      </p:sp>
      <p:sp>
        <p:nvSpPr>
          <p:cNvPr id="9" name="Text 7"/>
          <p:cNvSpPr/>
          <p:nvPr/>
        </p:nvSpPr>
        <p:spPr>
          <a:xfrm>
            <a:off x="960120" y="2450592"/>
            <a:ext cx="4114800" cy="502920"/>
          </a:xfrm>
          <a:prstGeom prst="rect">
            <a:avLst/>
          </a:prstGeom>
          <a:noFill/>
          <a:ln/>
        </p:spPr>
        <p:txBody>
          <a:bodyPr wrap="square" lIns="0" tIns="0" rIns="0" bIns="0" rtlCol="0" anchor="ctr"/>
          <a:lstStyle/>
          <a:p>
            <a:pPr indent="0" marL="0">
              <a:buNone/>
            </a:pPr>
            <a:r>
              <a:rPr lang="en-US" sz="1250" b="1" dirty="0">
                <a:solidFill>
                  <a:srgbClr val="00B8D9"/>
                </a:solidFill>
                <a:latin typeface="Courier New" pitchFamily="34" charset="0"/>
                <a:ea typeface="Courier New" pitchFamily="34" charset="-122"/>
                <a:cs typeface="Courier New" pitchFamily="34" charset="-120"/>
              </a:rPr>
              <a:t>Next.js docs (nextjs.org)</a:t>
            </a:r>
            <a:endParaRPr lang="en-US" sz="1250" dirty="0"/>
          </a:p>
        </p:txBody>
      </p:sp>
      <p:sp>
        <p:nvSpPr>
          <p:cNvPr id="10" name="Text 8"/>
          <p:cNvSpPr/>
          <p:nvPr/>
        </p:nvSpPr>
        <p:spPr>
          <a:xfrm>
            <a:off x="5212080" y="2450592"/>
            <a:ext cx="61264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Best place to deepen RSC and Server Actions practice.</a:t>
            </a:r>
            <a:endParaRPr lang="en-US" sz="1150" dirty="0"/>
          </a:p>
        </p:txBody>
      </p:sp>
      <p:sp>
        <p:nvSpPr>
          <p:cNvPr id="11" name="Shape 9"/>
          <p:cNvSpPr/>
          <p:nvPr/>
        </p:nvSpPr>
        <p:spPr>
          <a:xfrm>
            <a:off x="777240" y="3118104"/>
            <a:ext cx="10607040" cy="603504"/>
          </a:xfrm>
          <a:prstGeom prst="rect">
            <a:avLst/>
          </a:prstGeom>
          <a:solidFill>
            <a:srgbClr val="FFFFFF"/>
          </a:solidFill>
          <a:ln w="12700">
            <a:solidFill>
              <a:srgbClr val="E2E8F0"/>
            </a:solidFill>
            <a:prstDash val="solid"/>
          </a:ln>
        </p:spPr>
      </p:sp>
      <p:sp>
        <p:nvSpPr>
          <p:cNvPr id="12" name="Text 10"/>
          <p:cNvSpPr/>
          <p:nvPr/>
        </p:nvSpPr>
        <p:spPr>
          <a:xfrm>
            <a:off x="960120" y="3163824"/>
            <a:ext cx="4114800" cy="502920"/>
          </a:xfrm>
          <a:prstGeom prst="rect">
            <a:avLst/>
          </a:prstGeom>
          <a:noFill/>
          <a:ln/>
        </p:spPr>
        <p:txBody>
          <a:bodyPr wrap="square" lIns="0" tIns="0" rIns="0" bIns="0" rtlCol="0" anchor="ctr"/>
          <a:lstStyle/>
          <a:p>
            <a:pPr indent="0" marL="0">
              <a:buNone/>
            </a:pPr>
            <a:r>
              <a:rPr lang="en-US" sz="1250" b="1" dirty="0">
                <a:solidFill>
                  <a:srgbClr val="00B8D9"/>
                </a:solidFill>
                <a:latin typeface="Courier New" pitchFamily="34" charset="0"/>
                <a:ea typeface="Courier New" pitchFamily="34" charset="-122"/>
                <a:cs typeface="Courier New" pitchFamily="34" charset="-120"/>
              </a:rPr>
              <a:t>TanStack docs (tanstack.com)</a:t>
            </a:r>
            <a:endParaRPr lang="en-US" sz="1250" dirty="0"/>
          </a:p>
        </p:txBody>
      </p:sp>
      <p:sp>
        <p:nvSpPr>
          <p:cNvPr id="13" name="Text 11"/>
          <p:cNvSpPr/>
          <p:nvPr/>
        </p:nvSpPr>
        <p:spPr>
          <a:xfrm>
            <a:off x="5212080" y="3163824"/>
            <a:ext cx="61264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Query, Router, Table, Virtual — all share a sensibility worth learning.</a:t>
            </a:r>
            <a:endParaRPr lang="en-US" sz="1150" dirty="0"/>
          </a:p>
        </p:txBody>
      </p:sp>
      <p:sp>
        <p:nvSpPr>
          <p:cNvPr id="14" name="Shape 12"/>
          <p:cNvSpPr/>
          <p:nvPr/>
        </p:nvSpPr>
        <p:spPr>
          <a:xfrm>
            <a:off x="777240" y="3831336"/>
            <a:ext cx="10607040" cy="603504"/>
          </a:xfrm>
          <a:prstGeom prst="rect">
            <a:avLst/>
          </a:prstGeom>
          <a:solidFill>
            <a:srgbClr val="FFFFFF"/>
          </a:solidFill>
          <a:ln w="12700">
            <a:solidFill>
              <a:srgbClr val="E2E8F0"/>
            </a:solidFill>
            <a:prstDash val="solid"/>
          </a:ln>
        </p:spPr>
      </p:sp>
      <p:sp>
        <p:nvSpPr>
          <p:cNvPr id="15" name="Text 13"/>
          <p:cNvSpPr/>
          <p:nvPr/>
        </p:nvSpPr>
        <p:spPr>
          <a:xfrm>
            <a:off x="960120" y="3877056"/>
            <a:ext cx="4114800" cy="502920"/>
          </a:xfrm>
          <a:prstGeom prst="rect">
            <a:avLst/>
          </a:prstGeom>
          <a:noFill/>
          <a:ln/>
        </p:spPr>
        <p:txBody>
          <a:bodyPr wrap="square" lIns="0" tIns="0" rIns="0" bIns="0" rtlCol="0" anchor="ctr"/>
          <a:lstStyle/>
          <a:p>
            <a:pPr indent="0" marL="0">
              <a:buNone/>
            </a:pPr>
            <a:r>
              <a:rPr lang="en-US" sz="1250" b="1" dirty="0">
                <a:solidFill>
                  <a:srgbClr val="00B8D9"/>
                </a:solidFill>
                <a:latin typeface="Courier New" pitchFamily="34" charset="0"/>
                <a:ea typeface="Courier New" pitchFamily="34" charset="-122"/>
                <a:cs typeface="Courier New" pitchFamily="34" charset="-120"/>
              </a:rPr>
              <a:t>react-router.com</a:t>
            </a:r>
            <a:endParaRPr lang="en-US" sz="1250" dirty="0"/>
          </a:p>
        </p:txBody>
      </p:sp>
      <p:sp>
        <p:nvSpPr>
          <p:cNvPr id="16" name="Text 14"/>
          <p:cNvSpPr/>
          <p:nvPr/>
        </p:nvSpPr>
        <p:spPr>
          <a:xfrm>
            <a:off x="5212080" y="3877056"/>
            <a:ext cx="61264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Framework mode is well-documented; the migration guide from v6 is solid.</a:t>
            </a:r>
            <a:endParaRPr lang="en-US" sz="1150" dirty="0"/>
          </a:p>
        </p:txBody>
      </p:sp>
      <p:sp>
        <p:nvSpPr>
          <p:cNvPr id="17" name="Shape 15"/>
          <p:cNvSpPr/>
          <p:nvPr/>
        </p:nvSpPr>
        <p:spPr>
          <a:xfrm>
            <a:off x="777240" y="4544568"/>
            <a:ext cx="10607040" cy="603504"/>
          </a:xfrm>
          <a:prstGeom prst="rect">
            <a:avLst/>
          </a:prstGeom>
          <a:solidFill>
            <a:srgbClr val="FFFFFF"/>
          </a:solidFill>
          <a:ln w="12700">
            <a:solidFill>
              <a:srgbClr val="E2E8F0"/>
            </a:solidFill>
            <a:prstDash val="solid"/>
          </a:ln>
        </p:spPr>
      </p:sp>
      <p:sp>
        <p:nvSpPr>
          <p:cNvPr id="18" name="Text 16"/>
          <p:cNvSpPr/>
          <p:nvPr/>
        </p:nvSpPr>
        <p:spPr>
          <a:xfrm>
            <a:off x="960120" y="4590288"/>
            <a:ext cx="4114800" cy="502920"/>
          </a:xfrm>
          <a:prstGeom prst="rect">
            <a:avLst/>
          </a:prstGeom>
          <a:noFill/>
          <a:ln/>
        </p:spPr>
        <p:txBody>
          <a:bodyPr wrap="square" lIns="0" tIns="0" rIns="0" bIns="0" rtlCol="0" anchor="ctr"/>
          <a:lstStyle/>
          <a:p>
            <a:pPr indent="0" marL="0">
              <a:buNone/>
            </a:pPr>
            <a:r>
              <a:rPr lang="en-US" sz="1250" b="1" dirty="0">
                <a:solidFill>
                  <a:srgbClr val="00B8D9"/>
                </a:solidFill>
                <a:latin typeface="Courier New" pitchFamily="34" charset="0"/>
                <a:ea typeface="Courier New" pitchFamily="34" charset="-122"/>
                <a:cs typeface="Courier New" pitchFamily="34" charset="-120"/>
              </a:rPr>
              <a:t>Kent C. Dodds blog (kentcdodds.com)</a:t>
            </a:r>
            <a:endParaRPr lang="en-US" sz="1250" dirty="0"/>
          </a:p>
        </p:txBody>
      </p:sp>
      <p:sp>
        <p:nvSpPr>
          <p:cNvPr id="19" name="Text 17"/>
          <p:cNvSpPr/>
          <p:nvPr/>
        </p:nvSpPr>
        <p:spPr>
          <a:xfrm>
            <a:off x="5212080" y="4590288"/>
            <a:ext cx="61264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RTL, hook patterns, common mistakes. Especially the testing posts.</a:t>
            </a:r>
            <a:endParaRPr lang="en-US" sz="1150" dirty="0"/>
          </a:p>
        </p:txBody>
      </p:sp>
      <p:sp>
        <p:nvSpPr>
          <p:cNvPr id="20" name="Shape 18"/>
          <p:cNvSpPr/>
          <p:nvPr/>
        </p:nvSpPr>
        <p:spPr>
          <a:xfrm>
            <a:off x="777240" y="5257800"/>
            <a:ext cx="10607040" cy="603504"/>
          </a:xfrm>
          <a:prstGeom prst="rect">
            <a:avLst/>
          </a:prstGeom>
          <a:solidFill>
            <a:srgbClr val="FFFFFF"/>
          </a:solidFill>
          <a:ln w="12700">
            <a:solidFill>
              <a:srgbClr val="E2E8F0"/>
            </a:solidFill>
            <a:prstDash val="solid"/>
          </a:ln>
        </p:spPr>
      </p:sp>
      <p:sp>
        <p:nvSpPr>
          <p:cNvPr id="21" name="Text 19"/>
          <p:cNvSpPr/>
          <p:nvPr/>
        </p:nvSpPr>
        <p:spPr>
          <a:xfrm>
            <a:off x="960120" y="5303520"/>
            <a:ext cx="4114800" cy="502920"/>
          </a:xfrm>
          <a:prstGeom prst="rect">
            <a:avLst/>
          </a:prstGeom>
          <a:noFill/>
          <a:ln/>
        </p:spPr>
        <p:txBody>
          <a:bodyPr wrap="square" lIns="0" tIns="0" rIns="0" bIns="0" rtlCol="0" anchor="ctr"/>
          <a:lstStyle/>
          <a:p>
            <a:pPr indent="0" marL="0">
              <a:buNone/>
            </a:pPr>
            <a:r>
              <a:rPr lang="en-US" sz="1250" b="1" dirty="0">
                <a:solidFill>
                  <a:srgbClr val="00B8D9"/>
                </a:solidFill>
                <a:latin typeface="Courier New" pitchFamily="34" charset="0"/>
                <a:ea typeface="Courier New" pitchFamily="34" charset="-122"/>
                <a:cs typeface="Courier New" pitchFamily="34" charset="-120"/>
              </a:rPr>
              <a:t>react.dev Blog</a:t>
            </a:r>
            <a:endParaRPr lang="en-US" sz="1250" dirty="0"/>
          </a:p>
        </p:txBody>
      </p:sp>
      <p:sp>
        <p:nvSpPr>
          <p:cNvPr id="22" name="Text 20"/>
          <p:cNvSpPr/>
          <p:nvPr/>
        </p:nvSpPr>
        <p:spPr>
          <a:xfrm>
            <a:off x="5212080" y="5303520"/>
            <a:ext cx="6126480" cy="50292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Where the React team announces the things you'll use next year.</a:t>
            </a:r>
            <a:endParaRPr lang="en-US" sz="1150" dirty="0"/>
          </a:p>
        </p:txBody>
      </p:sp>
      <p:sp>
        <p:nvSpPr>
          <p:cNvPr id="23" name="Text 2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10 — Production &amp; Wrap-up</a:t>
            </a:r>
            <a:endParaRPr lang="en-US" sz="900" dirty="0"/>
          </a:p>
        </p:txBody>
      </p:sp>
      <p:sp>
        <p:nvSpPr>
          <p:cNvPr id="24" name="Text 2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17 / 21</a:t>
            </a:r>
            <a:endParaRPr lang="en-US" sz="900" dirty="0"/>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Keep the lab repo</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It's yours to use. Reference, fork, extend.</a:t>
            </a:r>
            <a:endParaRPr lang="en-US" sz="1400" dirty="0"/>
          </a:p>
        </p:txBody>
      </p:sp>
      <p:sp>
        <p:nvSpPr>
          <p:cNvPr id="5" name="Shape 3"/>
          <p:cNvSpPr/>
          <p:nvPr/>
        </p:nvSpPr>
        <p:spPr>
          <a:xfrm>
            <a:off x="777240" y="1691640"/>
            <a:ext cx="10607040" cy="4206240"/>
          </a:xfrm>
          <a:prstGeom prst="rect">
            <a:avLst/>
          </a:prstGeom>
          <a:solidFill>
            <a:srgbClr val="1E2A47"/>
          </a:solidFill>
          <a:ln w="12700">
            <a:solidFill>
              <a:srgbClr val="1E2A47"/>
            </a:solidFill>
            <a:prstDash val="solid"/>
          </a:ln>
        </p:spPr>
      </p:sp>
      <p:sp>
        <p:nvSpPr>
          <p:cNvPr id="6" name="Text 4"/>
          <p:cNvSpPr/>
          <p:nvPr/>
        </p:nvSpPr>
        <p:spPr>
          <a:xfrm>
            <a:off x="960120" y="2011680"/>
            <a:ext cx="10241280" cy="548640"/>
          </a:xfrm>
          <a:prstGeom prst="rect">
            <a:avLst/>
          </a:prstGeom>
          <a:noFill/>
          <a:ln/>
        </p:spPr>
        <p:txBody>
          <a:bodyPr wrap="square" lIns="0" tIns="0" rIns="0" bIns="0" rtlCol="0" anchor="ctr"/>
          <a:lstStyle/>
          <a:p>
            <a:pPr indent="0" marL="0">
              <a:buNone/>
            </a:pPr>
            <a:r>
              <a:rPr lang="en-US" sz="2200" b="1" dirty="0">
                <a:solidFill>
                  <a:srgbClr val="00B8D9"/>
                </a:solidFill>
                <a:latin typeface="Courier New" pitchFamily="34" charset="0"/>
                <a:ea typeface="Courier New" pitchFamily="34" charset="-122"/>
                <a:cs typeface="Courier New" pitchFamily="34" charset="-120"/>
              </a:rPr>
              <a:t>github.com/chrisminnick/advanced-react</a:t>
            </a:r>
            <a:endParaRPr lang="en-US" sz="2200" dirty="0"/>
          </a:p>
        </p:txBody>
      </p:sp>
      <p:sp>
        <p:nvSpPr>
          <p:cNvPr id="7" name="Text 5"/>
          <p:cNvSpPr/>
          <p:nvPr/>
        </p:nvSpPr>
        <p:spPr>
          <a:xfrm>
            <a:off x="960120" y="2743200"/>
            <a:ext cx="10241280" cy="36576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What's in it:</a:t>
            </a:r>
            <a:endParaRPr lang="en-US" sz="1400" dirty="0"/>
          </a:p>
        </p:txBody>
      </p:sp>
      <p:sp>
        <p:nvSpPr>
          <p:cNvPr id="8" name="Text 6"/>
          <p:cNvSpPr/>
          <p:nvPr/>
        </p:nvSpPr>
        <p:spPr>
          <a:xfrm>
            <a:off x="960120" y="3108960"/>
            <a:ext cx="10241280" cy="219456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CBF1F6"/>
                </a:solidFill>
                <a:latin typeface="Arial" pitchFamily="34" charset="0"/>
                <a:ea typeface="Arial" pitchFamily="34" charset="-122"/>
                <a:cs typeface="Arial" pitchFamily="34" charset="-120"/>
              </a:rPr>
              <a:t>All starters from this week, under lab-files/lab-01 through lab-08</a:t>
            </a:r>
            <a:endParaRPr lang="en-US" sz="1250" dirty="0"/>
          </a:p>
          <a:p>
            <a:pPr marL="342900" indent="-342900">
              <a:spcAft>
                <a:spcPts val="400"/>
              </a:spcAft>
              <a:buSzPct val="100000"/>
              <a:buChar char="•"/>
            </a:pPr>
            <a:r>
              <a:rPr lang="en-US" sz="1250" dirty="0">
                <a:solidFill>
                  <a:srgbClr val="CBF1F6"/>
                </a:solidFill>
                <a:latin typeface="Arial" pitchFamily="34" charset="0"/>
                <a:ea typeface="Arial" pitchFamily="34" charset="-122"/>
                <a:cs typeface="Arial" pitchFamily="34" charset="-120"/>
              </a:rPr>
              <a:t>Reference solutions for every lab, under solutions/lab-NN-*</a:t>
            </a:r>
            <a:endParaRPr lang="en-US" sz="1250" dirty="0"/>
          </a:p>
          <a:p>
            <a:pPr marL="342900" indent="-342900">
              <a:spcAft>
                <a:spcPts val="400"/>
              </a:spcAft>
              <a:buSzPct val="100000"/>
              <a:buChar char="•"/>
            </a:pPr>
            <a:r>
              <a:rPr lang="en-US" sz="1250" dirty="0">
                <a:solidFill>
                  <a:srgbClr val="CBF1F6"/>
                </a:solidFill>
                <a:latin typeface="Arial" pitchFamily="34" charset="0"/>
                <a:ea typeface="Arial" pitchFamily="34" charset="-122"/>
                <a:cs typeface="Arial" pitchFamily="34" charset="-120"/>
              </a:rPr>
              <a:t>AGENTS.md / CLAUDE.md at the repo root — project context for AI assistants</a:t>
            </a:r>
            <a:endParaRPr lang="en-US" sz="1250" dirty="0"/>
          </a:p>
          <a:p>
            <a:pPr marL="342900" indent="-342900">
              <a:spcAft>
                <a:spcPts val="400"/>
              </a:spcAft>
              <a:buSzPct val="100000"/>
              <a:buChar char="•"/>
            </a:pPr>
            <a:r>
              <a:rPr lang="en-US" sz="1250" dirty="0">
                <a:solidFill>
                  <a:srgbClr val="CBF1F6"/>
                </a:solidFill>
                <a:latin typeface="Arial" pitchFamily="34" charset="0"/>
                <a:ea typeface="Arial" pitchFamily="34" charset="-122"/>
                <a:cs typeface="Arial" pitchFamily="34" charset="-120"/>
              </a:rPr>
              <a:t>Backlog of feature ideas (the Lab 8 backlog and more)</a:t>
            </a:r>
            <a:endParaRPr lang="en-US" sz="125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10 — Production &amp; Wrap-up</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18 / 21</a:t>
            </a:r>
            <a:endParaRPr lang="en-US" sz="900" dirty="0"/>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Questions</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Anything from this week. Anything from your work. Open floor.</a:t>
            </a:r>
            <a:endParaRPr lang="en-US" sz="1400" dirty="0"/>
          </a:p>
        </p:txBody>
      </p:sp>
      <p:sp>
        <p:nvSpPr>
          <p:cNvPr id="5" name="Shape 3"/>
          <p:cNvSpPr/>
          <p:nvPr/>
        </p:nvSpPr>
        <p:spPr>
          <a:xfrm>
            <a:off x="777240" y="1691640"/>
            <a:ext cx="10607040" cy="4206240"/>
          </a:xfrm>
          <a:prstGeom prst="rect">
            <a:avLst/>
          </a:prstGeom>
          <a:solidFill>
            <a:srgbClr val="CBF1F6"/>
          </a:solidFill>
          <a:ln w="12700">
            <a:solidFill>
              <a:srgbClr val="CBF1F6"/>
            </a:solidFill>
            <a:prstDash val="solid"/>
          </a:ln>
        </p:spPr>
      </p:sp>
      <p:sp>
        <p:nvSpPr>
          <p:cNvPr id="6" name="Text 4"/>
          <p:cNvSpPr/>
          <p:nvPr/>
        </p:nvSpPr>
        <p:spPr>
          <a:xfrm>
            <a:off x="1097280" y="2011680"/>
            <a:ext cx="10058400" cy="4572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Some prompts if you're not sure where to start:</a:t>
            </a:r>
            <a:endParaRPr lang="en-US" sz="1400" dirty="0"/>
          </a:p>
        </p:txBody>
      </p:sp>
      <p:sp>
        <p:nvSpPr>
          <p:cNvPr id="7" name="Text 5"/>
          <p:cNvSpPr/>
          <p:nvPr/>
        </p:nvSpPr>
        <p:spPr>
          <a:xfrm>
            <a:off x="1097280" y="2514600"/>
            <a:ext cx="10058400" cy="32004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What's the biggest blocker for adopting React 19 at your company?</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Where would Server Components save the most time in your current app?</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Which AI mistake category bites your team most often?</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What's the one decision from this week you're least sure about?</a:t>
            </a:r>
            <a:endParaRPr lang="en-US" sz="1250" dirty="0"/>
          </a:p>
        </p:txBody>
      </p:sp>
      <p:sp>
        <p:nvSpPr>
          <p:cNvPr id="8" name="Text 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10 — Production &amp; Wrap-up</a:t>
            </a:r>
            <a:endParaRPr lang="en-US" sz="900" dirty="0"/>
          </a:p>
        </p:txBody>
      </p:sp>
      <p:sp>
        <p:nvSpPr>
          <p:cNvPr id="9" name="Text 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19 / 21</a:t>
            </a:r>
            <a:endParaRPr lang="en-US" sz="900" dirty="0"/>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name="Slide 20">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286000"/>
            <a:ext cx="548640" cy="73152"/>
          </a:xfrm>
          <a:prstGeom prst="rect">
            <a:avLst/>
          </a:prstGeom>
          <a:solidFill>
            <a:srgbClr val="00B8D9"/>
          </a:solidFill>
          <a:ln w="12700">
            <a:solidFill>
              <a:srgbClr val="00B8D9"/>
            </a:solidFill>
            <a:prstDash val="solid"/>
          </a:ln>
        </p:spPr>
      </p:sp>
      <p:sp>
        <p:nvSpPr>
          <p:cNvPr id="3" name="Text 1"/>
          <p:cNvSpPr/>
          <p:nvPr/>
        </p:nvSpPr>
        <p:spPr>
          <a:xfrm>
            <a:off x="640080" y="2468880"/>
            <a:ext cx="10972800" cy="1280160"/>
          </a:xfrm>
          <a:prstGeom prst="rect">
            <a:avLst/>
          </a:prstGeom>
          <a:noFill/>
          <a:ln/>
        </p:spPr>
        <p:txBody>
          <a:bodyPr wrap="square" lIns="0" tIns="0" rIns="0" bIns="0" rtlCol="0" anchor="ctr"/>
          <a:lstStyle/>
          <a:p>
            <a:pPr indent="0" marL="0">
              <a:buNone/>
            </a:pPr>
            <a:r>
              <a:rPr lang="en-US" sz="6400" b="1" dirty="0">
                <a:solidFill>
                  <a:srgbClr val="FFFFFF"/>
                </a:solidFill>
                <a:latin typeface="Trebuchet MS" pitchFamily="34" charset="0"/>
                <a:ea typeface="Trebuchet MS" pitchFamily="34" charset="-122"/>
                <a:cs typeface="Trebuchet MS" pitchFamily="34" charset="-120"/>
              </a:rPr>
              <a:t>Thank you</a:t>
            </a:r>
            <a:endParaRPr lang="en-US" sz="6400" dirty="0"/>
          </a:p>
        </p:txBody>
      </p:sp>
      <p:sp>
        <p:nvSpPr>
          <p:cNvPr id="4" name="Text 2"/>
          <p:cNvSpPr/>
          <p:nvPr/>
        </p:nvSpPr>
        <p:spPr>
          <a:xfrm>
            <a:off x="640080" y="3749040"/>
            <a:ext cx="10972800" cy="548640"/>
          </a:xfrm>
          <a:prstGeom prst="rect">
            <a:avLst/>
          </a:prstGeom>
          <a:noFill/>
          <a:ln/>
        </p:spPr>
        <p:txBody>
          <a:bodyPr wrap="square" lIns="0" tIns="0" rIns="0" bIns="0" rtlCol="0" anchor="ctr"/>
          <a:lstStyle/>
          <a:p>
            <a:pPr indent="0" marL="0">
              <a:buNone/>
            </a:pPr>
            <a:r>
              <a:rPr lang="en-US" sz="2200" i="1" dirty="0">
                <a:solidFill>
                  <a:srgbClr val="CBF1F6"/>
                </a:solidFill>
                <a:latin typeface="Arial" pitchFamily="34" charset="0"/>
                <a:ea typeface="Arial" pitchFamily="34" charset="-122"/>
                <a:cs typeface="Arial" pitchFamily="34" charset="-120"/>
              </a:rPr>
              <a:t>for spending three days with me.</a:t>
            </a:r>
            <a:endParaRPr lang="en-US" sz="2200" dirty="0"/>
          </a:p>
        </p:txBody>
      </p:sp>
      <p:sp>
        <p:nvSpPr>
          <p:cNvPr id="5" name="Text 3"/>
          <p:cNvSpPr/>
          <p:nvPr/>
        </p:nvSpPr>
        <p:spPr>
          <a:xfrm>
            <a:off x="640080" y="5029200"/>
            <a:ext cx="10972800" cy="1280160"/>
          </a:xfrm>
          <a:prstGeom prst="rect">
            <a:avLst/>
          </a:prstGeom>
          <a:noFill/>
          <a:ln/>
        </p:spPr>
        <p:txBody>
          <a:bodyPr wrap="square" lIns="0" tIns="0" rIns="0" bIns="0" rtlCol="0" anchor="ctr"/>
          <a:lstStyle/>
          <a:p>
            <a:pPr indent="0" marL="0">
              <a:buNone/>
            </a:pPr>
            <a:r>
              <a:rPr lang="en-US" sz="1400" b="1" dirty="0">
                <a:solidFill>
                  <a:srgbClr val="00B8D9"/>
                </a:solidFill>
                <a:latin typeface="Arial" pitchFamily="34" charset="0"/>
                <a:ea typeface="Arial" pitchFamily="34" charset="-122"/>
                <a:cs typeface="Arial" pitchFamily="34" charset="-120"/>
              </a:rPr>
              <a:t>Chris Minnick</a:t>
            </a:r>
            <a:endParaRPr lang="en-US" sz="1400" dirty="0"/>
          </a:p>
          <a:p>
            <a:pPr indent="0" marL="0">
              <a:buNone/>
            </a:pPr>
            <a:r>
              <a:rPr lang="en-US" sz="1300" dirty="0">
                <a:solidFill>
                  <a:srgbClr val="94A3B8"/>
                </a:solidFill>
                <a:latin typeface="Arial" pitchFamily="34" charset="0"/>
                <a:ea typeface="Arial" pitchFamily="34" charset="-122"/>
                <a:cs typeface="Arial" pitchFamily="34" charset="-120"/>
              </a:rPr>
              <a:t>chris@minnick.com</a:t>
            </a:r>
            <a:endParaRPr lang="en-US" sz="1400" dirty="0"/>
          </a:p>
          <a:p>
            <a:pPr indent="0" marL="0">
              <a:buNone/>
            </a:pPr>
            <a:r>
              <a:rPr lang="en-US" sz="1300" dirty="0">
                <a:solidFill>
                  <a:srgbClr val="94A3B8"/>
                </a:solidFill>
                <a:latin typeface="Arial" pitchFamily="34" charset="0"/>
                <a:ea typeface="Arial" pitchFamily="34" charset="-122"/>
                <a:cs typeface="Arial" pitchFamily="34" charset="-120"/>
              </a:rPr>
              <a:t>watzthis.com</a:t>
            </a:r>
            <a:endParaRPr lang="en-US" sz="1400" dirty="0"/>
          </a:p>
        </p:txBody>
      </p:sp>
      <p:pic>
        <p:nvPicPr>
          <p:cNvPr id="6" name="Image 0" descr="preencoded.png">    </p:cNvPr>
          <p:cNvPicPr>
            <a:picLocks noChangeAspect="1"/>
          </p:cNvPicPr>
          <p:nvPr/>
        </p:nvPicPr>
        <p:blipFill>
          <a:blip r:embed="rId1">
            <a:alphaModFix amt="75000"/>
          </a:blip>
          <a:stretch>
            <a:fillRect/>
          </a:stretch>
        </p:blipFill>
        <p:spPr>
          <a:xfrm>
            <a:off x="10728655" y="4663440"/>
            <a:ext cx="914400" cy="914400"/>
          </a:xfrm>
          <a:prstGeom prst="rect">
            <a:avLst/>
          </a:prstGeom>
        </p:spPr>
      </p:pic>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Course feedback</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If you have a minute — what worked, what didn't, what would you change?</a:t>
            </a:r>
            <a:endParaRPr lang="en-US" sz="1400" dirty="0"/>
          </a:p>
        </p:txBody>
      </p:sp>
      <p:sp>
        <p:nvSpPr>
          <p:cNvPr id="5" name="Shape 3"/>
          <p:cNvSpPr/>
          <p:nvPr/>
        </p:nvSpPr>
        <p:spPr>
          <a:xfrm>
            <a:off x="777240" y="1691640"/>
            <a:ext cx="10607040" cy="4206240"/>
          </a:xfrm>
          <a:prstGeom prst="rect">
            <a:avLst/>
          </a:prstGeom>
          <a:solidFill>
            <a:srgbClr val="FFFFFF"/>
          </a:solidFill>
          <a:ln w="12700">
            <a:solidFill>
              <a:srgbClr val="E2E8F0"/>
            </a:solidFill>
            <a:prstDash val="solid"/>
          </a:ln>
        </p:spPr>
      </p:sp>
      <p:sp>
        <p:nvSpPr>
          <p:cNvPr id="6" name="Text 4"/>
          <p:cNvSpPr/>
          <p:nvPr/>
        </p:nvSpPr>
        <p:spPr>
          <a:xfrm>
            <a:off x="1097280" y="2011680"/>
            <a:ext cx="10058400" cy="4572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Three things to think about as you fill in feedback:</a:t>
            </a:r>
            <a:endParaRPr lang="en-US" sz="1400" dirty="0"/>
          </a:p>
        </p:txBody>
      </p:sp>
      <p:sp>
        <p:nvSpPr>
          <p:cNvPr id="7" name="Text 5"/>
          <p:cNvSpPr/>
          <p:nvPr/>
        </p:nvSpPr>
        <p:spPr>
          <a:xfrm>
            <a:off x="1097280" y="2514600"/>
            <a:ext cx="10058400" cy="32004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Pace — too fast, too slow, or about right?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Lab time — was 50% the right balance? More? Less?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AI thread — useful, distracting, or about right?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Anything you wish we'd covered?</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Anything we covered too much?</a:t>
            </a:r>
            <a:endParaRPr lang="en-US" sz="1250" dirty="0"/>
          </a:p>
        </p:txBody>
      </p:sp>
      <p:sp>
        <p:nvSpPr>
          <p:cNvPr id="8" name="Text 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10 — Production &amp; Wrap-up</a:t>
            </a:r>
            <a:endParaRPr lang="en-US" sz="900" dirty="0"/>
          </a:p>
        </p:txBody>
      </p:sp>
      <p:sp>
        <p:nvSpPr>
          <p:cNvPr id="9" name="Text 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21 / 21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WatzThis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React — Module 1: Welcome + 2026 Landscape</dc:title>
  <dc:subject>PptxGenJS Presentation</dc:subject>
  <dc:creator>Chris Minnick</dc:creator>
  <cp:lastModifiedBy>Chris Minnick</cp:lastModifiedBy>
  <cp:revision>1</cp:revision>
  <dcterms:created xsi:type="dcterms:W3CDTF">2026-05-14T16:48:20Z</dcterms:created>
  <dcterms:modified xsi:type="dcterms:W3CDTF">2026-05-14T16:48:20Z</dcterms:modified>
</cp:coreProperties>
</file>