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p:restoredTop sz="62841"/>
  </p:normalViewPr>
  <p:slideViewPr>
    <p:cSldViewPr snapToGrid="0" snapToObjects="1">
      <p:cViewPr varScale="1">
        <p:scale>
          <a:sx n="95" d="100"/>
          <a:sy n="95" d="100"/>
        </p:scale>
        <p:origin x="1408" y="168"/>
      </p:cViewPr>
      <p:guideLst/>
    </p:cSldViewPr>
  </p:slideViewPr>
  <p:notesTextViewPr>
    <p:cViewPr>
      <p:scale>
        <a:sx n="1" d="1"/>
        <a:sy n="1" d="1"/>
      </p:scale>
      <p:origin x="0" y="0"/>
    </p:cViewPr>
  </p:notesTextViewPr>
  <p:notesViewPr>
    <p:cSldViewPr snapToGrid="0" snapToObjects="1">
      <p:cViewPr varScale="1">
        <p:scale>
          <a:sx n="88" d="100"/>
          <a:sy n="88" d="100"/>
        </p:scale>
        <p:origin x="5792" y="184"/>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presProps" Target="presProps.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viewProps" Target="view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theme" Target="theme/theme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tableStyles" Target="tableStyle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1204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Welcome students. This module is 45 minutes total. Spend 8-10 minutes on intro/orientation, then ~30 minutes on the React landscape, then ~5 minutes setting up the AI thread. Keep energy high — Day 1 mornings set the tone for the whole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Spend ~5 min here. Capture each student's stated goal — ideally on a whiteboard or a shared doc — so you can refer back at the end of Day 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Hit each of these in 15-20 seconds. The point isn't to teach the content yet, it's to set the frame: what you knew in 2024 isn't enough.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These aren't aspirations — they map directly to the modules and labs. Tell students this list is the rubric for whether the course succeeded.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Show the full daily flow. Note that each day has multiple labs — lab time is more than half of every 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promise students an answer to every problem they hit in lab. The point is to wrestle with it. You'll circulate and unstick people, but the discomfort is part of the learning.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anyone hasn't cloned, give them 2 minutes now. Setup-check script is in the setup-check/ directory.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is the tone-setter for the AI thread. If anyone's worried that the course is going to be 'how to use Cursor' — reassure them. Likewise, if anyone is anti-AI — they still get value because review skills matter regardless.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Section break. Take a sip of coffee. The next ~25 minutes are the real meat of the module.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 You can tell the room: if you're comfortable with all four of these, you're ready for what's coming.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point of this timeline is to ground students: yes, much has changed, but it's been gradual. They've probably encountered some of these in canary already.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Just hit the highlights — this is the menu, the deep dive comes next module.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deep-dive into the API yet. The point is: the form story has become much simpler. Module 2 is where students write the code.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Just naming them. Module 2 has the real coverage.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one of those changes that just feels good once you've done it. Worth showing students it's a quick codemod, not a project.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single biggest mental-model shift in React 19. Don't try to teach the whole boundary here — just make sure students know the two kinds of components exist and have different rules.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dwell — these are conveniences, not paradigm shifts. Mention them, then move to the Compiler.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Big slide. Most of the code on the left is what students wrote yesterday. Ask the room: how many of you have a useMemo in your current project that you're not 100% sure earns its keep?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slide that prevents over-trust. Module 7 (Performance) returns to the Compiler with concrete examples.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Halftime check. Spend the next ~10 minutes on bootstrapping choices.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slide. Most students will already know CRA is gone, but it sets up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 students have probably used Vite. Just confirm: yes, this is the default. If anyone asks about Webpack, acknowledge it's still around but starting from a CRA-style baseline isn't a thing in 2026.</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pushes back on the assumption that 'modern React = Next.js'. Frameworks are a means, not a default.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Mirrors the previous slide. Both are short — together they form a decision-making prompt students will use in Lab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menu. Highlight that 'taught' doesn't mean 'best' — the course teaches both because they reflect different sensibilities.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Be honest about the watch-outs. Next.js is great but it isn't free of trade-offs, and pretending otherwise sets students up to be surprised in production.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Mention the merge. Some students may still think of Remix as a separate product. It isn't anymore.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deep-dive. The point is shape-recognition: students should be able to evaluate whether one of these fits a given project.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Hands up: who's seen one of these from an AI tool this week? Always lots of hands. Sets up Day 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hand-off. Take a 5-minute break before Module 2 starts.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75 minutes is a lot of ground. Plan: ~5 min on rules, ~15 on the foundational hooks revisited, ~30 on the four new hooks (this is the meat), ~15 on specialty hooks, ~10 on cheat sheet and lab setup.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scene-setter. Tell students if they want exhaustive hook reference, react.dev is the place — this module is about judgment.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Short section. The point is to remind students the rules exist before showing AI mistakes that violate them.</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read-through. Every senior in the room has these memorized. The mid-level half might benefit from a 30-second 'why' on rule 1 (call-order tracking).</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slides on rules is enough. Move briskly to AI-and-the-rules.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Tell the room: when you read AI-generated component code, RUN your eyes through every hook call before anything else. Lint catches most of these but sometimes the lint config is missing.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here. Most students know the syntax — focus on the judgment calls.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Functional updater is the most-skipped one. Show students the race-prone version is the AI-default; the safe version is the senior version.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alone is worth the module. Hammer on 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Multiple state values change together</a:t>
            </a:r>
          </a:p>
          <a:p>
            <a:r>
              <a:rPr lang="en-US" dirty="0"/>
              <a:t>When a single user action needs to update several pieces of state at once (e.g., submitting a form updates loading, error, and data simultaneously), a reducer lets you handle that in one clean function rather than scattering multiple </a:t>
            </a:r>
            <a:r>
              <a:rPr lang="en-US"/>
              <a:t>setState</a:t>
            </a:r>
            <a:r>
              <a:rPr lang="en-US" dirty="0"/>
              <a:t> calls.</a:t>
            </a:r>
          </a:p>
          <a:p>
            <a:endParaRPr lang="en-US" dirty="0"/>
          </a:p>
          <a:p>
            <a:r>
              <a:rPr lang="en-US" b="1" dirty="0"/>
              <a:t>State transitions are non-trivial (validation, side-effect dispatch)</a:t>
            </a:r>
          </a:p>
          <a:p>
            <a:r>
              <a:rPr lang="en-US" dirty="0"/>
              <a:t>When moving from one state to the next involves logic like checking if a value is valid or triggering other actions, a reducer centralizes that logic instead of burying it in event handlers.</a:t>
            </a:r>
          </a:p>
          <a:p>
            <a:endParaRPr lang="en-US" dirty="0"/>
          </a:p>
          <a:p>
            <a:r>
              <a:rPr lang="en-US" b="1" dirty="0"/>
              <a:t>You want to test the transition logic in isolation</a:t>
            </a:r>
          </a:p>
          <a:p>
            <a:r>
              <a:rPr lang="en-US" dirty="0"/>
              <a:t>Because a reducer is a pure function (state, action to </a:t>
            </a:r>
            <a:r>
              <a:rPr lang="en-US"/>
              <a:t>newState</a:t>
            </a:r>
            <a:r>
              <a:rPr lang="en-US" dirty="0"/>
              <a:t>), you can unit test it directly without rendering any components. You just pass in a state and an action and assert the output.</a:t>
            </a:r>
          </a:p>
          <a:p>
            <a:endParaRPr lang="en-US" dirty="0"/>
          </a:p>
          <a:p>
            <a:r>
              <a:rPr lang="en-US" b="1" dirty="0"/>
              <a:t>You're modeling a state machine</a:t>
            </a:r>
          </a:p>
          <a:p>
            <a:r>
              <a:rPr lang="en-US" dirty="0"/>
              <a:t>When your component has distinct modes or phases (e.g., idle, loading, success, error) and only certain transitions are valid, a reducer naturally maps to that pattern. Each case in the switch represents a valid transition.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1" dirty="0"/>
              <a:t>Make this slide stick. The right column is the most useful 'unlearning' content in the module.</a:t>
            </a:r>
          </a:p>
          <a:p>
            <a:endParaRPr lang="en-US" dirty="0"/>
          </a:p>
          <a:p>
            <a:r>
              <a:rPr lang="en-US" b="1" dirty="0"/>
              <a:t>Resetting state when props change (use a key prop instead)</a:t>
            </a:r>
          </a:p>
          <a:p>
            <a:endParaRPr lang="en-US" dirty="0"/>
          </a:p>
          <a:p>
            <a:r>
              <a:rPr lang="en-US" dirty="0"/>
              <a:t>A common anti-pattern is using </a:t>
            </a:r>
            <a:r>
              <a:rPr lang="en-US"/>
              <a:t>useEffect</a:t>
            </a:r>
            <a:r>
              <a:rPr lang="en-US" dirty="0"/>
              <a:t> to reset a component's internal state whenever a prop changes, e.g. calling </a:t>
            </a:r>
            <a:r>
              <a:rPr lang="en-US"/>
              <a:t>setFormData</a:t>
            </a:r>
            <a:r>
              <a:rPr lang="en-US" dirty="0"/>
              <a:t>(</a:t>
            </a:r>
            <a:r>
              <a:rPr lang="en-US"/>
              <a:t>initialData</a:t>
            </a:r>
            <a:r>
              <a:rPr lang="en-US" dirty="0"/>
              <a:t>) inside an effect that depends on </a:t>
            </a:r>
            <a:r>
              <a:rPr lang="en-US"/>
              <a:t>initialData</a:t>
            </a:r>
            <a:r>
              <a:rPr lang="en-US" dirty="0"/>
              <a:t>. This causes a render with stale state followed by a re-render with the reset state, which can produce a visible flicker.</a:t>
            </a:r>
          </a:p>
          <a:p>
            <a:endParaRPr lang="en-US" dirty="0"/>
          </a:p>
          <a:p>
            <a:r>
              <a:rPr lang="en-US" dirty="0"/>
              <a:t>The better approach is to use </a:t>
            </a:r>
            <a:r>
              <a:rPr lang="en-US"/>
              <a:t>React's</a:t>
            </a:r>
            <a:r>
              <a:rPr lang="en-US" dirty="0"/>
              <a:t> key prop. When you give a component a key tied to the value that should trigger a reset (e.g. &lt;</a:t>
            </a:r>
            <a:r>
              <a:rPr lang="en-US"/>
              <a:t>EditForm</a:t>
            </a:r>
            <a:r>
              <a:rPr lang="en-US" dirty="0"/>
              <a:t> key={</a:t>
            </a:r>
            <a:r>
              <a:rPr lang="en-US"/>
              <a:t>userId</a:t>
            </a:r>
            <a:r>
              <a:rPr lang="en-US" dirty="0"/>
              <a:t>} /&gt;), React completely unmounts and remounts the component when that key changes. All internal state (</a:t>
            </a:r>
            <a:r>
              <a:rPr lang="en-US"/>
              <a:t>useState</a:t>
            </a:r>
            <a:r>
              <a:rPr lang="en-US" dirty="0"/>
              <a:t>, refs, etc.) starts fresh automatically — no effect needed.</a:t>
            </a:r>
          </a:p>
          <a:p>
            <a:endParaRPr lang="en-US" dirty="0"/>
          </a:p>
          <a:p>
            <a:r>
              <a:rPr lang="en-US" b="1" dirty="0"/>
              <a:t>Why the key prop is better:</a:t>
            </a:r>
          </a:p>
          <a:p>
            <a:r>
              <a:rPr lang="en-US" dirty="0"/>
              <a:t>1. Declarative — you tell React what constitutes a new instance, rather than imperatively resetting values.</a:t>
            </a:r>
          </a:p>
          <a:p>
            <a:r>
              <a:rPr lang="en-US" dirty="0"/>
              <a:t>2. Complete — every piece of state resets, so you can't accidentally forget one.</a:t>
            </a:r>
          </a:p>
          <a:p>
            <a:r>
              <a:rPr lang="en-US" dirty="0"/>
              <a:t>3. No flicker — avoids the stale-then-reset double render that </a:t>
            </a:r>
            <a:r>
              <a:rPr lang="en-US"/>
              <a:t>useEffect</a:t>
            </a:r>
            <a:r>
              <a:rPr lang="en-US" dirty="0"/>
              <a:t> causes.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punchline of the foundational section. If students leave the course knowing only this slide, the course paid for itself.</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through the closure issue verbally. The interval captures count=0 from the first render.</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your students aren't using the eslint plugin, this is the slide where you tell them to install it before lab time.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meat of the module — about 30 minutes. Don't rush it.</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overview slide. Each one gets two slides of detail next.</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conditional-allowed bit is the headline. It bends the first hook rule, but only for use() itself.</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Show the server/client boundary. This is also a good preview for Module 6.</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dive into code yet — that's the next slide. Make sure the three return values land first.</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students through. The big win: no useState for email/password/error/loading. Four useStates collapse into one useActionState.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Stress: it's for *descendants* of a form, not the form itself. This is the gotcha.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reusability is the win. SubmitButton works inside any form anywhere in the app.</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'don't use when' card is important. Optimistic updates are a UX choice, not a default.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pattern lands well. Lab 1 stretch task is to add this exact thing to the chat app.</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1"/>
              <a:t>Walk through SLOWLY. This is the canonical 2026 form pattern and students will refer back to it in labs.</a:t>
            </a:r>
          </a:p>
          <a:p>
            <a:endParaRPr lang="en-US"/>
          </a:p>
          <a:p>
            <a:r>
              <a:rPr lang="en-US" b="1"/>
              <a:t>What this code does, step by step:</a:t>
            </a:r>
          </a:p>
          <a:p>
            <a:endParaRPr lang="en-US"/>
          </a:p>
          <a:p>
            <a:r>
              <a:rPr lang="en-US"/>
              <a:t>This component is a posting form that lets users write and submit posts. It combines four hooks to handle the full lifecycle: submission, loading state, error handling, and instant UI feedback.</a:t>
            </a:r>
          </a:p>
          <a:p>
            <a:endParaRPr lang="en-US"/>
          </a:p>
          <a:p>
            <a:r>
              <a:rPr lang="en-US" b="1"/>
              <a:t>1. useActionState(createPost, { ok: true })</a:t>
            </a:r>
          </a:p>
          <a:p>
            <a:r>
              <a:rPr lang="en-US"/>
              <a:t>Wraps the createPost function (an async/server action defined elsewhere). Returns three things: state (the result of the last submission, starts as { ok: true }), action (a wrapped version of createPost you can call), and isPending (whether a submission is in flight). Think of it as a mini state machine for form submissions.</a:t>
            </a:r>
          </a:p>
          <a:p>
            <a:endParaRPr lang="en-US"/>
          </a:p>
          <a:p>
            <a:r>
              <a:rPr lang="en-US" b="1"/>
              <a:t>2. useOptimistic(posts, mergeFunction)</a:t>
            </a:r>
          </a:p>
          <a:p>
            <a:r>
              <a:rPr lang="en-US"/>
              <a:t>Takes the real posts list and gives you optimisticPosts, a version you can temporarily modify. When the user submits, addOptimistic immediately prepends the new post (marked with sending: true) so it appears in the list instantly, before the server responds. Once the real data arrives, React replaces the optimistic version with the actual data.</a:t>
            </a:r>
          </a:p>
          <a:p>
            <a:endParaRPr lang="en-US"/>
          </a:p>
          <a:p>
            <a:r>
              <a:rPr lang="en-US" b="1"/>
              <a:t>3. The form action (the async callback on &lt;form&gt;)</a:t>
            </a:r>
          </a:p>
          <a:p>
            <a:r>
              <a:rPr lang="en-US"/>
              <a:t>When the form submits, React passes the FormData (fd) to this callback. It does two things in sequence: first, addOptimistic shows the post immediately in the UI; then, await action(fd) sends it to the server. The fd parameter is a standard browser FormData object, so fd.get('body') pulls the textarea value.</a:t>
            </a:r>
          </a:p>
          <a:p>
            <a:endParaRPr lang="en-US"/>
          </a:p>
          <a:p>
            <a:r>
              <a:rPr lang="en-US" b="1"/>
              <a:t>4. SubmitButton (uses useFormStatus internally)</a:t>
            </a:r>
          </a:p>
          <a:p>
            <a:r>
              <a:rPr lang="en-US"/>
              <a:t>This child component calls useFormStatus() to know whether the parent form is currently submitting. It can disable itself or show a spinner without needing any props passed down — the hook reads the form's status from context automatically.</a:t>
            </a:r>
          </a:p>
          <a:p>
            <a:endParaRPr lang="en-US"/>
          </a:p>
          <a:p>
            <a:r>
              <a:rPr lang="en-US" b="1"/>
              <a:t>The user experience:</a:t>
            </a:r>
          </a:p>
          <a:p>
            <a:r>
              <a:rPr lang="en-US"/>
              <a:t>User types a post and hits submit. The post appears immediately in the list (optimistic update). The submit button disables or shows a spinner (form status). The data is sent to the server in the background (action state). If it fails, state.error becomes truthy and an error message appears. All of this with zero manual state management — no setLoading, no try/catch, no manually updating a posts array.</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Last content section. ~15 minutes.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 students will use this through a library, not directly. But knowing it exists matters when debugging tearing issues.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1" dirty="0"/>
              <a:t>Underused hook. Worth flagging.</a:t>
            </a:r>
          </a:p>
          <a:p>
            <a:endParaRPr lang="en-US" dirty="0"/>
          </a:p>
          <a:p>
            <a:r>
              <a:rPr lang="en-US" b="1" dirty="0"/>
              <a:t>The problem this solves:</a:t>
            </a:r>
          </a:p>
          <a:p>
            <a:r>
              <a:rPr lang="en-US" dirty="0"/>
              <a:t>Every keystroke updates query, which triggers Results to re-render. If that render is expensive (filtering thousands of items, complex calculations), the input itself becomes laggy because React is busy rendering results.</a:t>
            </a:r>
          </a:p>
          <a:p>
            <a:endParaRPr lang="en-US" dirty="0"/>
          </a:p>
          <a:p>
            <a:r>
              <a:rPr lang="en-US" b="1" dirty="0"/>
              <a:t>How </a:t>
            </a:r>
            <a:r>
              <a:rPr lang="en-US" b="1" dirty="0" err="1"/>
              <a:t>useDeferredValue</a:t>
            </a:r>
            <a:r>
              <a:rPr lang="en-US" b="1" dirty="0"/>
              <a:t> works:</a:t>
            </a:r>
          </a:p>
          <a:p>
            <a:r>
              <a:rPr lang="en-US" dirty="0" err="1"/>
              <a:t>useDeferredValue</a:t>
            </a:r>
            <a:r>
              <a:rPr lang="en-US" dirty="0"/>
              <a:t>(query) creates a second version of query called deferred that intentionally lags behind.</a:t>
            </a:r>
          </a:p>
          <a:p>
            <a:r>
              <a:rPr lang="en-US" dirty="0"/>
              <a:t>- query updates instantly on every keystroke — it's bound to the input, so typing always feels snappy.</a:t>
            </a:r>
          </a:p>
          <a:p>
            <a:r>
              <a:rPr lang="en-US" dirty="0"/>
              <a:t>- deferred receives the same value, but React is allowed to delay updating it if it's busy with a render. It catches up when there's idle time.</a:t>
            </a:r>
          </a:p>
          <a:p>
            <a:endParaRPr lang="en-US" dirty="0"/>
          </a:p>
          <a:p>
            <a:r>
              <a:rPr lang="en-US" dirty="0"/>
              <a:t>Because Results receives deferred instead of query, React can skip re-rendering Results while the user is actively typing, then batch-update it when they pause. The input never freezes.</a:t>
            </a:r>
          </a:p>
          <a:p>
            <a:endParaRPr lang="en-US" dirty="0"/>
          </a:p>
          <a:p>
            <a:r>
              <a:rPr lang="en-US" b="1" dirty="0"/>
              <a:t>The analogy:</a:t>
            </a:r>
          </a:p>
          <a:p>
            <a:r>
              <a:rPr lang="en-US" dirty="0"/>
              <a:t>It's like stale-while-revalidate for state — you're showing slightly outdated results while the fresh ones render in the background, prioritizing input responsiveness over result freshness.</a:t>
            </a:r>
          </a:p>
          <a:p>
            <a:endParaRPr lang="en-US" dirty="0"/>
          </a:p>
          <a:p>
            <a:r>
              <a:rPr lang="en-US" b="1" dirty="0"/>
              <a:t>Why "pair with </a:t>
            </a:r>
            <a:r>
              <a:rPr lang="en-US" b="1" dirty="0" err="1"/>
              <a:t>React.memo</a:t>
            </a:r>
            <a:r>
              <a:rPr lang="en-US" b="1" dirty="0"/>
              <a:t>" matters:</a:t>
            </a:r>
          </a:p>
          <a:p>
            <a:r>
              <a:rPr lang="en-US" dirty="0"/>
              <a:t>Without </a:t>
            </a:r>
            <a:r>
              <a:rPr lang="en-US" dirty="0" err="1"/>
              <a:t>memoization</a:t>
            </a:r>
            <a:r>
              <a:rPr lang="en-US" dirty="0"/>
              <a:t>, Results would still re-render on every parent render even if deferred hasn't changed yet, defeating the purpose. </a:t>
            </a:r>
            <a:r>
              <a:rPr lang="en-US" dirty="0" err="1"/>
              <a:t>React.memo</a:t>
            </a:r>
            <a:r>
              <a:rPr lang="en-US" dirty="0"/>
              <a:t> ensures Results only re-renders when its props (deferred) actually change.</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Often paired with Suspense. The startTransition wrapper makes the state update interruptible if the user clicks again.</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mnemonic: deferred = wrap the value you receive; transition = wrap the call you make.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Easy to skip on a first read. Mention the SSR warning explicitly — that one trips students up.</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Tell students: this slide is the takeaway. Screenshot it.</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read every one — point at them. Lab 1 is about exercising this checklist on real AI-generated code.</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Set up the lab on screen. Run the starter, show students the React 18/CRA legacy state. Then break for the lab.</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60 min — about 25 min on RR v7, 20 min on Next.js, 15 min on side-by-side and decision-making. Stay disciplined: students will want to deep-dive on one or the other; keep it shaped as a comparison.</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Set the frame: this module is about how the RR ecosystem and Next.js have converged on similar primitives, and how to think about the choice.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~25 minutes. The framework mode part is where most of the new content lives.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you have students still calling it 'Remix', that's now wrong terminology — the product is React Router v7, framework mode.</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Library mode in v7 still works exactly like v6. The big news is everything else.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File names map to URLs. The $ prefix is for params. The _ prefix is for layout/index files. The convention is similar to Next.js but the syntax differs.</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Loaders are the data-loading primitive. Highlight: throwing a Response is how you signal HTTP errors — the framework converts it into the right boundary render.</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Note: &lt;Form&gt; from react-router is special. It posts to the action, then revalidates the route's loaders. Like a server-rendered form, but client-side enhanced.</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Outlet is unchanged from RR v6. The big shift is that layouts are now declared in routes.ts instead of being implicit in the JSX tree.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canonical RR v7 protected-route pattern. Compare to the Next.js middleware pattern coming in a few slides.</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~20 minutes. The shape of the conventions is the headline.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 students will know this layout. The route group syntax (parens) is the one that surprises people.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template.jsx and default.jsx exist too but they're niche. Mention them only if asked.</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async function is the headline. Most students see this and ask 'wait, you can do that?'</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directive 'use server' is the magic. Without it, this would just be a normal client function with a closure over server bindings — and would fail at build.</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Layouts are the canonical way to share UI across siblings. They DON'T re-render on navigation within the segment — that's a key perf win over rendering the same chrome inside each page.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Middleware runs at the edge by default — keep it light. Don't try to hit the database from middleware; just check the cookie and redirect.</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The point of this section is the comparison, not the details.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different patterns, similar outcome. RR v7's loader is per-route. Next's middleware is global with matcher config — better for app-wide auth, awkward for per-page exceptions.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Notice the structural similarity. The Next.js version is shorter because the page itself is async — no separate loader.</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Almost identical shape. The 'use server' directive in Next.js maps to the action export in RR v7. Both rely on a regular HTML form posting FormData.</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Stress: NEITHER is universally better. The choice depends on the project's deploy story, the team's framework experience, and the size of the ecosystem you need.</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Both lists are valid. Don't pretend one is objectively better. Your students' employers have made this decision already; this slide is for context, not advocacy.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mention. Don't dwell — this is shape-recognition only.</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Set up both starter projects on screen before breaking. Show students they can run all three things at once (server + RR v7 client + Next.js client). Then break for the lab.</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wrap-up before lab.</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Deliver this slide AFTER Lab 2 if you can. It's the official Day 1 close.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Day 2 opener. The biggest mindset shift from 2024: stop reaching for one global store by default. Start from 'where does this state actually live?'</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proliferation isn't accidental — each tool has a real reason to exist. The skill is matching the tool to the problem.</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core of the module — about 12 minutes. Get this framework into students' hands and the tool choices become almost mechanical.</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single biggest 2026 shift: a lot of what teams put in Redux in 2020 was actually server state. TanStack Query gave it a better home.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tree isn't religion — there are exceptions. But it filters out the bad reflex of 'spin up a Redux store for everything.'</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Most students know the syntax — the value here is in the trap-spotting.</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Module 2 covered the hooks themselves. This slide is about *defaulting* to them.</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'bad fits' column is the one to slow down on. Context-as-store is the most common 2024-era antipattern still in production code today.</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is the bridge to client stores. If you can show students the antipattern, the next section's tools land naturally.</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The lab right after this is pick-your-tool, so this section is the menu.</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Stress: most apps don't need a store at all. Don't add one until you're hitting the cases on this list.</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selector function (s) =&gt; s.items.length is the win. Only renders when the length changes, not when other store fields change.</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Zustand is the right default for most teams that need a client store. Don't reach further unless you have a specific need.</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derived-atom pattern is the killer feature. Each atom is independently subscribable. Easy to model complex relationships.</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Jotai is a 'fits beautifully when the shoe fits' tool. Don't force it.</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createSlice is the modern Redux. The 'verbosity' people complain about is the createStore + manual action creators path — that's not what RTK looks like.</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RTK Query is RTK's answer to TanStack Query. Same caching, invalidation, and hooks shape — but bundled with the rest of RTK. Worth picking if you're already on Redux.</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slide students will photograph. Don't pretend any of these is universally best.</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Short section but it's the most important framing in the module.</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a student leaves Module 4 with one idea, it's this slide: server state has different rules. Don't treat it like client state.</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deep-dive — Module 5 is for that. This slide just makes the shape visible so students can place it relative to client stores.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takeaway visualization. Half the store gone. The other half might not even need a store — useState would do.</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 Sets up Lab 3.</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Photograph-this slide. Students will refer back to this for the pick-your-tool lab.</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pattern as Module 2's checklist — give students a frame for spotting AI mistakes specific to state management.</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wrap-up before lab.</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Make sure students understand the 60-second pitch is a real deliverable. The defense forces them to commit to a position.</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hand-off slide. Don't dwell.</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Picks up where Module 4's server-state framing ended. Most of this module is TanStack Query, but the framing matters: when use() is the right fit, when Server Components are.</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Set up the menu before deep-diving into any one. Most apps use 2-3 of these together, not just one.</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The point is the comparison, not the deep dive on each.</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motivates the rest of the module. Every problem in the right column is something the next three flavors solve.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pitch. Same code surface, vastly more capability. The rest of the module deepens this.</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use() is great when you have a route or a Server Component that owns the promise. Less good as a general client-side fetcher.</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Module 6 deep-dives Server Components. This slide just places them next to the other flavors so students see them as part of the same decision space.</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Photograph-this slide. Students reference this throughout Lab 4 and beyond.</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~30 minutes — the meat of the module. Don't rush.</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Talk through the defaults. staleTime is the most important knob — it controls how aggressive the cache is.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isPending replaced isLoading in v5. If a student sees isLoading in older code, mention it's still around for the 'first fetch in flight' meaning, but isPending is the clearer one.</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key-factory tip is gold. In any non-trivial app, centralizing keys saves hours of refactor pain.</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mutate fires the mutation. mutateAsync returns a promise if you need to await it inside a Server Action or chained logic.</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invalidateQueries marks data as stale; the next time anyone reads it, TanStack refetches. refetchQueries is the bigger hammer — fires immediately even if no one's watching.</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pattern is how TanStack Query implements optimistic updates. Don't memorize it — recognize the four phases. The next slide shows the code.</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through line by line. cancelQueries prevents a stale fetch from overwriting your optimistic write. The snapshot in ctx is the rollback safety net.</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Loading and errors are first-class concerns.</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Status flags are the default. Suspense mode is great when the surrounding architecture is already Suspense-shaped (Server Components, route loaders).</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react-error-boundary is the canonical lib. throwOnError=true makes useQuery surface errors to the nearest boundary instead of returning them as state.</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'don't retry mutations' point is critical. Default retry of 3 on a POST is a real bug waiting to happen.</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 Mostly comparison.</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Both can coexist. A Server Component creates a promise, passes it to a Client Component that uses use() for one piece, and TanStack Query for the parts that need a cache.</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 The Lab 4 preview is next.</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pattern as previous modules' AI checklists. Lab 4 is where students put this into practice.</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Set up the lab on screen — show the existing fetch + useEffect call in the social-media client, point at the smell, then break.</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hand-off slide.</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progress check. Skip if running tight on time.</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75 minutes — the heaviest conceptual module in the course. ~25 min on Server Components, ~20 on Server Actions, ~10 on streaming, ~15 on pitfalls + AI mistakes + lab preview.</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foundation of everything that follows. If a student leaves with only one mental model from this module, it's this slide.</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~25 minutes here. Establish the definition first, then the rules.</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Highlight three things: async function, direct DB access, zero JS shipped. The third is the hidden win — the rendered HTML is all the user gets.</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'opt out, not opt in' framing is critical. Most students from the React-18-SPA world are used to thinking about client components as default.</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These are the wins that justify Server Components existing. Query the DB without an API endpoint is the headline.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Three of these (useState, useEffect, event handlers) are the ones students hit first. The error messages are clearer in 19 than they were in 18-canary.</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Critical caveat: 'use client' is per-file. If you import a server-only module into a 'use client' file, you'll get a build error.</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asymmetry is the key: server -&gt; client direction, never client -&gt; server. A client component can RECEIVE a server component as children prop, but can't import one.</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'function passed inline' restriction is the trip-up. Students try to pass an onClick handler from a Server Component to a Client Component — that fails. The fix is to make the handler a Server Action ('use server') or to define it inside the Client Component.</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most-misunderstood pattern. The key: AccordionPanel doesn't IMPORT PostsList — it RECEIVES it as children, already rendered on the server.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~20 minutes here.</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Two things to highlight: 'use server' inside the function (vs 'use client' at file top), and the form action receives a function reference but executes it on the server.</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progressive enhancement bullet is the sleeper hit. The form works even before JS loads — that's a real accessibility and resilience win.</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Module 2 covered useActionState. This slide is the reminder that it's the natural pair for Server Actions — the state argument gives errors and validation a place to live without useState.</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Wrap with startTransition to keep the UI responsive. Without it, the click handler awaits and the button feels stuck.</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Less new conceptual content if students already know Suspense.</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mental model: the page is a series of nested boundaries, each shipping when ready. No more 'the whole page waits for the slowest query.'</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Granularity matters. One boundary around the whole page = no streaming benefit. Boundaries around individual slow components = real win.</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The pitfalls section is where real production code goes wrong.</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most-common-by-far Server Component mistake in real code. Push the boundary as low as possible.</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Sentinel imports — 'server-only' and 'client-only' — turn opaque build errors into clear ones. Strongly recommend including them in starter projects.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'use server' inside the function is what makes it serializable. Without it, React can't ship a reference to it.</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Hydration mismatches are pernicious because they often work locally and fail in production with weird bugs. The four causes here cover most cases.</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AI mistake to learn to spot. Every code review of AI-generated server code should ask: was 'use client' here a deliberate choice, or an escape hatch?</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Mostly the same primitives, surface differences. The conceptual model travels.</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Tell students to take a screenshot of this slide. They'll need it during Lab 5 and any future Server Components code review.</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 before lab. The 'render but never import' bullet is the tricky one — worth re-emphasizing.</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'document why each 'use client' was necessary' deliverable is the load-bearing part. It forces students to defend each boundary they create.</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Day 2 close-out slide. Deliver this only after Lab 5 wraps up.</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Day 3 opener. The headline shift since 2024: half of what students used to write manually is now done by the Compiler. The skill is knowing what's left.</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Order matters. Measurement before any optimization. Compiler before manual. Code splitting before virtualization. Off-main-thread is last.</a:t>
            </a:r>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The most-skipped step in the most-discussed phase. Hammer it.</a:t>
            </a:r>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Show students this is the cultural norm being challenged. Senior devs in particular have habits to unlearn.</a:t>
            </a:r>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the room hasn't used the Profiler tab, this is a good moment for a 30-second screen share.</a:t>
            </a:r>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INP replacing FID in 2024 is the headline. Old Lighthouse audits cite FID — modern ones use INP.</a:t>
            </a:r>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~12 minutes here. The Compiler is what changes the answer to most of 2024's perf questions.</a:t>
            </a:r>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Same end result, less code. The Compiler doesn't 'try harder' — it does the same memoization you'd write by hand, but it does it on every component without you having to remember.</a:t>
            </a:r>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slide that prevents over-trust in the Compiler. The Compiler is a tool, not a magic wand.</a:t>
            </a:r>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eslint plugin is what makes the Compiler usable in a team. Without it, bail-outs are silent. With it, they're build errors.</a:t>
            </a:r>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read this as 'never use manual memo.' Read it as: when you reach for it, have a specific reason that the Compiler can't address.</a:t>
            </a:r>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a:t>
            </a:r>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Settings bundle isn't fetched until showSettings becomes true. Pair with Suspense for the loading state.</a:t>
            </a:r>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bundle analyzer is what tells you which of these to attack first. Run it before optimizing.</a:t>
            </a:r>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a:t>
            </a:r>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Rule of thumb: if your list has more than ~100 items and they're non-trivial to render, virtualize.</a:t>
            </a:r>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Mention that Vite has first-class worker support — `new Worker(new URL('./worker.js', import.meta.url))` just works.</a:t>
            </a:r>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 sampled' vs 'final state' framing helps students pick. Both are in lodash; both are also one-line custom hooks.</a:t>
            </a:r>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a:t>
            </a:r>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Photograph-this slide. The ordering matters — most teams skip step 1 and over-do step 3.</a:t>
            </a:r>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AI is especially prone to performance theater. The 'optimize without measuring' habit is what students must unlearn most.</a:t>
            </a:r>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a:t>
            </a:r>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Stress that the before/after numbers are a hard deliverable. No vibes — actual measurements.</a:t>
            </a:r>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Hand-off slide.</a:t>
            </a:r>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progress check.</a:t>
            </a:r>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60 minutes. ~5 on landscape, ~10 each on Vitest, RTL, MSW, ~5 each on Playwright + Server Components, ~10 on AI-generated tests + lab preview.</a:t>
            </a:r>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your team is on Jest, the migration to Vitest is real but small. Same `expect`, same `describe`/`it`. Mostly a config swap.</a:t>
            </a:r>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a:t>
            </a:r>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oversell. Vitest is a ~30% improvement on Jest for most teams. The big win is sharing one config with Vite.</a:t>
            </a:r>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Globals: true means describe/it/expect are global like Jest. Set false if you prefer explicit imports.</a:t>
            </a:r>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~12 minutes here. The philosophy slide is the load-bearing one.</a:t>
            </a:r>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is the moral foundation. AI-generated tests violate it constantly — that's the lab.</a:t>
            </a:r>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Photograph-this slide. The hierarchy is what makes a test resilient to refactors.</a:t>
            </a:r>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user-event is async — students forget to await it constantly. Watch for missing awaits in submitted lab work.</a:t>
            </a:r>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Arbitrary setTimeout-based waits are the #1 cause of flaky tests. Always use findBy or waitFor — they retry under the hood.</a:t>
            </a:r>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through the test. Note: nothing references useState, no spies on internal functions. The test would pass against a class component, a hooks component, or a Server Action — the behavior is identical.</a:t>
            </a:r>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a:t>
            </a:r>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'same mocks for dev and tests' is the underrated win. Frontend devs often hit a wonky backend in dev and wish for a mock; MSW lets them have one.</a:t>
            </a:r>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v2 of MSW uses http.get/post syntax. Older v1 used rest.get/post. If students see different syntax in older blog posts, that's why.</a:t>
            </a:r>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resetHandlers between tests is critical — without it, one test's override pollutes the next.</a:t>
            </a:r>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 Overview only — the lab uses RTL/Vitest as the primary work.</a:t>
            </a:r>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pyramid heuristic is old but still right. Lab 7 stretch task is one Playwright e2e — that's the right scale.</a:t>
            </a:r>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Codegen is the lifeline. Click around the app, get a working test scaffold. Then refactor for clarity.</a:t>
            </a:r>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a:t>
            </a:r>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Be honest with students: this is the area of testing that's still moving. Tooling will likely look different in 2027.</a:t>
            </a:r>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 this is the lab setup.</a:t>
            </a:r>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slide is the heart of the module. Hammer it. AI writes the left side by default unless you tell it otherwise.</a:t>
            </a:r>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Tell students to take a screenshot — they'll need this checklist for Lab 7.</a:t>
            </a:r>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a:t>
            </a:r>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Hand off to lab. The keep/refactor/delete framing is the deliverable that forces the review skill.</a:t>
            </a:r>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Hand-off slide.</a:t>
            </a:r>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progress check.</a:t>
            </a:r>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centerpiece module of the AI thread. Students have seen AI mistakes throughout the week — this is where it gets formalized. ~75 minutes.</a:t>
            </a:r>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through this. Some students may not have noticed the pattern across labs — surfacing it makes the module's purpose clear.</a:t>
            </a:r>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The point is to land 'pick what you'll actually use' rather than 'use this specific tool.'</a:t>
            </a:r>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'Read every diff' is the load-bearing one. If students leave the module remembering only that, the module succeeded.</a:t>
            </a:r>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endorse any one tool. The course is tool-agnostic on purpose — students from different shops will be using different things.</a:t>
            </a:r>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Both modes have their place. Most engineers use both, in different proportions, depending on the task.</a:t>
            </a:r>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~20 minutes here. The taxonomy is the durable skill — tools change, the mistake patterns persist.</a:t>
            </a:r>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Each gets a slide of its own next.</a:t>
            </a:r>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Lab 1 found this. Reinforce: this category is solved by lint + functional setState.</a:t>
            </a:r>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Module 2 covered this in detail. AI gravitates to useEffect because it's overrepresented in training data.</a:t>
            </a:r>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These show up because RSC is the newest part of React's surface — older training data doesn't have it, newer data is sometimes contradictory.</a:t>
            </a:r>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AI tools love putting Date.now() in JSX. Watch for it.</a:t>
            </a:r>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AGENTS.md / CLAUDE.md is the antidote — telling the AI 'we use RR v7' overrides the training-data drift.</a:t>
            </a:r>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Lab 7 hammered this. The pattern repeats: AI defaults to implementation tests; you push it to behavior tests.</a:t>
            </a:r>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The AGENTS.md / CLAUDE.md slides land hard for senior devs.</a:t>
            </a:r>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Stress: AGENTS.md is becoming the common ground. Even tools that prefer their own filename usually fall back to AGENTS.md.</a:t>
            </a:r>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Real example — short, specific, names files. Avoid 'follow best practices' — that's not actionable.</a:t>
            </a:r>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Push: don't disable lint rules to let the AI's code compile. Fix the underlying issue. The lint plugin is your code review at scale.</a:t>
            </a:r>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Convention names and locations — when documented in AGENTS.md — are how AI inherits your codebase's mental model.</a:t>
            </a:r>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a:t>
            </a:r>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Lab 8 is exactly this — spec a feature, build with AI, review yourself. The spec part is the highest-leverage step.</a:t>
            </a:r>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Refactors are where AI shines. The verification discipline is what makes them safe — without tests, you're hoping.</a:t>
            </a:r>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CRA → Vite, Pages Router → App Router, RR v6 → v7 are all AI-friendly migrations IF you go small. Whole-repo prompts produce whole-repo bugs.</a:t>
            </a:r>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a:t>
            </a:r>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Photograph slide. This is what students take into Lab 8 and back to work.</a:t>
            </a:r>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Quick recap.</a:t>
            </a:r>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capstone hands-on. The self-review is what makes the lab summative — students are exercising the review skill on their own work.</a:t>
            </a:r>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Hand-off slide.</a:t>
            </a:r>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progress check before lab.</a:t>
            </a:r>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45 minutes total: ~15 on security, ~10 on a11y, ~5 on i18n, ~15 on wrap-up + Q&amp;A. Don't rush the wrap-up — it's the moment students reflect on what they learned.</a:t>
            </a:r>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here. Focus on what's React-specific. Generic 'use HTTPS' is table stakes; we cover the React-flavored issues.</a:t>
            </a:r>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AI tools love dangerouslySetInnerHTML when they could just use children. Watch for it in code review.</a:t>
            </a:r>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your team is on Next.js or RR v7, this is mostly handled. If you've rolled your own SSR, this is a real production concern.</a:t>
            </a:r>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Server Actions security gotcha. Capture vars vs read-inside-action makes the difference.</a:t>
            </a:r>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AI tools default to localStorage with depressing regularity. Push back hard. The fix is server-set HttpOnly cookies — see Lab 2's auth implementation.</a:t>
            </a:r>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~10 minutes. Most senior devs know a11y basics; the AI-specific failures are the new content.</a:t>
            </a:r>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These six are the table-stakes. Not exhaustive — just the ones a senior dev should never ship without checking.</a:t>
            </a:r>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you ship AI-generated UI without checking for these, you ship inaccessible UI. The patterns repeat.</a:t>
            </a:r>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Manual keyboard testing is the one most students skip. It takes 30 seconds and catches the most pernicious bugs.</a:t>
            </a:r>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~5 minutes. Not a deep dive — just enough to know where to start when needed.</a:t>
            </a:r>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If the team isn't shipping internationally, skip i18n entirely. If there's any chance, add it on day one — retrofit is a quarter-long project.</a:t>
            </a:r>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~15 minutes here. The wrap-up matters — students reflect, ask questions, and leave with a plan.</a:t>
            </a:r>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Walk through. Ask the room which day landed hardest — usually Day 2 (RSC) or Day 3 (the AI module).</a:t>
            </a:r>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is the photograph slide. Tell students explicitly: this is what you take home.</a:t>
            </a:r>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'Pick one thing' is the load-bearing advice. Students who try to do everything do nothing.</a:t>
            </a:r>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Don't list every blog and YouTube channel. These six are the ones that stay accurate.</a:t>
            </a:r>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Encourage students to keep a personal fork. The repo is the artifact they take home.</a:t>
            </a:r>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Reserve at least 10 minutes for this. If the room is quiet, use the prompts.</a:t>
            </a:r>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Final slide. Don't say much — let it land.</a:t>
            </a:r>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Optional final slide. Student feedback is the input for next cohort's improvements.</a:t>
            </a:r>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3.png"/><Relationship Id="rId7"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6.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26.png"/></Relationships>
</file>

<file path=ppt/slides/_rels/slide1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4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1.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1.png"/><Relationship Id="rId4" Type="http://schemas.openxmlformats.org/officeDocument/2006/relationships/image" Target="../media/image6.png"/></Relationships>
</file>

<file path=ppt/slides/_rels/slide15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7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2.png"/><Relationship Id="rId4" Type="http://schemas.openxmlformats.org/officeDocument/2006/relationships/image" Target="../media/image34.png"/></Relationships>
</file>

<file path=ppt/slides/_rels/slide18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9.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9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4.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6.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8.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0.xml"/><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4.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38.png"/><Relationship Id="rId4" Type="http://schemas.openxmlformats.org/officeDocument/2006/relationships/image" Target="../media/image37.png"/></Relationships>
</file>

<file path=ppt/slides/_rels/slide20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5.xml"/><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6.xml"/><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8.xml"/><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1.xml"/><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4.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5.xml"/><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8.xml"/><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9.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1.xml"/><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5.png"/></Relationships>
</file>

<file path=ppt/slides/_rels/slide2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3.xml"/><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5.xml"/><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6.xml"/><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7.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1.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0.xml"/><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2.xml"/><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7.png"/><Relationship Id="rId2" Type="http://schemas.openxmlformats.org/officeDocument/2006/relationships/notesSlide" Target="../notesSlides/notesSlide23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5.png"/><Relationship Id="rId4" Type="http://schemas.openxmlformats.org/officeDocument/2006/relationships/image" Target="../media/image4.png"/></Relationships>
</file>

<file path=ppt/slides/_rels/slide2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4.xml"/><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6.xml"/><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8.xml"/><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9.xml"/><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0.xml"/><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1.xml"/><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2.xml"/><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3.xml"/><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4.xml"/><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5.xml"/><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6.xml"/><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7.xml"/><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png"/><Relationship Id="rId2" Type="http://schemas.openxmlformats.org/officeDocument/2006/relationships/notesSlide" Target="../notesSlides/notesSlide248.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9.png"/></Relationships>
</file>

<file path=ppt/slides/_rels/slide2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9.xml"/><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50.xml"/><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1.xml"/><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2.xml"/><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3.xml"/><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54.xml"/><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5.xml"/><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6.xml"/><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57.xml"/><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58.xml"/><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9.xml"/><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60.xml"/><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1.xml"/><Relationship Id="rId1" Type="http://schemas.openxmlformats.org/officeDocument/2006/relationships/slideLayout" Target="../slideLayouts/slideLayout1.xml"/></Relationships>
</file>

<file path=ppt/slides/_rels/slide2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2.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63.xml"/><Relationship Id="rId1" Type="http://schemas.openxmlformats.org/officeDocument/2006/relationships/slideLayout" Target="../slideLayouts/slideLayout1.xml"/></Relationships>
</file>

<file path=ppt/slides/_rels/slide26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4.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2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65.xml"/><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6.xml"/><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7.xml"/><Relationship Id="rId1" Type="http://schemas.openxmlformats.org/officeDocument/2006/relationships/slideLayout" Target="../slideLayouts/slideLayout1.xml"/></Relationships>
</file>

<file path=ppt/slides/_rels/slide26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8.xml"/><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37.png"/></Relationships>
</file>

<file path=ppt/slides/_rels/slide26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69.xml"/><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270.xml"/><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71.xml"/><Relationship Id="rId1" Type="http://schemas.openxmlformats.org/officeDocument/2006/relationships/slideLayout" Target="../slideLayouts/slideLayout1.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272.xml"/><Relationship Id="rId1" Type="http://schemas.openxmlformats.org/officeDocument/2006/relationships/slideLayout" Target="../slideLayouts/slideLayout1.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273.xml"/><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4.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6.png"/><Relationship Id="rId4" Type="http://schemas.openxmlformats.org/officeDocument/2006/relationships/image" Target="../media/image4.png"/></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275.xml"/><Relationship Id="rId1" Type="http://schemas.openxmlformats.org/officeDocument/2006/relationships/slideLayout" Target="../slideLayouts/slideLayout1.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276.xml"/><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277.xml"/><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8.xml"/><Relationship Id="rId1" Type="http://schemas.openxmlformats.org/officeDocument/2006/relationships/slideLayout" Target="../slideLayouts/slideLayout1.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27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60320"/>
            <a:ext cx="10972800" cy="100584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Advanced React Development</a:t>
            </a:r>
            <a:endParaRPr lang="en-US" sz="4800" dirty="0"/>
          </a:p>
        </p:txBody>
      </p:sp>
      <p:sp>
        <p:nvSpPr>
          <p:cNvPr id="4" name="Text 2"/>
          <p:cNvSpPr/>
          <p:nvPr/>
        </p:nvSpPr>
        <p:spPr>
          <a:xfrm>
            <a:off x="640080" y="3657600"/>
            <a:ext cx="10972800" cy="548640"/>
          </a:xfrm>
          <a:prstGeom prst="rect">
            <a:avLst/>
          </a:prstGeom>
          <a:noFill/>
          <a:ln/>
        </p:spPr>
        <p:txBody>
          <a:bodyPr wrap="square" lIns="0" tIns="0" rIns="0" bIns="0" rtlCol="0" anchor="ctr"/>
          <a:lstStyle/>
          <a:p>
            <a:pPr marL="0" indent="0">
              <a:buNone/>
            </a:pPr>
            <a:r>
              <a:rPr lang="en-US" sz="2200" i="1" dirty="0">
                <a:solidFill>
                  <a:srgbClr val="CBF1F6"/>
                </a:solidFill>
                <a:latin typeface="Arial" pitchFamily="34" charset="0"/>
                <a:ea typeface="Arial" pitchFamily="34" charset="-122"/>
                <a:cs typeface="Arial" pitchFamily="34" charset="-120"/>
              </a:rPr>
              <a:t>Modern React for 2026 — and the developers who use it</a:t>
            </a:r>
            <a:endParaRPr lang="en-US" sz="2200" dirty="0"/>
          </a:p>
        </p:txBody>
      </p:sp>
      <p:sp>
        <p:nvSpPr>
          <p:cNvPr id="5" name="Text 3"/>
          <p:cNvSpPr/>
          <p:nvPr/>
        </p:nvSpPr>
        <p:spPr>
          <a:xfrm>
            <a:off x="640080" y="4663440"/>
            <a:ext cx="10972800" cy="457200"/>
          </a:xfrm>
          <a:prstGeom prst="rect">
            <a:avLst/>
          </a:prstGeom>
          <a:noFill/>
          <a:ln/>
        </p:spPr>
        <p:txBody>
          <a:bodyPr wrap="square" lIns="0" tIns="0" rIns="0" bIns="0" rtlCol="0" anchor="ctr"/>
          <a:lstStyle/>
          <a:p>
            <a:pPr marL="0" indent="0">
              <a:buNone/>
            </a:pPr>
            <a:r>
              <a:rPr lang="en-US" sz="1600" dirty="0">
                <a:solidFill>
                  <a:srgbClr val="94A3B8"/>
                </a:solidFill>
                <a:latin typeface="Arial" pitchFamily="34" charset="0"/>
                <a:ea typeface="Arial" pitchFamily="34" charset="-122"/>
                <a:cs typeface="Arial" pitchFamily="34" charset="-120"/>
              </a:rPr>
              <a:t>Module 1: Welcome + The 2026 React Landscape</a:t>
            </a:r>
            <a:endParaRPr lang="en-US" sz="1600" dirty="0"/>
          </a:p>
        </p:txBody>
      </p:sp>
      <p:sp>
        <p:nvSpPr>
          <p:cNvPr id="6" name="Text 4"/>
          <p:cNvSpPr/>
          <p:nvPr/>
        </p:nvSpPr>
        <p:spPr>
          <a:xfrm>
            <a:off x="640080" y="6126480"/>
            <a:ext cx="10972800" cy="36576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Chris Minnick  ·  WatzThis  ·  v2.0  ·  May 2026</a:t>
            </a:r>
            <a:endParaRPr lang="en-US" sz="12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Welcome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days. Eight labs. A lot of new React.</a:t>
            </a:r>
            <a:endParaRPr lang="en-US" sz="1400" dirty="0"/>
          </a:p>
        </p:txBody>
      </p:sp>
      <p:sp>
        <p:nvSpPr>
          <p:cNvPr id="5" name="Shape 3"/>
          <p:cNvSpPr/>
          <p:nvPr/>
        </p:nvSpPr>
        <p:spPr>
          <a:xfrm>
            <a:off x="777240" y="1645920"/>
            <a:ext cx="5212080" cy="4297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457200" cy="457200"/>
          </a:xfrm>
          <a:prstGeom prst="rect">
            <a:avLst/>
          </a:prstGeom>
        </p:spPr>
      </p:pic>
      <p:sp>
        <p:nvSpPr>
          <p:cNvPr id="7" name="Text 4"/>
          <p:cNvSpPr/>
          <p:nvPr/>
        </p:nvSpPr>
        <p:spPr>
          <a:xfrm>
            <a:off x="1554480" y="1874520"/>
            <a:ext cx="429768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Your instructor</a:t>
            </a:r>
            <a:endParaRPr lang="en-US" sz="1800" dirty="0"/>
          </a:p>
        </p:txBody>
      </p:sp>
      <p:sp>
        <p:nvSpPr>
          <p:cNvPr id="8" name="Text 5"/>
          <p:cNvSpPr/>
          <p:nvPr/>
        </p:nvSpPr>
        <p:spPr>
          <a:xfrm>
            <a:off x="960120" y="2560320"/>
            <a:ext cx="4937760" cy="3200400"/>
          </a:xfrm>
          <a:prstGeom prst="rect">
            <a:avLst/>
          </a:prstGeom>
          <a:noFill/>
          <a:ln/>
        </p:spPr>
        <p:txBody>
          <a:bodyPr wrap="square" lIns="0" tIns="0" rIns="0" bIns="0" rtlCol="0" anchor="t"/>
          <a:lstStyle/>
          <a:p>
            <a:pPr marL="0" indent="0">
              <a:spcAft>
                <a:spcPts val="600"/>
              </a:spcAft>
              <a:buNone/>
            </a:pPr>
            <a:r>
              <a:rPr lang="en-US" sz="1300" b="1" dirty="0">
                <a:solidFill>
                  <a:srgbClr val="475569"/>
                </a:solidFill>
                <a:latin typeface="Arial" pitchFamily="34" charset="0"/>
                <a:ea typeface="Arial" pitchFamily="34" charset="-122"/>
                <a:cs typeface="Arial" pitchFamily="34" charset="-120"/>
              </a:rPr>
              <a:t>Chris Minnick</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Founder, WatzThis</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25+ years building for the web</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Author: JavaScript All-In-One For Dummies, Beginning ReactJS Foundations, others</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Teaching React since 2015</a:t>
            </a:r>
            <a:endParaRPr lang="en-US" sz="1300" dirty="0"/>
          </a:p>
        </p:txBody>
      </p:sp>
      <p:sp>
        <p:nvSpPr>
          <p:cNvPr id="9" name="Shape 6"/>
          <p:cNvSpPr/>
          <p:nvPr/>
        </p:nvSpPr>
        <p:spPr>
          <a:xfrm>
            <a:off x="6355080" y="1645920"/>
            <a:ext cx="5212080" cy="4297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537960" y="1874520"/>
            <a:ext cx="457200" cy="457200"/>
          </a:xfrm>
          <a:prstGeom prst="rect">
            <a:avLst/>
          </a:prstGeom>
        </p:spPr>
      </p:pic>
      <p:sp>
        <p:nvSpPr>
          <p:cNvPr id="11" name="Text 7"/>
          <p:cNvSpPr/>
          <p:nvPr/>
        </p:nvSpPr>
        <p:spPr>
          <a:xfrm>
            <a:off x="7132320" y="1874520"/>
            <a:ext cx="429768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And you?</a:t>
            </a:r>
            <a:endParaRPr lang="en-US" sz="1800" dirty="0"/>
          </a:p>
        </p:txBody>
      </p:sp>
      <p:sp>
        <p:nvSpPr>
          <p:cNvPr id="12" name="Text 8"/>
          <p:cNvSpPr/>
          <p:nvPr/>
        </p:nvSpPr>
        <p:spPr>
          <a:xfrm>
            <a:off x="6537960" y="2560320"/>
            <a:ext cx="4937760" cy="3200400"/>
          </a:xfrm>
          <a:prstGeom prst="rect">
            <a:avLst/>
          </a:prstGeom>
          <a:noFill/>
          <a:ln/>
        </p:spPr>
        <p:txBody>
          <a:bodyPr wrap="square" lIns="0" tIns="0" rIns="0" bIns="0" rtlCol="0" anchor="t"/>
          <a:lstStyle/>
          <a:p>
            <a:pPr marL="0" indent="0">
              <a:spcAft>
                <a:spcPts val="400"/>
              </a:spcAft>
              <a:buNone/>
            </a:pPr>
            <a:r>
              <a:rPr lang="en-US" sz="1300" dirty="0">
                <a:solidFill>
                  <a:srgbClr val="475569"/>
                </a:solidFill>
                <a:latin typeface="Arial" pitchFamily="34" charset="0"/>
                <a:ea typeface="Arial" pitchFamily="34" charset="-122"/>
                <a:cs typeface="Arial" pitchFamily="34" charset="-120"/>
              </a:rPr>
              <a:t> </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Your name and role</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How long you've worked with React</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What you're building right now</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One thing you want to leave this class knowing</a:t>
            </a:r>
            <a:endParaRPr lang="en-US" sz="1300" dirty="0"/>
          </a:p>
        </p:txBody>
      </p:sp>
      <p:sp>
        <p:nvSpPr>
          <p:cNvPr id="13"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4"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Why this course was rewritten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2024 version is barely two years old, but React has moved a lot.</a:t>
            </a:r>
            <a:endParaRPr lang="en-US" sz="1400" dirty="0"/>
          </a:p>
        </p:txBody>
      </p:sp>
      <p:sp>
        <p:nvSpPr>
          <p:cNvPr id="5" name="Shape 3"/>
          <p:cNvSpPr/>
          <p:nvPr/>
        </p:nvSpPr>
        <p:spPr>
          <a:xfrm>
            <a:off x="777240" y="1554480"/>
            <a:ext cx="10607040" cy="91440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554480"/>
            <a:ext cx="109728" cy="914400"/>
          </a:xfrm>
          <a:prstGeom prst="rect">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1051560" y="1664208"/>
            <a:ext cx="10241280" cy="36576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React 19 shipped</a:t>
            </a:r>
            <a:endParaRPr lang="en-US" sz="1600" dirty="0"/>
          </a:p>
        </p:txBody>
      </p:sp>
      <p:sp>
        <p:nvSpPr>
          <p:cNvPr id="8" name="Text 6"/>
          <p:cNvSpPr/>
          <p:nvPr/>
        </p:nvSpPr>
        <p:spPr>
          <a:xfrm>
            <a:off x="1051560" y="2011680"/>
            <a:ext cx="10241280" cy="4114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Server Components production-ready, the Actions story, and a half-dozen new hooks worth knowing.</a:t>
            </a:r>
            <a:endParaRPr lang="en-US" sz="1250" dirty="0"/>
          </a:p>
        </p:txBody>
      </p:sp>
      <p:sp>
        <p:nvSpPr>
          <p:cNvPr id="9" name="Shape 7"/>
          <p:cNvSpPr/>
          <p:nvPr/>
        </p:nvSpPr>
        <p:spPr>
          <a:xfrm>
            <a:off x="777240" y="2651760"/>
            <a:ext cx="10607040" cy="91440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777240" y="2651760"/>
            <a:ext cx="109728" cy="914400"/>
          </a:xfrm>
          <a:prstGeom prst="rect">
            <a:avLst/>
          </a:prstGeom>
          <a:solidFill>
            <a:srgbClr val="00B8D9"/>
          </a:solidFill>
          <a:ln w="12700">
            <a:solidFill>
              <a:srgbClr val="00B8D9"/>
            </a:solidFill>
            <a:prstDash val="solid"/>
          </a:ln>
        </p:spPr>
        <p:txBody>
          <a:bodyPr/>
          <a:lstStyle/>
          <a:p>
            <a:endParaRPr lang="en-US"/>
          </a:p>
        </p:txBody>
      </p:sp>
      <p:sp>
        <p:nvSpPr>
          <p:cNvPr id="11" name="Text 9"/>
          <p:cNvSpPr/>
          <p:nvPr/>
        </p:nvSpPr>
        <p:spPr>
          <a:xfrm>
            <a:off x="1051560" y="2761488"/>
            <a:ext cx="10241280" cy="36576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The React Compiler is real</a:t>
            </a:r>
            <a:endParaRPr lang="en-US" sz="1600" dirty="0"/>
          </a:p>
        </p:txBody>
      </p:sp>
      <p:sp>
        <p:nvSpPr>
          <p:cNvPr id="12" name="Text 10"/>
          <p:cNvSpPr/>
          <p:nvPr/>
        </p:nvSpPr>
        <p:spPr>
          <a:xfrm>
            <a:off x="1051560" y="3108960"/>
            <a:ext cx="10241280" cy="4114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Most of the manual useMemo / useCallback / React.memo gymnastics from 2024 is now optional.</a:t>
            </a:r>
            <a:endParaRPr lang="en-US" sz="1250" dirty="0"/>
          </a:p>
        </p:txBody>
      </p:sp>
      <p:sp>
        <p:nvSpPr>
          <p:cNvPr id="13" name="Shape 11"/>
          <p:cNvSpPr/>
          <p:nvPr/>
        </p:nvSpPr>
        <p:spPr>
          <a:xfrm>
            <a:off x="777240" y="3749040"/>
            <a:ext cx="10607040" cy="91440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777240" y="3749040"/>
            <a:ext cx="109728" cy="914400"/>
          </a:xfrm>
          <a:prstGeom prst="rect">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1051560" y="3858768"/>
            <a:ext cx="10241280" cy="36576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Create React App is gone</a:t>
            </a:r>
            <a:endParaRPr lang="en-US" sz="1600" dirty="0"/>
          </a:p>
        </p:txBody>
      </p:sp>
      <p:sp>
        <p:nvSpPr>
          <p:cNvPr id="16" name="Text 14"/>
          <p:cNvSpPr/>
          <p:nvPr/>
        </p:nvSpPr>
        <p:spPr>
          <a:xfrm>
            <a:off x="1051560" y="4206240"/>
            <a:ext cx="10241280" cy="4114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Officially deprecated in 2025. Vite is the default; frameworks own the rest.</a:t>
            </a:r>
            <a:endParaRPr lang="en-US" sz="1250" dirty="0"/>
          </a:p>
        </p:txBody>
      </p:sp>
      <p:sp>
        <p:nvSpPr>
          <p:cNvPr id="17" name="Shape 15"/>
          <p:cNvSpPr/>
          <p:nvPr/>
        </p:nvSpPr>
        <p:spPr>
          <a:xfrm>
            <a:off x="777240" y="4846320"/>
            <a:ext cx="10607040" cy="91440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777240" y="4846320"/>
            <a:ext cx="109728" cy="914400"/>
          </a:xfrm>
          <a:prstGeom prst="rect">
            <a:avLst/>
          </a:prstGeom>
          <a:solidFill>
            <a:srgbClr val="00B8D9"/>
          </a:solidFill>
          <a:ln w="12700">
            <a:solidFill>
              <a:srgbClr val="00B8D9"/>
            </a:solidFill>
            <a:prstDash val="solid"/>
          </a:ln>
        </p:spPr>
        <p:txBody>
          <a:bodyPr/>
          <a:lstStyle/>
          <a:p>
            <a:endParaRPr lang="en-US"/>
          </a:p>
        </p:txBody>
      </p:sp>
      <p:sp>
        <p:nvSpPr>
          <p:cNvPr id="19" name="Text 17"/>
          <p:cNvSpPr/>
          <p:nvPr/>
        </p:nvSpPr>
        <p:spPr>
          <a:xfrm>
            <a:off x="1051560" y="4956048"/>
            <a:ext cx="10241280" cy="36576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AI assistants are in every editor</a:t>
            </a:r>
            <a:endParaRPr lang="en-US" sz="1600" dirty="0"/>
          </a:p>
        </p:txBody>
      </p:sp>
      <p:sp>
        <p:nvSpPr>
          <p:cNvPr id="20" name="Text 18"/>
          <p:cNvSpPr/>
          <p:nvPr/>
        </p:nvSpPr>
        <p:spPr>
          <a:xfrm>
            <a:off x="1051560" y="5303520"/>
            <a:ext cx="10241280" cy="4114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The 2024 course didn't mention them. The 2026 course is built around the skills you need to use them well.</a:t>
            </a:r>
            <a:endParaRPr lang="en-US" sz="12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 / 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you'll be able to do by Friday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Ten course-level outcomes. The labs are how you get there.</a:t>
            </a:r>
            <a:endParaRPr lang="en-US" sz="1400" dirty="0"/>
          </a:p>
        </p:txBody>
      </p:sp>
      <p:sp>
        <p:nvSpPr>
          <p:cNvPr id="5" name="Shape 3"/>
          <p:cNvSpPr/>
          <p:nvPr/>
        </p:nvSpPr>
        <p:spPr>
          <a:xfrm>
            <a:off x="777240" y="1554480"/>
            <a:ext cx="411480" cy="411480"/>
          </a:xfrm>
          <a:prstGeom prst="ellipse">
            <a:avLst/>
          </a:prstGeom>
          <a:solidFill>
            <a:srgbClr val="00B8D9"/>
          </a:solidFill>
          <a:ln w="12700">
            <a:solidFill>
              <a:srgbClr val="00B8D9"/>
            </a:solidFill>
            <a:prstDash val="solid"/>
          </a:ln>
        </p:spPr>
        <p:txBody>
          <a:bodyPr/>
          <a:lstStyle/>
          <a:p>
            <a:endParaRPr lang="en-US"/>
          </a:p>
        </p:txBody>
      </p:sp>
      <p:sp>
        <p:nvSpPr>
          <p:cNvPr id="6" name="Text 4"/>
          <p:cNvSpPr/>
          <p:nvPr/>
        </p:nvSpPr>
        <p:spPr>
          <a:xfrm>
            <a:off x="777240" y="15544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7" name="Text 5"/>
          <p:cNvSpPr/>
          <p:nvPr/>
        </p:nvSpPr>
        <p:spPr>
          <a:xfrm>
            <a:off x="1325880" y="160020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Recognize what's new in React 19 and explain when each piece matters</a:t>
            </a:r>
            <a:endParaRPr lang="en-US" sz="1250" dirty="0"/>
          </a:p>
        </p:txBody>
      </p:sp>
      <p:sp>
        <p:nvSpPr>
          <p:cNvPr id="8" name="Shape 6"/>
          <p:cNvSpPr/>
          <p:nvPr/>
        </p:nvSpPr>
        <p:spPr>
          <a:xfrm>
            <a:off x="777240" y="2331720"/>
            <a:ext cx="411480" cy="411480"/>
          </a:xfrm>
          <a:prstGeom prst="ellipse">
            <a:avLst/>
          </a:prstGeom>
          <a:solidFill>
            <a:srgbClr val="00B8D9"/>
          </a:solidFill>
          <a:ln w="12700">
            <a:solidFill>
              <a:srgbClr val="00B8D9"/>
            </a:solidFill>
            <a:prstDash val="solid"/>
          </a:ln>
        </p:spPr>
        <p:txBody>
          <a:bodyPr/>
          <a:lstStyle/>
          <a:p>
            <a:endParaRPr lang="en-US"/>
          </a:p>
        </p:txBody>
      </p:sp>
      <p:sp>
        <p:nvSpPr>
          <p:cNvPr id="9" name="Text 7"/>
          <p:cNvSpPr/>
          <p:nvPr/>
        </p:nvSpPr>
        <p:spPr>
          <a:xfrm>
            <a:off x="777240" y="23317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0" name="Text 8"/>
          <p:cNvSpPr/>
          <p:nvPr/>
        </p:nvSpPr>
        <p:spPr>
          <a:xfrm>
            <a:off x="1325880" y="237744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Choose between Vite, Next.js 15, React Router v7, and the rest based on project needs</a:t>
            </a:r>
            <a:endParaRPr lang="en-US" sz="1250" dirty="0"/>
          </a:p>
        </p:txBody>
      </p:sp>
      <p:sp>
        <p:nvSpPr>
          <p:cNvPr id="11" name="Shape 9"/>
          <p:cNvSpPr/>
          <p:nvPr/>
        </p:nvSpPr>
        <p:spPr>
          <a:xfrm>
            <a:off x="777240" y="3108960"/>
            <a:ext cx="411480" cy="41148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777240" y="31089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3" name="Text 11"/>
          <p:cNvSpPr/>
          <p:nvPr/>
        </p:nvSpPr>
        <p:spPr>
          <a:xfrm>
            <a:off x="1325880" y="315468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Apply the right hook for the job — and spot the hook mistakes AI tools make</a:t>
            </a:r>
            <a:endParaRPr lang="en-US" sz="1250" dirty="0"/>
          </a:p>
        </p:txBody>
      </p:sp>
      <p:sp>
        <p:nvSpPr>
          <p:cNvPr id="14" name="Shape 12"/>
          <p:cNvSpPr/>
          <p:nvPr/>
        </p:nvSpPr>
        <p:spPr>
          <a:xfrm>
            <a:off x="777240" y="3886200"/>
            <a:ext cx="411480" cy="411480"/>
          </a:xfrm>
          <a:prstGeom prst="ellipse">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777240" y="38862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16" name="Text 14"/>
          <p:cNvSpPr/>
          <p:nvPr/>
        </p:nvSpPr>
        <p:spPr>
          <a:xfrm>
            <a:off x="1325880" y="393192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Implement modern routing in both React Router v7 and Next.js App Router</a:t>
            </a:r>
            <a:endParaRPr lang="en-US" sz="1250" dirty="0"/>
          </a:p>
        </p:txBody>
      </p:sp>
      <p:sp>
        <p:nvSpPr>
          <p:cNvPr id="17" name="Shape 15"/>
          <p:cNvSpPr/>
          <p:nvPr/>
        </p:nvSpPr>
        <p:spPr>
          <a:xfrm>
            <a:off x="777240" y="4663440"/>
            <a:ext cx="411480" cy="411480"/>
          </a:xfrm>
          <a:prstGeom prst="ellipse">
            <a:avLst/>
          </a:prstGeom>
          <a:solidFill>
            <a:srgbClr val="00B8D9"/>
          </a:solidFill>
          <a:ln w="12700">
            <a:solidFill>
              <a:srgbClr val="00B8D9"/>
            </a:solidFill>
            <a:prstDash val="solid"/>
          </a:ln>
        </p:spPr>
        <p:txBody>
          <a:bodyPr/>
          <a:lstStyle/>
          <a:p>
            <a:endParaRPr lang="en-US"/>
          </a:p>
        </p:txBody>
      </p:sp>
      <p:sp>
        <p:nvSpPr>
          <p:cNvPr id="18" name="Text 16"/>
          <p:cNvSpPr/>
          <p:nvPr/>
        </p:nvSpPr>
        <p:spPr>
          <a:xfrm>
            <a:off x="777240" y="46634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19" name="Text 17"/>
          <p:cNvSpPr/>
          <p:nvPr/>
        </p:nvSpPr>
        <p:spPr>
          <a:xfrm>
            <a:off x="1325880" y="470916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Pick the right state-management approach for each kind of state</a:t>
            </a:r>
            <a:endParaRPr lang="en-US" sz="1250" dirty="0"/>
          </a:p>
        </p:txBody>
      </p:sp>
      <p:sp>
        <p:nvSpPr>
          <p:cNvPr id="20" name="Shape 18"/>
          <p:cNvSpPr/>
          <p:nvPr/>
        </p:nvSpPr>
        <p:spPr>
          <a:xfrm>
            <a:off x="6400800" y="1554480"/>
            <a:ext cx="411480" cy="411480"/>
          </a:xfrm>
          <a:prstGeom prst="ellipse">
            <a:avLst/>
          </a:prstGeom>
          <a:solidFill>
            <a:srgbClr val="00B8D9"/>
          </a:solidFill>
          <a:ln w="12700">
            <a:solidFill>
              <a:srgbClr val="00B8D9"/>
            </a:solidFill>
            <a:prstDash val="solid"/>
          </a:ln>
        </p:spPr>
        <p:txBody>
          <a:bodyPr/>
          <a:lstStyle/>
          <a:p>
            <a:endParaRPr lang="en-US"/>
          </a:p>
        </p:txBody>
      </p:sp>
      <p:sp>
        <p:nvSpPr>
          <p:cNvPr id="21" name="Text 19"/>
          <p:cNvSpPr/>
          <p:nvPr/>
        </p:nvSpPr>
        <p:spPr>
          <a:xfrm>
            <a:off x="6400800" y="15544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6</a:t>
            </a:r>
            <a:endParaRPr lang="en-US" sz="1400" dirty="0"/>
          </a:p>
        </p:txBody>
      </p:sp>
      <p:sp>
        <p:nvSpPr>
          <p:cNvPr id="22" name="Text 20"/>
          <p:cNvSpPr/>
          <p:nvPr/>
        </p:nvSpPr>
        <p:spPr>
          <a:xfrm>
            <a:off x="6949440" y="160020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Build with TanStack Query for client data and Server Components for server-driven UI</a:t>
            </a:r>
            <a:endParaRPr lang="en-US" sz="1250" dirty="0"/>
          </a:p>
        </p:txBody>
      </p:sp>
      <p:sp>
        <p:nvSpPr>
          <p:cNvPr id="23" name="Shape 21"/>
          <p:cNvSpPr/>
          <p:nvPr/>
        </p:nvSpPr>
        <p:spPr>
          <a:xfrm>
            <a:off x="6400800" y="2331720"/>
            <a:ext cx="411480" cy="411480"/>
          </a:xfrm>
          <a:prstGeom prst="ellipse">
            <a:avLst/>
          </a:prstGeom>
          <a:solidFill>
            <a:srgbClr val="00B8D9"/>
          </a:solidFill>
          <a:ln w="12700">
            <a:solidFill>
              <a:srgbClr val="00B8D9"/>
            </a:solidFill>
            <a:prstDash val="solid"/>
          </a:ln>
        </p:spPr>
        <p:txBody>
          <a:bodyPr/>
          <a:lstStyle/>
          <a:p>
            <a:endParaRPr lang="en-US"/>
          </a:p>
        </p:txBody>
      </p:sp>
      <p:sp>
        <p:nvSpPr>
          <p:cNvPr id="24" name="Text 22"/>
          <p:cNvSpPr/>
          <p:nvPr/>
        </p:nvSpPr>
        <p:spPr>
          <a:xfrm>
            <a:off x="6400800" y="23317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7</a:t>
            </a:r>
            <a:endParaRPr lang="en-US" sz="1400" dirty="0"/>
          </a:p>
        </p:txBody>
      </p:sp>
      <p:sp>
        <p:nvSpPr>
          <p:cNvPr id="25" name="Text 23"/>
          <p:cNvSpPr/>
          <p:nvPr/>
        </p:nvSpPr>
        <p:spPr>
          <a:xfrm>
            <a:off x="6949440" y="237744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Profile and optimize a React app in the React Compiler era</a:t>
            </a:r>
            <a:endParaRPr lang="en-US" sz="1250" dirty="0"/>
          </a:p>
        </p:txBody>
      </p:sp>
      <p:sp>
        <p:nvSpPr>
          <p:cNvPr id="26" name="Shape 24"/>
          <p:cNvSpPr/>
          <p:nvPr/>
        </p:nvSpPr>
        <p:spPr>
          <a:xfrm>
            <a:off x="6400800" y="3108960"/>
            <a:ext cx="411480" cy="41148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6400800" y="31089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8</a:t>
            </a:r>
            <a:endParaRPr lang="en-US" sz="1400" dirty="0"/>
          </a:p>
        </p:txBody>
      </p:sp>
      <p:sp>
        <p:nvSpPr>
          <p:cNvPr id="28" name="Text 26"/>
          <p:cNvSpPr/>
          <p:nvPr/>
        </p:nvSpPr>
        <p:spPr>
          <a:xfrm>
            <a:off x="6949440" y="315468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Write meaningful tests with Vitest, React Testing Library, MSW, and Playwright</a:t>
            </a:r>
            <a:endParaRPr lang="en-US" sz="1250" dirty="0"/>
          </a:p>
        </p:txBody>
      </p:sp>
      <p:sp>
        <p:nvSpPr>
          <p:cNvPr id="29" name="Shape 27"/>
          <p:cNvSpPr/>
          <p:nvPr/>
        </p:nvSpPr>
        <p:spPr>
          <a:xfrm>
            <a:off x="6400800" y="3886200"/>
            <a:ext cx="411480" cy="411480"/>
          </a:xfrm>
          <a:prstGeom prst="ellipse">
            <a:avLst/>
          </a:prstGeom>
          <a:solidFill>
            <a:srgbClr val="00B8D9"/>
          </a:solidFill>
          <a:ln w="12700">
            <a:solidFill>
              <a:srgbClr val="00B8D9"/>
            </a:solidFill>
            <a:prstDash val="solid"/>
          </a:ln>
        </p:spPr>
        <p:txBody>
          <a:bodyPr/>
          <a:lstStyle/>
          <a:p>
            <a:endParaRPr lang="en-US"/>
          </a:p>
        </p:txBody>
      </p:sp>
      <p:sp>
        <p:nvSpPr>
          <p:cNvPr id="30" name="Text 28"/>
          <p:cNvSpPr/>
          <p:nvPr/>
        </p:nvSpPr>
        <p:spPr>
          <a:xfrm>
            <a:off x="6400800" y="38862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9</a:t>
            </a:r>
            <a:endParaRPr lang="en-US" sz="1400" dirty="0"/>
          </a:p>
        </p:txBody>
      </p:sp>
      <p:sp>
        <p:nvSpPr>
          <p:cNvPr id="31" name="Text 29"/>
          <p:cNvSpPr/>
          <p:nvPr/>
        </p:nvSpPr>
        <p:spPr>
          <a:xfrm>
            <a:off x="6949440" y="393192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Work productively with AI assistants while spotting their typical React mistakes</a:t>
            </a:r>
            <a:endParaRPr lang="en-US" sz="1250" dirty="0"/>
          </a:p>
        </p:txBody>
      </p:sp>
      <p:sp>
        <p:nvSpPr>
          <p:cNvPr id="32" name="Shape 30"/>
          <p:cNvSpPr/>
          <p:nvPr/>
        </p:nvSpPr>
        <p:spPr>
          <a:xfrm>
            <a:off x="6400800" y="4663440"/>
            <a:ext cx="411480" cy="411480"/>
          </a:xfrm>
          <a:prstGeom prst="ellipse">
            <a:avLst/>
          </a:prstGeom>
          <a:solidFill>
            <a:srgbClr val="00B8D9"/>
          </a:solidFill>
          <a:ln w="12700">
            <a:solidFill>
              <a:srgbClr val="00B8D9"/>
            </a:solidFill>
            <a:prstDash val="solid"/>
          </a:ln>
        </p:spPr>
        <p:txBody>
          <a:bodyPr/>
          <a:lstStyle/>
          <a:p>
            <a:endParaRPr lang="en-US"/>
          </a:p>
        </p:txBody>
      </p:sp>
      <p:sp>
        <p:nvSpPr>
          <p:cNvPr id="33" name="Text 31"/>
          <p:cNvSpPr/>
          <p:nvPr/>
        </p:nvSpPr>
        <p:spPr>
          <a:xfrm>
            <a:off x="6400800" y="46634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10</a:t>
            </a:r>
            <a:endParaRPr lang="en-US" sz="1400" dirty="0"/>
          </a:p>
        </p:txBody>
      </p:sp>
      <p:sp>
        <p:nvSpPr>
          <p:cNvPr id="34" name="Text 32"/>
          <p:cNvSpPr/>
          <p:nvPr/>
        </p:nvSpPr>
        <p:spPr>
          <a:xfrm>
            <a:off x="6949440" y="4709160"/>
            <a:ext cx="4754880" cy="7315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Apply React-specific security and accessibility practices</a:t>
            </a:r>
            <a:endParaRPr lang="en-US" sz="1250" dirty="0"/>
          </a:p>
        </p:txBody>
      </p:sp>
      <p:sp>
        <p:nvSpPr>
          <p:cNvPr id="35" name="Text 3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36" name="Text 3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Daily schedule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~7 hours of instruction per day. Lunch is one hour. Two breaks each day.</a:t>
            </a:r>
            <a:endParaRPr lang="en-US" sz="1400" dirty="0"/>
          </a:p>
        </p:txBody>
      </p:sp>
      <p:sp>
        <p:nvSpPr>
          <p:cNvPr id="5" name="Shape 3"/>
          <p:cNvSpPr/>
          <p:nvPr/>
        </p:nvSpPr>
        <p:spPr>
          <a:xfrm>
            <a:off x="777240" y="1554480"/>
            <a:ext cx="3611880" cy="438912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554480"/>
            <a:ext cx="3611880" cy="4572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1627632"/>
            <a:ext cx="3383280" cy="329184"/>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Day 1</a:t>
            </a:r>
            <a:endParaRPr lang="en-US" sz="1400" dirty="0"/>
          </a:p>
        </p:txBody>
      </p:sp>
      <p:sp>
        <p:nvSpPr>
          <p:cNvPr id="8" name="Text 6"/>
          <p:cNvSpPr/>
          <p:nvPr/>
        </p:nvSpPr>
        <p:spPr>
          <a:xfrm>
            <a:off x="960120" y="2194560"/>
            <a:ext cx="338328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Foundations for 2026</a:t>
            </a:r>
            <a:endParaRPr lang="en-US" sz="1400" dirty="0"/>
          </a:p>
        </p:txBody>
      </p:sp>
      <p:sp>
        <p:nvSpPr>
          <p:cNvPr id="9" name="Text 7"/>
          <p:cNvSpPr/>
          <p:nvPr/>
        </p:nvSpPr>
        <p:spPr>
          <a:xfrm>
            <a:off x="96012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React landscape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Hooks that matter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Routing — RR v7 + Next.js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1 &amp; 2</a:t>
            </a:r>
            <a:endParaRPr lang="en-US" sz="1200" dirty="0"/>
          </a:p>
        </p:txBody>
      </p:sp>
      <p:sp>
        <p:nvSpPr>
          <p:cNvPr id="10" name="Shape 8"/>
          <p:cNvSpPr/>
          <p:nvPr/>
        </p:nvSpPr>
        <p:spPr>
          <a:xfrm>
            <a:off x="4617720" y="1554480"/>
            <a:ext cx="3611880" cy="438912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4617720" y="1554480"/>
            <a:ext cx="3611880" cy="457200"/>
          </a:xfrm>
          <a:prstGeom prst="rect">
            <a:avLst/>
          </a:prstGeom>
          <a:solidFill>
            <a:srgbClr val="1E2A47"/>
          </a:solidFill>
          <a:ln w="12700">
            <a:solidFill>
              <a:srgbClr val="1E2A47"/>
            </a:solidFill>
            <a:prstDash val="solid"/>
          </a:ln>
        </p:spPr>
        <p:txBody>
          <a:bodyPr/>
          <a:lstStyle/>
          <a:p>
            <a:endParaRPr lang="en-US"/>
          </a:p>
        </p:txBody>
      </p:sp>
      <p:sp>
        <p:nvSpPr>
          <p:cNvPr id="12" name="Text 10"/>
          <p:cNvSpPr/>
          <p:nvPr/>
        </p:nvSpPr>
        <p:spPr>
          <a:xfrm>
            <a:off x="4800600" y="1627632"/>
            <a:ext cx="3383280" cy="329184"/>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Day 2</a:t>
            </a:r>
            <a:endParaRPr lang="en-US" sz="1400" dirty="0"/>
          </a:p>
        </p:txBody>
      </p:sp>
      <p:sp>
        <p:nvSpPr>
          <p:cNvPr id="13" name="Text 11"/>
          <p:cNvSpPr/>
          <p:nvPr/>
        </p:nvSpPr>
        <p:spPr>
          <a:xfrm>
            <a:off x="4800600" y="2194560"/>
            <a:ext cx="338328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Data, State, and the Server</a:t>
            </a:r>
            <a:endParaRPr lang="en-US" sz="1400" dirty="0"/>
          </a:p>
        </p:txBody>
      </p:sp>
      <p:sp>
        <p:nvSpPr>
          <p:cNvPr id="14" name="Text 12"/>
          <p:cNvSpPr/>
          <p:nvPr/>
        </p:nvSpPr>
        <p:spPr>
          <a:xfrm>
            <a:off x="480060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State management decisions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data fetching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Server Components + Actions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3, 4, &amp; 5</a:t>
            </a:r>
            <a:endParaRPr lang="en-US" sz="1200" dirty="0"/>
          </a:p>
        </p:txBody>
      </p:sp>
      <p:sp>
        <p:nvSpPr>
          <p:cNvPr id="15" name="Shape 13"/>
          <p:cNvSpPr/>
          <p:nvPr/>
        </p:nvSpPr>
        <p:spPr>
          <a:xfrm>
            <a:off x="8458200" y="1554480"/>
            <a:ext cx="3611880" cy="438912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8458200" y="1554480"/>
            <a:ext cx="3611880" cy="457200"/>
          </a:xfrm>
          <a:prstGeom prst="rect">
            <a:avLst/>
          </a:prstGeom>
          <a:solidFill>
            <a:srgbClr val="1E2A47"/>
          </a:solidFill>
          <a:ln w="12700">
            <a:solidFill>
              <a:srgbClr val="1E2A47"/>
            </a:solidFill>
            <a:prstDash val="solid"/>
          </a:ln>
        </p:spPr>
        <p:txBody>
          <a:bodyPr/>
          <a:lstStyle/>
          <a:p>
            <a:endParaRPr lang="en-US"/>
          </a:p>
        </p:txBody>
      </p:sp>
      <p:sp>
        <p:nvSpPr>
          <p:cNvPr id="17" name="Text 15"/>
          <p:cNvSpPr/>
          <p:nvPr/>
        </p:nvSpPr>
        <p:spPr>
          <a:xfrm>
            <a:off x="8641080" y="1627632"/>
            <a:ext cx="3383280" cy="329184"/>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Day 3</a:t>
            </a:r>
            <a:endParaRPr lang="en-US" sz="1400" dirty="0"/>
          </a:p>
        </p:txBody>
      </p:sp>
      <p:sp>
        <p:nvSpPr>
          <p:cNvPr id="18" name="Text 16"/>
          <p:cNvSpPr/>
          <p:nvPr/>
        </p:nvSpPr>
        <p:spPr>
          <a:xfrm>
            <a:off x="8641080" y="2194560"/>
            <a:ext cx="338328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Performance, Quality, and AI</a:t>
            </a:r>
            <a:endParaRPr lang="en-US" sz="1400" dirty="0"/>
          </a:p>
        </p:txBody>
      </p:sp>
      <p:sp>
        <p:nvSpPr>
          <p:cNvPr id="19" name="Text 17"/>
          <p:cNvSpPr/>
          <p:nvPr/>
        </p:nvSpPr>
        <p:spPr>
          <a:xfrm>
            <a:off x="864108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Performance in the Compiler era</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Working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6, 7, &amp; 8</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How the days are structured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Concept → quick demo → substantial lab. Repeat.</a:t>
            </a:r>
            <a:endParaRPr lang="en-US" sz="1400" dirty="0"/>
          </a:p>
        </p:txBody>
      </p:sp>
      <p:sp>
        <p:nvSpPr>
          <p:cNvPr id="5" name="Shape 3"/>
          <p:cNvSpPr/>
          <p:nvPr/>
        </p:nvSpPr>
        <p:spPr>
          <a:xfrm>
            <a:off x="777240" y="1737360"/>
            <a:ext cx="3611880" cy="30175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51560" y="1920240"/>
            <a:ext cx="640080" cy="640080"/>
          </a:xfrm>
          <a:prstGeom prst="rect">
            <a:avLst/>
          </a:prstGeom>
        </p:spPr>
      </p:pic>
      <p:sp>
        <p:nvSpPr>
          <p:cNvPr id="7" name="Text 4"/>
          <p:cNvSpPr/>
          <p:nvPr/>
        </p:nvSpPr>
        <p:spPr>
          <a:xfrm>
            <a:off x="1051560" y="2697480"/>
            <a:ext cx="3200400" cy="45720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Concept</a:t>
            </a:r>
            <a:endParaRPr lang="en-US" sz="2200" dirty="0"/>
          </a:p>
        </p:txBody>
      </p:sp>
      <p:sp>
        <p:nvSpPr>
          <p:cNvPr id="8" name="Text 5"/>
          <p:cNvSpPr/>
          <p:nvPr/>
        </p:nvSpPr>
        <p:spPr>
          <a:xfrm>
            <a:off x="1051560" y="3200400"/>
            <a:ext cx="3200400" cy="14630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Short lecture (15-30 min) with live coding, not just slides.</a:t>
            </a:r>
            <a:endParaRPr lang="en-US" sz="1250" dirty="0"/>
          </a:p>
        </p:txBody>
      </p:sp>
      <p:pic>
        <p:nvPicPr>
          <p:cNvPr id="9" name="Image 1" descr="preencoded.png"/>
          <p:cNvPicPr>
            <a:picLocks noChangeAspect="1"/>
          </p:cNvPicPr>
          <p:nvPr/>
        </p:nvPicPr>
        <p:blipFill>
          <a:blip r:embed="rId4"/>
          <a:stretch>
            <a:fillRect/>
          </a:stretch>
        </p:blipFill>
        <p:spPr>
          <a:xfrm>
            <a:off x="4434840" y="3017520"/>
            <a:ext cx="228600" cy="228600"/>
          </a:xfrm>
          <a:prstGeom prst="rect">
            <a:avLst/>
          </a:prstGeom>
        </p:spPr>
      </p:pic>
      <p:sp>
        <p:nvSpPr>
          <p:cNvPr id="10" name="Shape 6"/>
          <p:cNvSpPr/>
          <p:nvPr/>
        </p:nvSpPr>
        <p:spPr>
          <a:xfrm>
            <a:off x="4617720" y="1737360"/>
            <a:ext cx="3611880" cy="3017520"/>
          </a:xfrm>
          <a:prstGeom prst="rect">
            <a:avLst/>
          </a:prstGeom>
          <a:solidFill>
            <a:srgbClr val="FFFFFF"/>
          </a:solidFill>
          <a:ln w="12700">
            <a:solidFill>
              <a:srgbClr val="E2E8F0"/>
            </a:solidFill>
            <a:prstDash val="solid"/>
          </a:ln>
        </p:spPr>
        <p:txBody>
          <a:bodyPr/>
          <a:lstStyle/>
          <a:p>
            <a:endParaRPr lang="en-US"/>
          </a:p>
        </p:txBody>
      </p:sp>
      <p:pic>
        <p:nvPicPr>
          <p:cNvPr id="11" name="Image 2" descr="preencoded.png"/>
          <p:cNvPicPr>
            <a:picLocks noChangeAspect="1"/>
          </p:cNvPicPr>
          <p:nvPr/>
        </p:nvPicPr>
        <p:blipFill>
          <a:blip r:embed="rId5"/>
          <a:stretch>
            <a:fillRect/>
          </a:stretch>
        </p:blipFill>
        <p:spPr>
          <a:xfrm>
            <a:off x="4892040" y="1920240"/>
            <a:ext cx="640080" cy="640080"/>
          </a:xfrm>
          <a:prstGeom prst="rect">
            <a:avLst/>
          </a:prstGeom>
        </p:spPr>
      </p:pic>
      <p:sp>
        <p:nvSpPr>
          <p:cNvPr id="12" name="Text 7"/>
          <p:cNvSpPr/>
          <p:nvPr/>
        </p:nvSpPr>
        <p:spPr>
          <a:xfrm>
            <a:off x="4892040" y="2697480"/>
            <a:ext cx="3200400" cy="45720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Demo</a:t>
            </a:r>
            <a:endParaRPr lang="en-US" sz="2200" dirty="0"/>
          </a:p>
        </p:txBody>
      </p:sp>
      <p:sp>
        <p:nvSpPr>
          <p:cNvPr id="13" name="Text 8"/>
          <p:cNvSpPr/>
          <p:nvPr/>
        </p:nvSpPr>
        <p:spPr>
          <a:xfrm>
            <a:off x="4892040" y="3200400"/>
            <a:ext cx="3200400" cy="14630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5-10 min hands-on demo so the syntax lands before you write any.</a:t>
            </a:r>
            <a:endParaRPr lang="en-US" sz="1250" dirty="0"/>
          </a:p>
        </p:txBody>
      </p:sp>
      <p:pic>
        <p:nvPicPr>
          <p:cNvPr id="14" name="Image 3" descr="preencoded.png"/>
          <p:cNvPicPr>
            <a:picLocks noChangeAspect="1"/>
          </p:cNvPicPr>
          <p:nvPr/>
        </p:nvPicPr>
        <p:blipFill>
          <a:blip r:embed="rId4"/>
          <a:stretch>
            <a:fillRect/>
          </a:stretch>
        </p:blipFill>
        <p:spPr>
          <a:xfrm>
            <a:off x="8275320" y="3017520"/>
            <a:ext cx="228600" cy="228600"/>
          </a:xfrm>
          <a:prstGeom prst="rect">
            <a:avLst/>
          </a:prstGeom>
        </p:spPr>
      </p:pic>
      <p:sp>
        <p:nvSpPr>
          <p:cNvPr id="15" name="Shape 9"/>
          <p:cNvSpPr/>
          <p:nvPr/>
        </p:nvSpPr>
        <p:spPr>
          <a:xfrm>
            <a:off x="8458200" y="1737360"/>
            <a:ext cx="3611880" cy="3017520"/>
          </a:xfrm>
          <a:prstGeom prst="rect">
            <a:avLst/>
          </a:prstGeom>
          <a:solidFill>
            <a:srgbClr val="FFFFFF"/>
          </a:solidFill>
          <a:ln w="12700">
            <a:solidFill>
              <a:srgbClr val="E2E8F0"/>
            </a:solidFill>
            <a:prstDash val="solid"/>
          </a:ln>
        </p:spPr>
        <p:txBody>
          <a:bodyPr/>
          <a:lstStyle/>
          <a:p>
            <a:endParaRPr lang="en-US"/>
          </a:p>
        </p:txBody>
      </p:sp>
      <p:pic>
        <p:nvPicPr>
          <p:cNvPr id="16" name="Image 4" descr="preencoded.png"/>
          <p:cNvPicPr>
            <a:picLocks noChangeAspect="1"/>
          </p:cNvPicPr>
          <p:nvPr/>
        </p:nvPicPr>
        <p:blipFill>
          <a:blip r:embed="rId6"/>
          <a:stretch>
            <a:fillRect/>
          </a:stretch>
        </p:blipFill>
        <p:spPr>
          <a:xfrm>
            <a:off x="8732520" y="1920240"/>
            <a:ext cx="640080" cy="640080"/>
          </a:xfrm>
          <a:prstGeom prst="rect">
            <a:avLst/>
          </a:prstGeom>
        </p:spPr>
      </p:pic>
      <p:sp>
        <p:nvSpPr>
          <p:cNvPr id="17" name="Text 10"/>
          <p:cNvSpPr/>
          <p:nvPr/>
        </p:nvSpPr>
        <p:spPr>
          <a:xfrm>
            <a:off x="8732520" y="2697480"/>
            <a:ext cx="3200400" cy="45720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a:t>
            </a:r>
            <a:endParaRPr lang="en-US" sz="2200" dirty="0"/>
          </a:p>
        </p:txBody>
      </p:sp>
      <p:sp>
        <p:nvSpPr>
          <p:cNvPr id="18" name="Text 11"/>
          <p:cNvSpPr/>
          <p:nvPr/>
        </p:nvSpPr>
        <p:spPr>
          <a:xfrm>
            <a:off x="8732520" y="3200400"/>
            <a:ext cx="3200400" cy="14630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60-90 min hands-on. Every lab has a stretch task for fast finishers.</a:t>
            </a:r>
            <a:endParaRPr lang="en-US" sz="1250" dirty="0"/>
          </a:p>
        </p:txBody>
      </p:sp>
      <p:sp>
        <p:nvSpPr>
          <p:cNvPr id="19" name="Shape 12"/>
          <p:cNvSpPr/>
          <p:nvPr/>
        </p:nvSpPr>
        <p:spPr>
          <a:xfrm>
            <a:off x="777240" y="5029200"/>
            <a:ext cx="10607040" cy="1280160"/>
          </a:xfrm>
          <a:prstGeom prst="rect">
            <a:avLst/>
          </a:prstGeom>
          <a:solidFill>
            <a:srgbClr val="CBF1F6"/>
          </a:solidFill>
          <a:ln w="12700">
            <a:solidFill>
              <a:srgbClr val="CBF1F6"/>
            </a:solidFill>
            <a:prstDash val="solid"/>
          </a:ln>
        </p:spPr>
        <p:txBody>
          <a:bodyPr/>
          <a:lstStyle/>
          <a:p>
            <a:endParaRPr lang="en-US"/>
          </a:p>
        </p:txBody>
      </p:sp>
      <p:sp>
        <p:nvSpPr>
          <p:cNvPr id="20" name="Text 13"/>
          <p:cNvSpPr/>
          <p:nvPr/>
        </p:nvSpPr>
        <p:spPr>
          <a:xfrm>
            <a:off x="1097280" y="5166360"/>
            <a:ext cx="10241280" cy="1005840"/>
          </a:xfrm>
          <a:prstGeom prst="rect">
            <a:avLst/>
          </a:prstGeom>
          <a:noFill/>
          <a:ln/>
        </p:spPr>
        <p:txBody>
          <a:bodyPr wrap="square" lIns="0" tIns="0" rIns="0" bIns="0" rtlCol="0" anchor="ctr"/>
          <a:lstStyle/>
          <a:p>
            <a:pPr marL="0" indent="0">
              <a:buNone/>
            </a:pPr>
            <a:r>
              <a:rPr lang="en-US" sz="4400" b="1" dirty="0">
                <a:solidFill>
                  <a:srgbClr val="0F172A"/>
                </a:solidFill>
                <a:latin typeface="Trebuchet MS" pitchFamily="34" charset="0"/>
                <a:ea typeface="Trebuchet MS" pitchFamily="34" charset="-122"/>
                <a:cs typeface="Trebuchet MS" pitchFamily="34" charset="-120"/>
              </a:rPr>
              <a:t>51%</a:t>
            </a:r>
            <a:r>
              <a:rPr lang="en-US" sz="1800" dirty="0">
                <a:solidFill>
                  <a:srgbClr val="475569"/>
                </a:solidFill>
                <a:latin typeface="Arial" pitchFamily="34" charset="0"/>
                <a:ea typeface="Arial" pitchFamily="34" charset="-122"/>
                <a:cs typeface="Arial" pitchFamily="34" charset="-120"/>
              </a:rPr>
              <a:t>  hands-on labs across the course</a:t>
            </a:r>
            <a:endParaRPr lang="en-US" sz="4400" dirty="0"/>
          </a:p>
        </p:txBody>
      </p:sp>
      <p:sp>
        <p:nvSpPr>
          <p:cNvPr id="21" name="Text 1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2" name="Text 1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lab repo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Clone it now if you haven't already.</a:t>
            </a:r>
            <a:endParaRPr lang="en-US" sz="1400" dirty="0"/>
          </a:p>
        </p:txBody>
      </p:sp>
      <p:sp>
        <p:nvSpPr>
          <p:cNvPr id="5" name="Shape 3"/>
          <p:cNvSpPr/>
          <p:nvPr/>
        </p:nvSpPr>
        <p:spPr>
          <a:xfrm>
            <a:off x="777240" y="1645920"/>
            <a:ext cx="10607040" cy="1463040"/>
          </a:xfrm>
          <a:prstGeom prst="rect">
            <a:avLst/>
          </a:prstGeom>
          <a:solidFill>
            <a:srgbClr val="1E2A47"/>
          </a:solidFill>
          <a:ln w="12700">
            <a:solidFill>
              <a:srgbClr val="1E2A47"/>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874520"/>
            <a:ext cx="914400" cy="914400"/>
          </a:xfrm>
          <a:prstGeom prst="rect">
            <a:avLst/>
          </a:prstGeom>
        </p:spPr>
      </p:pic>
      <p:sp>
        <p:nvSpPr>
          <p:cNvPr id="7" name="Text 4"/>
          <p:cNvSpPr/>
          <p:nvPr/>
        </p:nvSpPr>
        <p:spPr>
          <a:xfrm>
            <a:off x="2194560" y="1828800"/>
            <a:ext cx="9144000" cy="548640"/>
          </a:xfrm>
          <a:prstGeom prst="rect">
            <a:avLst/>
          </a:prstGeom>
          <a:noFill/>
          <a:ln/>
        </p:spPr>
        <p:txBody>
          <a:bodyPr wrap="square" lIns="0" tIns="0" rIns="0" bIns="0" rtlCol="0" anchor="t"/>
          <a:lstStyle/>
          <a:p>
            <a:pPr marL="0" indent="0">
              <a:buNone/>
            </a:pPr>
            <a:r>
              <a:rPr lang="en-US" sz="2200" b="1" dirty="0">
                <a:solidFill>
                  <a:srgbClr val="FFFFFF"/>
                </a:solidFill>
                <a:latin typeface="Courier New" pitchFamily="34" charset="0"/>
                <a:ea typeface="Courier New" pitchFamily="34" charset="-122"/>
                <a:cs typeface="Courier New" pitchFamily="34" charset="-120"/>
              </a:rPr>
              <a:t>github.com/chrisminnick/advanced-react-19</a:t>
            </a:r>
            <a:endParaRPr lang="en-US" sz="2200" dirty="0"/>
          </a:p>
        </p:txBody>
      </p:sp>
      <p:sp>
        <p:nvSpPr>
          <p:cNvPr id="8" name="Text 5"/>
          <p:cNvSpPr/>
          <p:nvPr/>
        </p:nvSpPr>
        <p:spPr>
          <a:xfrm>
            <a:off x="2194560" y="2377440"/>
            <a:ext cx="9144000" cy="457200"/>
          </a:xfrm>
          <a:prstGeom prst="rect">
            <a:avLst/>
          </a:prstGeom>
          <a:noFill/>
          <a:ln/>
        </p:spPr>
        <p:txBody>
          <a:bodyPr wrap="square" lIns="0" tIns="0" rIns="0" bIns="0" rtlCol="0" anchor="ctr"/>
          <a:lstStyle/>
          <a:p>
            <a:pPr marL="0" indent="0">
              <a:buNone/>
            </a:pPr>
            <a:r>
              <a:rPr lang="en-US" sz="1300" i="1" dirty="0">
                <a:solidFill>
                  <a:srgbClr val="CBF1F6"/>
                </a:solidFill>
                <a:latin typeface="Arial" pitchFamily="34" charset="0"/>
                <a:ea typeface="Arial" pitchFamily="34" charset="-122"/>
                <a:cs typeface="Arial" pitchFamily="34" charset="-120"/>
              </a:rPr>
              <a:t>Version 2.0   ·   Lab starters in lab-files/lab-01 .. lab-08   ·   Reference solutions in solutions/</a:t>
            </a:r>
            <a:endParaRPr lang="en-US" sz="1300" dirty="0"/>
          </a:p>
        </p:txBody>
      </p:sp>
      <p:sp>
        <p:nvSpPr>
          <p:cNvPr id="9" name="Shape 6"/>
          <p:cNvSpPr/>
          <p:nvPr/>
        </p:nvSpPr>
        <p:spPr>
          <a:xfrm>
            <a:off x="777240" y="3383280"/>
            <a:ext cx="3611880" cy="24688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1005840" y="3566160"/>
            <a:ext cx="502920" cy="502920"/>
          </a:xfrm>
          <a:prstGeom prst="rect">
            <a:avLst/>
          </a:prstGeom>
        </p:spPr>
      </p:pic>
      <p:sp>
        <p:nvSpPr>
          <p:cNvPr id="11" name="Text 7"/>
          <p:cNvSpPr/>
          <p:nvPr/>
        </p:nvSpPr>
        <p:spPr>
          <a:xfrm>
            <a:off x="1645920" y="3566160"/>
            <a:ext cx="274320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Starter projects</a:t>
            </a:r>
            <a:endParaRPr lang="en-US" sz="1400" dirty="0"/>
          </a:p>
        </p:txBody>
      </p:sp>
      <p:sp>
        <p:nvSpPr>
          <p:cNvPr id="12" name="Text 8"/>
          <p:cNvSpPr/>
          <p:nvPr/>
        </p:nvSpPr>
        <p:spPr>
          <a:xfrm>
            <a:off x="1005840" y="4206240"/>
            <a:ext cx="3291840" cy="1554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Per-lab folders in lab-files/lab-01 through lab-08 — each fully self-contained</a:t>
            </a:r>
            <a:endParaRPr lang="en-US" sz="1200" dirty="0"/>
          </a:p>
        </p:txBody>
      </p:sp>
      <p:sp>
        <p:nvSpPr>
          <p:cNvPr id="13" name="Shape 9"/>
          <p:cNvSpPr/>
          <p:nvPr/>
        </p:nvSpPr>
        <p:spPr>
          <a:xfrm>
            <a:off x="4617720" y="3383280"/>
            <a:ext cx="3611880" cy="24688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4846320" y="3566160"/>
            <a:ext cx="502920" cy="502920"/>
          </a:xfrm>
          <a:prstGeom prst="rect">
            <a:avLst/>
          </a:prstGeom>
        </p:spPr>
      </p:pic>
      <p:sp>
        <p:nvSpPr>
          <p:cNvPr id="15" name="Text 10"/>
          <p:cNvSpPr/>
          <p:nvPr/>
        </p:nvSpPr>
        <p:spPr>
          <a:xfrm>
            <a:off x="5486400" y="3566160"/>
            <a:ext cx="274320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Reference solutions</a:t>
            </a:r>
            <a:endParaRPr lang="en-US" sz="1400" dirty="0"/>
          </a:p>
        </p:txBody>
      </p:sp>
      <p:sp>
        <p:nvSpPr>
          <p:cNvPr id="16" name="Text 11"/>
          <p:cNvSpPr/>
          <p:nvPr/>
        </p:nvSpPr>
        <p:spPr>
          <a:xfrm>
            <a:off x="4846320" y="4206240"/>
            <a:ext cx="3291840" cy="1554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One folder per lab under solutions/ — sometimes more than one when there's a pick-your-tool moment</a:t>
            </a:r>
            <a:endParaRPr lang="en-US" sz="1200" dirty="0"/>
          </a:p>
        </p:txBody>
      </p:sp>
      <p:sp>
        <p:nvSpPr>
          <p:cNvPr id="17" name="Shape 12"/>
          <p:cNvSpPr/>
          <p:nvPr/>
        </p:nvSpPr>
        <p:spPr>
          <a:xfrm>
            <a:off x="8458200" y="3383280"/>
            <a:ext cx="3611880" cy="24688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8686800" y="3566160"/>
            <a:ext cx="502920" cy="502920"/>
          </a:xfrm>
          <a:prstGeom prst="rect">
            <a:avLst/>
          </a:prstGeom>
        </p:spPr>
      </p:pic>
      <p:sp>
        <p:nvSpPr>
          <p:cNvPr id="19" name="Text 13"/>
          <p:cNvSpPr/>
          <p:nvPr/>
        </p:nvSpPr>
        <p:spPr>
          <a:xfrm>
            <a:off x="9326880" y="3566160"/>
            <a:ext cx="274320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Per-project READMEs</a:t>
            </a:r>
            <a:endParaRPr lang="en-US" sz="1400" dirty="0"/>
          </a:p>
        </p:txBody>
      </p:sp>
      <p:sp>
        <p:nvSpPr>
          <p:cNvPr id="20" name="Text 14"/>
          <p:cNvSpPr/>
          <p:nvPr/>
        </p:nvSpPr>
        <p:spPr>
          <a:xfrm>
            <a:off x="8686800" y="4206240"/>
            <a:ext cx="3291840" cy="1554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Setup, run instructions, and what each lab folder contains</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assistants in this course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Tool-agnostic. Use what you use.</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59669"/>
                </a:solidFill>
                <a:latin typeface="Trebuchet MS" pitchFamily="34" charset="0"/>
                <a:ea typeface="Trebuchet MS" pitchFamily="34" charset="-122"/>
                <a:cs typeface="Trebuchet MS" pitchFamily="34" charset="-120"/>
              </a:rPr>
              <a:t>What we're doing</a:t>
            </a:r>
            <a:endParaRPr lang="en-US" sz="1800" dirty="0"/>
          </a:p>
        </p:txBody>
      </p:sp>
      <p:sp>
        <p:nvSpPr>
          <p:cNvPr id="7" name="Text 5"/>
          <p:cNvSpPr/>
          <p:nvPr/>
        </p:nvSpPr>
        <p:spPr>
          <a:xfrm>
            <a:off x="960120" y="2514600"/>
            <a:ext cx="502920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as a real part of the workflow — every day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Building review skills: spotting what AI gets wrong about React</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A focused module on Day 3 about working with AI well</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Comparing tools when it's instructive, but not picking favorites</a:t>
            </a:r>
            <a:endParaRPr lang="en-US" sz="1300" dirty="0"/>
          </a:p>
        </p:txBody>
      </p:sp>
      <p:sp>
        <p:nvSpPr>
          <p:cNvPr id="8" name="Shape 6"/>
          <p:cNvSpPr/>
          <p:nvPr/>
        </p:nvSpPr>
        <p:spPr>
          <a:xfrm>
            <a:off x="6355080" y="1691640"/>
            <a:ext cx="5029200" cy="420624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DC2626"/>
                </a:solidFill>
                <a:latin typeface="Trebuchet MS" pitchFamily="34" charset="0"/>
                <a:ea typeface="Trebuchet MS" pitchFamily="34" charset="-122"/>
                <a:cs typeface="Trebuchet MS" pitchFamily="34" charset="-120"/>
              </a:rPr>
              <a:t>What we're not doing</a:t>
            </a:r>
            <a:endParaRPr lang="en-US" sz="1800" dirty="0"/>
          </a:p>
        </p:txBody>
      </p:sp>
      <p:sp>
        <p:nvSpPr>
          <p:cNvPr id="10" name="Text 8"/>
          <p:cNvSpPr/>
          <p:nvPr/>
        </p:nvSpPr>
        <p:spPr>
          <a:xfrm>
            <a:off x="6537960" y="25146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Banning AI in labs — that would be teaching to a 2022 reality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Required tooling — bring Cursor, Copilot, Claude Code, or whatever</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output as authoritative — we'll review every line</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Pretending AI replaces understanding the framework</a:t>
            </a:r>
            <a:endParaRPr lang="en-US" sz="13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The </a:t>
            </a:r>
            <a:r>
              <a:rPr lang="en-US" sz="4800" b="1">
                <a:solidFill>
                  <a:srgbClr val="FFFFFF"/>
                </a:solidFill>
                <a:latin typeface="Trebuchet MS" pitchFamily="34" charset="0"/>
                <a:ea typeface="Trebuchet MS" pitchFamily="34" charset="-122"/>
                <a:cs typeface="Trebuchet MS" pitchFamily="34" charset="-120"/>
              </a:rPr>
              <a:t>2026 </a:t>
            </a:r>
            <a:r>
              <a:rPr lang="en-US" sz="4800" b="1" dirty="0">
                <a:solidFill>
                  <a:srgbClr val="FFFFFF"/>
                </a:solidFill>
                <a:latin typeface="Trebuchet MS" pitchFamily="34" charset="0"/>
                <a:ea typeface="Trebuchet MS" pitchFamily="34" charset="-122"/>
                <a:cs typeface="Trebuchet MS" pitchFamily="34" charset="-120"/>
              </a:rPr>
              <a:t>React Landscape</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React 19, the Compiler, frameworks, and the AI layer on top.</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Where we left off — React 18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Released March 2022. The era most production code is still written for.</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719072"/>
            <a:ext cx="548640" cy="54864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Concurrent rendering</a:t>
            </a:r>
            <a:endParaRPr lang="en-US" sz="1500" dirty="0"/>
          </a:p>
        </p:txBody>
      </p:sp>
      <p:sp>
        <p:nvSpPr>
          <p:cNvPr id="8" name="Text 5"/>
          <p:cNvSpPr/>
          <p:nvPr/>
        </p:nvSpPr>
        <p:spPr>
          <a:xfrm>
            <a:off x="1691640" y="1965960"/>
            <a:ext cx="9601200" cy="411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Suspense for code splitting, useTransition, useDeferredValue</a:t>
            </a:r>
            <a:endParaRPr lang="en-US" sz="120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770632"/>
            <a:ext cx="548640" cy="54864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Automatic batching</a:t>
            </a:r>
            <a:endParaRPr lang="en-US" sz="1500" dirty="0"/>
          </a:p>
        </p:txBody>
      </p:sp>
      <p:sp>
        <p:nvSpPr>
          <p:cNvPr id="12" name="Text 8"/>
          <p:cNvSpPr/>
          <p:nvPr/>
        </p:nvSpPr>
        <p:spPr>
          <a:xfrm>
            <a:off x="1691640" y="3017520"/>
            <a:ext cx="9601200" cy="411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Promise callbacks, timeouts, and native handlers all batch updates</a:t>
            </a:r>
            <a:endParaRPr lang="en-US" sz="120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3822192"/>
            <a:ext cx="548640" cy="54864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Streaming SSR</a:t>
            </a:r>
            <a:endParaRPr lang="en-US" sz="1500" dirty="0"/>
          </a:p>
        </p:txBody>
      </p:sp>
      <p:sp>
        <p:nvSpPr>
          <p:cNvPr id="16" name="Text 11"/>
          <p:cNvSpPr/>
          <p:nvPr/>
        </p:nvSpPr>
        <p:spPr>
          <a:xfrm>
            <a:off x="1691640" y="4069080"/>
            <a:ext cx="9601200" cy="411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renderToPipeableStream — but you wired everything yourself</a:t>
            </a:r>
            <a:endParaRPr lang="en-US" sz="120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4873752"/>
            <a:ext cx="548640" cy="54864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useId, useSyncExternalStore</a:t>
            </a:r>
            <a:endParaRPr lang="en-US" sz="1500" dirty="0"/>
          </a:p>
        </p:txBody>
      </p:sp>
      <p:sp>
        <p:nvSpPr>
          <p:cNvPr id="20" name="Text 14"/>
          <p:cNvSpPr/>
          <p:nvPr/>
        </p:nvSpPr>
        <p:spPr>
          <a:xfrm>
            <a:off x="1691640" y="5120640"/>
            <a:ext cx="9601200" cy="41148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Hydration-safe IDs and clean integration with non-React state</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React 19 — what shipped, when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From experimental Server Components to a stable platform.</a:t>
            </a:r>
            <a:endParaRPr lang="en-US" sz="1400" dirty="0"/>
          </a:p>
        </p:txBody>
      </p:sp>
      <p:sp>
        <p:nvSpPr>
          <p:cNvPr id="5" name="Shape 3"/>
          <p:cNvSpPr/>
          <p:nvPr/>
        </p:nvSpPr>
        <p:spPr>
          <a:xfrm>
            <a:off x="1417320" y="3108960"/>
            <a:ext cx="9326880" cy="36576"/>
          </a:xfrm>
          <a:prstGeom prst="rect">
            <a:avLst/>
          </a:prstGeom>
          <a:solidFill>
            <a:srgbClr val="00B8D9"/>
          </a:solidFill>
          <a:ln w="12700">
            <a:solidFill>
              <a:srgbClr val="00B8D9"/>
            </a:solidFill>
            <a:prstDash val="solid"/>
          </a:ln>
        </p:spPr>
        <p:txBody>
          <a:bodyPr/>
          <a:lstStyle/>
          <a:p>
            <a:endParaRPr lang="en-US"/>
          </a:p>
        </p:txBody>
      </p:sp>
      <p:sp>
        <p:nvSpPr>
          <p:cNvPr id="6" name="Shape 4"/>
          <p:cNvSpPr/>
          <p:nvPr/>
        </p:nvSpPr>
        <p:spPr>
          <a:xfrm>
            <a:off x="1417320" y="2990088"/>
            <a:ext cx="274320" cy="274320"/>
          </a:xfrm>
          <a:prstGeom prst="ellipse">
            <a:avLst/>
          </a:prstGeom>
          <a:solidFill>
            <a:srgbClr val="00B8D9"/>
          </a:solidFill>
          <a:ln w="12700">
            <a:solidFill>
              <a:srgbClr val="1E2A47"/>
            </a:solidFill>
            <a:prstDash val="solid"/>
          </a:ln>
        </p:spPr>
        <p:txBody>
          <a:bodyPr/>
          <a:lstStyle/>
          <a:p>
            <a:endParaRPr lang="en-US"/>
          </a:p>
        </p:txBody>
      </p:sp>
      <p:sp>
        <p:nvSpPr>
          <p:cNvPr id="7" name="Text 5"/>
          <p:cNvSpPr/>
          <p:nvPr/>
        </p:nvSpPr>
        <p:spPr>
          <a:xfrm>
            <a:off x="320040" y="2331720"/>
            <a:ext cx="2468880" cy="365760"/>
          </a:xfrm>
          <a:prstGeom prst="rect">
            <a:avLst/>
          </a:prstGeom>
          <a:noFill/>
          <a:ln/>
        </p:spPr>
        <p:txBody>
          <a:bodyPr wrap="square" lIns="0" tIns="0" rIns="0" bIns="0" rtlCol="0" anchor="ctr"/>
          <a:lstStyle/>
          <a:p>
            <a:pPr marL="0" indent="0" algn="ctr">
              <a:buNone/>
            </a:pPr>
            <a:r>
              <a:rPr lang="en-US" sz="1200" b="1" dirty="0">
                <a:solidFill>
                  <a:srgbClr val="0F172A"/>
                </a:solidFill>
                <a:latin typeface="Trebuchet MS" pitchFamily="34" charset="0"/>
                <a:ea typeface="Trebuchet MS" pitchFamily="34" charset="-122"/>
                <a:cs typeface="Trebuchet MS" pitchFamily="34" charset="-120"/>
              </a:rPr>
              <a:t>March 2022</a:t>
            </a:r>
            <a:endParaRPr lang="en-US" sz="1200" dirty="0"/>
          </a:p>
        </p:txBody>
      </p:sp>
      <p:sp>
        <p:nvSpPr>
          <p:cNvPr id="8" name="Text 6"/>
          <p:cNvSpPr/>
          <p:nvPr/>
        </p:nvSpPr>
        <p:spPr>
          <a:xfrm>
            <a:off x="320040" y="3383280"/>
            <a:ext cx="2468880" cy="640080"/>
          </a:xfrm>
          <a:prstGeom prst="rect">
            <a:avLst/>
          </a:prstGeom>
          <a:noFill/>
          <a:ln/>
        </p:spPr>
        <p:txBody>
          <a:bodyPr wrap="square" lIns="0" tIns="0" rIns="0" bIns="0" rtlCol="0" anchor="ctr"/>
          <a:lstStyle/>
          <a:p>
            <a:pPr marL="0" indent="0" algn="ctr">
              <a:buNone/>
            </a:pPr>
            <a:r>
              <a:rPr lang="en-US" sz="1100" dirty="0">
                <a:solidFill>
                  <a:srgbClr val="475569"/>
                </a:solidFill>
                <a:latin typeface="Arial" pitchFamily="34" charset="0"/>
                <a:ea typeface="Arial" pitchFamily="34" charset="-122"/>
                <a:cs typeface="Arial" pitchFamily="34" charset="-120"/>
              </a:rPr>
              <a:t>React 18 stable</a:t>
            </a:r>
            <a:endParaRPr lang="en-US" sz="1100" dirty="0"/>
          </a:p>
        </p:txBody>
      </p:sp>
      <p:sp>
        <p:nvSpPr>
          <p:cNvPr id="9" name="Shape 7"/>
          <p:cNvSpPr/>
          <p:nvPr/>
        </p:nvSpPr>
        <p:spPr>
          <a:xfrm>
            <a:off x="3749040" y="2990088"/>
            <a:ext cx="274320" cy="274320"/>
          </a:xfrm>
          <a:prstGeom prst="ellipse">
            <a:avLst/>
          </a:prstGeom>
          <a:solidFill>
            <a:srgbClr val="00B8D9"/>
          </a:solidFill>
          <a:ln w="12700">
            <a:solidFill>
              <a:srgbClr val="1E2A47"/>
            </a:solidFill>
            <a:prstDash val="solid"/>
          </a:ln>
        </p:spPr>
        <p:txBody>
          <a:bodyPr/>
          <a:lstStyle/>
          <a:p>
            <a:endParaRPr lang="en-US"/>
          </a:p>
        </p:txBody>
      </p:sp>
      <p:sp>
        <p:nvSpPr>
          <p:cNvPr id="10" name="Text 8"/>
          <p:cNvSpPr/>
          <p:nvPr/>
        </p:nvSpPr>
        <p:spPr>
          <a:xfrm>
            <a:off x="2651760" y="2331720"/>
            <a:ext cx="2468880" cy="365760"/>
          </a:xfrm>
          <a:prstGeom prst="rect">
            <a:avLst/>
          </a:prstGeom>
          <a:noFill/>
          <a:ln/>
        </p:spPr>
        <p:txBody>
          <a:bodyPr wrap="square" lIns="0" tIns="0" rIns="0" bIns="0" rtlCol="0" anchor="ctr"/>
          <a:lstStyle/>
          <a:p>
            <a:pPr marL="0" indent="0" algn="ctr">
              <a:buNone/>
            </a:pPr>
            <a:r>
              <a:rPr lang="en-US" sz="1200" b="1" dirty="0">
                <a:solidFill>
                  <a:srgbClr val="0F172A"/>
                </a:solidFill>
                <a:latin typeface="Trebuchet MS" pitchFamily="34" charset="0"/>
                <a:ea typeface="Trebuchet MS" pitchFamily="34" charset="-122"/>
                <a:cs typeface="Trebuchet MS" pitchFamily="34" charset="-120"/>
              </a:rPr>
              <a:t>Late 2023</a:t>
            </a:r>
            <a:endParaRPr lang="en-US" sz="1200" dirty="0"/>
          </a:p>
        </p:txBody>
      </p:sp>
      <p:sp>
        <p:nvSpPr>
          <p:cNvPr id="11" name="Text 9"/>
          <p:cNvSpPr/>
          <p:nvPr/>
        </p:nvSpPr>
        <p:spPr>
          <a:xfrm>
            <a:off x="2651760" y="3383280"/>
            <a:ext cx="2468880" cy="640080"/>
          </a:xfrm>
          <a:prstGeom prst="rect">
            <a:avLst/>
          </a:prstGeom>
          <a:noFill/>
          <a:ln/>
        </p:spPr>
        <p:txBody>
          <a:bodyPr wrap="square" lIns="0" tIns="0" rIns="0" bIns="0" rtlCol="0" anchor="ctr"/>
          <a:lstStyle/>
          <a:p>
            <a:pPr marL="0" indent="0" algn="ctr">
              <a:buNone/>
            </a:pPr>
            <a:r>
              <a:rPr lang="en-US" sz="1100" dirty="0">
                <a:solidFill>
                  <a:srgbClr val="475569"/>
                </a:solidFill>
                <a:latin typeface="Arial" pitchFamily="34" charset="0"/>
                <a:ea typeface="Arial" pitchFamily="34" charset="-122"/>
                <a:cs typeface="Arial" pitchFamily="34" charset="-120"/>
              </a:rPr>
              <a:t>Server Components in canary</a:t>
            </a:r>
            <a:endParaRPr lang="en-US" sz="1100" dirty="0"/>
          </a:p>
        </p:txBody>
      </p:sp>
      <p:sp>
        <p:nvSpPr>
          <p:cNvPr id="12" name="Shape 10"/>
          <p:cNvSpPr/>
          <p:nvPr/>
        </p:nvSpPr>
        <p:spPr>
          <a:xfrm>
            <a:off x="6080760" y="2990088"/>
            <a:ext cx="274320" cy="274320"/>
          </a:xfrm>
          <a:prstGeom prst="ellipse">
            <a:avLst/>
          </a:prstGeom>
          <a:solidFill>
            <a:srgbClr val="00B8D9"/>
          </a:solidFill>
          <a:ln w="12700">
            <a:solidFill>
              <a:srgbClr val="1E2A47"/>
            </a:solidFill>
            <a:prstDash val="solid"/>
          </a:ln>
        </p:spPr>
        <p:txBody>
          <a:bodyPr/>
          <a:lstStyle/>
          <a:p>
            <a:endParaRPr lang="en-US"/>
          </a:p>
        </p:txBody>
      </p:sp>
      <p:sp>
        <p:nvSpPr>
          <p:cNvPr id="13" name="Text 11"/>
          <p:cNvSpPr/>
          <p:nvPr/>
        </p:nvSpPr>
        <p:spPr>
          <a:xfrm>
            <a:off x="4983480" y="2331720"/>
            <a:ext cx="2468880" cy="365760"/>
          </a:xfrm>
          <a:prstGeom prst="rect">
            <a:avLst/>
          </a:prstGeom>
          <a:noFill/>
          <a:ln/>
        </p:spPr>
        <p:txBody>
          <a:bodyPr wrap="square" lIns="0" tIns="0" rIns="0" bIns="0" rtlCol="0" anchor="ctr"/>
          <a:lstStyle/>
          <a:p>
            <a:pPr marL="0" indent="0" algn="ctr">
              <a:buNone/>
            </a:pPr>
            <a:r>
              <a:rPr lang="en-US" sz="1200" b="1" dirty="0">
                <a:solidFill>
                  <a:srgbClr val="0F172A"/>
                </a:solidFill>
                <a:latin typeface="Trebuchet MS" pitchFamily="34" charset="0"/>
                <a:ea typeface="Trebuchet MS" pitchFamily="34" charset="-122"/>
                <a:cs typeface="Trebuchet MS" pitchFamily="34" charset="-120"/>
              </a:rPr>
              <a:t>April 2024</a:t>
            </a:r>
            <a:endParaRPr lang="en-US" sz="1200" dirty="0"/>
          </a:p>
        </p:txBody>
      </p:sp>
      <p:sp>
        <p:nvSpPr>
          <p:cNvPr id="14" name="Text 12"/>
          <p:cNvSpPr/>
          <p:nvPr/>
        </p:nvSpPr>
        <p:spPr>
          <a:xfrm>
            <a:off x="4983480" y="3383280"/>
            <a:ext cx="2468880" cy="640080"/>
          </a:xfrm>
          <a:prstGeom prst="rect">
            <a:avLst/>
          </a:prstGeom>
          <a:noFill/>
          <a:ln/>
        </p:spPr>
        <p:txBody>
          <a:bodyPr wrap="square" lIns="0" tIns="0" rIns="0" bIns="0" rtlCol="0" anchor="ctr"/>
          <a:lstStyle/>
          <a:p>
            <a:pPr marL="0" indent="0" algn="ctr">
              <a:buNone/>
            </a:pPr>
            <a:r>
              <a:rPr lang="en-US" sz="1100" dirty="0">
                <a:solidFill>
                  <a:srgbClr val="475569"/>
                </a:solidFill>
                <a:latin typeface="Arial" pitchFamily="34" charset="0"/>
                <a:ea typeface="Arial" pitchFamily="34" charset="-122"/>
                <a:cs typeface="Arial" pitchFamily="34" charset="-120"/>
              </a:rPr>
              <a:t>React 19 RC announced</a:t>
            </a:r>
            <a:endParaRPr lang="en-US" sz="1100" dirty="0"/>
          </a:p>
        </p:txBody>
      </p:sp>
      <p:sp>
        <p:nvSpPr>
          <p:cNvPr id="15" name="Shape 13"/>
          <p:cNvSpPr/>
          <p:nvPr/>
        </p:nvSpPr>
        <p:spPr>
          <a:xfrm>
            <a:off x="8412480" y="2990088"/>
            <a:ext cx="274320" cy="274320"/>
          </a:xfrm>
          <a:prstGeom prst="ellipse">
            <a:avLst/>
          </a:prstGeom>
          <a:solidFill>
            <a:srgbClr val="00B8D9"/>
          </a:solidFill>
          <a:ln w="12700">
            <a:solidFill>
              <a:srgbClr val="1E2A47"/>
            </a:solidFill>
            <a:prstDash val="solid"/>
          </a:ln>
        </p:spPr>
        <p:txBody>
          <a:bodyPr/>
          <a:lstStyle/>
          <a:p>
            <a:endParaRPr lang="en-US"/>
          </a:p>
        </p:txBody>
      </p:sp>
      <p:sp>
        <p:nvSpPr>
          <p:cNvPr id="16" name="Text 14"/>
          <p:cNvSpPr/>
          <p:nvPr/>
        </p:nvSpPr>
        <p:spPr>
          <a:xfrm>
            <a:off x="7315200" y="2331720"/>
            <a:ext cx="2468880" cy="365760"/>
          </a:xfrm>
          <a:prstGeom prst="rect">
            <a:avLst/>
          </a:prstGeom>
          <a:noFill/>
          <a:ln/>
        </p:spPr>
        <p:txBody>
          <a:bodyPr wrap="square" lIns="0" tIns="0" rIns="0" bIns="0" rtlCol="0" anchor="ctr"/>
          <a:lstStyle/>
          <a:p>
            <a:pPr marL="0" indent="0" algn="ctr">
              <a:buNone/>
            </a:pPr>
            <a:r>
              <a:rPr lang="en-US" sz="1200" b="1" dirty="0">
                <a:solidFill>
                  <a:srgbClr val="0F172A"/>
                </a:solidFill>
                <a:latin typeface="Trebuchet MS" pitchFamily="34" charset="0"/>
                <a:ea typeface="Trebuchet MS" pitchFamily="34" charset="-122"/>
                <a:cs typeface="Trebuchet MS" pitchFamily="34" charset="-120"/>
              </a:rPr>
              <a:t>Dec 5, 2024</a:t>
            </a:r>
            <a:endParaRPr lang="en-US" sz="1200" dirty="0"/>
          </a:p>
        </p:txBody>
      </p:sp>
      <p:sp>
        <p:nvSpPr>
          <p:cNvPr id="17" name="Text 15"/>
          <p:cNvSpPr/>
          <p:nvPr/>
        </p:nvSpPr>
        <p:spPr>
          <a:xfrm>
            <a:off x="7315200" y="3383280"/>
            <a:ext cx="2468880" cy="640080"/>
          </a:xfrm>
          <a:prstGeom prst="rect">
            <a:avLst/>
          </a:prstGeom>
          <a:noFill/>
          <a:ln/>
        </p:spPr>
        <p:txBody>
          <a:bodyPr wrap="square" lIns="0" tIns="0" rIns="0" bIns="0" rtlCol="0" anchor="ctr"/>
          <a:lstStyle/>
          <a:p>
            <a:pPr marL="0" indent="0" algn="ctr">
              <a:buNone/>
            </a:pPr>
            <a:r>
              <a:rPr lang="en-US" sz="1100" dirty="0">
                <a:solidFill>
                  <a:srgbClr val="475569"/>
                </a:solidFill>
                <a:latin typeface="Arial" pitchFamily="34" charset="0"/>
                <a:ea typeface="Arial" pitchFamily="34" charset="-122"/>
                <a:cs typeface="Arial" pitchFamily="34" charset="-120"/>
              </a:rPr>
              <a:t>React 19 stable</a:t>
            </a:r>
            <a:endParaRPr lang="en-US" sz="1100" dirty="0"/>
          </a:p>
        </p:txBody>
      </p:sp>
      <p:sp>
        <p:nvSpPr>
          <p:cNvPr id="18" name="Shape 16"/>
          <p:cNvSpPr/>
          <p:nvPr/>
        </p:nvSpPr>
        <p:spPr>
          <a:xfrm>
            <a:off x="10744200" y="2990088"/>
            <a:ext cx="274320" cy="274320"/>
          </a:xfrm>
          <a:prstGeom prst="ellipse">
            <a:avLst/>
          </a:prstGeom>
          <a:solidFill>
            <a:srgbClr val="00B8D9"/>
          </a:solidFill>
          <a:ln w="12700">
            <a:solidFill>
              <a:srgbClr val="1E2A47"/>
            </a:solidFill>
            <a:prstDash val="solid"/>
          </a:ln>
        </p:spPr>
        <p:txBody>
          <a:bodyPr/>
          <a:lstStyle/>
          <a:p>
            <a:endParaRPr lang="en-US"/>
          </a:p>
        </p:txBody>
      </p:sp>
      <p:sp>
        <p:nvSpPr>
          <p:cNvPr id="19" name="Text 17"/>
          <p:cNvSpPr/>
          <p:nvPr/>
        </p:nvSpPr>
        <p:spPr>
          <a:xfrm>
            <a:off x="9646920" y="2331720"/>
            <a:ext cx="2468880" cy="365760"/>
          </a:xfrm>
          <a:prstGeom prst="rect">
            <a:avLst/>
          </a:prstGeom>
          <a:noFill/>
          <a:ln/>
        </p:spPr>
        <p:txBody>
          <a:bodyPr wrap="square" lIns="0" tIns="0" rIns="0" bIns="0" rtlCol="0" anchor="ctr"/>
          <a:lstStyle/>
          <a:p>
            <a:pPr marL="0" indent="0" algn="ctr">
              <a:buNone/>
            </a:pPr>
            <a:r>
              <a:rPr lang="en-US" sz="1200" b="1" dirty="0">
                <a:solidFill>
                  <a:srgbClr val="0F172A"/>
                </a:solidFill>
                <a:latin typeface="Trebuchet MS" pitchFamily="34" charset="0"/>
                <a:ea typeface="Trebuchet MS" pitchFamily="34" charset="-122"/>
                <a:cs typeface="Trebuchet MS" pitchFamily="34" charset="-120"/>
              </a:rPr>
              <a:t>2025+</a:t>
            </a:r>
            <a:endParaRPr lang="en-US" sz="1200" dirty="0"/>
          </a:p>
        </p:txBody>
      </p:sp>
      <p:sp>
        <p:nvSpPr>
          <p:cNvPr id="20" name="Text 18"/>
          <p:cNvSpPr/>
          <p:nvPr/>
        </p:nvSpPr>
        <p:spPr>
          <a:xfrm>
            <a:off x="9646920" y="3383280"/>
            <a:ext cx="2468880" cy="640080"/>
          </a:xfrm>
          <a:prstGeom prst="rect">
            <a:avLst/>
          </a:prstGeom>
          <a:noFill/>
          <a:ln/>
        </p:spPr>
        <p:txBody>
          <a:bodyPr wrap="square" lIns="0" tIns="0" rIns="0" bIns="0" rtlCol="0" anchor="ctr"/>
          <a:lstStyle/>
          <a:p>
            <a:pPr marL="0" indent="0" algn="ctr">
              <a:buNone/>
            </a:pPr>
            <a:r>
              <a:rPr lang="en-US" sz="1100" dirty="0">
                <a:solidFill>
                  <a:srgbClr val="475569"/>
                </a:solidFill>
                <a:latin typeface="Arial" pitchFamily="34" charset="0"/>
                <a:ea typeface="Arial" pitchFamily="34" charset="-122"/>
                <a:cs typeface="Arial" pitchFamily="34" charset="-120"/>
              </a:rPr>
              <a:t>Compiler GA, ecosystem catches up</a:t>
            </a:r>
            <a:endParaRPr lang="en-US" sz="1100" dirty="0"/>
          </a:p>
        </p:txBody>
      </p:sp>
      <p:sp>
        <p:nvSpPr>
          <p:cNvPr id="21" name="Shape 19"/>
          <p:cNvSpPr/>
          <p:nvPr/>
        </p:nvSpPr>
        <p:spPr>
          <a:xfrm>
            <a:off x="777240" y="4937760"/>
            <a:ext cx="10607040" cy="1280160"/>
          </a:xfrm>
          <a:prstGeom prst="rect">
            <a:avLst/>
          </a:prstGeom>
          <a:solidFill>
            <a:srgbClr val="CBF1F6"/>
          </a:solidFill>
          <a:ln w="12700">
            <a:solidFill>
              <a:srgbClr val="CBF1F6"/>
            </a:solidFill>
            <a:prstDash val="solid"/>
          </a:ln>
        </p:spPr>
        <p:txBody>
          <a:bodyPr/>
          <a:lstStyle/>
          <a:p>
            <a:endParaRPr lang="en-US"/>
          </a:p>
        </p:txBody>
      </p:sp>
      <p:sp>
        <p:nvSpPr>
          <p:cNvPr id="22" name="Text 20"/>
          <p:cNvSpPr/>
          <p:nvPr/>
        </p:nvSpPr>
        <p:spPr>
          <a:xfrm>
            <a:off x="1005840" y="4983480"/>
            <a:ext cx="10149840" cy="1188720"/>
          </a:xfrm>
          <a:prstGeom prst="rect">
            <a:avLst/>
          </a:prstGeom>
          <a:noFill/>
          <a:ln/>
        </p:spPr>
        <p:txBody>
          <a:bodyPr wrap="square" lIns="0" tIns="0" rIns="0" bIns="0" rtlCol="0" anchor="ctr"/>
          <a:lstStyle/>
          <a:p>
            <a:pPr marL="0" indent="0">
              <a:buNone/>
            </a:pPr>
            <a:r>
              <a:rPr lang="en-US" sz="1600" i="1" dirty="0">
                <a:solidFill>
                  <a:srgbClr val="0F172A"/>
                </a:solidFill>
                <a:latin typeface="Arial" pitchFamily="34" charset="0"/>
                <a:ea typeface="Arial" pitchFamily="34" charset="-122"/>
                <a:cs typeface="Arial" pitchFamily="34" charset="-120"/>
              </a:rPr>
              <a:t>React 19 is the first release with a coherent server story baked in. That's the headline.</a:t>
            </a:r>
            <a:endParaRPr lang="en-US" sz="160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What's new in React 19</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We'll touch each of these today. Hooks deep dive is next module.</a:t>
            </a:r>
            <a:endParaRPr lang="en-US" sz="1400" dirty="0"/>
          </a:p>
        </p:txBody>
      </p:sp>
      <p:sp>
        <p:nvSpPr>
          <p:cNvPr id="5" name="Shape 3"/>
          <p:cNvSpPr/>
          <p:nvPr/>
        </p:nvSpPr>
        <p:spPr>
          <a:xfrm>
            <a:off x="777240" y="1554480"/>
            <a:ext cx="3520440" cy="2011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783080"/>
            <a:ext cx="502920" cy="502920"/>
          </a:xfrm>
          <a:prstGeom prst="rect">
            <a:avLst/>
          </a:prstGeom>
        </p:spPr>
      </p:pic>
      <p:sp>
        <p:nvSpPr>
          <p:cNvPr id="7" name="Text 4"/>
          <p:cNvSpPr/>
          <p:nvPr/>
        </p:nvSpPr>
        <p:spPr>
          <a:xfrm>
            <a:off x="1645920" y="178308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Actions</a:t>
            </a:r>
            <a:endParaRPr lang="en-US" sz="1400" dirty="0"/>
          </a:p>
        </p:txBody>
      </p:sp>
      <p:sp>
        <p:nvSpPr>
          <p:cNvPr id="8" name="Text 5"/>
          <p:cNvSpPr/>
          <p:nvPr/>
        </p:nvSpPr>
        <p:spPr>
          <a:xfrm>
            <a:off x="1005840" y="242316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Functions you pass to &lt;form&gt; action props. Mutations + pending state without ceremony.</a:t>
            </a:r>
            <a:endParaRPr lang="en-US" sz="1150" dirty="0"/>
          </a:p>
        </p:txBody>
      </p:sp>
      <p:sp>
        <p:nvSpPr>
          <p:cNvPr id="9" name="Shape 6"/>
          <p:cNvSpPr/>
          <p:nvPr/>
        </p:nvSpPr>
        <p:spPr>
          <a:xfrm>
            <a:off x="4434840" y="1554480"/>
            <a:ext cx="3520440" cy="2011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663440" y="1783080"/>
            <a:ext cx="502920" cy="502920"/>
          </a:xfrm>
          <a:prstGeom prst="rect">
            <a:avLst/>
          </a:prstGeom>
        </p:spPr>
      </p:pic>
      <p:sp>
        <p:nvSpPr>
          <p:cNvPr id="11" name="Text 7"/>
          <p:cNvSpPr/>
          <p:nvPr/>
        </p:nvSpPr>
        <p:spPr>
          <a:xfrm>
            <a:off x="5303520" y="178308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New hooks</a:t>
            </a:r>
            <a:endParaRPr lang="en-US" sz="1400" dirty="0"/>
          </a:p>
        </p:txBody>
      </p:sp>
      <p:sp>
        <p:nvSpPr>
          <p:cNvPr id="12" name="Text 8"/>
          <p:cNvSpPr/>
          <p:nvPr/>
        </p:nvSpPr>
        <p:spPr>
          <a:xfrm>
            <a:off x="4663440" y="242316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 useActionState, useFormStatus, useOptimistic — covered in Module 2.</a:t>
            </a:r>
            <a:endParaRPr lang="en-US" sz="1150" dirty="0"/>
          </a:p>
        </p:txBody>
      </p:sp>
      <p:sp>
        <p:nvSpPr>
          <p:cNvPr id="13" name="Shape 9"/>
          <p:cNvSpPr/>
          <p:nvPr/>
        </p:nvSpPr>
        <p:spPr>
          <a:xfrm>
            <a:off x="8092440" y="1554480"/>
            <a:ext cx="3520440" cy="2011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8321040" y="1783080"/>
            <a:ext cx="502920" cy="502920"/>
          </a:xfrm>
          <a:prstGeom prst="rect">
            <a:avLst/>
          </a:prstGeom>
        </p:spPr>
      </p:pic>
      <p:sp>
        <p:nvSpPr>
          <p:cNvPr id="15" name="Text 10"/>
          <p:cNvSpPr/>
          <p:nvPr/>
        </p:nvSpPr>
        <p:spPr>
          <a:xfrm>
            <a:off x="8961120" y="178308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ref as a prop</a:t>
            </a:r>
            <a:endParaRPr lang="en-US" sz="1400" dirty="0"/>
          </a:p>
        </p:txBody>
      </p:sp>
      <p:sp>
        <p:nvSpPr>
          <p:cNvPr id="16" name="Text 11"/>
          <p:cNvSpPr/>
          <p:nvPr/>
        </p:nvSpPr>
        <p:spPr>
          <a:xfrm>
            <a:off x="8321040" y="242316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forwardRef is no longer required. Pass ref like any other prop.</a:t>
            </a:r>
            <a:endParaRPr lang="en-US" sz="1150" dirty="0"/>
          </a:p>
        </p:txBody>
      </p:sp>
      <p:sp>
        <p:nvSpPr>
          <p:cNvPr id="17" name="Shape 12"/>
          <p:cNvSpPr/>
          <p:nvPr/>
        </p:nvSpPr>
        <p:spPr>
          <a:xfrm>
            <a:off x="777240" y="3749040"/>
            <a:ext cx="3520440" cy="2011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1005840" y="3977640"/>
            <a:ext cx="502920" cy="502920"/>
          </a:xfrm>
          <a:prstGeom prst="rect">
            <a:avLst/>
          </a:prstGeom>
        </p:spPr>
      </p:pic>
      <p:sp>
        <p:nvSpPr>
          <p:cNvPr id="19" name="Text 13"/>
          <p:cNvSpPr/>
          <p:nvPr/>
        </p:nvSpPr>
        <p:spPr>
          <a:xfrm>
            <a:off x="1645920" y="397764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Server Components</a:t>
            </a:r>
            <a:endParaRPr lang="en-US" sz="1400" dirty="0"/>
          </a:p>
        </p:txBody>
      </p:sp>
      <p:sp>
        <p:nvSpPr>
          <p:cNvPr id="20" name="Text 14"/>
          <p:cNvSpPr/>
          <p:nvPr/>
        </p:nvSpPr>
        <p:spPr>
          <a:xfrm>
            <a:off x="1005840" y="461772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Stable. Component code that runs only on the server. Module 6 covers this.</a:t>
            </a:r>
            <a:endParaRPr lang="en-US" sz="1150" dirty="0"/>
          </a:p>
        </p:txBody>
      </p:sp>
      <p:sp>
        <p:nvSpPr>
          <p:cNvPr id="21" name="Shape 15"/>
          <p:cNvSpPr/>
          <p:nvPr/>
        </p:nvSpPr>
        <p:spPr>
          <a:xfrm>
            <a:off x="4434840" y="3749040"/>
            <a:ext cx="3520440" cy="2011680"/>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4663440" y="3977640"/>
            <a:ext cx="502920" cy="502920"/>
          </a:xfrm>
          <a:prstGeom prst="rect">
            <a:avLst/>
          </a:prstGeom>
        </p:spPr>
      </p:pic>
      <p:sp>
        <p:nvSpPr>
          <p:cNvPr id="23" name="Text 16"/>
          <p:cNvSpPr/>
          <p:nvPr/>
        </p:nvSpPr>
        <p:spPr>
          <a:xfrm>
            <a:off x="5303520" y="397764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Asset preloading</a:t>
            </a:r>
            <a:endParaRPr lang="en-US" sz="1400" dirty="0"/>
          </a:p>
        </p:txBody>
      </p:sp>
      <p:sp>
        <p:nvSpPr>
          <p:cNvPr id="24" name="Text 17"/>
          <p:cNvSpPr/>
          <p:nvPr/>
        </p:nvSpPr>
        <p:spPr>
          <a:xfrm>
            <a:off x="4663440" y="461772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preload, preinit, preconnect — fine-grained control over what loads when.</a:t>
            </a:r>
            <a:endParaRPr lang="en-US" sz="1150" dirty="0"/>
          </a:p>
        </p:txBody>
      </p:sp>
      <p:sp>
        <p:nvSpPr>
          <p:cNvPr id="25" name="Shape 18"/>
          <p:cNvSpPr/>
          <p:nvPr/>
        </p:nvSpPr>
        <p:spPr>
          <a:xfrm>
            <a:off x="8092440" y="3749040"/>
            <a:ext cx="3520440" cy="2011680"/>
          </a:xfrm>
          <a:prstGeom prst="rect">
            <a:avLst/>
          </a:prstGeom>
          <a:solidFill>
            <a:srgbClr val="FFFFFF"/>
          </a:solidFill>
          <a:ln w="12700">
            <a:solidFill>
              <a:srgbClr val="E2E8F0"/>
            </a:solidFill>
            <a:prstDash val="solid"/>
          </a:ln>
        </p:spPr>
        <p:txBody>
          <a:bodyPr/>
          <a:lstStyle/>
          <a:p>
            <a:endParaRPr lang="en-US"/>
          </a:p>
        </p:txBody>
      </p:sp>
      <p:pic>
        <p:nvPicPr>
          <p:cNvPr id="26" name="Image 5" descr="preencoded.png"/>
          <p:cNvPicPr>
            <a:picLocks noChangeAspect="1"/>
          </p:cNvPicPr>
          <p:nvPr/>
        </p:nvPicPr>
        <p:blipFill>
          <a:blip r:embed="rId8"/>
          <a:stretch>
            <a:fillRect/>
          </a:stretch>
        </p:blipFill>
        <p:spPr>
          <a:xfrm>
            <a:off x="8321040" y="3977640"/>
            <a:ext cx="502920" cy="502920"/>
          </a:xfrm>
          <a:prstGeom prst="rect">
            <a:avLst/>
          </a:prstGeom>
        </p:spPr>
      </p:pic>
      <p:sp>
        <p:nvSpPr>
          <p:cNvPr id="27" name="Text 19"/>
          <p:cNvSpPr/>
          <p:nvPr/>
        </p:nvSpPr>
        <p:spPr>
          <a:xfrm>
            <a:off x="8961120" y="3977640"/>
            <a:ext cx="2560320" cy="50292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Document metadata</a:t>
            </a:r>
            <a:endParaRPr lang="en-US" sz="1400" dirty="0"/>
          </a:p>
        </p:txBody>
      </p:sp>
      <p:sp>
        <p:nvSpPr>
          <p:cNvPr id="28" name="Text 20"/>
          <p:cNvSpPr/>
          <p:nvPr/>
        </p:nvSpPr>
        <p:spPr>
          <a:xfrm>
            <a:off x="8321040" y="4617720"/>
            <a:ext cx="3108960" cy="105156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&lt;title&gt; and &lt;meta&gt; tags work as plain JSX inside components.</a:t>
            </a:r>
            <a:endParaRPr lang="en-US" sz="1150" dirty="0"/>
          </a:p>
        </p:txBody>
      </p:sp>
      <p:sp>
        <p:nvSpPr>
          <p:cNvPr id="29"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30"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Actions: forms without the wiring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Pass a function to &lt;form action&gt;. React handles pending, errors, and resets.</a:t>
            </a:r>
            <a:endParaRPr lang="en-US" sz="1400" dirty="0"/>
          </a:p>
        </p:txBody>
      </p:sp>
      <p:sp>
        <p:nvSpPr>
          <p:cNvPr id="5" name="Shape 3"/>
          <p:cNvSpPr/>
          <p:nvPr/>
        </p:nvSpPr>
        <p:spPr>
          <a:xfrm>
            <a:off x="777240" y="1554480"/>
            <a:ext cx="5943600" cy="42976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4023360"/>
          </a:xfrm>
          <a:prstGeom prst="rect">
            <a:avLst/>
          </a:prstGeom>
          <a:noFill/>
          <a:ln/>
        </p:spPr>
        <p:txBody>
          <a:bodyPr wrap="square" lIns="0" tIns="0" rIns="0" bIns="0" rtlCol="0" anchor="t"/>
          <a:lstStyle/>
          <a:p>
            <a:pPr marL="0" indent="0">
              <a:buNone/>
            </a:pPr>
            <a:r>
              <a:rPr lang="en-US" sz="1300" dirty="0">
                <a:solidFill>
                  <a:srgbClr val="FFFFFF"/>
                </a:solidFill>
                <a:latin typeface="Courier New" pitchFamily="34" charset="0"/>
                <a:ea typeface="Courier New" pitchFamily="34" charset="-122"/>
                <a:cs typeface="Courier New" pitchFamily="34" charset="-120"/>
              </a:rPr>
              <a:t>function NewPostForm() {
</a:t>
            </a:r>
            <a:r>
              <a:rPr lang="en-US" sz="1300" dirty="0">
                <a:solidFill>
                  <a:srgbClr val="000000"/>
                </a:solidFill>
                <a:latin typeface="Courier New" pitchFamily="34" charset="0"/>
                <a:ea typeface="Courier New" pitchFamily="34" charset="-122"/>
                <a:cs typeface="Courier New" pitchFamily="34" charset="-120"/>
              </a:rPr>
              <a:t>  </a:t>
            </a:r>
            <a:r>
              <a:rPr lang="en-US" sz="1300" dirty="0">
                <a:solidFill>
                  <a:srgbClr val="C586C0"/>
                </a:solidFill>
                <a:latin typeface="Courier New" pitchFamily="34" charset="0"/>
                <a:ea typeface="Courier New" pitchFamily="34" charset="-122"/>
                <a:cs typeface="Courier New" pitchFamily="34" charset="-120"/>
              </a:rPr>
              <a:t>async function </a:t>
            </a:r>
            <a:r>
              <a:rPr lang="en-US" sz="1300" dirty="0">
                <a:solidFill>
                  <a:srgbClr val="DCDCAA"/>
                </a:solidFill>
                <a:latin typeface="Courier New" pitchFamily="34" charset="0"/>
                <a:ea typeface="Courier New" pitchFamily="34" charset="-122"/>
                <a:cs typeface="Courier New" pitchFamily="34" charset="-120"/>
              </a:rPr>
              <a:t>createPost</a:t>
            </a:r>
            <a:r>
              <a:rPr lang="en-US" sz="1300" dirty="0">
                <a:solidFill>
                  <a:srgbClr val="FFFFFF"/>
                </a:solidFill>
                <a:latin typeface="Courier New" pitchFamily="34" charset="0"/>
                <a:ea typeface="Courier New" pitchFamily="34" charset="-122"/>
                <a:cs typeface="Courier New" pitchFamily="34" charset="-120"/>
              </a:rPr>
              <a:t>(formData) {
</a:t>
            </a:r>
            <a:r>
              <a:rPr lang="en-US" sz="1300" dirty="0">
                <a:solidFill>
                  <a:srgbClr val="000000"/>
                </a:solidFill>
                <a:latin typeface="Courier New" pitchFamily="34" charset="0"/>
                <a:ea typeface="Courier New" pitchFamily="34" charset="-122"/>
                <a:cs typeface="Courier New" pitchFamily="34" charset="-120"/>
              </a:rPr>
              <a:t>    </a:t>
            </a:r>
            <a:r>
              <a:rPr lang="en-US" sz="1300" dirty="0">
                <a:solidFill>
                  <a:srgbClr val="C586C0"/>
                </a:solidFill>
                <a:latin typeface="Courier New" pitchFamily="34" charset="0"/>
                <a:ea typeface="Courier New" pitchFamily="34" charset="-122"/>
                <a:cs typeface="Courier New" pitchFamily="34" charset="-120"/>
              </a:rPr>
              <a:t>await </a:t>
            </a:r>
            <a:r>
              <a:rPr lang="en-US" sz="1300" dirty="0">
                <a:solidFill>
                  <a:srgbClr val="9CDCFE"/>
                </a:solidFill>
                <a:latin typeface="Courier New" pitchFamily="34" charset="0"/>
                <a:ea typeface="Courier New" pitchFamily="34" charset="-122"/>
                <a:cs typeface="Courier New" pitchFamily="34" charset="-120"/>
              </a:rPr>
              <a:t>savePost(formData.get("body"));
</a:t>
            </a:r>
            <a:r>
              <a:rPr lang="en-US" sz="1300" dirty="0">
                <a:solidFill>
                  <a:srgbClr val="FFFFFF"/>
                </a:solidFill>
                <a:latin typeface="Courier New" pitchFamily="34" charset="0"/>
                <a:ea typeface="Courier New" pitchFamily="34" charset="-122"/>
                <a:cs typeface="Courier New" pitchFamily="34" charset="-120"/>
              </a:rPr>
              <a:t>  }
</a:t>
            </a:r>
            <a:r>
              <a:rPr lang="en-US" sz="1300" dirty="0">
                <a:solidFill>
                  <a:srgbClr val="000000"/>
                </a:solidFill>
                <a:latin typeface="Courier New" pitchFamily="34" charset="0"/>
                <a:ea typeface="Courier New" pitchFamily="34" charset="-122"/>
                <a:cs typeface="Courier New" pitchFamily="34" charset="-120"/>
              </a:rPr>
              <a:t>  </a:t>
            </a:r>
            <a:r>
              <a:rPr lang="en-US" sz="1300" dirty="0">
                <a:solidFill>
                  <a:srgbClr val="C586C0"/>
                </a:solidFill>
                <a:latin typeface="Courier New" pitchFamily="34" charset="0"/>
                <a:ea typeface="Courier New" pitchFamily="34" charset="-122"/>
                <a:cs typeface="Courier New" pitchFamily="34" charset="-120"/>
              </a:rPr>
              <a:t>return </a:t>
            </a: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9CDCFE"/>
                </a:solidFill>
                <a:latin typeface="Courier New" pitchFamily="34" charset="0"/>
                <a:ea typeface="Courier New" pitchFamily="34" charset="-122"/>
                <a:cs typeface="Courier New" pitchFamily="34" charset="-120"/>
              </a:rPr>
              <a:t>    &lt;form action={createPost}&gt;
      &lt;textarea name="body" /&gt;
      &lt;SubmitButton /&gt;
    &lt;/form&gt;
</a:t>
            </a:r>
            <a:r>
              <a:rPr lang="en-US" sz="1300" dirty="0">
                <a:solidFill>
                  <a:srgbClr val="FFFFFF"/>
                </a:solidFill>
                <a:latin typeface="Courier New" pitchFamily="34" charset="0"/>
                <a:ea typeface="Courier New" pitchFamily="34" charset="-122"/>
                <a:cs typeface="Courier New" pitchFamily="34" charset="-120"/>
              </a:rPr>
              <a:t>  );
}
</a:t>
            </a:r>
            <a:endParaRPr lang="en-US" sz="1300" dirty="0"/>
          </a:p>
        </p:txBody>
      </p:sp>
      <p:sp>
        <p:nvSpPr>
          <p:cNvPr id="7" name="Text 5"/>
          <p:cNvSpPr/>
          <p:nvPr/>
        </p:nvSpPr>
        <p:spPr>
          <a:xfrm>
            <a:off x="6949440" y="1691640"/>
            <a:ext cx="4572000" cy="4023360"/>
          </a:xfrm>
          <a:prstGeom prst="rect">
            <a:avLst/>
          </a:prstGeom>
          <a:noFill/>
          <a:ln/>
        </p:spPr>
        <p:txBody>
          <a:bodyPr wrap="square" lIns="0" tIns="0" rIns="0" bIns="0" rtlCol="0" anchor="t"/>
          <a:lstStyle/>
          <a:p>
            <a:pPr marL="0" indent="0">
              <a:spcAft>
                <a:spcPts val="400"/>
              </a:spcAft>
              <a:buNone/>
            </a:pPr>
            <a:r>
              <a:rPr lang="en-US" sz="1400" b="1" dirty="0">
                <a:solidFill>
                  <a:srgbClr val="0F172A"/>
                </a:solidFill>
                <a:latin typeface="Arial" pitchFamily="34" charset="0"/>
                <a:ea typeface="Arial" pitchFamily="34" charset="-122"/>
                <a:cs typeface="Arial" pitchFamily="34" charset="-120"/>
              </a:rPr>
              <a:t>What you don't write anymore:</a:t>
            </a:r>
            <a:endParaRPr lang="en-US" sz="1250" dirty="0"/>
          </a:p>
          <a:p>
            <a:pPr marL="0" indent="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isPending state — React tracks it (use useFormStatus inside)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preventDefault — Actions intercept submit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Manual reset — form clears on success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Race-condition handling — newer submissions win</a:t>
            </a:r>
            <a:endParaRPr lang="en-US" sz="1250" dirty="0"/>
          </a:p>
          <a:p>
            <a:pPr marL="0" indent="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marL="0" indent="0">
              <a:spcAft>
                <a:spcPts val="400"/>
              </a:spcAft>
              <a:buNone/>
            </a:pPr>
            <a:r>
              <a:rPr lang="en-US" sz="1200" i="1" dirty="0">
                <a:solidFill>
                  <a:srgbClr val="475569"/>
                </a:solidFill>
                <a:latin typeface="Arial" pitchFamily="34" charset="0"/>
                <a:ea typeface="Arial" pitchFamily="34" charset="-122"/>
                <a:cs typeface="Arial" pitchFamily="34" charset="-120"/>
              </a:rPr>
              <a:t>Pair with useActionState for return values, errors, and validation. Module 2.</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Four hooks worth circling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We'll use each of them in Lab 1. Coverage in Module 2.</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19072"/>
            <a:ext cx="3657600" cy="548640"/>
          </a:xfrm>
          <a:prstGeom prst="rect">
            <a:avLst/>
          </a:prstGeom>
          <a:noFill/>
          <a:ln/>
        </p:spPr>
        <p:txBody>
          <a:bodyPr wrap="square" lIns="0" tIns="0" rIns="0" bIns="0" rtlCol="0" anchor="ctr"/>
          <a:lstStyle/>
          <a:p>
            <a:pPr marL="0" indent="0">
              <a:buNone/>
            </a:pPr>
            <a:r>
              <a:rPr lang="en-US" sz="1700" b="1" dirty="0">
                <a:solidFill>
                  <a:srgbClr val="00B8D9"/>
                </a:solidFill>
                <a:latin typeface="Courier New" pitchFamily="34" charset="0"/>
                <a:ea typeface="Courier New" pitchFamily="34" charset="-122"/>
                <a:cs typeface="Courier New" pitchFamily="34" charset="-120"/>
              </a:rPr>
              <a:t>use(promise)</a:t>
            </a:r>
            <a:endParaRPr lang="en-US" sz="1700" dirty="0"/>
          </a:p>
        </p:txBody>
      </p:sp>
      <p:sp>
        <p:nvSpPr>
          <p:cNvPr id="7" name="Text 5"/>
          <p:cNvSpPr/>
          <p:nvPr/>
        </p:nvSpPr>
        <p:spPr>
          <a:xfrm>
            <a:off x="4754880" y="1719072"/>
            <a:ext cx="649224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Suspends until a promise resolves. The new way to read async data.</a:t>
            </a:r>
            <a:endParaRPr lang="en-US" sz="1300" dirty="0"/>
          </a:p>
        </p:txBody>
      </p:sp>
      <p:sp>
        <p:nvSpPr>
          <p:cNvPr id="8" name="Shape 6"/>
          <p:cNvSpPr/>
          <p:nvPr/>
        </p:nvSpPr>
        <p:spPr>
          <a:xfrm>
            <a:off x="777240" y="2606040"/>
            <a:ext cx="10607040" cy="86868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60120" y="2770632"/>
            <a:ext cx="3657600" cy="548640"/>
          </a:xfrm>
          <a:prstGeom prst="rect">
            <a:avLst/>
          </a:prstGeom>
          <a:noFill/>
          <a:ln/>
        </p:spPr>
        <p:txBody>
          <a:bodyPr wrap="square" lIns="0" tIns="0" rIns="0" bIns="0" rtlCol="0" anchor="ctr"/>
          <a:lstStyle/>
          <a:p>
            <a:pPr marL="0" indent="0">
              <a:buNone/>
            </a:pPr>
            <a:r>
              <a:rPr lang="en-US" sz="1700" b="1" dirty="0">
                <a:solidFill>
                  <a:srgbClr val="00B8D9"/>
                </a:solidFill>
                <a:latin typeface="Courier New" pitchFamily="34" charset="0"/>
                <a:ea typeface="Courier New" pitchFamily="34" charset="-122"/>
                <a:cs typeface="Courier New" pitchFamily="34" charset="-120"/>
              </a:rPr>
              <a:t>useActionState</a:t>
            </a:r>
            <a:endParaRPr lang="en-US" sz="1700" dirty="0"/>
          </a:p>
        </p:txBody>
      </p:sp>
      <p:sp>
        <p:nvSpPr>
          <p:cNvPr id="10" name="Text 8"/>
          <p:cNvSpPr/>
          <p:nvPr/>
        </p:nvSpPr>
        <p:spPr>
          <a:xfrm>
            <a:off x="4754880" y="2770632"/>
            <a:ext cx="649224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Pairs with Actions. Gives you state, the action, and a pending flag.</a:t>
            </a:r>
            <a:endParaRPr lang="en-US" sz="1300" dirty="0"/>
          </a:p>
        </p:txBody>
      </p:sp>
      <p:sp>
        <p:nvSpPr>
          <p:cNvPr id="11" name="Shape 9"/>
          <p:cNvSpPr/>
          <p:nvPr/>
        </p:nvSpPr>
        <p:spPr>
          <a:xfrm>
            <a:off x="777240" y="3657600"/>
            <a:ext cx="10607040" cy="868680"/>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3822192"/>
            <a:ext cx="3657600" cy="548640"/>
          </a:xfrm>
          <a:prstGeom prst="rect">
            <a:avLst/>
          </a:prstGeom>
          <a:noFill/>
          <a:ln/>
        </p:spPr>
        <p:txBody>
          <a:bodyPr wrap="square" lIns="0" tIns="0" rIns="0" bIns="0" rtlCol="0" anchor="ctr"/>
          <a:lstStyle/>
          <a:p>
            <a:pPr marL="0" indent="0">
              <a:buNone/>
            </a:pPr>
            <a:r>
              <a:rPr lang="en-US" sz="1700" b="1" dirty="0">
                <a:solidFill>
                  <a:srgbClr val="00B8D9"/>
                </a:solidFill>
                <a:latin typeface="Courier New" pitchFamily="34" charset="0"/>
                <a:ea typeface="Courier New" pitchFamily="34" charset="-122"/>
                <a:cs typeface="Courier New" pitchFamily="34" charset="-120"/>
              </a:rPr>
              <a:t>useFormStatus</a:t>
            </a:r>
            <a:endParaRPr lang="en-US" sz="1700" dirty="0"/>
          </a:p>
        </p:txBody>
      </p:sp>
      <p:sp>
        <p:nvSpPr>
          <p:cNvPr id="13" name="Text 11"/>
          <p:cNvSpPr/>
          <p:nvPr/>
        </p:nvSpPr>
        <p:spPr>
          <a:xfrm>
            <a:off x="4754880" y="3822192"/>
            <a:ext cx="649224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Read pending/data/method from inside a child of &lt;form&gt;. No prop drilling.</a:t>
            </a:r>
            <a:endParaRPr lang="en-US" sz="1300" dirty="0"/>
          </a:p>
        </p:txBody>
      </p:sp>
      <p:sp>
        <p:nvSpPr>
          <p:cNvPr id="14" name="Shape 12"/>
          <p:cNvSpPr/>
          <p:nvPr/>
        </p:nvSpPr>
        <p:spPr>
          <a:xfrm>
            <a:off x="777240" y="4709160"/>
            <a:ext cx="10607040" cy="868680"/>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60120" y="4873752"/>
            <a:ext cx="3657600" cy="548640"/>
          </a:xfrm>
          <a:prstGeom prst="rect">
            <a:avLst/>
          </a:prstGeom>
          <a:noFill/>
          <a:ln/>
        </p:spPr>
        <p:txBody>
          <a:bodyPr wrap="square" lIns="0" tIns="0" rIns="0" bIns="0" rtlCol="0" anchor="ctr"/>
          <a:lstStyle/>
          <a:p>
            <a:pPr marL="0" indent="0">
              <a:buNone/>
            </a:pPr>
            <a:r>
              <a:rPr lang="en-US" sz="1700" b="1" dirty="0">
                <a:solidFill>
                  <a:srgbClr val="00B8D9"/>
                </a:solidFill>
                <a:latin typeface="Courier New" pitchFamily="34" charset="0"/>
                <a:ea typeface="Courier New" pitchFamily="34" charset="-122"/>
                <a:cs typeface="Courier New" pitchFamily="34" charset="-120"/>
              </a:rPr>
              <a:t>useOptimistic</a:t>
            </a:r>
            <a:endParaRPr lang="en-US" sz="1700" dirty="0"/>
          </a:p>
        </p:txBody>
      </p:sp>
      <p:sp>
        <p:nvSpPr>
          <p:cNvPr id="16" name="Text 14"/>
          <p:cNvSpPr/>
          <p:nvPr/>
        </p:nvSpPr>
        <p:spPr>
          <a:xfrm>
            <a:off x="4754880" y="4873752"/>
            <a:ext cx="649224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Show the eventual state immediately. Reverts on error.</a:t>
            </a:r>
            <a:endParaRPr lang="en-US" sz="1300" dirty="0"/>
          </a:p>
        </p:txBody>
      </p:sp>
      <p:sp>
        <p:nvSpPr>
          <p:cNvPr id="17"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8"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ref as a prop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forwardRef is gone. ref behaves like any other prop in React 19.</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Before — React 18</a:t>
            </a:r>
            <a:endParaRPr lang="en-US" sz="1400" dirty="0"/>
          </a:p>
        </p:txBody>
      </p:sp>
      <p:sp>
        <p:nvSpPr>
          <p:cNvPr id="6" name="Shape 4"/>
          <p:cNvSpPr/>
          <p:nvPr/>
        </p:nvSpPr>
        <p:spPr>
          <a:xfrm>
            <a:off x="777240" y="1965960"/>
            <a:ext cx="5349240" cy="27432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103120"/>
            <a:ext cx="5074920" cy="2468880"/>
          </a:xfrm>
          <a:prstGeom prst="rect">
            <a:avLst/>
          </a:prstGeom>
          <a:noFill/>
          <a:ln/>
        </p:spPr>
        <p:txBody>
          <a:bodyPr wrap="square" lIns="0" tIns="0" rIns="0" bIns="0" rtlCol="0" anchor="t"/>
          <a:lstStyle/>
          <a:p>
            <a:pPr marL="0" indent="0">
              <a:buNone/>
            </a:pPr>
            <a:r>
              <a:rPr lang="en-US" sz="1200" dirty="0">
                <a:solidFill>
                  <a:srgbClr val="FFFFFF"/>
                </a:solidFill>
                <a:latin typeface="Courier New" pitchFamily="34" charset="0"/>
                <a:ea typeface="Courier New" pitchFamily="34" charset="-122"/>
                <a:cs typeface="Courier New" pitchFamily="34" charset="-120"/>
              </a:rPr>
              <a:t>const Input = </a:t>
            </a:r>
            <a:r>
              <a:rPr lang="en-US" sz="1200" dirty="0">
                <a:solidFill>
                  <a:srgbClr val="DCDCAA"/>
                </a:solidFill>
                <a:latin typeface="Courier New" pitchFamily="34" charset="0"/>
                <a:ea typeface="Courier New" pitchFamily="34" charset="-122"/>
                <a:cs typeface="Courier New" pitchFamily="34" charset="-120"/>
              </a:rPr>
              <a:t>forwardRef</a:t>
            </a:r>
            <a:r>
              <a:rPr lang="en-US" sz="1200" dirty="0">
                <a:solidFill>
                  <a:srgbClr val="FFFFFF"/>
                </a:solidFill>
                <a:latin typeface="Courier New" pitchFamily="34" charset="0"/>
                <a:ea typeface="Courier New" pitchFamily="34" charset="-122"/>
                <a:cs typeface="Courier New" pitchFamily="34" charset="-120"/>
              </a:rPr>
              <a:t>(
  (props, ref) =&gt; (
    &lt;input ref={ref} ...props /&gt;
  )
);
</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After — React 19</a:t>
            </a:r>
            <a:endParaRPr lang="en-US" sz="1400" dirty="0"/>
          </a:p>
        </p:txBody>
      </p:sp>
      <p:sp>
        <p:nvSpPr>
          <p:cNvPr id="9" name="Shape 7"/>
          <p:cNvSpPr/>
          <p:nvPr/>
        </p:nvSpPr>
        <p:spPr>
          <a:xfrm>
            <a:off x="6355080" y="1965960"/>
            <a:ext cx="5029200" cy="27432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103120"/>
            <a:ext cx="4754880" cy="2468880"/>
          </a:xfrm>
          <a:prstGeom prst="rect">
            <a:avLst/>
          </a:prstGeom>
          <a:noFill/>
          <a:ln/>
        </p:spPr>
        <p:txBody>
          <a:bodyPr wrap="square" lIns="0" tIns="0" rIns="0" bIns="0" rtlCol="0" anchor="t"/>
          <a:lstStyle/>
          <a:p>
            <a:pPr marL="0" indent="0">
              <a:buNone/>
            </a:pPr>
            <a:r>
              <a:rPr lang="en-US" sz="1200" dirty="0">
                <a:solidFill>
                  <a:srgbClr val="DCDCAA"/>
                </a:solidFill>
                <a:latin typeface="Courier New" pitchFamily="34" charset="0"/>
                <a:ea typeface="Courier New" pitchFamily="34" charset="-122"/>
                <a:cs typeface="Courier New" pitchFamily="34" charset="-120"/>
              </a:rPr>
              <a:t>function Input</a:t>
            </a:r>
            <a:r>
              <a:rPr lang="en-US" sz="1200" dirty="0">
                <a:solidFill>
                  <a:srgbClr val="FFFFFF"/>
                </a:solidFill>
                <a:latin typeface="Courier New" pitchFamily="34" charset="0"/>
                <a:ea typeface="Courier New" pitchFamily="34" charset="-122"/>
                <a:cs typeface="Courier New" pitchFamily="34" charset="-120"/>
              </a:rPr>
              <a:t>({ ref, ...props })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&lt;input ref={ref} </a:t>
            </a:r>
            <a:r>
              <a:rPr lang="en-US" sz="1200" dirty="0">
                <a:solidFill>
                  <a:srgbClr val="9CDCFE"/>
                </a:solidFill>
                <a:latin typeface="Courier New" pitchFamily="34" charset="0"/>
                <a:ea typeface="Courier New" pitchFamily="34" charset="-122"/>
                <a:cs typeface="Courier New" pitchFamily="34" charset="-120"/>
              </a:rPr>
              <a:t>{...props}</a:t>
            </a:r>
            <a:r>
              <a:rPr lang="en-US" sz="1200" dirty="0">
                <a:solidFill>
                  <a:srgbClr val="FFFFFF"/>
                </a:solidFill>
                <a:latin typeface="Courier New" pitchFamily="34" charset="0"/>
                <a:ea typeface="Courier New" pitchFamily="34" charset="-122"/>
                <a:cs typeface="Courier New" pitchFamily="34" charset="-120"/>
              </a:rPr>
              <a:t> /&gt;;
}
</a:t>
            </a:r>
            <a:endParaRPr lang="en-US" sz="1200" dirty="0"/>
          </a:p>
        </p:txBody>
      </p:sp>
      <p:sp>
        <p:nvSpPr>
          <p:cNvPr id="11" name="Shape 9"/>
          <p:cNvSpPr/>
          <p:nvPr/>
        </p:nvSpPr>
        <p:spPr>
          <a:xfrm>
            <a:off x="777240" y="5029200"/>
            <a:ext cx="10607040" cy="1188720"/>
          </a:xfrm>
          <a:prstGeom prst="rect">
            <a:avLst/>
          </a:prstGeom>
          <a:solidFill>
            <a:srgbClr val="CBF1F6"/>
          </a:solidFill>
          <a:ln w="12700">
            <a:solidFill>
              <a:srgbClr val="CBF1F6"/>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3" name="Text 10"/>
          <p:cNvSpPr/>
          <p:nvPr/>
        </p:nvSpPr>
        <p:spPr>
          <a:xfrm>
            <a:off x="1691640" y="5074920"/>
            <a:ext cx="9601200" cy="109728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Codemod available — but legacy forwardRef still works through a deprecation warning. Plan, don't panic.</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Components — production-ready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Components that run on the server only. Zero JS shipped to the browser.</a:t>
            </a:r>
            <a:endParaRPr lang="en-US" sz="1400" dirty="0"/>
          </a:p>
        </p:txBody>
      </p:sp>
      <p:sp>
        <p:nvSpPr>
          <p:cNvPr id="5" name="Shape 3"/>
          <p:cNvSpPr/>
          <p:nvPr/>
        </p:nvSpPr>
        <p:spPr>
          <a:xfrm>
            <a:off x="777240" y="1691640"/>
            <a:ext cx="5349240" cy="3931920"/>
          </a:xfrm>
          <a:prstGeom prst="rect">
            <a:avLst/>
          </a:prstGeom>
          <a:solidFill>
            <a:srgbClr val="1E2A47"/>
          </a:solidFill>
          <a:ln w="12700">
            <a:solidFill>
              <a:srgbClr val="1E2A47"/>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874520"/>
            <a:ext cx="548640" cy="548640"/>
          </a:xfrm>
          <a:prstGeom prst="rect">
            <a:avLst/>
          </a:prstGeom>
        </p:spPr>
      </p:pic>
      <p:sp>
        <p:nvSpPr>
          <p:cNvPr id="7" name="Text 4"/>
          <p:cNvSpPr/>
          <p:nvPr/>
        </p:nvSpPr>
        <p:spPr>
          <a:xfrm>
            <a:off x="1691640" y="1920240"/>
            <a:ext cx="411480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Server Component</a:t>
            </a:r>
            <a:endParaRPr lang="en-US" sz="1600" dirty="0"/>
          </a:p>
        </p:txBody>
      </p:sp>
      <p:sp>
        <p:nvSpPr>
          <p:cNvPr id="8" name="Text 5"/>
          <p:cNvSpPr/>
          <p:nvPr/>
        </p:nvSpPr>
        <p:spPr>
          <a:xfrm>
            <a:off x="1005840" y="2606040"/>
            <a:ext cx="49377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Runs on the server only</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Can fetch directly — DB, file system, API</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Imports stay on the server</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No useState, useEffect, or browser APIs</a:t>
            </a:r>
            <a:endParaRPr lang="en-US" sz="1250" dirty="0"/>
          </a:p>
        </p:txBody>
      </p:sp>
      <p:sp>
        <p:nvSpPr>
          <p:cNvPr id="9" name="Shape 6"/>
          <p:cNvSpPr/>
          <p:nvPr/>
        </p:nvSpPr>
        <p:spPr>
          <a:xfrm>
            <a:off x="6355080" y="1691640"/>
            <a:ext cx="5029200" cy="393192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583680" y="1874520"/>
            <a:ext cx="548640" cy="548640"/>
          </a:xfrm>
          <a:prstGeom prst="rect">
            <a:avLst/>
          </a:prstGeom>
        </p:spPr>
      </p:pic>
      <p:sp>
        <p:nvSpPr>
          <p:cNvPr id="11" name="Text 7"/>
          <p:cNvSpPr/>
          <p:nvPr/>
        </p:nvSpPr>
        <p:spPr>
          <a:xfrm>
            <a:off x="7269480" y="1920240"/>
            <a:ext cx="4023360" cy="45720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Client Component</a:t>
            </a:r>
            <a:endParaRPr lang="en-US" sz="1600" dirty="0"/>
          </a:p>
        </p:txBody>
      </p:sp>
      <p:sp>
        <p:nvSpPr>
          <p:cNvPr id="12" name="Text 8"/>
          <p:cNvSpPr/>
          <p:nvPr/>
        </p:nvSpPr>
        <p:spPr>
          <a:xfrm>
            <a:off x="6583680" y="2606040"/>
            <a:ext cx="466344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Marked with 'use client' directive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Hydrates in the browser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Interactive — handlers, state, effects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Receives props (incl. children) from Server Components</a:t>
            </a:r>
            <a:endParaRPr lang="en-US" sz="1250" dirty="0"/>
          </a:p>
        </p:txBody>
      </p:sp>
      <p:sp>
        <p:nvSpPr>
          <p:cNvPr id="13" name="Text 9"/>
          <p:cNvSpPr/>
          <p:nvPr/>
        </p:nvSpPr>
        <p:spPr>
          <a:xfrm>
            <a:off x="777240" y="5760720"/>
            <a:ext cx="10607040" cy="36576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Module 6 covers Server Components in depth, including the boundary mistakes AI tools love to make.</a:t>
            </a:r>
            <a:endParaRPr lang="en-US" sz="1200" dirty="0"/>
          </a:p>
        </p:txBody>
      </p:sp>
      <p:sp>
        <p:nvSpPr>
          <p:cNvPr id="14" name="Text 1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5" name="Text 1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Two smaller wins worth knowing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Asset preloading and document metadata are now first-class in React 19.</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920240"/>
            <a:ext cx="502920" cy="502920"/>
          </a:xfrm>
          <a:prstGeom prst="rect">
            <a:avLst/>
          </a:prstGeom>
        </p:spPr>
      </p:pic>
      <p:sp>
        <p:nvSpPr>
          <p:cNvPr id="7" name="Text 4"/>
          <p:cNvSpPr/>
          <p:nvPr/>
        </p:nvSpPr>
        <p:spPr>
          <a:xfrm>
            <a:off x="1645920" y="1874520"/>
            <a:ext cx="4297680" cy="50292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Asset preloading</a:t>
            </a:r>
            <a:endParaRPr lang="en-US" sz="1600" dirty="0"/>
          </a:p>
        </p:txBody>
      </p:sp>
      <p:sp>
        <p:nvSpPr>
          <p:cNvPr id="8" name="Text 5"/>
          <p:cNvSpPr/>
          <p:nvPr/>
        </p:nvSpPr>
        <p:spPr>
          <a:xfrm>
            <a:off x="1005840" y="2606040"/>
            <a:ext cx="5029200" cy="1188720"/>
          </a:xfrm>
          <a:prstGeom prst="rect">
            <a:avLst/>
          </a:prstGeom>
          <a:noFill/>
          <a:ln/>
        </p:spPr>
        <p:txBody>
          <a:bodyPr wrap="square" lIns="0" tIns="0" rIns="0" bIns="0" rtlCol="0" anchor="ctr"/>
          <a:lstStyle/>
          <a:p>
            <a:pPr marL="0" indent="0">
              <a:buNone/>
            </a:pPr>
            <a:r>
              <a:rPr lang="en-US" sz="1300" dirty="0">
                <a:solidFill>
                  <a:srgbClr val="00B8D9"/>
                </a:solidFill>
                <a:latin typeface="Courier New" pitchFamily="34" charset="0"/>
                <a:ea typeface="Courier New" pitchFamily="34" charset="-122"/>
                <a:cs typeface="Courier New" pitchFamily="34" charset="-120"/>
              </a:rPr>
              <a:t>preload(</a:t>
            </a:r>
            <a:r>
              <a:rPr lang="en-US" sz="1300" dirty="0">
                <a:solidFill>
                  <a:srgbClr val="475569"/>
                </a:solidFill>
                <a:latin typeface="Courier New" pitchFamily="34" charset="0"/>
                <a:ea typeface="Courier New" pitchFamily="34" charset="-122"/>
                <a:cs typeface="Courier New" pitchFamily="34" charset="-120"/>
              </a:rPr>
              <a:t>url, options</a:t>
            </a: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00B8D9"/>
                </a:solidFill>
                <a:latin typeface="Courier New" pitchFamily="34" charset="0"/>
                <a:ea typeface="Courier New" pitchFamily="34" charset="-122"/>
                <a:cs typeface="Courier New" pitchFamily="34" charset="-120"/>
              </a:rPr>
              <a:t>preinit(</a:t>
            </a:r>
            <a:r>
              <a:rPr lang="en-US" sz="1300" dirty="0">
                <a:solidFill>
                  <a:srgbClr val="475569"/>
                </a:solidFill>
                <a:latin typeface="Courier New" pitchFamily="34" charset="0"/>
                <a:ea typeface="Courier New" pitchFamily="34" charset="-122"/>
                <a:cs typeface="Courier New" pitchFamily="34" charset="-120"/>
              </a:rPr>
              <a:t>url, options</a:t>
            </a: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00B8D9"/>
                </a:solidFill>
                <a:latin typeface="Courier New" pitchFamily="34" charset="0"/>
                <a:ea typeface="Courier New" pitchFamily="34" charset="-122"/>
                <a:cs typeface="Courier New" pitchFamily="34" charset="-120"/>
              </a:rPr>
              <a:t>preconnect(</a:t>
            </a:r>
            <a:r>
              <a:rPr lang="en-US" sz="1300" dirty="0">
                <a:solidFill>
                  <a:srgbClr val="475569"/>
                </a:solidFill>
                <a:latin typeface="Courier New" pitchFamily="34" charset="0"/>
                <a:ea typeface="Courier New" pitchFamily="34" charset="-122"/>
                <a:cs typeface="Courier New" pitchFamily="34" charset="-120"/>
              </a:rPr>
              <a:t>url</a:t>
            </a:r>
            <a:r>
              <a:rPr lang="en-US" sz="1300" dirty="0">
                <a:solidFill>
                  <a:srgbClr val="00B8D9"/>
                </a:solidFill>
                <a:latin typeface="Courier New" pitchFamily="34" charset="0"/>
                <a:ea typeface="Courier New" pitchFamily="34" charset="-122"/>
                <a:cs typeface="Courier New" pitchFamily="34" charset="-120"/>
              </a:rPr>
              <a:t>)</a:t>
            </a:r>
            <a:endParaRPr lang="en-US" sz="1300" dirty="0"/>
          </a:p>
        </p:txBody>
      </p:sp>
      <p:sp>
        <p:nvSpPr>
          <p:cNvPr id="9" name="Text 6"/>
          <p:cNvSpPr/>
          <p:nvPr/>
        </p:nvSpPr>
        <p:spPr>
          <a:xfrm>
            <a:off x="1005840" y="3886200"/>
            <a:ext cx="5029200" cy="18288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Move resource-loading hints into the components that actually need them — no more &lt;Helmet&gt; or framework-specific shenanigans.</a:t>
            </a:r>
            <a:endParaRPr lang="en-US" sz="1250" dirty="0"/>
          </a:p>
        </p:txBody>
      </p:sp>
      <p:sp>
        <p:nvSpPr>
          <p:cNvPr id="10" name="Shape 7"/>
          <p:cNvSpPr/>
          <p:nvPr/>
        </p:nvSpPr>
        <p:spPr>
          <a:xfrm>
            <a:off x="6355080" y="1691640"/>
            <a:ext cx="5029200" cy="4206240"/>
          </a:xfrm>
          <a:prstGeom prst="rect">
            <a:avLst/>
          </a:prstGeom>
          <a:solidFill>
            <a:srgbClr val="FFFFFF"/>
          </a:solidFill>
          <a:ln w="12700">
            <a:solidFill>
              <a:srgbClr val="E2E8F0"/>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583680" y="1920240"/>
            <a:ext cx="502920" cy="502920"/>
          </a:xfrm>
          <a:prstGeom prst="rect">
            <a:avLst/>
          </a:prstGeom>
        </p:spPr>
      </p:pic>
      <p:sp>
        <p:nvSpPr>
          <p:cNvPr id="12" name="Text 8"/>
          <p:cNvSpPr/>
          <p:nvPr/>
        </p:nvSpPr>
        <p:spPr>
          <a:xfrm>
            <a:off x="7223760" y="1874520"/>
            <a:ext cx="4023360" cy="50292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Document metadata</a:t>
            </a:r>
            <a:endParaRPr lang="en-US" sz="1600" dirty="0"/>
          </a:p>
        </p:txBody>
      </p:sp>
      <p:sp>
        <p:nvSpPr>
          <p:cNvPr id="13" name="Shape 9"/>
          <p:cNvSpPr/>
          <p:nvPr/>
        </p:nvSpPr>
        <p:spPr>
          <a:xfrm>
            <a:off x="6583680" y="2606040"/>
            <a:ext cx="4663440" cy="1188720"/>
          </a:xfrm>
          <a:prstGeom prst="rect">
            <a:avLst/>
          </a:prstGeom>
          <a:solidFill>
            <a:srgbClr val="1E2A47"/>
          </a:solidFill>
          <a:ln w="12700">
            <a:solidFill>
              <a:srgbClr val="1E2A47"/>
            </a:solidFill>
            <a:prstDash val="solid"/>
          </a:ln>
        </p:spPr>
        <p:txBody>
          <a:bodyPr/>
          <a:lstStyle/>
          <a:p>
            <a:endParaRPr lang="en-US"/>
          </a:p>
        </p:txBody>
      </p:sp>
      <p:sp>
        <p:nvSpPr>
          <p:cNvPr id="14" name="Text 10"/>
          <p:cNvSpPr/>
          <p:nvPr/>
        </p:nvSpPr>
        <p:spPr>
          <a:xfrm>
            <a:off x="6766560" y="2697480"/>
            <a:ext cx="4297680" cy="1005840"/>
          </a:xfrm>
          <a:prstGeom prst="rect">
            <a:avLst/>
          </a:prstGeom>
          <a:noFill/>
          <a:ln/>
        </p:spPr>
        <p:txBody>
          <a:bodyPr wrap="square" lIns="0" tIns="0" rIns="0" bIns="0" rtlCol="0" anchor="t"/>
          <a:lstStyle/>
          <a:p>
            <a:pPr marL="0" indent="0">
              <a:buNone/>
            </a:pPr>
            <a:r>
              <a:rPr lang="en-US" sz="1200" dirty="0">
                <a:solidFill>
                  <a:srgbClr val="00B8D9"/>
                </a:solidFill>
                <a:latin typeface="Courier New" pitchFamily="34" charset="0"/>
                <a:ea typeface="Courier New" pitchFamily="34" charset="-122"/>
                <a:cs typeface="Courier New" pitchFamily="34" charset="-120"/>
              </a:rPr>
              <a:t>&lt;title&gt;About&lt;/title&gt;
</a:t>
            </a:r>
            <a:r>
              <a:rPr lang="en-US" sz="1200" dirty="0">
                <a:solidFill>
                  <a:srgbClr val="FFFFFF"/>
                </a:solidFill>
                <a:latin typeface="Courier New" pitchFamily="34" charset="0"/>
                <a:ea typeface="Courier New" pitchFamily="34" charset="-122"/>
                <a:cs typeface="Courier New" pitchFamily="34" charset="-120"/>
              </a:rPr>
              <a:t>&lt;meta </a:t>
            </a:r>
            <a:r>
              <a:rPr lang="en-US" sz="1200" dirty="0">
                <a:solidFill>
                  <a:srgbClr val="9CDCFE"/>
                </a:solidFill>
                <a:latin typeface="Courier New" pitchFamily="34" charset="0"/>
                <a:ea typeface="Courier New" pitchFamily="34" charset="-122"/>
                <a:cs typeface="Courier New" pitchFamily="34" charset="-120"/>
              </a:rPr>
              <a:t>name="description"</a:t>
            </a:r>
            <a:r>
              <a:rPr lang="en-US" sz="1200" dirty="0">
                <a:solidFill>
                  <a:srgbClr val="FFFFFF"/>
                </a:solidFill>
                <a:latin typeface="Courier New" pitchFamily="34" charset="0"/>
                <a:ea typeface="Courier New" pitchFamily="34" charset="-122"/>
                <a:cs typeface="Courier New" pitchFamily="34" charset="-120"/>
              </a:rPr>
              <a:t> ... /&gt;
</a:t>
            </a:r>
            <a:endParaRPr lang="en-US" sz="1200" dirty="0"/>
          </a:p>
        </p:txBody>
      </p:sp>
      <p:sp>
        <p:nvSpPr>
          <p:cNvPr id="15" name="Text 11"/>
          <p:cNvSpPr/>
          <p:nvPr/>
        </p:nvSpPr>
        <p:spPr>
          <a:xfrm>
            <a:off x="6583680" y="3886200"/>
            <a:ext cx="4663440" cy="18288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Drop title and meta tags inline anywhere in your component tree. React deduplicates and hoists.</a:t>
            </a:r>
            <a:endParaRPr lang="en-US" sz="1250" dirty="0"/>
          </a:p>
        </p:txBody>
      </p:sp>
      <p:sp>
        <p:nvSpPr>
          <p:cNvPr id="16" name="Text 12"/>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7" name="Text 13"/>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React Compiler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Auto-memoization for components and hooks. Most useMemo/useCallback becomes optional.</a:t>
            </a:r>
            <a:endParaRPr lang="en-US" sz="1400" dirty="0"/>
          </a:p>
        </p:txBody>
      </p:sp>
      <p:sp>
        <p:nvSpPr>
          <p:cNvPr id="5" name="Text 3"/>
          <p:cNvSpPr/>
          <p:nvPr/>
        </p:nvSpPr>
        <p:spPr>
          <a:xfrm>
            <a:off x="777240" y="150876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Before — manual memo</a:t>
            </a:r>
            <a:endParaRPr lang="en-US" sz="1300" dirty="0"/>
          </a:p>
        </p:txBody>
      </p:sp>
      <p:sp>
        <p:nvSpPr>
          <p:cNvPr id="6" name="Shape 4"/>
          <p:cNvSpPr/>
          <p:nvPr/>
        </p:nvSpPr>
        <p:spPr>
          <a:xfrm>
            <a:off x="777240" y="1874520"/>
            <a:ext cx="5349240" cy="27432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11680"/>
            <a:ext cx="5074920" cy="2468880"/>
          </a:xfrm>
          <a:prstGeom prst="rect">
            <a:avLst/>
          </a:prstGeom>
          <a:noFill/>
          <a:ln/>
        </p:spPr>
        <p:txBody>
          <a:bodyPr wrap="square" lIns="0" tIns="0" rIns="0" bIns="0" rtlCol="0" anchor="t"/>
          <a:lstStyle/>
          <a:p>
            <a:pPr marL="0" indent="0">
              <a:buNone/>
            </a:pPr>
            <a:r>
              <a:rPr lang="en-US" sz="1200" dirty="0">
                <a:solidFill>
                  <a:srgbClr val="FFFFFF"/>
                </a:solidFill>
                <a:latin typeface="Courier New" pitchFamily="34" charset="0"/>
                <a:ea typeface="Courier New" pitchFamily="34" charset="-122"/>
                <a:cs typeface="Courier New" pitchFamily="34" charset="-120"/>
              </a:rPr>
              <a:t>const filtered = </a:t>
            </a:r>
            <a:r>
              <a:rPr lang="en-US" sz="1200" dirty="0">
                <a:solidFill>
                  <a:srgbClr val="DCDCAA"/>
                </a:solidFill>
                <a:latin typeface="Courier New" pitchFamily="34" charset="0"/>
                <a:ea typeface="Courier New" pitchFamily="34" charset="-122"/>
                <a:cs typeface="Courier New" pitchFamily="34" charset="-120"/>
              </a:rPr>
              <a:t>useMemo</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 =&gt; items.filter(</a:t>
            </a:r>
            <a:r>
              <a:rPr lang="en-US" sz="1200" dirty="0">
                <a:solidFill>
                  <a:srgbClr val="9CDCFE"/>
                </a:solidFill>
                <a:latin typeface="Courier New" pitchFamily="34" charset="0"/>
                <a:ea typeface="Courier New" pitchFamily="34" charset="-122"/>
                <a:cs typeface="Courier New" pitchFamily="34" charset="-120"/>
              </a:rPr>
              <a:t>f</a:t>
            </a:r>
            <a:r>
              <a:rPr lang="en-US" sz="1200" dirty="0">
                <a:solidFill>
                  <a:srgbClr val="FFFFFF"/>
                </a:solidFill>
                <a:latin typeface="Courier New" pitchFamily="34" charset="0"/>
                <a:ea typeface="Courier New" pitchFamily="34" charset="-122"/>
                <a:cs typeface="Courier New" pitchFamily="34" charset="-120"/>
              </a:rPr>
              <a:t>), [items, </a:t>
            </a:r>
            <a:r>
              <a:rPr lang="en-US" sz="1200" dirty="0">
                <a:solidFill>
                  <a:srgbClr val="9CDCFE"/>
                </a:solidFill>
                <a:latin typeface="Courier New" pitchFamily="34" charset="0"/>
                <a:ea typeface="Courier New" pitchFamily="34" charset="-122"/>
                <a:cs typeface="Courier New" pitchFamily="34" charset="-120"/>
              </a:rPr>
              <a:t>f</a:t>
            </a:r>
            <a:r>
              <a:rPr lang="en-US" sz="1200" dirty="0">
                <a:solidFill>
                  <a:srgbClr val="FFFFFF"/>
                </a:solidFill>
                <a:latin typeface="Courier New" pitchFamily="34" charset="0"/>
                <a:ea typeface="Courier New" pitchFamily="34" charset="-122"/>
                <a:cs typeface="Courier New" pitchFamily="34" charset="-120"/>
              </a:rPr>
              <a:t>]
);
const onClick = </a:t>
            </a:r>
            <a:r>
              <a:rPr lang="en-US" sz="1200" dirty="0">
                <a:solidFill>
                  <a:srgbClr val="DCDCAA"/>
                </a:solidFill>
                <a:latin typeface="Courier New" pitchFamily="34" charset="0"/>
                <a:ea typeface="Courier New" pitchFamily="34" charset="-122"/>
                <a:cs typeface="Courier New" pitchFamily="34" charset="-120"/>
              </a:rPr>
              <a:t>useCallback</a:t>
            </a:r>
            <a:r>
              <a:rPr lang="en-US" sz="1200" dirty="0">
                <a:solidFill>
                  <a:srgbClr val="FFFFFF"/>
                </a:solidFill>
                <a:latin typeface="Courier New" pitchFamily="34" charset="0"/>
                <a:ea typeface="Courier New" pitchFamily="34" charset="-122"/>
                <a:cs typeface="Courier New" pitchFamily="34" charset="-120"/>
              </a:rPr>
              <a:t>(
  (e) =&gt; save(e), [save]
);
export default </a:t>
            </a:r>
            <a:r>
              <a:rPr lang="en-US" sz="1200" dirty="0">
                <a:solidFill>
                  <a:srgbClr val="DCDCAA"/>
                </a:solidFill>
                <a:latin typeface="Courier New" pitchFamily="34" charset="0"/>
                <a:ea typeface="Courier New" pitchFamily="34" charset="-122"/>
                <a:cs typeface="Courier New" pitchFamily="34" charset="-120"/>
              </a:rPr>
              <a:t>memo</a:t>
            </a:r>
            <a:r>
              <a:rPr lang="en-US" sz="1200" dirty="0">
                <a:solidFill>
                  <a:srgbClr val="FFFFFF"/>
                </a:solidFill>
                <a:latin typeface="Courier New" pitchFamily="34" charset="0"/>
                <a:ea typeface="Courier New" pitchFamily="34" charset="-122"/>
                <a:cs typeface="Courier New" pitchFamily="34" charset="-120"/>
              </a:rPr>
              <a:t>(MyList);</a:t>
            </a:r>
            <a:endParaRPr lang="en-US" sz="1200" dirty="0"/>
          </a:p>
        </p:txBody>
      </p:sp>
      <p:sp>
        <p:nvSpPr>
          <p:cNvPr id="8" name="Text 6"/>
          <p:cNvSpPr/>
          <p:nvPr/>
        </p:nvSpPr>
        <p:spPr>
          <a:xfrm>
            <a:off x="6355080" y="150876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After — Compiler enabled</a:t>
            </a:r>
            <a:endParaRPr lang="en-US" sz="1300" dirty="0"/>
          </a:p>
        </p:txBody>
      </p:sp>
      <p:sp>
        <p:nvSpPr>
          <p:cNvPr id="9" name="Shape 7"/>
          <p:cNvSpPr/>
          <p:nvPr/>
        </p:nvSpPr>
        <p:spPr>
          <a:xfrm>
            <a:off x="6355080" y="1874520"/>
            <a:ext cx="5029200" cy="27432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11680"/>
            <a:ext cx="4754880" cy="2468880"/>
          </a:xfrm>
          <a:prstGeom prst="rect">
            <a:avLst/>
          </a:prstGeom>
          <a:noFill/>
          <a:ln/>
        </p:spPr>
        <p:txBody>
          <a:bodyPr wrap="square" lIns="0" tIns="0" rIns="0" bIns="0" rtlCol="0" anchor="t"/>
          <a:lstStyle/>
          <a:p>
            <a:pPr marL="0" indent="0">
              <a:buNone/>
            </a:pPr>
            <a:r>
              <a:rPr lang="en-US" sz="1200" dirty="0">
                <a:solidFill>
                  <a:srgbClr val="FFFFFF"/>
                </a:solidFill>
                <a:latin typeface="Courier New" pitchFamily="34" charset="0"/>
                <a:ea typeface="Courier New" pitchFamily="34" charset="-122"/>
                <a:cs typeface="Courier New" pitchFamily="34" charset="-120"/>
              </a:rPr>
              <a:t>const filtered = items.filter(</a:t>
            </a:r>
            <a:r>
              <a:rPr lang="en-US" sz="1200" dirty="0">
                <a:solidFill>
                  <a:srgbClr val="9CDCFE"/>
                </a:solidFill>
                <a:latin typeface="Courier New" pitchFamily="34" charset="0"/>
                <a:ea typeface="Courier New" pitchFamily="34" charset="-122"/>
                <a:cs typeface="Courier New" pitchFamily="34" charset="-120"/>
              </a:rPr>
              <a:t>f</a:t>
            </a:r>
            <a:r>
              <a:rPr lang="en-US" sz="1200" dirty="0">
                <a:solidFill>
                  <a:srgbClr val="FFFFFF"/>
                </a:solidFill>
                <a:latin typeface="Courier New" pitchFamily="34" charset="0"/>
                <a:ea typeface="Courier New" pitchFamily="34" charset="-122"/>
                <a:cs typeface="Courier New" pitchFamily="34" charset="-120"/>
              </a:rPr>
              <a:t>);
const onClick = (</a:t>
            </a:r>
            <a:r>
              <a:rPr lang="en-US" sz="1200" dirty="0">
                <a:solidFill>
                  <a:srgbClr val="9CDCFE"/>
                </a:solidFill>
                <a:latin typeface="Courier New" pitchFamily="34" charset="0"/>
                <a:ea typeface="Courier New" pitchFamily="34" charset="-122"/>
                <a:cs typeface="Courier New" pitchFamily="34" charset="-120"/>
              </a:rPr>
              <a:t>e</a:t>
            </a:r>
            <a:r>
              <a:rPr lang="en-US" sz="1200" dirty="0">
                <a:solidFill>
                  <a:srgbClr val="FFFFFF"/>
                </a:solidFill>
                <a:latin typeface="Courier New" pitchFamily="34" charset="0"/>
                <a:ea typeface="Courier New" pitchFamily="34" charset="-122"/>
                <a:cs typeface="Courier New" pitchFamily="34" charset="-120"/>
              </a:rPr>
              <a:t>) =&gt; save(e);
export default MyList;
</a:t>
            </a:r>
            <a:r>
              <a:rPr lang="en-US" sz="1200" dirty="0">
                <a:solidFill>
                  <a:srgbClr val="6A9955"/>
                </a:solidFill>
                <a:latin typeface="Courier New" pitchFamily="34" charset="0"/>
                <a:ea typeface="Courier New" pitchFamily="34" charset="-122"/>
                <a:cs typeface="Courier New" pitchFamily="34" charset="-120"/>
              </a:rPr>
              <a:t>// Compiler memoizes</a:t>
            </a:r>
            <a:endParaRPr lang="en-US" sz="1200" dirty="0"/>
          </a:p>
        </p:txBody>
      </p:sp>
      <p:sp>
        <p:nvSpPr>
          <p:cNvPr id="11" name="Shape 9"/>
          <p:cNvSpPr/>
          <p:nvPr/>
        </p:nvSpPr>
        <p:spPr>
          <a:xfrm>
            <a:off x="777240" y="4937760"/>
            <a:ext cx="10607040" cy="1280160"/>
          </a:xfrm>
          <a:prstGeom prst="rect">
            <a:avLst/>
          </a:prstGeom>
          <a:solidFill>
            <a:srgbClr val="CBF1F6"/>
          </a:solidFill>
          <a:ln w="12700">
            <a:solidFill>
              <a:srgbClr val="CBF1F6"/>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1005840" y="5212080"/>
            <a:ext cx="502920" cy="502920"/>
          </a:xfrm>
          <a:prstGeom prst="rect">
            <a:avLst/>
          </a:prstGeom>
        </p:spPr>
      </p:pic>
      <p:sp>
        <p:nvSpPr>
          <p:cNvPr id="13" name="Text 10"/>
          <p:cNvSpPr/>
          <p:nvPr/>
        </p:nvSpPr>
        <p:spPr>
          <a:xfrm>
            <a:off x="1691640" y="4983480"/>
            <a:ext cx="9601200" cy="118872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Enabled per-project. Pair with the eslint plugin so it tells you which components opted out.</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the Compiler doesn't do for you</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Knowing the limits is what keeps performance work honest.</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737360"/>
            <a:ext cx="502920" cy="50292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Doesn't fix Rules of Hooks violations</a:t>
            </a:r>
            <a:endParaRPr lang="en-US" sz="1400" dirty="0"/>
          </a:p>
        </p:txBody>
      </p:sp>
      <p:sp>
        <p:nvSpPr>
          <p:cNvPr id="8" name="Text 5"/>
          <p:cNvSpPr/>
          <p:nvPr/>
        </p:nvSpPr>
        <p:spPr>
          <a:xfrm>
            <a:off x="1691640" y="1965960"/>
            <a:ext cx="9601200" cy="4572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Same rules as before. If anything, the eslint plugin gets stricter — opt-in violations bail out of memoization.</a:t>
            </a:r>
            <a:endParaRPr lang="en-US" sz="115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788920"/>
            <a:ext cx="502920" cy="50292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Doesn't memoize across mutation</a:t>
            </a:r>
            <a:endParaRPr lang="en-US" sz="1400" dirty="0"/>
          </a:p>
        </p:txBody>
      </p:sp>
      <p:sp>
        <p:nvSpPr>
          <p:cNvPr id="12" name="Text 8"/>
          <p:cNvSpPr/>
          <p:nvPr/>
        </p:nvSpPr>
        <p:spPr>
          <a:xfrm>
            <a:off x="1691640" y="3017520"/>
            <a:ext cx="9601200" cy="4572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Mutating an object and reusing it still breaks memoization. Use immutable updates.</a:t>
            </a:r>
            <a:endParaRPr lang="en-US" sz="115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840480"/>
            <a:ext cx="502920" cy="50292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Doesn't replace algorithmic optimization</a:t>
            </a:r>
            <a:endParaRPr lang="en-US" sz="1400" dirty="0"/>
          </a:p>
        </p:txBody>
      </p:sp>
      <p:sp>
        <p:nvSpPr>
          <p:cNvPr id="16" name="Text 11"/>
          <p:cNvSpPr/>
          <p:nvPr/>
        </p:nvSpPr>
        <p:spPr>
          <a:xfrm>
            <a:off x="1691640" y="4069080"/>
            <a:ext cx="9601200" cy="4572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If your filter is O(n²), the Compiler can't save you. Look at the data, not just the renders.</a:t>
            </a:r>
            <a:endParaRPr lang="en-US" sz="115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4892040"/>
            <a:ext cx="502920" cy="50292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Doesn't help with non-React work</a:t>
            </a:r>
            <a:endParaRPr lang="en-US" sz="1400" dirty="0"/>
          </a:p>
        </p:txBody>
      </p:sp>
      <p:sp>
        <p:nvSpPr>
          <p:cNvPr id="20" name="Text 14"/>
          <p:cNvSpPr/>
          <p:nvPr/>
        </p:nvSpPr>
        <p:spPr>
          <a:xfrm>
            <a:off x="1691640" y="5120640"/>
            <a:ext cx="9601200" cy="4572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 blocking 200ms request is still a blocking 200ms request. Web Workers, Suspense, and streaming still apply.</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Bootstrapping </a:t>
            </a:r>
            <a:r>
              <a:rPr lang="en-US" sz="4800" b="1">
                <a:solidFill>
                  <a:srgbClr val="FFFFFF"/>
                </a:solidFill>
                <a:latin typeface="Trebuchet MS" pitchFamily="34" charset="0"/>
                <a:ea typeface="Trebuchet MS" pitchFamily="34" charset="-122"/>
                <a:cs typeface="Trebuchet MS" pitchFamily="34" charset="-120"/>
              </a:rPr>
              <a:t>in 2026</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Vite, frameworks, and choosing not to choose a framework.</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Create React App is gone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Officially deprecated by the React team in February 2025.</a:t>
            </a:r>
            <a:endParaRPr lang="en-US" sz="1400" dirty="0"/>
          </a:p>
        </p:txBody>
      </p:sp>
      <p:sp>
        <p:nvSpPr>
          <p:cNvPr id="5" name="Shape 3"/>
          <p:cNvSpPr/>
          <p:nvPr/>
        </p:nvSpPr>
        <p:spPr>
          <a:xfrm>
            <a:off x="777240" y="1645920"/>
            <a:ext cx="10607040" cy="182880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05840" y="1783080"/>
            <a:ext cx="10149840" cy="1554480"/>
          </a:xfrm>
          <a:prstGeom prst="rect">
            <a:avLst/>
          </a:prstGeom>
          <a:noFill/>
          <a:ln/>
        </p:spPr>
        <p:txBody>
          <a:bodyPr wrap="square" lIns="0" tIns="0" rIns="0" bIns="0" rtlCol="0" anchor="ctr"/>
          <a:lstStyle/>
          <a:p>
            <a:pPr marL="0" indent="0">
              <a:buNone/>
            </a:pPr>
            <a:r>
              <a:rPr lang="en-US" sz="3800" b="1" dirty="0">
                <a:solidFill>
                  <a:srgbClr val="0F172A"/>
                </a:solidFill>
                <a:latin typeface="Courier New" pitchFamily="34" charset="0"/>
                <a:ea typeface="Courier New" pitchFamily="34" charset="-122"/>
                <a:cs typeface="Courier New" pitchFamily="34" charset="-120"/>
              </a:rPr>
              <a:t>create-react-app</a:t>
            </a:r>
            <a:r>
              <a:rPr lang="en-US" sz="2800" dirty="0">
                <a:solidFill>
                  <a:srgbClr val="475569"/>
                </a:solidFill>
              </a:rPr>
              <a:t>  →  </a:t>
            </a:r>
            <a:r>
              <a:rPr lang="en-US" sz="3800" b="1" dirty="0">
                <a:solidFill>
                  <a:srgbClr val="DC2626"/>
                </a:solidFill>
                <a:latin typeface="Trebuchet MS" pitchFamily="34" charset="0"/>
                <a:ea typeface="Trebuchet MS" pitchFamily="34" charset="-122"/>
                <a:cs typeface="Trebuchet MS" pitchFamily="34" charset="-120"/>
              </a:rPr>
              <a:t>deprecated</a:t>
            </a:r>
            <a:endParaRPr lang="en-US" sz="3800" dirty="0"/>
          </a:p>
        </p:txBody>
      </p:sp>
      <p:sp>
        <p:nvSpPr>
          <p:cNvPr id="7" name="Text 5"/>
          <p:cNvSpPr/>
          <p:nvPr/>
        </p:nvSpPr>
        <p:spPr>
          <a:xfrm>
            <a:off x="777240" y="3657600"/>
            <a:ext cx="106070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Why now:</a:t>
            </a:r>
            <a:endParaRPr lang="en-US" sz="1400" dirty="0"/>
          </a:p>
        </p:txBody>
      </p:sp>
      <p:sp>
        <p:nvSpPr>
          <p:cNvPr id="8" name="Text 6"/>
          <p:cNvSpPr/>
          <p:nvPr/>
        </p:nvSpPr>
        <p:spPr>
          <a:xfrm>
            <a:off x="777240" y="4023360"/>
            <a:ext cx="106070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Webpack-based build couldn't keep up with modern dev-server expectations (HMR, ESM)</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React 19's server-driven features need a framework or a Vite-style native build</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Maintenance burden on the React team without strategic upside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Existing CRA projects keep working — but new projects shouldn't start there</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Vite is the new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you're not using a framework, you're probably using Vite.</a:t>
            </a:r>
            <a:endParaRPr lang="en-US" sz="1400" dirty="0"/>
          </a:p>
        </p:txBody>
      </p:sp>
      <p:sp>
        <p:nvSpPr>
          <p:cNvPr id="5" name="Shape 3"/>
          <p:cNvSpPr/>
          <p:nvPr/>
        </p:nvSpPr>
        <p:spPr>
          <a:xfrm>
            <a:off x="777240" y="1645920"/>
            <a:ext cx="5943600" cy="1828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828800"/>
            <a:ext cx="5577840" cy="457200"/>
          </a:xfrm>
          <a:prstGeom prst="rect">
            <a:avLst/>
          </a:prstGeom>
          <a:noFill/>
          <a:ln/>
        </p:spPr>
        <p:txBody>
          <a:bodyPr wrap="square" lIns="0" tIns="0" rIns="0" bIns="0" rtlCol="0" anchor="ctr"/>
          <a:lstStyle/>
          <a:p>
            <a:pPr marL="0" indent="0">
              <a:buNone/>
            </a:pPr>
            <a:r>
              <a:rPr lang="en-US" sz="1800" dirty="0">
                <a:solidFill>
                  <a:srgbClr val="6A9955"/>
                </a:solidFill>
                <a:latin typeface="Courier New" pitchFamily="34" charset="0"/>
                <a:ea typeface="Courier New" pitchFamily="34" charset="-122"/>
                <a:cs typeface="Courier New" pitchFamily="34" charset="-120"/>
              </a:rPr>
              <a:t>$ </a:t>
            </a:r>
            <a:r>
              <a:rPr lang="en-US" sz="1800" dirty="0">
                <a:solidFill>
                  <a:srgbClr val="FFFFFF"/>
                </a:solidFill>
                <a:latin typeface="Courier New" pitchFamily="34" charset="0"/>
                <a:ea typeface="Courier New" pitchFamily="34" charset="-122"/>
                <a:cs typeface="Courier New" pitchFamily="34" charset="-120"/>
              </a:rPr>
              <a:t>npm create vite@latest</a:t>
            </a:r>
            <a:endParaRPr lang="en-US" sz="1800" dirty="0"/>
          </a:p>
        </p:txBody>
      </p:sp>
      <p:sp>
        <p:nvSpPr>
          <p:cNvPr id="7" name="Text 5"/>
          <p:cNvSpPr/>
          <p:nvPr/>
        </p:nvSpPr>
        <p:spPr>
          <a:xfrm>
            <a:off x="960120" y="2377440"/>
            <a:ext cx="5577840" cy="1005840"/>
          </a:xfrm>
          <a:prstGeom prst="rect">
            <a:avLst/>
          </a:prstGeom>
          <a:noFill/>
          <a:ln/>
        </p:spPr>
        <p:txBody>
          <a:bodyPr wrap="square" lIns="0" tIns="0" rIns="0" bIns="0" rtlCol="0" anchor="ctr"/>
          <a:lstStyle/>
          <a:p>
            <a:pPr marL="0" indent="0">
              <a:buNone/>
            </a:pPr>
            <a:r>
              <a:rPr lang="en-US" sz="1300" dirty="0">
                <a:solidFill>
                  <a:srgbClr val="CBF1F6"/>
                </a:solidFill>
                <a:latin typeface="Courier New" pitchFamily="34" charset="0"/>
                <a:ea typeface="Courier New" pitchFamily="34" charset="-122"/>
                <a:cs typeface="Courier New" pitchFamily="34" charset="-120"/>
              </a:rPr>
              <a:t>✓ Project name … my-app
✓ Framework … React
✓ Variant … JavaScript</a:t>
            </a:r>
            <a:endParaRPr lang="en-US" sz="1300" dirty="0"/>
          </a:p>
        </p:txBody>
      </p:sp>
      <p:sp>
        <p:nvSpPr>
          <p:cNvPr id="8" name="Text 6"/>
          <p:cNvSpPr/>
          <p:nvPr/>
        </p:nvSpPr>
        <p:spPr>
          <a:xfrm>
            <a:off x="6949440" y="155448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9" name="Text 7"/>
          <p:cNvSpPr/>
          <p:nvPr/>
        </p:nvSpPr>
        <p:spPr>
          <a:xfrm>
            <a:off x="6949440" y="1920240"/>
            <a:ext cx="45720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Native ESM dev server (instant cold start)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Rollup-based production builds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Sensible HMR out of the box</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JS, TS, JSX, TSX support without config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Plugin ecosystem covers everything CRA used to plus React Router</a:t>
            </a:r>
            <a:endParaRPr lang="en-US" sz="1250" dirty="0"/>
          </a:p>
        </p:txBody>
      </p:sp>
      <p:sp>
        <p:nvSpPr>
          <p:cNvPr id="10" name="Shape 8"/>
          <p:cNvSpPr/>
          <p:nvPr/>
        </p:nvSpPr>
        <p:spPr>
          <a:xfrm>
            <a:off x="777240" y="4206240"/>
            <a:ext cx="10607040" cy="1371600"/>
          </a:xfrm>
          <a:prstGeom prst="rect">
            <a:avLst/>
          </a:prstGeom>
          <a:solidFill>
            <a:srgbClr val="CBF1F6"/>
          </a:solidFill>
          <a:ln w="12700">
            <a:solidFill>
              <a:srgbClr val="CBF1F6"/>
            </a:solidFill>
            <a:prstDash val="solid"/>
          </a:ln>
        </p:spPr>
        <p:txBody>
          <a:bodyPr/>
          <a:lstStyle/>
          <a:p>
            <a:endParaRPr lang="en-US"/>
          </a:p>
        </p:txBody>
      </p:sp>
      <p:pic>
        <p:nvPicPr>
          <p:cNvPr id="11" name="Image 0" descr="preencoded.png"/>
          <p:cNvPicPr>
            <a:picLocks noChangeAspect="1"/>
          </p:cNvPicPr>
          <p:nvPr/>
        </p:nvPicPr>
        <p:blipFill>
          <a:blip r:embed="rId3"/>
          <a:stretch>
            <a:fillRect/>
          </a:stretch>
        </p:blipFill>
        <p:spPr>
          <a:xfrm>
            <a:off x="1005840" y="4526280"/>
            <a:ext cx="548640" cy="548640"/>
          </a:xfrm>
          <a:prstGeom prst="rect">
            <a:avLst/>
          </a:prstGeom>
        </p:spPr>
      </p:pic>
      <p:sp>
        <p:nvSpPr>
          <p:cNvPr id="12" name="Text 9"/>
          <p:cNvSpPr/>
          <p:nvPr/>
        </p:nvSpPr>
        <p:spPr>
          <a:xfrm>
            <a:off x="1783080" y="4251960"/>
            <a:ext cx="9509760" cy="128016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Add the React Compiler with babel-plugin-react-compiler in your Vite config. The eslint plugin tells you which components opted out.</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plain Vite + React is enough</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Don't reach for a framework reflexively. Sometimes Vite is the right answer.</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Internal tools and dashboards behind auth — SEO doesn't matter, server rendering doesn't matter</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Single-page applications where the data model is mostly client-side state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Embeddable widgets shipped as a single bundle into a host page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Prototypes and proofs-of-concept where shipping speed beats architectural perfection</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Storybooks, design systems, component libraries — not really apps in the framework sense</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you do need a framework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Most consumer-facing apps land here.</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Public-facing pages that need SEO and shareable URLs</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Server Components and Server Actions — they require a framework runtime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Streaming SSR with sensible defaults (the renderToPipeableStream-by-hand path is a sharp edge)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File-based routing, route loaders, and built-in data fetching conventions</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Production deployment story: edge runtime, ISR, partial prerendering</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Framework picks in 2026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We'll teach in two of these. The others are useful to recognize.</a:t>
            </a:r>
            <a:endParaRPr lang="en-US" sz="1400" dirty="0"/>
          </a:p>
        </p:txBody>
      </p:sp>
      <p:sp>
        <p:nvSpPr>
          <p:cNvPr id="5" name="Shape 3"/>
          <p:cNvSpPr/>
          <p:nvPr/>
        </p:nvSpPr>
        <p:spPr>
          <a:xfrm>
            <a:off x="777240" y="1554480"/>
            <a:ext cx="10607040" cy="841248"/>
          </a:xfrm>
          <a:prstGeom prst="rect">
            <a:avLst/>
          </a:prstGeom>
          <a:solidFill>
            <a:srgbClr val="CBF1F6"/>
          </a:solidFill>
          <a:ln w="12700">
            <a:solidFill>
              <a:srgbClr val="E2E8F0"/>
            </a:solidFill>
            <a:prstDash val="solid"/>
          </a:ln>
        </p:spPr>
        <p:txBody>
          <a:bodyPr/>
          <a:lstStyle/>
          <a:p>
            <a:endParaRPr lang="en-US"/>
          </a:p>
        </p:txBody>
      </p:sp>
      <p:sp>
        <p:nvSpPr>
          <p:cNvPr id="6" name="Text 4"/>
          <p:cNvSpPr/>
          <p:nvPr/>
        </p:nvSpPr>
        <p:spPr>
          <a:xfrm>
            <a:off x="960120" y="1664208"/>
            <a:ext cx="4114800" cy="54864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Next.js 15</a:t>
            </a:r>
            <a:endParaRPr lang="en-US" sz="1600" dirty="0"/>
          </a:p>
        </p:txBody>
      </p:sp>
      <p:sp>
        <p:nvSpPr>
          <p:cNvPr id="7" name="Text 5"/>
          <p:cNvSpPr/>
          <p:nvPr/>
        </p:nvSpPr>
        <p:spPr>
          <a:xfrm>
            <a:off x="5120640" y="1664208"/>
            <a:ext cx="612648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Vercel-led. App Router + Server Components + Server Actions. Largest ecosystem.</a:t>
            </a:r>
            <a:endParaRPr lang="en-US" sz="1250" dirty="0"/>
          </a:p>
        </p:txBody>
      </p:sp>
      <p:sp>
        <p:nvSpPr>
          <p:cNvPr id="8" name="Text 6"/>
          <p:cNvSpPr/>
          <p:nvPr/>
        </p:nvSpPr>
        <p:spPr>
          <a:xfrm>
            <a:off x="10149840" y="1609344"/>
            <a:ext cx="1097280" cy="320040"/>
          </a:xfrm>
          <a:prstGeom prst="rect">
            <a:avLst/>
          </a:prstGeom>
          <a:noFill/>
          <a:ln/>
        </p:spPr>
        <p:txBody>
          <a:bodyPr wrap="square" lIns="0" tIns="0" rIns="0" bIns="0" rtlCol="0" anchor="ctr"/>
          <a:lstStyle/>
          <a:p>
            <a:pPr marL="0" indent="0" algn="r">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9" name="Shape 7"/>
          <p:cNvSpPr/>
          <p:nvPr/>
        </p:nvSpPr>
        <p:spPr>
          <a:xfrm>
            <a:off x="777240" y="2560320"/>
            <a:ext cx="10607040" cy="841248"/>
          </a:xfrm>
          <a:prstGeom prst="rect">
            <a:avLst/>
          </a:prstGeom>
          <a:solidFill>
            <a:srgbClr val="CBF1F6"/>
          </a:solidFill>
          <a:ln w="12700">
            <a:solidFill>
              <a:srgbClr val="E2E8F0"/>
            </a:solidFill>
            <a:prstDash val="solid"/>
          </a:ln>
        </p:spPr>
        <p:txBody>
          <a:bodyPr/>
          <a:lstStyle/>
          <a:p>
            <a:endParaRPr lang="en-US"/>
          </a:p>
        </p:txBody>
      </p:sp>
      <p:sp>
        <p:nvSpPr>
          <p:cNvPr id="10" name="Text 8"/>
          <p:cNvSpPr/>
          <p:nvPr/>
        </p:nvSpPr>
        <p:spPr>
          <a:xfrm>
            <a:off x="960120" y="2670048"/>
            <a:ext cx="4114800" cy="54864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React Router v7 (framework)</a:t>
            </a:r>
            <a:endParaRPr lang="en-US" sz="1600" dirty="0"/>
          </a:p>
        </p:txBody>
      </p:sp>
      <p:sp>
        <p:nvSpPr>
          <p:cNvPr id="11" name="Text 9"/>
          <p:cNvSpPr/>
          <p:nvPr/>
        </p:nvSpPr>
        <p:spPr>
          <a:xfrm>
            <a:off x="5120640" y="2670048"/>
            <a:ext cx="612648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Merged with Remix in late 2024. Loaders, actions, framework mode. Strong fit for app-style sites.</a:t>
            </a:r>
            <a:endParaRPr lang="en-US" sz="1250" dirty="0"/>
          </a:p>
        </p:txBody>
      </p:sp>
      <p:sp>
        <p:nvSpPr>
          <p:cNvPr id="12" name="Text 10"/>
          <p:cNvSpPr/>
          <p:nvPr/>
        </p:nvSpPr>
        <p:spPr>
          <a:xfrm>
            <a:off x="10149840" y="2615184"/>
            <a:ext cx="1097280" cy="320040"/>
          </a:xfrm>
          <a:prstGeom prst="rect">
            <a:avLst/>
          </a:prstGeom>
          <a:noFill/>
          <a:ln/>
        </p:spPr>
        <p:txBody>
          <a:bodyPr wrap="square" lIns="0" tIns="0" rIns="0" bIns="0" rtlCol="0" anchor="ctr"/>
          <a:lstStyle/>
          <a:p>
            <a:pPr marL="0" indent="0" algn="r">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13" name="Shape 11"/>
          <p:cNvSpPr/>
          <p:nvPr/>
        </p:nvSpPr>
        <p:spPr>
          <a:xfrm>
            <a:off x="777240" y="3566160"/>
            <a:ext cx="10607040" cy="841248"/>
          </a:xfrm>
          <a:prstGeom prst="rect">
            <a:avLst/>
          </a:prstGeom>
          <a:solidFill>
            <a:srgbClr val="FFFFFF"/>
          </a:solidFill>
          <a:ln w="12700">
            <a:solidFill>
              <a:srgbClr val="E2E8F0"/>
            </a:solidFill>
            <a:prstDash val="solid"/>
          </a:ln>
        </p:spPr>
        <p:txBody>
          <a:bodyPr/>
          <a:lstStyle/>
          <a:p>
            <a:endParaRPr lang="en-US"/>
          </a:p>
        </p:txBody>
      </p:sp>
      <p:sp>
        <p:nvSpPr>
          <p:cNvPr id="14" name="Text 12"/>
          <p:cNvSpPr/>
          <p:nvPr/>
        </p:nvSpPr>
        <p:spPr>
          <a:xfrm>
            <a:off x="960120" y="3675888"/>
            <a:ext cx="4114800" cy="54864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TanStack Start</a:t>
            </a:r>
            <a:endParaRPr lang="en-US" sz="1600" dirty="0"/>
          </a:p>
        </p:txBody>
      </p:sp>
      <p:sp>
        <p:nvSpPr>
          <p:cNvPr id="15" name="Text 13"/>
          <p:cNvSpPr/>
          <p:nvPr/>
        </p:nvSpPr>
        <p:spPr>
          <a:xfrm>
            <a:off x="5120640" y="3675888"/>
            <a:ext cx="612648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Built on TanStack Router + TanStack Query. Newer; appealing if you live in TanStack land.</a:t>
            </a:r>
            <a:endParaRPr lang="en-US" sz="1250" dirty="0"/>
          </a:p>
        </p:txBody>
      </p:sp>
      <p:sp>
        <p:nvSpPr>
          <p:cNvPr id="16" name="Shape 14"/>
          <p:cNvSpPr/>
          <p:nvPr/>
        </p:nvSpPr>
        <p:spPr>
          <a:xfrm>
            <a:off x="777240" y="4572000"/>
            <a:ext cx="10607040" cy="841248"/>
          </a:xfrm>
          <a:prstGeom prst="rect">
            <a:avLst/>
          </a:prstGeom>
          <a:solidFill>
            <a:srgbClr val="FFFFFF"/>
          </a:solidFill>
          <a:ln w="12700">
            <a:solidFill>
              <a:srgbClr val="E2E8F0"/>
            </a:solidFill>
            <a:prstDash val="solid"/>
          </a:ln>
        </p:spPr>
        <p:txBody>
          <a:bodyPr/>
          <a:lstStyle/>
          <a:p>
            <a:endParaRPr lang="en-US"/>
          </a:p>
        </p:txBody>
      </p:sp>
      <p:sp>
        <p:nvSpPr>
          <p:cNvPr id="17" name="Text 15"/>
          <p:cNvSpPr/>
          <p:nvPr/>
        </p:nvSpPr>
        <p:spPr>
          <a:xfrm>
            <a:off x="960120" y="4681728"/>
            <a:ext cx="4114800" cy="54864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Astro</a:t>
            </a:r>
            <a:endParaRPr lang="en-US" sz="1600" dirty="0"/>
          </a:p>
        </p:txBody>
      </p:sp>
      <p:sp>
        <p:nvSpPr>
          <p:cNvPr id="18" name="Text 16"/>
          <p:cNvSpPr/>
          <p:nvPr/>
        </p:nvSpPr>
        <p:spPr>
          <a:xfrm>
            <a:off x="5120640" y="4681728"/>
            <a:ext cx="612648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Content-first. React as one of many island flavors. Great for marketing sites and docs.</a:t>
            </a:r>
            <a:endParaRPr lang="en-US" sz="1250" dirty="0"/>
          </a:p>
        </p:txBody>
      </p:sp>
      <p:sp>
        <p:nvSpPr>
          <p:cNvPr id="19" name="Text 17"/>
          <p:cNvSpPr/>
          <p:nvPr/>
        </p:nvSpPr>
        <p:spPr>
          <a:xfrm>
            <a:off x="777240" y="5760720"/>
            <a:ext cx="10607040" cy="457200"/>
          </a:xfrm>
          <a:prstGeom prst="rect">
            <a:avLst/>
          </a:prstGeom>
          <a:noFill/>
          <a:ln/>
        </p:spPr>
        <p:txBody>
          <a:bodyPr wrap="square" lIns="0" tIns="0" rIns="0" bIns="0" rtlCol="0" anchor="ctr"/>
          <a:lstStyle/>
          <a:p>
            <a:pPr marL="0" indent="0">
              <a:buNone/>
            </a:pPr>
            <a:r>
              <a:rPr lang="en-US" sz="1250" i="1" dirty="0">
                <a:solidFill>
                  <a:srgbClr val="475569"/>
                </a:solidFill>
                <a:latin typeface="Arial" pitchFamily="34" charset="0"/>
                <a:ea typeface="Arial" pitchFamily="34" charset="-122"/>
                <a:cs typeface="Arial" pitchFamily="34" charset="-120"/>
              </a:rPr>
              <a:t>Lab 2 implements the same auth flow in both Next.js 15 and React Router v7 framework mode. You'll see them side-by-side.</a:t>
            </a:r>
            <a:endParaRPr lang="en-US" sz="125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Next.js 15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Most popular React framework. App Router + RSC by default in new projects.</a:t>
            </a:r>
            <a:endParaRPr lang="en-US" sz="1400" dirty="0"/>
          </a:p>
        </p:txBody>
      </p:sp>
      <p:sp>
        <p:nvSpPr>
          <p:cNvPr id="5" name="Shape 3"/>
          <p:cNvSpPr/>
          <p:nvPr/>
        </p:nvSpPr>
        <p:spPr>
          <a:xfrm>
            <a:off x="777240" y="1691640"/>
            <a:ext cx="5349240" cy="438912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365760"/>
          </a:xfrm>
          <a:prstGeom prst="rect">
            <a:avLst/>
          </a:prstGeom>
          <a:noFill/>
          <a:ln/>
        </p:spPr>
        <p:txBody>
          <a:bodyPr wrap="square" lIns="0" tIns="0" rIns="0" bIns="0" rtlCol="0" anchor="ctr"/>
          <a:lstStyle/>
          <a:p>
            <a:pPr marL="0" indent="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7" name="Text 5"/>
          <p:cNvSpPr/>
          <p:nvPr/>
        </p:nvSpPr>
        <p:spPr>
          <a:xfrm>
            <a:off x="960120" y="2377440"/>
            <a:ext cx="502920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First-class Server Components and Server Actions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Streaming + Suspense baked into the rendering path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Partial prerendering for hybrid static/dynamic pages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Turbopack stable for dev — fast builds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 deployment story is genuinely good</a:t>
            </a:r>
            <a:endParaRPr lang="en-US" sz="1250" dirty="0"/>
          </a:p>
        </p:txBody>
      </p:sp>
      <p:sp>
        <p:nvSpPr>
          <p:cNvPr id="8" name="Shape 6"/>
          <p:cNvSpPr/>
          <p:nvPr/>
        </p:nvSpPr>
        <p:spPr>
          <a:xfrm>
            <a:off x="6355080" y="1691640"/>
            <a:ext cx="5029200" cy="438912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6537960" y="1874520"/>
            <a:ext cx="4754880" cy="365760"/>
          </a:xfrm>
          <a:prstGeom prst="rect">
            <a:avLst/>
          </a:prstGeom>
          <a:noFill/>
          <a:ln/>
        </p:spPr>
        <p:txBody>
          <a:bodyPr wrap="square" lIns="0" tIns="0" rIns="0" bIns="0" rtlCol="0" anchor="ctr"/>
          <a:lstStyle/>
          <a:p>
            <a:pPr marL="0" indent="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0" name="Text 8"/>
          <p:cNvSpPr/>
          <p:nvPr/>
        </p:nvSpPr>
        <p:spPr>
          <a:xfrm>
            <a:off x="6537960" y="2377440"/>
            <a:ext cx="475488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App Router conventions are non-trivial — file-as-API takes getting used to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Caching defaults change between minor versions; read the release notes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Vercel-flavored runtime — works elsewhere but the polish is uneven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Easy to over-reach for server features when a Vite SPA would do</a:t>
            </a:r>
            <a:endParaRPr lang="en-US" sz="125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React Router v7 — framework mode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RR + Remix merged in November 2024. One product, two modes.</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874520"/>
            <a:ext cx="548640" cy="548640"/>
          </a:xfrm>
          <a:prstGeom prst="rect">
            <a:avLst/>
          </a:prstGeom>
        </p:spPr>
      </p:pic>
      <p:sp>
        <p:nvSpPr>
          <p:cNvPr id="7" name="Text 4"/>
          <p:cNvSpPr/>
          <p:nvPr/>
        </p:nvSpPr>
        <p:spPr>
          <a:xfrm>
            <a:off x="1737360" y="1691640"/>
            <a:ext cx="9509760" cy="100584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Library mode = the React Router you know. Framework mode = Remix-style loaders, actions, and conventions, with Vite under the hood.</a:t>
            </a:r>
            <a:endParaRPr lang="en-US" sz="1300" dirty="0"/>
          </a:p>
        </p:txBody>
      </p:sp>
      <p:sp>
        <p:nvSpPr>
          <p:cNvPr id="8" name="Shape 5"/>
          <p:cNvSpPr/>
          <p:nvPr/>
        </p:nvSpPr>
        <p:spPr>
          <a:xfrm>
            <a:off x="777240" y="3108960"/>
            <a:ext cx="5349240" cy="3108960"/>
          </a:xfrm>
          <a:prstGeom prst="rect">
            <a:avLst/>
          </a:prstGeom>
          <a:solidFill>
            <a:srgbClr val="FFFFFF"/>
          </a:solidFill>
          <a:ln w="12700">
            <a:solidFill>
              <a:srgbClr val="E2E8F0"/>
            </a:solidFill>
            <a:prstDash val="solid"/>
          </a:ln>
        </p:spPr>
        <p:txBody>
          <a:bodyPr/>
          <a:lstStyle/>
          <a:p>
            <a:endParaRPr lang="en-US"/>
          </a:p>
        </p:txBody>
      </p:sp>
      <p:sp>
        <p:nvSpPr>
          <p:cNvPr id="9" name="Text 6"/>
          <p:cNvSpPr/>
          <p:nvPr/>
        </p:nvSpPr>
        <p:spPr>
          <a:xfrm>
            <a:off x="960120" y="3291840"/>
            <a:ext cx="5029200" cy="365760"/>
          </a:xfrm>
          <a:prstGeom prst="rect">
            <a:avLst/>
          </a:prstGeom>
          <a:noFill/>
          <a:ln/>
        </p:spPr>
        <p:txBody>
          <a:bodyPr wrap="square" lIns="0" tIns="0" rIns="0" bIns="0" rtlCol="0" anchor="ctr"/>
          <a:lstStyle/>
          <a:p>
            <a:pPr marL="0" indent="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10" name="Text 7"/>
          <p:cNvSpPr/>
          <p:nvPr/>
        </p:nvSpPr>
        <p:spPr>
          <a:xfrm>
            <a:off x="960120" y="3749040"/>
            <a:ext cx="50292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Closer to vanilla React than Next.js — fewer conventions to memorize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Loaders + actions = a clean data-on-the-server story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Deploy anywhere Node runs — no vendor pull</a:t>
            </a:r>
            <a:endParaRPr lang="en-US" sz="1250" dirty="0"/>
          </a:p>
        </p:txBody>
      </p:sp>
      <p:sp>
        <p:nvSpPr>
          <p:cNvPr id="11" name="Shape 8"/>
          <p:cNvSpPr/>
          <p:nvPr/>
        </p:nvSpPr>
        <p:spPr>
          <a:xfrm>
            <a:off x="6355080" y="3108960"/>
            <a:ext cx="5029200" cy="3108960"/>
          </a:xfrm>
          <a:prstGeom prst="rect">
            <a:avLst/>
          </a:prstGeom>
          <a:solidFill>
            <a:srgbClr val="FFFFFF"/>
          </a:solidFill>
          <a:ln w="12700">
            <a:solidFill>
              <a:srgbClr val="E2E8F0"/>
            </a:solidFill>
            <a:prstDash val="solid"/>
          </a:ln>
        </p:spPr>
        <p:txBody>
          <a:bodyPr/>
          <a:lstStyle/>
          <a:p>
            <a:endParaRPr lang="en-US"/>
          </a:p>
        </p:txBody>
      </p:sp>
      <p:sp>
        <p:nvSpPr>
          <p:cNvPr id="12" name="Text 9"/>
          <p:cNvSpPr/>
          <p:nvPr/>
        </p:nvSpPr>
        <p:spPr>
          <a:xfrm>
            <a:off x="6537960" y="3291840"/>
            <a:ext cx="4754880" cy="365760"/>
          </a:xfrm>
          <a:prstGeom prst="rect">
            <a:avLst/>
          </a:prstGeom>
          <a:noFill/>
          <a:ln/>
        </p:spPr>
        <p:txBody>
          <a:bodyPr wrap="square" lIns="0" tIns="0" rIns="0" bIns="0" rtlCol="0" anchor="ctr"/>
          <a:lstStyle/>
          <a:p>
            <a:pPr marL="0" indent="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3" name="Text 10"/>
          <p:cNvSpPr/>
          <p:nvPr/>
        </p:nvSpPr>
        <p:spPr>
          <a:xfrm>
            <a:off x="6537960" y="3749040"/>
            <a:ext cx="475488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Smaller ecosystem of third-party RSC integrations than Next.js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Less material online — search results still mix RR v6 and Remix v2 advice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support is solid but newer than Next.js's</a:t>
            </a:r>
            <a:endParaRPr lang="en-US" sz="125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Worth knowing about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Not what we'll teach, but worth knowing the shape of.</a:t>
            </a:r>
            <a:endParaRPr lang="en-US" sz="1400" dirty="0"/>
          </a:p>
        </p:txBody>
      </p:sp>
      <p:sp>
        <p:nvSpPr>
          <p:cNvPr id="5" name="Shape 3"/>
          <p:cNvSpPr/>
          <p:nvPr/>
        </p:nvSpPr>
        <p:spPr>
          <a:xfrm>
            <a:off x="777240" y="1691640"/>
            <a:ext cx="10607040" cy="192024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9728" cy="1920240"/>
          </a:xfrm>
          <a:prstGeom prst="rect">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1051560" y="1874520"/>
            <a:ext cx="100584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TanStack Start</a:t>
            </a:r>
            <a:endParaRPr lang="en-US" sz="1800" dirty="0"/>
          </a:p>
        </p:txBody>
      </p:sp>
      <p:sp>
        <p:nvSpPr>
          <p:cNvPr id="8" name="Text 6"/>
          <p:cNvSpPr/>
          <p:nvPr/>
        </p:nvSpPr>
        <p:spPr>
          <a:xfrm>
            <a:off x="1051560" y="2377440"/>
            <a:ext cx="10058400" cy="109728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Newer entrant. Built on TanStack Router + TanStack Query. Type-safe, file-based routing, server functions. Worth a look if you're already TanStack-heavy or you want type safety as a first-class feature.</a:t>
            </a:r>
            <a:endParaRPr lang="en-US" sz="1300" dirty="0"/>
          </a:p>
        </p:txBody>
      </p:sp>
      <p:sp>
        <p:nvSpPr>
          <p:cNvPr id="9" name="Shape 7"/>
          <p:cNvSpPr/>
          <p:nvPr/>
        </p:nvSpPr>
        <p:spPr>
          <a:xfrm>
            <a:off x="777240" y="3886200"/>
            <a:ext cx="10607040" cy="192024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777240" y="3886200"/>
            <a:ext cx="109728" cy="1920240"/>
          </a:xfrm>
          <a:prstGeom prst="rect">
            <a:avLst/>
          </a:prstGeom>
          <a:solidFill>
            <a:srgbClr val="00B8D9"/>
          </a:solidFill>
          <a:ln w="12700">
            <a:solidFill>
              <a:srgbClr val="00B8D9"/>
            </a:solidFill>
            <a:prstDash val="solid"/>
          </a:ln>
        </p:spPr>
        <p:txBody>
          <a:bodyPr/>
          <a:lstStyle/>
          <a:p>
            <a:endParaRPr lang="en-US"/>
          </a:p>
        </p:txBody>
      </p:sp>
      <p:sp>
        <p:nvSpPr>
          <p:cNvPr id="11" name="Text 9"/>
          <p:cNvSpPr/>
          <p:nvPr/>
        </p:nvSpPr>
        <p:spPr>
          <a:xfrm>
            <a:off x="1051560" y="4069080"/>
            <a:ext cx="100584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Astro</a:t>
            </a:r>
            <a:endParaRPr lang="en-US" sz="1800" dirty="0"/>
          </a:p>
        </p:txBody>
      </p:sp>
      <p:sp>
        <p:nvSpPr>
          <p:cNvPr id="12" name="Text 10"/>
          <p:cNvSpPr/>
          <p:nvPr/>
        </p:nvSpPr>
        <p:spPr>
          <a:xfrm>
            <a:off x="1051560" y="4572000"/>
            <a:ext cx="10058400" cy="109728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Content-first framework. React renders as 'islands' inside otherwise-static pages. Best for marketing sites, docs, and content-heavy apps where most pages don't need much JS at all.</a:t>
            </a:r>
            <a:endParaRPr lang="en-US" sz="13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28 / 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assistants are part of the workflow now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And React is one of the things they get most-frequently-wrong.</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874520"/>
            <a:ext cx="640080" cy="640080"/>
          </a:xfrm>
          <a:prstGeom prst="rect">
            <a:avLst/>
          </a:prstGeom>
        </p:spPr>
      </p:pic>
      <p:sp>
        <p:nvSpPr>
          <p:cNvPr id="7" name="Text 4"/>
          <p:cNvSpPr/>
          <p:nvPr/>
        </p:nvSpPr>
        <p:spPr>
          <a:xfrm>
            <a:off x="1783080" y="1691640"/>
            <a:ext cx="9509760" cy="1005840"/>
          </a:xfrm>
          <a:prstGeom prst="rect">
            <a:avLst/>
          </a:prstGeom>
          <a:noFill/>
          <a:ln/>
        </p:spPr>
        <p:txBody>
          <a:bodyPr wrap="square" lIns="0" tIns="0" rIns="0" bIns="0" rtlCol="0" anchor="ctr"/>
          <a:lstStyle/>
          <a:p>
            <a:pPr marL="0" indent="0">
              <a:buNone/>
            </a:pPr>
            <a:r>
              <a:rPr lang="en-US" sz="1400" i="1" dirty="0">
                <a:solidFill>
                  <a:srgbClr val="0F172A"/>
                </a:solidFill>
                <a:latin typeface="Arial" pitchFamily="34" charset="0"/>
                <a:ea typeface="Arial" pitchFamily="34" charset="-122"/>
                <a:cs typeface="Arial" pitchFamily="34" charset="-120"/>
              </a:rPr>
              <a:t>Most students in this room used an AI assistant to help with at least one React component this week.</a:t>
            </a:r>
            <a:endParaRPr lang="en-US" sz="1400" dirty="0"/>
          </a:p>
        </p:txBody>
      </p:sp>
      <p:sp>
        <p:nvSpPr>
          <p:cNvPr id="8" name="Text 5"/>
          <p:cNvSpPr/>
          <p:nvPr/>
        </p:nvSpPr>
        <p:spPr>
          <a:xfrm>
            <a:off x="777240" y="3017520"/>
            <a:ext cx="10607040" cy="36576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React-specific failure modes you'll see across all the major tools:</a:t>
            </a:r>
            <a:endParaRPr lang="en-US" sz="1300" dirty="0"/>
          </a:p>
        </p:txBody>
      </p:sp>
      <p:sp>
        <p:nvSpPr>
          <p:cNvPr id="9" name="Shape 6"/>
          <p:cNvSpPr/>
          <p:nvPr/>
        </p:nvSpPr>
        <p:spPr>
          <a:xfrm>
            <a:off x="777240" y="3520440"/>
            <a:ext cx="5212080" cy="68580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3703320"/>
            <a:ext cx="320040" cy="320040"/>
          </a:xfrm>
          <a:prstGeom prst="rect">
            <a:avLst/>
          </a:prstGeom>
        </p:spPr>
      </p:pic>
      <p:sp>
        <p:nvSpPr>
          <p:cNvPr id="11" name="Text 7"/>
          <p:cNvSpPr/>
          <p:nvPr/>
        </p:nvSpPr>
        <p:spPr>
          <a:xfrm>
            <a:off x="1417320" y="361188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Stale closures inside useEffect callbacks</a:t>
            </a:r>
            <a:endParaRPr lang="en-US" sz="1200" dirty="0"/>
          </a:p>
        </p:txBody>
      </p:sp>
      <p:sp>
        <p:nvSpPr>
          <p:cNvPr id="12" name="Shape 8"/>
          <p:cNvSpPr/>
          <p:nvPr/>
        </p:nvSpPr>
        <p:spPr>
          <a:xfrm>
            <a:off x="6126480" y="3520440"/>
            <a:ext cx="5212080" cy="685800"/>
          </a:xfrm>
          <a:prstGeom prst="rect">
            <a:avLst/>
          </a:prstGeom>
          <a:solidFill>
            <a:srgbClr val="FFFFFF"/>
          </a:solidFill>
          <a:ln w="12700">
            <a:solidFill>
              <a:srgbClr val="E2E8F0"/>
            </a:solidFill>
            <a:prstDash val="solid"/>
          </a:ln>
        </p:spPr>
        <p:txBody>
          <a:bodyPr/>
          <a:lstStyle/>
          <a:p>
            <a:endParaRPr lang="en-US"/>
          </a:p>
        </p:txBody>
      </p:sp>
      <p:pic>
        <p:nvPicPr>
          <p:cNvPr id="13" name="Image 2" descr="preencoded.png"/>
          <p:cNvPicPr>
            <a:picLocks noChangeAspect="1"/>
          </p:cNvPicPr>
          <p:nvPr/>
        </p:nvPicPr>
        <p:blipFill>
          <a:blip r:embed="rId4"/>
          <a:stretch>
            <a:fillRect/>
          </a:stretch>
        </p:blipFill>
        <p:spPr>
          <a:xfrm>
            <a:off x="6309360" y="3703320"/>
            <a:ext cx="320040" cy="320040"/>
          </a:xfrm>
          <a:prstGeom prst="rect">
            <a:avLst/>
          </a:prstGeom>
        </p:spPr>
      </p:pic>
      <p:sp>
        <p:nvSpPr>
          <p:cNvPr id="14" name="Text 9"/>
          <p:cNvSpPr/>
          <p:nvPr/>
        </p:nvSpPr>
        <p:spPr>
          <a:xfrm>
            <a:off x="6766560" y="361188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Missing or over-eager dependency arrays</a:t>
            </a:r>
            <a:endParaRPr lang="en-US" sz="1200" dirty="0"/>
          </a:p>
        </p:txBody>
      </p:sp>
      <p:sp>
        <p:nvSpPr>
          <p:cNvPr id="15" name="Shape 10"/>
          <p:cNvSpPr/>
          <p:nvPr/>
        </p:nvSpPr>
        <p:spPr>
          <a:xfrm>
            <a:off x="777240" y="4343400"/>
            <a:ext cx="5212080" cy="685800"/>
          </a:xfrm>
          <a:prstGeom prst="rect">
            <a:avLst/>
          </a:prstGeom>
          <a:solidFill>
            <a:srgbClr val="FFFFFF"/>
          </a:solidFill>
          <a:ln w="12700">
            <a:solidFill>
              <a:srgbClr val="E2E8F0"/>
            </a:solidFill>
            <a:prstDash val="solid"/>
          </a:ln>
        </p:spPr>
        <p:txBody>
          <a:bodyPr/>
          <a:lstStyle/>
          <a:p>
            <a:endParaRPr lang="en-US"/>
          </a:p>
        </p:txBody>
      </p:sp>
      <p:pic>
        <p:nvPicPr>
          <p:cNvPr id="16" name="Image 3" descr="preencoded.png"/>
          <p:cNvPicPr>
            <a:picLocks noChangeAspect="1"/>
          </p:cNvPicPr>
          <p:nvPr/>
        </p:nvPicPr>
        <p:blipFill>
          <a:blip r:embed="rId4"/>
          <a:stretch>
            <a:fillRect/>
          </a:stretch>
        </p:blipFill>
        <p:spPr>
          <a:xfrm>
            <a:off x="960120" y="4526280"/>
            <a:ext cx="320040" cy="320040"/>
          </a:xfrm>
          <a:prstGeom prst="rect">
            <a:avLst/>
          </a:prstGeom>
        </p:spPr>
      </p:pic>
      <p:sp>
        <p:nvSpPr>
          <p:cNvPr id="17" name="Text 11"/>
          <p:cNvSpPr/>
          <p:nvPr/>
        </p:nvSpPr>
        <p:spPr>
          <a:xfrm>
            <a:off x="1417320" y="443484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useEffect for derived state (should be plain calculation)</a:t>
            </a:r>
            <a:endParaRPr lang="en-US" sz="1200" dirty="0"/>
          </a:p>
        </p:txBody>
      </p:sp>
      <p:sp>
        <p:nvSpPr>
          <p:cNvPr id="18" name="Shape 12"/>
          <p:cNvSpPr/>
          <p:nvPr/>
        </p:nvSpPr>
        <p:spPr>
          <a:xfrm>
            <a:off x="6126480" y="4343400"/>
            <a:ext cx="5212080" cy="685800"/>
          </a:xfrm>
          <a:prstGeom prst="rect">
            <a:avLst/>
          </a:prstGeom>
          <a:solidFill>
            <a:srgbClr val="FFFFFF"/>
          </a:solidFill>
          <a:ln w="12700">
            <a:solidFill>
              <a:srgbClr val="E2E8F0"/>
            </a:solidFill>
            <a:prstDash val="solid"/>
          </a:ln>
        </p:spPr>
        <p:txBody>
          <a:bodyPr/>
          <a:lstStyle/>
          <a:p>
            <a:endParaRPr lang="en-US"/>
          </a:p>
        </p:txBody>
      </p:sp>
      <p:pic>
        <p:nvPicPr>
          <p:cNvPr id="19" name="Image 4" descr="preencoded.png"/>
          <p:cNvPicPr>
            <a:picLocks noChangeAspect="1"/>
          </p:cNvPicPr>
          <p:nvPr/>
        </p:nvPicPr>
        <p:blipFill>
          <a:blip r:embed="rId4"/>
          <a:stretch>
            <a:fillRect/>
          </a:stretch>
        </p:blipFill>
        <p:spPr>
          <a:xfrm>
            <a:off x="6309360" y="4526280"/>
            <a:ext cx="320040" cy="320040"/>
          </a:xfrm>
          <a:prstGeom prst="rect">
            <a:avLst/>
          </a:prstGeom>
        </p:spPr>
      </p:pic>
      <p:sp>
        <p:nvSpPr>
          <p:cNvPr id="20" name="Text 13"/>
          <p:cNvSpPr/>
          <p:nvPr/>
        </p:nvSpPr>
        <p:spPr>
          <a:xfrm>
            <a:off x="6766560" y="443484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Server/client boundary leaks (importing server code into 'use client')</a:t>
            </a:r>
            <a:endParaRPr lang="en-US" sz="1200" dirty="0"/>
          </a:p>
        </p:txBody>
      </p:sp>
      <p:sp>
        <p:nvSpPr>
          <p:cNvPr id="21" name="Shape 14"/>
          <p:cNvSpPr/>
          <p:nvPr/>
        </p:nvSpPr>
        <p:spPr>
          <a:xfrm>
            <a:off x="777240" y="5166360"/>
            <a:ext cx="5212080" cy="685800"/>
          </a:xfrm>
          <a:prstGeom prst="rect">
            <a:avLst/>
          </a:prstGeom>
          <a:solidFill>
            <a:srgbClr val="FFFFFF"/>
          </a:solidFill>
          <a:ln w="12700">
            <a:solidFill>
              <a:srgbClr val="E2E8F0"/>
            </a:solidFill>
            <a:prstDash val="solid"/>
          </a:ln>
        </p:spPr>
        <p:txBody>
          <a:bodyPr/>
          <a:lstStyle/>
          <a:p>
            <a:endParaRPr lang="en-US"/>
          </a:p>
        </p:txBody>
      </p:sp>
      <p:pic>
        <p:nvPicPr>
          <p:cNvPr id="22" name="Image 5" descr="preencoded.png"/>
          <p:cNvPicPr>
            <a:picLocks noChangeAspect="1"/>
          </p:cNvPicPr>
          <p:nvPr/>
        </p:nvPicPr>
        <p:blipFill>
          <a:blip r:embed="rId4"/>
          <a:stretch>
            <a:fillRect/>
          </a:stretch>
        </p:blipFill>
        <p:spPr>
          <a:xfrm>
            <a:off x="960120" y="5349240"/>
            <a:ext cx="320040" cy="320040"/>
          </a:xfrm>
          <a:prstGeom prst="rect">
            <a:avLst/>
          </a:prstGeom>
        </p:spPr>
      </p:pic>
      <p:sp>
        <p:nvSpPr>
          <p:cNvPr id="23" name="Text 15"/>
          <p:cNvSpPr/>
          <p:nvPr/>
        </p:nvSpPr>
        <p:spPr>
          <a:xfrm>
            <a:off x="1417320" y="525780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Outdated React Router APIs from pre-v6.4 era</a:t>
            </a:r>
            <a:endParaRPr lang="en-US" sz="1200" dirty="0"/>
          </a:p>
        </p:txBody>
      </p:sp>
      <p:sp>
        <p:nvSpPr>
          <p:cNvPr id="24" name="Shape 16"/>
          <p:cNvSpPr/>
          <p:nvPr/>
        </p:nvSpPr>
        <p:spPr>
          <a:xfrm>
            <a:off x="6126480" y="5166360"/>
            <a:ext cx="5212080" cy="685800"/>
          </a:xfrm>
          <a:prstGeom prst="rect">
            <a:avLst/>
          </a:prstGeom>
          <a:solidFill>
            <a:srgbClr val="FFFFFF"/>
          </a:solidFill>
          <a:ln w="12700">
            <a:solidFill>
              <a:srgbClr val="E2E8F0"/>
            </a:solidFill>
            <a:prstDash val="solid"/>
          </a:ln>
        </p:spPr>
        <p:txBody>
          <a:bodyPr/>
          <a:lstStyle/>
          <a:p>
            <a:endParaRPr lang="en-US"/>
          </a:p>
        </p:txBody>
      </p:sp>
      <p:pic>
        <p:nvPicPr>
          <p:cNvPr id="25" name="Image 6" descr="preencoded.png"/>
          <p:cNvPicPr>
            <a:picLocks noChangeAspect="1"/>
          </p:cNvPicPr>
          <p:nvPr/>
        </p:nvPicPr>
        <p:blipFill>
          <a:blip r:embed="rId4"/>
          <a:stretch>
            <a:fillRect/>
          </a:stretch>
        </p:blipFill>
        <p:spPr>
          <a:xfrm>
            <a:off x="6309360" y="5349240"/>
            <a:ext cx="320040" cy="320040"/>
          </a:xfrm>
          <a:prstGeom prst="rect">
            <a:avLst/>
          </a:prstGeom>
        </p:spPr>
      </p:pic>
      <p:sp>
        <p:nvSpPr>
          <p:cNvPr id="26" name="Text 17"/>
          <p:cNvSpPr/>
          <p:nvPr/>
        </p:nvSpPr>
        <p:spPr>
          <a:xfrm>
            <a:off x="6766560" y="5257800"/>
            <a:ext cx="4572000" cy="54864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Hydration mismatches from non-deterministic renders</a:t>
            </a:r>
            <a:endParaRPr lang="en-US" sz="1200" dirty="0"/>
          </a:p>
        </p:txBody>
      </p:sp>
      <p:sp>
        <p:nvSpPr>
          <p:cNvPr id="27"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28"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29 / 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next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Module 2 — Hooks That Matter in 2026.</a:t>
            </a:r>
            <a:endParaRPr lang="en-US" sz="1400" dirty="0"/>
          </a:p>
        </p:txBody>
      </p:sp>
      <p:sp>
        <p:nvSpPr>
          <p:cNvPr id="5" name="Shape 3"/>
          <p:cNvSpPr/>
          <p:nvPr/>
        </p:nvSpPr>
        <p:spPr>
          <a:xfrm>
            <a:off x="777240" y="1645920"/>
            <a:ext cx="10607040" cy="420624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828800"/>
            <a:ext cx="822960" cy="822960"/>
          </a:xfrm>
          <a:prstGeom prst="rect">
            <a:avLst/>
          </a:prstGeom>
        </p:spPr>
      </p:pic>
      <p:sp>
        <p:nvSpPr>
          <p:cNvPr id="7" name="Text 4"/>
          <p:cNvSpPr/>
          <p:nvPr/>
        </p:nvSpPr>
        <p:spPr>
          <a:xfrm>
            <a:off x="2194560" y="1874520"/>
            <a:ext cx="9144000" cy="640080"/>
          </a:xfrm>
          <a:prstGeom prst="rect">
            <a:avLst/>
          </a:prstGeom>
          <a:noFill/>
          <a:ln/>
        </p:spPr>
        <p:txBody>
          <a:bodyPr wrap="square" lIns="0" tIns="0" rIns="0" bIns="0" rtlCol="0" anchor="ctr"/>
          <a:lstStyle/>
          <a:p>
            <a:pPr marL="0" indent="0">
              <a:buNone/>
            </a:pPr>
            <a:r>
              <a:rPr lang="en-US" sz="2400" b="1" dirty="0">
                <a:solidFill>
                  <a:srgbClr val="0F172A"/>
                </a:solidFill>
                <a:latin typeface="Trebuchet MS" pitchFamily="34" charset="0"/>
                <a:ea typeface="Trebuchet MS" pitchFamily="34" charset="-122"/>
                <a:cs typeface="Trebuchet MS" pitchFamily="34" charset="-120"/>
              </a:rPr>
              <a:t>Module 2 — Hooks That Matter</a:t>
            </a:r>
            <a:endParaRPr lang="en-US" sz="2400" dirty="0"/>
          </a:p>
        </p:txBody>
      </p:sp>
      <p:sp>
        <p:nvSpPr>
          <p:cNvPr id="8" name="Text 5"/>
          <p:cNvSpPr/>
          <p:nvPr/>
        </p:nvSpPr>
        <p:spPr>
          <a:xfrm>
            <a:off x="2194560" y="246888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75 minutes  ·  Lecture + live demos</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In the next module:</a:t>
            </a:r>
            <a:endParaRPr lang="en-US" sz="1400" dirty="0"/>
          </a:p>
        </p:txBody>
      </p:sp>
      <p:sp>
        <p:nvSpPr>
          <p:cNvPr id="10" name="Text 7"/>
          <p:cNvSpPr/>
          <p:nvPr/>
        </p:nvSpPr>
        <p:spPr>
          <a:xfrm>
            <a:off x="1097280" y="3566160"/>
            <a:ext cx="1005840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 hooks rulebook — and why AI assistants violate it constantly</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When not to reach for useEffect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 useActionState, useFormStatus, useOptimistic — with real code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useSyncExternalStore, useDeferredValue, useTransition, useLayoutEffect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Then Lab 1: modernize the chat app — your first AI-review exercise</a:t>
            </a:r>
            <a:endParaRPr lang="en-US" sz="130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 — The 2026 Landscape</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30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2</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Hooks That Matter</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marL="0" indent="0">
              <a:buNone/>
            </a:pPr>
            <a:r>
              <a:rPr lang="en-US" sz="2000" i="1" dirty="0">
                <a:solidFill>
                  <a:srgbClr val="CBF1F6"/>
                </a:solidFill>
                <a:latin typeface="Arial" pitchFamily="34" charset="0"/>
                <a:ea typeface="Arial" pitchFamily="34" charset="-122"/>
                <a:cs typeface="Arial" pitchFamily="34" charset="-120"/>
              </a:rPr>
              <a:t>Use the right hook for the job. Spot the wrong one in AI-generated code.</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75 minutes  ·  Lecture + live demos  ·  Lab 1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How many hooks does React 19 have?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Twenty-ish. We won't cover them all. We'll cover the ones that earn their keep.</a:t>
            </a:r>
            <a:endParaRPr lang="en-US" sz="1400" dirty="0"/>
          </a:p>
        </p:txBody>
      </p:sp>
      <p:sp>
        <p:nvSpPr>
          <p:cNvPr id="5" name="Shape 3"/>
          <p:cNvSpPr/>
          <p:nvPr/>
        </p:nvSpPr>
        <p:spPr>
          <a:xfrm>
            <a:off x="777240" y="1691640"/>
            <a:ext cx="5349240" cy="32918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777240" y="1783080"/>
            <a:ext cx="5349240" cy="1463040"/>
          </a:xfrm>
          <a:prstGeom prst="rect">
            <a:avLst/>
          </a:prstGeom>
          <a:noFill/>
          <a:ln/>
        </p:spPr>
        <p:txBody>
          <a:bodyPr wrap="square" lIns="0" tIns="0" rIns="0" bIns="0" rtlCol="0" anchor="ctr"/>
          <a:lstStyle/>
          <a:p>
            <a:pPr marL="0" indent="0" algn="ctr">
              <a:buNone/>
            </a:pPr>
            <a:r>
              <a:rPr lang="en-US" sz="9600" b="1" dirty="0">
                <a:solidFill>
                  <a:srgbClr val="0F172A"/>
                </a:solidFill>
                <a:latin typeface="Trebuchet MS" pitchFamily="34" charset="0"/>
                <a:ea typeface="Trebuchet MS" pitchFamily="34" charset="-122"/>
                <a:cs typeface="Trebuchet MS" pitchFamily="34" charset="-120"/>
              </a:rPr>
              <a:t>≈ 20</a:t>
            </a:r>
            <a:endParaRPr lang="en-US" sz="9600" dirty="0"/>
          </a:p>
        </p:txBody>
      </p:sp>
      <p:sp>
        <p:nvSpPr>
          <p:cNvPr id="7" name="Text 5"/>
          <p:cNvSpPr/>
          <p:nvPr/>
        </p:nvSpPr>
        <p:spPr>
          <a:xfrm>
            <a:off x="777240" y="3246120"/>
            <a:ext cx="5349240" cy="548640"/>
          </a:xfrm>
          <a:prstGeom prst="rect">
            <a:avLst/>
          </a:prstGeom>
          <a:noFill/>
          <a:ln/>
        </p:spPr>
        <p:txBody>
          <a:bodyPr wrap="square" lIns="0" tIns="0" rIns="0" bIns="0" rtlCol="0" anchor="ctr"/>
          <a:lstStyle/>
          <a:p>
            <a:pPr marL="0" indent="0" algn="ctr">
              <a:buNone/>
            </a:pPr>
            <a:r>
              <a:rPr lang="en-US" sz="1600" i="1" dirty="0">
                <a:solidFill>
                  <a:srgbClr val="475569"/>
                </a:solidFill>
                <a:latin typeface="Arial" pitchFamily="34" charset="0"/>
                <a:ea typeface="Arial" pitchFamily="34" charset="-122"/>
                <a:cs typeface="Arial" pitchFamily="34" charset="-120"/>
              </a:rPr>
              <a:t>built-in hooks in React 19</a:t>
            </a:r>
            <a:endParaRPr lang="en-US" sz="1600" dirty="0"/>
          </a:p>
        </p:txBody>
      </p:sp>
      <p:sp>
        <p:nvSpPr>
          <p:cNvPr id="8" name="Text 6"/>
          <p:cNvSpPr/>
          <p:nvPr/>
        </p:nvSpPr>
        <p:spPr>
          <a:xfrm>
            <a:off x="777240" y="3794760"/>
            <a:ext cx="5349240" cy="457200"/>
          </a:xfrm>
          <a:prstGeom prst="rect">
            <a:avLst/>
          </a:prstGeom>
          <a:noFill/>
          <a:ln/>
        </p:spPr>
        <p:txBody>
          <a:bodyPr wrap="square" lIns="0" tIns="0" rIns="0" bIns="0" rtlCol="0" anchor="ctr"/>
          <a:lstStyle/>
          <a:p>
            <a:pPr marL="0" indent="0" algn="ctr">
              <a:buNone/>
            </a:pPr>
            <a:r>
              <a:rPr lang="en-US" sz="1400" b="1" dirty="0">
                <a:solidFill>
                  <a:srgbClr val="00B8D9"/>
                </a:solidFill>
                <a:latin typeface="Trebuchet MS" pitchFamily="34" charset="0"/>
                <a:ea typeface="Trebuchet MS" pitchFamily="34" charset="-122"/>
                <a:cs typeface="Trebuchet MS" pitchFamily="34" charset="-120"/>
              </a:rPr>
              <a:t>4 are new since React 18</a:t>
            </a:r>
            <a:endParaRPr lang="en-US" sz="1400" dirty="0"/>
          </a:p>
        </p:txBody>
      </p:sp>
      <p:sp>
        <p:nvSpPr>
          <p:cNvPr id="9" name="Text 7"/>
          <p:cNvSpPr/>
          <p:nvPr/>
        </p:nvSpPr>
        <p:spPr>
          <a:xfrm>
            <a:off x="777240" y="4297680"/>
            <a:ext cx="5349240" cy="548640"/>
          </a:xfrm>
          <a:prstGeom prst="rect">
            <a:avLst/>
          </a:prstGeom>
          <a:noFill/>
          <a:ln/>
        </p:spPr>
        <p:txBody>
          <a:bodyPr wrap="square" lIns="0" tIns="0" rIns="0" bIns="0" rtlCol="0" anchor="ctr"/>
          <a:lstStyle/>
          <a:p>
            <a:pPr marL="0" indent="0" algn="ctr">
              <a:buNone/>
            </a:pPr>
            <a:r>
              <a:rPr lang="en-US" sz="1100" i="1" dirty="0">
                <a:solidFill>
                  <a:srgbClr val="94A3B8"/>
                </a:solidFill>
                <a:latin typeface="Arial" pitchFamily="34" charset="0"/>
                <a:ea typeface="Arial" pitchFamily="34" charset="-122"/>
                <a:cs typeface="Arial" pitchFamily="34" charset="-120"/>
              </a:rPr>
              <a:t>Plus ~6 framework- or compiler-only hooks not covered today</a:t>
            </a:r>
            <a:endParaRPr lang="en-US" sz="1100" dirty="0"/>
          </a:p>
        </p:txBody>
      </p:sp>
      <p:sp>
        <p:nvSpPr>
          <p:cNvPr id="10" name="Text 8"/>
          <p:cNvSpPr/>
          <p:nvPr/>
        </p:nvSpPr>
        <p:spPr>
          <a:xfrm>
            <a:off x="6766560" y="169164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In this module:</a:t>
            </a:r>
            <a:endParaRPr lang="en-US" sz="1400" dirty="0"/>
          </a:p>
        </p:txBody>
      </p:sp>
      <p:sp>
        <p:nvSpPr>
          <p:cNvPr id="11" name="Text 9"/>
          <p:cNvSpPr/>
          <p:nvPr/>
        </p:nvSpPr>
        <p:spPr>
          <a:xfrm>
            <a:off x="6766560" y="2103120"/>
            <a:ext cx="4754880" cy="40233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hooks rulebook (and how AI breaks it)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Foundational hooks revisited — useState, useReducer, useEffect (and when not to)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four new arrivals — use, useActionState, useFormStatus, useOptimistic</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Specialty hooks — useSyncExternalStore, useDeferredValue, useTransition, useLayoutEffect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Then Lab 1: modernize the chat app</a:t>
            </a:r>
            <a:endParaRPr lang="en-US" sz="1250" dirty="0"/>
          </a:p>
        </p:txBody>
      </p:sp>
      <p:sp>
        <p:nvSpPr>
          <p:cNvPr id="12" name="Text 1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3" name="Text 1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Rules of Hooks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Five minutes. AI assistants violate these constantly — knowing them is part of the review skill.</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Rules of Hooks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rules. The eslint plugin enforces them. Most AI tools eventually break them anyway.</a:t>
            </a:r>
            <a:endParaRPr lang="en-US" sz="1400" dirty="0"/>
          </a:p>
        </p:txBody>
      </p:sp>
      <p:sp>
        <p:nvSpPr>
          <p:cNvPr id="5" name="Shape 3"/>
          <p:cNvSpPr/>
          <p:nvPr/>
        </p:nvSpPr>
        <p:spPr>
          <a:xfrm>
            <a:off x="777240" y="1554480"/>
            <a:ext cx="10607040" cy="123444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1874520"/>
            <a:ext cx="594360" cy="59436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1874520"/>
            <a:ext cx="594360" cy="59436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8" name="Text 6"/>
          <p:cNvSpPr/>
          <p:nvPr/>
        </p:nvSpPr>
        <p:spPr>
          <a:xfrm>
            <a:off x="1783080" y="1719072"/>
            <a:ext cx="9326880" cy="41148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Only call hooks at the top level</a:t>
            </a:r>
            <a:endParaRPr lang="en-US" sz="1700" dirty="0"/>
          </a:p>
        </p:txBody>
      </p:sp>
      <p:sp>
        <p:nvSpPr>
          <p:cNvPr id="9" name="Text 7"/>
          <p:cNvSpPr/>
          <p:nvPr/>
        </p:nvSpPr>
        <p:spPr>
          <a:xfrm>
            <a:off x="1783080" y="2148840"/>
            <a:ext cx="932688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Never inside loops, conditions, nested functions, or after early returns. React tracks hooks by call order; conditional calls break that order.</a:t>
            </a:r>
            <a:endParaRPr lang="en-US" sz="1200" dirty="0"/>
          </a:p>
        </p:txBody>
      </p:sp>
      <p:sp>
        <p:nvSpPr>
          <p:cNvPr id="10" name="Shape 8"/>
          <p:cNvSpPr/>
          <p:nvPr/>
        </p:nvSpPr>
        <p:spPr>
          <a:xfrm>
            <a:off x="777240" y="2971800"/>
            <a:ext cx="10607040" cy="123444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3291840"/>
            <a:ext cx="594360" cy="59436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3291840"/>
            <a:ext cx="594360" cy="59436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3" name="Text 11"/>
          <p:cNvSpPr/>
          <p:nvPr/>
        </p:nvSpPr>
        <p:spPr>
          <a:xfrm>
            <a:off x="1783080" y="3136392"/>
            <a:ext cx="9326880" cy="41148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Only call hooks from React functions</a:t>
            </a:r>
            <a:endParaRPr lang="en-US" sz="1700" dirty="0"/>
          </a:p>
        </p:txBody>
      </p:sp>
      <p:sp>
        <p:nvSpPr>
          <p:cNvPr id="14" name="Text 12"/>
          <p:cNvSpPr/>
          <p:nvPr/>
        </p:nvSpPr>
        <p:spPr>
          <a:xfrm>
            <a:off x="1783080" y="3566160"/>
            <a:ext cx="932688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Function components, custom hooks (functions that start with use). Not regular functions, not class methods, not event handlers.</a:t>
            </a:r>
            <a:endParaRPr lang="en-US" sz="1200" dirty="0"/>
          </a:p>
        </p:txBody>
      </p:sp>
      <p:sp>
        <p:nvSpPr>
          <p:cNvPr id="15" name="Shape 13"/>
          <p:cNvSpPr/>
          <p:nvPr/>
        </p:nvSpPr>
        <p:spPr>
          <a:xfrm>
            <a:off x="777240" y="4389120"/>
            <a:ext cx="10607040" cy="123444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4709160"/>
            <a:ext cx="594360" cy="59436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4709160"/>
            <a:ext cx="594360" cy="594360"/>
          </a:xfrm>
          <a:prstGeom prst="rect">
            <a:avLst/>
          </a:prstGeom>
          <a:noFill/>
          <a:ln/>
        </p:spPr>
        <p:txBody>
          <a:bodyPr wrap="square" lIns="0" tIns="0" rIns="0" bIns="0" rtlCol="0" anchor="ctr"/>
          <a:lstStyle/>
          <a:p>
            <a:pPr marL="0" indent="0" algn="ctr">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18" name="Text 16"/>
          <p:cNvSpPr/>
          <p:nvPr/>
        </p:nvSpPr>
        <p:spPr>
          <a:xfrm>
            <a:off x="1783080" y="4553712"/>
            <a:ext cx="9326880" cy="411480"/>
          </a:xfrm>
          <a:prstGeom prst="rect">
            <a:avLst/>
          </a:prstGeom>
          <a:noFill/>
          <a:ln/>
        </p:spPr>
        <p:txBody>
          <a:bodyPr wrap="square" lIns="0" tIns="0" rIns="0" bIns="0" rtlCol="0" anchor="ctr"/>
          <a:lstStyle/>
          <a:p>
            <a:pPr marL="0" indent="0">
              <a:buNone/>
            </a:pPr>
            <a:r>
              <a:rPr lang="en-US" sz="1700" b="1" dirty="0">
                <a:solidFill>
                  <a:srgbClr val="0F172A"/>
                </a:solidFill>
                <a:latin typeface="Trebuchet MS" pitchFamily="34" charset="0"/>
                <a:ea typeface="Trebuchet MS" pitchFamily="34" charset="-122"/>
                <a:cs typeface="Trebuchet MS" pitchFamily="34" charset="-120"/>
              </a:rPr>
              <a:t>Custom hooks compose by calling other hooks</a:t>
            </a:r>
            <a:endParaRPr lang="en-US" sz="1700" dirty="0"/>
          </a:p>
        </p:txBody>
      </p:sp>
      <p:sp>
        <p:nvSpPr>
          <p:cNvPr id="19" name="Text 17"/>
          <p:cNvSpPr/>
          <p:nvPr/>
        </p:nvSpPr>
        <p:spPr>
          <a:xfrm>
            <a:off x="1783080" y="4983480"/>
            <a:ext cx="932688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If you find yourself wanting to call a hook conditionally, lift the conditionality into the component using the custom hook.</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Why the rules exist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React tracks hook state by call order, not by name. Conditionals would scramble it.</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Breaks the rules</a:t>
            </a:r>
            <a:endParaRPr lang="en-US" sz="1300" dirty="0"/>
          </a:p>
        </p:txBody>
      </p:sp>
      <p:sp>
        <p:nvSpPr>
          <p:cNvPr id="6" name="Shape 4"/>
          <p:cNvSpPr/>
          <p:nvPr/>
        </p:nvSpPr>
        <p:spPr>
          <a:xfrm>
            <a:off x="777240" y="1920240"/>
            <a:ext cx="5349240" cy="27432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246888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Greeting</a:t>
            </a:r>
            <a:r>
              <a:rPr lang="en-US" sz="1300" dirty="0">
                <a:solidFill>
                  <a:srgbClr val="FFFFFF"/>
                </a:solidFill>
                <a:latin typeface="Courier New" pitchFamily="34" charset="0"/>
                <a:ea typeface="Courier New" pitchFamily="34" charset="-122"/>
                <a:cs typeface="Courier New" pitchFamily="34" charset="-120"/>
              </a:rPr>
              <a:t>({ name })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if (!name) return null;</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Hook called only when name truthy</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[count, setCount]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&lt;h1&gt;Hello {name}&lt;/h1&gt;;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Plays by the rules</a:t>
            </a:r>
            <a:endParaRPr lang="en-US" sz="1300" dirty="0"/>
          </a:p>
        </p:txBody>
      </p:sp>
      <p:sp>
        <p:nvSpPr>
          <p:cNvPr id="9" name="Shape 7"/>
          <p:cNvSpPr/>
          <p:nvPr/>
        </p:nvSpPr>
        <p:spPr>
          <a:xfrm>
            <a:off x="6355080" y="1920240"/>
            <a:ext cx="5029200" cy="27432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246888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Greeting</a:t>
            </a:r>
            <a:r>
              <a:rPr lang="en-US" sz="1300" dirty="0">
                <a:solidFill>
                  <a:srgbClr val="FFFFFF"/>
                </a:solidFill>
                <a:latin typeface="Courier New" pitchFamily="34" charset="0"/>
                <a:ea typeface="Courier New" pitchFamily="34" charset="-122"/>
                <a:cs typeface="Courier New" pitchFamily="34" charset="-120"/>
              </a:rPr>
              <a:t>({ name })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Hook called every render</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[count, setCount]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if (!name) return null;</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&lt;h1&gt;Hello {name}&lt;/h1&gt;;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1" name="Shape 9"/>
          <p:cNvSpPr/>
          <p:nvPr/>
        </p:nvSpPr>
        <p:spPr>
          <a:xfrm>
            <a:off x="777240" y="4937760"/>
            <a:ext cx="10607040" cy="1280160"/>
          </a:xfrm>
          <a:prstGeom prst="rect">
            <a:avLst/>
          </a:prstGeom>
          <a:solidFill>
            <a:srgbClr val="CBF1F6"/>
          </a:solidFill>
          <a:ln w="12700">
            <a:solidFill>
              <a:srgbClr val="CBF1F6"/>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1005840" y="5212080"/>
            <a:ext cx="502920" cy="502920"/>
          </a:xfrm>
          <a:prstGeom prst="rect">
            <a:avLst/>
          </a:prstGeom>
        </p:spPr>
      </p:pic>
      <p:sp>
        <p:nvSpPr>
          <p:cNvPr id="13" name="Text 10"/>
          <p:cNvSpPr/>
          <p:nvPr/>
        </p:nvSpPr>
        <p:spPr>
          <a:xfrm>
            <a:off x="1691640" y="5029200"/>
            <a:ext cx="9601200" cy="109728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React's reconciler relies on hooks being called in the same order every render. Break the order, get a confusing 'Rendered fewer hooks than expected' error.</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assistants violate these constantly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Why review skill matters more than typing skill.</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Hook inside a conditional</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Asked to 'only run this when X', AI tools wrap a useEffect in if (X) {} more often than they reach for the dependency array.</a:t>
            </a:r>
            <a:endParaRPr lang="en-US" sz="1150" dirty="0"/>
          </a:p>
        </p:txBody>
      </p:sp>
      <p:sp>
        <p:nvSpPr>
          <p:cNvPr id="9" name="Shape 6"/>
          <p:cNvSpPr/>
          <p:nvPr/>
        </p:nvSpPr>
        <p:spPr>
          <a:xfrm>
            <a:off x="777240" y="269748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880360"/>
            <a:ext cx="502920" cy="502920"/>
          </a:xfrm>
          <a:prstGeom prst="rect">
            <a:avLst/>
          </a:prstGeom>
        </p:spPr>
      </p:pic>
      <p:sp>
        <p:nvSpPr>
          <p:cNvPr id="11" name="Text 7"/>
          <p:cNvSpPr/>
          <p:nvPr/>
        </p:nvSpPr>
        <p:spPr>
          <a:xfrm>
            <a:off x="1691640" y="278892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Hook in a callback</a:t>
            </a:r>
            <a:endParaRPr lang="en-US" sz="1400" dirty="0"/>
          </a:p>
        </p:txBody>
      </p:sp>
      <p:sp>
        <p:nvSpPr>
          <p:cNvPr id="12" name="Text 8"/>
          <p:cNvSpPr/>
          <p:nvPr/>
        </p:nvSpPr>
        <p:spPr>
          <a:xfrm>
            <a:off x="1691640" y="310896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useState inside an onClick handler is depressingly common in AI-generated code.</a:t>
            </a:r>
            <a:endParaRPr lang="en-US" sz="1150" dirty="0"/>
          </a:p>
        </p:txBody>
      </p:sp>
      <p:sp>
        <p:nvSpPr>
          <p:cNvPr id="13" name="Shape 9"/>
          <p:cNvSpPr/>
          <p:nvPr/>
        </p:nvSpPr>
        <p:spPr>
          <a:xfrm>
            <a:off x="777240" y="3703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886200"/>
            <a:ext cx="502920" cy="502920"/>
          </a:xfrm>
          <a:prstGeom prst="rect">
            <a:avLst/>
          </a:prstGeom>
        </p:spPr>
      </p:pic>
      <p:sp>
        <p:nvSpPr>
          <p:cNvPr id="15" name="Text 10"/>
          <p:cNvSpPr/>
          <p:nvPr/>
        </p:nvSpPr>
        <p:spPr>
          <a:xfrm>
            <a:off x="1691640" y="379476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Hook ordering changes between renders</a:t>
            </a:r>
            <a:endParaRPr lang="en-US" sz="1400" dirty="0"/>
          </a:p>
        </p:txBody>
      </p:sp>
      <p:sp>
        <p:nvSpPr>
          <p:cNvPr id="16" name="Text 11"/>
          <p:cNvSpPr/>
          <p:nvPr/>
        </p:nvSpPr>
        <p:spPr>
          <a:xfrm>
            <a:off x="1691640" y="4114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Different hook called depending on a prop value — silently breaks state across re-renders.</a:t>
            </a:r>
            <a:endParaRPr lang="en-US" sz="115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4892040"/>
            <a:ext cx="502920" cy="50292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Custom hook called conditionally</a:t>
            </a:r>
            <a:endParaRPr lang="en-US" sz="1400" dirty="0"/>
          </a:p>
        </p:txBody>
      </p:sp>
      <p:sp>
        <p:nvSpPr>
          <p:cNvPr id="20" name="Text 14"/>
          <p:cNvSpPr/>
          <p:nvPr/>
        </p:nvSpPr>
        <p:spPr>
          <a:xfrm>
            <a:off x="1691640" y="51206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When the AI is told 'use this when…', it produces useMyThing() inside an if. Same problem.</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Foundational Hooks Revisited</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useState, useReducer, useEffect — and the situations where useEffect is the wrong tool.</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useState — what most people know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patterns worth being deliberate about.</a:t>
            </a:r>
            <a:endParaRPr lang="en-US" sz="1400" dirty="0"/>
          </a:p>
        </p:txBody>
      </p:sp>
      <p:sp>
        <p:nvSpPr>
          <p:cNvPr id="5" name="Shape 3"/>
          <p:cNvSpPr/>
          <p:nvPr/>
        </p:nvSpPr>
        <p:spPr>
          <a:xfrm>
            <a:off x="777240" y="1554480"/>
            <a:ext cx="3611880" cy="457200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691640"/>
            <a:ext cx="333756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Functional updater</a:t>
            </a:r>
            <a:endParaRPr lang="en-US" sz="1500" dirty="0"/>
          </a:p>
        </p:txBody>
      </p:sp>
      <p:sp>
        <p:nvSpPr>
          <p:cNvPr id="7" name="Text 5"/>
          <p:cNvSpPr/>
          <p:nvPr/>
        </p:nvSpPr>
        <p:spPr>
          <a:xfrm>
            <a:off x="960120" y="2057400"/>
            <a:ext cx="3337560" cy="640080"/>
          </a:xfrm>
          <a:prstGeom prst="rect">
            <a:avLst/>
          </a:prstGeom>
          <a:noFill/>
          <a:ln/>
        </p:spPr>
        <p:txBody>
          <a:bodyPr wrap="square" lIns="0" tIns="0" rIns="0" bIns="0" rtlCol="0" anchor="t"/>
          <a:lstStyle/>
          <a:p>
            <a:pPr marL="0" indent="0">
              <a:buNone/>
            </a:pPr>
            <a:r>
              <a:rPr lang="en-US" sz="1150" i="1" dirty="0">
                <a:solidFill>
                  <a:srgbClr val="475569"/>
                </a:solidFill>
                <a:latin typeface="Arial" pitchFamily="34" charset="0"/>
                <a:ea typeface="Arial" pitchFamily="34" charset="-122"/>
                <a:cs typeface="Arial" pitchFamily="34" charset="-120"/>
              </a:rPr>
              <a:t>When new state depends on previous state — always.</a:t>
            </a:r>
            <a:endParaRPr lang="en-US" sz="1150" dirty="0"/>
          </a:p>
        </p:txBody>
      </p:sp>
      <p:sp>
        <p:nvSpPr>
          <p:cNvPr id="8" name="Shape 6"/>
          <p:cNvSpPr/>
          <p:nvPr/>
        </p:nvSpPr>
        <p:spPr>
          <a:xfrm>
            <a:off x="960120" y="2788920"/>
            <a:ext cx="3246120" cy="3246120"/>
          </a:xfrm>
          <a:prstGeom prst="rect">
            <a:avLst/>
          </a:prstGeom>
          <a:solidFill>
            <a:srgbClr val="1E2A47"/>
          </a:solidFill>
          <a:ln w="12700">
            <a:solidFill>
              <a:srgbClr val="1E2A47"/>
            </a:solidFill>
            <a:prstDash val="solid"/>
          </a:ln>
        </p:spPr>
        <p:txBody>
          <a:bodyPr/>
          <a:lstStyle/>
          <a:p>
            <a:endParaRPr lang="en-US"/>
          </a:p>
        </p:txBody>
      </p:sp>
      <p:sp>
        <p:nvSpPr>
          <p:cNvPr id="9" name="Text 7"/>
          <p:cNvSpPr/>
          <p:nvPr/>
        </p:nvSpPr>
        <p:spPr>
          <a:xfrm>
            <a:off x="1143000" y="2926080"/>
            <a:ext cx="2880360" cy="2971800"/>
          </a:xfrm>
          <a:prstGeom prst="rect">
            <a:avLst/>
          </a:prstGeom>
          <a:noFill/>
          <a:ln/>
        </p:spPr>
        <p:txBody>
          <a:bodyPr wrap="square" lIns="0" tIns="0" rIns="0" bIns="0" rtlCol="0" anchor="t"/>
          <a:lstStyle/>
          <a:p>
            <a:pPr marL="0" indent="0">
              <a:buNone/>
            </a:pPr>
            <a:r>
              <a:rPr lang="en-US" sz="1100" i="1" dirty="0">
                <a:solidFill>
                  <a:srgbClr val="6A9955"/>
                </a:solidFill>
                <a:latin typeface="Courier New" pitchFamily="34" charset="0"/>
                <a:ea typeface="Courier New" pitchFamily="34" charset="-122"/>
                <a:cs typeface="Courier New" pitchFamily="34" charset="-120"/>
              </a:rPr>
              <a:t>// race-prone</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setCount(count + 1);</a:t>
            </a:r>
            <a:endParaRPr lang="en-US" sz="1100" dirty="0"/>
          </a:p>
          <a:p>
            <a:pPr marL="0" indent="0">
              <a:buNone/>
            </a:pP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safe</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setCount(</a:t>
            </a:r>
            <a:r>
              <a:rPr lang="en-US" sz="1100" dirty="0">
                <a:solidFill>
                  <a:srgbClr val="9CDCFE"/>
                </a:solidFill>
                <a:latin typeface="Courier New" pitchFamily="34" charset="0"/>
                <a:ea typeface="Courier New" pitchFamily="34" charset="-122"/>
                <a:cs typeface="Courier New" pitchFamily="34" charset="-120"/>
              </a:rPr>
              <a:t>n</a:t>
            </a:r>
            <a:r>
              <a:rPr lang="en-US" sz="1100" dirty="0">
                <a:solidFill>
                  <a:srgbClr val="C586C0"/>
                </a:solidFill>
                <a:latin typeface="Courier New" pitchFamily="34" charset="0"/>
                <a:ea typeface="Courier New" pitchFamily="34" charset="-122"/>
                <a:cs typeface="Courier New" pitchFamily="34" charset="-120"/>
              </a:rPr>
              <a:t> =&gt; </a:t>
            </a:r>
            <a:r>
              <a:rPr lang="en-US" sz="1100" dirty="0">
                <a:solidFill>
                  <a:srgbClr val="FFFFFF"/>
                </a:solidFill>
                <a:latin typeface="Courier New" pitchFamily="34" charset="0"/>
                <a:ea typeface="Courier New" pitchFamily="34" charset="-122"/>
                <a:cs typeface="Courier New" pitchFamily="34" charset="-120"/>
              </a:rPr>
              <a:t>n + 1);</a:t>
            </a:r>
            <a:endParaRPr lang="en-US" sz="1100" dirty="0"/>
          </a:p>
        </p:txBody>
      </p:sp>
      <p:sp>
        <p:nvSpPr>
          <p:cNvPr id="10" name="Shape 8"/>
          <p:cNvSpPr/>
          <p:nvPr/>
        </p:nvSpPr>
        <p:spPr>
          <a:xfrm>
            <a:off x="4617720" y="1554480"/>
            <a:ext cx="3611880" cy="4572000"/>
          </a:xfrm>
          <a:prstGeom prst="rect">
            <a:avLst/>
          </a:prstGeom>
          <a:solidFill>
            <a:srgbClr val="FFFFFF"/>
          </a:solidFill>
          <a:ln w="12700">
            <a:solidFill>
              <a:srgbClr val="E2E8F0"/>
            </a:solidFill>
            <a:prstDash val="solid"/>
          </a:ln>
        </p:spPr>
        <p:txBody>
          <a:bodyPr/>
          <a:lstStyle/>
          <a:p>
            <a:endParaRPr lang="en-US"/>
          </a:p>
        </p:txBody>
      </p:sp>
      <p:sp>
        <p:nvSpPr>
          <p:cNvPr id="11" name="Text 9"/>
          <p:cNvSpPr/>
          <p:nvPr/>
        </p:nvSpPr>
        <p:spPr>
          <a:xfrm>
            <a:off x="4800600" y="1691640"/>
            <a:ext cx="333756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Lazy initialization</a:t>
            </a:r>
            <a:endParaRPr lang="en-US" sz="1500" dirty="0"/>
          </a:p>
        </p:txBody>
      </p:sp>
      <p:sp>
        <p:nvSpPr>
          <p:cNvPr id="12" name="Text 10"/>
          <p:cNvSpPr/>
          <p:nvPr/>
        </p:nvSpPr>
        <p:spPr>
          <a:xfrm>
            <a:off x="4800600" y="2057400"/>
            <a:ext cx="3337560" cy="640080"/>
          </a:xfrm>
          <a:prstGeom prst="rect">
            <a:avLst/>
          </a:prstGeom>
          <a:noFill/>
          <a:ln/>
        </p:spPr>
        <p:txBody>
          <a:bodyPr wrap="square" lIns="0" tIns="0" rIns="0" bIns="0" rtlCol="0" anchor="t"/>
          <a:lstStyle/>
          <a:p>
            <a:pPr marL="0" indent="0">
              <a:buNone/>
            </a:pPr>
            <a:r>
              <a:rPr lang="en-US" sz="1150" i="1" dirty="0">
                <a:solidFill>
                  <a:srgbClr val="475569"/>
                </a:solidFill>
                <a:latin typeface="Arial" pitchFamily="34" charset="0"/>
                <a:ea typeface="Arial" pitchFamily="34" charset="-122"/>
                <a:cs typeface="Arial" pitchFamily="34" charset="-120"/>
              </a:rPr>
              <a:t>When the initial value is expensive to compute.</a:t>
            </a:r>
            <a:endParaRPr lang="en-US" sz="1150" dirty="0"/>
          </a:p>
        </p:txBody>
      </p:sp>
      <p:sp>
        <p:nvSpPr>
          <p:cNvPr id="13" name="Shape 11"/>
          <p:cNvSpPr/>
          <p:nvPr/>
        </p:nvSpPr>
        <p:spPr>
          <a:xfrm>
            <a:off x="4800600" y="2788920"/>
            <a:ext cx="3246120" cy="3246120"/>
          </a:xfrm>
          <a:prstGeom prst="rect">
            <a:avLst/>
          </a:prstGeom>
          <a:solidFill>
            <a:srgbClr val="1E2A47"/>
          </a:solidFill>
          <a:ln w="12700">
            <a:solidFill>
              <a:srgbClr val="1E2A47"/>
            </a:solidFill>
            <a:prstDash val="solid"/>
          </a:ln>
        </p:spPr>
        <p:txBody>
          <a:bodyPr/>
          <a:lstStyle/>
          <a:p>
            <a:endParaRPr lang="en-US"/>
          </a:p>
        </p:txBody>
      </p:sp>
      <p:sp>
        <p:nvSpPr>
          <p:cNvPr id="14" name="Text 12"/>
          <p:cNvSpPr/>
          <p:nvPr/>
        </p:nvSpPr>
        <p:spPr>
          <a:xfrm>
            <a:off x="4983480" y="2926080"/>
            <a:ext cx="2880360" cy="2971800"/>
          </a:xfrm>
          <a:prstGeom prst="rect">
            <a:avLst/>
          </a:prstGeom>
          <a:noFill/>
          <a:ln/>
        </p:spPr>
        <p:txBody>
          <a:bodyPr wrap="square" lIns="0" tIns="0" rIns="0" bIns="0" rtlCol="0" anchor="t"/>
          <a:lstStyle/>
          <a:p>
            <a:pPr marL="0" indent="0">
              <a:buNone/>
            </a:pPr>
            <a:r>
              <a:rPr lang="en-US" sz="1100" i="1" dirty="0">
                <a:solidFill>
                  <a:srgbClr val="6A9955"/>
                </a:solidFill>
                <a:latin typeface="Courier New" pitchFamily="34" charset="0"/>
                <a:ea typeface="Courier New" pitchFamily="34" charset="-122"/>
                <a:cs typeface="Courier New" pitchFamily="34" charset="-120"/>
              </a:rPr>
              <a:t>// runs every render</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useState(</a:t>
            </a:r>
            <a:r>
              <a:rPr lang="en-US" sz="1100" dirty="0">
                <a:solidFill>
                  <a:srgbClr val="9CDCFE"/>
                </a:solidFill>
                <a:latin typeface="Courier New" pitchFamily="34" charset="0"/>
                <a:ea typeface="Courier New" pitchFamily="34" charset="-122"/>
                <a:cs typeface="Courier New" pitchFamily="34" charset="-120"/>
              </a:rPr>
              <a:t>expensive()</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runs once</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useState(</a:t>
            </a:r>
            <a:r>
              <a:rPr lang="en-US" sz="1100" dirty="0">
                <a:solidFill>
                  <a:srgbClr val="9CDCFE"/>
                </a:solidFill>
                <a:latin typeface="Courier New" pitchFamily="34" charset="0"/>
                <a:ea typeface="Courier New" pitchFamily="34" charset="-122"/>
                <a:cs typeface="Courier New" pitchFamily="34" charset="-120"/>
              </a:rPr>
              <a:t>() =&gt; expensive()</a:t>
            </a: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15" name="Shape 13"/>
          <p:cNvSpPr/>
          <p:nvPr/>
        </p:nvSpPr>
        <p:spPr>
          <a:xfrm>
            <a:off x="8458200" y="1554480"/>
            <a:ext cx="3611880" cy="4572000"/>
          </a:xfrm>
          <a:prstGeom prst="rect">
            <a:avLst/>
          </a:prstGeom>
          <a:solidFill>
            <a:srgbClr val="FFFFFF"/>
          </a:solidFill>
          <a:ln w="12700">
            <a:solidFill>
              <a:srgbClr val="E2E8F0"/>
            </a:solidFill>
            <a:prstDash val="solid"/>
          </a:ln>
        </p:spPr>
        <p:txBody>
          <a:bodyPr/>
          <a:lstStyle/>
          <a:p>
            <a:endParaRPr lang="en-US"/>
          </a:p>
        </p:txBody>
      </p:sp>
      <p:sp>
        <p:nvSpPr>
          <p:cNvPr id="16" name="Text 14"/>
          <p:cNvSpPr/>
          <p:nvPr/>
        </p:nvSpPr>
        <p:spPr>
          <a:xfrm>
            <a:off x="8641080" y="1691640"/>
            <a:ext cx="333756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State updater batching</a:t>
            </a:r>
            <a:endParaRPr lang="en-US" sz="1500" dirty="0"/>
          </a:p>
        </p:txBody>
      </p:sp>
      <p:sp>
        <p:nvSpPr>
          <p:cNvPr id="17" name="Text 15"/>
          <p:cNvSpPr/>
          <p:nvPr/>
        </p:nvSpPr>
        <p:spPr>
          <a:xfrm>
            <a:off x="8641080" y="2057400"/>
            <a:ext cx="3337560" cy="640080"/>
          </a:xfrm>
          <a:prstGeom prst="rect">
            <a:avLst/>
          </a:prstGeom>
          <a:noFill/>
          <a:ln/>
        </p:spPr>
        <p:txBody>
          <a:bodyPr wrap="square" lIns="0" tIns="0" rIns="0" bIns="0" rtlCol="0" anchor="t"/>
          <a:lstStyle/>
          <a:p>
            <a:pPr marL="0" indent="0">
              <a:buNone/>
            </a:pPr>
            <a:r>
              <a:rPr lang="en-US" sz="1150" i="1" dirty="0">
                <a:solidFill>
                  <a:srgbClr val="475569"/>
                </a:solidFill>
                <a:latin typeface="Arial" pitchFamily="34" charset="0"/>
                <a:ea typeface="Arial" pitchFamily="34" charset="-122"/>
                <a:cs typeface="Arial" pitchFamily="34" charset="-120"/>
              </a:rPr>
              <a:t>React 19 batches all updates in event handlers, effects, and timers automatically.</a:t>
            </a:r>
            <a:endParaRPr lang="en-US" sz="1150" dirty="0"/>
          </a:p>
        </p:txBody>
      </p:sp>
      <p:sp>
        <p:nvSpPr>
          <p:cNvPr id="18" name="Shape 16"/>
          <p:cNvSpPr/>
          <p:nvPr/>
        </p:nvSpPr>
        <p:spPr>
          <a:xfrm>
            <a:off x="8641080" y="2788920"/>
            <a:ext cx="3246120" cy="3246120"/>
          </a:xfrm>
          <a:prstGeom prst="rect">
            <a:avLst/>
          </a:prstGeom>
          <a:solidFill>
            <a:srgbClr val="1E2A47"/>
          </a:solidFill>
          <a:ln w="12700">
            <a:solidFill>
              <a:srgbClr val="1E2A47"/>
            </a:solidFill>
            <a:prstDash val="solid"/>
          </a:ln>
        </p:spPr>
        <p:txBody>
          <a:bodyPr/>
          <a:lstStyle/>
          <a:p>
            <a:endParaRPr lang="en-US"/>
          </a:p>
        </p:txBody>
      </p:sp>
      <p:sp>
        <p:nvSpPr>
          <p:cNvPr id="19" name="Text 17"/>
          <p:cNvSpPr/>
          <p:nvPr/>
        </p:nvSpPr>
        <p:spPr>
          <a:xfrm>
            <a:off x="8823960" y="2926080"/>
            <a:ext cx="2880360" cy="2971800"/>
          </a:xfrm>
          <a:prstGeom prst="rect">
            <a:avLst/>
          </a:prstGeom>
          <a:noFill/>
          <a:ln/>
        </p:spPr>
        <p:txBody>
          <a:bodyPr wrap="square" lIns="0" tIns="0" rIns="0" bIns="0" rtlCol="0" anchor="t"/>
          <a:lstStyle/>
          <a:p>
            <a:pPr marL="0" indent="0">
              <a:buNone/>
            </a:pPr>
            <a:r>
              <a:rPr lang="en-US" sz="1100" i="1" dirty="0">
                <a:solidFill>
                  <a:srgbClr val="6A9955"/>
                </a:solidFill>
                <a:latin typeface="Courier New" pitchFamily="34" charset="0"/>
                <a:ea typeface="Courier New" pitchFamily="34" charset="-122"/>
                <a:cs typeface="Courier New" pitchFamily="34" charset="-120"/>
              </a:rPr>
              <a:t>// one render, count = 3</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function </a:t>
            </a:r>
            <a:r>
              <a:rPr lang="en-US" sz="1100" dirty="0">
                <a:solidFill>
                  <a:srgbClr val="DCDCAA"/>
                </a:solidFill>
                <a:latin typeface="Courier New" pitchFamily="34" charset="0"/>
                <a:ea typeface="Courier New" pitchFamily="34" charset="-122"/>
                <a:cs typeface="Courier New" pitchFamily="34" charset="-120"/>
              </a:rPr>
              <a:t>onClick</a:t>
            </a: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setCount(</a:t>
            </a:r>
            <a:r>
              <a:rPr lang="en-US" sz="1100" dirty="0">
                <a:solidFill>
                  <a:srgbClr val="9CDCFE"/>
                </a:solidFill>
                <a:latin typeface="Courier New" pitchFamily="34" charset="0"/>
                <a:ea typeface="Courier New" pitchFamily="34" charset="-122"/>
                <a:cs typeface="Courier New" pitchFamily="34" charset="-120"/>
              </a:rPr>
              <a:t>n</a:t>
            </a: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setCount(</a:t>
            </a:r>
            <a:r>
              <a:rPr lang="en-US" sz="1100" dirty="0">
                <a:solidFill>
                  <a:srgbClr val="9CDCFE"/>
                </a:solidFill>
                <a:latin typeface="Courier New" pitchFamily="34" charset="0"/>
                <a:ea typeface="Courier New" pitchFamily="34" charset="-122"/>
                <a:cs typeface="Courier New" pitchFamily="34" charset="-120"/>
              </a:rPr>
              <a:t>n</a:t>
            </a: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setCount(</a:t>
            </a:r>
            <a:r>
              <a:rPr lang="en-US" sz="1100" dirty="0">
                <a:solidFill>
                  <a:srgbClr val="9CDCFE"/>
                </a:solidFill>
                <a:latin typeface="Courier New" pitchFamily="34" charset="0"/>
                <a:ea typeface="Courier New" pitchFamily="34" charset="-122"/>
                <a:cs typeface="Courier New" pitchFamily="34" charset="-120"/>
              </a:rPr>
              <a:t>n</a:t>
            </a: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34</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useState trap: derived 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 can compute it from props, don't put it in state.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The trap</a:t>
            </a:r>
            <a:endParaRPr lang="en-US" sz="1300" dirty="0"/>
          </a:p>
        </p:txBody>
      </p:sp>
      <p:sp>
        <p:nvSpPr>
          <p:cNvPr id="6" name="Shape 4"/>
          <p:cNvSpPr/>
          <p:nvPr/>
        </p:nvSpPr>
        <p:spPr>
          <a:xfrm>
            <a:off x="777240" y="1920240"/>
            <a:ext cx="5349240" cy="310896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283464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List</a:t>
            </a:r>
            <a:r>
              <a:rPr lang="en-US" sz="1300" dirty="0">
                <a:solidFill>
                  <a:srgbClr val="FFFFFF"/>
                </a:solidFill>
                <a:latin typeface="Courier New" pitchFamily="34" charset="0"/>
                <a:ea typeface="Courier New" pitchFamily="34" charset="-122"/>
                <a:cs typeface="Courier New" pitchFamily="34" charset="-120"/>
              </a:rPr>
              <a:t>({ items, query })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[filtered, setFiltered]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(items);</a:t>
            </a:r>
            <a:endParaRPr lang="en-US" sz="1300" dirty="0"/>
          </a:p>
          <a:p>
            <a:pPr marL="0" indent="0">
              <a:buNone/>
            </a:pP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bug: filtered lags items by one render</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DCDCAA"/>
                </a:solidFill>
                <a:latin typeface="Courier New" pitchFamily="34" charset="0"/>
                <a:ea typeface="Courier New" pitchFamily="34" charset="-122"/>
                <a:cs typeface="Courier New" pitchFamily="34" charset="-120"/>
              </a:rPr>
              <a:t>useEffect</a:t>
            </a: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setFiltered(items.filter(i =&gt; i.includes(query)));</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 [items, query]);</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&lt;ul&gt;{filtered.map(...)}&lt;/ul&gt;;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Shape 7"/>
          <p:cNvSpPr/>
          <p:nvPr/>
        </p:nvSpPr>
        <p:spPr>
          <a:xfrm>
            <a:off x="6355080" y="1920240"/>
            <a:ext cx="5029200" cy="310896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283464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List</a:t>
            </a:r>
            <a:r>
              <a:rPr lang="en-US" sz="1300" dirty="0">
                <a:solidFill>
                  <a:srgbClr val="FFFFFF"/>
                </a:solidFill>
                <a:latin typeface="Courier New" pitchFamily="34" charset="0"/>
                <a:ea typeface="Courier New" pitchFamily="34" charset="-122"/>
                <a:cs typeface="Courier New" pitchFamily="34" charset="-120"/>
              </a:rPr>
              <a:t>({ items, query })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just compute it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filtered = items.filter(</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i =&gt; i.includes(query)</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&lt;ul&gt;{filtered.map(...)}&lt;/ul&gt;;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Compiler memoizes if needed</a:t>
            </a:r>
            <a:endParaRPr lang="en-US" sz="1300" dirty="0"/>
          </a:p>
        </p:txBody>
      </p:sp>
      <p:sp>
        <p:nvSpPr>
          <p:cNvPr id="11" name="Shape 9"/>
          <p:cNvSpPr/>
          <p:nvPr/>
        </p:nvSpPr>
        <p:spPr>
          <a:xfrm>
            <a:off x="777240" y="5212080"/>
            <a:ext cx="10607040" cy="1005840"/>
          </a:xfrm>
          <a:prstGeom prst="rect">
            <a:avLst/>
          </a:prstGeom>
          <a:solidFill>
            <a:srgbClr val="CBF1F6"/>
          </a:solidFill>
          <a:ln w="12700">
            <a:solidFill>
              <a:srgbClr val="CBF1F6"/>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1005840" y="5440680"/>
            <a:ext cx="502920" cy="502920"/>
          </a:xfrm>
          <a:prstGeom prst="rect">
            <a:avLst/>
          </a:prstGeom>
        </p:spPr>
      </p:pic>
      <p:sp>
        <p:nvSpPr>
          <p:cNvPr id="13" name="Text 10"/>
          <p:cNvSpPr/>
          <p:nvPr/>
        </p:nvSpPr>
        <p:spPr>
          <a:xfrm>
            <a:off x="1691640" y="5257800"/>
            <a:ext cx="9601200" cy="91440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This is the single most common AI-generated React mistake. State + useEffect to track props is almost always wrong.</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34</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useReducer — when state has multiple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Better than useState when transitions are complex or related states change together.</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 useReducer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Multiple state values change together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State transitions are non-trivial (validation, side-effect dispatch)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to test the transition logic in isolation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modeling a state machine</a:t>
            </a:r>
            <a:endParaRPr lang="en-US" sz="1250"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6537960" y="1691640"/>
            <a:ext cx="4663440" cy="393192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reducer</a:t>
            </a:r>
            <a:r>
              <a:rPr lang="en-US" sz="1300" dirty="0">
                <a:solidFill>
                  <a:srgbClr val="FFFFFF"/>
                </a:solidFill>
                <a:latin typeface="Courier New" pitchFamily="34" charset="0"/>
                <a:ea typeface="Courier New" pitchFamily="34" charset="-122"/>
                <a:cs typeface="Courier New" pitchFamily="34" charset="-120"/>
              </a:rPr>
              <a:t>(state, action)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switch (action.type)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case </a:t>
            </a:r>
            <a:r>
              <a:rPr lang="en-US" sz="1300" dirty="0">
                <a:solidFill>
                  <a:srgbClr val="9CDCFE"/>
                </a:solidFill>
                <a:latin typeface="Courier New" pitchFamily="34" charset="0"/>
                <a:ea typeface="Courier New" pitchFamily="34" charset="-122"/>
                <a:cs typeface="Courier New" pitchFamily="34" charset="-120"/>
              </a:rPr>
              <a:t>'add'</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 ...state,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items: [...state.items, action.item]</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case </a:t>
            </a:r>
            <a:r>
              <a:rPr lang="en-US" sz="1300" dirty="0">
                <a:solidFill>
                  <a:srgbClr val="9CDCFE"/>
                </a:solidFill>
                <a:latin typeface="Courier New" pitchFamily="34" charset="0"/>
                <a:ea typeface="Courier New" pitchFamily="34" charset="-122"/>
                <a:cs typeface="Courier New" pitchFamily="34" charset="-120"/>
              </a:rPr>
              <a:t>'reset'</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initialState;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const [state, dispatch] = </a:t>
            </a:r>
            <a:r>
              <a:rPr lang="en-US" sz="1300" dirty="0">
                <a:solidFill>
                  <a:srgbClr val="DCDCAA"/>
                </a:solidFill>
                <a:latin typeface="Courier New" pitchFamily="34" charset="0"/>
                <a:ea typeface="Courier New" pitchFamily="34" charset="-122"/>
                <a:cs typeface="Courier New" pitchFamily="34" charset="-120"/>
              </a:rPr>
              <a:t>useReducer</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reducer, initialState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9" name="Shape 7"/>
          <p:cNvSpPr/>
          <p:nvPr/>
        </p:nvSpPr>
        <p:spPr>
          <a:xfrm>
            <a:off x="777240" y="5212080"/>
            <a:ext cx="5349240" cy="1005840"/>
          </a:xfrm>
          <a:prstGeom prst="rect">
            <a:avLst/>
          </a:prstGeom>
          <a:solidFill>
            <a:srgbClr val="CBF1F6"/>
          </a:solidFill>
          <a:ln w="12700">
            <a:solidFill>
              <a:srgbClr val="CBF1F6"/>
            </a:solidFill>
            <a:prstDash val="solid"/>
          </a:ln>
        </p:spPr>
        <p:txBody>
          <a:bodyPr/>
          <a:lstStyle/>
          <a:p>
            <a:endParaRPr lang="en-US"/>
          </a:p>
        </p:txBody>
      </p:sp>
      <p:sp>
        <p:nvSpPr>
          <p:cNvPr id="10" name="Text 8"/>
          <p:cNvSpPr/>
          <p:nvPr/>
        </p:nvSpPr>
        <p:spPr>
          <a:xfrm>
            <a:off x="960120" y="5257800"/>
            <a:ext cx="5166360" cy="914400"/>
          </a:xfrm>
          <a:prstGeom prst="rect">
            <a:avLst/>
          </a:prstGeom>
          <a:noFill/>
          <a:ln/>
        </p:spPr>
        <p:txBody>
          <a:bodyPr wrap="square" lIns="0" tIns="0" rIns="0" bIns="0" rtlCol="0" anchor="ctr"/>
          <a:lstStyle/>
          <a:p>
            <a:pPr marL="0" indent="0">
              <a:buNone/>
            </a:pPr>
            <a:r>
              <a:rPr lang="en-US" sz="1200" i="1" dirty="0">
                <a:solidFill>
                  <a:srgbClr val="0F172A"/>
                </a:solidFill>
                <a:latin typeface="Arial" pitchFamily="34" charset="0"/>
                <a:ea typeface="Arial" pitchFamily="34" charset="-122"/>
                <a:cs typeface="Arial" pitchFamily="34" charset="-120"/>
              </a:rPr>
              <a:t>TS tip: action.type as a discriminated union gives you exhaustive checks.</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34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useEffect — what it's actually for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Synchronizing your component with something outside React.</a:t>
            </a:r>
            <a:endParaRPr lang="en-US" sz="1400" dirty="0"/>
          </a:p>
        </p:txBody>
      </p:sp>
      <p:sp>
        <p:nvSpPr>
          <p:cNvPr id="5" name="Text 3"/>
          <p:cNvSpPr/>
          <p:nvPr/>
        </p:nvSpPr>
        <p:spPr>
          <a:xfrm>
            <a:off x="777240" y="150876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Yes — synchronize external systems</a:t>
            </a:r>
            <a:endParaRPr lang="en-US" sz="1400" dirty="0"/>
          </a:p>
        </p:txBody>
      </p:sp>
      <p:sp>
        <p:nvSpPr>
          <p:cNvPr id="6" name="Shape 4"/>
          <p:cNvSpPr/>
          <p:nvPr/>
        </p:nvSpPr>
        <p:spPr>
          <a:xfrm>
            <a:off x="777240" y="1965960"/>
            <a:ext cx="5349240" cy="640080"/>
          </a:xfrm>
          <a:prstGeom prst="rect">
            <a:avLst/>
          </a:prstGeom>
          <a:solidFill>
            <a:srgbClr val="FFFFFF"/>
          </a:solidFill>
          <a:ln w="12700">
            <a:solidFill>
              <a:srgbClr val="E2E8F0"/>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60120" y="2103120"/>
            <a:ext cx="365760" cy="365760"/>
          </a:xfrm>
          <a:prstGeom prst="rect">
            <a:avLst/>
          </a:prstGeom>
        </p:spPr>
      </p:pic>
      <p:sp>
        <p:nvSpPr>
          <p:cNvPr id="8" name="Text 5"/>
          <p:cNvSpPr/>
          <p:nvPr/>
        </p:nvSpPr>
        <p:spPr>
          <a:xfrm>
            <a:off x="1463040" y="2011680"/>
            <a:ext cx="461772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Subscribing to an external store (event bus, websocket, browser API)</a:t>
            </a:r>
            <a:endParaRPr lang="en-US" sz="1150" dirty="0"/>
          </a:p>
        </p:txBody>
      </p:sp>
      <p:sp>
        <p:nvSpPr>
          <p:cNvPr id="9" name="Shape 6"/>
          <p:cNvSpPr/>
          <p:nvPr/>
        </p:nvSpPr>
        <p:spPr>
          <a:xfrm>
            <a:off x="777240" y="2743200"/>
            <a:ext cx="5349240" cy="6400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880360"/>
            <a:ext cx="365760" cy="365760"/>
          </a:xfrm>
          <a:prstGeom prst="rect">
            <a:avLst/>
          </a:prstGeom>
        </p:spPr>
      </p:pic>
      <p:sp>
        <p:nvSpPr>
          <p:cNvPr id="11" name="Text 7"/>
          <p:cNvSpPr/>
          <p:nvPr/>
        </p:nvSpPr>
        <p:spPr>
          <a:xfrm>
            <a:off x="1463040" y="2788920"/>
            <a:ext cx="461772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Setting up timers or animation frames</a:t>
            </a:r>
            <a:endParaRPr lang="en-US" sz="1150" dirty="0"/>
          </a:p>
        </p:txBody>
      </p:sp>
      <p:sp>
        <p:nvSpPr>
          <p:cNvPr id="12" name="Shape 8"/>
          <p:cNvSpPr/>
          <p:nvPr/>
        </p:nvSpPr>
        <p:spPr>
          <a:xfrm>
            <a:off x="777240" y="3520440"/>
            <a:ext cx="5349240" cy="640080"/>
          </a:xfrm>
          <a:prstGeom prst="rect">
            <a:avLst/>
          </a:prstGeom>
          <a:solidFill>
            <a:srgbClr val="FFFFFF"/>
          </a:solidFill>
          <a:ln w="12700">
            <a:solidFill>
              <a:srgbClr val="E2E8F0"/>
            </a:solidFill>
            <a:prstDash val="solid"/>
          </a:ln>
        </p:spPr>
        <p:txBody>
          <a:bodyPr/>
          <a:lstStyle/>
          <a:p>
            <a:endParaRPr lang="en-US"/>
          </a:p>
        </p:txBody>
      </p:sp>
      <p:pic>
        <p:nvPicPr>
          <p:cNvPr id="13" name="Image 2" descr="preencoded.png"/>
          <p:cNvPicPr>
            <a:picLocks noChangeAspect="1"/>
          </p:cNvPicPr>
          <p:nvPr/>
        </p:nvPicPr>
        <p:blipFill>
          <a:blip r:embed="rId3"/>
          <a:stretch>
            <a:fillRect/>
          </a:stretch>
        </p:blipFill>
        <p:spPr>
          <a:xfrm>
            <a:off x="960120" y="3657600"/>
            <a:ext cx="365760" cy="365760"/>
          </a:xfrm>
          <a:prstGeom prst="rect">
            <a:avLst/>
          </a:prstGeom>
        </p:spPr>
      </p:pic>
      <p:sp>
        <p:nvSpPr>
          <p:cNvPr id="14" name="Text 9"/>
          <p:cNvSpPr/>
          <p:nvPr/>
        </p:nvSpPr>
        <p:spPr>
          <a:xfrm>
            <a:off x="1463040" y="3566160"/>
            <a:ext cx="461772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Imperatively mutating a third-party widget (a chart, a map, a video player)</a:t>
            </a:r>
            <a:endParaRPr lang="en-US" sz="1150" dirty="0"/>
          </a:p>
        </p:txBody>
      </p:sp>
      <p:sp>
        <p:nvSpPr>
          <p:cNvPr id="15" name="Shape 10"/>
          <p:cNvSpPr/>
          <p:nvPr/>
        </p:nvSpPr>
        <p:spPr>
          <a:xfrm>
            <a:off x="777240" y="4297680"/>
            <a:ext cx="5349240" cy="640080"/>
          </a:xfrm>
          <a:prstGeom prst="rect">
            <a:avLst/>
          </a:prstGeom>
          <a:solidFill>
            <a:srgbClr val="FFFFFF"/>
          </a:solidFill>
          <a:ln w="12700">
            <a:solidFill>
              <a:srgbClr val="E2E8F0"/>
            </a:solidFill>
            <a:prstDash val="solid"/>
          </a:ln>
        </p:spPr>
        <p:txBody>
          <a:bodyPr/>
          <a:lstStyle/>
          <a:p>
            <a:endParaRPr lang="en-US"/>
          </a:p>
        </p:txBody>
      </p:sp>
      <p:pic>
        <p:nvPicPr>
          <p:cNvPr id="16" name="Image 3" descr="preencoded.png"/>
          <p:cNvPicPr>
            <a:picLocks noChangeAspect="1"/>
          </p:cNvPicPr>
          <p:nvPr/>
        </p:nvPicPr>
        <p:blipFill>
          <a:blip r:embed="rId3"/>
          <a:stretch>
            <a:fillRect/>
          </a:stretch>
        </p:blipFill>
        <p:spPr>
          <a:xfrm>
            <a:off x="960120" y="4434840"/>
            <a:ext cx="365760" cy="365760"/>
          </a:xfrm>
          <a:prstGeom prst="rect">
            <a:avLst/>
          </a:prstGeom>
        </p:spPr>
      </p:pic>
      <p:sp>
        <p:nvSpPr>
          <p:cNvPr id="17" name="Text 11"/>
          <p:cNvSpPr/>
          <p:nvPr/>
        </p:nvSpPr>
        <p:spPr>
          <a:xfrm>
            <a:off x="1463040" y="4343400"/>
            <a:ext cx="461772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Logging to analytics on mount or unmount</a:t>
            </a:r>
            <a:endParaRPr lang="en-US" sz="1150" dirty="0"/>
          </a:p>
        </p:txBody>
      </p:sp>
      <p:sp>
        <p:nvSpPr>
          <p:cNvPr id="18" name="Text 12"/>
          <p:cNvSpPr/>
          <p:nvPr/>
        </p:nvSpPr>
        <p:spPr>
          <a:xfrm>
            <a:off x="6355080" y="1508760"/>
            <a:ext cx="502920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No — these are not effects</a:t>
            </a:r>
            <a:endParaRPr lang="en-US" sz="1400" dirty="0"/>
          </a:p>
        </p:txBody>
      </p:sp>
      <p:sp>
        <p:nvSpPr>
          <p:cNvPr id="19" name="Shape 13"/>
          <p:cNvSpPr/>
          <p:nvPr/>
        </p:nvSpPr>
        <p:spPr>
          <a:xfrm>
            <a:off x="6355080" y="1965960"/>
            <a:ext cx="5029200" cy="640080"/>
          </a:xfrm>
          <a:prstGeom prst="rect">
            <a:avLst/>
          </a:prstGeom>
          <a:solidFill>
            <a:srgbClr val="FFFFFF"/>
          </a:solidFill>
          <a:ln w="12700">
            <a:solidFill>
              <a:srgbClr val="E2E8F0"/>
            </a:solidFill>
            <a:prstDash val="solid"/>
          </a:ln>
        </p:spPr>
        <p:txBody>
          <a:bodyPr/>
          <a:lstStyle/>
          <a:p>
            <a:endParaRPr lang="en-US"/>
          </a:p>
        </p:txBody>
      </p:sp>
      <p:pic>
        <p:nvPicPr>
          <p:cNvPr id="20" name="Image 4" descr="preencoded.png"/>
          <p:cNvPicPr>
            <a:picLocks noChangeAspect="1"/>
          </p:cNvPicPr>
          <p:nvPr/>
        </p:nvPicPr>
        <p:blipFill>
          <a:blip r:embed="rId4"/>
          <a:stretch>
            <a:fillRect/>
          </a:stretch>
        </p:blipFill>
        <p:spPr>
          <a:xfrm>
            <a:off x="6537960" y="2103120"/>
            <a:ext cx="365760" cy="365760"/>
          </a:xfrm>
          <a:prstGeom prst="rect">
            <a:avLst/>
          </a:prstGeom>
        </p:spPr>
      </p:pic>
      <p:sp>
        <p:nvSpPr>
          <p:cNvPr id="21" name="Text 14"/>
          <p:cNvSpPr/>
          <p:nvPr/>
        </p:nvSpPr>
        <p:spPr>
          <a:xfrm>
            <a:off x="7040880" y="2011680"/>
            <a:ext cx="425196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Computing values you can derive from props or state</a:t>
            </a:r>
            <a:endParaRPr lang="en-US" sz="1150" dirty="0"/>
          </a:p>
        </p:txBody>
      </p:sp>
      <p:sp>
        <p:nvSpPr>
          <p:cNvPr id="22" name="Shape 15"/>
          <p:cNvSpPr/>
          <p:nvPr/>
        </p:nvSpPr>
        <p:spPr>
          <a:xfrm>
            <a:off x="6355080" y="2743200"/>
            <a:ext cx="5029200" cy="640080"/>
          </a:xfrm>
          <a:prstGeom prst="rect">
            <a:avLst/>
          </a:prstGeom>
          <a:solidFill>
            <a:srgbClr val="FFFFFF"/>
          </a:solidFill>
          <a:ln w="12700">
            <a:solidFill>
              <a:srgbClr val="E2E8F0"/>
            </a:solidFill>
            <a:prstDash val="solid"/>
          </a:ln>
        </p:spPr>
        <p:txBody>
          <a:bodyPr/>
          <a:lstStyle/>
          <a:p>
            <a:endParaRPr lang="en-US"/>
          </a:p>
        </p:txBody>
      </p:sp>
      <p:pic>
        <p:nvPicPr>
          <p:cNvPr id="23" name="Image 5" descr="preencoded.png"/>
          <p:cNvPicPr>
            <a:picLocks noChangeAspect="1"/>
          </p:cNvPicPr>
          <p:nvPr/>
        </p:nvPicPr>
        <p:blipFill>
          <a:blip r:embed="rId4"/>
          <a:stretch>
            <a:fillRect/>
          </a:stretch>
        </p:blipFill>
        <p:spPr>
          <a:xfrm>
            <a:off x="6537960" y="2880360"/>
            <a:ext cx="365760" cy="365760"/>
          </a:xfrm>
          <a:prstGeom prst="rect">
            <a:avLst/>
          </a:prstGeom>
        </p:spPr>
      </p:pic>
      <p:sp>
        <p:nvSpPr>
          <p:cNvPr id="24" name="Text 16"/>
          <p:cNvSpPr/>
          <p:nvPr/>
        </p:nvSpPr>
        <p:spPr>
          <a:xfrm>
            <a:off x="7040880" y="2788920"/>
            <a:ext cx="425196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Resetting state when props change (use a key prop instead)</a:t>
            </a:r>
            <a:endParaRPr lang="en-US" sz="1150" dirty="0"/>
          </a:p>
        </p:txBody>
      </p:sp>
      <p:sp>
        <p:nvSpPr>
          <p:cNvPr id="25" name="Shape 17"/>
          <p:cNvSpPr/>
          <p:nvPr/>
        </p:nvSpPr>
        <p:spPr>
          <a:xfrm>
            <a:off x="6355080" y="3520440"/>
            <a:ext cx="5029200" cy="640080"/>
          </a:xfrm>
          <a:prstGeom prst="rect">
            <a:avLst/>
          </a:prstGeom>
          <a:solidFill>
            <a:srgbClr val="FFFFFF"/>
          </a:solidFill>
          <a:ln w="12700">
            <a:solidFill>
              <a:srgbClr val="E2E8F0"/>
            </a:solidFill>
            <a:prstDash val="solid"/>
          </a:ln>
        </p:spPr>
        <p:txBody>
          <a:bodyPr/>
          <a:lstStyle/>
          <a:p>
            <a:endParaRPr lang="en-US"/>
          </a:p>
        </p:txBody>
      </p:sp>
      <p:pic>
        <p:nvPicPr>
          <p:cNvPr id="26" name="Image 6" descr="preencoded.png"/>
          <p:cNvPicPr>
            <a:picLocks noChangeAspect="1"/>
          </p:cNvPicPr>
          <p:nvPr/>
        </p:nvPicPr>
        <p:blipFill>
          <a:blip r:embed="rId4"/>
          <a:stretch>
            <a:fillRect/>
          </a:stretch>
        </p:blipFill>
        <p:spPr>
          <a:xfrm>
            <a:off x="6537960" y="3657600"/>
            <a:ext cx="365760" cy="365760"/>
          </a:xfrm>
          <a:prstGeom prst="rect">
            <a:avLst/>
          </a:prstGeom>
        </p:spPr>
      </p:pic>
      <p:sp>
        <p:nvSpPr>
          <p:cNvPr id="27" name="Text 18"/>
          <p:cNvSpPr/>
          <p:nvPr/>
        </p:nvSpPr>
        <p:spPr>
          <a:xfrm>
            <a:off x="7040880" y="3566160"/>
            <a:ext cx="425196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Fetching data (use Suspense + use(), or TanStack Query)</a:t>
            </a:r>
            <a:endParaRPr lang="en-US" sz="1150" dirty="0"/>
          </a:p>
        </p:txBody>
      </p:sp>
      <p:sp>
        <p:nvSpPr>
          <p:cNvPr id="28" name="Shape 19"/>
          <p:cNvSpPr/>
          <p:nvPr/>
        </p:nvSpPr>
        <p:spPr>
          <a:xfrm>
            <a:off x="6355080" y="4297680"/>
            <a:ext cx="5029200" cy="640080"/>
          </a:xfrm>
          <a:prstGeom prst="rect">
            <a:avLst/>
          </a:prstGeom>
          <a:solidFill>
            <a:srgbClr val="FFFFFF"/>
          </a:solidFill>
          <a:ln w="12700">
            <a:solidFill>
              <a:srgbClr val="E2E8F0"/>
            </a:solidFill>
            <a:prstDash val="solid"/>
          </a:ln>
        </p:spPr>
        <p:txBody>
          <a:bodyPr/>
          <a:lstStyle/>
          <a:p>
            <a:endParaRPr lang="en-US"/>
          </a:p>
        </p:txBody>
      </p:sp>
      <p:pic>
        <p:nvPicPr>
          <p:cNvPr id="29" name="Image 7" descr="preencoded.png"/>
          <p:cNvPicPr>
            <a:picLocks noChangeAspect="1"/>
          </p:cNvPicPr>
          <p:nvPr/>
        </p:nvPicPr>
        <p:blipFill>
          <a:blip r:embed="rId4"/>
          <a:stretch>
            <a:fillRect/>
          </a:stretch>
        </p:blipFill>
        <p:spPr>
          <a:xfrm>
            <a:off x="6537960" y="4434840"/>
            <a:ext cx="365760" cy="365760"/>
          </a:xfrm>
          <a:prstGeom prst="rect">
            <a:avLst/>
          </a:prstGeom>
        </p:spPr>
      </p:pic>
      <p:sp>
        <p:nvSpPr>
          <p:cNvPr id="30" name="Text 20"/>
          <p:cNvSpPr/>
          <p:nvPr/>
        </p:nvSpPr>
        <p:spPr>
          <a:xfrm>
            <a:off x="7040880" y="4343400"/>
            <a:ext cx="4251960" cy="54864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Triggering events in response to user actions (use event handlers)</a:t>
            </a:r>
            <a:endParaRPr lang="en-US" sz="1150" dirty="0"/>
          </a:p>
        </p:txBody>
      </p:sp>
      <p:sp>
        <p:nvSpPr>
          <p:cNvPr id="31"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32"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34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not to useEffect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Four patterns that look like effects but aren't. Use these instead.</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4572000" cy="6858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useEffect to compute derived data</a:t>
            </a:r>
            <a:endParaRPr lang="en-US" sz="1400" dirty="0"/>
          </a:p>
        </p:txBody>
      </p:sp>
      <p:pic>
        <p:nvPicPr>
          <p:cNvPr id="8" name="Image 1" descr="preencoded.png"/>
          <p:cNvPicPr>
            <a:picLocks noChangeAspect="1"/>
          </p:cNvPicPr>
          <p:nvPr/>
        </p:nvPicPr>
        <p:blipFill>
          <a:blip r:embed="rId4"/>
          <a:stretch>
            <a:fillRect/>
          </a:stretch>
        </p:blipFill>
        <p:spPr>
          <a:xfrm>
            <a:off x="6309360" y="1984248"/>
            <a:ext cx="274320" cy="274320"/>
          </a:xfrm>
          <a:prstGeom prst="rect">
            <a:avLst/>
          </a:prstGeom>
        </p:spPr>
      </p:pic>
      <p:pic>
        <p:nvPicPr>
          <p:cNvPr id="9" name="Image 2" descr="preencoded.png"/>
          <p:cNvPicPr>
            <a:picLocks noChangeAspect="1"/>
          </p:cNvPicPr>
          <p:nvPr/>
        </p:nvPicPr>
        <p:blipFill>
          <a:blip r:embed="rId5"/>
          <a:stretch>
            <a:fillRect/>
          </a:stretch>
        </p:blipFill>
        <p:spPr>
          <a:xfrm>
            <a:off x="6766560" y="1874520"/>
            <a:ext cx="502920" cy="502920"/>
          </a:xfrm>
          <a:prstGeom prst="rect">
            <a:avLst/>
          </a:prstGeom>
        </p:spPr>
      </p:pic>
      <p:sp>
        <p:nvSpPr>
          <p:cNvPr id="10" name="Text 5"/>
          <p:cNvSpPr/>
          <p:nvPr/>
        </p:nvSpPr>
        <p:spPr>
          <a:xfrm>
            <a:off x="7452360" y="1783080"/>
            <a:ext cx="3840480" cy="68580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Compute it inline in render</a:t>
            </a:r>
            <a:endParaRPr lang="en-US" sz="1300" dirty="0"/>
          </a:p>
        </p:txBody>
      </p:sp>
      <p:sp>
        <p:nvSpPr>
          <p:cNvPr id="11"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2" name="Image 3" descr="preencoded.png"/>
          <p:cNvPicPr>
            <a:picLocks noChangeAspect="1"/>
          </p:cNvPicPr>
          <p:nvPr/>
        </p:nvPicPr>
        <p:blipFill>
          <a:blip r:embed="rId3"/>
          <a:stretch>
            <a:fillRect/>
          </a:stretch>
        </p:blipFill>
        <p:spPr>
          <a:xfrm>
            <a:off x="960120" y="2926080"/>
            <a:ext cx="502920" cy="502920"/>
          </a:xfrm>
          <a:prstGeom prst="rect">
            <a:avLst/>
          </a:prstGeom>
        </p:spPr>
      </p:pic>
      <p:sp>
        <p:nvSpPr>
          <p:cNvPr id="13" name="Text 7"/>
          <p:cNvSpPr/>
          <p:nvPr/>
        </p:nvSpPr>
        <p:spPr>
          <a:xfrm>
            <a:off x="1691640" y="2834640"/>
            <a:ext cx="4572000" cy="6858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useEffect to reset state on prop change</a:t>
            </a:r>
            <a:endParaRPr lang="en-US" sz="1400" dirty="0"/>
          </a:p>
        </p:txBody>
      </p:sp>
      <p:pic>
        <p:nvPicPr>
          <p:cNvPr id="14" name="Image 4" descr="preencoded.png"/>
          <p:cNvPicPr>
            <a:picLocks noChangeAspect="1"/>
          </p:cNvPicPr>
          <p:nvPr/>
        </p:nvPicPr>
        <p:blipFill>
          <a:blip r:embed="rId4"/>
          <a:stretch>
            <a:fillRect/>
          </a:stretch>
        </p:blipFill>
        <p:spPr>
          <a:xfrm>
            <a:off x="6309360" y="3035808"/>
            <a:ext cx="274320" cy="274320"/>
          </a:xfrm>
          <a:prstGeom prst="rect">
            <a:avLst/>
          </a:prstGeom>
        </p:spPr>
      </p:pic>
      <p:pic>
        <p:nvPicPr>
          <p:cNvPr id="15" name="Image 5" descr="preencoded.png"/>
          <p:cNvPicPr>
            <a:picLocks noChangeAspect="1"/>
          </p:cNvPicPr>
          <p:nvPr/>
        </p:nvPicPr>
        <p:blipFill>
          <a:blip r:embed="rId5"/>
          <a:stretch>
            <a:fillRect/>
          </a:stretch>
        </p:blipFill>
        <p:spPr>
          <a:xfrm>
            <a:off x="6766560" y="2926080"/>
            <a:ext cx="502920" cy="502920"/>
          </a:xfrm>
          <a:prstGeom prst="rect">
            <a:avLst/>
          </a:prstGeom>
        </p:spPr>
      </p:pic>
      <p:sp>
        <p:nvSpPr>
          <p:cNvPr id="16" name="Text 8"/>
          <p:cNvSpPr/>
          <p:nvPr/>
        </p:nvSpPr>
        <p:spPr>
          <a:xfrm>
            <a:off x="7452360" y="2834640"/>
            <a:ext cx="3840480" cy="68580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Pass a key prop</a:t>
            </a:r>
            <a:endParaRPr lang="en-US" sz="1300" dirty="0"/>
          </a:p>
        </p:txBody>
      </p:sp>
      <p:sp>
        <p:nvSpPr>
          <p:cNvPr id="17"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6" descr="preencoded.png"/>
          <p:cNvPicPr>
            <a:picLocks noChangeAspect="1"/>
          </p:cNvPicPr>
          <p:nvPr/>
        </p:nvPicPr>
        <p:blipFill>
          <a:blip r:embed="rId3"/>
          <a:stretch>
            <a:fillRect/>
          </a:stretch>
        </p:blipFill>
        <p:spPr>
          <a:xfrm>
            <a:off x="960120" y="3977640"/>
            <a:ext cx="502920" cy="502920"/>
          </a:xfrm>
          <a:prstGeom prst="rect">
            <a:avLst/>
          </a:prstGeom>
        </p:spPr>
      </p:pic>
      <p:sp>
        <p:nvSpPr>
          <p:cNvPr id="19" name="Text 10"/>
          <p:cNvSpPr/>
          <p:nvPr/>
        </p:nvSpPr>
        <p:spPr>
          <a:xfrm>
            <a:off x="1691640" y="3886200"/>
            <a:ext cx="4572000" cy="6858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useEffect to fetch data</a:t>
            </a:r>
            <a:endParaRPr lang="en-US" sz="1400" dirty="0"/>
          </a:p>
        </p:txBody>
      </p:sp>
      <p:pic>
        <p:nvPicPr>
          <p:cNvPr id="20" name="Image 7" descr="preencoded.png"/>
          <p:cNvPicPr>
            <a:picLocks noChangeAspect="1"/>
          </p:cNvPicPr>
          <p:nvPr/>
        </p:nvPicPr>
        <p:blipFill>
          <a:blip r:embed="rId4"/>
          <a:stretch>
            <a:fillRect/>
          </a:stretch>
        </p:blipFill>
        <p:spPr>
          <a:xfrm>
            <a:off x="6309360" y="4087368"/>
            <a:ext cx="274320" cy="274320"/>
          </a:xfrm>
          <a:prstGeom prst="rect">
            <a:avLst/>
          </a:prstGeom>
        </p:spPr>
      </p:pic>
      <p:pic>
        <p:nvPicPr>
          <p:cNvPr id="21" name="Image 8" descr="preencoded.png"/>
          <p:cNvPicPr>
            <a:picLocks noChangeAspect="1"/>
          </p:cNvPicPr>
          <p:nvPr/>
        </p:nvPicPr>
        <p:blipFill>
          <a:blip r:embed="rId5"/>
          <a:stretch>
            <a:fillRect/>
          </a:stretch>
        </p:blipFill>
        <p:spPr>
          <a:xfrm>
            <a:off x="6766560" y="3977640"/>
            <a:ext cx="502920" cy="502920"/>
          </a:xfrm>
          <a:prstGeom prst="rect">
            <a:avLst/>
          </a:prstGeom>
        </p:spPr>
      </p:pic>
      <p:sp>
        <p:nvSpPr>
          <p:cNvPr id="22" name="Text 11"/>
          <p:cNvSpPr/>
          <p:nvPr/>
        </p:nvSpPr>
        <p:spPr>
          <a:xfrm>
            <a:off x="7452360" y="3886200"/>
            <a:ext cx="3840480" cy="68580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Suspense + use() or TanStack Query</a:t>
            </a:r>
            <a:endParaRPr lang="en-US" sz="1300" dirty="0"/>
          </a:p>
        </p:txBody>
      </p:sp>
      <p:sp>
        <p:nvSpPr>
          <p:cNvPr id="23"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24" name="Image 9" descr="preencoded.png"/>
          <p:cNvPicPr>
            <a:picLocks noChangeAspect="1"/>
          </p:cNvPicPr>
          <p:nvPr/>
        </p:nvPicPr>
        <p:blipFill>
          <a:blip r:embed="rId3"/>
          <a:stretch>
            <a:fillRect/>
          </a:stretch>
        </p:blipFill>
        <p:spPr>
          <a:xfrm>
            <a:off x="960120" y="5029200"/>
            <a:ext cx="502920" cy="502920"/>
          </a:xfrm>
          <a:prstGeom prst="rect">
            <a:avLst/>
          </a:prstGeom>
        </p:spPr>
      </p:pic>
      <p:sp>
        <p:nvSpPr>
          <p:cNvPr id="25" name="Text 13"/>
          <p:cNvSpPr/>
          <p:nvPr/>
        </p:nvSpPr>
        <p:spPr>
          <a:xfrm>
            <a:off x="1691640" y="4937760"/>
            <a:ext cx="4572000" cy="6858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useEffect to dispatch on user action</a:t>
            </a:r>
            <a:endParaRPr lang="en-US" sz="1400" dirty="0"/>
          </a:p>
        </p:txBody>
      </p:sp>
      <p:pic>
        <p:nvPicPr>
          <p:cNvPr id="26" name="Image 10" descr="preencoded.png"/>
          <p:cNvPicPr>
            <a:picLocks noChangeAspect="1"/>
          </p:cNvPicPr>
          <p:nvPr/>
        </p:nvPicPr>
        <p:blipFill>
          <a:blip r:embed="rId4"/>
          <a:stretch>
            <a:fillRect/>
          </a:stretch>
        </p:blipFill>
        <p:spPr>
          <a:xfrm>
            <a:off x="6309360" y="5138928"/>
            <a:ext cx="274320" cy="274320"/>
          </a:xfrm>
          <a:prstGeom prst="rect">
            <a:avLst/>
          </a:prstGeom>
        </p:spPr>
      </p:pic>
      <p:pic>
        <p:nvPicPr>
          <p:cNvPr id="27" name="Image 11" descr="preencoded.png"/>
          <p:cNvPicPr>
            <a:picLocks noChangeAspect="1"/>
          </p:cNvPicPr>
          <p:nvPr/>
        </p:nvPicPr>
        <p:blipFill>
          <a:blip r:embed="rId5"/>
          <a:stretch>
            <a:fillRect/>
          </a:stretch>
        </p:blipFill>
        <p:spPr>
          <a:xfrm>
            <a:off x="6766560" y="5029200"/>
            <a:ext cx="502920" cy="502920"/>
          </a:xfrm>
          <a:prstGeom prst="rect">
            <a:avLst/>
          </a:prstGeom>
        </p:spPr>
      </p:pic>
      <p:sp>
        <p:nvSpPr>
          <p:cNvPr id="28" name="Text 14"/>
          <p:cNvSpPr/>
          <p:nvPr/>
        </p:nvSpPr>
        <p:spPr>
          <a:xfrm>
            <a:off x="7452360" y="4937760"/>
            <a:ext cx="3840480" cy="68580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Move the dispatch into the event handler</a:t>
            </a:r>
            <a:endParaRPr lang="en-US" sz="1300" dirty="0"/>
          </a:p>
        </p:txBody>
      </p:sp>
      <p:sp>
        <p:nvSpPr>
          <p:cNvPr id="29"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30"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34</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Stale closures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bug eslint catches and AI tools cause.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The bug</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38328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Counter</a:t>
            </a: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[count, setCount]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DCDCAA"/>
                </a:solidFill>
                <a:latin typeface="Courier New" pitchFamily="34" charset="0"/>
                <a:ea typeface="Courier New" pitchFamily="34" charset="-122"/>
                <a:cs typeface="Courier New" pitchFamily="34" charset="-120"/>
              </a:rPr>
              <a:t>useEffect</a:t>
            </a: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id = </a:t>
            </a:r>
            <a:r>
              <a:rPr lang="en-US" sz="1300" dirty="0">
                <a:solidFill>
                  <a:srgbClr val="DCDCAA"/>
                </a:solidFill>
                <a:latin typeface="Courier New" pitchFamily="34" charset="0"/>
                <a:ea typeface="Courier New" pitchFamily="34" charset="-122"/>
                <a:cs typeface="Courier New" pitchFamily="34" charset="-120"/>
              </a:rPr>
              <a:t>setInterval</a:t>
            </a:r>
            <a:r>
              <a:rPr lang="en-US" sz="1300" dirty="0">
                <a:solidFill>
                  <a:srgbClr val="FFFFFF"/>
                </a:solidFill>
                <a:latin typeface="Courier New" pitchFamily="34" charset="0"/>
                <a:ea typeface="Courier New" pitchFamily="34" charset="-122"/>
                <a:cs typeface="Courier New" pitchFamily="34" charset="-120"/>
              </a:rPr>
              <a:t>(() =&gt; {</a:t>
            </a:r>
            <a:endParaRPr lang="en-US" sz="1300"/>
          </a:p>
          <a:p>
            <a:pPr marL="0" indent="0">
              <a:buNone/>
            </a:pPr>
            <a:r>
              <a:rPr lang="en-US" sz="1300" i="1">
                <a:solidFill>
                  <a:srgbClr val="6A9955"/>
                </a:solidFill>
                <a:latin typeface="Courier New" pitchFamily="34" charset="0"/>
                <a:ea typeface="Courier New" pitchFamily="34" charset="-122"/>
                <a:cs typeface="Courier New" pitchFamily="34" charset="-120"/>
              </a:rPr>
              <a:t>      </a:t>
            </a:r>
            <a:r>
              <a:rPr lang="en-US" sz="1300" i="1" dirty="0">
                <a:solidFill>
                  <a:srgbClr val="6A9955"/>
                </a:solidFill>
                <a:latin typeface="Courier New" pitchFamily="34" charset="0"/>
                <a:ea typeface="Courier New" pitchFamily="34" charset="-122"/>
                <a:cs typeface="Courier New" pitchFamily="34" charset="-120"/>
              </a:rPr>
              <a:t>// count is always 0</a:t>
            </a:r>
            <a:r>
              <a:rPr lang="en-US" sz="1300" i="1">
                <a:solidFill>
                  <a:srgbClr val="6A9955"/>
                </a:solidFill>
                <a:latin typeface="Courier New" pitchFamily="34" charset="0"/>
                <a:ea typeface="Courier New" pitchFamily="34" charset="-122"/>
                <a:cs typeface="Courier New" pitchFamily="34" charset="-120"/>
              </a:rPr>
              <a:t> — stuck at 1</a:t>
            </a:r>
            <a:r>
              <a:rPr lang="en-US" sz="1300" i="1" dirty="0">
                <a:solidFill>
                  <a:srgbClr val="6A9955"/>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r>
              <a:rPr lang="en-US" sz="1300">
                <a:solidFill>
                  <a:srgbClr val="DCDCAA"/>
                </a:solidFill>
                <a:latin typeface="Courier New" pitchFamily="34" charset="0"/>
                <a:ea typeface="Courier New" pitchFamily="34" charset="-122"/>
                <a:cs typeface="Courier New" pitchFamily="34" charset="-120"/>
              </a:rPr>
              <a:t>setCount</a:t>
            </a:r>
            <a:r>
              <a:rPr lang="en-US" sz="1300" dirty="0">
                <a:solidFill>
                  <a:srgbClr val="FFFFFF"/>
                </a:solidFill>
                <a:latin typeface="Courier New" pitchFamily="34" charset="0"/>
                <a:ea typeface="Courier New" pitchFamily="34" charset="-122"/>
                <a:cs typeface="Courier New" pitchFamily="34" charset="-120"/>
              </a:rPr>
              <a:t>(count</a:t>
            </a:r>
            <a:r>
              <a:rPr lang="en-US" sz="1300">
                <a:solidFill>
                  <a:srgbClr val="FFFFFF"/>
                </a:solidFill>
                <a:latin typeface="Courier New" pitchFamily="34" charset="0"/>
                <a:ea typeface="Courier New" pitchFamily="34" charset="-122"/>
                <a:cs typeface="Courier New" pitchFamily="34" charset="-120"/>
              </a:rPr>
              <a:t> + 1</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 1000);</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 =&gt; </a:t>
            </a:r>
            <a:r>
              <a:rPr lang="en-US" sz="1300" dirty="0">
                <a:solidFill>
                  <a:srgbClr val="DCDCAA"/>
                </a:solidFill>
                <a:latin typeface="Courier New" pitchFamily="34" charset="0"/>
                <a:ea typeface="Courier New" pitchFamily="34" charset="-122"/>
                <a:cs typeface="Courier New" pitchFamily="34" charset="-120"/>
              </a:rPr>
              <a:t>clearInterval</a:t>
            </a:r>
            <a:r>
              <a:rPr lang="en-US" sz="1300" dirty="0">
                <a:solidFill>
                  <a:srgbClr val="FFFFFF"/>
                </a:solidFill>
                <a:latin typeface="Courier New" pitchFamily="34" charset="0"/>
                <a:ea typeface="Courier New" pitchFamily="34" charset="-122"/>
                <a:cs typeface="Courier New" pitchFamily="34" charset="-120"/>
              </a:rPr>
              <a:t>(id);</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 []); </a:t>
            </a:r>
            <a:r>
              <a:rPr lang="en-US" sz="1300" i="1" dirty="0">
                <a:solidFill>
                  <a:srgbClr val="6A9955"/>
                </a:solidFill>
                <a:latin typeface="Courier New" pitchFamily="34" charset="0"/>
                <a:ea typeface="Courier New" pitchFamily="34" charset="-122"/>
                <a:cs typeface="Courier New" pitchFamily="34" charset="-120"/>
              </a:rPr>
              <a:t>// count</a:t>
            </a:r>
            <a:r>
              <a:rPr lang="en-US" sz="1300" i="1">
                <a:solidFill>
                  <a:srgbClr val="6A9955"/>
                </a:solidFill>
                <a:latin typeface="Courier New" pitchFamily="34" charset="0"/>
                <a:ea typeface="Courier New" pitchFamily="34" charset="-122"/>
                <a:cs typeface="Courier New" pitchFamily="34" charset="-120"/>
              </a:rPr>
              <a:t> is captured as 0</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38328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Counter</a:t>
            </a: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[count, setCount]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DCDCAA"/>
                </a:solidFill>
                <a:latin typeface="Courier New" pitchFamily="34" charset="0"/>
                <a:ea typeface="Courier New" pitchFamily="34" charset="-122"/>
                <a:cs typeface="Courier New" pitchFamily="34" charset="-120"/>
              </a:rPr>
              <a:t>useEffect</a:t>
            </a: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id = </a:t>
            </a:r>
            <a:r>
              <a:rPr lang="en-US" sz="1300" dirty="0">
                <a:solidFill>
                  <a:srgbClr val="DCDCAA"/>
                </a:solidFill>
                <a:latin typeface="Courier New" pitchFamily="34" charset="0"/>
                <a:ea typeface="Courier New" pitchFamily="34" charset="-122"/>
                <a:cs typeface="Courier New" pitchFamily="34" charset="-120"/>
              </a:rPr>
              <a:t>setInterval</a:t>
            </a: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reads current count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setCount(</a:t>
            </a:r>
            <a:r>
              <a:rPr lang="en-US" sz="1300">
                <a:solidFill>
                  <a:srgbClr val="9CDCFE"/>
                </a:solidFill>
                <a:latin typeface="Courier New" pitchFamily="34" charset="0"/>
                <a:ea typeface="Courier New" pitchFamily="34" charset="-122"/>
                <a:cs typeface="Courier New" pitchFamily="34" charset="-120"/>
              </a:rPr>
              <a:t>n</a:t>
            </a:r>
            <a:r>
              <a:rPr lang="en-US" sz="1300" dirty="0">
                <a:solidFill>
                  <a:srgbClr val="FFFFFF"/>
                </a:solidFill>
                <a:latin typeface="Courier New" pitchFamily="34" charset="0"/>
                <a:ea typeface="Courier New" pitchFamily="34" charset="-122"/>
                <a:cs typeface="Courier New" pitchFamily="34" charset="-120"/>
              </a:rPr>
              <a:t> </a:t>
            </a:r>
            <a:r>
              <a:rPr lang="en-US" sz="1300">
                <a:solidFill>
                  <a:srgbClr val="FFFFFF"/>
                </a:solidFill>
                <a:latin typeface="Courier New" pitchFamily="34" charset="0"/>
                <a:ea typeface="Courier New" pitchFamily="34" charset="-122"/>
                <a:cs typeface="Courier New" pitchFamily="34" charset="-120"/>
              </a:rPr>
              <a:t>=&gt; </a:t>
            </a:r>
            <a:r>
              <a:rPr lang="en-US" sz="1300" dirty="0">
                <a:solidFill>
                  <a:srgbClr val="FFFFFF"/>
                </a:solidFill>
                <a:latin typeface="Courier New" pitchFamily="34" charset="0"/>
                <a:ea typeface="Courier New" pitchFamily="34" charset="-122"/>
                <a:cs typeface="Courier New" pitchFamily="34" charset="-120"/>
              </a:rPr>
              <a:t>n + 1);</a:t>
            </a:r>
            <a:endParaRPr lang="en-US" sz="1300"/>
          </a:p>
          <a:p>
            <a:pPr marL="0" indent="0">
              <a:buNone/>
            </a:pPr>
            <a:r>
              <a:rPr lang="en-US" sz="1300">
                <a:solidFill>
                  <a:srgbClr val="FFFFFF"/>
                </a:solidFill>
                <a:latin typeface="Courier New" pitchFamily="34" charset="0"/>
                <a:ea typeface="Courier New" pitchFamily="34" charset="-122"/>
                <a:cs typeface="Courier New" pitchFamily="34" charset="-120"/>
              </a:rPr>
              <a:t>      </a:t>
            </a:r>
            <a:r>
              <a:rPr lang="en-US" sz="1300">
                <a:solidFill>
                  <a:srgbClr val="9CDCFE"/>
                </a:solidFill>
                <a:latin typeface="Courier New" pitchFamily="34" charset="0"/>
                <a:ea typeface="Courier New" pitchFamily="34" charset="-122"/>
                <a:cs typeface="Courier New" pitchFamily="34" charset="-120"/>
              </a:rPr>
              <a:t>console</a:t>
            </a:r>
            <a:r>
              <a:rPr lang="en-US" sz="1300">
                <a:solidFill>
                  <a:srgbClr val="FFFFFF"/>
                </a:solidFill>
                <a:latin typeface="Courier New" pitchFamily="34" charset="0"/>
                <a:ea typeface="Courier New" pitchFamily="34" charset="-122"/>
                <a:cs typeface="Courier New" pitchFamily="34" charset="-120"/>
              </a:rPr>
              <a:t>.log(count);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 1000);</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 =&gt; </a:t>
            </a:r>
            <a:r>
              <a:rPr lang="en-US" sz="1300" dirty="0">
                <a:solidFill>
                  <a:srgbClr val="DCDCAA"/>
                </a:solidFill>
                <a:latin typeface="Courier New" pitchFamily="34" charset="0"/>
                <a:ea typeface="Courier New" pitchFamily="34" charset="-122"/>
                <a:cs typeface="Courier New" pitchFamily="34" charset="-120"/>
              </a:rPr>
              <a:t>clearInterval</a:t>
            </a:r>
            <a:r>
              <a:rPr lang="en-US" sz="1300" dirty="0">
                <a:solidFill>
                  <a:srgbClr val="FFFFFF"/>
                </a:solidFill>
                <a:latin typeface="Courier New" pitchFamily="34" charset="0"/>
                <a:ea typeface="Courier New" pitchFamily="34" charset="-122"/>
                <a:cs typeface="Courier New" pitchFamily="34" charset="-120"/>
              </a:rPr>
              <a:t>(id);</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 []); </a:t>
            </a:r>
            <a:r>
              <a:rPr lang="en-US" sz="1300" i="1" dirty="0">
                <a:solidFill>
                  <a:srgbClr val="6A9955"/>
                </a:solidFill>
                <a:latin typeface="Courier New" pitchFamily="34" charset="0"/>
                <a:ea typeface="Courier New" pitchFamily="34" charset="-122"/>
                <a:cs typeface="Courier New" pitchFamily="34" charset="-120"/>
              </a:rPr>
              <a:t>// no dep needed</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34</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dependency array rules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react-hooks/exhaustive-deps catches almost all of these. Don't disable it.</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9728" cy="868680"/>
          </a:xfrm>
          <a:prstGeom prst="rect">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1051560" y="1783080"/>
            <a:ext cx="1024128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Every reactive value used inside the effect must be in the array</a:t>
            </a:r>
            <a:endParaRPr lang="en-US" sz="1350" dirty="0"/>
          </a:p>
        </p:txBody>
      </p:sp>
      <p:sp>
        <p:nvSpPr>
          <p:cNvPr id="8" name="Text 6"/>
          <p:cNvSpPr/>
          <p:nvPr/>
        </p:nvSpPr>
        <p:spPr>
          <a:xfrm>
            <a:off x="1051560" y="2103120"/>
            <a:ext cx="1024128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props, state, context, derived values from those — not refs (refs don't trigger re-renders)</a:t>
            </a:r>
            <a:endParaRPr lang="en-US" sz="1150" dirty="0"/>
          </a:p>
        </p:txBody>
      </p:sp>
      <p:sp>
        <p:nvSpPr>
          <p:cNvPr id="9" name="Shape 7"/>
          <p:cNvSpPr/>
          <p:nvPr/>
        </p:nvSpPr>
        <p:spPr>
          <a:xfrm>
            <a:off x="777240" y="2697480"/>
            <a:ext cx="10607040" cy="86868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777240" y="2697480"/>
            <a:ext cx="109728" cy="868680"/>
          </a:xfrm>
          <a:prstGeom prst="rect">
            <a:avLst/>
          </a:prstGeom>
          <a:solidFill>
            <a:srgbClr val="00B8D9"/>
          </a:solidFill>
          <a:ln w="12700">
            <a:solidFill>
              <a:srgbClr val="00B8D9"/>
            </a:solidFill>
            <a:prstDash val="solid"/>
          </a:ln>
        </p:spPr>
        <p:txBody>
          <a:bodyPr/>
          <a:lstStyle/>
          <a:p>
            <a:endParaRPr lang="en-US"/>
          </a:p>
        </p:txBody>
      </p:sp>
      <p:sp>
        <p:nvSpPr>
          <p:cNvPr id="11" name="Text 9"/>
          <p:cNvSpPr/>
          <p:nvPr/>
        </p:nvSpPr>
        <p:spPr>
          <a:xfrm>
            <a:off x="1051560" y="2788920"/>
            <a:ext cx="1024128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Don't disable the lint rule to silence warnings</a:t>
            </a:r>
            <a:endParaRPr lang="en-US" sz="1350" dirty="0"/>
          </a:p>
        </p:txBody>
      </p:sp>
      <p:sp>
        <p:nvSpPr>
          <p:cNvPr id="12" name="Text 10"/>
          <p:cNvSpPr/>
          <p:nvPr/>
        </p:nvSpPr>
        <p:spPr>
          <a:xfrm>
            <a:off x="1051560" y="3108960"/>
            <a:ext cx="1024128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exhaustive-deps complains, the code is probably wrong. Fix the underlying issue.</a:t>
            </a:r>
            <a:endParaRPr lang="en-US" sz="1150" dirty="0"/>
          </a:p>
        </p:txBody>
      </p:sp>
      <p:sp>
        <p:nvSpPr>
          <p:cNvPr id="13" name="Shape 11"/>
          <p:cNvSpPr/>
          <p:nvPr/>
        </p:nvSpPr>
        <p:spPr>
          <a:xfrm>
            <a:off x="777240" y="3703320"/>
            <a:ext cx="10607040" cy="86868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777240" y="3703320"/>
            <a:ext cx="109728" cy="868680"/>
          </a:xfrm>
          <a:prstGeom prst="rect">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1051560" y="3794760"/>
            <a:ext cx="1024128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Object/function dependencies will re-run the effect every render</a:t>
            </a:r>
            <a:endParaRPr lang="en-US" sz="1350" dirty="0"/>
          </a:p>
        </p:txBody>
      </p:sp>
      <p:sp>
        <p:nvSpPr>
          <p:cNvPr id="16" name="Text 14"/>
          <p:cNvSpPr/>
          <p:nvPr/>
        </p:nvSpPr>
        <p:spPr>
          <a:xfrm>
            <a:off x="1051560" y="4114800"/>
            <a:ext cx="1024128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Memoize them, or move them inside the effect, or refactor to avoid the dependency.</a:t>
            </a:r>
            <a:endParaRPr lang="en-US" sz="1150" dirty="0"/>
          </a:p>
        </p:txBody>
      </p:sp>
      <p:sp>
        <p:nvSpPr>
          <p:cNvPr id="17" name="Shape 15"/>
          <p:cNvSpPr/>
          <p:nvPr/>
        </p:nvSpPr>
        <p:spPr>
          <a:xfrm>
            <a:off x="777240" y="4709160"/>
            <a:ext cx="10607040" cy="86868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777240" y="4709160"/>
            <a:ext cx="109728" cy="868680"/>
          </a:xfrm>
          <a:prstGeom prst="rect">
            <a:avLst/>
          </a:prstGeom>
          <a:solidFill>
            <a:srgbClr val="00B8D9"/>
          </a:solidFill>
          <a:ln w="12700">
            <a:solidFill>
              <a:srgbClr val="00B8D9"/>
            </a:solidFill>
            <a:prstDash val="solid"/>
          </a:ln>
        </p:spPr>
        <p:txBody>
          <a:bodyPr/>
          <a:lstStyle/>
          <a:p>
            <a:endParaRPr lang="en-US"/>
          </a:p>
        </p:txBody>
      </p:sp>
      <p:sp>
        <p:nvSpPr>
          <p:cNvPr id="19" name="Text 17"/>
          <p:cNvSpPr/>
          <p:nvPr/>
        </p:nvSpPr>
        <p:spPr>
          <a:xfrm>
            <a:off x="1051560" y="4800600"/>
            <a:ext cx="1024128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Empty array means 'on mount/unmount only'</a:t>
            </a:r>
            <a:endParaRPr lang="en-US" sz="1350" dirty="0"/>
          </a:p>
        </p:txBody>
      </p:sp>
      <p:sp>
        <p:nvSpPr>
          <p:cNvPr id="20" name="Text 18"/>
          <p:cNvSpPr/>
          <p:nvPr/>
        </p:nvSpPr>
        <p:spPr>
          <a:xfrm>
            <a:off x="1051560" y="5120640"/>
            <a:ext cx="1024128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you want that, double-check that nothing reactive is captured. Consider whether you really need an effect at all.</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34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Four New Arrivals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use, useActionState, useFormStatus, useOptimistic — the React 19 form &amp; async story.</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four hooks worth circling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a:solidFill>
                  <a:srgbClr val="475569"/>
                </a:solidFill>
                <a:latin typeface="Arial" pitchFamily="34" charset="0"/>
                <a:ea typeface="Arial" pitchFamily="34" charset="-122"/>
                <a:cs typeface="Arial" pitchFamily="34" charset="-120"/>
              </a:rPr>
              <a:t>These didn't exist in the 2024 course. They will be in your reviewer's mental model now.</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56232"/>
            <a:ext cx="4114800" cy="54864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use(promise | context)</a:t>
            </a:r>
            <a:endParaRPr lang="en-US" sz="1600" dirty="0"/>
          </a:p>
        </p:txBody>
      </p:sp>
      <p:sp>
        <p:nvSpPr>
          <p:cNvPr id="7" name="Text 5"/>
          <p:cNvSpPr/>
          <p:nvPr/>
        </p:nvSpPr>
        <p:spPr>
          <a:xfrm>
            <a:off x="5212080" y="1856232"/>
            <a:ext cx="603504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Read async values inline. Suspends the component until the promise resolves.</a:t>
            </a:r>
            <a:endParaRPr lang="en-US" sz="1250" dirty="0"/>
          </a:p>
        </p:txBody>
      </p:sp>
      <p:sp>
        <p:nvSpPr>
          <p:cNvPr id="8"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60120" y="2907792"/>
            <a:ext cx="4114800" cy="54864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useActionState</a:t>
            </a:r>
            <a:endParaRPr lang="en-US" sz="1600" dirty="0"/>
          </a:p>
        </p:txBody>
      </p:sp>
      <p:sp>
        <p:nvSpPr>
          <p:cNvPr id="10" name="Text 8"/>
          <p:cNvSpPr/>
          <p:nvPr/>
        </p:nvSpPr>
        <p:spPr>
          <a:xfrm>
            <a:off x="5212080" y="2907792"/>
            <a:ext cx="603504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Pairs with form Actions. Gives you state, the wrapped action, and a pending flag.</a:t>
            </a:r>
            <a:endParaRPr lang="en-US" sz="1250" dirty="0"/>
          </a:p>
        </p:txBody>
      </p:sp>
      <p:sp>
        <p:nvSpPr>
          <p:cNvPr id="11"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3959352"/>
            <a:ext cx="4114800" cy="54864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useFormStatus</a:t>
            </a:r>
            <a:endParaRPr lang="en-US" sz="1600" dirty="0"/>
          </a:p>
        </p:txBody>
      </p:sp>
      <p:sp>
        <p:nvSpPr>
          <p:cNvPr id="13" name="Text 11"/>
          <p:cNvSpPr/>
          <p:nvPr/>
        </p:nvSpPr>
        <p:spPr>
          <a:xfrm>
            <a:off x="5212080" y="3959352"/>
            <a:ext cx="603504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Read pending/data/method from inside any descendant of a &lt;form&gt;. No prop drilling.</a:t>
            </a:r>
            <a:endParaRPr lang="en-US" sz="1250" dirty="0"/>
          </a:p>
        </p:txBody>
      </p:sp>
      <p:sp>
        <p:nvSpPr>
          <p:cNvPr id="14"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60120" y="5010912"/>
            <a:ext cx="4114800" cy="54864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useOptimistic</a:t>
            </a:r>
            <a:endParaRPr lang="en-US" sz="1600" dirty="0"/>
          </a:p>
        </p:txBody>
      </p:sp>
      <p:sp>
        <p:nvSpPr>
          <p:cNvPr id="16" name="Text 14"/>
          <p:cNvSpPr/>
          <p:nvPr/>
        </p:nvSpPr>
        <p:spPr>
          <a:xfrm>
            <a:off x="5212080" y="5010912"/>
            <a:ext cx="603504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Show the eventual state immediately. React reverts on error.</a:t>
            </a:r>
            <a:endParaRPr lang="en-US" sz="1250" dirty="0"/>
          </a:p>
        </p:txBody>
      </p:sp>
      <p:sp>
        <p:nvSpPr>
          <p:cNvPr id="17"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8"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34</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 — read promises and contexts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first hook that's allowed inside conditionals. Suspends instead of returning a value.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Two acceptable inputs:</a:t>
            </a:r>
            <a:endParaRPr lang="en-US" sz="1400" dirty="0"/>
          </a:p>
        </p:txBody>
      </p:sp>
      <p:sp>
        <p:nvSpPr>
          <p:cNvPr id="6" name="Shape 4"/>
          <p:cNvSpPr/>
          <p:nvPr/>
        </p:nvSpPr>
        <p:spPr>
          <a:xfrm>
            <a:off x="777240" y="1965960"/>
            <a:ext cx="5349240" cy="4023360"/>
          </a:xfrm>
          <a:prstGeom prst="rect">
            <a:avLst/>
          </a:prstGeom>
          <a:solidFill>
            <a:srgbClr val="FFFFFF"/>
          </a:solidFill>
          <a:ln w="12700">
            <a:solidFill>
              <a:srgbClr val="E2E8F0"/>
            </a:solidFill>
            <a:prstDash val="solid"/>
          </a:ln>
        </p:spPr>
        <p:txBody>
          <a:bodyPr/>
          <a:lstStyle/>
          <a:p>
            <a:endParaRPr lang="en-US"/>
          </a:p>
        </p:txBody>
      </p:sp>
      <p:sp>
        <p:nvSpPr>
          <p:cNvPr id="7" name="Shape 5"/>
          <p:cNvSpPr/>
          <p:nvPr/>
        </p:nvSpPr>
        <p:spPr>
          <a:xfrm>
            <a:off x="777240" y="1965960"/>
            <a:ext cx="109728" cy="4023360"/>
          </a:xfrm>
          <a:prstGeom prst="rect">
            <a:avLst/>
          </a:prstGeom>
          <a:solidFill>
            <a:srgbClr val="00B8D9"/>
          </a:solidFill>
          <a:ln w="12700">
            <a:solidFill>
              <a:srgbClr val="00B8D9"/>
            </a:solidFill>
            <a:prstDash val="solid"/>
          </a:ln>
        </p:spPr>
        <p:txBody>
          <a:bodyPr/>
          <a:lstStyle/>
          <a:p>
            <a:endParaRPr lang="en-US"/>
          </a:p>
        </p:txBody>
      </p:sp>
      <p:sp>
        <p:nvSpPr>
          <p:cNvPr id="8" name="Text 6"/>
          <p:cNvSpPr/>
          <p:nvPr/>
        </p:nvSpPr>
        <p:spPr>
          <a:xfrm>
            <a:off x="1051560" y="2103120"/>
            <a:ext cx="5029200" cy="457200"/>
          </a:xfrm>
          <a:prstGeom prst="rect">
            <a:avLst/>
          </a:prstGeom>
          <a:noFill/>
          <a:ln/>
        </p:spPr>
        <p:txBody>
          <a:bodyPr wrap="square" lIns="0" tIns="0" rIns="0" bIns="0" rtlCol="0" anchor="ctr"/>
          <a:lstStyle/>
          <a:p>
            <a:pPr marL="0" indent="0">
              <a:buNone/>
            </a:pPr>
            <a:r>
              <a:rPr lang="en-US" sz="1800" b="1" dirty="0">
                <a:solidFill>
                  <a:srgbClr val="0F172A"/>
                </a:solidFill>
                <a:latin typeface="Courier New" pitchFamily="34" charset="0"/>
                <a:ea typeface="Courier New" pitchFamily="34" charset="-122"/>
                <a:cs typeface="Courier New" pitchFamily="34" charset="-120"/>
              </a:rPr>
              <a:t>use(promise)</a:t>
            </a:r>
            <a:endParaRPr lang="en-US" sz="1800" dirty="0"/>
          </a:p>
        </p:txBody>
      </p:sp>
      <p:sp>
        <p:nvSpPr>
          <p:cNvPr id="9" name="Text 7"/>
          <p:cNvSpPr/>
          <p:nvPr/>
        </p:nvSpPr>
        <p:spPr>
          <a:xfrm>
            <a:off x="1051560" y="2606040"/>
            <a:ext cx="4937760" cy="822960"/>
          </a:xfrm>
          <a:prstGeom prst="rect">
            <a:avLst/>
          </a:prstGeom>
          <a:noFill/>
          <a:ln/>
        </p:spPr>
        <p:txBody>
          <a:bodyPr wrap="square" lIns="0" tIns="0" rIns="0" bIns="0" rtlCol="0" anchor="t"/>
          <a:lstStyle/>
          <a:p>
            <a:pPr marL="0" indent="0">
              <a:buNone/>
            </a:pPr>
            <a:r>
              <a:rPr lang="en-US" sz="1200" i="1" dirty="0">
                <a:solidFill>
                  <a:srgbClr val="475569"/>
                </a:solidFill>
                <a:latin typeface="Arial" pitchFamily="34" charset="0"/>
                <a:ea typeface="Arial" pitchFamily="34" charset="-122"/>
                <a:cs typeface="Arial" pitchFamily="34" charset="-120"/>
              </a:rPr>
              <a:t>Suspends the component until the promise resolves. Pair with a &lt;Suspense&gt; boundary above.</a:t>
            </a:r>
            <a:endParaRPr lang="en-US" sz="1200" dirty="0"/>
          </a:p>
        </p:txBody>
      </p:sp>
      <p:sp>
        <p:nvSpPr>
          <p:cNvPr id="10" name="Shape 8"/>
          <p:cNvSpPr/>
          <p:nvPr/>
        </p:nvSpPr>
        <p:spPr>
          <a:xfrm>
            <a:off x="1051560" y="3520440"/>
            <a:ext cx="4937760" cy="2331720"/>
          </a:xfrm>
          <a:prstGeom prst="rect">
            <a:avLst/>
          </a:prstGeom>
          <a:solidFill>
            <a:srgbClr val="1E2A47"/>
          </a:solidFill>
          <a:ln w="12700">
            <a:solidFill>
              <a:srgbClr val="1E2A47"/>
            </a:solidFill>
            <a:prstDash val="solid"/>
          </a:ln>
        </p:spPr>
        <p:txBody>
          <a:bodyPr/>
          <a:lstStyle/>
          <a:p>
            <a:endParaRPr lang="en-US"/>
          </a:p>
        </p:txBody>
      </p:sp>
      <p:sp>
        <p:nvSpPr>
          <p:cNvPr id="11" name="Text 9"/>
          <p:cNvSpPr/>
          <p:nvPr/>
        </p:nvSpPr>
        <p:spPr>
          <a:xfrm>
            <a:off x="1234440" y="3657600"/>
            <a:ext cx="4572000" cy="205740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Profile</a:t>
            </a:r>
            <a:r>
              <a:rPr lang="en-US" sz="1300" dirty="0">
                <a:solidFill>
                  <a:srgbClr val="FFFFFF"/>
                </a:solidFill>
                <a:latin typeface="Courier New" pitchFamily="34" charset="0"/>
                <a:ea typeface="Courier New" pitchFamily="34" charset="-122"/>
                <a:cs typeface="Courier New" pitchFamily="34" charset="-120"/>
              </a:rPr>
              <a:t>({ userPromise })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const user = </a:t>
            </a:r>
            <a:r>
              <a:rPr lang="en-US" sz="1300" dirty="0">
                <a:solidFill>
                  <a:srgbClr val="DCDCAA"/>
                </a:solidFill>
                <a:latin typeface="Courier New" pitchFamily="34" charset="0"/>
                <a:ea typeface="Courier New" pitchFamily="34" charset="-122"/>
                <a:cs typeface="Courier New" pitchFamily="34" charset="-120"/>
              </a:rPr>
              <a:t>use</a:t>
            </a:r>
            <a:r>
              <a:rPr lang="en-US" sz="1300" dirty="0">
                <a:solidFill>
                  <a:srgbClr val="FFFFFF"/>
                </a:solidFill>
                <a:latin typeface="Courier New" pitchFamily="34" charset="0"/>
                <a:ea typeface="Courier New" pitchFamily="34" charset="-122"/>
                <a:cs typeface="Courier New" pitchFamily="34" charset="-120"/>
              </a:rPr>
              <a:t>(userPromise);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&lt;h1&gt;{user.name}&lt;/h1&gt;;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2" name="Shape 10"/>
          <p:cNvSpPr/>
          <p:nvPr/>
        </p:nvSpPr>
        <p:spPr>
          <a:xfrm>
            <a:off x="6355080" y="1965960"/>
            <a:ext cx="5029200" cy="4023360"/>
          </a:xfrm>
          <a:prstGeom prst="rect">
            <a:avLst/>
          </a:prstGeom>
          <a:solidFill>
            <a:srgbClr val="FFFFFF"/>
          </a:solidFill>
          <a:ln w="12700">
            <a:solidFill>
              <a:srgbClr val="E2E8F0"/>
            </a:solidFill>
            <a:prstDash val="solid"/>
          </a:ln>
        </p:spPr>
        <p:txBody>
          <a:bodyPr/>
          <a:lstStyle/>
          <a:p>
            <a:endParaRPr lang="en-US"/>
          </a:p>
        </p:txBody>
      </p:sp>
      <p:sp>
        <p:nvSpPr>
          <p:cNvPr id="13" name="Shape 11"/>
          <p:cNvSpPr/>
          <p:nvPr/>
        </p:nvSpPr>
        <p:spPr>
          <a:xfrm>
            <a:off x="6355080" y="1965960"/>
            <a:ext cx="109728" cy="4023360"/>
          </a:xfrm>
          <a:prstGeom prst="rect">
            <a:avLst/>
          </a:prstGeom>
          <a:solidFill>
            <a:srgbClr val="00B8D9"/>
          </a:solidFill>
          <a:ln w="12700">
            <a:solidFill>
              <a:srgbClr val="00B8D9"/>
            </a:solidFill>
            <a:prstDash val="solid"/>
          </a:ln>
        </p:spPr>
        <p:txBody>
          <a:bodyPr/>
          <a:lstStyle/>
          <a:p>
            <a:endParaRPr lang="en-US"/>
          </a:p>
        </p:txBody>
      </p:sp>
      <p:sp>
        <p:nvSpPr>
          <p:cNvPr id="14" name="Text 12"/>
          <p:cNvSpPr/>
          <p:nvPr/>
        </p:nvSpPr>
        <p:spPr>
          <a:xfrm>
            <a:off x="6629400" y="2103120"/>
            <a:ext cx="4754880" cy="457200"/>
          </a:xfrm>
          <a:prstGeom prst="rect">
            <a:avLst/>
          </a:prstGeom>
          <a:noFill/>
          <a:ln/>
        </p:spPr>
        <p:txBody>
          <a:bodyPr wrap="square" lIns="0" tIns="0" rIns="0" bIns="0" rtlCol="0" anchor="ctr"/>
          <a:lstStyle/>
          <a:p>
            <a:pPr marL="0" indent="0">
              <a:buNone/>
            </a:pPr>
            <a:r>
              <a:rPr lang="en-US" sz="1800" b="1" dirty="0">
                <a:solidFill>
                  <a:srgbClr val="0F172A"/>
                </a:solidFill>
                <a:latin typeface="Courier New" pitchFamily="34" charset="0"/>
                <a:ea typeface="Courier New" pitchFamily="34" charset="-122"/>
                <a:cs typeface="Courier New" pitchFamily="34" charset="-120"/>
              </a:rPr>
              <a:t>use(context)</a:t>
            </a:r>
            <a:endParaRPr lang="en-US" sz="1800" dirty="0"/>
          </a:p>
        </p:txBody>
      </p:sp>
      <p:sp>
        <p:nvSpPr>
          <p:cNvPr id="15" name="Text 13"/>
          <p:cNvSpPr/>
          <p:nvPr/>
        </p:nvSpPr>
        <p:spPr>
          <a:xfrm>
            <a:off x="6629400" y="2606040"/>
            <a:ext cx="4663440" cy="822960"/>
          </a:xfrm>
          <a:prstGeom prst="rect">
            <a:avLst/>
          </a:prstGeom>
          <a:noFill/>
          <a:ln/>
        </p:spPr>
        <p:txBody>
          <a:bodyPr wrap="square" lIns="0" tIns="0" rIns="0" bIns="0" rtlCol="0" anchor="t"/>
          <a:lstStyle/>
          <a:p>
            <a:pPr marL="0" indent="0">
              <a:buNone/>
            </a:pPr>
            <a:r>
              <a:rPr lang="en-US" sz="1200" i="1" dirty="0">
                <a:solidFill>
                  <a:srgbClr val="475569"/>
                </a:solidFill>
                <a:latin typeface="Arial" pitchFamily="34" charset="0"/>
                <a:ea typeface="Arial" pitchFamily="34" charset="-122"/>
                <a:cs typeface="Arial" pitchFamily="34" charset="-120"/>
              </a:rPr>
              <a:t>Like useContext, but legal inside if/loop/early-return. Quietly the unsung benefit.</a:t>
            </a:r>
            <a:endParaRPr lang="en-US" sz="1200" dirty="0"/>
          </a:p>
        </p:txBody>
      </p:sp>
      <p:sp>
        <p:nvSpPr>
          <p:cNvPr id="16" name="Shape 14"/>
          <p:cNvSpPr/>
          <p:nvPr/>
        </p:nvSpPr>
        <p:spPr>
          <a:xfrm>
            <a:off x="6629400" y="3520440"/>
            <a:ext cx="4663440" cy="2331720"/>
          </a:xfrm>
          <a:prstGeom prst="rect">
            <a:avLst/>
          </a:prstGeom>
          <a:solidFill>
            <a:srgbClr val="1E2A47"/>
          </a:solidFill>
          <a:ln w="12700">
            <a:solidFill>
              <a:srgbClr val="1E2A47"/>
            </a:solidFill>
            <a:prstDash val="solid"/>
          </a:ln>
        </p:spPr>
        <p:txBody>
          <a:bodyPr/>
          <a:lstStyle/>
          <a:p>
            <a:endParaRPr lang="en-US"/>
          </a:p>
        </p:txBody>
      </p:sp>
      <p:sp>
        <p:nvSpPr>
          <p:cNvPr id="17" name="Text 15"/>
          <p:cNvSpPr/>
          <p:nvPr/>
        </p:nvSpPr>
        <p:spPr>
          <a:xfrm>
            <a:off x="6812280" y="3657600"/>
            <a:ext cx="4297680" cy="205740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Header</a:t>
            </a: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if (!hasAuth) </a:t>
            </a:r>
            <a:r>
              <a:rPr lang="en-US" sz="1300" dirty="0">
                <a:solidFill>
                  <a:srgbClr val="9CDCFE"/>
                </a:solidFill>
                <a:latin typeface="Courier New" pitchFamily="34" charset="0"/>
                <a:ea typeface="Courier New" pitchFamily="34" charset="-122"/>
                <a:cs typeface="Courier New" pitchFamily="34" charset="-120"/>
              </a:rPr>
              <a:t>return null;</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const theme = </a:t>
            </a:r>
            <a:r>
              <a:rPr lang="en-US" sz="1300" dirty="0">
                <a:solidFill>
                  <a:srgbClr val="DCDCAA"/>
                </a:solidFill>
                <a:latin typeface="Courier New" pitchFamily="34" charset="0"/>
                <a:ea typeface="Courier New" pitchFamily="34" charset="-122"/>
                <a:cs typeface="Courier New" pitchFamily="34" charset="-120"/>
              </a:rPr>
              <a:t>use</a:t>
            </a:r>
            <a:r>
              <a:rPr lang="en-US" sz="1300" dirty="0">
                <a:solidFill>
                  <a:srgbClr val="FFFFFF"/>
                </a:solidFill>
                <a:latin typeface="Courier New" pitchFamily="34" charset="0"/>
                <a:ea typeface="Courier New" pitchFamily="34" charset="-122"/>
                <a:cs typeface="Courier New" pitchFamily="34" charset="-120"/>
              </a:rPr>
              <a:t>(ThemeContext);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&lt;nav style={theme.nav} /&gt;;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8" name="Text 1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9" name="Text 1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34</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use(promise)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Pair with &lt;Suspense&gt; above. Don't create the promise inside the component that calls use().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300" i="1" dirty="0">
                <a:solidFill>
                  <a:srgbClr val="6A9955"/>
                </a:solidFill>
                <a:latin typeface="Courier New" pitchFamily="34" charset="0"/>
                <a:ea typeface="Courier New" pitchFamily="34" charset="-122"/>
                <a:cs typeface="Courier New" pitchFamily="34" charset="-120"/>
              </a:rPr>
              <a:t>// page.jsx — Server Component</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ProfilePage</a:t>
            </a:r>
            <a:r>
              <a:rPr lang="en-US" sz="1300" dirty="0">
                <a:solidFill>
                  <a:srgbClr val="FFFFFF"/>
                </a:solidFill>
                <a:latin typeface="Courier New" pitchFamily="34" charset="0"/>
                <a:ea typeface="Courier New" pitchFamily="34" charset="-122"/>
                <a:cs typeface="Courier New" pitchFamily="34" charset="-120"/>
              </a:rPr>
              <a:t>({ params })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 fetch starts here, but we don't await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userPromise = fetchUser(params.id);</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marL="0" indent="0">
              <a:buNone/>
            </a:pPr>
            <a:r>
              <a:rPr lang="en-US" sz="1300" dirty="0">
                <a:solidFill>
                  <a:srgbClr val="9CDCFE"/>
                </a:solidFill>
                <a:latin typeface="Courier New" pitchFamily="34" charset="0"/>
                <a:ea typeface="Courier New" pitchFamily="34" charset="-122"/>
                <a:cs typeface="Courier New" pitchFamily="34" charset="-120"/>
              </a:rPr>
              <a:t>    &lt;</a:t>
            </a:r>
            <a:r>
              <a:rPr lang="en-US" sz="1300" dirty="0">
                <a:solidFill>
                  <a:srgbClr val="DCDCAA"/>
                </a:solidFill>
                <a:latin typeface="Courier New" pitchFamily="34" charset="0"/>
                <a:ea typeface="Courier New" pitchFamily="34" charset="-122"/>
                <a:cs typeface="Courier New" pitchFamily="34" charset="-120"/>
              </a:rPr>
              <a:t>Suspense </a:t>
            </a:r>
            <a:r>
              <a:rPr lang="en-US" sz="1300" dirty="0">
                <a:solidFill>
                  <a:srgbClr val="9CDCFE"/>
                </a:solidFill>
                <a:latin typeface="Courier New" pitchFamily="34" charset="0"/>
                <a:ea typeface="Courier New" pitchFamily="34" charset="-122"/>
                <a:cs typeface="Courier New" pitchFamily="34" charset="-120"/>
              </a:rPr>
              <a:t>fallback={&lt;Spinner /&gt;}&gt;</a:t>
            </a:r>
            <a:endParaRPr lang="en-US" sz="1300" dirty="0"/>
          </a:p>
          <a:p>
            <a:pPr marL="0" indent="0">
              <a:buNone/>
            </a:pPr>
            <a:r>
              <a:rPr lang="en-US" sz="1300" dirty="0">
                <a:solidFill>
                  <a:srgbClr val="9CDCFE"/>
                </a:solidFill>
                <a:latin typeface="Courier New" pitchFamily="34" charset="0"/>
                <a:ea typeface="Courier New" pitchFamily="34" charset="-122"/>
                <a:cs typeface="Courier New" pitchFamily="34" charset="-120"/>
              </a:rPr>
              <a:t>      &lt;</a:t>
            </a:r>
            <a:r>
              <a:rPr lang="en-US" sz="1300" dirty="0">
                <a:solidFill>
                  <a:srgbClr val="DCDCAA"/>
                </a:solidFill>
                <a:latin typeface="Courier New" pitchFamily="34" charset="0"/>
                <a:ea typeface="Courier New" pitchFamily="34" charset="-122"/>
                <a:cs typeface="Courier New" pitchFamily="34" charset="-120"/>
              </a:rPr>
              <a:t>Profile </a:t>
            </a:r>
            <a:r>
              <a:rPr lang="en-US" sz="1300" dirty="0">
                <a:solidFill>
                  <a:srgbClr val="9CDCFE"/>
                </a:solidFill>
                <a:latin typeface="Courier New" pitchFamily="34" charset="0"/>
                <a:ea typeface="Courier New" pitchFamily="34" charset="-122"/>
                <a:cs typeface="Courier New" pitchFamily="34" charset="-120"/>
              </a:rPr>
              <a:t>userPromise={userPromise} /&gt;</a:t>
            </a:r>
            <a:endParaRPr lang="en-US" sz="1300" dirty="0"/>
          </a:p>
          <a:p>
            <a:pPr marL="0" indent="0">
              <a:buNone/>
            </a:pPr>
            <a:r>
              <a:rPr lang="en-US" sz="1300" dirty="0">
                <a:solidFill>
                  <a:srgbClr val="9CDCFE"/>
                </a:solidFill>
                <a:latin typeface="Courier New" pitchFamily="34" charset="0"/>
                <a:ea typeface="Courier New" pitchFamily="34" charset="-122"/>
                <a:cs typeface="Courier New" pitchFamily="34" charset="-120"/>
              </a:rPr>
              <a:t>    &lt;/</a:t>
            </a:r>
            <a:r>
              <a:rPr lang="en-US" sz="1300" dirty="0">
                <a:solidFill>
                  <a:srgbClr val="DCDCAA"/>
                </a:solidFill>
                <a:latin typeface="Courier New" pitchFamily="34" charset="0"/>
                <a:ea typeface="Courier New" pitchFamily="34" charset="-122"/>
                <a:cs typeface="Courier New" pitchFamily="34" charset="-120"/>
              </a:rPr>
              <a:t>Suspense</a:t>
            </a:r>
            <a:r>
              <a:rPr lang="en-US" sz="1300" dirty="0">
                <a:solidFill>
                  <a:srgbClr val="9CDCFE"/>
                </a:solidFill>
                <a:latin typeface="Courier New" pitchFamily="34" charset="0"/>
                <a:ea typeface="Courier New" pitchFamily="34" charset="-122"/>
                <a:cs typeface="Courier New" pitchFamily="34" charset="-120"/>
              </a:rPr>
              <a:t>&gt;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Profile.jsx — Client Component</a:t>
            </a:r>
            <a:endParaRPr lang="en-US" sz="1300" dirty="0"/>
          </a:p>
          <a:p>
            <a:pPr marL="0" indent="0">
              <a:buNone/>
            </a:pPr>
            <a:r>
              <a:rPr lang="en-US" sz="1300" dirty="0">
                <a:solidFill>
                  <a:srgbClr val="9CDCFE"/>
                </a:solidFill>
                <a:latin typeface="Courier New" pitchFamily="34" charset="0"/>
                <a:ea typeface="Courier New" pitchFamily="34" charset="-122"/>
                <a:cs typeface="Courier New" pitchFamily="34" charset="-120"/>
              </a:rPr>
              <a:t>'use client'</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export function </a:t>
            </a:r>
            <a:r>
              <a:rPr lang="en-US" sz="1300" dirty="0">
                <a:solidFill>
                  <a:srgbClr val="DCDCAA"/>
                </a:solidFill>
                <a:latin typeface="Courier New" pitchFamily="34" charset="0"/>
                <a:ea typeface="Courier New" pitchFamily="34" charset="-122"/>
                <a:cs typeface="Courier New" pitchFamily="34" charset="-120"/>
              </a:rPr>
              <a:t>Profile</a:t>
            </a:r>
            <a:r>
              <a:rPr lang="en-US" sz="1300" dirty="0">
                <a:solidFill>
                  <a:srgbClr val="FFFFFF"/>
                </a:solidFill>
                <a:latin typeface="Courier New" pitchFamily="34" charset="0"/>
                <a:ea typeface="Courier New" pitchFamily="34" charset="-122"/>
                <a:cs typeface="Courier New" pitchFamily="34" charset="-120"/>
              </a:rPr>
              <a:t>({ userPromise })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const user = </a:t>
            </a:r>
            <a:r>
              <a:rPr lang="en-US" sz="1300" dirty="0">
                <a:solidFill>
                  <a:srgbClr val="DCDCAA"/>
                </a:solidFill>
                <a:latin typeface="Courier New" pitchFamily="34" charset="0"/>
                <a:ea typeface="Courier New" pitchFamily="34" charset="-122"/>
                <a:cs typeface="Courier New" pitchFamily="34" charset="-120"/>
              </a:rPr>
              <a:t>use</a:t>
            </a:r>
            <a:r>
              <a:rPr lang="en-US" sz="1300" dirty="0">
                <a:solidFill>
                  <a:srgbClr val="FFFFFF"/>
                </a:solidFill>
                <a:latin typeface="Courier New" pitchFamily="34" charset="0"/>
                <a:ea typeface="Courier New" pitchFamily="34" charset="-122"/>
                <a:cs typeface="Courier New" pitchFamily="34" charset="-120"/>
              </a:rPr>
              <a:t>(userPromise);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&lt;h1&gt;{user.name}&lt;/h1&gt;;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777240" y="5897880"/>
            <a:ext cx="10607040" cy="365760"/>
          </a:xfrm>
          <a:prstGeom prst="rect">
            <a:avLst/>
          </a:prstGeom>
          <a:solidFill>
            <a:srgbClr val="CBF1F6"/>
          </a:solidFill>
          <a:ln w="12700">
            <a:solidFill>
              <a:srgbClr val="CBF1F6"/>
            </a:solidFill>
            <a:prstDash val="solid"/>
          </a:ln>
        </p:spPr>
        <p:txBody>
          <a:bodyPr/>
          <a:lstStyle/>
          <a:p>
            <a:endParaRPr lang="en-US"/>
          </a:p>
        </p:txBody>
      </p:sp>
      <p:sp>
        <p:nvSpPr>
          <p:cNvPr id="8" name="Text 6"/>
          <p:cNvSpPr/>
          <p:nvPr/>
        </p:nvSpPr>
        <p:spPr>
          <a:xfrm>
            <a:off x="960120" y="5897880"/>
            <a:ext cx="10424160" cy="365760"/>
          </a:xfrm>
          <a:prstGeom prst="rect">
            <a:avLst/>
          </a:prstGeom>
          <a:noFill/>
          <a:ln/>
        </p:spPr>
        <p:txBody>
          <a:bodyPr wrap="square" lIns="0" tIns="0" rIns="0" bIns="0" rtlCol="0" anchor="ctr"/>
          <a:lstStyle/>
          <a:p>
            <a:pPr marL="0" indent="0">
              <a:buNone/>
            </a:pPr>
            <a:r>
              <a:rPr lang="en-US" sz="1100" i="1" dirty="0">
                <a:solidFill>
                  <a:srgbClr val="0F172A"/>
                </a:solidFill>
                <a:latin typeface="Arial" pitchFamily="34" charset="0"/>
                <a:ea typeface="Arial" pitchFamily="34" charset="-122"/>
                <a:cs typeface="Arial" pitchFamily="34" charset="-120"/>
              </a:rPr>
              <a:t>Common mistake: creating the promise inside the component that calls use(). New promise every render → infinite suspense loop.</a:t>
            </a:r>
            <a:endParaRPr lang="en-US" sz="11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34</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useActionState — anatomy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Wraps a form action. Gives you state, the action, and isPending in one tuple.</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155448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const [state, action, isPending] = </a:t>
            </a:r>
            <a:r>
              <a:rPr lang="en-US" sz="1400" dirty="0">
                <a:solidFill>
                  <a:srgbClr val="DCDCAA"/>
                </a:solidFill>
                <a:latin typeface="Courier New" pitchFamily="34" charset="0"/>
                <a:ea typeface="Courier New" pitchFamily="34" charset="-122"/>
                <a:cs typeface="Courier New" pitchFamily="34" charset="-120"/>
              </a:rPr>
              <a:t>useActionState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fn,        </a:t>
            </a:r>
            <a:r>
              <a:rPr lang="en-US" sz="1400" i="1" dirty="0">
                <a:solidFill>
                  <a:srgbClr val="6A9955"/>
                </a:solidFill>
                <a:latin typeface="Courier New" pitchFamily="34" charset="0"/>
                <a:ea typeface="Courier New" pitchFamily="34" charset="-122"/>
                <a:cs typeface="Courier New" pitchFamily="34" charset="-120"/>
              </a:rPr>
              <a:t>// async (prevState, formData) =&gt; newState</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initialState,</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permalink, </a:t>
            </a:r>
            <a:r>
              <a:rPr lang="en-US" sz="1400" i="1" dirty="0">
                <a:solidFill>
                  <a:srgbClr val="6A9955"/>
                </a:solidFill>
                <a:latin typeface="Courier New" pitchFamily="34" charset="0"/>
                <a:ea typeface="Courier New" pitchFamily="34" charset="-122"/>
                <a:cs typeface="Courier New" pitchFamily="34" charset="-120"/>
              </a:rPr>
              <a:t>// optional, for progressive enhancement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77724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8" name="Shape 6"/>
          <p:cNvSpPr/>
          <p:nvPr/>
        </p:nvSpPr>
        <p:spPr>
          <a:xfrm>
            <a:off x="777240" y="3657600"/>
            <a:ext cx="3611880" cy="457200"/>
          </a:xfrm>
          <a:prstGeom prst="rect">
            <a:avLst/>
          </a:prstGeom>
          <a:solidFill>
            <a:srgbClr val="CBF1F6"/>
          </a:solidFill>
          <a:ln w="12700">
            <a:solidFill>
              <a:srgbClr val="CBF1F6"/>
            </a:solidFill>
            <a:prstDash val="solid"/>
          </a:ln>
        </p:spPr>
        <p:txBody>
          <a:bodyPr/>
          <a:lstStyle/>
          <a:p>
            <a:endParaRPr lang="en-US"/>
          </a:p>
        </p:txBody>
      </p:sp>
      <p:sp>
        <p:nvSpPr>
          <p:cNvPr id="9" name="Text 7"/>
          <p:cNvSpPr/>
          <p:nvPr/>
        </p:nvSpPr>
        <p:spPr>
          <a:xfrm>
            <a:off x="960120" y="370332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Courier New" pitchFamily="34" charset="0"/>
                <a:ea typeface="Courier New" pitchFamily="34" charset="-122"/>
                <a:cs typeface="Courier New" pitchFamily="34" charset="-120"/>
              </a:rPr>
              <a:t>state</a:t>
            </a:r>
            <a:endParaRPr lang="en-US" sz="1400" dirty="0"/>
          </a:p>
        </p:txBody>
      </p:sp>
      <p:sp>
        <p:nvSpPr>
          <p:cNvPr id="10" name="Text 8"/>
          <p:cNvSpPr/>
          <p:nvPr/>
        </p:nvSpPr>
        <p:spPr>
          <a:xfrm>
            <a:off x="960120" y="4206240"/>
            <a:ext cx="3337560" cy="1783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Whatever fn returned last time it ran. The classic form-state pattern: { errors, fieldValues, success }.</a:t>
            </a:r>
            <a:endParaRPr lang="en-US" sz="1200" dirty="0"/>
          </a:p>
        </p:txBody>
      </p:sp>
      <p:sp>
        <p:nvSpPr>
          <p:cNvPr id="11" name="Shape 9"/>
          <p:cNvSpPr/>
          <p:nvPr/>
        </p:nvSpPr>
        <p:spPr>
          <a:xfrm>
            <a:off x="461772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12" name="Shape 10"/>
          <p:cNvSpPr/>
          <p:nvPr/>
        </p:nvSpPr>
        <p:spPr>
          <a:xfrm>
            <a:off x="4617720" y="3657600"/>
            <a:ext cx="3611880" cy="457200"/>
          </a:xfrm>
          <a:prstGeom prst="rect">
            <a:avLst/>
          </a:prstGeom>
          <a:solidFill>
            <a:srgbClr val="CBF1F6"/>
          </a:solidFill>
          <a:ln w="12700">
            <a:solidFill>
              <a:srgbClr val="CBF1F6"/>
            </a:solidFill>
            <a:prstDash val="solid"/>
          </a:ln>
        </p:spPr>
        <p:txBody>
          <a:bodyPr/>
          <a:lstStyle/>
          <a:p>
            <a:endParaRPr lang="en-US"/>
          </a:p>
        </p:txBody>
      </p:sp>
      <p:sp>
        <p:nvSpPr>
          <p:cNvPr id="13" name="Text 11"/>
          <p:cNvSpPr/>
          <p:nvPr/>
        </p:nvSpPr>
        <p:spPr>
          <a:xfrm>
            <a:off x="4800600" y="370332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Courier New" pitchFamily="34" charset="0"/>
                <a:ea typeface="Courier New" pitchFamily="34" charset="-122"/>
                <a:cs typeface="Courier New" pitchFamily="34" charset="-120"/>
              </a:rPr>
              <a:t>action</a:t>
            </a:r>
            <a:endParaRPr lang="en-US" sz="1400" dirty="0"/>
          </a:p>
        </p:txBody>
      </p:sp>
      <p:sp>
        <p:nvSpPr>
          <p:cNvPr id="14" name="Text 12"/>
          <p:cNvSpPr/>
          <p:nvPr/>
        </p:nvSpPr>
        <p:spPr>
          <a:xfrm>
            <a:off x="4800600" y="4206240"/>
            <a:ext cx="3337560" cy="1783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A wrapped version of fn. Pass it to &lt;form action&gt;. React calls it on submit and updates state automatically.</a:t>
            </a:r>
            <a:endParaRPr lang="en-US" sz="1200" dirty="0"/>
          </a:p>
        </p:txBody>
      </p:sp>
      <p:sp>
        <p:nvSpPr>
          <p:cNvPr id="15" name="Shape 13"/>
          <p:cNvSpPr/>
          <p:nvPr/>
        </p:nvSpPr>
        <p:spPr>
          <a:xfrm>
            <a:off x="845820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8458200" y="3657600"/>
            <a:ext cx="3611880" cy="457200"/>
          </a:xfrm>
          <a:prstGeom prst="rect">
            <a:avLst/>
          </a:prstGeom>
          <a:solidFill>
            <a:srgbClr val="CBF1F6"/>
          </a:solidFill>
          <a:ln w="12700">
            <a:solidFill>
              <a:srgbClr val="CBF1F6"/>
            </a:solidFill>
            <a:prstDash val="solid"/>
          </a:ln>
        </p:spPr>
        <p:txBody>
          <a:bodyPr/>
          <a:lstStyle/>
          <a:p>
            <a:endParaRPr lang="en-US"/>
          </a:p>
        </p:txBody>
      </p:sp>
      <p:sp>
        <p:nvSpPr>
          <p:cNvPr id="17" name="Text 15"/>
          <p:cNvSpPr/>
          <p:nvPr/>
        </p:nvSpPr>
        <p:spPr>
          <a:xfrm>
            <a:off x="8641080" y="370332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Courier New" pitchFamily="34" charset="0"/>
                <a:ea typeface="Courier New" pitchFamily="34" charset="-122"/>
                <a:cs typeface="Courier New" pitchFamily="34" charset="-120"/>
              </a:rPr>
              <a:t>isPending</a:t>
            </a:r>
            <a:endParaRPr lang="en-US" sz="1400" dirty="0"/>
          </a:p>
        </p:txBody>
      </p:sp>
      <p:sp>
        <p:nvSpPr>
          <p:cNvPr id="18" name="Text 16"/>
          <p:cNvSpPr/>
          <p:nvPr/>
        </p:nvSpPr>
        <p:spPr>
          <a:xfrm>
            <a:off x="8641080" y="4206240"/>
            <a:ext cx="3337560" cy="1783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True while the wrapped action is running. Use for spinners and disabling submit.</a:t>
            </a:r>
            <a:endParaRPr lang="en-US" sz="1200" dirty="0"/>
          </a:p>
        </p:txBody>
      </p:sp>
      <p:sp>
        <p:nvSpPr>
          <p:cNvPr id="19" name="Text 1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0" name="Text 1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34</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useActionState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Login form with validation, error display, and a pending state — no useState needed.</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200" dirty="0">
                <a:solidFill>
                  <a:srgbClr val="C586C0"/>
                </a:solidFill>
                <a:latin typeface="Courier New" pitchFamily="34" charset="0"/>
                <a:ea typeface="Courier New" pitchFamily="34" charset="-122"/>
                <a:cs typeface="Courier New" pitchFamily="34" charset="-120"/>
              </a:rPr>
              <a:t>async function </a:t>
            </a:r>
            <a:r>
              <a:rPr lang="en-US" sz="1200" dirty="0">
                <a:solidFill>
                  <a:srgbClr val="DCDCAA"/>
                </a:solidFill>
                <a:latin typeface="Courier New" pitchFamily="34" charset="0"/>
                <a:ea typeface="Courier New" pitchFamily="34" charset="-122"/>
                <a:cs typeface="Courier New" pitchFamily="34" charset="-120"/>
              </a:rPr>
              <a:t>login</a:t>
            </a:r>
            <a:r>
              <a:rPr lang="en-US" sz="1200" dirty="0">
                <a:solidFill>
                  <a:srgbClr val="FFFFFF"/>
                </a:solidFill>
                <a:latin typeface="Courier New" pitchFamily="34" charset="0"/>
                <a:ea typeface="Courier New" pitchFamily="34" charset="-122"/>
                <a:cs typeface="Courier New" pitchFamily="34" charset="-120"/>
              </a:rPr>
              <a:t>(prevState, formData)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email = formData.get(</a:t>
            </a:r>
            <a:r>
              <a:rPr lang="en-US" sz="1200" dirty="0">
                <a:solidFill>
                  <a:srgbClr val="9CDCFE"/>
                </a:solidFill>
                <a:latin typeface="Courier New" pitchFamily="34" charset="0"/>
                <a:ea typeface="Courier New" pitchFamily="34" charset="-122"/>
                <a:cs typeface="Courier New" pitchFamily="34" charset="-120"/>
              </a:rPr>
              <a:t>'email'</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password = formData.get(</a:t>
            </a:r>
            <a:r>
              <a:rPr lang="en-US" sz="1200" dirty="0">
                <a:solidFill>
                  <a:srgbClr val="9CDCFE"/>
                </a:solidFill>
                <a:latin typeface="Courier New" pitchFamily="34" charset="0"/>
                <a:ea typeface="Courier New" pitchFamily="34" charset="-122"/>
                <a:cs typeface="Courier New" pitchFamily="34" charset="-120"/>
              </a:rPr>
              <a:t>'password'</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result = await authApi.login(email, password);</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if (result.error) return </a:t>
            </a:r>
            <a:r>
              <a:rPr lang="en-US" sz="1200" dirty="0">
                <a:solidFill>
                  <a:srgbClr val="FFFFFF"/>
                </a:solidFill>
                <a:latin typeface="Courier New" pitchFamily="34" charset="0"/>
                <a:ea typeface="Courier New" pitchFamily="34" charset="-122"/>
                <a:cs typeface="Courier New" pitchFamily="34" charset="-120"/>
              </a:rPr>
              <a:t>{ email, error: result.error };</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redirect(</a:t>
            </a:r>
            <a:r>
              <a:rPr lang="en-US" sz="1200" dirty="0">
                <a:solidFill>
                  <a:srgbClr val="9CDCFE"/>
                </a:solidFill>
                <a:latin typeface="Courier New" pitchFamily="34" charset="0"/>
                <a:ea typeface="Courier New" pitchFamily="34" charset="-122"/>
                <a:cs typeface="Courier New" pitchFamily="34" charset="-120"/>
              </a:rPr>
              <a:t>'/home'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function </a:t>
            </a:r>
            <a:r>
              <a:rPr lang="en-US" sz="1200" dirty="0">
                <a:solidFill>
                  <a:srgbClr val="DCDCAA"/>
                </a:solidFill>
                <a:latin typeface="Courier New" pitchFamily="34" charset="0"/>
                <a:ea typeface="Courier New" pitchFamily="34" charset="-122"/>
                <a:cs typeface="Courier New" pitchFamily="34" charset="-120"/>
              </a:rPr>
              <a:t>LoginForm</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[state, action, isPending] = </a:t>
            </a:r>
            <a:r>
              <a:rPr lang="en-US" sz="1200" dirty="0">
                <a:solidFill>
                  <a:srgbClr val="DCDCAA"/>
                </a:solidFill>
                <a:latin typeface="Courier New" pitchFamily="34" charset="0"/>
                <a:ea typeface="Courier New" pitchFamily="34" charset="-122"/>
                <a:cs typeface="Courier New" pitchFamily="34" charset="-120"/>
              </a:rPr>
              <a:t>useActionState</a:t>
            </a:r>
            <a:r>
              <a:rPr lang="en-US" sz="1200" dirty="0">
                <a:solidFill>
                  <a:srgbClr val="FFFFFF"/>
                </a:solidFill>
                <a:latin typeface="Courier New" pitchFamily="34" charset="0"/>
                <a:ea typeface="Courier New" pitchFamily="34" charset="-122"/>
                <a:cs typeface="Courier New" pitchFamily="34" charset="-120"/>
              </a:rPr>
              <a:t>(login,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&lt;form action={action}&gt;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&lt;input name=</a:t>
            </a:r>
            <a:r>
              <a:rPr lang="en-US" sz="1200" dirty="0">
                <a:solidFill>
                  <a:srgbClr val="9CDCFE"/>
                </a:solidFill>
                <a:latin typeface="Courier New" pitchFamily="34" charset="0"/>
                <a:ea typeface="Courier New" pitchFamily="34" charset="-122"/>
                <a:cs typeface="Courier New" pitchFamily="34" charset="-120"/>
              </a:rPr>
              <a:t>'email'</a:t>
            </a:r>
            <a:r>
              <a:rPr lang="en-US" sz="1200" dirty="0">
                <a:solidFill>
                  <a:srgbClr val="FFFFFF"/>
                </a:solidFill>
                <a:latin typeface="Courier New" pitchFamily="34" charset="0"/>
                <a:ea typeface="Courier New" pitchFamily="34" charset="-122"/>
                <a:cs typeface="Courier New" pitchFamily="34" charset="-120"/>
              </a:rPr>
              <a:t> defaultValue={state.email} /&gt;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&lt;input name=</a:t>
            </a:r>
            <a:r>
              <a:rPr lang="en-US" sz="1200" dirty="0">
                <a:solidFill>
                  <a:srgbClr val="9CDCFE"/>
                </a:solidFill>
                <a:latin typeface="Courier New" pitchFamily="34" charset="0"/>
                <a:ea typeface="Courier New" pitchFamily="34" charset="-122"/>
                <a:cs typeface="Courier New" pitchFamily="34" charset="-120"/>
              </a:rPr>
              <a:t>'password'</a:t>
            </a:r>
            <a:r>
              <a:rPr lang="en-US" sz="1200" dirty="0">
                <a:solidFill>
                  <a:srgbClr val="FFFFFF"/>
                </a:solidFill>
                <a:latin typeface="Courier New" pitchFamily="34" charset="0"/>
                <a:ea typeface="Courier New" pitchFamily="34" charset="-122"/>
                <a:cs typeface="Courier New" pitchFamily="34" charset="-120"/>
              </a:rPr>
              <a:t> type=</a:t>
            </a:r>
            <a:r>
              <a:rPr lang="en-US" sz="1200" dirty="0">
                <a:solidFill>
                  <a:srgbClr val="9CDCFE"/>
                </a:solidFill>
                <a:latin typeface="Courier New" pitchFamily="34" charset="0"/>
                <a:ea typeface="Courier New" pitchFamily="34" charset="-122"/>
                <a:cs typeface="Courier New" pitchFamily="34" charset="-120"/>
              </a:rPr>
              <a:t>'password'</a:t>
            </a:r>
            <a:r>
              <a:rPr lang="en-US" sz="1200" dirty="0">
                <a:solidFill>
                  <a:srgbClr val="FFFFFF"/>
                </a:solidFill>
                <a:latin typeface="Courier New" pitchFamily="34" charset="0"/>
                <a:ea typeface="Courier New" pitchFamily="34" charset="-122"/>
                <a:cs typeface="Courier New" pitchFamily="34" charset="-120"/>
              </a:rPr>
              <a:t> /&gt;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{state.error &amp;&amp; &lt;p className=</a:t>
            </a:r>
            <a:r>
              <a:rPr lang="en-US" sz="1200" dirty="0">
                <a:solidFill>
                  <a:srgbClr val="9CDCFE"/>
                </a:solidFill>
                <a:latin typeface="Courier New" pitchFamily="34" charset="0"/>
                <a:ea typeface="Courier New" pitchFamily="34" charset="-122"/>
                <a:cs typeface="Courier New" pitchFamily="34" charset="-120"/>
              </a:rPr>
              <a:t>'error'</a:t>
            </a:r>
            <a:r>
              <a:rPr lang="en-US" sz="1200" dirty="0">
                <a:solidFill>
                  <a:srgbClr val="FFFFFF"/>
                </a:solidFill>
                <a:latin typeface="Courier New" pitchFamily="34" charset="0"/>
                <a:ea typeface="Courier New" pitchFamily="34" charset="-122"/>
                <a:cs typeface="Courier New" pitchFamily="34" charset="-120"/>
              </a:rPr>
              <a:t>&gt;{state.error}&lt;/p&gt;}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&lt;button disabled={isPending}&gt;Sign in&lt;/button&gt;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&lt;/form&gt;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34</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useFormStatus — the inside-form hook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Read pending/data/method/action from any descendant of a form. Replaces prop drilling.</a:t>
            </a:r>
            <a:endParaRPr lang="en-US" sz="1400" dirty="0"/>
          </a:p>
        </p:txBody>
      </p:sp>
      <p:sp>
        <p:nvSpPr>
          <p:cNvPr id="5" name="Shape 3"/>
          <p:cNvSpPr/>
          <p:nvPr/>
        </p:nvSpPr>
        <p:spPr>
          <a:xfrm>
            <a:off x="777240" y="1554480"/>
            <a:ext cx="5943600" cy="10972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82296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const { pending, data, method, action }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useFormStatus</a:t>
            </a: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Returns:</a:t>
            </a:r>
            <a:endParaRPr lang="en-US" sz="1400" dirty="0"/>
          </a:p>
        </p:txBody>
      </p:sp>
      <p:sp>
        <p:nvSpPr>
          <p:cNvPr id="8" name="Text 6"/>
          <p:cNvSpPr/>
          <p:nvPr/>
        </p:nvSpPr>
        <p:spPr>
          <a:xfrm>
            <a:off x="6949440" y="1920240"/>
            <a:ext cx="4572000" cy="21945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pending — true while the parent form's action is running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data — the FormData being submitted (or null)</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method — 'get' or 'post'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action — the function the form will run</a:t>
            </a:r>
            <a:endParaRPr lang="en-US" sz="1250" dirty="0"/>
          </a:p>
        </p:txBody>
      </p:sp>
      <p:sp>
        <p:nvSpPr>
          <p:cNvPr id="9" name="Shape 7"/>
          <p:cNvSpPr/>
          <p:nvPr/>
        </p:nvSpPr>
        <p:spPr>
          <a:xfrm>
            <a:off x="777240" y="4389120"/>
            <a:ext cx="10607040" cy="137160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4709160"/>
            <a:ext cx="548640" cy="548640"/>
          </a:xfrm>
          <a:prstGeom prst="rect">
            <a:avLst/>
          </a:prstGeom>
        </p:spPr>
      </p:pic>
      <p:sp>
        <p:nvSpPr>
          <p:cNvPr id="11" name="Text 8"/>
          <p:cNvSpPr/>
          <p:nvPr/>
        </p:nvSpPr>
        <p:spPr>
          <a:xfrm>
            <a:off x="1783080" y="4434840"/>
            <a:ext cx="9509760" cy="1280160"/>
          </a:xfrm>
          <a:prstGeom prst="rect">
            <a:avLst/>
          </a:prstGeom>
          <a:noFill/>
          <a:ln/>
        </p:spPr>
        <p:txBody>
          <a:bodyPr wrap="square" lIns="0" tIns="0" rIns="0" bIns="0" rtlCol="0" anchor="ctr"/>
          <a:lstStyle/>
          <a:p>
            <a:pPr marL="0" indent="0">
              <a:buNone/>
            </a:pPr>
            <a:r>
              <a:rPr lang="en-US" sz="1400" i="1" dirty="0">
                <a:solidFill>
                  <a:srgbClr val="0F172A"/>
                </a:solidFill>
                <a:latin typeface="Arial" pitchFamily="34" charset="0"/>
                <a:ea typeface="Arial" pitchFamily="34" charset="-122"/>
                <a:cs typeface="Arial" pitchFamily="34" charset="-120"/>
              </a:rPr>
              <a:t>Must be called from inside a component rendered as a descendant of &lt;form&gt;. Calling it on the form itself returns null.</a:t>
            </a:r>
            <a:endParaRPr lang="en-US" sz="14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34</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useFormStatus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submit button that knows when its form is submitting — without any props.</a:t>
            </a:r>
            <a:endParaRPr lang="en-US" sz="1400" dirty="0"/>
          </a:p>
        </p:txBody>
      </p:sp>
      <p:sp>
        <p:nvSpPr>
          <p:cNvPr id="5" name="Shape 3"/>
          <p:cNvSpPr/>
          <p:nvPr/>
        </p:nvSpPr>
        <p:spPr>
          <a:xfrm>
            <a:off x="777240" y="1554480"/>
            <a:ext cx="10607040" cy="438912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114800"/>
          </a:xfrm>
          <a:prstGeom prst="rect">
            <a:avLst/>
          </a:prstGeom>
          <a:noFill/>
          <a:ln/>
        </p:spPr>
        <p:txBody>
          <a:bodyPr wrap="square" lIns="0" tIns="0" rIns="0" bIns="0" rtlCol="0" anchor="t"/>
          <a:lstStyle/>
          <a:p>
            <a:pPr marL="0" indent="0">
              <a:buNone/>
            </a:pPr>
            <a:r>
              <a:rPr lang="en-US" sz="1300" i="1" dirty="0">
                <a:solidFill>
                  <a:srgbClr val="6A9955"/>
                </a:solidFill>
                <a:latin typeface="Courier New" pitchFamily="34" charset="0"/>
                <a:ea typeface="Courier New" pitchFamily="34" charset="-122"/>
                <a:cs typeface="Courier New" pitchFamily="34" charset="-120"/>
              </a:rPr>
              <a:t>// reusable, no props needed</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SubmitButton</a:t>
            </a:r>
            <a:r>
              <a:rPr lang="en-US" sz="1300" dirty="0">
                <a:solidFill>
                  <a:srgbClr val="FFFFFF"/>
                </a:solidFill>
                <a:latin typeface="Courier New" pitchFamily="34" charset="0"/>
                <a:ea typeface="Courier New" pitchFamily="34" charset="-122"/>
                <a:cs typeface="Courier New" pitchFamily="34" charset="-120"/>
              </a:rPr>
              <a:t>({ children })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 pending } = </a:t>
            </a:r>
            <a:r>
              <a:rPr lang="en-US" sz="1300" dirty="0">
                <a:solidFill>
                  <a:srgbClr val="DCDCAA"/>
                </a:solidFill>
                <a:latin typeface="Courier New" pitchFamily="34" charset="0"/>
                <a:ea typeface="Courier New" pitchFamily="34" charset="-122"/>
                <a:cs typeface="Courier New" pitchFamily="34" charset="-120"/>
              </a:rPr>
              <a:t>useFormStatus</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&lt;button type=</a:t>
            </a:r>
            <a:r>
              <a:rPr lang="en-US" sz="1300" dirty="0">
                <a:solidFill>
                  <a:srgbClr val="9CDCFE"/>
                </a:solidFill>
                <a:latin typeface="Courier New" pitchFamily="34" charset="0"/>
                <a:ea typeface="Courier New" pitchFamily="34" charset="-122"/>
                <a:cs typeface="Courier New" pitchFamily="34" charset="-120"/>
              </a:rPr>
              <a:t>'submit'</a:t>
            </a:r>
            <a:r>
              <a:rPr lang="en-US" sz="1300" dirty="0">
                <a:solidFill>
                  <a:srgbClr val="FFFFFF"/>
                </a:solidFill>
                <a:latin typeface="Courier New" pitchFamily="34" charset="0"/>
                <a:ea typeface="Courier New" pitchFamily="34" charset="-122"/>
                <a:cs typeface="Courier New" pitchFamily="34" charset="-120"/>
              </a:rPr>
              <a:t> disabled={pending}&gt;</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{pending ? </a:t>
            </a:r>
            <a:r>
              <a:rPr lang="en-US" sz="1300" dirty="0">
                <a:solidFill>
                  <a:srgbClr val="9CDCFE"/>
                </a:solidFill>
                <a:latin typeface="Courier New" pitchFamily="34" charset="0"/>
                <a:ea typeface="Courier New" pitchFamily="34" charset="-122"/>
                <a:cs typeface="Courier New" pitchFamily="34" charset="-120"/>
              </a:rPr>
              <a:t>'Saving…'</a:t>
            </a:r>
            <a:r>
              <a:rPr lang="en-US" sz="1300" dirty="0">
                <a:solidFill>
                  <a:srgbClr val="FFFFFF"/>
                </a:solidFill>
                <a:latin typeface="Courier New" pitchFamily="34" charset="0"/>
                <a:ea typeface="Courier New" pitchFamily="34" charset="-122"/>
                <a:cs typeface="Courier New" pitchFamily="34" charset="-120"/>
              </a:rPr>
              <a:t> : children}</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&lt;/button&gt;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 elsewhere</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&lt;form action={savePost}&gt;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&lt;textarea name=</a:t>
            </a:r>
            <a:r>
              <a:rPr lang="en-US" sz="1300" dirty="0">
                <a:solidFill>
                  <a:srgbClr val="9CDCFE"/>
                </a:solidFill>
                <a:latin typeface="Courier New" pitchFamily="34" charset="0"/>
                <a:ea typeface="Courier New" pitchFamily="34" charset="-122"/>
                <a:cs typeface="Courier New" pitchFamily="34" charset="-120"/>
              </a:rPr>
              <a:t>'body'</a:t>
            </a:r>
            <a:r>
              <a:rPr lang="en-US" sz="1300" dirty="0">
                <a:solidFill>
                  <a:srgbClr val="FFFFFF"/>
                </a:solidFill>
                <a:latin typeface="Courier New" pitchFamily="34" charset="0"/>
                <a:ea typeface="Courier New" pitchFamily="34" charset="-122"/>
                <a:cs typeface="Courier New" pitchFamily="34" charset="-120"/>
              </a:rPr>
              <a:t> /&gt;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&lt;SubmitButton&gt;Post&lt;/SubmitButton&gt;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&lt;/form&gt;</a:t>
            </a:r>
            <a:endParaRPr lang="en-US" sz="13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34</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useOptimistic — show the future, revert on error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Render the eventual state immediately. React reconciles when the real action completes.</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155448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const [optimisticState, addOptimistic] = </a:t>
            </a:r>
            <a:r>
              <a:rPr lang="en-US" sz="1400" dirty="0">
                <a:solidFill>
                  <a:srgbClr val="DCDCAA"/>
                </a:solidFill>
                <a:latin typeface="Courier New" pitchFamily="34" charset="0"/>
                <a:ea typeface="Courier New" pitchFamily="34" charset="-122"/>
                <a:cs typeface="Courier New" pitchFamily="34" charset="-120"/>
              </a:rPr>
              <a:t>useOptimistic</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state,            </a:t>
            </a:r>
            <a:r>
              <a:rPr lang="en-US" sz="1400" i="1" dirty="0">
                <a:solidFill>
                  <a:srgbClr val="6A9955"/>
                </a:solidFill>
                <a:latin typeface="Courier New" pitchFamily="34" charset="0"/>
                <a:ea typeface="Courier New" pitchFamily="34" charset="-122"/>
                <a:cs typeface="Courier New" pitchFamily="34" charset="-120"/>
              </a:rPr>
              <a:t>// the 'real' state</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(currentState, optimisticValue) =&gt; newState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77724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8" name="Shape 6"/>
          <p:cNvSpPr/>
          <p:nvPr/>
        </p:nvSpPr>
        <p:spPr>
          <a:xfrm>
            <a:off x="777240" y="3657600"/>
            <a:ext cx="109728" cy="2468880"/>
          </a:xfrm>
          <a:prstGeom prst="rect">
            <a:avLst/>
          </a:prstGeom>
          <a:solidFill>
            <a:srgbClr val="00B8D9"/>
          </a:solidFill>
          <a:ln w="12700">
            <a:solidFill>
              <a:srgbClr val="00B8D9"/>
            </a:solidFill>
            <a:prstDash val="solid"/>
          </a:ln>
        </p:spPr>
        <p:txBody>
          <a:bodyPr/>
          <a:lstStyle/>
          <a:p>
            <a:endParaRPr lang="en-US"/>
          </a:p>
        </p:txBody>
      </p:sp>
      <p:sp>
        <p:nvSpPr>
          <p:cNvPr id="9" name="Text 7"/>
          <p:cNvSpPr/>
          <p:nvPr/>
        </p:nvSpPr>
        <p:spPr>
          <a:xfrm>
            <a:off x="1005840" y="379476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 when…</a:t>
            </a:r>
            <a:endParaRPr lang="en-US" sz="1400" dirty="0"/>
          </a:p>
        </p:txBody>
      </p:sp>
      <p:sp>
        <p:nvSpPr>
          <p:cNvPr id="10" name="Text 8"/>
          <p:cNvSpPr/>
          <p:nvPr/>
        </p:nvSpPr>
        <p:spPr>
          <a:xfrm>
            <a:off x="1005840" y="4206240"/>
            <a:ext cx="3291840" cy="18288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User actions that have a small chance of failing — sending a message, liking a post, marking a todo done.</a:t>
            </a:r>
            <a:endParaRPr lang="en-US" sz="1200" dirty="0"/>
          </a:p>
        </p:txBody>
      </p:sp>
      <p:sp>
        <p:nvSpPr>
          <p:cNvPr id="11" name="Shape 9"/>
          <p:cNvSpPr/>
          <p:nvPr/>
        </p:nvSpPr>
        <p:spPr>
          <a:xfrm>
            <a:off x="461772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12" name="Shape 10"/>
          <p:cNvSpPr/>
          <p:nvPr/>
        </p:nvSpPr>
        <p:spPr>
          <a:xfrm>
            <a:off x="4617720" y="3657600"/>
            <a:ext cx="109728" cy="2468880"/>
          </a:xfrm>
          <a:prstGeom prst="rect">
            <a:avLst/>
          </a:prstGeom>
          <a:solidFill>
            <a:srgbClr val="00B8D9"/>
          </a:solidFill>
          <a:ln w="12700">
            <a:solidFill>
              <a:srgbClr val="00B8D9"/>
            </a:solidFill>
            <a:prstDash val="solid"/>
          </a:ln>
        </p:spPr>
        <p:txBody>
          <a:bodyPr/>
          <a:lstStyle/>
          <a:p>
            <a:endParaRPr lang="en-US"/>
          </a:p>
        </p:txBody>
      </p:sp>
      <p:sp>
        <p:nvSpPr>
          <p:cNvPr id="13" name="Text 11"/>
          <p:cNvSpPr/>
          <p:nvPr/>
        </p:nvSpPr>
        <p:spPr>
          <a:xfrm>
            <a:off x="4846320" y="379476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Don't use when…</a:t>
            </a:r>
            <a:endParaRPr lang="en-US" sz="1400" dirty="0"/>
          </a:p>
        </p:txBody>
      </p:sp>
      <p:sp>
        <p:nvSpPr>
          <p:cNvPr id="14" name="Text 12"/>
          <p:cNvSpPr/>
          <p:nvPr/>
        </p:nvSpPr>
        <p:spPr>
          <a:xfrm>
            <a:off x="4846320" y="4206240"/>
            <a:ext cx="3291840" cy="18288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Actions that are slow or likely to fail (uploads, payments). The reversal feels worse than just showing pending.</a:t>
            </a:r>
            <a:endParaRPr lang="en-US" sz="1200" dirty="0"/>
          </a:p>
        </p:txBody>
      </p:sp>
      <p:sp>
        <p:nvSpPr>
          <p:cNvPr id="15" name="Shape 13"/>
          <p:cNvSpPr/>
          <p:nvPr/>
        </p:nvSpPr>
        <p:spPr>
          <a:xfrm>
            <a:off x="8458200" y="3657600"/>
            <a:ext cx="3611880" cy="246888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8458200" y="3657600"/>
            <a:ext cx="109728" cy="2468880"/>
          </a:xfrm>
          <a:prstGeom prst="rect">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8686800" y="3794760"/>
            <a:ext cx="333756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Pair with…</a:t>
            </a:r>
            <a:endParaRPr lang="en-US" sz="1400" dirty="0"/>
          </a:p>
        </p:txBody>
      </p:sp>
      <p:sp>
        <p:nvSpPr>
          <p:cNvPr id="18" name="Text 16"/>
          <p:cNvSpPr/>
          <p:nvPr/>
        </p:nvSpPr>
        <p:spPr>
          <a:xfrm>
            <a:off x="8686800" y="4206240"/>
            <a:ext cx="3291840" cy="18288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A Server Action or async handler. The optimistic state is replaced when the real state updates.</a:t>
            </a:r>
            <a:endParaRPr lang="en-US" sz="1200" dirty="0"/>
          </a:p>
        </p:txBody>
      </p:sp>
      <p:sp>
        <p:nvSpPr>
          <p:cNvPr id="19" name="Text 1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0" name="Text 1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34</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useOptimistic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Send a message; it appears in the list instantly. If the server rejects it, it disappears.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150" dirty="0">
                <a:solidFill>
                  <a:srgbClr val="C586C0"/>
                </a:solidFill>
                <a:latin typeface="Courier New" pitchFamily="34" charset="0"/>
                <a:ea typeface="Courier New" pitchFamily="34" charset="-122"/>
                <a:cs typeface="Courier New" pitchFamily="34" charset="-120"/>
              </a:rPr>
              <a:t>function </a:t>
            </a:r>
            <a:r>
              <a:rPr lang="en-US" sz="1150" dirty="0">
                <a:solidFill>
                  <a:srgbClr val="DCDCAA"/>
                </a:solidFill>
                <a:latin typeface="Courier New" pitchFamily="34" charset="0"/>
                <a:ea typeface="Courier New" pitchFamily="34" charset="-122"/>
                <a:cs typeface="Courier New" pitchFamily="34" charset="-120"/>
              </a:rPr>
              <a:t>Thread</a:t>
            </a:r>
            <a:r>
              <a:rPr lang="en-US" sz="1150" dirty="0">
                <a:solidFill>
                  <a:srgbClr val="FFFFFF"/>
                </a:solidFill>
                <a:latin typeface="Courier New" pitchFamily="34" charset="0"/>
                <a:ea typeface="Courier New" pitchFamily="34" charset="-122"/>
                <a:cs typeface="Courier New" pitchFamily="34" charset="-120"/>
              </a:rPr>
              <a:t>({ messages, send })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const [optimistic, addOptimistic] = </a:t>
            </a:r>
            <a:r>
              <a:rPr lang="en-US" sz="1150" dirty="0">
                <a:solidFill>
                  <a:srgbClr val="DCDCAA"/>
                </a:solidFill>
                <a:latin typeface="Courier New" pitchFamily="34" charset="0"/>
                <a:ea typeface="Courier New" pitchFamily="34" charset="-122"/>
                <a:cs typeface="Courier New" pitchFamily="34" charset="-120"/>
              </a:rPr>
              <a:t>useOptimistic</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messages,</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(current, newMsg) =&gt; [...current, { ...newMsg, sending: </a:t>
            </a:r>
            <a:r>
              <a:rPr lang="en-US" sz="1150" dirty="0">
                <a:solidFill>
                  <a:srgbClr val="C586C0"/>
                </a:solidFill>
                <a:latin typeface="Courier New" pitchFamily="34" charset="0"/>
                <a:ea typeface="Courier New" pitchFamily="34" charset="-122"/>
                <a:cs typeface="Courier New" pitchFamily="34" charset="-120"/>
              </a:rPr>
              <a:t>true </a:t>
            </a:r>
            <a:r>
              <a:rPr lang="en-US" sz="1150" dirty="0">
                <a:solidFill>
                  <a:srgbClr val="9CDCFE"/>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async function </a:t>
            </a:r>
            <a:r>
              <a:rPr lang="en-US" sz="1150" dirty="0">
                <a:solidFill>
                  <a:srgbClr val="DCDCAA"/>
                </a:solidFill>
                <a:latin typeface="Courier New" pitchFamily="34" charset="0"/>
                <a:ea typeface="Courier New" pitchFamily="34" charset="-122"/>
                <a:cs typeface="Courier New" pitchFamily="34" charset="-120"/>
              </a:rPr>
              <a:t>submit</a:t>
            </a:r>
            <a:r>
              <a:rPr lang="en-US" sz="1150" dirty="0">
                <a:solidFill>
                  <a:srgbClr val="FFFFFF"/>
                </a:solidFill>
                <a:latin typeface="Courier New" pitchFamily="34" charset="0"/>
                <a:ea typeface="Courier New" pitchFamily="34" charset="-122"/>
                <a:cs typeface="Courier New" pitchFamily="34" charset="-120"/>
              </a:rPr>
              <a:t>(formData)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const text = formData.get(</a:t>
            </a:r>
            <a:r>
              <a:rPr lang="en-US" sz="1150" dirty="0">
                <a:solidFill>
                  <a:srgbClr val="9CDCFE"/>
                </a:solidFill>
                <a:latin typeface="Courier New" pitchFamily="34" charset="0"/>
                <a:ea typeface="Courier New" pitchFamily="34" charset="-122"/>
                <a:cs typeface="Courier New" pitchFamily="34" charset="-120"/>
              </a:rPr>
              <a:t>'text'</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addOptimistic({ text });          </a:t>
            </a:r>
            <a:r>
              <a:rPr lang="en-US" sz="1150" i="1" dirty="0">
                <a:solidFill>
                  <a:srgbClr val="6A9955"/>
                </a:solidFill>
                <a:latin typeface="Courier New" pitchFamily="34" charset="0"/>
                <a:ea typeface="Courier New" pitchFamily="34" charset="-122"/>
                <a:cs typeface="Courier New" pitchFamily="34" charset="-120"/>
              </a:rPr>
              <a:t>// instant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await send(text);                  </a:t>
            </a:r>
            <a:r>
              <a:rPr lang="en-US" sz="1150" i="1" dirty="0">
                <a:solidFill>
                  <a:srgbClr val="6A9955"/>
                </a:solidFill>
                <a:latin typeface="Courier New" pitchFamily="34" charset="0"/>
                <a:ea typeface="Courier New" pitchFamily="34" charset="-122"/>
                <a:cs typeface="Courier New" pitchFamily="34" charset="-120"/>
              </a:rPr>
              <a:t>// real call</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return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&lt;form action={submit}&gt;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{optimistic.map(m =&gt; &lt;Bubble msg={m} /&gt;)}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&lt;input name=</a:t>
            </a:r>
            <a:r>
              <a:rPr lang="en-US" sz="1150" dirty="0">
                <a:solidFill>
                  <a:srgbClr val="9CDCFE"/>
                </a:solidFill>
                <a:latin typeface="Courier New" pitchFamily="34" charset="0"/>
                <a:ea typeface="Courier New" pitchFamily="34" charset="-122"/>
                <a:cs typeface="Courier New" pitchFamily="34" charset="-120"/>
              </a:rPr>
              <a:t>'text'</a:t>
            </a:r>
            <a:r>
              <a:rPr lang="en-US" sz="1150" dirty="0">
                <a:solidFill>
                  <a:srgbClr val="FFFFFF"/>
                </a:solidFill>
                <a:latin typeface="Courier New" pitchFamily="34" charset="0"/>
                <a:ea typeface="Courier New" pitchFamily="34" charset="-122"/>
                <a:cs typeface="Courier New" pitchFamily="34" charset="-120"/>
              </a:rPr>
              <a:t> /&gt;&lt;button&gt;Send&lt;/button&gt;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&lt;/form&gt;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34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Putting them together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complete posting form using all four new hooks. This is the pattern to remember.</a:t>
            </a:r>
            <a:endParaRPr lang="en-US" sz="1400" dirty="0"/>
          </a:p>
        </p:txBody>
      </p:sp>
      <p:sp>
        <p:nvSpPr>
          <p:cNvPr id="5" name="Shape 3"/>
          <p:cNvSpPr/>
          <p:nvPr/>
        </p:nvSpPr>
        <p:spPr>
          <a:xfrm>
            <a:off x="777240" y="1554480"/>
            <a:ext cx="10607040" cy="47548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480560"/>
          </a:xfrm>
          <a:prstGeom prst="rect">
            <a:avLst/>
          </a:prstGeom>
          <a:noFill/>
          <a:ln/>
        </p:spPr>
        <p:txBody>
          <a:bodyPr wrap="square" lIns="0" tIns="0" rIns="0" bIns="0" rtlCol="0" anchor="t"/>
          <a:lstStyle/>
          <a:p>
            <a:pPr marL="0" indent="0">
              <a:buNone/>
            </a:pPr>
            <a:r>
              <a:rPr lang="en-US" sz="1100">
                <a:solidFill>
                  <a:srgbClr val="C586C0"/>
                </a:solidFill>
                <a:latin typeface="Courier New" pitchFamily="34" charset="0"/>
                <a:ea typeface="Courier New" pitchFamily="34" charset="-122"/>
                <a:cs typeface="Courier New" pitchFamily="34" charset="-120"/>
              </a:rPr>
              <a:t>function </a:t>
            </a:r>
            <a:r>
              <a:rPr lang="en-US" sz="1100">
                <a:solidFill>
                  <a:srgbClr val="DCDCAA"/>
                </a:solidFill>
                <a:latin typeface="Courier New" pitchFamily="34" charset="0"/>
                <a:ea typeface="Courier New" pitchFamily="34" charset="-122"/>
                <a:cs typeface="Courier New" pitchFamily="34" charset="-120"/>
              </a:rPr>
              <a:t>Composer</a:t>
            </a:r>
            <a:r>
              <a:rPr lang="en-US" sz="1100">
                <a:solidFill>
                  <a:srgbClr val="FFFFFF"/>
                </a:solidFill>
                <a:latin typeface="Courier New" pitchFamily="34" charset="0"/>
                <a:ea typeface="Courier New" pitchFamily="34" charset="-122"/>
                <a:cs typeface="Courier New" pitchFamily="34" charset="-120"/>
              </a:rPr>
              <a:t>({ posts }) {</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const [state, action, isPending] = </a:t>
            </a:r>
            <a:r>
              <a:rPr lang="en-US" sz="1100">
                <a:solidFill>
                  <a:srgbClr val="DCDCAA"/>
                </a:solidFill>
                <a:latin typeface="Courier New" pitchFamily="34" charset="0"/>
                <a:ea typeface="Courier New" pitchFamily="34" charset="-122"/>
                <a:cs typeface="Courier New" pitchFamily="34" charset="-120"/>
              </a:rPr>
              <a:t>useActionState</a:t>
            </a:r>
            <a:r>
              <a:rPr lang="en-US" sz="1100">
                <a:solidFill>
                  <a:srgbClr val="9CDCFE"/>
                </a:solidFill>
                <a:latin typeface="Courier New" pitchFamily="34" charset="0"/>
                <a:ea typeface="Courier New" pitchFamily="34" charset="-122"/>
                <a:cs typeface="Courier New" pitchFamily="34" charset="-120"/>
              </a:rPr>
              <a:t>(createPost, { ok: </a:t>
            </a:r>
            <a:r>
              <a:rPr lang="en-US" sz="1100">
                <a:solidFill>
                  <a:srgbClr val="C586C0"/>
                </a:solidFill>
                <a:latin typeface="Courier New" pitchFamily="34" charset="0"/>
                <a:ea typeface="Courier New" pitchFamily="34" charset="-122"/>
                <a:cs typeface="Courier New" pitchFamily="34" charset="-120"/>
              </a:rPr>
              <a:t>true </a:t>
            </a:r>
            <a:r>
              <a:rPr lang="en-US" sz="1100">
                <a:solidFill>
                  <a:srgbClr val="9CDCFE"/>
                </a:solidFill>
                <a:latin typeface="Courier New" pitchFamily="34" charset="0"/>
                <a:ea typeface="Courier New" pitchFamily="34" charset="-122"/>
                <a:cs typeface="Courier New" pitchFamily="34" charset="-120"/>
              </a:rPr>
              <a: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const [optimisticPosts, addOptimistic] = </a:t>
            </a:r>
            <a:r>
              <a:rPr lang="en-US" sz="1100">
                <a:solidFill>
                  <a:srgbClr val="DCDCAA"/>
                </a:solidFill>
                <a:latin typeface="Courier New" pitchFamily="34" charset="0"/>
                <a:ea typeface="Courier New" pitchFamily="34" charset="-122"/>
                <a:cs typeface="Courier New" pitchFamily="34" charset="-120"/>
              </a:rPr>
              <a:t>useOptimistic</a:t>
            </a:r>
            <a:r>
              <a:rPr lang="en-US" sz="1100">
                <a:solidFill>
                  <a:srgbClr val="FFFFFF"/>
                </a:solidFill>
                <a:latin typeface="Courier New" pitchFamily="34" charset="0"/>
                <a:ea typeface="Courier New" pitchFamily="34" charset="-122"/>
                <a:cs typeface="Courier New" pitchFamily="34" charset="-120"/>
              </a:rPr>
              <a: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posts,</a:t>
            </a:r>
            <a:endParaRPr lang="en-US" sz="1100"/>
          </a:p>
          <a:p>
            <a:pPr marL="0" indent="0">
              <a:buNone/>
            </a:pPr>
            <a:r>
              <a:rPr lang="en-US" sz="1100">
                <a:solidFill>
                  <a:srgbClr val="9CDCFE"/>
                </a:solidFill>
                <a:latin typeface="Courier New" pitchFamily="34" charset="0"/>
                <a:ea typeface="Courier New" pitchFamily="34" charset="-122"/>
                <a:cs typeface="Courier New" pitchFamily="34" charset="-120"/>
              </a:rPr>
              <a:t>    (current, newPost) =&gt; [{ ...newPost, sending: </a:t>
            </a:r>
            <a:r>
              <a:rPr lang="en-US" sz="1100">
                <a:solidFill>
                  <a:srgbClr val="C586C0"/>
                </a:solidFill>
                <a:latin typeface="Courier New" pitchFamily="34" charset="0"/>
                <a:ea typeface="Courier New" pitchFamily="34" charset="-122"/>
                <a:cs typeface="Courier New" pitchFamily="34" charset="-120"/>
              </a:rPr>
              <a:t>true </a:t>
            </a:r>
            <a:r>
              <a:rPr lang="en-US" sz="1100">
                <a:solidFill>
                  <a:srgbClr val="9CDCFE"/>
                </a:solidFill>
                <a:latin typeface="Courier New" pitchFamily="34" charset="0"/>
                <a:ea typeface="Courier New" pitchFamily="34" charset="-122"/>
                <a:cs typeface="Courier New" pitchFamily="34" charset="-120"/>
              </a:rPr>
              <a:t>}, ...current]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a:t>
            </a:r>
            <a:endParaRPr lang="en-US" sz="1100"/>
          </a:p>
          <a:p>
            <a:pPr marL="0" indent="0">
              <a:buNone/>
            </a:pP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return (</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&lt;form action={async (fd) =&gt; {</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addOptimistic({ body: fd.get(</a:t>
            </a:r>
            <a:r>
              <a:rPr lang="en-US" sz="1100">
                <a:solidFill>
                  <a:srgbClr val="9CDCFE"/>
                </a:solidFill>
                <a:latin typeface="Courier New" pitchFamily="34" charset="0"/>
                <a:ea typeface="Courier New" pitchFamily="34" charset="-122"/>
                <a:cs typeface="Courier New" pitchFamily="34" charset="-120"/>
              </a:rPr>
              <a:t>'body'</a:t>
            </a:r>
            <a:r>
              <a:rPr lang="en-US" sz="1100">
                <a:solidFill>
                  <a:srgbClr val="FFFFFF"/>
                </a:solidFill>
                <a:latin typeface="Courier New" pitchFamily="34" charset="0"/>
                <a:ea typeface="Courier New" pitchFamily="34" charset="-122"/>
                <a:cs typeface="Courier New" pitchFamily="34" charset="-120"/>
              </a:rPr>
              <a:t>) });</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await action(fd);</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&lt;textarea name=</a:t>
            </a:r>
            <a:r>
              <a:rPr lang="en-US" sz="1100">
                <a:solidFill>
                  <a:srgbClr val="9CDCFE"/>
                </a:solidFill>
                <a:latin typeface="Courier New" pitchFamily="34" charset="0"/>
                <a:ea typeface="Courier New" pitchFamily="34" charset="-122"/>
                <a:cs typeface="Courier New" pitchFamily="34" charset="-120"/>
              </a:rPr>
              <a:t>'body'</a:t>
            </a:r>
            <a:r>
              <a:rPr lang="en-US" sz="1100">
                <a:solidFill>
                  <a:srgbClr val="FFFFFF"/>
                </a:solidFill>
                <a:latin typeface="Courier New" pitchFamily="34" charset="0"/>
                <a:ea typeface="Courier New" pitchFamily="34" charset="-122"/>
                <a:cs typeface="Courier New" pitchFamily="34" charset="-120"/>
              </a:rPr>
              <a:t> /&gt;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&lt;SubmitButton /&gt;            </a:t>
            </a:r>
            <a:r>
              <a:rPr lang="en-US" sz="1100" i="1">
                <a:solidFill>
                  <a:srgbClr val="6A9955"/>
                </a:solidFill>
                <a:latin typeface="Courier New" pitchFamily="34" charset="0"/>
                <a:ea typeface="Courier New" pitchFamily="34" charset="-122"/>
                <a:cs typeface="Courier New" pitchFamily="34" charset="-120"/>
              </a:rPr>
              <a:t>// uses useFormStatus</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{state.error &amp;&amp; &lt;Error /&gt;}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&lt;/form&gt;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&lt;PostList posts={optimisticPosts} /&gt;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&lt;/&gt;</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  );</a:t>
            </a:r>
            <a:endParaRPr lang="en-US" sz="1100"/>
          </a:p>
          <a:p>
            <a:pPr marL="0" indent="0">
              <a:buNone/>
            </a:pPr>
            <a:r>
              <a:rPr lang="en-US" sz="1100">
                <a:solidFill>
                  <a:srgbClr val="FFFFFF"/>
                </a:solidFill>
                <a:latin typeface="Courier New" pitchFamily="34" charset="0"/>
                <a:ea typeface="Courier New" pitchFamily="34" charset="-122"/>
                <a:cs typeface="Courier New" pitchFamily="34" charset="-120"/>
              </a:rPr>
              <a:t>}</a:t>
            </a:r>
            <a:endParaRPr lang="en-US" sz="110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34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6">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Specialty Hooks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useSyncExternalStore, useDeferredValue, useTransition, useLayoutEffect — when each one earns its keep.</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useSyncExternalStore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Subscribe to a non-React store safely — without tearing during concurrent renders.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 when:</a:t>
            </a:r>
            <a:endParaRPr lang="en-US" sz="1400" dirty="0"/>
          </a:p>
        </p:txBody>
      </p:sp>
      <p:sp>
        <p:nvSpPr>
          <p:cNvPr id="6" name="Text 4"/>
          <p:cNvSpPr/>
          <p:nvPr/>
        </p:nvSpPr>
        <p:spPr>
          <a:xfrm>
            <a:off x="777240" y="1920240"/>
            <a:ext cx="534924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Wrapping a Zustand/Redux/Jotai-style store you wrote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Reading window.matchMedia, navigator.online, etc.</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Wrapping a third-party event emitter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Anywhere the value can change outside of React</a:t>
            </a:r>
            <a:endParaRPr lang="en-US" sz="1250"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6537960" y="1691640"/>
            <a:ext cx="4663440" cy="3931920"/>
          </a:xfrm>
          <a:prstGeom prst="rect">
            <a:avLst/>
          </a:prstGeom>
          <a:noFill/>
          <a:ln/>
        </p:spPr>
        <p:txBody>
          <a:bodyPr wrap="square" lIns="0" tIns="0" rIns="0" bIns="0" rtlCol="0" anchor="t"/>
          <a:lstStyle/>
          <a:p>
            <a:pPr marL="0" indent="0">
              <a:buNone/>
            </a:pPr>
            <a:r>
              <a:rPr lang="en-US" sz="1150" dirty="0">
                <a:solidFill>
                  <a:srgbClr val="C586C0"/>
                </a:solidFill>
                <a:latin typeface="Courier New" pitchFamily="34" charset="0"/>
                <a:ea typeface="Courier New" pitchFamily="34" charset="-122"/>
                <a:cs typeface="Courier New" pitchFamily="34" charset="-120"/>
              </a:rPr>
              <a:t>function </a:t>
            </a:r>
            <a:r>
              <a:rPr lang="en-US" sz="1150" dirty="0">
                <a:solidFill>
                  <a:srgbClr val="DCDCAA"/>
                </a:solidFill>
                <a:latin typeface="Courier New" pitchFamily="34" charset="0"/>
                <a:ea typeface="Courier New" pitchFamily="34" charset="-122"/>
                <a:cs typeface="Courier New" pitchFamily="34" charset="-120"/>
              </a:rPr>
              <a:t>useOnline</a:t>
            </a: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return </a:t>
            </a:r>
            <a:r>
              <a:rPr lang="en-US" sz="1150" dirty="0">
                <a:solidFill>
                  <a:srgbClr val="DCDCAA"/>
                </a:solidFill>
                <a:latin typeface="Courier New" pitchFamily="34" charset="0"/>
                <a:ea typeface="Courier New" pitchFamily="34" charset="-122"/>
                <a:cs typeface="Courier New" pitchFamily="34" charset="-120"/>
              </a:rPr>
              <a:t>useSyncExternalStore</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(notify) =&gt;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window.addEventListener(</a:t>
            </a:r>
            <a:r>
              <a:rPr lang="en-US" sz="1150" dirty="0">
                <a:solidFill>
                  <a:srgbClr val="9CDCFE"/>
                </a:solidFill>
                <a:latin typeface="Courier New" pitchFamily="34" charset="0"/>
                <a:ea typeface="Courier New" pitchFamily="34" charset="-122"/>
                <a:cs typeface="Courier New" pitchFamily="34" charset="-120"/>
              </a:rPr>
              <a:t>'online'</a:t>
            </a:r>
            <a:r>
              <a:rPr lang="en-US" sz="1150" dirty="0">
                <a:solidFill>
                  <a:srgbClr val="FFFFFF"/>
                </a:solidFill>
                <a:latin typeface="Courier New" pitchFamily="34" charset="0"/>
                <a:ea typeface="Courier New" pitchFamily="34" charset="-122"/>
                <a:cs typeface="Courier New" pitchFamily="34" charset="-120"/>
              </a:rPr>
              <a:t>, notify);</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window.addEventListener(</a:t>
            </a:r>
            <a:r>
              <a:rPr lang="en-US" sz="1150" dirty="0">
                <a:solidFill>
                  <a:srgbClr val="9CDCFE"/>
                </a:solidFill>
                <a:latin typeface="Courier New" pitchFamily="34" charset="0"/>
                <a:ea typeface="Courier New" pitchFamily="34" charset="-122"/>
                <a:cs typeface="Courier New" pitchFamily="34" charset="-120"/>
              </a:rPr>
              <a:t>'offline'</a:t>
            </a:r>
            <a:r>
              <a:rPr lang="en-US" sz="1150" dirty="0">
                <a:solidFill>
                  <a:srgbClr val="FFFFFF"/>
                </a:solidFill>
                <a:latin typeface="Courier New" pitchFamily="34" charset="0"/>
                <a:ea typeface="Courier New" pitchFamily="34" charset="-122"/>
                <a:cs typeface="Courier New" pitchFamily="34" charset="-120"/>
              </a:rPr>
              <a:t>, notify);</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return () =&gt; { /* cleanup */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 =&gt; navigator.onLine,        </a:t>
            </a:r>
            <a:r>
              <a:rPr lang="en-US" sz="1150" i="1" dirty="0">
                <a:solidFill>
                  <a:srgbClr val="6A9955"/>
                </a:solidFill>
                <a:latin typeface="Courier New" pitchFamily="34" charset="0"/>
                <a:ea typeface="Courier New" pitchFamily="34" charset="-122"/>
                <a:cs typeface="Courier New" pitchFamily="34" charset="-120"/>
              </a:rPr>
              <a:t>// client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 =&gt; </a:t>
            </a:r>
            <a:r>
              <a:rPr lang="en-US" sz="1150" dirty="0">
                <a:solidFill>
                  <a:srgbClr val="C586C0"/>
                </a:solidFill>
                <a:latin typeface="Courier New" pitchFamily="34" charset="0"/>
                <a:ea typeface="Courier New" pitchFamily="34" charset="-122"/>
                <a:cs typeface="Courier New" pitchFamily="34" charset="-120"/>
              </a:rPr>
              <a:t>true</a:t>
            </a:r>
            <a:r>
              <a:rPr lang="en-US" sz="1150" dirty="0">
                <a:solidFill>
                  <a:srgbClr val="9CDCFE"/>
                </a:solidFill>
                <a:latin typeface="Courier New" pitchFamily="34" charset="0"/>
                <a:ea typeface="Courier New" pitchFamily="34" charset="-122"/>
                <a:cs typeface="Courier New" pitchFamily="34" charset="-120"/>
              </a:rPr>
              <a:t>                          </a:t>
            </a:r>
            <a:r>
              <a:rPr lang="en-US" sz="1150" i="1" dirty="0">
                <a:solidFill>
                  <a:srgbClr val="6A9955"/>
                </a:solidFill>
                <a:latin typeface="Courier New" pitchFamily="34" charset="0"/>
                <a:ea typeface="Courier New" pitchFamily="34" charset="-122"/>
                <a:cs typeface="Courier New" pitchFamily="34" charset="-120"/>
              </a:rPr>
              <a:t>// server</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34</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useDeferredValue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Show stale content during expensive renders. Like a built-in stale-while-revalidate for state.</a:t>
            </a:r>
            <a:endParaRPr lang="en-US" sz="1400" dirty="0"/>
          </a:p>
        </p:txBody>
      </p:sp>
      <p:sp>
        <p:nvSpPr>
          <p:cNvPr id="5" name="Shape 3"/>
          <p:cNvSpPr/>
          <p:nvPr/>
        </p:nvSpPr>
        <p:spPr>
          <a:xfrm>
            <a:off x="777240" y="1554480"/>
            <a:ext cx="594360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3383280"/>
          </a:xfrm>
          <a:prstGeom prst="rect">
            <a:avLst/>
          </a:prstGeom>
          <a:noFill/>
          <a:ln/>
        </p:spPr>
        <p:txBody>
          <a:bodyPr wrap="square" lIns="0" tIns="0" rIns="0" bIns="0" rtlCol="0" anchor="t"/>
          <a:lstStyle/>
          <a:p>
            <a:pPr marL="0" indent="0">
              <a:buNone/>
            </a:pPr>
            <a:r>
              <a:rPr lang="en-US" sz="1300" dirty="0">
                <a:solidFill>
                  <a:srgbClr val="C586C0"/>
                </a:solidFill>
                <a:latin typeface="Courier New" pitchFamily="34" charset="0"/>
                <a:ea typeface="Courier New" pitchFamily="34" charset="-122"/>
                <a:cs typeface="Courier New" pitchFamily="34" charset="-120"/>
              </a:rPr>
              <a:t>function </a:t>
            </a:r>
            <a:r>
              <a:rPr lang="en-US" sz="1300" dirty="0">
                <a:solidFill>
                  <a:srgbClr val="DCDCAA"/>
                </a:solidFill>
                <a:latin typeface="Courier New" pitchFamily="34" charset="0"/>
                <a:ea typeface="Courier New" pitchFamily="34" charset="-122"/>
                <a:cs typeface="Courier New" pitchFamily="34" charset="-120"/>
              </a:rPr>
              <a:t>SearchPage</a:t>
            </a: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[query, setQuery] = </a:t>
            </a:r>
            <a:r>
              <a:rPr lang="en-US" sz="1300" dirty="0">
                <a:solidFill>
                  <a:srgbClr val="DCDCAA"/>
                </a:solidFill>
                <a:latin typeface="Courier New" pitchFamily="34" charset="0"/>
                <a:ea typeface="Courier New" pitchFamily="34" charset="-122"/>
                <a:cs typeface="Courier New" pitchFamily="34" charset="-120"/>
              </a:rPr>
              <a:t>useState</a:t>
            </a:r>
            <a:r>
              <a:rPr lang="en-US" sz="1300" dirty="0">
                <a:solidFill>
                  <a:srgbClr val="FFFFFF"/>
                </a:solidFill>
                <a:latin typeface="Courier New" pitchFamily="34" charset="0"/>
                <a:ea typeface="Courier New" pitchFamily="34" charset="-122"/>
                <a:cs typeface="Courier New" pitchFamily="34" charset="-120"/>
              </a:rPr>
              <a:t>(</a:t>
            </a:r>
            <a:r>
              <a:rPr lang="en-US" sz="1300" dirty="0">
                <a:solidFill>
                  <a:srgbClr val="9CDCFE"/>
                </a:solidFill>
                <a:latin typeface="Courier New" pitchFamily="34" charset="0"/>
                <a:ea typeface="Courier New" pitchFamily="34" charset="-122"/>
                <a:cs typeface="Courier New" pitchFamily="34" charset="-120"/>
              </a:rPr>
              <a:t>''</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const deferred = </a:t>
            </a:r>
            <a:r>
              <a:rPr lang="en-US" sz="1300" dirty="0">
                <a:solidFill>
                  <a:srgbClr val="DCDCAA"/>
                </a:solidFill>
                <a:latin typeface="Courier New" pitchFamily="34" charset="0"/>
                <a:ea typeface="Courier New" pitchFamily="34" charset="-122"/>
                <a:cs typeface="Courier New" pitchFamily="34" charset="-120"/>
              </a:rPr>
              <a:t>useDeferredValue</a:t>
            </a:r>
            <a:r>
              <a:rPr lang="en-US" sz="1300" dirty="0">
                <a:solidFill>
                  <a:srgbClr val="FFFFFF"/>
                </a:solidFill>
                <a:latin typeface="Courier New" pitchFamily="34" charset="0"/>
                <a:ea typeface="Courier New" pitchFamily="34" charset="-122"/>
                <a:cs typeface="Courier New" pitchFamily="34" charset="-120"/>
              </a:rPr>
              <a:t>(query);</a:t>
            </a:r>
            <a:endParaRPr lang="en-US" sz="1300" dirty="0"/>
          </a:p>
          <a:p>
            <a:pPr marL="0" indent="0">
              <a:buNone/>
            </a:pP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&lt;input value={query}</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onChange={(e) =&gt; setQuery(e.target.value)} /&gt;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&lt;Results query={deferred} /&gt;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&lt;/&gt;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8" name="Text 6"/>
          <p:cNvSpPr/>
          <p:nvPr/>
        </p:nvSpPr>
        <p:spPr>
          <a:xfrm>
            <a:off x="6949440" y="1920240"/>
            <a:ext cx="4572000" cy="31089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Input stays responsive — query updates immediately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Results may lag a render or two — deferred value catches up</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Pair with React.memo or useMemo on Results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Useful when you can't move the work to a worker</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28 / 34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useTransition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Mark a state update as non-blocking. Updates that would freeze the UI become interruptible.</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383280"/>
          </a:xfrm>
          <a:prstGeom prst="rect">
            <a:avLst/>
          </a:prstGeom>
          <a:noFill/>
          <a:ln/>
        </p:spPr>
        <p:txBody>
          <a:bodyPr wrap="square" lIns="0" tIns="0" rIns="0" bIns="0" rtlCol="0" anchor="t"/>
          <a:lstStyle/>
          <a:p>
            <a:pPr marL="0" indent="0">
              <a:buNone/>
            </a:pPr>
            <a:r>
              <a:rPr lang="en-US" sz="2000" dirty="0">
                <a:solidFill>
                  <a:srgbClr val="C586C0"/>
                </a:solidFill>
                <a:latin typeface="Courier New" pitchFamily="34" charset="0"/>
                <a:ea typeface="Courier New" pitchFamily="34" charset="-122"/>
                <a:cs typeface="Courier New" pitchFamily="34" charset="-120"/>
              </a:rPr>
              <a:t>function </a:t>
            </a:r>
            <a:r>
              <a:rPr lang="en-US" sz="2000" dirty="0">
                <a:solidFill>
                  <a:srgbClr val="DCDCAA"/>
                </a:solidFill>
                <a:latin typeface="Courier New" pitchFamily="34" charset="0"/>
                <a:ea typeface="Courier New" pitchFamily="34" charset="-122"/>
                <a:cs typeface="Courier New" pitchFamily="34" charset="-120"/>
              </a:rPr>
              <a:t>Tabs</a:t>
            </a: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  const [tab, setTab] = </a:t>
            </a:r>
            <a:r>
              <a:rPr lang="en-US" sz="2000" dirty="0">
                <a:solidFill>
                  <a:srgbClr val="DCDCAA"/>
                </a:solidFill>
                <a:latin typeface="Courier New" pitchFamily="34" charset="0"/>
                <a:ea typeface="Courier New" pitchFamily="34" charset="-122"/>
                <a:cs typeface="Courier New" pitchFamily="34" charset="-120"/>
              </a:rPr>
              <a:t>useState</a:t>
            </a:r>
            <a:r>
              <a:rPr lang="en-US" sz="2000" dirty="0">
                <a:solidFill>
                  <a:srgbClr val="FFFFFF"/>
                </a:solidFill>
                <a:latin typeface="Courier New" pitchFamily="34" charset="0"/>
                <a:ea typeface="Courier New" pitchFamily="34" charset="-122"/>
                <a:cs typeface="Courier New" pitchFamily="34" charset="-120"/>
              </a:rPr>
              <a:t>(</a:t>
            </a:r>
            <a:r>
              <a:rPr lang="en-US" sz="2000" dirty="0">
                <a:solidFill>
                  <a:srgbClr val="9CDCFE"/>
                </a:solidFill>
                <a:latin typeface="Courier New" pitchFamily="34" charset="0"/>
                <a:ea typeface="Courier New" pitchFamily="34" charset="-122"/>
                <a:cs typeface="Courier New" pitchFamily="34" charset="-120"/>
              </a:rPr>
              <a:t>'home'</a:t>
            </a: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  const [isPending, startTransition] = </a:t>
            </a:r>
            <a:r>
              <a:rPr lang="en-US" sz="2000" dirty="0">
                <a:solidFill>
                  <a:srgbClr val="DCDCAA"/>
                </a:solidFill>
                <a:latin typeface="Courier New" pitchFamily="34" charset="0"/>
                <a:ea typeface="Courier New" pitchFamily="34" charset="-122"/>
                <a:cs typeface="Courier New" pitchFamily="34" charset="-120"/>
              </a:rPr>
              <a:t>useTransition</a:t>
            </a: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marL="0" indent="0">
              <a:buNone/>
            </a:pPr>
            <a:endParaRPr lang="en-US" sz="2000" dirty="0"/>
          </a:p>
          <a:p>
            <a:pPr marL="0" indent="0">
              <a:buNone/>
            </a:pPr>
            <a:r>
              <a:rPr lang="en-US" sz="2000" dirty="0">
                <a:solidFill>
                  <a:srgbClr val="C586C0"/>
                </a:solidFill>
                <a:latin typeface="Courier New" pitchFamily="34" charset="0"/>
                <a:ea typeface="Courier New" pitchFamily="34" charset="-122"/>
                <a:cs typeface="Courier New" pitchFamily="34" charset="-120"/>
              </a:rPr>
              <a:t>  function </a:t>
            </a:r>
            <a:r>
              <a:rPr lang="en-US" sz="2000" dirty="0">
                <a:solidFill>
                  <a:srgbClr val="DCDCAA"/>
                </a:solidFill>
                <a:latin typeface="Courier New" pitchFamily="34" charset="0"/>
                <a:ea typeface="Courier New" pitchFamily="34" charset="-122"/>
                <a:cs typeface="Courier New" pitchFamily="34" charset="-120"/>
              </a:rPr>
              <a:t>selectTab</a:t>
            </a:r>
            <a:r>
              <a:rPr lang="en-US" sz="2000" dirty="0">
                <a:solidFill>
                  <a:srgbClr val="FFFFFF"/>
                </a:solidFill>
                <a:latin typeface="Courier New" pitchFamily="34" charset="0"/>
                <a:ea typeface="Courier New" pitchFamily="34" charset="-122"/>
                <a:cs typeface="Courier New" pitchFamily="34" charset="-120"/>
              </a:rPr>
              <a:t>(next) {</a:t>
            </a: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    </a:t>
            </a:r>
            <a:r>
              <a:rPr lang="en-US" sz="2000" dirty="0">
                <a:solidFill>
                  <a:srgbClr val="DCDCAA"/>
                </a:solidFill>
                <a:latin typeface="Courier New" pitchFamily="34" charset="0"/>
                <a:ea typeface="Courier New" pitchFamily="34" charset="-122"/>
                <a:cs typeface="Courier New" pitchFamily="34" charset="-120"/>
              </a:rPr>
              <a:t>startTransition</a:t>
            </a:r>
            <a:r>
              <a:rPr lang="en-US" sz="2000" dirty="0">
                <a:solidFill>
                  <a:srgbClr val="FFFFFF"/>
                </a:solidFill>
                <a:latin typeface="Courier New" pitchFamily="34" charset="0"/>
                <a:ea typeface="Courier New" pitchFamily="34" charset="-122"/>
                <a:cs typeface="Courier New" pitchFamily="34" charset="-120"/>
              </a:rPr>
              <a:t>(() =&gt; setTab(next));</a:t>
            </a: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marL="0" indent="0">
              <a:buNone/>
            </a:pP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  return &lt;Layout busy={isPending}&gt;&lt;Pane tab={tab} /&gt;&lt;/Layout&gt;;</a:t>
            </a:r>
            <a:endParaRPr lang="en-US" sz="2000" dirty="0"/>
          </a:p>
          <a:p>
            <a:pPr marL="0" indent="0">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29 / 34</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useDeferredValue vs useTransition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They solve adjacent problems. Pick by what you control.</a:t>
            </a:r>
            <a:endParaRPr lang="en-US" sz="1400" dirty="0"/>
          </a:p>
        </p:txBody>
      </p:sp>
      <p:sp>
        <p:nvSpPr>
          <p:cNvPr id="5" name="Shape 3"/>
          <p:cNvSpPr/>
          <p:nvPr/>
        </p:nvSpPr>
        <p:spPr>
          <a:xfrm>
            <a:off x="777240" y="1691640"/>
            <a:ext cx="5349240" cy="411480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0B8D9"/>
                </a:solidFill>
                <a:latin typeface="Courier New" pitchFamily="34" charset="0"/>
                <a:ea typeface="Courier New" pitchFamily="34" charset="-122"/>
                <a:cs typeface="Courier New" pitchFamily="34" charset="-120"/>
              </a:rPr>
              <a:t>useDeferredValue</a:t>
            </a:r>
            <a:endParaRPr lang="en-US" sz="1800" dirty="0"/>
          </a:p>
        </p:txBody>
      </p:sp>
      <p:sp>
        <p:nvSpPr>
          <p:cNvPr id="7" name="Text 5"/>
          <p:cNvSpPr/>
          <p:nvPr/>
        </p:nvSpPr>
        <p:spPr>
          <a:xfrm>
            <a:off x="960120" y="2468880"/>
            <a:ext cx="4937760" cy="640080"/>
          </a:xfrm>
          <a:prstGeom prst="rect">
            <a:avLst/>
          </a:prstGeom>
          <a:noFill/>
          <a:ln/>
        </p:spPr>
        <p:txBody>
          <a:bodyPr wrap="square" lIns="0" tIns="0" rIns="0" bIns="0" rtlCol="0" anchor="t"/>
          <a:lstStyle/>
          <a:p>
            <a:pPr marL="0" indent="0">
              <a:buNone/>
            </a:pPr>
            <a:r>
              <a:rPr lang="en-US" sz="1600" i="1" dirty="0">
                <a:solidFill>
                  <a:srgbClr val="475569"/>
                </a:solidFill>
                <a:latin typeface="Arial" pitchFamily="34" charset="0"/>
                <a:ea typeface="Arial" pitchFamily="34" charset="-122"/>
                <a:cs typeface="Arial" pitchFamily="34" charset="-120"/>
              </a:rPr>
              <a:t>Wrap a value you receive (props or state) so consumers see a delayed copy.</a:t>
            </a:r>
            <a:endParaRPr lang="en-US" sz="1600" dirty="0"/>
          </a:p>
        </p:txBody>
      </p:sp>
      <p:sp>
        <p:nvSpPr>
          <p:cNvPr id="8" name="Text 6"/>
          <p:cNvSpPr/>
          <p:nvPr/>
        </p:nvSpPr>
        <p:spPr>
          <a:xfrm>
            <a:off x="960120" y="3246120"/>
            <a:ext cx="4937760" cy="246888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Use when you don't own the setter — e.g., wrapping query from props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The deferred value silently lags during expensive renders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No isPending flag (compare deferred === actual instead)</a:t>
            </a:r>
            <a:endParaRPr lang="en-US" dirty="0"/>
          </a:p>
        </p:txBody>
      </p:sp>
      <p:sp>
        <p:nvSpPr>
          <p:cNvPr id="9" name="Shape 7"/>
          <p:cNvSpPr/>
          <p:nvPr/>
        </p:nvSpPr>
        <p:spPr>
          <a:xfrm>
            <a:off x="6355080" y="1691640"/>
            <a:ext cx="5029200" cy="411480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00B8D9"/>
                </a:solidFill>
                <a:latin typeface="Courier New" pitchFamily="34" charset="0"/>
                <a:ea typeface="Courier New" pitchFamily="34" charset="-122"/>
                <a:cs typeface="Courier New" pitchFamily="34" charset="-120"/>
              </a:rPr>
              <a:t>useTransition</a:t>
            </a:r>
            <a:endParaRPr lang="en-US" sz="1800" dirty="0"/>
          </a:p>
        </p:txBody>
      </p:sp>
      <p:sp>
        <p:nvSpPr>
          <p:cNvPr id="11" name="Text 9"/>
          <p:cNvSpPr/>
          <p:nvPr/>
        </p:nvSpPr>
        <p:spPr>
          <a:xfrm>
            <a:off x="6537960" y="2468880"/>
            <a:ext cx="4663440" cy="640080"/>
          </a:xfrm>
          <a:prstGeom prst="rect">
            <a:avLst/>
          </a:prstGeom>
          <a:noFill/>
          <a:ln/>
        </p:spPr>
        <p:txBody>
          <a:bodyPr wrap="square" lIns="0" tIns="0" rIns="0" bIns="0" rtlCol="0" anchor="t"/>
          <a:lstStyle/>
          <a:p>
            <a:pPr marL="0" indent="0">
              <a:buNone/>
            </a:pPr>
            <a:r>
              <a:rPr lang="en-US" sz="1600" i="1" dirty="0">
                <a:solidFill>
                  <a:srgbClr val="475569"/>
                </a:solidFill>
                <a:latin typeface="Arial" pitchFamily="34" charset="0"/>
                <a:ea typeface="Arial" pitchFamily="34" charset="-122"/>
                <a:cs typeface="Arial" pitchFamily="34" charset="-120"/>
              </a:rPr>
              <a:t>Wrap a setter call so the resulting work is interruptible.</a:t>
            </a:r>
            <a:endParaRPr lang="en-US" sz="1600" dirty="0"/>
          </a:p>
        </p:txBody>
      </p:sp>
      <p:sp>
        <p:nvSpPr>
          <p:cNvPr id="12" name="Text 10"/>
          <p:cNvSpPr/>
          <p:nvPr/>
        </p:nvSpPr>
        <p:spPr>
          <a:xfrm>
            <a:off x="6537960" y="3246120"/>
            <a:ext cx="4663440" cy="246888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Use when you own the setter — wrap setX in startTransition</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Returns isPending — surface it as a spinner or busy indicator</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Newer transitions interrupt older ones automatically</a:t>
            </a:r>
            <a:endParaRPr lang="en-US"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30 / 34</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useLayoutEffect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600" i="1" dirty="0">
                <a:solidFill>
                  <a:srgbClr val="475569"/>
                </a:solidFill>
                <a:latin typeface="Arial" pitchFamily="34" charset="0"/>
                <a:ea typeface="Arial" pitchFamily="34" charset="-122"/>
                <a:cs typeface="Arial" pitchFamily="34" charset="-120"/>
              </a:rPr>
              <a:t>Like useEffect, but synchronous — fires before the browser paints. Use it sparingly.</a:t>
            </a:r>
            <a:endParaRPr lang="en-US" sz="16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2000" b="1" dirty="0">
                <a:solidFill>
                  <a:srgbClr val="059669"/>
                </a:solidFill>
                <a:latin typeface="Trebuchet MS" pitchFamily="34" charset="0"/>
                <a:ea typeface="Trebuchet MS" pitchFamily="34" charset="-122"/>
                <a:cs typeface="Trebuchet MS" pitchFamily="34" charset="-120"/>
              </a:rPr>
              <a:t>Use when:</a:t>
            </a:r>
            <a:endParaRPr lang="en-US" sz="20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 need to measure DOM and adjust layout before paint (e.g., a tooltip's position)</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 need to sync DOM mutations across reads/writes that would flicker otherwise</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You're writing a component library that has to interop with imperative DOM code</a:t>
            </a:r>
            <a:endParaRPr lang="en-US"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2000" b="1" dirty="0">
                <a:solidFill>
                  <a:srgbClr val="DC2626"/>
                </a:solidFill>
                <a:latin typeface="Trebuchet MS" pitchFamily="34" charset="0"/>
                <a:ea typeface="Trebuchet MS" pitchFamily="34" charset="-122"/>
                <a:cs typeface="Trebuchet MS" pitchFamily="34" charset="-120"/>
              </a:rPr>
              <a:t>Don't use when:</a:t>
            </a:r>
            <a:endParaRPr lang="en-US" sz="20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Plain useEffect would do — it blocks paint, hurting perceived performance</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Subscribing to data — neither hook should fetch</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Server rendering — useLayoutEffect doesn't run on the server, gets noisy warnings</a:t>
            </a:r>
            <a:endParaRPr lang="en-US" dirty="0"/>
          </a:p>
        </p:txBody>
      </p:sp>
      <p:sp>
        <p:nvSpPr>
          <p:cNvPr id="9" name="Shape 7"/>
          <p:cNvSpPr/>
          <p:nvPr/>
        </p:nvSpPr>
        <p:spPr>
          <a:xfrm>
            <a:off x="777240" y="4572000"/>
            <a:ext cx="10607040" cy="164592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5074920"/>
            <a:ext cx="640080" cy="640080"/>
          </a:xfrm>
          <a:prstGeom prst="rect">
            <a:avLst/>
          </a:prstGeom>
        </p:spPr>
      </p:pic>
      <p:sp>
        <p:nvSpPr>
          <p:cNvPr id="11" name="Text 8"/>
          <p:cNvSpPr/>
          <p:nvPr/>
        </p:nvSpPr>
        <p:spPr>
          <a:xfrm>
            <a:off x="1828800" y="4663440"/>
            <a:ext cx="9418320" cy="1554480"/>
          </a:xfrm>
          <a:prstGeom prst="rect">
            <a:avLst/>
          </a:prstGeom>
          <a:noFill/>
          <a:ln/>
        </p:spPr>
        <p:txBody>
          <a:bodyPr wrap="square" lIns="0" tIns="0" rIns="0" bIns="0" rtlCol="0" anchor="ctr"/>
          <a:lstStyle/>
          <a:p>
            <a:pPr marL="0" indent="0">
              <a:buNone/>
            </a:pPr>
            <a:r>
              <a:rPr lang="en-US" sz="1400" i="1" dirty="0">
                <a:solidFill>
                  <a:srgbClr val="0F172A"/>
                </a:solidFill>
                <a:latin typeface="Arial" pitchFamily="34" charset="0"/>
                <a:ea typeface="Arial" pitchFamily="34" charset="-122"/>
                <a:cs typeface="Arial" pitchFamily="34" charset="-120"/>
              </a:rPr>
              <a:t>Rule of thumb: reach for useEffect first. If you see a flicker between paint and effect, then upgrade to useLayoutEffect.</a:t>
            </a:r>
            <a:endParaRPr lang="en-US" sz="14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31 / 34</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Hook selection cheat sheet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When in doubt: which hook fits the situation?</a:t>
            </a:r>
            <a:endParaRPr lang="en-US" sz="1400" dirty="0"/>
          </a:p>
        </p:txBody>
      </p:sp>
      <p:sp>
        <p:nvSpPr>
          <p:cNvPr id="5" name="Shape 3"/>
          <p:cNvSpPr/>
          <p:nvPr/>
        </p:nvSpPr>
        <p:spPr>
          <a:xfrm>
            <a:off x="777240" y="1554480"/>
            <a:ext cx="5349240" cy="566928"/>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14400" y="1600200"/>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Local component value that changes</a:t>
            </a:r>
            <a:endParaRPr lang="en-US" sz="1100" dirty="0"/>
          </a:p>
        </p:txBody>
      </p:sp>
      <p:sp>
        <p:nvSpPr>
          <p:cNvPr id="7" name="Text 5"/>
          <p:cNvSpPr/>
          <p:nvPr/>
        </p:nvSpPr>
        <p:spPr>
          <a:xfrm>
            <a:off x="3931920" y="1600200"/>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useState</a:t>
            </a:r>
            <a:endParaRPr lang="en-US" sz="1150" dirty="0"/>
          </a:p>
        </p:txBody>
      </p:sp>
      <p:sp>
        <p:nvSpPr>
          <p:cNvPr id="8" name="Shape 6"/>
          <p:cNvSpPr/>
          <p:nvPr/>
        </p:nvSpPr>
        <p:spPr>
          <a:xfrm>
            <a:off x="777240" y="2267712"/>
            <a:ext cx="5349240" cy="566928"/>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14400" y="2313432"/>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Multiple related state values, complex transitions</a:t>
            </a:r>
            <a:endParaRPr lang="en-US" sz="1100" dirty="0"/>
          </a:p>
        </p:txBody>
      </p:sp>
      <p:sp>
        <p:nvSpPr>
          <p:cNvPr id="10" name="Text 8"/>
          <p:cNvSpPr/>
          <p:nvPr/>
        </p:nvSpPr>
        <p:spPr>
          <a:xfrm>
            <a:off x="3931920" y="2313432"/>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useReducer</a:t>
            </a:r>
            <a:endParaRPr lang="en-US" sz="1150" dirty="0"/>
          </a:p>
        </p:txBody>
      </p:sp>
      <p:sp>
        <p:nvSpPr>
          <p:cNvPr id="11" name="Shape 9"/>
          <p:cNvSpPr/>
          <p:nvPr/>
        </p:nvSpPr>
        <p:spPr>
          <a:xfrm>
            <a:off x="777240" y="2980944"/>
            <a:ext cx="5349240" cy="566928"/>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14400" y="3026664"/>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Read async data inline (Server Components)</a:t>
            </a:r>
            <a:endParaRPr lang="en-US" sz="1100" dirty="0"/>
          </a:p>
        </p:txBody>
      </p:sp>
      <p:sp>
        <p:nvSpPr>
          <p:cNvPr id="13" name="Text 11"/>
          <p:cNvSpPr/>
          <p:nvPr/>
        </p:nvSpPr>
        <p:spPr>
          <a:xfrm>
            <a:off x="3931920" y="3026664"/>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use(promise)</a:t>
            </a:r>
            <a:endParaRPr lang="en-US" sz="1150" dirty="0"/>
          </a:p>
        </p:txBody>
      </p:sp>
      <p:sp>
        <p:nvSpPr>
          <p:cNvPr id="14" name="Shape 12"/>
          <p:cNvSpPr/>
          <p:nvPr/>
        </p:nvSpPr>
        <p:spPr>
          <a:xfrm>
            <a:off x="777240" y="3694176"/>
            <a:ext cx="5349240" cy="566928"/>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14400" y="3739896"/>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Read context, possibly conditionally</a:t>
            </a:r>
            <a:endParaRPr lang="en-US" sz="1100" dirty="0"/>
          </a:p>
        </p:txBody>
      </p:sp>
      <p:sp>
        <p:nvSpPr>
          <p:cNvPr id="16" name="Text 14"/>
          <p:cNvSpPr/>
          <p:nvPr/>
        </p:nvSpPr>
        <p:spPr>
          <a:xfrm>
            <a:off x="3931920" y="3739896"/>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use(context)</a:t>
            </a:r>
            <a:endParaRPr lang="en-US" sz="1150" dirty="0"/>
          </a:p>
        </p:txBody>
      </p:sp>
      <p:sp>
        <p:nvSpPr>
          <p:cNvPr id="17" name="Shape 15"/>
          <p:cNvSpPr/>
          <p:nvPr/>
        </p:nvSpPr>
        <p:spPr>
          <a:xfrm>
            <a:off x="777240" y="4407408"/>
            <a:ext cx="5349240" cy="566928"/>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14400" y="4453128"/>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Form action + state + pending</a:t>
            </a:r>
            <a:endParaRPr lang="en-US" sz="1100" dirty="0"/>
          </a:p>
        </p:txBody>
      </p:sp>
      <p:sp>
        <p:nvSpPr>
          <p:cNvPr id="19" name="Text 17"/>
          <p:cNvSpPr/>
          <p:nvPr/>
        </p:nvSpPr>
        <p:spPr>
          <a:xfrm>
            <a:off x="3931920" y="4453128"/>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useActionState</a:t>
            </a:r>
            <a:endParaRPr lang="en-US" sz="1150" dirty="0"/>
          </a:p>
        </p:txBody>
      </p:sp>
      <p:sp>
        <p:nvSpPr>
          <p:cNvPr id="20" name="Shape 18"/>
          <p:cNvSpPr/>
          <p:nvPr/>
        </p:nvSpPr>
        <p:spPr>
          <a:xfrm>
            <a:off x="777240" y="5120640"/>
            <a:ext cx="5349240" cy="566928"/>
          </a:xfrm>
          <a:prstGeom prst="rect">
            <a:avLst/>
          </a:prstGeom>
          <a:solidFill>
            <a:srgbClr val="FFFFFF"/>
          </a:solidFill>
          <a:ln w="12700">
            <a:solidFill>
              <a:srgbClr val="E2E8F0"/>
            </a:solidFill>
            <a:prstDash val="solid"/>
          </a:ln>
        </p:spPr>
        <p:txBody>
          <a:bodyPr/>
          <a:lstStyle/>
          <a:p>
            <a:endParaRPr lang="en-US"/>
          </a:p>
        </p:txBody>
      </p:sp>
      <p:sp>
        <p:nvSpPr>
          <p:cNvPr id="21" name="Text 19"/>
          <p:cNvSpPr/>
          <p:nvPr/>
        </p:nvSpPr>
        <p:spPr>
          <a:xfrm>
            <a:off x="914400" y="5166360"/>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Submit button needing form pending state</a:t>
            </a:r>
            <a:endParaRPr lang="en-US" sz="1100" dirty="0"/>
          </a:p>
        </p:txBody>
      </p:sp>
      <p:sp>
        <p:nvSpPr>
          <p:cNvPr id="22" name="Text 20"/>
          <p:cNvSpPr/>
          <p:nvPr/>
        </p:nvSpPr>
        <p:spPr>
          <a:xfrm>
            <a:off x="3931920" y="5166360"/>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useFormStatus</a:t>
            </a:r>
            <a:endParaRPr lang="en-US" sz="1150" dirty="0"/>
          </a:p>
        </p:txBody>
      </p:sp>
      <p:sp>
        <p:nvSpPr>
          <p:cNvPr id="23" name="Shape 21"/>
          <p:cNvSpPr/>
          <p:nvPr/>
        </p:nvSpPr>
        <p:spPr>
          <a:xfrm>
            <a:off x="6355080" y="1554480"/>
            <a:ext cx="5349240" cy="566928"/>
          </a:xfrm>
          <a:prstGeom prst="rect">
            <a:avLst/>
          </a:prstGeom>
          <a:solidFill>
            <a:srgbClr val="FFFFFF"/>
          </a:solidFill>
          <a:ln w="12700">
            <a:solidFill>
              <a:srgbClr val="E2E8F0"/>
            </a:solidFill>
            <a:prstDash val="solid"/>
          </a:ln>
        </p:spPr>
        <p:txBody>
          <a:bodyPr/>
          <a:lstStyle/>
          <a:p>
            <a:endParaRPr lang="en-US"/>
          </a:p>
        </p:txBody>
      </p:sp>
      <p:sp>
        <p:nvSpPr>
          <p:cNvPr id="24" name="Text 22"/>
          <p:cNvSpPr/>
          <p:nvPr/>
        </p:nvSpPr>
        <p:spPr>
          <a:xfrm>
            <a:off x="6492240" y="1600200"/>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Show eventual state immediately</a:t>
            </a:r>
            <a:endParaRPr lang="en-US" sz="1100" dirty="0"/>
          </a:p>
        </p:txBody>
      </p:sp>
      <p:sp>
        <p:nvSpPr>
          <p:cNvPr id="25" name="Text 23"/>
          <p:cNvSpPr/>
          <p:nvPr/>
        </p:nvSpPr>
        <p:spPr>
          <a:xfrm>
            <a:off x="9509760" y="1600200"/>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useOptimistic</a:t>
            </a:r>
            <a:endParaRPr lang="en-US" sz="1150" dirty="0"/>
          </a:p>
        </p:txBody>
      </p:sp>
      <p:sp>
        <p:nvSpPr>
          <p:cNvPr id="26" name="Shape 24"/>
          <p:cNvSpPr/>
          <p:nvPr/>
        </p:nvSpPr>
        <p:spPr>
          <a:xfrm>
            <a:off x="6355080" y="2267712"/>
            <a:ext cx="5349240" cy="566928"/>
          </a:xfrm>
          <a:prstGeom prst="rect">
            <a:avLst/>
          </a:prstGeom>
          <a:solidFill>
            <a:srgbClr val="FFFFFF"/>
          </a:solidFill>
          <a:ln w="12700">
            <a:solidFill>
              <a:srgbClr val="E2E8F0"/>
            </a:solidFill>
            <a:prstDash val="solid"/>
          </a:ln>
        </p:spPr>
        <p:txBody>
          <a:bodyPr/>
          <a:lstStyle/>
          <a:p>
            <a:endParaRPr lang="en-US"/>
          </a:p>
        </p:txBody>
      </p:sp>
      <p:sp>
        <p:nvSpPr>
          <p:cNvPr id="27" name="Text 25"/>
          <p:cNvSpPr/>
          <p:nvPr/>
        </p:nvSpPr>
        <p:spPr>
          <a:xfrm>
            <a:off x="6492240" y="2313432"/>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Subscribe to non-React store</a:t>
            </a:r>
            <a:endParaRPr lang="en-US" sz="1100" dirty="0"/>
          </a:p>
        </p:txBody>
      </p:sp>
      <p:sp>
        <p:nvSpPr>
          <p:cNvPr id="28" name="Text 26"/>
          <p:cNvSpPr/>
          <p:nvPr/>
        </p:nvSpPr>
        <p:spPr>
          <a:xfrm>
            <a:off x="9509760" y="2313432"/>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useSyncExternalStore</a:t>
            </a:r>
            <a:endParaRPr lang="en-US" sz="1150" dirty="0"/>
          </a:p>
        </p:txBody>
      </p:sp>
      <p:sp>
        <p:nvSpPr>
          <p:cNvPr id="29" name="Shape 27"/>
          <p:cNvSpPr/>
          <p:nvPr/>
        </p:nvSpPr>
        <p:spPr>
          <a:xfrm>
            <a:off x="6355080" y="2980944"/>
            <a:ext cx="5349240" cy="566928"/>
          </a:xfrm>
          <a:prstGeom prst="rect">
            <a:avLst/>
          </a:prstGeom>
          <a:solidFill>
            <a:srgbClr val="FFFFFF"/>
          </a:solidFill>
          <a:ln w="12700">
            <a:solidFill>
              <a:srgbClr val="E2E8F0"/>
            </a:solidFill>
            <a:prstDash val="solid"/>
          </a:ln>
        </p:spPr>
        <p:txBody>
          <a:bodyPr/>
          <a:lstStyle/>
          <a:p>
            <a:endParaRPr lang="en-US"/>
          </a:p>
        </p:txBody>
      </p:sp>
      <p:sp>
        <p:nvSpPr>
          <p:cNvPr id="30" name="Text 28"/>
          <p:cNvSpPr/>
          <p:nvPr/>
        </p:nvSpPr>
        <p:spPr>
          <a:xfrm>
            <a:off x="6492240" y="3026664"/>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Keep input responsive during expensive renders</a:t>
            </a:r>
            <a:endParaRPr lang="en-US" sz="1100" dirty="0"/>
          </a:p>
        </p:txBody>
      </p:sp>
      <p:sp>
        <p:nvSpPr>
          <p:cNvPr id="31" name="Text 29"/>
          <p:cNvSpPr/>
          <p:nvPr/>
        </p:nvSpPr>
        <p:spPr>
          <a:xfrm>
            <a:off x="9509760" y="3026664"/>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useDeferredValue</a:t>
            </a:r>
            <a:endParaRPr lang="en-US" sz="1150" dirty="0"/>
          </a:p>
        </p:txBody>
      </p:sp>
      <p:sp>
        <p:nvSpPr>
          <p:cNvPr id="32" name="Shape 30"/>
          <p:cNvSpPr/>
          <p:nvPr/>
        </p:nvSpPr>
        <p:spPr>
          <a:xfrm>
            <a:off x="6355080" y="3694176"/>
            <a:ext cx="5349240" cy="566928"/>
          </a:xfrm>
          <a:prstGeom prst="rect">
            <a:avLst/>
          </a:prstGeom>
          <a:solidFill>
            <a:srgbClr val="FFFFFF"/>
          </a:solidFill>
          <a:ln w="12700">
            <a:solidFill>
              <a:srgbClr val="E2E8F0"/>
            </a:solidFill>
            <a:prstDash val="solid"/>
          </a:ln>
        </p:spPr>
        <p:txBody>
          <a:bodyPr/>
          <a:lstStyle/>
          <a:p>
            <a:endParaRPr lang="en-US"/>
          </a:p>
        </p:txBody>
      </p:sp>
      <p:sp>
        <p:nvSpPr>
          <p:cNvPr id="33" name="Text 31"/>
          <p:cNvSpPr/>
          <p:nvPr/>
        </p:nvSpPr>
        <p:spPr>
          <a:xfrm>
            <a:off x="6492240" y="3739896"/>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Make a state update interruptible</a:t>
            </a:r>
            <a:endParaRPr lang="en-US" sz="1100" dirty="0"/>
          </a:p>
        </p:txBody>
      </p:sp>
      <p:sp>
        <p:nvSpPr>
          <p:cNvPr id="34" name="Text 32"/>
          <p:cNvSpPr/>
          <p:nvPr/>
        </p:nvSpPr>
        <p:spPr>
          <a:xfrm>
            <a:off x="9509760" y="3739896"/>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useTransition</a:t>
            </a:r>
            <a:endParaRPr lang="en-US" sz="1150" dirty="0"/>
          </a:p>
        </p:txBody>
      </p:sp>
      <p:sp>
        <p:nvSpPr>
          <p:cNvPr id="35" name="Shape 33"/>
          <p:cNvSpPr/>
          <p:nvPr/>
        </p:nvSpPr>
        <p:spPr>
          <a:xfrm>
            <a:off x="6355080" y="4407408"/>
            <a:ext cx="5349240" cy="566928"/>
          </a:xfrm>
          <a:prstGeom prst="rect">
            <a:avLst/>
          </a:prstGeom>
          <a:solidFill>
            <a:srgbClr val="FFFFFF"/>
          </a:solidFill>
          <a:ln w="12700">
            <a:solidFill>
              <a:srgbClr val="E2E8F0"/>
            </a:solidFill>
            <a:prstDash val="solid"/>
          </a:ln>
        </p:spPr>
        <p:txBody>
          <a:bodyPr/>
          <a:lstStyle/>
          <a:p>
            <a:endParaRPr lang="en-US"/>
          </a:p>
        </p:txBody>
      </p:sp>
      <p:sp>
        <p:nvSpPr>
          <p:cNvPr id="36" name="Text 34"/>
          <p:cNvSpPr/>
          <p:nvPr/>
        </p:nvSpPr>
        <p:spPr>
          <a:xfrm>
            <a:off x="6492240" y="4453128"/>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Sync to an external system on render</a:t>
            </a:r>
            <a:endParaRPr lang="en-US" sz="1100" dirty="0"/>
          </a:p>
        </p:txBody>
      </p:sp>
      <p:sp>
        <p:nvSpPr>
          <p:cNvPr id="37" name="Text 35"/>
          <p:cNvSpPr/>
          <p:nvPr/>
        </p:nvSpPr>
        <p:spPr>
          <a:xfrm>
            <a:off x="9509760" y="4453128"/>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useEffect</a:t>
            </a:r>
            <a:endParaRPr lang="en-US" sz="1150" dirty="0"/>
          </a:p>
        </p:txBody>
      </p:sp>
      <p:sp>
        <p:nvSpPr>
          <p:cNvPr id="38" name="Shape 36"/>
          <p:cNvSpPr/>
          <p:nvPr/>
        </p:nvSpPr>
        <p:spPr>
          <a:xfrm>
            <a:off x="6355080" y="5120640"/>
            <a:ext cx="5349240" cy="566928"/>
          </a:xfrm>
          <a:prstGeom prst="rect">
            <a:avLst/>
          </a:prstGeom>
          <a:solidFill>
            <a:srgbClr val="FFFFFF"/>
          </a:solidFill>
          <a:ln w="12700">
            <a:solidFill>
              <a:srgbClr val="E2E8F0"/>
            </a:solidFill>
            <a:prstDash val="solid"/>
          </a:ln>
        </p:spPr>
        <p:txBody>
          <a:bodyPr/>
          <a:lstStyle/>
          <a:p>
            <a:endParaRPr lang="en-US"/>
          </a:p>
        </p:txBody>
      </p:sp>
      <p:sp>
        <p:nvSpPr>
          <p:cNvPr id="39" name="Text 37"/>
          <p:cNvSpPr/>
          <p:nvPr/>
        </p:nvSpPr>
        <p:spPr>
          <a:xfrm>
            <a:off x="6492240" y="5166360"/>
            <a:ext cx="29718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Measure DOM before paint</a:t>
            </a:r>
            <a:endParaRPr lang="en-US" sz="1100" dirty="0"/>
          </a:p>
        </p:txBody>
      </p:sp>
      <p:sp>
        <p:nvSpPr>
          <p:cNvPr id="40" name="Text 38"/>
          <p:cNvSpPr/>
          <p:nvPr/>
        </p:nvSpPr>
        <p:spPr>
          <a:xfrm>
            <a:off x="9509760" y="5166360"/>
            <a:ext cx="2148840" cy="50292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useLayoutEffect</a:t>
            </a:r>
            <a:endParaRPr lang="en-US" sz="1150" dirty="0"/>
          </a:p>
        </p:txBody>
      </p:sp>
      <p:sp>
        <p:nvSpPr>
          <p:cNvPr id="41" name="Text 3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42" name="Text 4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32 / 34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hook mistakes — your review checklist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look for when reviewing AI-generated React.</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useState for derived data that should be a plain calculation</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useEffect to reset state on prop change (use a key prop instead)</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useEffect to fetch data (use Suspense + use, or TanStack Query)</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Stale closure in useEffect (missing dep, or use functional setState)</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Hook inside a conditional (lift the conditionality outside)</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Custom hook called conditionally (lift the conditionality)</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33 / 34</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1</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Modernize a legacy class-component chat app — your first AI-review exercise.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400" b="1" dirty="0">
                <a:solidFill>
                  <a:srgbClr val="0F172A"/>
                </a:solidFill>
                <a:latin typeface="Trebuchet MS" pitchFamily="34" charset="0"/>
                <a:ea typeface="Trebuchet MS" pitchFamily="34" charset="-122"/>
                <a:cs typeface="Trebuchet MS" pitchFamily="34" charset="-120"/>
              </a:rPr>
              <a:t>Lab 1: Modernize the Chat App</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90 minutes  ·  Hands-on  ·  Stretch task: add useOptimistic</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b="1" dirty="0">
                <a:solidFill>
                  <a:srgbClr val="0F172A"/>
                </a:solidFill>
                <a:latin typeface="Trebuchet MS" pitchFamily="34" charset="0"/>
                <a:ea typeface="Trebuchet MS" pitchFamily="34" charset="-122"/>
                <a:cs typeface="Trebuchet MS" pitchFamily="34" charset="-120"/>
              </a:rPr>
              <a:t>What you'll do:</a:t>
            </a:r>
            <a:endParaRPr lang="en-US" dirty="0"/>
          </a:p>
        </p:txBody>
      </p:sp>
      <p:sp>
        <p:nvSpPr>
          <p:cNvPr id="10" name="Text 7"/>
          <p:cNvSpPr/>
          <p:nvPr/>
        </p:nvSpPr>
        <p:spPr>
          <a:xfrm>
            <a:off x="1097280" y="3611880"/>
            <a:ext cx="10058400" cy="228600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Open lab-files/lab-01/real-time-chat — class components, React 18, CRA</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Use an AI assistant to do a first-pass conversion to function components and modern hooks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Review what the AI produced — spot at least three mistakes from the checklist</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End with a working modernized chat app and a short written review of the AI's mistakes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Stretch: add useOptimistic so messages appear instantly while the round-trip completes</a:t>
            </a:r>
            <a:endParaRPr lang="en-US"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2 — Hooks That Matter</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34 / 34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3</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Routing</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marL="0" indent="0">
              <a:buNone/>
            </a:pPr>
            <a:r>
              <a:rPr lang="en-US" sz="2000" i="1" dirty="0">
                <a:solidFill>
                  <a:srgbClr val="CBF1F6"/>
                </a:solidFill>
                <a:latin typeface="Arial" pitchFamily="34" charset="0"/>
                <a:ea typeface="Arial" pitchFamily="34" charset="-122"/>
                <a:cs typeface="Arial" pitchFamily="34" charset="-120"/>
              </a:rPr>
              <a:t>React Router v7 framework mode and Next.js App Router, side by side.</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60 minutes  ·  Lecture + side-by-side demos  ·  Lab 2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routing landscape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serious choices. We'll teach two and recognize the third.</a:t>
            </a:r>
            <a:endParaRPr lang="en-US" sz="1400" dirty="0"/>
          </a:p>
        </p:txBody>
      </p:sp>
      <p:sp>
        <p:nvSpPr>
          <p:cNvPr id="5" name="Shape 3"/>
          <p:cNvSpPr/>
          <p:nvPr/>
        </p:nvSpPr>
        <p:spPr>
          <a:xfrm>
            <a:off x="777240" y="1691640"/>
            <a:ext cx="10607040" cy="1005840"/>
          </a:xfrm>
          <a:prstGeom prst="rect">
            <a:avLst/>
          </a:prstGeom>
          <a:solidFill>
            <a:srgbClr val="CBF1F6"/>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920240"/>
            <a:ext cx="548640" cy="548640"/>
          </a:xfrm>
          <a:prstGeom prst="rect">
            <a:avLst/>
          </a:prstGeom>
        </p:spPr>
      </p:pic>
      <p:sp>
        <p:nvSpPr>
          <p:cNvPr id="7" name="Text 4"/>
          <p:cNvSpPr/>
          <p:nvPr/>
        </p:nvSpPr>
        <p:spPr>
          <a:xfrm>
            <a:off x="1691640" y="1828800"/>
            <a:ext cx="50292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React Router v7</a:t>
            </a:r>
            <a:endParaRPr lang="en-US" sz="1800" dirty="0"/>
          </a:p>
        </p:txBody>
      </p:sp>
      <p:sp>
        <p:nvSpPr>
          <p:cNvPr id="8" name="Text 5"/>
          <p:cNvSpPr/>
          <p:nvPr/>
        </p:nvSpPr>
        <p:spPr>
          <a:xfrm>
            <a:off x="1691640" y="2240280"/>
            <a:ext cx="8229600" cy="457200"/>
          </a:xfrm>
          <a:prstGeom prst="rect">
            <a:avLst/>
          </a:prstGeom>
          <a:noFill/>
          <a:ln/>
        </p:spPr>
        <p:txBody>
          <a:bodyPr wrap="square" lIns="0" tIns="0" rIns="0" bIns="0" rtlCol="0" anchor="t"/>
          <a:lstStyle/>
          <a:p>
            <a:pPr marL="0" indent="0">
              <a:buNone/>
            </a:pPr>
            <a:r>
              <a:rPr lang="en-US" sz="1300" dirty="0">
                <a:solidFill>
                  <a:srgbClr val="475569"/>
                </a:solidFill>
                <a:latin typeface="Arial" pitchFamily="34" charset="0"/>
                <a:ea typeface="Arial" pitchFamily="34" charset="-122"/>
                <a:cs typeface="Arial" pitchFamily="34" charset="-120"/>
              </a:rPr>
              <a:t>Library mode + framework mode (Remix merged)</a:t>
            </a:r>
            <a:endParaRPr lang="en-US" sz="1300" dirty="0"/>
          </a:p>
        </p:txBody>
      </p:sp>
      <p:sp>
        <p:nvSpPr>
          <p:cNvPr id="9" name="Text 6"/>
          <p:cNvSpPr/>
          <p:nvPr/>
        </p:nvSpPr>
        <p:spPr>
          <a:xfrm>
            <a:off x="8686800" y="1965960"/>
            <a:ext cx="2606040" cy="274320"/>
          </a:xfrm>
          <a:prstGeom prst="rect">
            <a:avLst/>
          </a:prstGeom>
          <a:noFill/>
          <a:ln/>
        </p:spPr>
        <p:txBody>
          <a:bodyPr wrap="square" lIns="0" tIns="0" rIns="0" bIns="0" rtlCol="0" anchor="ctr"/>
          <a:lstStyle/>
          <a:p>
            <a:pPr marL="0" indent="0" algn="r">
              <a:buNone/>
            </a:pPr>
            <a:r>
              <a:rPr lang="en-US" sz="1000" b="1" dirty="0">
                <a:solidFill>
                  <a:srgbClr val="00B8D9"/>
                </a:solidFill>
                <a:latin typeface="Trebuchet MS" pitchFamily="34" charset="0"/>
                <a:ea typeface="Trebuchet MS" pitchFamily="34" charset="-122"/>
                <a:cs typeface="Trebuchet MS" pitchFamily="34" charset="-120"/>
              </a:rPr>
              <a:t>taught in this module</a:t>
            </a:r>
            <a:endParaRPr lang="en-US" sz="1000" dirty="0"/>
          </a:p>
        </p:txBody>
      </p:sp>
      <p:sp>
        <p:nvSpPr>
          <p:cNvPr id="10" name="Shape 7"/>
          <p:cNvSpPr/>
          <p:nvPr/>
        </p:nvSpPr>
        <p:spPr>
          <a:xfrm>
            <a:off x="777240" y="2880360"/>
            <a:ext cx="10607040" cy="1005840"/>
          </a:xfrm>
          <a:prstGeom prst="rect">
            <a:avLst/>
          </a:prstGeom>
          <a:solidFill>
            <a:srgbClr val="CBF1F6"/>
          </a:solidFill>
          <a:ln w="12700">
            <a:solidFill>
              <a:srgbClr val="E2E8F0"/>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960120" y="3108960"/>
            <a:ext cx="548640" cy="548640"/>
          </a:xfrm>
          <a:prstGeom prst="rect">
            <a:avLst/>
          </a:prstGeom>
        </p:spPr>
      </p:pic>
      <p:sp>
        <p:nvSpPr>
          <p:cNvPr id="12" name="Text 8"/>
          <p:cNvSpPr/>
          <p:nvPr/>
        </p:nvSpPr>
        <p:spPr>
          <a:xfrm>
            <a:off x="1691640" y="3017520"/>
            <a:ext cx="50292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Next.js 15 App Router</a:t>
            </a:r>
            <a:endParaRPr lang="en-US" sz="1800" dirty="0"/>
          </a:p>
        </p:txBody>
      </p:sp>
      <p:sp>
        <p:nvSpPr>
          <p:cNvPr id="13" name="Text 9"/>
          <p:cNvSpPr/>
          <p:nvPr/>
        </p:nvSpPr>
        <p:spPr>
          <a:xfrm>
            <a:off x="1691640" y="3429000"/>
            <a:ext cx="8229600" cy="457200"/>
          </a:xfrm>
          <a:prstGeom prst="rect">
            <a:avLst/>
          </a:prstGeom>
          <a:noFill/>
          <a:ln/>
        </p:spPr>
        <p:txBody>
          <a:bodyPr wrap="square" lIns="0" tIns="0" rIns="0" bIns="0" rtlCol="0" anchor="t"/>
          <a:lstStyle/>
          <a:p>
            <a:pPr marL="0" indent="0">
              <a:buNone/>
            </a:pPr>
            <a:r>
              <a:rPr lang="en-US" sz="1300" dirty="0">
                <a:solidFill>
                  <a:srgbClr val="475569"/>
                </a:solidFill>
                <a:latin typeface="Arial" pitchFamily="34" charset="0"/>
                <a:ea typeface="Arial" pitchFamily="34" charset="-122"/>
                <a:cs typeface="Arial" pitchFamily="34" charset="-120"/>
              </a:rPr>
              <a:t>File-system routing + Server Components + Actions</a:t>
            </a:r>
            <a:endParaRPr lang="en-US" sz="1300" dirty="0"/>
          </a:p>
        </p:txBody>
      </p:sp>
      <p:sp>
        <p:nvSpPr>
          <p:cNvPr id="14" name="Text 10"/>
          <p:cNvSpPr/>
          <p:nvPr/>
        </p:nvSpPr>
        <p:spPr>
          <a:xfrm>
            <a:off x="8686800" y="3154680"/>
            <a:ext cx="2606040" cy="274320"/>
          </a:xfrm>
          <a:prstGeom prst="rect">
            <a:avLst/>
          </a:prstGeom>
          <a:noFill/>
          <a:ln/>
        </p:spPr>
        <p:txBody>
          <a:bodyPr wrap="square" lIns="0" tIns="0" rIns="0" bIns="0" rtlCol="0" anchor="ctr"/>
          <a:lstStyle/>
          <a:p>
            <a:pPr marL="0" indent="0" algn="r">
              <a:buNone/>
            </a:pPr>
            <a:r>
              <a:rPr lang="en-US" sz="1000" b="1" dirty="0">
                <a:solidFill>
                  <a:srgbClr val="00B8D9"/>
                </a:solidFill>
                <a:latin typeface="Trebuchet MS" pitchFamily="34" charset="0"/>
                <a:ea typeface="Trebuchet MS" pitchFamily="34" charset="-122"/>
                <a:cs typeface="Trebuchet MS" pitchFamily="34" charset="-120"/>
              </a:rPr>
              <a:t>taught in this module</a:t>
            </a:r>
            <a:endParaRPr lang="en-US" sz="1000" dirty="0"/>
          </a:p>
        </p:txBody>
      </p:sp>
      <p:sp>
        <p:nvSpPr>
          <p:cNvPr id="15" name="Shape 11"/>
          <p:cNvSpPr/>
          <p:nvPr/>
        </p:nvSpPr>
        <p:spPr>
          <a:xfrm>
            <a:off x="777240" y="4069080"/>
            <a:ext cx="10607040" cy="1005840"/>
          </a:xfrm>
          <a:prstGeom prst="rect">
            <a:avLst/>
          </a:prstGeom>
          <a:solidFill>
            <a:srgbClr val="FFFFFF"/>
          </a:solidFill>
          <a:ln w="12700">
            <a:solidFill>
              <a:srgbClr val="E2E8F0"/>
            </a:solidFill>
            <a:prstDash val="solid"/>
          </a:ln>
        </p:spPr>
        <p:txBody>
          <a:bodyPr/>
          <a:lstStyle/>
          <a:p>
            <a:endParaRPr lang="en-US"/>
          </a:p>
        </p:txBody>
      </p:sp>
      <p:pic>
        <p:nvPicPr>
          <p:cNvPr id="16" name="Image 2" descr="preencoded.png"/>
          <p:cNvPicPr>
            <a:picLocks noChangeAspect="1"/>
          </p:cNvPicPr>
          <p:nvPr/>
        </p:nvPicPr>
        <p:blipFill>
          <a:blip r:embed="rId3"/>
          <a:stretch>
            <a:fillRect/>
          </a:stretch>
        </p:blipFill>
        <p:spPr>
          <a:xfrm>
            <a:off x="960120" y="4297680"/>
            <a:ext cx="548640" cy="548640"/>
          </a:xfrm>
          <a:prstGeom prst="rect">
            <a:avLst/>
          </a:prstGeom>
        </p:spPr>
      </p:pic>
      <p:sp>
        <p:nvSpPr>
          <p:cNvPr id="17" name="Text 12"/>
          <p:cNvSpPr/>
          <p:nvPr/>
        </p:nvSpPr>
        <p:spPr>
          <a:xfrm>
            <a:off x="1691640" y="4206240"/>
            <a:ext cx="50292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TanStack Router</a:t>
            </a:r>
            <a:endParaRPr lang="en-US" sz="1800" dirty="0"/>
          </a:p>
        </p:txBody>
      </p:sp>
      <p:sp>
        <p:nvSpPr>
          <p:cNvPr id="18" name="Text 13"/>
          <p:cNvSpPr/>
          <p:nvPr/>
        </p:nvSpPr>
        <p:spPr>
          <a:xfrm>
            <a:off x="1691640" y="4617720"/>
            <a:ext cx="8229600" cy="457200"/>
          </a:xfrm>
          <a:prstGeom prst="rect">
            <a:avLst/>
          </a:prstGeom>
          <a:noFill/>
          <a:ln/>
        </p:spPr>
        <p:txBody>
          <a:bodyPr wrap="square" lIns="0" tIns="0" rIns="0" bIns="0" rtlCol="0" anchor="t"/>
          <a:lstStyle/>
          <a:p>
            <a:pPr marL="0" indent="0">
              <a:buNone/>
            </a:pPr>
            <a:r>
              <a:rPr lang="en-US" sz="1300" dirty="0">
                <a:solidFill>
                  <a:srgbClr val="475569"/>
                </a:solidFill>
                <a:latin typeface="Arial" pitchFamily="34" charset="0"/>
                <a:ea typeface="Arial" pitchFamily="34" charset="-122"/>
                <a:cs typeface="Arial" pitchFamily="34" charset="-120"/>
              </a:rPr>
              <a:t>Type-safe, file-based, headless. Newer; growing fast.</a:t>
            </a:r>
            <a:endParaRPr lang="en-US" sz="1300" dirty="0"/>
          </a:p>
        </p:txBody>
      </p:sp>
      <p:sp>
        <p:nvSpPr>
          <p:cNvPr id="19" name="Text 14"/>
          <p:cNvSpPr/>
          <p:nvPr/>
        </p:nvSpPr>
        <p:spPr>
          <a:xfrm>
            <a:off x="777240" y="5486400"/>
            <a:ext cx="106070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React Router v6 still works, but new projects start with v7. Old code with BrowserRouter / Routes / Route is still v7-compatible — just no longer the default starter.</a:t>
            </a:r>
            <a:endParaRPr lang="en-US" sz="1200" dirty="0"/>
          </a:p>
        </p:txBody>
      </p:sp>
      <p:sp>
        <p:nvSpPr>
          <p:cNvPr id="20"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21"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React Router v7</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Library mode for SPAs. Framework mode for the Remix-style stack. One product, two front doors.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November 2024 merger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Remix didn't disappear. It became the framework mode of React Router v7.</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What happened</a:t>
            </a:r>
            <a:endParaRPr lang="en-US" sz="1800" dirty="0"/>
          </a:p>
        </p:txBody>
      </p:sp>
      <p:sp>
        <p:nvSpPr>
          <p:cNvPr id="7" name="Text 5"/>
          <p:cNvSpPr/>
          <p:nvPr/>
        </p:nvSpPr>
        <p:spPr>
          <a:xfrm>
            <a:off x="960120" y="2423160"/>
            <a:ext cx="5029200" cy="3383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React Router and Remix had drifted into overlap</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Both used loaders, actions, nested routes, error boundaries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Remix Run shipped its merge plan in 2024</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RR v7 = the merged product, released Nov 2024</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Migration codemod handles most v6 → v7 changes</a:t>
            </a:r>
            <a:endParaRPr lang="en-US" sz="1600" dirty="0"/>
          </a:p>
        </p:txBody>
      </p:sp>
      <p:sp>
        <p:nvSpPr>
          <p:cNvPr id="8" name="Shape 6"/>
          <p:cNvSpPr/>
          <p:nvPr/>
        </p:nvSpPr>
        <p:spPr>
          <a:xfrm>
            <a:off x="6355080" y="1691640"/>
            <a:ext cx="5029200" cy="4206240"/>
          </a:xfrm>
          <a:prstGeom prst="rect">
            <a:avLst/>
          </a:prstGeom>
          <a:solidFill>
            <a:srgbClr val="CBF1F6"/>
          </a:solidFill>
          <a:ln w="12700">
            <a:solidFill>
              <a:srgbClr val="CBF1F6"/>
            </a:solidFill>
            <a:prstDash val="solid"/>
          </a:ln>
        </p:spPr>
        <p:txBody>
          <a:bodyPr/>
          <a:lstStyle/>
          <a:p>
            <a:endParaRPr lang="en-US"/>
          </a:p>
        </p:txBody>
      </p:sp>
      <p:sp>
        <p:nvSpPr>
          <p:cNvPr id="9" name="Text 7"/>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Two modes</a:t>
            </a:r>
            <a:endParaRPr lang="en-US" sz="1800" dirty="0"/>
          </a:p>
        </p:txBody>
      </p:sp>
      <p:sp>
        <p:nvSpPr>
          <p:cNvPr id="10" name="Text 8"/>
          <p:cNvSpPr/>
          <p:nvPr/>
        </p:nvSpPr>
        <p:spPr>
          <a:xfrm>
            <a:off x="6537960" y="2423160"/>
            <a:ext cx="4754880" cy="3383280"/>
          </a:xfrm>
          <a:prstGeom prst="rect">
            <a:avLst/>
          </a:prstGeom>
          <a:noFill/>
          <a:ln/>
        </p:spPr>
        <p:txBody>
          <a:bodyPr wrap="square" lIns="0" tIns="0" rIns="0" bIns="0" rtlCol="0" anchor="t"/>
          <a:lstStyle/>
          <a:p>
            <a:pPr marL="0" indent="0">
              <a:spcAft>
                <a:spcPts val="400"/>
              </a:spcAft>
              <a:buNone/>
            </a:pPr>
            <a:r>
              <a:rPr lang="en-US" b="1" dirty="0">
                <a:solidFill>
                  <a:srgbClr val="0F172A"/>
                </a:solidFill>
                <a:latin typeface="Arial" pitchFamily="34" charset="0"/>
                <a:ea typeface="Arial" pitchFamily="34" charset="-122"/>
                <a:cs typeface="Arial" pitchFamily="34" charset="-120"/>
              </a:rPr>
              <a:t>Library mode</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The classic React Router. Routes in JSX or createBrowserRouter. You bring your own bundler, dev server, and SSR.</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 </a:t>
            </a:r>
            <a:endParaRPr lang="en-US" sz="1600" dirty="0"/>
          </a:p>
          <a:p>
            <a:pPr marL="0" indent="0">
              <a:spcAft>
                <a:spcPts val="400"/>
              </a:spcAft>
              <a:buNone/>
            </a:pPr>
            <a:r>
              <a:rPr lang="en-US" b="1" dirty="0">
                <a:solidFill>
                  <a:srgbClr val="0F172A"/>
                </a:solidFill>
                <a:latin typeface="Arial" pitchFamily="34" charset="0"/>
                <a:ea typeface="Arial" pitchFamily="34" charset="-122"/>
                <a:cs typeface="Arial" pitchFamily="34" charset="-120"/>
              </a:rPr>
              <a:t>Framework mode</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The Remix-style stack. File-based routes, Vite under the hood, server runtime included. Loaders + actions are first-class.</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Library mode — when it fits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Bring-your-own bundler. Just routing inside an existing app.</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b="1" dirty="0">
                <a:solidFill>
                  <a:srgbClr val="0F172A"/>
                </a:solidFill>
                <a:latin typeface="Trebuchet MS" pitchFamily="34" charset="0"/>
                <a:ea typeface="Trebuchet MS" pitchFamily="34" charset="-122"/>
                <a:cs typeface="Trebuchet MS" pitchFamily="34" charset="-120"/>
              </a:rPr>
              <a:t>Reach for library mode when:</a:t>
            </a:r>
            <a:endParaRPr lang="en-US" dirty="0"/>
          </a:p>
        </p:txBody>
      </p:sp>
      <p:sp>
        <p:nvSpPr>
          <p:cNvPr id="6" name="Text 4"/>
          <p:cNvSpPr/>
          <p:nvPr/>
        </p:nvSpPr>
        <p:spPr>
          <a:xfrm>
            <a:off x="777240" y="1920240"/>
            <a:ext cx="5349240" cy="228600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 already have a Vite SPA</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You're embedding routing in a non-React shell</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Server rendering doesn't matter</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You want the smallest dependency surface</a:t>
            </a:r>
            <a:endParaRPr lang="en-US"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6537960" y="1691640"/>
            <a:ext cx="4663440" cy="393192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import { createBrowserRouter,</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RouterProvider } from </a:t>
            </a:r>
            <a:r>
              <a:rPr lang="en-US" sz="1400" dirty="0">
                <a:solidFill>
                  <a:srgbClr val="9CDCFE"/>
                </a:solidFill>
                <a:latin typeface="Courier New" pitchFamily="34" charset="0"/>
                <a:ea typeface="Courier New" pitchFamily="34" charset="-122"/>
                <a:cs typeface="Courier New" pitchFamily="34" charset="-120"/>
              </a:rPr>
              <a:t>'react-router'</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const router = </a:t>
            </a:r>
            <a:r>
              <a:rPr lang="en-US" sz="1400" dirty="0">
                <a:solidFill>
                  <a:srgbClr val="DCDCAA"/>
                </a:solidFill>
                <a:latin typeface="Courier New" pitchFamily="34" charset="0"/>
                <a:ea typeface="Courier New" pitchFamily="34" charset="-122"/>
                <a:cs typeface="Courier New" pitchFamily="34" charset="-120"/>
              </a:rPr>
              <a:t>createBrowserRouter</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 path: '/'</a:t>
            </a:r>
            <a:r>
              <a:rPr lang="en-US" sz="1400" dirty="0">
                <a:solidFill>
                  <a:srgbClr val="FFFFFF"/>
                </a:solidFill>
                <a:latin typeface="Courier New" pitchFamily="34" charset="0"/>
                <a:ea typeface="Courier New" pitchFamily="34" charset="-122"/>
                <a:cs typeface="Courier New" pitchFamily="34" charset="-120"/>
              </a:rPr>
              <a:t>, element: &lt;Home /&gt;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 path: '/about'</a:t>
            </a:r>
            <a:r>
              <a:rPr lang="en-US" sz="1400" dirty="0">
                <a:solidFill>
                  <a:srgbClr val="FFFFFF"/>
                </a:solidFill>
                <a:latin typeface="Courier New" pitchFamily="34" charset="0"/>
                <a:ea typeface="Courier New" pitchFamily="34" charset="-122"/>
                <a:cs typeface="Courier New" pitchFamily="34" charset="-120"/>
              </a:rPr>
              <a:t>, element: &lt;About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App</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return &lt;</a:t>
            </a:r>
            <a:r>
              <a:rPr lang="en-US" sz="1400" dirty="0">
                <a:solidFill>
                  <a:srgbClr val="DCDCAA"/>
                </a:solidFill>
                <a:latin typeface="Courier New" pitchFamily="34" charset="0"/>
                <a:ea typeface="Courier New" pitchFamily="34" charset="-122"/>
                <a:cs typeface="Courier New" pitchFamily="34" charset="-120"/>
              </a:rPr>
              <a:t>RouterProvider </a:t>
            </a:r>
            <a:r>
              <a:rPr lang="en-US" sz="1400" dirty="0">
                <a:solidFill>
                  <a:srgbClr val="9CDCFE"/>
                </a:solidFill>
                <a:latin typeface="Courier New" pitchFamily="34" charset="0"/>
                <a:ea typeface="Courier New" pitchFamily="34" charset="-122"/>
                <a:cs typeface="Courier New" pitchFamily="34" charset="-120"/>
              </a:rPr>
              <a:t>router={router}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Framework mode — getting started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One command. File-based routes. Loaders, actions, and SSR built in.</a:t>
            </a:r>
            <a:endParaRPr lang="en-US" sz="1400" dirty="0"/>
          </a:p>
        </p:txBody>
      </p:sp>
      <p:sp>
        <p:nvSpPr>
          <p:cNvPr id="5" name="Shape 3"/>
          <p:cNvSpPr/>
          <p:nvPr/>
        </p:nvSpPr>
        <p:spPr>
          <a:xfrm>
            <a:off x="777240" y="1554480"/>
            <a:ext cx="10607040" cy="14630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1188720"/>
          </a:xfrm>
          <a:prstGeom prst="rect">
            <a:avLst/>
          </a:prstGeom>
          <a:noFill/>
          <a:ln/>
        </p:spPr>
        <p:txBody>
          <a:bodyPr wrap="square" lIns="0" tIns="0" rIns="0" bIns="0" rtlCol="0" anchor="t"/>
          <a:lstStyle/>
          <a:p>
            <a:pPr marL="0" indent="0">
              <a:buNone/>
            </a:pPr>
            <a:r>
              <a:rPr lang="en-US" sz="1800" dirty="0">
                <a:solidFill>
                  <a:srgbClr val="6A9955"/>
                </a:solidFill>
                <a:latin typeface="Courier New" pitchFamily="34" charset="0"/>
                <a:ea typeface="Courier New" pitchFamily="34" charset="-122"/>
                <a:cs typeface="Courier New" pitchFamily="34" charset="-120"/>
              </a:rPr>
              <a:t>$ </a:t>
            </a:r>
            <a:r>
              <a:rPr lang="en-US" sz="1800" dirty="0">
                <a:solidFill>
                  <a:srgbClr val="FFFFFF"/>
                </a:solidFill>
                <a:latin typeface="Courier New" pitchFamily="34" charset="0"/>
                <a:ea typeface="Courier New" pitchFamily="34" charset="-122"/>
                <a:cs typeface="Courier New" pitchFamily="34" charset="-120"/>
              </a:rPr>
              <a:t>npx create-react-router@latest my-app</a:t>
            </a:r>
            <a:endParaRPr lang="en-US" sz="1800" dirty="0"/>
          </a:p>
        </p:txBody>
      </p:sp>
      <p:sp>
        <p:nvSpPr>
          <p:cNvPr id="7" name="Text 5"/>
          <p:cNvSpPr/>
          <p:nvPr/>
        </p:nvSpPr>
        <p:spPr>
          <a:xfrm>
            <a:off x="777240" y="320040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8" name="Text 6"/>
          <p:cNvSpPr/>
          <p:nvPr/>
        </p:nvSpPr>
        <p:spPr>
          <a:xfrm>
            <a:off x="777240" y="3611880"/>
            <a:ext cx="10607040" cy="2468880"/>
          </a:xfrm>
          <a:prstGeom prst="rect">
            <a:avLst/>
          </a:prstGeom>
          <a:noFill/>
          <a:ln/>
        </p:spPr>
        <p:txBody>
          <a:bodyPr wrap="square" lIns="0" tIns="0" rIns="0" bIns="0" rtlCol="0" anchor="t"/>
          <a:lstStyle/>
          <a:p>
            <a:pPr marL="0" indent="0">
              <a:buNone/>
            </a:pPr>
            <a:r>
              <a:rPr lang="en-US" sz="1300" b="1" dirty="0">
                <a:solidFill>
                  <a:srgbClr val="0F172A"/>
                </a:solidFill>
                <a:latin typeface="Courier New" pitchFamily="34" charset="0"/>
                <a:ea typeface="Courier New" pitchFamily="34" charset="-122"/>
                <a:cs typeface="Courier New" pitchFamily="34" charset="-120"/>
              </a:rPr>
              <a:t>app/</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routes.ts             </a:t>
            </a:r>
            <a:r>
              <a:rPr lang="en-US" sz="1300" i="1" dirty="0">
                <a:solidFill>
                  <a:srgbClr val="6A9955"/>
                </a:solidFill>
                <a:latin typeface="Courier New" pitchFamily="34" charset="0"/>
                <a:ea typeface="Courier New" pitchFamily="34" charset="-122"/>
                <a:cs typeface="Courier New" pitchFamily="34" charset="-120"/>
              </a:rPr>
              <a:t>// route config</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root.jsx              </a:t>
            </a:r>
            <a:r>
              <a:rPr lang="en-US" sz="1300" i="1" dirty="0">
                <a:solidFill>
                  <a:srgbClr val="6A9955"/>
                </a:solidFill>
                <a:latin typeface="Courier New" pitchFamily="34" charset="0"/>
                <a:ea typeface="Courier New" pitchFamily="34" charset="-122"/>
                <a:cs typeface="Courier New" pitchFamily="34" charset="-120"/>
              </a:rPr>
              <a:t>// app shell</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routes/</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 _index.jsx        </a:t>
            </a:r>
            <a:r>
              <a:rPr lang="en-US" sz="1300" i="1" dirty="0">
                <a:solidFill>
                  <a:srgbClr val="6A9955"/>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 about.jsx         </a:t>
            </a:r>
            <a:r>
              <a:rPr lang="en-US" sz="1300" i="1" dirty="0">
                <a:solidFill>
                  <a:srgbClr val="6A9955"/>
                </a:solidFill>
                <a:latin typeface="Courier New" pitchFamily="34" charset="0"/>
                <a:ea typeface="Courier New" pitchFamily="34" charset="-122"/>
                <a:cs typeface="Courier New" pitchFamily="34" charset="-120"/>
              </a:rPr>
              <a:t>// /about</a:t>
            </a:r>
            <a:endParaRPr lang="en-US" sz="1300" dirty="0"/>
          </a:p>
          <a:p>
            <a:pPr marL="0" indent="0">
              <a:buNone/>
            </a:pPr>
            <a:r>
              <a:rPr lang="en-US" sz="1300" dirty="0">
                <a:solidFill>
                  <a:srgbClr val="475569"/>
                </a:solidFill>
                <a:latin typeface="Courier New" pitchFamily="34" charset="0"/>
                <a:ea typeface="Courier New" pitchFamily="34" charset="-122"/>
                <a:cs typeface="Courier New" pitchFamily="34" charset="-120"/>
              </a:rPr>
              <a:t>    └── posts.$id.jsx     </a:t>
            </a:r>
            <a:r>
              <a:rPr lang="en-US" sz="1300" i="1" dirty="0">
                <a:solidFill>
                  <a:srgbClr val="6A9955"/>
                </a:solidFill>
                <a:latin typeface="Courier New" pitchFamily="34" charset="0"/>
                <a:ea typeface="Courier New" pitchFamily="34" charset="-122"/>
                <a:cs typeface="Courier New" pitchFamily="34" charset="-120"/>
              </a:rPr>
              <a:t>// /posts/:id</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27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Loaders — fetch on the server, render on arrival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Each route file exports a loader. RR runs it before rendering. Component reads the result with useLoaderData.</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i="1" dirty="0">
                <a:solidFill>
                  <a:srgbClr val="6A9955"/>
                </a:solidFill>
                <a:latin typeface="Courier New" pitchFamily="34" charset="0"/>
                <a:ea typeface="Courier New" pitchFamily="34" charset="-122"/>
                <a:cs typeface="Courier New" pitchFamily="34" charset="-120"/>
              </a:rPr>
              <a:t>// app/routes/posts.$id.jsx</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export async function </a:t>
            </a:r>
            <a:r>
              <a:rPr lang="en-US" dirty="0">
                <a:solidFill>
                  <a:srgbClr val="DCDCAA"/>
                </a:solidFill>
                <a:latin typeface="Courier New" pitchFamily="34" charset="0"/>
                <a:ea typeface="Courier New" pitchFamily="34" charset="-122"/>
                <a:cs typeface="Courier New" pitchFamily="34" charset="-120"/>
              </a:rPr>
              <a:t>loader</a:t>
            </a:r>
            <a:r>
              <a:rPr lang="en-US" dirty="0">
                <a:solidFill>
                  <a:srgbClr val="FFFFFF"/>
                </a:solidFill>
                <a:latin typeface="Courier New" pitchFamily="34" charset="0"/>
                <a:ea typeface="Courier New" pitchFamily="34" charset="-122"/>
                <a:cs typeface="Courier New" pitchFamily="34" charset="-120"/>
              </a:rPr>
              <a:t>({ params })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const post = await db.posts.findById(params.id);</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if (!post) throw new Response(</a:t>
            </a:r>
            <a:r>
              <a:rPr lang="en-US" dirty="0">
                <a:solidFill>
                  <a:srgbClr val="9CDCFE"/>
                </a:solidFill>
                <a:latin typeface="Courier New" pitchFamily="34" charset="0"/>
                <a:ea typeface="Courier New" pitchFamily="34" charset="-122"/>
                <a:cs typeface="Courier New" pitchFamily="34" charset="-120"/>
              </a:rPr>
              <a:t>'Not found'</a:t>
            </a:r>
            <a:r>
              <a:rPr lang="en-US" dirty="0">
                <a:solidFill>
                  <a:srgbClr val="C586C0"/>
                </a:solidFill>
                <a:latin typeface="Courier New" pitchFamily="34" charset="0"/>
                <a:ea typeface="Courier New" pitchFamily="34" charset="-122"/>
                <a:cs typeface="Courier New" pitchFamily="34" charset="-120"/>
              </a:rPr>
              <a:t>, { status: 404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return { post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export default function </a:t>
            </a:r>
            <a:r>
              <a:rPr lang="en-US" dirty="0">
                <a:solidFill>
                  <a:srgbClr val="DCDCAA"/>
                </a:solidFill>
                <a:latin typeface="Courier New" pitchFamily="34" charset="0"/>
                <a:ea typeface="Courier New" pitchFamily="34" charset="-122"/>
                <a:cs typeface="Courier New" pitchFamily="34" charset="-120"/>
              </a:rPr>
              <a:t>Post</a:t>
            </a: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const { post } = </a:t>
            </a:r>
            <a:r>
              <a:rPr lang="en-US" dirty="0">
                <a:solidFill>
                  <a:srgbClr val="DCDCAA"/>
                </a:solidFill>
                <a:latin typeface="Courier New" pitchFamily="34" charset="0"/>
                <a:ea typeface="Courier New" pitchFamily="34" charset="-122"/>
                <a:cs typeface="Courier New" pitchFamily="34" charset="-120"/>
              </a:rPr>
              <a:t>useLoaderData</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return &lt;Article post={post}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p:txBody>
      </p:sp>
      <p:sp>
        <p:nvSpPr>
          <p:cNvPr id="7" name="Text 5"/>
          <p:cNvSpPr/>
          <p:nvPr/>
        </p:nvSpPr>
        <p:spPr>
          <a:xfrm>
            <a:off x="777240" y="5897880"/>
            <a:ext cx="10607040" cy="36576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Loaders run on the server in framework mode (or in the browser in library mode if you opt in). Their return value is cached per-route and available via useLoaderData.</a:t>
            </a:r>
            <a:endParaRPr lang="en-US" sz="14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Actions — mutate on the server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Forms POST to the route's action. The route revalidates after success.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app/routes/posts.new.jsx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async function </a:t>
            </a:r>
            <a:r>
              <a:rPr lang="en-US" sz="1600" dirty="0">
                <a:solidFill>
                  <a:srgbClr val="DCDCAA"/>
                </a:solidFill>
                <a:latin typeface="Courier New" pitchFamily="34" charset="0"/>
                <a:ea typeface="Courier New" pitchFamily="34" charset="-122"/>
                <a:cs typeface="Courier New" pitchFamily="34" charset="-120"/>
              </a:rPr>
              <a:t>action</a:t>
            </a:r>
            <a:r>
              <a:rPr lang="en-US" sz="1600" dirty="0">
                <a:solidFill>
                  <a:srgbClr val="FFFFFF"/>
                </a:solidFill>
                <a:latin typeface="Courier New" pitchFamily="34" charset="0"/>
                <a:ea typeface="Courier New" pitchFamily="34" charset="-122"/>
                <a:cs typeface="Courier New" pitchFamily="34" charset="-120"/>
              </a:rPr>
              <a:t>({ request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formData = await request.formData();</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db.posts.create({</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title: formData.get(</a:t>
            </a:r>
            <a:r>
              <a:rPr lang="en-US" sz="1600" dirty="0">
                <a:solidFill>
                  <a:srgbClr val="9CDCFE"/>
                </a:solidFill>
                <a:latin typeface="Courier New" pitchFamily="34" charset="0"/>
                <a:ea typeface="Courier New" pitchFamily="34" charset="-122"/>
                <a:cs typeface="Courier New" pitchFamily="34" charset="-120"/>
              </a:rPr>
              <a:t>'title'</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body:  formData.get(</a:t>
            </a:r>
            <a:r>
              <a:rPr lang="en-US" sz="1600" dirty="0">
                <a:solidFill>
                  <a:srgbClr val="9CDCFE"/>
                </a:solidFill>
                <a:latin typeface="Courier New" pitchFamily="34" charset="0"/>
                <a:ea typeface="Courier New" pitchFamily="34" charset="-122"/>
                <a:cs typeface="Courier New" pitchFamily="34" charset="-120"/>
              </a:rPr>
              <a:t>'body'</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return </a:t>
            </a:r>
            <a:r>
              <a:rPr lang="en-US" sz="1600" dirty="0">
                <a:solidFill>
                  <a:srgbClr val="DCDCAA"/>
                </a:solidFill>
                <a:latin typeface="Courier New" pitchFamily="34" charset="0"/>
                <a:ea typeface="Courier New" pitchFamily="34" charset="-122"/>
                <a:cs typeface="Courier New" pitchFamily="34" charset="-120"/>
              </a:rPr>
              <a:t>redirect</a:t>
            </a:r>
            <a:r>
              <a:rPr lang="en-US" sz="1600" dirty="0">
                <a:solidFill>
                  <a:srgbClr val="FFFFFF"/>
                </a:solidFill>
                <a:latin typeface="Courier New" pitchFamily="34" charset="0"/>
                <a:ea typeface="Courier New" pitchFamily="34" charset="-122"/>
                <a:cs typeface="Courier New" pitchFamily="34" charset="-120"/>
              </a:rPr>
              <a:t>(`/posts/${post.id}`);</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NewPost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&lt;</a:t>
            </a:r>
            <a:r>
              <a:rPr lang="en-US" sz="1600" dirty="0">
                <a:solidFill>
                  <a:srgbClr val="DCDCAA"/>
                </a:solidFill>
                <a:latin typeface="Courier New" pitchFamily="34" charset="0"/>
                <a:ea typeface="Courier New" pitchFamily="34" charset="-122"/>
                <a:cs typeface="Courier New" pitchFamily="34" charset="-120"/>
              </a:rPr>
              <a:t>Form </a:t>
            </a:r>
            <a:r>
              <a:rPr lang="en-US" sz="1600" dirty="0">
                <a:solidFill>
                  <a:srgbClr val="9CDCFE"/>
                </a:solidFill>
                <a:latin typeface="Courier New" pitchFamily="34" charset="0"/>
                <a:ea typeface="Courier New" pitchFamily="34" charset="-122"/>
                <a:cs typeface="Courier New" pitchFamily="34" charset="-120"/>
              </a:rPr>
              <a:t>method='post'&gt; ... &lt;/</a:t>
            </a:r>
            <a:r>
              <a:rPr lang="en-US" sz="1600" dirty="0">
                <a:solidFill>
                  <a:srgbClr val="DCDCAA"/>
                </a:solidFill>
                <a:latin typeface="Courier New" pitchFamily="34" charset="0"/>
                <a:ea typeface="Courier New" pitchFamily="34" charset="-122"/>
                <a:cs typeface="Courier New" pitchFamily="34" charset="-120"/>
              </a:rPr>
              <a:t>Form</a:t>
            </a:r>
            <a:r>
              <a:rPr lang="en-US" sz="1600" dirty="0">
                <a:solidFill>
                  <a:srgbClr val="9CDCFE"/>
                </a:solidFill>
                <a:latin typeface="Courier New" pitchFamily="34" charset="0"/>
                <a:ea typeface="Courier New" pitchFamily="34" charset="-122"/>
                <a:cs typeface="Courier New" pitchFamily="34" charset="-120"/>
              </a:rPr>
              <a:t>&gt;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Layouts and nested routes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layout is just a route file with an Outlet. Children render inside it.</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3931920"/>
          </a:xfrm>
          <a:prstGeom prst="rect">
            <a:avLst/>
          </a:prstGeom>
          <a:noFill/>
          <a:ln/>
        </p:spPr>
        <p:txBody>
          <a:bodyPr wrap="square" lIns="0" tIns="0" rIns="0" bIns="0" rtlCol="0" anchor="t"/>
          <a:lstStyle/>
          <a:p>
            <a:pPr marL="0" indent="0">
              <a:buNone/>
            </a:pPr>
            <a:r>
              <a:rPr lang="en-US" i="1" dirty="0">
                <a:solidFill>
                  <a:srgbClr val="6A9955"/>
                </a:solidFill>
                <a:latin typeface="Courier New" pitchFamily="34" charset="0"/>
                <a:ea typeface="Courier New" pitchFamily="34" charset="-122"/>
                <a:cs typeface="Courier New" pitchFamily="34" charset="-120"/>
              </a:rPr>
              <a:t>// app/routes.ts</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export default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r>
              <a:rPr lang="en-US" dirty="0">
                <a:solidFill>
                  <a:srgbClr val="DCDCAA"/>
                </a:solidFill>
                <a:latin typeface="Courier New" pitchFamily="34" charset="0"/>
                <a:ea typeface="Courier New" pitchFamily="34" charset="-122"/>
                <a:cs typeface="Courier New" pitchFamily="34" charset="-120"/>
              </a:rPr>
              <a:t>layout</a:t>
            </a:r>
            <a:r>
              <a:rPr lang="en-US" dirty="0">
                <a:solidFill>
                  <a:srgbClr val="9CDCFE"/>
                </a:solidFill>
                <a:latin typeface="Courier New" pitchFamily="34" charset="0"/>
                <a:ea typeface="Courier New" pitchFamily="34" charset="-122"/>
                <a:cs typeface="Courier New" pitchFamily="34" charset="-120"/>
              </a:rPr>
              <a:t>('routes/dashboard.jsx'</a:t>
            </a: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r>
              <a:rPr lang="en-US" dirty="0">
                <a:solidFill>
                  <a:srgbClr val="DCDCAA"/>
                </a:solidFill>
                <a:latin typeface="Courier New" pitchFamily="34" charset="0"/>
                <a:ea typeface="Courier New" pitchFamily="34" charset="-122"/>
                <a:cs typeface="Courier New" pitchFamily="34" charset="-120"/>
              </a:rPr>
              <a:t>index</a:t>
            </a:r>
            <a:r>
              <a:rPr lang="en-US" dirty="0">
                <a:solidFill>
                  <a:srgbClr val="9CDCFE"/>
                </a:solidFill>
                <a:latin typeface="Courier New" pitchFamily="34" charset="0"/>
                <a:ea typeface="Courier New" pitchFamily="34" charset="-122"/>
                <a:cs typeface="Courier New" pitchFamily="34" charset="-120"/>
              </a:rPr>
              <a:t>('routes/dashboard.home.jsx'</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r>
              <a:rPr lang="en-US" dirty="0">
                <a:solidFill>
                  <a:srgbClr val="DCDCAA"/>
                </a:solidFill>
                <a:latin typeface="Courier New" pitchFamily="34" charset="0"/>
                <a:ea typeface="Courier New" pitchFamily="34" charset="-122"/>
                <a:cs typeface="Courier New" pitchFamily="34" charset="-120"/>
              </a:rPr>
              <a:t>route</a:t>
            </a:r>
            <a:r>
              <a:rPr lang="en-US" dirty="0">
                <a:solidFill>
                  <a:srgbClr val="9CDCFE"/>
                </a:solidFill>
                <a:latin typeface="Courier New" pitchFamily="34" charset="0"/>
                <a:ea typeface="Courier New" pitchFamily="34" charset="-122"/>
                <a:cs typeface="Courier New" pitchFamily="34" charset="-120"/>
              </a:rPr>
              <a:t>('reports', 'routes/dashboard.reports.jsx'</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r>
              <a:rPr lang="en-US" dirty="0">
                <a:solidFill>
                  <a:srgbClr val="DCDCAA"/>
                </a:solidFill>
                <a:latin typeface="Courier New" pitchFamily="34" charset="0"/>
                <a:ea typeface="Courier New" pitchFamily="34" charset="-122"/>
                <a:cs typeface="Courier New" pitchFamily="34" charset="-120"/>
              </a:rPr>
              <a:t>route</a:t>
            </a:r>
            <a:r>
              <a:rPr lang="en-US" dirty="0">
                <a:solidFill>
                  <a:srgbClr val="9CDCFE"/>
                </a:solidFill>
                <a:latin typeface="Courier New" pitchFamily="34" charset="0"/>
                <a:ea typeface="Courier New" pitchFamily="34" charset="-122"/>
                <a:cs typeface="Courier New" pitchFamily="34" charset="-120"/>
              </a:rPr>
              <a:t>('settings', 'routes/dashboard.settings.jsx'</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p:txBody>
      </p:sp>
      <p:sp>
        <p:nvSpPr>
          <p:cNvPr id="7" name="Shape 5"/>
          <p:cNvSpPr/>
          <p:nvPr/>
        </p:nvSpPr>
        <p:spPr>
          <a:xfrm>
            <a:off x="6949440" y="1554480"/>
            <a:ext cx="4434840" cy="42062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7132320" y="1691640"/>
            <a:ext cx="4069080" cy="3931920"/>
          </a:xfrm>
          <a:prstGeom prst="rect">
            <a:avLst/>
          </a:prstGeom>
          <a:noFill/>
          <a:ln/>
        </p:spPr>
        <p:txBody>
          <a:bodyPr wrap="square" lIns="0" tIns="0" rIns="0" bIns="0" rtlCol="0" anchor="t"/>
          <a:lstStyle/>
          <a:p>
            <a:pPr marL="0" indent="0">
              <a:buNone/>
            </a:pPr>
            <a:r>
              <a:rPr lang="en-US" i="1" dirty="0">
                <a:solidFill>
                  <a:srgbClr val="6A9955"/>
                </a:solidFill>
                <a:latin typeface="Courier New" pitchFamily="34" charset="0"/>
                <a:ea typeface="Courier New" pitchFamily="34" charset="-122"/>
                <a:cs typeface="Courier New" pitchFamily="34" charset="-120"/>
              </a:rPr>
              <a:t>// dashboard.jsx</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export default function </a:t>
            </a:r>
            <a:r>
              <a:rPr lang="en-US" dirty="0">
                <a:solidFill>
                  <a:srgbClr val="DCDCAA"/>
                </a:solidFill>
                <a:latin typeface="Courier New" pitchFamily="34" charset="0"/>
                <a:ea typeface="Courier New" pitchFamily="34" charset="-122"/>
                <a:cs typeface="Courier New" pitchFamily="34" charset="-120"/>
              </a:rPr>
              <a:t>DashLayout</a:t>
            </a: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return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&lt;div&gt;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&lt;Sidebar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&lt;main&gt;</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&lt;</a:t>
            </a:r>
            <a:r>
              <a:rPr lang="en-US" dirty="0">
                <a:solidFill>
                  <a:srgbClr val="DCDCAA"/>
                </a:solidFill>
                <a:latin typeface="Courier New" pitchFamily="34" charset="0"/>
                <a:ea typeface="Courier New" pitchFamily="34" charset="-122"/>
                <a:cs typeface="Courier New" pitchFamily="34" charset="-120"/>
              </a:rPr>
              <a:t>Outlet </a:t>
            </a:r>
            <a:r>
              <a:rPr lang="en-US" dirty="0">
                <a:solidFill>
                  <a:srgbClr val="9CDCFE"/>
                </a:solidFill>
                <a:latin typeface="Courier New" pitchFamily="34" charset="0"/>
                <a:ea typeface="Courier New" pitchFamily="34" charset="-122"/>
                <a:cs typeface="Courier New" pitchFamily="34" charset="-120"/>
              </a:rPr>
              <a:t>/&gt;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&lt;/main&gt;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&lt;/div&gt;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Protected routes — the loader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Auth check runs in the loader. Redirect from there. The component never renders for unauthenticated users.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app/routes/dashboard.jsx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async function </a:t>
            </a:r>
            <a:r>
              <a:rPr lang="en-US" sz="1600" dirty="0">
                <a:solidFill>
                  <a:srgbClr val="DCDCAA"/>
                </a:solidFill>
                <a:latin typeface="Courier New" pitchFamily="34" charset="0"/>
                <a:ea typeface="Courier New" pitchFamily="34" charset="-122"/>
                <a:cs typeface="Courier New" pitchFamily="34" charset="-120"/>
              </a:rPr>
              <a:t>loader</a:t>
            </a:r>
            <a:r>
              <a:rPr lang="en-US" sz="1600" dirty="0">
                <a:solidFill>
                  <a:srgbClr val="FFFFFF"/>
                </a:solidFill>
                <a:latin typeface="Courier New" pitchFamily="34" charset="0"/>
                <a:ea typeface="Courier New" pitchFamily="34" charset="-122"/>
                <a:cs typeface="Courier New" pitchFamily="34" charset="-120"/>
              </a:rPr>
              <a:t>({ request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user = await getUser(request);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if (!user)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url = </a:t>
            </a:r>
            <a:r>
              <a:rPr lang="en-US" sz="1600" dirty="0">
                <a:solidFill>
                  <a:srgbClr val="DCDCAA"/>
                </a:solidFill>
                <a:latin typeface="Courier New" pitchFamily="34" charset="0"/>
                <a:ea typeface="Courier New" pitchFamily="34" charset="-122"/>
                <a:cs typeface="Courier New" pitchFamily="34" charset="-120"/>
              </a:rPr>
              <a:t>new URL</a:t>
            </a:r>
            <a:r>
              <a:rPr lang="en-US" sz="1600" dirty="0">
                <a:solidFill>
                  <a:srgbClr val="FFFFFF"/>
                </a:solidFill>
                <a:latin typeface="Courier New" pitchFamily="34" charset="0"/>
                <a:ea typeface="Courier New" pitchFamily="34" charset="-122"/>
                <a:cs typeface="Courier New" pitchFamily="34" charset="-120"/>
              </a:rPr>
              <a:t>(request.url);</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throw </a:t>
            </a:r>
            <a:r>
              <a:rPr lang="en-US" sz="1600" dirty="0">
                <a:solidFill>
                  <a:srgbClr val="DCDCAA"/>
                </a:solidFill>
                <a:latin typeface="Courier New" pitchFamily="34" charset="0"/>
                <a:ea typeface="Courier New" pitchFamily="34" charset="-122"/>
                <a:cs typeface="Courier New" pitchFamily="34" charset="-120"/>
              </a:rPr>
              <a:t>redirect</a:t>
            </a:r>
            <a:r>
              <a:rPr lang="en-US" sz="1600" dirty="0">
                <a:solidFill>
                  <a:srgbClr val="FFFFFF"/>
                </a:solidFill>
                <a:latin typeface="Courier New" pitchFamily="34" charset="0"/>
                <a:ea typeface="Courier New" pitchFamily="34" charset="-122"/>
                <a:cs typeface="Courier New" pitchFamily="34" charset="-120"/>
              </a:rPr>
              <a:t>(`/login?next=${url.pathname}`);</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 user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Dashboard</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 user } = </a:t>
            </a:r>
            <a:r>
              <a:rPr lang="en-US" sz="1600" dirty="0">
                <a:solidFill>
                  <a:srgbClr val="DCDCAA"/>
                </a:solidFill>
                <a:latin typeface="Courier New" pitchFamily="34" charset="0"/>
                <a:ea typeface="Courier New" pitchFamily="34" charset="-122"/>
                <a:cs typeface="Courier New" pitchFamily="34" charset="-120"/>
              </a:rPr>
              <a:t>useLoaderData</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&lt;h1&gt;Welcome, {user.name}&lt;/h1&gt;;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1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Next.js App Router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Folder is API. Server Components by default. Server Actions baked in.</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Folder is API</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Every folder under app/ is a route segment. Special files have special roles.</a:t>
            </a:r>
            <a:endParaRPr lang="en-US" sz="1400" dirty="0"/>
          </a:p>
        </p:txBody>
      </p:sp>
      <p:sp>
        <p:nvSpPr>
          <p:cNvPr id="5" name="Text 3"/>
          <p:cNvSpPr/>
          <p:nvPr/>
        </p:nvSpPr>
        <p:spPr>
          <a:xfrm>
            <a:off x="777240" y="1554480"/>
            <a:ext cx="10607040" cy="4572000"/>
          </a:xfrm>
          <a:prstGeom prst="rect">
            <a:avLst/>
          </a:prstGeom>
          <a:noFill/>
          <a:ln/>
        </p:spPr>
        <p:txBody>
          <a:bodyPr wrap="square" lIns="0" tIns="0" rIns="0" bIns="0" rtlCol="0" anchor="t"/>
          <a:lstStyle/>
          <a:p>
            <a:pPr marL="0" indent="0">
              <a:buNone/>
            </a:pPr>
            <a:r>
              <a:rPr lang="en-US" b="1" dirty="0">
                <a:solidFill>
                  <a:srgbClr val="0F172A"/>
                </a:solidFill>
                <a:latin typeface="Courier New" pitchFamily="34" charset="0"/>
                <a:ea typeface="Courier New" pitchFamily="34" charset="-122"/>
                <a:cs typeface="Courier New" pitchFamily="34" charset="-120"/>
              </a:rPr>
              <a:t>app/</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layout.jsx              </a:t>
            </a:r>
            <a:r>
              <a:rPr lang="en-US" i="1" dirty="0">
                <a:solidFill>
                  <a:srgbClr val="6A9955"/>
                </a:solidFill>
                <a:latin typeface="Courier New" pitchFamily="34" charset="0"/>
                <a:ea typeface="Courier New" pitchFamily="34" charset="-122"/>
                <a:cs typeface="Courier New" pitchFamily="34" charset="-120"/>
              </a:rPr>
              <a:t>// shared shell</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page.jsx                </a:t>
            </a:r>
            <a:r>
              <a:rPr lang="en-US" i="1" dirty="0">
                <a:solidFill>
                  <a:srgbClr val="6A9955"/>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posts/</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 page.jsx            </a:t>
            </a:r>
            <a:r>
              <a:rPr lang="en-US" i="1" dirty="0">
                <a:solidFill>
                  <a:srgbClr val="6A9955"/>
                </a:solidFill>
                <a:latin typeface="Courier New" pitchFamily="34" charset="0"/>
                <a:ea typeface="Courier New" pitchFamily="34" charset="-122"/>
                <a:cs typeface="Courier New" pitchFamily="34" charset="-120"/>
              </a:rPr>
              <a:t>// /posts</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 [id]/</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 page.jsx        </a:t>
            </a:r>
            <a:r>
              <a:rPr lang="en-US" i="1" dirty="0">
                <a:solidFill>
                  <a:srgbClr val="6A9955"/>
                </a:solidFill>
                <a:latin typeface="Courier New" pitchFamily="34" charset="0"/>
                <a:ea typeface="Courier New" pitchFamily="34" charset="-122"/>
                <a:cs typeface="Courier New" pitchFamily="34" charset="-120"/>
              </a:rPr>
              <a:t>// /posts/:id</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(auth)/                 </a:t>
            </a:r>
            <a:r>
              <a:rPr lang="en-US" i="1" dirty="0">
                <a:solidFill>
                  <a:srgbClr val="6A9955"/>
                </a:solidFill>
                <a:latin typeface="Courier New" pitchFamily="34" charset="0"/>
                <a:ea typeface="Courier New" pitchFamily="34" charset="-122"/>
                <a:cs typeface="Courier New" pitchFamily="34" charset="-120"/>
              </a:rPr>
              <a:t>// route group, no URL impact</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 login/page.jsx</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 signup/page.jsx</a:t>
            </a:r>
            <a:endParaRPr lang="en-US" dirty="0"/>
          </a:p>
          <a:p>
            <a:pPr marL="0" indent="0">
              <a:buNone/>
            </a:pPr>
            <a:r>
              <a:rPr lang="en-US" dirty="0">
                <a:solidFill>
                  <a:srgbClr val="475569"/>
                </a:solidFill>
                <a:latin typeface="Courier New" pitchFamily="34" charset="0"/>
                <a:ea typeface="Courier New" pitchFamily="34" charset="-122"/>
                <a:cs typeface="Courier New" pitchFamily="34" charset="-120"/>
              </a:rPr>
              <a:t>└── middleware.js           </a:t>
            </a:r>
            <a:r>
              <a:rPr lang="en-US" i="1" dirty="0">
                <a:solidFill>
                  <a:srgbClr val="6A9955"/>
                </a:solidFill>
                <a:latin typeface="Courier New" pitchFamily="34" charset="0"/>
                <a:ea typeface="Courier New" pitchFamily="34" charset="-122"/>
                <a:cs typeface="Courier New" pitchFamily="34" charset="-120"/>
              </a:rPr>
              <a:t>// runs before every request</a:t>
            </a:r>
            <a:endParaRPr lang="en-US" dirty="0"/>
          </a:p>
        </p:txBody>
      </p:sp>
      <p:sp>
        <p:nvSpPr>
          <p:cNvPr id="6" name="Text 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7" name="Text 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27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special files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Each file in a route segment plays a specific role.</a:t>
            </a:r>
            <a:endParaRPr lang="en-US" sz="1400" dirty="0"/>
          </a:p>
        </p:txBody>
      </p:sp>
      <p:sp>
        <p:nvSpPr>
          <p:cNvPr id="5" name="Shape 3"/>
          <p:cNvSpPr/>
          <p:nvPr/>
        </p:nvSpPr>
        <p:spPr>
          <a:xfrm>
            <a:off x="777240" y="1691640"/>
            <a:ext cx="5212080" cy="128016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2880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page.jsx</a:t>
            </a:r>
            <a:endParaRPr lang="en-US" sz="1600" dirty="0"/>
          </a:p>
        </p:txBody>
      </p:sp>
      <p:sp>
        <p:nvSpPr>
          <p:cNvPr id="7" name="Text 5"/>
          <p:cNvSpPr/>
          <p:nvPr/>
        </p:nvSpPr>
        <p:spPr>
          <a:xfrm>
            <a:off x="960120" y="228600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route's UI. Required if the segment is reachable as a URL.</a:t>
            </a:r>
            <a:endParaRPr lang="en-US" sz="1150" dirty="0"/>
          </a:p>
        </p:txBody>
      </p:sp>
      <p:sp>
        <p:nvSpPr>
          <p:cNvPr id="8" name="Shape 6"/>
          <p:cNvSpPr/>
          <p:nvPr/>
        </p:nvSpPr>
        <p:spPr>
          <a:xfrm>
            <a:off x="6126480" y="1691640"/>
            <a:ext cx="5212080" cy="128016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6309360" y="182880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layout.jsx</a:t>
            </a:r>
            <a:endParaRPr lang="en-US" sz="1600" dirty="0"/>
          </a:p>
        </p:txBody>
      </p:sp>
      <p:sp>
        <p:nvSpPr>
          <p:cNvPr id="10" name="Text 8"/>
          <p:cNvSpPr/>
          <p:nvPr/>
        </p:nvSpPr>
        <p:spPr>
          <a:xfrm>
            <a:off x="6309360" y="228600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Wraps the segment and its children. Persists across navigations within the segment.</a:t>
            </a:r>
            <a:endParaRPr lang="en-US" sz="1150" dirty="0"/>
          </a:p>
        </p:txBody>
      </p:sp>
      <p:sp>
        <p:nvSpPr>
          <p:cNvPr id="11" name="Shape 9"/>
          <p:cNvSpPr/>
          <p:nvPr/>
        </p:nvSpPr>
        <p:spPr>
          <a:xfrm>
            <a:off x="777240" y="3154680"/>
            <a:ext cx="5212080" cy="1280160"/>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329184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loading.jsx</a:t>
            </a:r>
            <a:endParaRPr lang="en-US" sz="1600" dirty="0"/>
          </a:p>
        </p:txBody>
      </p:sp>
      <p:sp>
        <p:nvSpPr>
          <p:cNvPr id="13" name="Text 11"/>
          <p:cNvSpPr/>
          <p:nvPr/>
        </p:nvSpPr>
        <p:spPr>
          <a:xfrm>
            <a:off x="960120" y="374904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Suspense fallback for the segment. Shows while the page streams.</a:t>
            </a:r>
            <a:endParaRPr lang="en-US" sz="1150" dirty="0"/>
          </a:p>
        </p:txBody>
      </p:sp>
      <p:sp>
        <p:nvSpPr>
          <p:cNvPr id="14" name="Shape 12"/>
          <p:cNvSpPr/>
          <p:nvPr/>
        </p:nvSpPr>
        <p:spPr>
          <a:xfrm>
            <a:off x="6126480" y="3154680"/>
            <a:ext cx="5212080" cy="1280160"/>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6309360" y="329184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error.jsx</a:t>
            </a:r>
            <a:endParaRPr lang="en-US" sz="1600" dirty="0"/>
          </a:p>
        </p:txBody>
      </p:sp>
      <p:sp>
        <p:nvSpPr>
          <p:cNvPr id="16" name="Text 14"/>
          <p:cNvSpPr/>
          <p:nvPr/>
        </p:nvSpPr>
        <p:spPr>
          <a:xfrm>
            <a:off x="6309360" y="374904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Error boundary for the segment. Receives the error and a reset function.</a:t>
            </a:r>
            <a:endParaRPr lang="en-US" sz="1150" dirty="0"/>
          </a:p>
        </p:txBody>
      </p:sp>
      <p:sp>
        <p:nvSpPr>
          <p:cNvPr id="17" name="Shape 15"/>
          <p:cNvSpPr/>
          <p:nvPr/>
        </p:nvSpPr>
        <p:spPr>
          <a:xfrm>
            <a:off x="777240" y="4617720"/>
            <a:ext cx="5212080" cy="1280160"/>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475488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not-found.jsx</a:t>
            </a:r>
            <a:endParaRPr lang="en-US" sz="1600" dirty="0"/>
          </a:p>
        </p:txBody>
      </p:sp>
      <p:sp>
        <p:nvSpPr>
          <p:cNvPr id="19" name="Text 17"/>
          <p:cNvSpPr/>
          <p:nvPr/>
        </p:nvSpPr>
        <p:spPr>
          <a:xfrm>
            <a:off x="960120" y="521208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Renders when notFound() is called or no route matches.</a:t>
            </a:r>
            <a:endParaRPr lang="en-US" sz="1150" dirty="0"/>
          </a:p>
        </p:txBody>
      </p:sp>
      <p:sp>
        <p:nvSpPr>
          <p:cNvPr id="20" name="Shape 18"/>
          <p:cNvSpPr/>
          <p:nvPr/>
        </p:nvSpPr>
        <p:spPr>
          <a:xfrm>
            <a:off x="6126480" y="4617720"/>
            <a:ext cx="5212080" cy="1280160"/>
          </a:xfrm>
          <a:prstGeom prst="rect">
            <a:avLst/>
          </a:prstGeom>
          <a:solidFill>
            <a:srgbClr val="FFFFFF"/>
          </a:solidFill>
          <a:ln w="12700">
            <a:solidFill>
              <a:srgbClr val="E2E8F0"/>
            </a:solidFill>
            <a:prstDash val="solid"/>
          </a:ln>
        </p:spPr>
        <p:txBody>
          <a:bodyPr/>
          <a:lstStyle/>
          <a:p>
            <a:endParaRPr lang="en-US"/>
          </a:p>
        </p:txBody>
      </p:sp>
      <p:sp>
        <p:nvSpPr>
          <p:cNvPr id="21" name="Text 19"/>
          <p:cNvSpPr/>
          <p:nvPr/>
        </p:nvSpPr>
        <p:spPr>
          <a:xfrm>
            <a:off x="6309360" y="4754880"/>
            <a:ext cx="4846320" cy="411480"/>
          </a:xfrm>
          <a:prstGeom prst="rect">
            <a:avLst/>
          </a:prstGeom>
          <a:noFill/>
          <a:ln/>
        </p:spPr>
        <p:txBody>
          <a:bodyPr wrap="square" lIns="0" tIns="0" rIns="0" bIns="0" rtlCol="0" anchor="ctr"/>
          <a:lstStyle/>
          <a:p>
            <a:pPr marL="0" indent="0">
              <a:buNone/>
            </a:pPr>
            <a:r>
              <a:rPr lang="en-US" sz="1600" b="1" dirty="0">
                <a:solidFill>
                  <a:srgbClr val="00B8D9"/>
                </a:solidFill>
                <a:latin typeface="Courier New" pitchFamily="34" charset="0"/>
                <a:ea typeface="Courier New" pitchFamily="34" charset="-122"/>
                <a:cs typeface="Courier New" pitchFamily="34" charset="-120"/>
              </a:rPr>
              <a:t>route.js</a:t>
            </a:r>
            <a:endParaRPr lang="en-US" sz="1600" dirty="0"/>
          </a:p>
        </p:txBody>
      </p:sp>
      <p:sp>
        <p:nvSpPr>
          <p:cNvPr id="22" name="Text 20"/>
          <p:cNvSpPr/>
          <p:nvPr/>
        </p:nvSpPr>
        <p:spPr>
          <a:xfrm>
            <a:off x="6309360" y="5212080"/>
            <a:ext cx="4846320" cy="6400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An API endpoint instead of a page. Exports GET, POST, etc.</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Components by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page.jsx is a Server Component unless you opt out with 'use client'.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app/posts/[id]/page.jsx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notFound } from </a:t>
            </a:r>
            <a:r>
              <a:rPr lang="en-US" sz="1600" dirty="0">
                <a:solidFill>
                  <a:srgbClr val="9CDCFE"/>
                </a:solidFill>
                <a:latin typeface="Courier New" pitchFamily="34" charset="0"/>
                <a:ea typeface="Courier New" pitchFamily="34" charset="-122"/>
                <a:cs typeface="Courier New" pitchFamily="34" charset="-120"/>
              </a:rPr>
              <a:t>'next/navigation'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db } from </a:t>
            </a:r>
            <a:r>
              <a:rPr lang="en-US" sz="1600" dirty="0">
                <a:solidFill>
                  <a:srgbClr val="9CDCFE"/>
                </a:solidFill>
                <a:latin typeface="Courier New" pitchFamily="34" charset="0"/>
                <a:ea typeface="Courier New" pitchFamily="34" charset="-122"/>
                <a:cs typeface="Courier New" pitchFamily="34" charset="-120"/>
              </a:rPr>
              <a:t>'@/lib/db'</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async function </a:t>
            </a:r>
            <a:r>
              <a:rPr lang="en-US" sz="1600" dirty="0">
                <a:solidFill>
                  <a:srgbClr val="DCDCAA"/>
                </a:solidFill>
                <a:latin typeface="Courier New" pitchFamily="34" charset="0"/>
                <a:ea typeface="Courier New" pitchFamily="34" charset="-122"/>
                <a:cs typeface="Courier New" pitchFamily="34" charset="-120"/>
              </a:rPr>
              <a:t>PostPage</a:t>
            </a:r>
            <a:r>
              <a:rPr lang="en-US" sz="1600" dirty="0">
                <a:solidFill>
                  <a:srgbClr val="FFFFFF"/>
                </a:solidFill>
                <a:latin typeface="Courier New" pitchFamily="34" charset="0"/>
                <a:ea typeface="Courier New" pitchFamily="34" charset="-122"/>
                <a:cs typeface="Courier New" pitchFamily="34" charset="-120"/>
              </a:rPr>
              <a:t>({ params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db.posts.findById(params.id);</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(!post) </a:t>
            </a:r>
            <a:r>
              <a:rPr lang="en-US" sz="1600" dirty="0">
                <a:solidFill>
                  <a:srgbClr val="DCDCAA"/>
                </a:solidFill>
                <a:latin typeface="Courier New" pitchFamily="34" charset="0"/>
                <a:ea typeface="Courier New" pitchFamily="34" charset="-122"/>
                <a:cs typeface="Courier New" pitchFamily="34" charset="-120"/>
              </a:rPr>
              <a:t>notFound</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&lt;article&gt;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&lt;h1&gt;{post.title}&lt;/h1&gt;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&lt;p&gt;{post.body}&lt;/p&gt;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&lt;/article&gt;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777240" y="5897880"/>
            <a:ext cx="10607040" cy="36576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Note: the function is async. No useState, no useEffect — this code runs on the server. Module 6 goes deeper.</a:t>
            </a:r>
            <a:endParaRPr lang="en-US" sz="11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Actions in routes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Functions marked 'use server' run on the server when invoked from the client.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app/posts/new/page.jsx</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redirect } from </a:t>
            </a:r>
            <a:r>
              <a:rPr lang="en-US" sz="1400" dirty="0">
                <a:solidFill>
                  <a:srgbClr val="9CDCFE"/>
                </a:solidFill>
                <a:latin typeface="Courier New" pitchFamily="34" charset="0"/>
                <a:ea typeface="Courier New" pitchFamily="34" charset="-122"/>
                <a:cs typeface="Courier New" pitchFamily="34" charset="-120"/>
              </a:rPr>
              <a:t>'next/navigation'</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async function </a:t>
            </a:r>
            <a:r>
              <a:rPr lang="en-US" sz="1400" dirty="0">
                <a:solidFill>
                  <a:srgbClr val="DCDCAA"/>
                </a:solidFill>
                <a:latin typeface="Courier New" pitchFamily="34" charset="0"/>
                <a:ea typeface="Courier New" pitchFamily="34" charset="-122"/>
                <a:cs typeface="Courier New" pitchFamily="34" charset="-120"/>
              </a:rPr>
              <a:t>createPost</a:t>
            </a:r>
            <a:r>
              <a:rPr lang="en-US" sz="1400" dirty="0">
                <a:solidFill>
                  <a:srgbClr val="FFFFFF"/>
                </a:solidFill>
                <a:latin typeface="Courier New" pitchFamily="34" charset="0"/>
                <a:ea typeface="Courier New" pitchFamily="34" charset="-122"/>
                <a:cs typeface="Courier New" pitchFamily="34" charset="-120"/>
              </a:rPr>
              <a:t>(formData)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9CDCFE"/>
                </a:solidFill>
                <a:latin typeface="Courier New" pitchFamily="34" charset="0"/>
                <a:ea typeface="Courier New" pitchFamily="34" charset="-122"/>
                <a:cs typeface="Courier New" pitchFamily="34" charset="-120"/>
              </a:rPr>
              <a:t>'use server'</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post = await db.posts.create({</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title: formData.get(</a:t>
            </a:r>
            <a:r>
              <a:rPr lang="en-US" sz="1400" dirty="0">
                <a:solidFill>
                  <a:srgbClr val="9CDCFE"/>
                </a:solidFill>
                <a:latin typeface="Courier New" pitchFamily="34" charset="0"/>
                <a:ea typeface="Courier New" pitchFamily="34" charset="-122"/>
                <a:cs typeface="Courier New" pitchFamily="34" charset="-120"/>
              </a:rPr>
              <a:t>'title'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body:  formData.get(</a:t>
            </a:r>
            <a:r>
              <a:rPr lang="en-US" sz="1400" dirty="0">
                <a:solidFill>
                  <a:srgbClr val="9CDCFE"/>
                </a:solidFill>
                <a:latin typeface="Courier New" pitchFamily="34" charset="0"/>
                <a:ea typeface="Courier New" pitchFamily="34" charset="-122"/>
                <a:cs typeface="Courier New" pitchFamily="34" charset="-120"/>
              </a:rPr>
              <a:t>'body'</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redirect</a:t>
            </a:r>
            <a:r>
              <a:rPr lang="en-US" sz="1400" dirty="0">
                <a:solidFill>
                  <a:srgbClr val="FFFFFF"/>
                </a:solidFill>
                <a:latin typeface="Courier New" pitchFamily="34" charset="0"/>
                <a:ea typeface="Courier New" pitchFamily="34" charset="-122"/>
                <a:cs typeface="Courier New" pitchFamily="34" charset="-120"/>
              </a:rPr>
              <a:t>(`/posts/${post.id}`);</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function </a:t>
            </a:r>
            <a:r>
              <a:rPr lang="en-US" sz="1400" dirty="0">
                <a:solidFill>
                  <a:srgbClr val="DCDCAA"/>
                </a:solidFill>
                <a:latin typeface="Courier New" pitchFamily="34" charset="0"/>
                <a:ea typeface="Courier New" pitchFamily="34" charset="-122"/>
                <a:cs typeface="Courier New" pitchFamily="34" charset="-120"/>
              </a:rPr>
              <a:t>NewPost</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&lt;form action={createPost}&gt; ... &lt;/form&gt;;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Nested layouts in Next.js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layout.jsx in any segment wraps that segment's pages. children prop receives the next layer down.</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app/dashboard/layout.jsx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DashboardLayout</a:t>
            </a:r>
            <a:r>
              <a:rPr lang="en-US" sz="1600" dirty="0">
                <a:solidFill>
                  <a:srgbClr val="FFFFFF"/>
                </a:solidFill>
                <a:latin typeface="Courier New" pitchFamily="34" charset="0"/>
                <a:ea typeface="Courier New" pitchFamily="34" charset="-122"/>
                <a:cs typeface="Courier New" pitchFamily="34" charset="-120"/>
              </a:rPr>
              <a:t>({ children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&lt;div className='dashboard'</a:t>
            </a:r>
            <a:r>
              <a:rPr lang="en-US" sz="1600" dirty="0">
                <a:solidFill>
                  <a:srgbClr val="FFFFFF"/>
                </a:solidFill>
                <a:latin typeface="Courier New" pitchFamily="34" charset="0"/>
                <a:ea typeface="Courier New" pitchFamily="34" charset="-122"/>
                <a:cs typeface="Courier New" pitchFamily="34" charset="-120"/>
              </a:rPr>
              <a:t>&gt;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&lt;Sidebar /&gt;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&lt;main&gt;{children}&lt;/main&gt;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&lt;/div&gt;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/dashboard/reports renders DashboardLayout &gt; ReportsPage</a:t>
            </a: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/dashboard/settings renders DashboardLayout &gt; SettingsPage</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Protected routes — middleware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Next.js middleware runs before any route handler. Redirect there for auth.</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app/middleware.js</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NextResponse } from </a:t>
            </a:r>
            <a:r>
              <a:rPr lang="en-US" sz="1600" dirty="0">
                <a:solidFill>
                  <a:srgbClr val="9CDCFE"/>
                </a:solidFill>
                <a:latin typeface="Courier New" pitchFamily="34" charset="0"/>
                <a:ea typeface="Courier New" pitchFamily="34" charset="-122"/>
                <a:cs typeface="Courier New" pitchFamily="34" charset="-120"/>
              </a:rPr>
              <a:t>'next/server'</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function </a:t>
            </a:r>
            <a:r>
              <a:rPr lang="en-US" sz="1600" dirty="0">
                <a:solidFill>
                  <a:srgbClr val="DCDCAA"/>
                </a:solidFill>
                <a:latin typeface="Courier New" pitchFamily="34" charset="0"/>
                <a:ea typeface="Courier New" pitchFamily="34" charset="-122"/>
                <a:cs typeface="Courier New" pitchFamily="34" charset="-120"/>
              </a:rPr>
              <a:t>middleware</a:t>
            </a:r>
            <a:r>
              <a:rPr lang="en-US" sz="1600" dirty="0">
                <a:solidFill>
                  <a:srgbClr val="FFFFFF"/>
                </a:solidFill>
                <a:latin typeface="Courier New" pitchFamily="34" charset="0"/>
                <a:ea typeface="Courier New" pitchFamily="34" charset="-122"/>
                <a:cs typeface="Courier New" pitchFamily="34" charset="-120"/>
              </a:rPr>
              <a:t>(request)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token = request.cookies.get(</a:t>
            </a:r>
            <a:r>
              <a:rPr lang="en-US" sz="1600" dirty="0">
                <a:solidFill>
                  <a:srgbClr val="9CDCFE"/>
                </a:solidFill>
                <a:latin typeface="Courier New" pitchFamily="34" charset="0"/>
                <a:ea typeface="Courier New" pitchFamily="34" charset="-122"/>
                <a:cs typeface="Courier New" pitchFamily="34" charset="-120"/>
              </a:rPr>
              <a:t>'session'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if (!token)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url = request.nextUrl.clone();</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url.pathname = </a:t>
            </a:r>
            <a:r>
              <a:rPr lang="en-US" sz="1600" dirty="0">
                <a:solidFill>
                  <a:srgbClr val="9CDCFE"/>
                </a:solidFill>
                <a:latin typeface="Courier New" pitchFamily="34" charset="0"/>
                <a:ea typeface="Courier New" pitchFamily="34" charset="-122"/>
                <a:cs typeface="Courier New" pitchFamily="34" charset="-120"/>
              </a:rPr>
              <a:t>'/login'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NextResponse.redirect(url);</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const </a:t>
            </a:r>
            <a:r>
              <a:rPr lang="en-US" sz="1600" dirty="0">
                <a:solidFill>
                  <a:srgbClr val="9CDCFE"/>
                </a:solidFill>
                <a:latin typeface="Courier New" pitchFamily="34" charset="0"/>
                <a:ea typeface="Courier New" pitchFamily="34" charset="-122"/>
                <a:cs typeface="Courier New" pitchFamily="34" charset="-120"/>
              </a:rPr>
              <a:t>config</a:t>
            </a:r>
            <a:r>
              <a:rPr lang="en-US" sz="1600" dirty="0">
                <a:solidFill>
                  <a:srgbClr val="C586C0"/>
                </a:solidFill>
                <a:latin typeface="Courier New" pitchFamily="34" charset="0"/>
                <a:ea typeface="Courier New" pitchFamily="34" charset="-122"/>
                <a:cs typeface="Courier New" pitchFamily="34" charset="-120"/>
              </a:rPr>
              <a:t> = { matcher: [</a:t>
            </a:r>
            <a:r>
              <a:rPr lang="en-US" sz="1600" dirty="0">
                <a:solidFill>
                  <a:srgbClr val="9CDCFE"/>
                </a:solidFill>
                <a:latin typeface="Courier New" pitchFamily="34" charset="0"/>
                <a:ea typeface="Courier New" pitchFamily="34" charset="-122"/>
                <a:cs typeface="Courier New" pitchFamily="34" charset="-120"/>
              </a:rPr>
              <a:t>'/dashboard/:path*'</a:t>
            </a:r>
            <a:r>
              <a:rPr lang="en-US" sz="1600" dirty="0">
                <a:solidFill>
                  <a:srgbClr val="C586C0"/>
                </a:solidFill>
                <a:latin typeface="Courier New" pitchFamily="34" charset="0"/>
                <a:ea typeface="Courier New" pitchFamily="34" charset="-122"/>
                <a:cs typeface="Courier New" pitchFamily="34" charset="-120"/>
              </a:rPr>
              <a:t>, </a:t>
            </a:r>
            <a:r>
              <a:rPr lang="en-US" sz="1600" dirty="0">
                <a:solidFill>
                  <a:srgbClr val="9CDCFE"/>
                </a:solidFill>
                <a:latin typeface="Courier New" pitchFamily="34" charset="0"/>
                <a:ea typeface="Courier New" pitchFamily="34" charset="-122"/>
                <a:cs typeface="Courier New" pitchFamily="34" charset="-120"/>
              </a:rPr>
              <a:t>'/account/:path*'</a:t>
            </a:r>
            <a:r>
              <a:rPr lang="en-US" sz="1600" dirty="0">
                <a:solidFill>
                  <a:srgbClr val="C586C0"/>
                </a:solidFill>
                <a:latin typeface="Courier New" pitchFamily="34" charset="0"/>
                <a:ea typeface="Courier New" pitchFamily="34" charset="-122"/>
                <a:cs typeface="Courier New" pitchFamily="34" charset="-120"/>
              </a:rPr>
              <a:t>] };</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18">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Side-by-Side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The same three tasks in both frameworks. The differences are smaller than you'd think.</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Same task — protected route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Redirect unauthenticated users to /login.</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routes/dashboard.jsx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async function </a:t>
            </a:r>
            <a:r>
              <a:rPr lang="en-US" sz="1600" dirty="0">
                <a:solidFill>
                  <a:srgbClr val="DCDCAA"/>
                </a:solidFill>
                <a:latin typeface="Courier New" pitchFamily="34" charset="0"/>
                <a:ea typeface="Courier New" pitchFamily="34" charset="-122"/>
                <a:cs typeface="Courier New" pitchFamily="34" charset="-120"/>
              </a:rPr>
              <a:t>loader</a:t>
            </a:r>
            <a:r>
              <a:rPr lang="en-US" sz="1600" dirty="0">
                <a:solidFill>
                  <a:srgbClr val="FFFFFF"/>
                </a:solidFill>
                <a:latin typeface="Courier New" pitchFamily="34" charset="0"/>
                <a:ea typeface="Courier New" pitchFamily="34" charset="-122"/>
                <a:cs typeface="Courier New" pitchFamily="34" charset="-120"/>
              </a:rPr>
              <a:t>({ request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user = await getUser(request);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(!user) throw redirect(</a:t>
            </a:r>
            <a:r>
              <a:rPr lang="en-US" sz="1600" dirty="0">
                <a:solidFill>
                  <a:srgbClr val="9CDCFE"/>
                </a:solidFill>
                <a:latin typeface="Courier New" pitchFamily="34" charset="0"/>
                <a:ea typeface="Courier New" pitchFamily="34" charset="-122"/>
                <a:cs typeface="Courier New" pitchFamily="34" charset="-120"/>
              </a:rPr>
              <a:t>'/login'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 user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Dashboard</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 user } = </a:t>
            </a:r>
            <a:r>
              <a:rPr lang="en-US" sz="1600" dirty="0">
                <a:solidFill>
                  <a:srgbClr val="DCDCAA"/>
                </a:solidFill>
                <a:latin typeface="Courier New" pitchFamily="34" charset="0"/>
                <a:ea typeface="Courier New" pitchFamily="34" charset="-122"/>
                <a:cs typeface="Courier New" pitchFamily="34" charset="-120"/>
              </a:rPr>
              <a:t>useLoaderData</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&lt;h1&gt;Hi, {user.name}&lt;/h1&gt;;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middleware.js</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function </a:t>
            </a:r>
            <a:r>
              <a:rPr lang="en-US" sz="1600" dirty="0">
                <a:solidFill>
                  <a:srgbClr val="DCDCAA"/>
                </a:solidFill>
                <a:latin typeface="Courier New" pitchFamily="34" charset="0"/>
                <a:ea typeface="Courier New" pitchFamily="34" charset="-122"/>
                <a:cs typeface="Courier New" pitchFamily="34" charset="-120"/>
              </a:rPr>
              <a:t>middleware</a:t>
            </a:r>
            <a:r>
              <a:rPr lang="en-US" sz="1600" dirty="0">
                <a:solidFill>
                  <a:srgbClr val="FFFFFF"/>
                </a:solidFill>
                <a:latin typeface="Courier New" pitchFamily="34" charset="0"/>
                <a:ea typeface="Courier New" pitchFamily="34" charset="-122"/>
                <a:cs typeface="Courier New" pitchFamily="34" charset="-120"/>
              </a:rPr>
              <a:t>(request)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(!request.cookies.get(</a:t>
            </a:r>
            <a:r>
              <a:rPr lang="en-US" sz="1600" dirty="0">
                <a:solidFill>
                  <a:srgbClr val="9CDCFE"/>
                </a:solidFill>
                <a:latin typeface="Courier New" pitchFamily="34" charset="0"/>
                <a:ea typeface="Courier New" pitchFamily="34" charset="-122"/>
                <a:cs typeface="Courier New" pitchFamily="34" charset="-120"/>
              </a:rPr>
              <a:t>'session'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return NextResponse.redirect(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new URL(</a:t>
            </a:r>
            <a:r>
              <a:rPr lang="en-US" sz="1600" dirty="0">
                <a:solidFill>
                  <a:srgbClr val="9CDCFE"/>
                </a:solidFill>
                <a:latin typeface="Courier New" pitchFamily="34" charset="0"/>
                <a:ea typeface="Courier New" pitchFamily="34" charset="-122"/>
                <a:cs typeface="Courier New" pitchFamily="34" charset="-120"/>
              </a:rPr>
              <a:t>'/login'</a:t>
            </a:r>
            <a:r>
              <a:rPr lang="en-US" sz="1600" dirty="0">
                <a:solidFill>
                  <a:srgbClr val="FFFFFF"/>
                </a:solidFill>
                <a:latin typeface="Courier New" pitchFamily="34" charset="0"/>
                <a:ea typeface="Courier New" pitchFamily="34" charset="-122"/>
                <a:cs typeface="Courier New" pitchFamily="34" charset="-120"/>
              </a:rPr>
              <a:t>, request.url));</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app/dashboard/page.jsx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async function </a:t>
            </a:r>
            <a:r>
              <a:rPr lang="en-US" sz="1600" dirty="0">
                <a:solidFill>
                  <a:srgbClr val="DCDCAA"/>
                </a:solidFill>
                <a:latin typeface="Courier New" pitchFamily="34" charset="0"/>
                <a:ea typeface="Courier New" pitchFamily="34" charset="-122"/>
                <a:cs typeface="Courier New" pitchFamily="34" charset="-120"/>
              </a:rPr>
              <a:t>Dashboard</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user = await getUser();</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&lt;h1&gt;Hi, {user.name}&lt;/h1&gt;;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27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Same task — load a post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Fetch by id, render, 404 on missing.</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routes/posts.$id.jsx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async function </a:t>
            </a:r>
            <a:r>
              <a:rPr lang="en-US" sz="1600" dirty="0">
                <a:solidFill>
                  <a:srgbClr val="DCDCAA"/>
                </a:solidFill>
                <a:latin typeface="Courier New" pitchFamily="34" charset="0"/>
                <a:ea typeface="Courier New" pitchFamily="34" charset="-122"/>
                <a:cs typeface="Courier New" pitchFamily="34" charset="-120"/>
              </a:rPr>
              <a:t>loader</a:t>
            </a:r>
            <a:r>
              <a:rPr lang="en-US" sz="1600" dirty="0">
                <a:solidFill>
                  <a:srgbClr val="FFFFFF"/>
                </a:solidFill>
                <a:latin typeface="Courier New" pitchFamily="34" charset="0"/>
                <a:ea typeface="Courier New" pitchFamily="34" charset="-122"/>
                <a:cs typeface="Courier New" pitchFamily="34" charset="-120"/>
              </a:rPr>
              <a:t>({ params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.findById(params.id);</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(!post) throw new Response(</a:t>
            </a:r>
            <a:r>
              <a:rPr lang="en-US" sz="1600" dirty="0">
                <a:solidFill>
                  <a:srgbClr val="9CDCFE"/>
                </a:solidFill>
                <a:latin typeface="Courier New" pitchFamily="34" charset="0"/>
                <a:ea typeface="Courier New" pitchFamily="34" charset="-122"/>
                <a:cs typeface="Courier New" pitchFamily="34" charset="-120"/>
              </a:rPr>
              <a:t>'', { status: 404 })</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 post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Post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 post } = </a:t>
            </a:r>
            <a:r>
              <a:rPr lang="en-US" sz="1600" dirty="0">
                <a:solidFill>
                  <a:srgbClr val="DCDCAA"/>
                </a:solidFill>
                <a:latin typeface="Courier New" pitchFamily="34" charset="0"/>
                <a:ea typeface="Courier New" pitchFamily="34" charset="-122"/>
                <a:cs typeface="Courier New" pitchFamily="34" charset="-120"/>
              </a:rPr>
              <a:t>useLoaderData</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&lt;Article post={post} /&gt;;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app/posts/[id]/page.jsx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notFound } from </a:t>
            </a:r>
            <a:r>
              <a:rPr lang="en-US" sz="1600" dirty="0">
                <a:solidFill>
                  <a:srgbClr val="9CDCFE"/>
                </a:solidFill>
                <a:latin typeface="Courier New" pitchFamily="34" charset="0"/>
                <a:ea typeface="Courier New" pitchFamily="34" charset="-122"/>
                <a:cs typeface="Courier New" pitchFamily="34" charset="-120"/>
              </a:rPr>
              <a:t>'next/navigation'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async function </a:t>
            </a:r>
            <a:r>
              <a:rPr lang="en-US" sz="1600" dirty="0">
                <a:solidFill>
                  <a:srgbClr val="DCDCAA"/>
                </a:solidFill>
                <a:latin typeface="Courier New" pitchFamily="34" charset="0"/>
                <a:ea typeface="Courier New" pitchFamily="34" charset="-122"/>
                <a:cs typeface="Courier New" pitchFamily="34" charset="-120"/>
              </a:rPr>
              <a:t>Post</a:t>
            </a:r>
            <a:r>
              <a:rPr lang="en-US" sz="1600" dirty="0">
                <a:solidFill>
                  <a:srgbClr val="FFFFFF"/>
                </a:solidFill>
                <a:latin typeface="Courier New" pitchFamily="34" charset="0"/>
                <a:ea typeface="Courier New" pitchFamily="34" charset="-122"/>
                <a:cs typeface="Courier New" pitchFamily="34" charset="-120"/>
              </a:rPr>
              <a:t>({ params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.findById(params.id);</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(!post) </a:t>
            </a:r>
            <a:r>
              <a:rPr lang="en-US" sz="1600" dirty="0">
                <a:solidFill>
                  <a:srgbClr val="DCDCAA"/>
                </a:solidFill>
                <a:latin typeface="Courier New" pitchFamily="34" charset="0"/>
                <a:ea typeface="Courier New" pitchFamily="34" charset="-122"/>
                <a:cs typeface="Courier New" pitchFamily="34" charset="-120"/>
              </a:rPr>
              <a:t>notFound</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&lt;Article post={post} /&gt;;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Same task — create a post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Form submits to the server, redirects on success.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routes/posts.new.jsx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async function </a:t>
            </a:r>
            <a:r>
              <a:rPr lang="en-US" sz="1600" dirty="0">
                <a:solidFill>
                  <a:srgbClr val="DCDCAA"/>
                </a:solidFill>
                <a:latin typeface="Courier New" pitchFamily="34" charset="0"/>
                <a:ea typeface="Courier New" pitchFamily="34" charset="-122"/>
                <a:cs typeface="Courier New" pitchFamily="34" charset="-120"/>
              </a:rPr>
              <a:t>action</a:t>
            </a:r>
            <a:r>
              <a:rPr lang="en-US" sz="1600" dirty="0">
                <a:solidFill>
                  <a:srgbClr val="FFFFFF"/>
                </a:solidFill>
                <a:latin typeface="Courier New" pitchFamily="34" charset="0"/>
                <a:ea typeface="Courier New" pitchFamily="34" charset="-122"/>
                <a:cs typeface="Courier New" pitchFamily="34" charset="-120"/>
              </a:rPr>
              <a:t>({ request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fd = await request.formData();</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db.posts.create({</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title: fd.get(</a:t>
            </a:r>
            <a:r>
              <a:rPr lang="en-US" sz="1600" dirty="0">
                <a:solidFill>
                  <a:srgbClr val="9CDCFE"/>
                </a:solidFill>
                <a:latin typeface="Courier New" pitchFamily="34" charset="0"/>
                <a:ea typeface="Courier New" pitchFamily="34" charset="-122"/>
                <a:cs typeface="Courier New" pitchFamily="34" charset="-120"/>
              </a:rPr>
              <a:t>'title'</a:t>
            </a:r>
            <a:r>
              <a:rPr lang="en-US" sz="1600" dirty="0">
                <a:solidFill>
                  <a:srgbClr val="C586C0"/>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return </a:t>
            </a:r>
            <a:r>
              <a:rPr lang="en-US" sz="1600" dirty="0">
                <a:solidFill>
                  <a:srgbClr val="DCDCAA"/>
                </a:solidFill>
                <a:latin typeface="Courier New" pitchFamily="34" charset="0"/>
                <a:ea typeface="Courier New" pitchFamily="34" charset="-122"/>
                <a:cs typeface="Courier New" pitchFamily="34" charset="-120"/>
              </a:rPr>
              <a:t>redirect</a:t>
            </a:r>
            <a:r>
              <a:rPr lang="en-US" sz="1600" dirty="0">
                <a:solidFill>
                  <a:srgbClr val="FFFFFF"/>
                </a:solidFill>
                <a:latin typeface="Courier New" pitchFamily="34" charset="0"/>
                <a:ea typeface="Courier New" pitchFamily="34" charset="-122"/>
                <a:cs typeface="Courier New" pitchFamily="34" charset="-120"/>
              </a:rPr>
              <a:t>(`/posts/${post.id}`);</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NewPost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&lt;Form method='post'&gt;...&lt;/Form&gt;;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8404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app/posts/new/page.jsx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async function </a:t>
            </a:r>
            <a:r>
              <a:rPr lang="en-US" sz="1600" dirty="0">
                <a:solidFill>
                  <a:srgbClr val="DCDCAA"/>
                </a:solidFill>
                <a:latin typeface="Courier New" pitchFamily="34" charset="0"/>
                <a:ea typeface="Courier New" pitchFamily="34" charset="-122"/>
                <a:cs typeface="Courier New" pitchFamily="34" charset="-120"/>
              </a:rPr>
              <a:t>createPost</a:t>
            </a:r>
            <a:r>
              <a:rPr lang="en-US" sz="1600" dirty="0">
                <a:solidFill>
                  <a:srgbClr val="FFFFFF"/>
                </a:solidFill>
                <a:latin typeface="Courier New" pitchFamily="34" charset="0"/>
                <a:ea typeface="Courier New" pitchFamily="34" charset="-122"/>
                <a:cs typeface="Courier New" pitchFamily="34" charset="-120"/>
              </a:rPr>
              <a:t>(fd)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r>
              <a:rPr lang="en-US" sz="1600" dirty="0">
                <a:solidFill>
                  <a:srgbClr val="9CDCFE"/>
                </a:solidFill>
                <a:latin typeface="Courier New" pitchFamily="34" charset="0"/>
                <a:ea typeface="Courier New" pitchFamily="34" charset="-122"/>
                <a:cs typeface="Courier New" pitchFamily="34" charset="-120"/>
              </a:rPr>
              <a:t>'use server'</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 = await db.posts.create({</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title: fd.get(</a:t>
            </a:r>
            <a:r>
              <a:rPr lang="en-US" sz="1600" dirty="0">
                <a:solidFill>
                  <a:srgbClr val="9CDCFE"/>
                </a:solidFill>
                <a:latin typeface="Courier New" pitchFamily="34" charset="0"/>
                <a:ea typeface="Courier New" pitchFamily="34" charset="-122"/>
                <a:cs typeface="Courier New" pitchFamily="34" charset="-120"/>
              </a:rPr>
              <a:t>'title'</a:t>
            </a:r>
            <a:r>
              <a:rPr lang="en-US" sz="1600" dirty="0">
                <a:solidFill>
                  <a:srgbClr val="C586C0"/>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a:t>
            </a:r>
            <a:r>
              <a:rPr lang="en-US" sz="1600" dirty="0">
                <a:solidFill>
                  <a:srgbClr val="DCDCAA"/>
                </a:solidFill>
                <a:latin typeface="Courier New" pitchFamily="34" charset="0"/>
                <a:ea typeface="Courier New" pitchFamily="34" charset="-122"/>
                <a:cs typeface="Courier New" pitchFamily="34" charset="-120"/>
              </a:rPr>
              <a:t>redirect</a:t>
            </a:r>
            <a:r>
              <a:rPr lang="en-US" sz="1600" dirty="0">
                <a:solidFill>
                  <a:srgbClr val="FFFFFF"/>
                </a:solidFill>
                <a:latin typeface="Courier New" pitchFamily="34" charset="0"/>
                <a:ea typeface="Courier New" pitchFamily="34" charset="-122"/>
                <a:cs typeface="Courier New" pitchFamily="34" charset="-120"/>
              </a:rPr>
              <a:t>(`/posts/${post.id}`);</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NewPost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&lt;form action={createPost}&gt;...&lt;/form&gt;;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27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Ergonomics scorecard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Same outcomes, different sensibilities.</a:t>
            </a:r>
            <a:endParaRPr lang="en-US" sz="1400" dirty="0"/>
          </a:p>
        </p:txBody>
      </p:sp>
      <p:sp>
        <p:nvSpPr>
          <p:cNvPr id="5" name="Shape 3"/>
          <p:cNvSpPr/>
          <p:nvPr/>
        </p:nvSpPr>
        <p:spPr>
          <a:xfrm>
            <a:off x="777240" y="1691640"/>
            <a:ext cx="10607040" cy="566928"/>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14400" y="173736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File-based routes</a:t>
            </a:r>
            <a:endParaRPr lang="en-US" sz="1150" dirty="0"/>
          </a:p>
        </p:txBody>
      </p:sp>
      <p:sp>
        <p:nvSpPr>
          <p:cNvPr id="7" name="Text 5"/>
          <p:cNvSpPr/>
          <p:nvPr/>
        </p:nvSpPr>
        <p:spPr>
          <a:xfrm>
            <a:off x="4114800" y="173736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Yes (config or convention)</a:t>
            </a:r>
            <a:endParaRPr lang="en-US" sz="1100" dirty="0"/>
          </a:p>
        </p:txBody>
      </p:sp>
      <p:sp>
        <p:nvSpPr>
          <p:cNvPr id="8" name="Text 6"/>
          <p:cNvSpPr/>
          <p:nvPr/>
        </p:nvSpPr>
        <p:spPr>
          <a:xfrm>
            <a:off x="7863840" y="173736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Yes (folder convention)</a:t>
            </a:r>
            <a:endParaRPr lang="en-US" sz="1100" dirty="0"/>
          </a:p>
        </p:txBody>
      </p:sp>
      <p:sp>
        <p:nvSpPr>
          <p:cNvPr id="9" name="Shape 7"/>
          <p:cNvSpPr/>
          <p:nvPr/>
        </p:nvSpPr>
        <p:spPr>
          <a:xfrm>
            <a:off x="777240" y="2331720"/>
            <a:ext cx="10607040" cy="566928"/>
          </a:xfrm>
          <a:prstGeom prst="rect">
            <a:avLst/>
          </a:prstGeom>
          <a:solidFill>
            <a:srgbClr val="F8FAFC"/>
          </a:solidFill>
          <a:ln w="12700">
            <a:solidFill>
              <a:srgbClr val="E2E8F0"/>
            </a:solidFill>
            <a:prstDash val="solid"/>
          </a:ln>
        </p:spPr>
        <p:txBody>
          <a:bodyPr/>
          <a:lstStyle/>
          <a:p>
            <a:endParaRPr lang="en-US"/>
          </a:p>
        </p:txBody>
      </p:sp>
      <p:sp>
        <p:nvSpPr>
          <p:cNvPr id="10" name="Text 8"/>
          <p:cNvSpPr/>
          <p:nvPr/>
        </p:nvSpPr>
        <p:spPr>
          <a:xfrm>
            <a:off x="914400" y="237744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data loading</a:t>
            </a:r>
            <a:endParaRPr lang="en-US" sz="1150" dirty="0"/>
          </a:p>
        </p:txBody>
      </p:sp>
      <p:sp>
        <p:nvSpPr>
          <p:cNvPr id="11" name="Text 9"/>
          <p:cNvSpPr/>
          <p:nvPr/>
        </p:nvSpPr>
        <p:spPr>
          <a:xfrm>
            <a:off x="4114800" y="237744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loader export</a:t>
            </a:r>
            <a:endParaRPr lang="en-US" sz="1100" dirty="0"/>
          </a:p>
        </p:txBody>
      </p:sp>
      <p:sp>
        <p:nvSpPr>
          <p:cNvPr id="12" name="Text 10"/>
          <p:cNvSpPr/>
          <p:nvPr/>
        </p:nvSpPr>
        <p:spPr>
          <a:xfrm>
            <a:off x="7863840" y="237744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async page component</a:t>
            </a:r>
            <a:endParaRPr lang="en-US" sz="1100" dirty="0"/>
          </a:p>
        </p:txBody>
      </p:sp>
      <p:sp>
        <p:nvSpPr>
          <p:cNvPr id="13" name="Shape 11"/>
          <p:cNvSpPr/>
          <p:nvPr/>
        </p:nvSpPr>
        <p:spPr>
          <a:xfrm>
            <a:off x="777240" y="2971800"/>
            <a:ext cx="10607040" cy="566928"/>
          </a:xfrm>
          <a:prstGeom prst="rect">
            <a:avLst/>
          </a:prstGeom>
          <a:solidFill>
            <a:srgbClr val="FFFFFF"/>
          </a:solidFill>
          <a:ln w="12700">
            <a:solidFill>
              <a:srgbClr val="E2E8F0"/>
            </a:solidFill>
            <a:prstDash val="solid"/>
          </a:ln>
        </p:spPr>
        <p:txBody>
          <a:bodyPr/>
          <a:lstStyle/>
          <a:p>
            <a:endParaRPr lang="en-US"/>
          </a:p>
        </p:txBody>
      </p:sp>
      <p:sp>
        <p:nvSpPr>
          <p:cNvPr id="14" name="Text 12"/>
          <p:cNvSpPr/>
          <p:nvPr/>
        </p:nvSpPr>
        <p:spPr>
          <a:xfrm>
            <a:off x="914400" y="301752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mutations</a:t>
            </a:r>
            <a:endParaRPr lang="en-US" sz="1150" dirty="0"/>
          </a:p>
        </p:txBody>
      </p:sp>
      <p:sp>
        <p:nvSpPr>
          <p:cNvPr id="15" name="Text 13"/>
          <p:cNvSpPr/>
          <p:nvPr/>
        </p:nvSpPr>
        <p:spPr>
          <a:xfrm>
            <a:off x="4114800" y="301752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action export + &lt;Form&gt;</a:t>
            </a:r>
            <a:endParaRPr lang="en-US" sz="1100" dirty="0"/>
          </a:p>
        </p:txBody>
      </p:sp>
      <p:sp>
        <p:nvSpPr>
          <p:cNvPr id="16" name="Text 14"/>
          <p:cNvSpPr/>
          <p:nvPr/>
        </p:nvSpPr>
        <p:spPr>
          <a:xfrm>
            <a:off x="7863840" y="301752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'use server' fn + &lt;form action&gt;</a:t>
            </a:r>
            <a:endParaRPr lang="en-US" sz="1100" dirty="0"/>
          </a:p>
        </p:txBody>
      </p:sp>
      <p:sp>
        <p:nvSpPr>
          <p:cNvPr id="17" name="Shape 15"/>
          <p:cNvSpPr/>
          <p:nvPr/>
        </p:nvSpPr>
        <p:spPr>
          <a:xfrm>
            <a:off x="777240" y="3611880"/>
            <a:ext cx="10607040" cy="566928"/>
          </a:xfrm>
          <a:prstGeom prst="rect">
            <a:avLst/>
          </a:prstGeom>
          <a:solidFill>
            <a:srgbClr val="F8FAFC"/>
          </a:solidFill>
          <a:ln w="12700">
            <a:solidFill>
              <a:srgbClr val="E2E8F0"/>
            </a:solidFill>
            <a:prstDash val="solid"/>
          </a:ln>
        </p:spPr>
        <p:txBody>
          <a:bodyPr/>
          <a:lstStyle/>
          <a:p>
            <a:endParaRPr lang="en-US"/>
          </a:p>
        </p:txBody>
      </p:sp>
      <p:sp>
        <p:nvSpPr>
          <p:cNvPr id="18" name="Text 16"/>
          <p:cNvSpPr/>
          <p:nvPr/>
        </p:nvSpPr>
        <p:spPr>
          <a:xfrm>
            <a:off x="914400" y="365760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Route protection</a:t>
            </a:r>
            <a:endParaRPr lang="en-US" sz="1150" dirty="0"/>
          </a:p>
        </p:txBody>
      </p:sp>
      <p:sp>
        <p:nvSpPr>
          <p:cNvPr id="19" name="Text 17"/>
          <p:cNvSpPr/>
          <p:nvPr/>
        </p:nvSpPr>
        <p:spPr>
          <a:xfrm>
            <a:off x="4114800" y="365760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redirect from loader</a:t>
            </a:r>
            <a:endParaRPr lang="en-US" sz="1100" dirty="0"/>
          </a:p>
        </p:txBody>
      </p:sp>
      <p:sp>
        <p:nvSpPr>
          <p:cNvPr id="20" name="Text 18"/>
          <p:cNvSpPr/>
          <p:nvPr/>
        </p:nvSpPr>
        <p:spPr>
          <a:xfrm>
            <a:off x="7863840" y="365760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middleware.js + matcher config</a:t>
            </a:r>
            <a:endParaRPr lang="en-US" sz="1100" dirty="0"/>
          </a:p>
        </p:txBody>
      </p:sp>
      <p:sp>
        <p:nvSpPr>
          <p:cNvPr id="21" name="Shape 19"/>
          <p:cNvSpPr/>
          <p:nvPr/>
        </p:nvSpPr>
        <p:spPr>
          <a:xfrm>
            <a:off x="777240" y="4251960"/>
            <a:ext cx="10607040" cy="566928"/>
          </a:xfrm>
          <a:prstGeom prst="rect">
            <a:avLst/>
          </a:prstGeom>
          <a:solidFill>
            <a:srgbClr val="FFFFFF"/>
          </a:solidFill>
          <a:ln w="12700">
            <a:solidFill>
              <a:srgbClr val="E2E8F0"/>
            </a:solidFill>
            <a:prstDash val="solid"/>
          </a:ln>
        </p:spPr>
        <p:txBody>
          <a:bodyPr/>
          <a:lstStyle/>
          <a:p>
            <a:endParaRPr lang="en-US"/>
          </a:p>
        </p:txBody>
      </p:sp>
      <p:sp>
        <p:nvSpPr>
          <p:cNvPr id="22" name="Text 20"/>
          <p:cNvSpPr/>
          <p:nvPr/>
        </p:nvSpPr>
        <p:spPr>
          <a:xfrm>
            <a:off x="914400" y="429768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Layouts</a:t>
            </a:r>
            <a:endParaRPr lang="en-US" sz="1150" dirty="0"/>
          </a:p>
        </p:txBody>
      </p:sp>
      <p:sp>
        <p:nvSpPr>
          <p:cNvPr id="23" name="Text 21"/>
          <p:cNvSpPr/>
          <p:nvPr/>
        </p:nvSpPr>
        <p:spPr>
          <a:xfrm>
            <a:off x="4114800" y="429768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Outlet + routes config</a:t>
            </a:r>
            <a:endParaRPr lang="en-US" sz="1100" dirty="0"/>
          </a:p>
        </p:txBody>
      </p:sp>
      <p:sp>
        <p:nvSpPr>
          <p:cNvPr id="24" name="Text 22"/>
          <p:cNvSpPr/>
          <p:nvPr/>
        </p:nvSpPr>
        <p:spPr>
          <a:xfrm>
            <a:off x="7863840" y="429768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layout.jsx convention</a:t>
            </a:r>
            <a:endParaRPr lang="en-US" sz="1100" dirty="0"/>
          </a:p>
        </p:txBody>
      </p:sp>
      <p:sp>
        <p:nvSpPr>
          <p:cNvPr id="25" name="Shape 23"/>
          <p:cNvSpPr/>
          <p:nvPr/>
        </p:nvSpPr>
        <p:spPr>
          <a:xfrm>
            <a:off x="777240" y="4892040"/>
            <a:ext cx="10607040" cy="566928"/>
          </a:xfrm>
          <a:prstGeom prst="rect">
            <a:avLst/>
          </a:prstGeom>
          <a:solidFill>
            <a:srgbClr val="F8FAFC"/>
          </a:solidFill>
          <a:ln w="12700">
            <a:solidFill>
              <a:srgbClr val="E2E8F0"/>
            </a:solidFill>
            <a:prstDash val="solid"/>
          </a:ln>
        </p:spPr>
        <p:txBody>
          <a:bodyPr/>
          <a:lstStyle/>
          <a:p>
            <a:endParaRPr lang="en-US"/>
          </a:p>
        </p:txBody>
      </p:sp>
      <p:sp>
        <p:nvSpPr>
          <p:cNvPr id="26" name="Text 24"/>
          <p:cNvSpPr/>
          <p:nvPr/>
        </p:nvSpPr>
        <p:spPr>
          <a:xfrm>
            <a:off x="914400" y="493776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Components</a:t>
            </a:r>
            <a:endParaRPr lang="en-US" sz="1150" dirty="0"/>
          </a:p>
        </p:txBody>
      </p:sp>
      <p:sp>
        <p:nvSpPr>
          <p:cNvPr id="27" name="Text 25"/>
          <p:cNvSpPr/>
          <p:nvPr/>
        </p:nvSpPr>
        <p:spPr>
          <a:xfrm>
            <a:off x="4114800" y="493776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Supported, opt-in</a:t>
            </a:r>
            <a:endParaRPr lang="en-US" sz="1100" dirty="0"/>
          </a:p>
        </p:txBody>
      </p:sp>
      <p:sp>
        <p:nvSpPr>
          <p:cNvPr id="28" name="Text 26"/>
          <p:cNvSpPr/>
          <p:nvPr/>
        </p:nvSpPr>
        <p:spPr>
          <a:xfrm>
            <a:off x="7863840" y="493776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Default, opt-out with 'use client'</a:t>
            </a:r>
            <a:endParaRPr lang="en-US" sz="1100" dirty="0"/>
          </a:p>
        </p:txBody>
      </p:sp>
      <p:sp>
        <p:nvSpPr>
          <p:cNvPr id="29" name="Shape 27"/>
          <p:cNvSpPr/>
          <p:nvPr/>
        </p:nvSpPr>
        <p:spPr>
          <a:xfrm>
            <a:off x="777240" y="5532120"/>
            <a:ext cx="10607040" cy="566928"/>
          </a:xfrm>
          <a:prstGeom prst="rect">
            <a:avLst/>
          </a:prstGeom>
          <a:solidFill>
            <a:srgbClr val="FFFFFF"/>
          </a:solidFill>
          <a:ln w="12700">
            <a:solidFill>
              <a:srgbClr val="E2E8F0"/>
            </a:solidFill>
            <a:prstDash val="solid"/>
          </a:ln>
        </p:spPr>
        <p:txBody>
          <a:bodyPr/>
          <a:lstStyle/>
          <a:p>
            <a:endParaRPr lang="en-US"/>
          </a:p>
        </p:txBody>
      </p:sp>
      <p:sp>
        <p:nvSpPr>
          <p:cNvPr id="30" name="Text 28"/>
          <p:cNvSpPr/>
          <p:nvPr/>
        </p:nvSpPr>
        <p:spPr>
          <a:xfrm>
            <a:off x="914400" y="5577840"/>
            <a:ext cx="3108960" cy="50292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Deploy story</a:t>
            </a:r>
            <a:endParaRPr lang="en-US" sz="1150" dirty="0"/>
          </a:p>
        </p:txBody>
      </p:sp>
      <p:sp>
        <p:nvSpPr>
          <p:cNvPr id="31" name="Text 29"/>
          <p:cNvSpPr/>
          <p:nvPr/>
        </p:nvSpPr>
        <p:spPr>
          <a:xfrm>
            <a:off x="4114800" y="5577840"/>
            <a:ext cx="365760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Any Node host</a:t>
            </a:r>
            <a:endParaRPr lang="en-US" sz="1100" dirty="0"/>
          </a:p>
        </p:txBody>
      </p:sp>
      <p:sp>
        <p:nvSpPr>
          <p:cNvPr id="32" name="Text 30"/>
          <p:cNvSpPr/>
          <p:nvPr/>
        </p:nvSpPr>
        <p:spPr>
          <a:xfrm>
            <a:off x="7863840" y="5577840"/>
            <a:ext cx="338328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Vercel-flavored, runs elsewhere</a:t>
            </a:r>
            <a:endParaRPr lang="en-US" sz="1100" dirty="0"/>
          </a:p>
        </p:txBody>
      </p:sp>
      <p:sp>
        <p:nvSpPr>
          <p:cNvPr id="33" name="Shape 31"/>
          <p:cNvSpPr/>
          <p:nvPr/>
        </p:nvSpPr>
        <p:spPr>
          <a:xfrm>
            <a:off x="777240" y="1325880"/>
            <a:ext cx="10607040" cy="365760"/>
          </a:xfrm>
          <a:prstGeom prst="rect">
            <a:avLst/>
          </a:prstGeom>
          <a:solidFill>
            <a:srgbClr val="1E2A47"/>
          </a:solidFill>
          <a:ln w="12700">
            <a:solidFill>
              <a:srgbClr val="1E2A47"/>
            </a:solidFill>
            <a:prstDash val="solid"/>
          </a:ln>
        </p:spPr>
        <p:txBody>
          <a:bodyPr/>
          <a:lstStyle/>
          <a:p>
            <a:endParaRPr lang="en-US"/>
          </a:p>
        </p:txBody>
      </p:sp>
      <p:sp>
        <p:nvSpPr>
          <p:cNvPr id="34" name="Text 32"/>
          <p:cNvSpPr/>
          <p:nvPr/>
        </p:nvSpPr>
        <p:spPr>
          <a:xfrm>
            <a:off x="914400" y="1325880"/>
            <a:ext cx="3108960" cy="365760"/>
          </a:xfrm>
          <a:prstGeom prst="rect">
            <a:avLst/>
          </a:prstGeom>
          <a:noFill/>
          <a:ln/>
        </p:spPr>
        <p:txBody>
          <a:bodyPr wrap="square" lIns="0" tIns="0" rIns="0" bIns="0" rtlCol="0" anchor="ctr"/>
          <a:lstStyle/>
          <a:p>
            <a:pPr marL="0" indent="0">
              <a:buNone/>
            </a:pPr>
            <a:r>
              <a:rPr lang="en-US" sz="1100" b="1" dirty="0">
                <a:solidFill>
                  <a:srgbClr val="00B8D9"/>
                </a:solidFill>
                <a:latin typeface="Trebuchet MS" pitchFamily="34" charset="0"/>
                <a:ea typeface="Trebuchet MS" pitchFamily="34" charset="-122"/>
                <a:cs typeface="Trebuchet MS" pitchFamily="34" charset="-120"/>
              </a:rPr>
              <a:t>Dimension</a:t>
            </a:r>
            <a:endParaRPr lang="en-US" sz="1100" dirty="0"/>
          </a:p>
        </p:txBody>
      </p:sp>
      <p:sp>
        <p:nvSpPr>
          <p:cNvPr id="35" name="Text 33"/>
          <p:cNvSpPr/>
          <p:nvPr/>
        </p:nvSpPr>
        <p:spPr>
          <a:xfrm>
            <a:off x="4114800" y="1325880"/>
            <a:ext cx="3657600" cy="365760"/>
          </a:xfrm>
          <a:prstGeom prst="rect">
            <a:avLst/>
          </a:prstGeom>
          <a:noFill/>
          <a:ln/>
        </p:spPr>
        <p:txBody>
          <a:bodyPr wrap="square" lIns="0" tIns="0" rIns="0" bIns="0" rtlCol="0" anchor="ctr"/>
          <a:lstStyle/>
          <a:p>
            <a:pPr marL="0" indent="0">
              <a:buNone/>
            </a:pPr>
            <a:r>
              <a:rPr lang="en-US" sz="1100" b="1" dirty="0">
                <a:solidFill>
                  <a:srgbClr val="00B8D9"/>
                </a:solidFill>
                <a:latin typeface="Trebuchet MS" pitchFamily="34" charset="0"/>
                <a:ea typeface="Trebuchet MS" pitchFamily="34" charset="-122"/>
                <a:cs typeface="Trebuchet MS" pitchFamily="34" charset="-120"/>
              </a:rPr>
              <a:t>React Router v7</a:t>
            </a:r>
            <a:endParaRPr lang="en-US" sz="1100" dirty="0"/>
          </a:p>
        </p:txBody>
      </p:sp>
      <p:sp>
        <p:nvSpPr>
          <p:cNvPr id="36" name="Text 34"/>
          <p:cNvSpPr/>
          <p:nvPr/>
        </p:nvSpPr>
        <p:spPr>
          <a:xfrm>
            <a:off x="7863840" y="1325880"/>
            <a:ext cx="3383280" cy="365760"/>
          </a:xfrm>
          <a:prstGeom prst="rect">
            <a:avLst/>
          </a:prstGeom>
          <a:noFill/>
          <a:ln/>
        </p:spPr>
        <p:txBody>
          <a:bodyPr wrap="square" lIns="0" tIns="0" rIns="0" bIns="0" rtlCol="0" anchor="ctr"/>
          <a:lstStyle/>
          <a:p>
            <a:pPr marL="0" indent="0">
              <a:buNone/>
            </a:pPr>
            <a:r>
              <a:rPr lang="en-US" sz="1100" b="1" dirty="0">
                <a:solidFill>
                  <a:srgbClr val="00B8D9"/>
                </a:solidFill>
                <a:latin typeface="Trebuchet MS" pitchFamily="34" charset="0"/>
                <a:ea typeface="Trebuchet MS" pitchFamily="34" charset="-122"/>
                <a:cs typeface="Trebuchet MS" pitchFamily="34" charset="-120"/>
              </a:rPr>
              <a:t>Next.js App Router</a:t>
            </a:r>
            <a:endParaRPr lang="en-US" sz="1100" dirty="0"/>
          </a:p>
        </p:txBody>
      </p:sp>
      <p:sp>
        <p:nvSpPr>
          <p:cNvPr id="37" name="Text 3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38" name="Text 3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to pick which</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Decision factors that actually matter in practice.</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Reach for RR v7 when…</a:t>
            </a:r>
            <a:endParaRPr lang="en-US" sz="1600" dirty="0"/>
          </a:p>
        </p:txBody>
      </p:sp>
      <p:sp>
        <p:nvSpPr>
          <p:cNvPr id="7" name="Text 5"/>
          <p:cNvSpPr/>
          <p:nvPr/>
        </p:nvSpPr>
        <p:spPr>
          <a:xfrm>
            <a:off x="960120" y="2468880"/>
            <a:ext cx="5029200" cy="3383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You're allergic to Vercel-flavored conventions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 deploy to AWS / GCP / your own Node hosts and want a clean self-hosted story</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 want minimal magic — explicit loaders and actions feel right</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You're already on React Router v6 and the migration is small</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 want the bridge: library mode for some areas, framework for others</a:t>
            </a:r>
            <a:endParaRPr lang="en-US" sz="1600" dirty="0"/>
          </a:p>
        </p:txBody>
      </p:sp>
      <p:sp>
        <p:nvSpPr>
          <p:cNvPr id="8" name="Shape 6"/>
          <p:cNvSpPr/>
          <p:nvPr/>
        </p:nvSpPr>
        <p:spPr>
          <a:xfrm>
            <a:off x="6355080" y="1691640"/>
            <a:ext cx="5029200" cy="429768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6537960" y="1874520"/>
            <a:ext cx="475488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Reach for Next.js when…</a:t>
            </a:r>
            <a:endParaRPr lang="en-US" sz="1600" dirty="0"/>
          </a:p>
        </p:txBody>
      </p:sp>
      <p:sp>
        <p:nvSpPr>
          <p:cNvPr id="10" name="Text 8"/>
          <p:cNvSpPr/>
          <p:nvPr/>
        </p:nvSpPr>
        <p:spPr>
          <a:xfrm>
            <a:off x="6537960" y="2468880"/>
            <a:ext cx="4754880" cy="3383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 want the largest ecosystem — most examples, most plugins, most StackOverflow answers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Edge runtime, ISR, partial prerendering matter</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You're hiring — Next.js is a more common skill on resumes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You're already on Vercel and want zero-config deploys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Your app needs heavy SEO and you want streaming + RSC by default</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Briefly: TanStack Router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Worth knowing about. Not what we'll teach.</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9728" cy="4206240"/>
          </a:xfrm>
          <a:prstGeom prst="rect">
            <a:avLst/>
          </a:prstGeom>
          <a:solidFill>
            <a:srgbClr val="00B8D9"/>
          </a:solidFill>
          <a:ln w="12700">
            <a:solidFill>
              <a:srgbClr val="00B8D9"/>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51560" y="1920240"/>
            <a:ext cx="640080" cy="640080"/>
          </a:xfrm>
          <a:prstGeom prst="rect">
            <a:avLst/>
          </a:prstGeom>
        </p:spPr>
      </p:pic>
      <p:sp>
        <p:nvSpPr>
          <p:cNvPr id="8" name="Text 5"/>
          <p:cNvSpPr/>
          <p:nvPr/>
        </p:nvSpPr>
        <p:spPr>
          <a:xfrm>
            <a:off x="1828800" y="1874520"/>
            <a:ext cx="950976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TanStack Router</a:t>
            </a:r>
            <a:endParaRPr lang="en-US" sz="2200" dirty="0"/>
          </a:p>
        </p:txBody>
      </p:sp>
      <p:sp>
        <p:nvSpPr>
          <p:cNvPr id="9" name="Text 6"/>
          <p:cNvSpPr/>
          <p:nvPr/>
        </p:nvSpPr>
        <p:spPr>
          <a:xfrm>
            <a:off x="1051560" y="2743200"/>
            <a:ext cx="10058400" cy="3017520"/>
          </a:xfrm>
          <a:prstGeom prst="rect">
            <a:avLst/>
          </a:prstGeom>
          <a:noFill/>
          <a:ln/>
        </p:spPr>
        <p:txBody>
          <a:bodyPr wrap="square" lIns="0" tIns="0" rIns="0" bIns="0" rtlCol="0" anchor="t"/>
          <a:lstStyle/>
          <a:p>
            <a:pPr marL="0" indent="0">
              <a:spcAft>
                <a:spcPts val="400"/>
              </a:spcAft>
              <a:buNone/>
            </a:pPr>
            <a:r>
              <a:rPr lang="en-US" sz="1600" b="1" dirty="0">
                <a:solidFill>
                  <a:srgbClr val="0F172A"/>
                </a:solidFill>
                <a:latin typeface="Arial" pitchFamily="34" charset="0"/>
                <a:ea typeface="Arial" pitchFamily="34" charset="-122"/>
                <a:cs typeface="Arial" pitchFamily="34" charset="-120"/>
              </a:rPr>
              <a:t>Type-safe by default</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URL params, search params, and loader data are all typed end-to-end. The compile catches typo'd route names.</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 </a:t>
            </a:r>
            <a:endParaRPr lang="en-US" sz="1600" dirty="0"/>
          </a:p>
          <a:p>
            <a:pPr marL="0" indent="0">
              <a:spcAft>
                <a:spcPts val="400"/>
              </a:spcAft>
              <a:buNone/>
            </a:pPr>
            <a:r>
              <a:rPr lang="en-US" sz="1600" b="1" dirty="0">
                <a:solidFill>
                  <a:srgbClr val="0F172A"/>
                </a:solidFill>
                <a:latin typeface="Arial" pitchFamily="34" charset="0"/>
                <a:ea typeface="Arial" pitchFamily="34" charset="-122"/>
                <a:cs typeface="Arial" pitchFamily="34" charset="-120"/>
              </a:rPr>
              <a:t>File-based or code-based — your call</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Works as a SPA, an SSR app via TanStack Start, or as a sub-router inside another framework.</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 </a:t>
            </a:r>
            <a:endParaRPr lang="en-US" sz="1600" dirty="0"/>
          </a:p>
          <a:p>
            <a:pPr marL="0" indent="0">
              <a:spcAft>
                <a:spcPts val="400"/>
              </a:spcAft>
              <a:buNone/>
            </a:pPr>
            <a:r>
              <a:rPr lang="en-US" sz="1600" b="1" dirty="0">
                <a:solidFill>
                  <a:srgbClr val="0F172A"/>
                </a:solidFill>
                <a:latin typeface="Arial" pitchFamily="34" charset="0"/>
                <a:ea typeface="Arial" pitchFamily="34" charset="-122"/>
                <a:cs typeface="Arial" pitchFamily="34" charset="-120"/>
              </a:rPr>
              <a:t>Why we don't teach it (yet)</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Smaller ecosystem, less Server Components support, your team probably hasn't used it. Worth keeping an eye on.</a:t>
            </a:r>
            <a:endParaRPr lang="en-US" sz="160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2</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Implement the same auth flow in both frameworks.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 2: Routing + Auth in Two Frameworks</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105 minutes  ·  Hands-on  ·  Two reference solutions (RR v7 + Next.js)</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Implement /login, /signup, /logout, and a protected /home route in React Router v7 framework mode</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Port the same feature to Next.js App Router with middleware-based auth</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Both clients hit the same Express backend you've used in earlier labs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Write a one-paragraph reflection comparing the two</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Stretch: add a protected nested route with a streaming layout</a:t>
            </a:r>
            <a:endParaRPr lang="en-US" sz="160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3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56232"/>
            <a:ext cx="384048" cy="384048"/>
          </a:xfrm>
          <a:prstGeom prst="rect">
            <a:avLst/>
          </a:prstGeom>
        </p:spPr>
      </p:pic>
      <p:sp>
        <p:nvSpPr>
          <p:cNvPr id="7" name="Text 4"/>
          <p:cNvSpPr/>
          <p:nvPr/>
        </p:nvSpPr>
        <p:spPr>
          <a:xfrm>
            <a:off x="1554480" y="178308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React Router v7 is RR + Remix merged. Library mode = old RR. Framework mode = Remix-style.</a:t>
            </a:r>
            <a:endParaRPr lang="en-US" sz="1250" dirty="0"/>
          </a:p>
        </p:txBody>
      </p:sp>
      <p:sp>
        <p:nvSpPr>
          <p:cNvPr id="8" name="Shape 5"/>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724912"/>
            <a:ext cx="384048" cy="384048"/>
          </a:xfrm>
          <a:prstGeom prst="rect">
            <a:avLst/>
          </a:prstGeom>
        </p:spPr>
      </p:pic>
      <p:sp>
        <p:nvSpPr>
          <p:cNvPr id="10" name="Text 6"/>
          <p:cNvSpPr/>
          <p:nvPr/>
        </p:nvSpPr>
        <p:spPr>
          <a:xfrm>
            <a:off x="1554480" y="265176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Loaders fetch on the server. Actions mutate on the server. Both are per-route exports.</a:t>
            </a:r>
            <a:endParaRPr lang="en-US" sz="1250" dirty="0"/>
          </a:p>
        </p:txBody>
      </p:sp>
      <p:sp>
        <p:nvSpPr>
          <p:cNvPr id="11" name="Shape 7"/>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593592"/>
            <a:ext cx="384048" cy="384048"/>
          </a:xfrm>
          <a:prstGeom prst="rect">
            <a:avLst/>
          </a:prstGeom>
        </p:spPr>
      </p:pic>
      <p:sp>
        <p:nvSpPr>
          <p:cNvPr id="13" name="Text 8"/>
          <p:cNvSpPr/>
          <p:nvPr/>
        </p:nvSpPr>
        <p:spPr>
          <a:xfrm>
            <a:off x="1554480" y="352044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Next.js page.jsx is a Server Component. The function can be async; useState and useEffect aren't allowed.</a:t>
            </a:r>
            <a:endParaRPr lang="en-US" sz="1250" dirty="0"/>
          </a:p>
        </p:txBody>
      </p:sp>
      <p:sp>
        <p:nvSpPr>
          <p:cNvPr id="14" name="Shape 9"/>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4462272"/>
            <a:ext cx="384048" cy="384048"/>
          </a:xfrm>
          <a:prstGeom prst="rect">
            <a:avLst/>
          </a:prstGeom>
        </p:spPr>
      </p:pic>
      <p:sp>
        <p:nvSpPr>
          <p:cNvPr id="16" name="Text 10"/>
          <p:cNvSpPr/>
          <p:nvPr/>
        </p:nvSpPr>
        <p:spPr>
          <a:xfrm>
            <a:off x="1554480" y="438912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RR protects routes via loader redirects. Next.js protects routes via middleware.</a:t>
            </a:r>
            <a:endParaRPr lang="en-US" sz="1250" dirty="0"/>
          </a:p>
        </p:txBody>
      </p:sp>
      <p:sp>
        <p:nvSpPr>
          <p:cNvPr id="17" name="Shape 11"/>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5330952"/>
            <a:ext cx="384048" cy="384048"/>
          </a:xfrm>
          <a:prstGeom prst="rect">
            <a:avLst/>
          </a:prstGeom>
        </p:spPr>
      </p:pic>
      <p:sp>
        <p:nvSpPr>
          <p:cNvPr id="19" name="Text 12"/>
          <p:cNvSpPr/>
          <p:nvPr/>
        </p:nvSpPr>
        <p:spPr>
          <a:xfrm>
            <a:off x="1554480" y="525780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The shape of both frameworks is similar — the conventions and deploy story differ.</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End of Day 1 lecture content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Lab 2 fills the rest of the afternoon. Day 2 starts with state management.</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192024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Day 1 covered:</a:t>
            </a:r>
            <a:endParaRPr lang="en-US" sz="1400" dirty="0"/>
          </a:p>
        </p:txBody>
      </p:sp>
      <p:sp>
        <p:nvSpPr>
          <p:cNvPr id="7" name="Text 5"/>
          <p:cNvSpPr/>
          <p:nvPr/>
        </p:nvSpPr>
        <p:spPr>
          <a:xfrm>
            <a:off x="1097280" y="233172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The 2026 React landscape — what's new in 19, the Compiler, framework picks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Hooks that matter — the rules, the foundational hooks, the four new ones, specialty hooks</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Routing — RR v7 framework mode and Next.js App Router, side by side</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Lab 1: modernized a class-component chat app and reviewed the AI's work</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Lab 2: implemented the same routing in both frameworks (in progress)</a:t>
            </a:r>
            <a:endParaRPr lang="en-US" dirty="0"/>
          </a:p>
        </p:txBody>
      </p:sp>
      <p:sp>
        <p:nvSpPr>
          <p:cNvPr id="8" name="Text 6"/>
          <p:cNvSpPr/>
          <p:nvPr/>
        </p:nvSpPr>
        <p:spPr>
          <a:xfrm>
            <a:off x="1097280" y="5120640"/>
            <a:ext cx="10058400" cy="45720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Tomorrow: data and state, server components, the boundary mistakes AI tools make.</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4</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State Management Without Dogma</a:t>
            </a:r>
            <a:endParaRPr lang="en-US" sz="44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Pick the right tool for the job. "Global state for everything" is no longer the default.</a:t>
            </a:r>
            <a:endParaRPr lang="en-US" sz="1800" dirty="0"/>
          </a:p>
        </p:txBody>
      </p:sp>
      <p:sp>
        <p:nvSpPr>
          <p:cNvPr id="6" name="Text 4"/>
          <p:cNvSpPr/>
          <p:nvPr/>
        </p:nvSpPr>
        <p:spPr>
          <a:xfrm>
            <a:off x="640080" y="498348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60 minutes  ·  Lecture + demos  ·  Lab 3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Too many state-management options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Six things called 'state management', solving five different problems.</a:t>
            </a:r>
            <a:endParaRPr lang="en-US" sz="1400" dirty="0"/>
          </a:p>
        </p:txBody>
      </p:sp>
      <p:sp>
        <p:nvSpPr>
          <p:cNvPr id="5" name="Shape 3"/>
          <p:cNvSpPr/>
          <p:nvPr/>
        </p:nvSpPr>
        <p:spPr>
          <a:xfrm>
            <a:off x="777240" y="1691640"/>
            <a:ext cx="5212080" cy="123444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9728" cy="1234440"/>
          </a:xfrm>
          <a:prstGeom prst="rect">
            <a:avLst/>
          </a:prstGeom>
          <a:solidFill>
            <a:srgbClr val="059669"/>
          </a:solidFill>
          <a:ln w="12700">
            <a:solidFill>
              <a:srgbClr val="059669"/>
            </a:solidFill>
            <a:prstDash val="solid"/>
          </a:ln>
        </p:spPr>
        <p:txBody>
          <a:bodyPr/>
          <a:lstStyle/>
          <a:p>
            <a:endParaRPr lang="en-US"/>
          </a:p>
        </p:txBody>
      </p:sp>
      <p:sp>
        <p:nvSpPr>
          <p:cNvPr id="7" name="Text 5"/>
          <p:cNvSpPr/>
          <p:nvPr/>
        </p:nvSpPr>
        <p:spPr>
          <a:xfrm>
            <a:off x="1051560" y="187452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useState / useReducer</a:t>
            </a:r>
            <a:endParaRPr lang="en-US" sz="1400" dirty="0"/>
          </a:p>
        </p:txBody>
      </p:sp>
      <p:sp>
        <p:nvSpPr>
          <p:cNvPr id="8" name="Text 6"/>
          <p:cNvSpPr/>
          <p:nvPr/>
        </p:nvSpPr>
        <p:spPr>
          <a:xfrm>
            <a:off x="1051560" y="233172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Local component state. Built in. Often the right answer.</a:t>
            </a:r>
            <a:endParaRPr lang="en-US" sz="1150" dirty="0"/>
          </a:p>
        </p:txBody>
      </p:sp>
      <p:sp>
        <p:nvSpPr>
          <p:cNvPr id="9" name="Shape 7"/>
          <p:cNvSpPr/>
          <p:nvPr/>
        </p:nvSpPr>
        <p:spPr>
          <a:xfrm>
            <a:off x="6126480" y="1691640"/>
            <a:ext cx="5212080" cy="123444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6126480" y="1691640"/>
            <a:ext cx="109728" cy="1234440"/>
          </a:xfrm>
          <a:prstGeom prst="rect">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6400800" y="187452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Context API</a:t>
            </a:r>
            <a:endParaRPr lang="en-US" sz="1400" dirty="0"/>
          </a:p>
        </p:txBody>
      </p:sp>
      <p:sp>
        <p:nvSpPr>
          <p:cNvPr id="12" name="Text 10"/>
          <p:cNvSpPr/>
          <p:nvPr/>
        </p:nvSpPr>
        <p:spPr>
          <a:xfrm>
            <a:off x="6400800" y="233172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Pass things through the tree without props. Not a store.</a:t>
            </a:r>
            <a:endParaRPr lang="en-US" sz="1150" dirty="0"/>
          </a:p>
        </p:txBody>
      </p:sp>
      <p:sp>
        <p:nvSpPr>
          <p:cNvPr id="13" name="Shape 11"/>
          <p:cNvSpPr/>
          <p:nvPr/>
        </p:nvSpPr>
        <p:spPr>
          <a:xfrm>
            <a:off x="777240" y="3108960"/>
            <a:ext cx="5212080" cy="123444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777240" y="3108960"/>
            <a:ext cx="109728" cy="1234440"/>
          </a:xfrm>
          <a:prstGeom prst="rect">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1051560" y="329184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Zustand</a:t>
            </a:r>
            <a:endParaRPr lang="en-US" sz="1400" dirty="0"/>
          </a:p>
        </p:txBody>
      </p:sp>
      <p:sp>
        <p:nvSpPr>
          <p:cNvPr id="16" name="Text 14"/>
          <p:cNvSpPr/>
          <p:nvPr/>
        </p:nvSpPr>
        <p:spPr>
          <a:xfrm>
            <a:off x="1051560" y="374904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minimal client store. ~1KB. Hooks-shaped API.</a:t>
            </a:r>
            <a:endParaRPr lang="en-US" sz="1150" dirty="0"/>
          </a:p>
        </p:txBody>
      </p:sp>
      <p:sp>
        <p:nvSpPr>
          <p:cNvPr id="17" name="Shape 15"/>
          <p:cNvSpPr/>
          <p:nvPr/>
        </p:nvSpPr>
        <p:spPr>
          <a:xfrm>
            <a:off x="6126480" y="3108960"/>
            <a:ext cx="5212080" cy="123444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6126480" y="3108960"/>
            <a:ext cx="109728" cy="1234440"/>
          </a:xfrm>
          <a:prstGeom prst="rect">
            <a:avLst/>
          </a:prstGeom>
          <a:solidFill>
            <a:srgbClr val="00B8D9"/>
          </a:solidFill>
          <a:ln w="12700">
            <a:solidFill>
              <a:srgbClr val="00B8D9"/>
            </a:solidFill>
            <a:prstDash val="solid"/>
          </a:ln>
        </p:spPr>
        <p:txBody>
          <a:bodyPr/>
          <a:lstStyle/>
          <a:p>
            <a:endParaRPr lang="en-US"/>
          </a:p>
        </p:txBody>
      </p:sp>
      <p:sp>
        <p:nvSpPr>
          <p:cNvPr id="19" name="Text 17"/>
          <p:cNvSpPr/>
          <p:nvPr/>
        </p:nvSpPr>
        <p:spPr>
          <a:xfrm>
            <a:off x="6400800" y="329184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Jotai</a:t>
            </a:r>
            <a:endParaRPr lang="en-US" sz="1400" dirty="0"/>
          </a:p>
        </p:txBody>
      </p:sp>
      <p:sp>
        <p:nvSpPr>
          <p:cNvPr id="20" name="Text 18"/>
          <p:cNvSpPr/>
          <p:nvPr/>
        </p:nvSpPr>
        <p:spPr>
          <a:xfrm>
            <a:off x="6400800" y="374904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Atomic state. Fine-grained subscriptions. Recoil's spiritual successor.</a:t>
            </a:r>
            <a:endParaRPr lang="en-US" sz="1150" dirty="0"/>
          </a:p>
        </p:txBody>
      </p:sp>
      <p:sp>
        <p:nvSpPr>
          <p:cNvPr id="21" name="Shape 19"/>
          <p:cNvSpPr/>
          <p:nvPr/>
        </p:nvSpPr>
        <p:spPr>
          <a:xfrm>
            <a:off x="777240" y="4526280"/>
            <a:ext cx="5212080" cy="1234440"/>
          </a:xfrm>
          <a:prstGeom prst="rect">
            <a:avLst/>
          </a:prstGeom>
          <a:solidFill>
            <a:srgbClr val="FFFFFF"/>
          </a:solidFill>
          <a:ln w="12700">
            <a:solidFill>
              <a:srgbClr val="E2E8F0"/>
            </a:solidFill>
            <a:prstDash val="solid"/>
          </a:ln>
        </p:spPr>
        <p:txBody>
          <a:bodyPr/>
          <a:lstStyle/>
          <a:p>
            <a:endParaRPr lang="en-US"/>
          </a:p>
        </p:txBody>
      </p:sp>
      <p:sp>
        <p:nvSpPr>
          <p:cNvPr id="22" name="Shape 20"/>
          <p:cNvSpPr/>
          <p:nvPr/>
        </p:nvSpPr>
        <p:spPr>
          <a:xfrm>
            <a:off x="777240" y="4526280"/>
            <a:ext cx="109728" cy="1234440"/>
          </a:xfrm>
          <a:prstGeom prst="rect">
            <a:avLst/>
          </a:prstGeom>
          <a:solidFill>
            <a:srgbClr val="00B8D9"/>
          </a:solidFill>
          <a:ln w="12700">
            <a:solidFill>
              <a:srgbClr val="00B8D9"/>
            </a:solidFill>
            <a:prstDash val="solid"/>
          </a:ln>
        </p:spPr>
        <p:txBody>
          <a:bodyPr/>
          <a:lstStyle/>
          <a:p>
            <a:endParaRPr lang="en-US"/>
          </a:p>
        </p:txBody>
      </p:sp>
      <p:sp>
        <p:nvSpPr>
          <p:cNvPr id="23" name="Text 21"/>
          <p:cNvSpPr/>
          <p:nvPr/>
        </p:nvSpPr>
        <p:spPr>
          <a:xfrm>
            <a:off x="1051560" y="470916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Redux Toolkit + RTK Query</a:t>
            </a:r>
            <a:endParaRPr lang="en-US" sz="1400" dirty="0"/>
          </a:p>
        </p:txBody>
      </p:sp>
      <p:sp>
        <p:nvSpPr>
          <p:cNvPr id="24" name="Text 22"/>
          <p:cNvSpPr/>
          <p:nvPr/>
        </p:nvSpPr>
        <p:spPr>
          <a:xfrm>
            <a:off x="1051560" y="516636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full-featured option. Verbose but complete.</a:t>
            </a:r>
            <a:endParaRPr lang="en-US" sz="1150" dirty="0"/>
          </a:p>
        </p:txBody>
      </p:sp>
      <p:sp>
        <p:nvSpPr>
          <p:cNvPr id="25" name="Shape 23"/>
          <p:cNvSpPr/>
          <p:nvPr/>
        </p:nvSpPr>
        <p:spPr>
          <a:xfrm>
            <a:off x="6126480" y="4526280"/>
            <a:ext cx="5212080" cy="1234440"/>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6126480" y="4526280"/>
            <a:ext cx="109728" cy="1234440"/>
          </a:xfrm>
          <a:prstGeom prst="rect">
            <a:avLst/>
          </a:prstGeom>
          <a:solidFill>
            <a:srgbClr val="059669"/>
          </a:solidFill>
          <a:ln w="12700">
            <a:solidFill>
              <a:srgbClr val="059669"/>
            </a:solidFill>
            <a:prstDash val="solid"/>
          </a:ln>
        </p:spPr>
        <p:txBody>
          <a:bodyPr/>
          <a:lstStyle/>
          <a:p>
            <a:endParaRPr lang="en-US"/>
          </a:p>
        </p:txBody>
      </p:sp>
      <p:sp>
        <p:nvSpPr>
          <p:cNvPr id="27" name="Text 25"/>
          <p:cNvSpPr/>
          <p:nvPr/>
        </p:nvSpPr>
        <p:spPr>
          <a:xfrm>
            <a:off x="6400800" y="4709160"/>
            <a:ext cx="484632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TanStack Query</a:t>
            </a:r>
            <a:endParaRPr lang="en-US" sz="1400" dirty="0"/>
          </a:p>
        </p:txBody>
      </p:sp>
      <p:sp>
        <p:nvSpPr>
          <p:cNvPr id="28" name="Text 26"/>
          <p:cNvSpPr/>
          <p:nvPr/>
        </p:nvSpPr>
        <p:spPr>
          <a:xfrm>
            <a:off x="6400800" y="5166360"/>
            <a:ext cx="4846320" cy="54864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state, masquerading as state management. Often eats half your store.</a:t>
            </a:r>
            <a:endParaRPr lang="en-US" sz="1150" dirty="0"/>
          </a:p>
        </p:txBody>
      </p:sp>
      <p:sp>
        <p:nvSpPr>
          <p:cNvPr id="29" name="Text 2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30" name="Text 2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28</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Decision Framework</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Where does this state live? Most of the rest follows from there.</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Start with one question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Where does this state actually live?</a:t>
            </a:r>
            <a:endParaRPr lang="en-US" sz="1400" dirty="0"/>
          </a:p>
        </p:txBody>
      </p:sp>
      <p:sp>
        <p:nvSpPr>
          <p:cNvPr id="5" name="Shape 3"/>
          <p:cNvSpPr/>
          <p:nvPr/>
        </p:nvSpPr>
        <p:spPr>
          <a:xfrm>
            <a:off x="777240" y="1691640"/>
            <a:ext cx="10607040" cy="4572000"/>
          </a:xfrm>
          <a:prstGeom prst="rect">
            <a:avLst/>
          </a:prstGeom>
          <a:solidFill>
            <a:srgbClr val="CBF1F6"/>
          </a:solidFill>
          <a:ln w="12700">
            <a:solidFill>
              <a:srgbClr val="CBF1F6"/>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2011680"/>
            <a:ext cx="822960" cy="822960"/>
          </a:xfrm>
          <a:prstGeom prst="rect">
            <a:avLst/>
          </a:prstGeom>
        </p:spPr>
      </p:pic>
      <p:sp>
        <p:nvSpPr>
          <p:cNvPr id="7" name="Text 4"/>
          <p:cNvSpPr/>
          <p:nvPr/>
        </p:nvSpPr>
        <p:spPr>
          <a:xfrm>
            <a:off x="2194560" y="2011680"/>
            <a:ext cx="9144000" cy="82296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Where does this state live?</a:t>
            </a:r>
            <a:endParaRPr lang="en-US" sz="2800" dirty="0"/>
          </a:p>
        </p:txBody>
      </p:sp>
      <p:sp>
        <p:nvSpPr>
          <p:cNvPr id="8" name="Text 5"/>
          <p:cNvSpPr/>
          <p:nvPr/>
        </p:nvSpPr>
        <p:spPr>
          <a:xfrm>
            <a:off x="1097280" y="3200400"/>
            <a:ext cx="10058400" cy="41148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If it lives on the server,</a:t>
            </a:r>
            <a:endParaRPr lang="en-US" sz="1600" dirty="0"/>
          </a:p>
        </p:txBody>
      </p:sp>
      <p:sp>
        <p:nvSpPr>
          <p:cNvPr id="9" name="Text 6"/>
          <p:cNvSpPr/>
          <p:nvPr/>
        </p:nvSpPr>
        <p:spPr>
          <a:xfrm>
            <a:off x="1097280" y="3611880"/>
            <a:ext cx="10058400" cy="640080"/>
          </a:xfrm>
          <a:prstGeom prst="rect">
            <a:avLst/>
          </a:prstGeom>
          <a:noFill/>
          <a:ln/>
        </p:spPr>
        <p:txBody>
          <a:bodyPr wrap="square" lIns="0" tIns="0" rIns="0" bIns="0" rtlCol="0" anchor="t"/>
          <a:lstStyle/>
          <a:p>
            <a:pPr marL="0" indent="0">
              <a:buNone/>
            </a:pPr>
            <a:r>
              <a:rPr lang="en-US" sz="1300" dirty="0">
                <a:solidFill>
                  <a:srgbClr val="475569"/>
                </a:solidFill>
                <a:latin typeface="Arial" pitchFamily="34" charset="0"/>
                <a:ea typeface="Arial" pitchFamily="34" charset="-122"/>
                <a:cs typeface="Arial" pitchFamily="34" charset="-120"/>
              </a:rPr>
              <a:t>…you have server state. Use TanStack Query, SWR, RTK Query, or Server Components. Don't put server data in a client store unless you've thought hard about it.</a:t>
            </a:r>
            <a:endParaRPr lang="en-US" sz="1300" dirty="0"/>
          </a:p>
        </p:txBody>
      </p:sp>
      <p:sp>
        <p:nvSpPr>
          <p:cNvPr id="10" name="Text 7"/>
          <p:cNvSpPr/>
          <p:nvPr/>
        </p:nvSpPr>
        <p:spPr>
          <a:xfrm>
            <a:off x="1097280" y="4434840"/>
            <a:ext cx="10058400" cy="411480"/>
          </a:xfrm>
          <a:prstGeom prst="rect">
            <a:avLst/>
          </a:prstGeom>
          <a:noFill/>
          <a:ln/>
        </p:spPr>
        <p:txBody>
          <a:bodyPr wrap="square" lIns="0" tIns="0" rIns="0" bIns="0" rtlCol="0" anchor="ctr"/>
          <a:lstStyle/>
          <a:p>
            <a:pPr marL="0" indent="0">
              <a:buNone/>
            </a:pPr>
            <a:r>
              <a:rPr lang="en-US" sz="1600" b="1" dirty="0">
                <a:solidFill>
                  <a:srgbClr val="0F172A"/>
                </a:solidFill>
                <a:latin typeface="Trebuchet MS" pitchFamily="34" charset="0"/>
                <a:ea typeface="Trebuchet MS" pitchFamily="34" charset="-122"/>
                <a:cs typeface="Trebuchet MS" pitchFamily="34" charset="-120"/>
              </a:rPr>
              <a:t>If it lives in the client,</a:t>
            </a:r>
            <a:endParaRPr lang="en-US" sz="1600" dirty="0"/>
          </a:p>
        </p:txBody>
      </p:sp>
      <p:sp>
        <p:nvSpPr>
          <p:cNvPr id="11" name="Text 8"/>
          <p:cNvSpPr/>
          <p:nvPr/>
        </p:nvSpPr>
        <p:spPr>
          <a:xfrm>
            <a:off x="1097280" y="4846320"/>
            <a:ext cx="10058400" cy="640080"/>
          </a:xfrm>
          <a:prstGeom prst="rect">
            <a:avLst/>
          </a:prstGeom>
          <a:noFill/>
          <a:ln/>
        </p:spPr>
        <p:txBody>
          <a:bodyPr wrap="square" lIns="0" tIns="0" rIns="0" bIns="0" rtlCol="0" anchor="t"/>
          <a:lstStyle/>
          <a:p>
            <a:pPr marL="0" indent="0">
              <a:buNone/>
            </a:pPr>
            <a:r>
              <a:rPr lang="en-US" sz="1300" dirty="0">
                <a:solidFill>
                  <a:srgbClr val="475569"/>
                </a:solidFill>
                <a:latin typeface="Arial" pitchFamily="34" charset="0"/>
                <a:ea typeface="Arial" pitchFamily="34" charset="-122"/>
                <a:cs typeface="Arial" pitchFamily="34" charset="-120"/>
              </a:rPr>
              <a:t>…you have client state. The next question becomes: how many components share it?</a:t>
            </a:r>
            <a:endParaRPr lang="en-US" sz="13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28</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decision tree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Five questions, six answers. Most state lands in the first two boxes.</a:t>
            </a:r>
            <a:endParaRPr lang="en-US" sz="1400" dirty="0"/>
          </a:p>
        </p:txBody>
      </p:sp>
      <p:sp>
        <p:nvSpPr>
          <p:cNvPr id="5" name="Shape 3"/>
          <p:cNvSpPr/>
          <p:nvPr/>
        </p:nvSpPr>
        <p:spPr>
          <a:xfrm>
            <a:off x="4251960" y="1463040"/>
            <a:ext cx="3657600" cy="6400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4251960" y="1463040"/>
            <a:ext cx="3657600" cy="640080"/>
          </a:xfrm>
          <a:prstGeom prst="rect">
            <a:avLst/>
          </a:prstGeom>
          <a:noFill/>
          <a:ln/>
        </p:spPr>
        <p:txBody>
          <a:bodyPr wrap="square" lIns="0" tIns="0" rIns="0" bIns="0" rtlCol="0" anchor="ctr"/>
          <a:lstStyle/>
          <a:p>
            <a:pPr marL="0" indent="0" algn="ctr">
              <a:buNone/>
            </a:pPr>
            <a:r>
              <a:rPr lang="en-US" sz="1300" b="1" dirty="0">
                <a:solidFill>
                  <a:srgbClr val="00B8D9"/>
                </a:solidFill>
                <a:latin typeface="Trebuchet MS" pitchFamily="34" charset="0"/>
                <a:ea typeface="Trebuchet MS" pitchFamily="34" charset="-122"/>
                <a:cs typeface="Trebuchet MS" pitchFamily="34" charset="-120"/>
              </a:rPr>
              <a:t>Where does the source of truth live?</a:t>
            </a:r>
            <a:endParaRPr lang="en-US" sz="1300" dirty="0"/>
          </a:p>
        </p:txBody>
      </p:sp>
      <p:sp>
        <p:nvSpPr>
          <p:cNvPr id="7" name="Shape 5"/>
          <p:cNvSpPr/>
          <p:nvPr/>
        </p:nvSpPr>
        <p:spPr>
          <a:xfrm>
            <a:off x="1371600" y="2606040"/>
            <a:ext cx="3200400" cy="548640"/>
          </a:xfrm>
          <a:prstGeom prst="rect">
            <a:avLst/>
          </a:prstGeom>
          <a:solidFill>
            <a:srgbClr val="FFFFFF"/>
          </a:solidFill>
          <a:ln w="12700">
            <a:solidFill>
              <a:srgbClr val="E2E8F0"/>
            </a:solidFill>
            <a:prstDash val="solid"/>
          </a:ln>
        </p:spPr>
        <p:txBody>
          <a:bodyPr/>
          <a:lstStyle/>
          <a:p>
            <a:endParaRPr lang="en-US"/>
          </a:p>
        </p:txBody>
      </p:sp>
      <p:sp>
        <p:nvSpPr>
          <p:cNvPr id="8" name="Text 6"/>
          <p:cNvSpPr/>
          <p:nvPr/>
        </p:nvSpPr>
        <p:spPr>
          <a:xfrm>
            <a:off x="1371600" y="2606040"/>
            <a:ext cx="3200400" cy="548640"/>
          </a:xfrm>
          <a:prstGeom prst="rect">
            <a:avLst/>
          </a:prstGeom>
          <a:noFill/>
          <a:ln/>
        </p:spPr>
        <p:txBody>
          <a:bodyPr wrap="square" lIns="0" tIns="0" rIns="0" bIns="0" rtlCol="0" anchor="ctr"/>
          <a:lstStyle/>
          <a:p>
            <a:pPr marL="0" indent="0" algn="ctr">
              <a:buNone/>
            </a:pPr>
            <a:r>
              <a:rPr lang="en-US" sz="1400" b="1" dirty="0">
                <a:solidFill>
                  <a:srgbClr val="059669"/>
                </a:solidFill>
                <a:latin typeface="Trebuchet MS" pitchFamily="34" charset="0"/>
                <a:ea typeface="Trebuchet MS" pitchFamily="34" charset="-122"/>
                <a:cs typeface="Trebuchet MS" pitchFamily="34" charset="-120"/>
              </a:rPr>
              <a:t>Server</a:t>
            </a:r>
            <a:endParaRPr lang="en-US" sz="1400" dirty="0"/>
          </a:p>
        </p:txBody>
      </p:sp>
      <p:sp>
        <p:nvSpPr>
          <p:cNvPr id="9" name="Shape 7"/>
          <p:cNvSpPr/>
          <p:nvPr/>
        </p:nvSpPr>
        <p:spPr>
          <a:xfrm>
            <a:off x="7635240" y="2606040"/>
            <a:ext cx="3200400" cy="54864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7635240" y="2606040"/>
            <a:ext cx="3200400" cy="548640"/>
          </a:xfrm>
          <a:prstGeom prst="rect">
            <a:avLst/>
          </a:prstGeom>
          <a:noFill/>
          <a:ln/>
        </p:spPr>
        <p:txBody>
          <a:bodyPr wrap="square" lIns="0" tIns="0" rIns="0" bIns="0" rtlCol="0" anchor="ctr"/>
          <a:lstStyle/>
          <a:p>
            <a:pPr marL="0" indent="0" algn="ctr">
              <a:buNone/>
            </a:pPr>
            <a:r>
              <a:rPr lang="en-US" sz="1400" b="1" dirty="0">
                <a:solidFill>
                  <a:srgbClr val="00B8D9"/>
                </a:solidFill>
                <a:latin typeface="Trebuchet MS" pitchFamily="34" charset="0"/>
                <a:ea typeface="Trebuchet MS" pitchFamily="34" charset="-122"/>
                <a:cs typeface="Trebuchet MS" pitchFamily="34" charset="-120"/>
              </a:rPr>
              <a:t>Client</a:t>
            </a:r>
            <a:endParaRPr lang="en-US" sz="1400" dirty="0"/>
          </a:p>
        </p:txBody>
      </p:sp>
      <p:sp>
        <p:nvSpPr>
          <p:cNvPr id="11" name="Shape 9"/>
          <p:cNvSpPr/>
          <p:nvPr/>
        </p:nvSpPr>
        <p:spPr>
          <a:xfrm>
            <a:off x="6080760" y="2103120"/>
            <a:ext cx="0" cy="274320"/>
          </a:xfrm>
          <a:prstGeom prst="line">
            <a:avLst/>
          </a:prstGeom>
          <a:noFill/>
          <a:ln w="25400">
            <a:solidFill>
              <a:srgbClr val="00B8D9"/>
            </a:solidFill>
            <a:prstDash val="solid"/>
          </a:ln>
        </p:spPr>
        <p:txBody>
          <a:bodyPr/>
          <a:lstStyle/>
          <a:p>
            <a:endParaRPr lang="en-US"/>
          </a:p>
        </p:txBody>
      </p:sp>
      <p:sp>
        <p:nvSpPr>
          <p:cNvPr id="12" name="Shape 10"/>
          <p:cNvSpPr/>
          <p:nvPr/>
        </p:nvSpPr>
        <p:spPr>
          <a:xfrm>
            <a:off x="2971800" y="2377440"/>
            <a:ext cx="6263640" cy="0"/>
          </a:xfrm>
          <a:prstGeom prst="line">
            <a:avLst/>
          </a:prstGeom>
          <a:noFill/>
          <a:ln w="25400">
            <a:solidFill>
              <a:srgbClr val="00B8D9"/>
            </a:solidFill>
            <a:prstDash val="solid"/>
          </a:ln>
        </p:spPr>
        <p:txBody>
          <a:bodyPr/>
          <a:lstStyle/>
          <a:p>
            <a:endParaRPr lang="en-US"/>
          </a:p>
        </p:txBody>
      </p:sp>
      <p:sp>
        <p:nvSpPr>
          <p:cNvPr id="13" name="Shape 11"/>
          <p:cNvSpPr/>
          <p:nvPr/>
        </p:nvSpPr>
        <p:spPr>
          <a:xfrm>
            <a:off x="2971800" y="2377440"/>
            <a:ext cx="0" cy="228600"/>
          </a:xfrm>
          <a:prstGeom prst="line">
            <a:avLst/>
          </a:prstGeom>
          <a:noFill/>
          <a:ln w="25400">
            <a:solidFill>
              <a:srgbClr val="00B8D9"/>
            </a:solidFill>
            <a:prstDash val="solid"/>
          </a:ln>
        </p:spPr>
        <p:txBody>
          <a:bodyPr/>
          <a:lstStyle/>
          <a:p>
            <a:endParaRPr lang="en-US"/>
          </a:p>
        </p:txBody>
      </p:sp>
      <p:sp>
        <p:nvSpPr>
          <p:cNvPr id="14" name="Shape 12"/>
          <p:cNvSpPr/>
          <p:nvPr/>
        </p:nvSpPr>
        <p:spPr>
          <a:xfrm>
            <a:off x="9235440" y="2377440"/>
            <a:ext cx="0" cy="228600"/>
          </a:xfrm>
          <a:prstGeom prst="line">
            <a:avLst/>
          </a:prstGeom>
          <a:noFill/>
          <a:ln w="25400">
            <a:solidFill>
              <a:srgbClr val="00B8D9"/>
            </a:solidFill>
            <a:prstDash val="solid"/>
          </a:ln>
        </p:spPr>
        <p:txBody>
          <a:bodyPr/>
          <a:lstStyle/>
          <a:p>
            <a:endParaRPr lang="en-US"/>
          </a:p>
        </p:txBody>
      </p:sp>
      <p:sp>
        <p:nvSpPr>
          <p:cNvPr id="15" name="Shape 13"/>
          <p:cNvSpPr/>
          <p:nvPr/>
        </p:nvSpPr>
        <p:spPr>
          <a:xfrm>
            <a:off x="1371600" y="3520440"/>
            <a:ext cx="3200400" cy="777240"/>
          </a:xfrm>
          <a:prstGeom prst="rect">
            <a:avLst/>
          </a:prstGeom>
          <a:solidFill>
            <a:srgbClr val="CBF1F6"/>
          </a:solidFill>
          <a:ln w="12700">
            <a:solidFill>
              <a:srgbClr val="CBF1F6"/>
            </a:solidFill>
            <a:prstDash val="solid"/>
          </a:ln>
        </p:spPr>
        <p:txBody>
          <a:bodyPr/>
          <a:lstStyle/>
          <a:p>
            <a:endParaRPr lang="en-US"/>
          </a:p>
        </p:txBody>
      </p:sp>
      <p:sp>
        <p:nvSpPr>
          <p:cNvPr id="16" name="Text 14"/>
          <p:cNvSpPr/>
          <p:nvPr/>
        </p:nvSpPr>
        <p:spPr>
          <a:xfrm>
            <a:off x="1371600" y="3520440"/>
            <a:ext cx="3200400" cy="777240"/>
          </a:xfrm>
          <a:prstGeom prst="rect">
            <a:avLst/>
          </a:prstGeom>
          <a:noFill/>
          <a:ln/>
        </p:spPr>
        <p:txBody>
          <a:bodyPr wrap="square" lIns="0" tIns="0" rIns="0" bIns="0" rtlCol="0" anchor="ctr"/>
          <a:lstStyle/>
          <a:p>
            <a:pPr marL="0" indent="0" algn="ctr">
              <a:buNone/>
            </a:pPr>
            <a:r>
              <a:rPr lang="en-US" sz="1200" b="1" dirty="0">
                <a:solidFill>
                  <a:srgbClr val="0F172A"/>
                </a:solidFill>
                <a:latin typeface="Arial" pitchFamily="34" charset="0"/>
                <a:ea typeface="Arial" pitchFamily="34" charset="-122"/>
                <a:cs typeface="Arial" pitchFamily="34" charset="-120"/>
              </a:rPr>
              <a:t>TanStack Query · SWR · RTK Query</a:t>
            </a:r>
            <a:endParaRPr lang="en-US" sz="1200" dirty="0"/>
          </a:p>
          <a:p>
            <a:pPr marL="0" indent="0" algn="ctr">
              <a:buNone/>
            </a:pPr>
            <a:r>
              <a:rPr lang="en-US" sz="1200" b="1" dirty="0">
                <a:solidFill>
                  <a:srgbClr val="0F172A"/>
                </a:solidFill>
                <a:latin typeface="Arial" pitchFamily="34" charset="0"/>
                <a:ea typeface="Arial" pitchFamily="34" charset="-122"/>
                <a:cs typeface="Arial" pitchFamily="34" charset="-120"/>
              </a:rPr>
              <a:t>(or Server Components)</a:t>
            </a:r>
            <a:endParaRPr lang="en-US" sz="1200" dirty="0"/>
          </a:p>
        </p:txBody>
      </p:sp>
      <p:sp>
        <p:nvSpPr>
          <p:cNvPr id="17" name="Shape 15"/>
          <p:cNvSpPr/>
          <p:nvPr/>
        </p:nvSpPr>
        <p:spPr>
          <a:xfrm>
            <a:off x="2971800" y="3154680"/>
            <a:ext cx="0" cy="365760"/>
          </a:xfrm>
          <a:prstGeom prst="line">
            <a:avLst/>
          </a:prstGeom>
          <a:noFill/>
          <a:ln w="25400">
            <a:solidFill>
              <a:srgbClr val="00B8D9"/>
            </a:solidFill>
            <a:prstDash val="solid"/>
          </a:ln>
        </p:spPr>
        <p:txBody>
          <a:bodyPr/>
          <a:lstStyle/>
          <a:p>
            <a:endParaRPr lang="en-US"/>
          </a:p>
        </p:txBody>
      </p:sp>
      <p:sp>
        <p:nvSpPr>
          <p:cNvPr id="18" name="Shape 16"/>
          <p:cNvSpPr/>
          <p:nvPr/>
        </p:nvSpPr>
        <p:spPr>
          <a:xfrm>
            <a:off x="7635240" y="3520440"/>
            <a:ext cx="3200400" cy="548640"/>
          </a:xfrm>
          <a:prstGeom prst="rect">
            <a:avLst/>
          </a:prstGeom>
          <a:solidFill>
            <a:srgbClr val="1E2A47"/>
          </a:solidFill>
          <a:ln w="12700">
            <a:solidFill>
              <a:srgbClr val="1E2A47"/>
            </a:solidFill>
            <a:prstDash val="solid"/>
          </a:ln>
        </p:spPr>
        <p:txBody>
          <a:bodyPr/>
          <a:lstStyle/>
          <a:p>
            <a:endParaRPr lang="en-US"/>
          </a:p>
        </p:txBody>
      </p:sp>
      <p:sp>
        <p:nvSpPr>
          <p:cNvPr id="19" name="Text 17"/>
          <p:cNvSpPr/>
          <p:nvPr/>
        </p:nvSpPr>
        <p:spPr>
          <a:xfrm>
            <a:off x="7635240" y="3520440"/>
            <a:ext cx="3200400" cy="548640"/>
          </a:xfrm>
          <a:prstGeom prst="rect">
            <a:avLst/>
          </a:prstGeom>
          <a:noFill/>
          <a:ln/>
        </p:spPr>
        <p:txBody>
          <a:bodyPr wrap="square" lIns="0" tIns="0" rIns="0" bIns="0" rtlCol="0" anchor="ctr"/>
          <a:lstStyle/>
          <a:p>
            <a:pPr marL="0" indent="0" algn="ctr">
              <a:buNone/>
            </a:pPr>
            <a:r>
              <a:rPr lang="en-US" sz="1200" b="1" dirty="0">
                <a:solidFill>
                  <a:srgbClr val="00B8D9"/>
                </a:solidFill>
                <a:latin typeface="Trebuchet MS" pitchFamily="34" charset="0"/>
                <a:ea typeface="Trebuchet MS" pitchFamily="34" charset="-122"/>
                <a:cs typeface="Trebuchet MS" pitchFamily="34" charset="-120"/>
              </a:rPr>
              <a:t>How widely is it shared?</a:t>
            </a:r>
            <a:endParaRPr lang="en-US" sz="1200" dirty="0"/>
          </a:p>
        </p:txBody>
      </p:sp>
      <p:sp>
        <p:nvSpPr>
          <p:cNvPr id="20" name="Shape 18"/>
          <p:cNvSpPr/>
          <p:nvPr/>
        </p:nvSpPr>
        <p:spPr>
          <a:xfrm>
            <a:off x="9235440" y="3154680"/>
            <a:ext cx="0" cy="365760"/>
          </a:xfrm>
          <a:prstGeom prst="line">
            <a:avLst/>
          </a:prstGeom>
          <a:noFill/>
          <a:ln w="25400">
            <a:solidFill>
              <a:srgbClr val="00B8D9"/>
            </a:solidFill>
            <a:prstDash val="solid"/>
          </a:ln>
        </p:spPr>
        <p:txBody>
          <a:bodyPr/>
          <a:lstStyle/>
          <a:p>
            <a:endParaRPr lang="en-US"/>
          </a:p>
        </p:txBody>
      </p:sp>
      <p:sp>
        <p:nvSpPr>
          <p:cNvPr id="21" name="Shape 19"/>
          <p:cNvSpPr/>
          <p:nvPr/>
        </p:nvSpPr>
        <p:spPr>
          <a:xfrm>
            <a:off x="7818120" y="4114800"/>
            <a:ext cx="1417320" cy="0"/>
          </a:xfrm>
          <a:prstGeom prst="line">
            <a:avLst/>
          </a:prstGeom>
          <a:noFill/>
          <a:ln w="25400">
            <a:solidFill>
              <a:srgbClr val="00B8D9"/>
            </a:solidFill>
            <a:prstDash val="solid"/>
          </a:ln>
        </p:spPr>
        <p:txBody>
          <a:bodyPr/>
          <a:lstStyle/>
          <a:p>
            <a:endParaRPr lang="en-US"/>
          </a:p>
        </p:txBody>
      </p:sp>
      <p:sp>
        <p:nvSpPr>
          <p:cNvPr id="22" name="Shape 20"/>
          <p:cNvSpPr/>
          <p:nvPr/>
        </p:nvSpPr>
        <p:spPr>
          <a:xfrm>
            <a:off x="9235440" y="4069080"/>
            <a:ext cx="0" cy="45720"/>
          </a:xfrm>
          <a:prstGeom prst="line">
            <a:avLst/>
          </a:prstGeom>
          <a:noFill/>
          <a:ln w="25400">
            <a:solidFill>
              <a:srgbClr val="00B8D9"/>
            </a:solidFill>
            <a:prstDash val="solid"/>
          </a:ln>
        </p:spPr>
        <p:txBody>
          <a:bodyPr/>
          <a:lstStyle/>
          <a:p>
            <a:endParaRPr lang="en-US"/>
          </a:p>
        </p:txBody>
      </p:sp>
      <p:sp>
        <p:nvSpPr>
          <p:cNvPr id="23" name="Shape 21"/>
          <p:cNvSpPr/>
          <p:nvPr/>
        </p:nvSpPr>
        <p:spPr>
          <a:xfrm>
            <a:off x="7818120" y="4114800"/>
            <a:ext cx="0" cy="2057400"/>
          </a:xfrm>
          <a:prstGeom prst="line">
            <a:avLst/>
          </a:prstGeom>
          <a:noFill/>
          <a:ln w="25400">
            <a:solidFill>
              <a:srgbClr val="00B8D9"/>
            </a:solidFill>
            <a:prstDash val="solid"/>
          </a:ln>
        </p:spPr>
        <p:txBody>
          <a:bodyPr/>
          <a:lstStyle/>
          <a:p>
            <a:endParaRPr lang="en-US"/>
          </a:p>
        </p:txBody>
      </p:sp>
      <p:sp>
        <p:nvSpPr>
          <p:cNvPr id="24" name="Shape 22"/>
          <p:cNvSpPr/>
          <p:nvPr/>
        </p:nvSpPr>
        <p:spPr>
          <a:xfrm>
            <a:off x="7818120" y="4617720"/>
            <a:ext cx="228600" cy="0"/>
          </a:xfrm>
          <a:prstGeom prst="line">
            <a:avLst/>
          </a:prstGeom>
          <a:noFill/>
          <a:ln w="25400">
            <a:solidFill>
              <a:srgbClr val="00B8D9"/>
            </a:solidFill>
            <a:prstDash val="solid"/>
          </a:ln>
        </p:spPr>
        <p:txBody>
          <a:bodyPr/>
          <a:lstStyle/>
          <a:p>
            <a:endParaRPr lang="en-US"/>
          </a:p>
        </p:txBody>
      </p:sp>
      <p:sp>
        <p:nvSpPr>
          <p:cNvPr id="25" name="Shape 23"/>
          <p:cNvSpPr/>
          <p:nvPr/>
        </p:nvSpPr>
        <p:spPr>
          <a:xfrm>
            <a:off x="7818120" y="5394960"/>
            <a:ext cx="228600" cy="0"/>
          </a:xfrm>
          <a:prstGeom prst="line">
            <a:avLst/>
          </a:prstGeom>
          <a:noFill/>
          <a:ln w="25400">
            <a:solidFill>
              <a:srgbClr val="00B8D9"/>
            </a:solidFill>
            <a:prstDash val="solid"/>
          </a:ln>
        </p:spPr>
        <p:txBody>
          <a:bodyPr/>
          <a:lstStyle/>
          <a:p>
            <a:endParaRPr lang="en-US"/>
          </a:p>
        </p:txBody>
      </p:sp>
      <p:sp>
        <p:nvSpPr>
          <p:cNvPr id="26" name="Shape 24"/>
          <p:cNvSpPr/>
          <p:nvPr/>
        </p:nvSpPr>
        <p:spPr>
          <a:xfrm>
            <a:off x="7818120" y="6172200"/>
            <a:ext cx="228600" cy="0"/>
          </a:xfrm>
          <a:prstGeom prst="line">
            <a:avLst/>
          </a:prstGeom>
          <a:noFill/>
          <a:ln w="25400">
            <a:solidFill>
              <a:srgbClr val="00B8D9"/>
            </a:solidFill>
            <a:prstDash val="solid"/>
          </a:ln>
        </p:spPr>
        <p:txBody>
          <a:bodyPr/>
          <a:lstStyle/>
          <a:p>
            <a:endParaRPr lang="en-US"/>
          </a:p>
        </p:txBody>
      </p:sp>
      <p:sp>
        <p:nvSpPr>
          <p:cNvPr id="27" name="Shape 25"/>
          <p:cNvSpPr/>
          <p:nvPr/>
        </p:nvSpPr>
        <p:spPr>
          <a:xfrm>
            <a:off x="8046720" y="4297680"/>
            <a:ext cx="2788920" cy="640080"/>
          </a:xfrm>
          <a:prstGeom prst="rect">
            <a:avLst/>
          </a:prstGeom>
          <a:solidFill>
            <a:srgbClr val="FFFFFF"/>
          </a:solidFill>
          <a:ln w="12700">
            <a:solidFill>
              <a:srgbClr val="E2E8F0"/>
            </a:solidFill>
            <a:prstDash val="solid"/>
          </a:ln>
        </p:spPr>
        <p:txBody>
          <a:bodyPr/>
          <a:lstStyle/>
          <a:p>
            <a:endParaRPr lang="en-US"/>
          </a:p>
        </p:txBody>
      </p:sp>
      <p:sp>
        <p:nvSpPr>
          <p:cNvPr id="28" name="Text 26"/>
          <p:cNvSpPr/>
          <p:nvPr/>
        </p:nvSpPr>
        <p:spPr>
          <a:xfrm>
            <a:off x="8138160" y="4343400"/>
            <a:ext cx="1417320" cy="54864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One component or its children</a:t>
            </a:r>
            <a:endParaRPr lang="en-US" sz="1050" dirty="0"/>
          </a:p>
        </p:txBody>
      </p:sp>
      <p:sp>
        <p:nvSpPr>
          <p:cNvPr id="29" name="Text 27"/>
          <p:cNvSpPr/>
          <p:nvPr/>
        </p:nvSpPr>
        <p:spPr>
          <a:xfrm>
            <a:off x="9601200" y="4343400"/>
            <a:ext cx="1234440" cy="548640"/>
          </a:xfrm>
          <a:prstGeom prst="rect">
            <a:avLst/>
          </a:prstGeom>
          <a:noFill/>
          <a:ln/>
        </p:spPr>
        <p:txBody>
          <a:bodyPr wrap="square" lIns="0" tIns="0" rIns="0" bIns="0" rtlCol="0" anchor="ctr"/>
          <a:lstStyle/>
          <a:p>
            <a:pPr marL="0" indent="0">
              <a:buNone/>
            </a:pPr>
            <a:r>
              <a:rPr lang="en-US" sz="1050" b="1" dirty="0">
                <a:solidFill>
                  <a:srgbClr val="00B8D9"/>
                </a:solidFill>
                <a:latin typeface="Arial" pitchFamily="34" charset="0"/>
                <a:ea typeface="Arial" pitchFamily="34" charset="-122"/>
                <a:cs typeface="Arial" pitchFamily="34" charset="-120"/>
              </a:rPr>
              <a:t>→ useState / useReducer</a:t>
            </a:r>
            <a:endParaRPr lang="en-US" sz="1050" dirty="0"/>
          </a:p>
        </p:txBody>
      </p:sp>
      <p:sp>
        <p:nvSpPr>
          <p:cNvPr id="30" name="Shape 28"/>
          <p:cNvSpPr/>
          <p:nvPr/>
        </p:nvSpPr>
        <p:spPr>
          <a:xfrm>
            <a:off x="8046720" y="5074920"/>
            <a:ext cx="2788920" cy="640080"/>
          </a:xfrm>
          <a:prstGeom prst="rect">
            <a:avLst/>
          </a:prstGeom>
          <a:solidFill>
            <a:srgbClr val="FFFFFF"/>
          </a:solidFill>
          <a:ln w="12700">
            <a:solidFill>
              <a:srgbClr val="E2E8F0"/>
            </a:solidFill>
            <a:prstDash val="solid"/>
          </a:ln>
        </p:spPr>
        <p:txBody>
          <a:bodyPr/>
          <a:lstStyle/>
          <a:p>
            <a:endParaRPr lang="en-US"/>
          </a:p>
        </p:txBody>
      </p:sp>
      <p:sp>
        <p:nvSpPr>
          <p:cNvPr id="31" name="Text 29"/>
          <p:cNvSpPr/>
          <p:nvPr/>
        </p:nvSpPr>
        <p:spPr>
          <a:xfrm>
            <a:off x="8138160" y="5120640"/>
            <a:ext cx="1417320" cy="54864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 subtree (e.g. a feature)</a:t>
            </a:r>
            <a:endParaRPr lang="en-US" sz="1050" dirty="0"/>
          </a:p>
        </p:txBody>
      </p:sp>
      <p:sp>
        <p:nvSpPr>
          <p:cNvPr id="32" name="Text 30"/>
          <p:cNvSpPr/>
          <p:nvPr/>
        </p:nvSpPr>
        <p:spPr>
          <a:xfrm>
            <a:off x="9601200" y="5120640"/>
            <a:ext cx="1234440" cy="548640"/>
          </a:xfrm>
          <a:prstGeom prst="rect">
            <a:avLst/>
          </a:prstGeom>
          <a:noFill/>
          <a:ln/>
        </p:spPr>
        <p:txBody>
          <a:bodyPr wrap="square" lIns="0" tIns="0" rIns="0" bIns="0" rtlCol="0" anchor="ctr"/>
          <a:lstStyle/>
          <a:p>
            <a:pPr marL="0" indent="0">
              <a:buNone/>
            </a:pPr>
            <a:r>
              <a:rPr lang="en-US" sz="1050" b="1" dirty="0">
                <a:solidFill>
                  <a:srgbClr val="00B8D9"/>
                </a:solidFill>
                <a:latin typeface="Arial" pitchFamily="34" charset="0"/>
                <a:ea typeface="Arial" pitchFamily="34" charset="-122"/>
                <a:cs typeface="Arial" pitchFamily="34" charset="-120"/>
              </a:rPr>
              <a:t>→ Lift state · Context for plumbing</a:t>
            </a:r>
            <a:endParaRPr lang="en-US" sz="1050" dirty="0"/>
          </a:p>
        </p:txBody>
      </p:sp>
      <p:sp>
        <p:nvSpPr>
          <p:cNvPr id="33" name="Shape 31"/>
          <p:cNvSpPr/>
          <p:nvPr/>
        </p:nvSpPr>
        <p:spPr>
          <a:xfrm>
            <a:off x="8046720" y="5852160"/>
            <a:ext cx="2788920" cy="640080"/>
          </a:xfrm>
          <a:prstGeom prst="rect">
            <a:avLst/>
          </a:prstGeom>
          <a:solidFill>
            <a:srgbClr val="FFFFFF"/>
          </a:solidFill>
          <a:ln w="12700">
            <a:solidFill>
              <a:srgbClr val="E2E8F0"/>
            </a:solidFill>
            <a:prstDash val="solid"/>
          </a:ln>
        </p:spPr>
        <p:txBody>
          <a:bodyPr/>
          <a:lstStyle/>
          <a:p>
            <a:endParaRPr lang="en-US"/>
          </a:p>
        </p:txBody>
      </p:sp>
      <p:sp>
        <p:nvSpPr>
          <p:cNvPr id="34" name="Text 32"/>
          <p:cNvSpPr/>
          <p:nvPr/>
        </p:nvSpPr>
        <p:spPr>
          <a:xfrm>
            <a:off x="8138160" y="5897880"/>
            <a:ext cx="1417320" cy="54864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Across the whole app</a:t>
            </a:r>
            <a:endParaRPr lang="en-US" sz="1050" dirty="0"/>
          </a:p>
        </p:txBody>
      </p:sp>
      <p:sp>
        <p:nvSpPr>
          <p:cNvPr id="35" name="Text 33"/>
          <p:cNvSpPr/>
          <p:nvPr/>
        </p:nvSpPr>
        <p:spPr>
          <a:xfrm>
            <a:off x="9601200" y="5897880"/>
            <a:ext cx="1234440" cy="548640"/>
          </a:xfrm>
          <a:prstGeom prst="rect">
            <a:avLst/>
          </a:prstGeom>
          <a:noFill/>
          <a:ln/>
        </p:spPr>
        <p:txBody>
          <a:bodyPr wrap="square" lIns="0" tIns="0" rIns="0" bIns="0" rtlCol="0" anchor="ctr"/>
          <a:lstStyle/>
          <a:p>
            <a:pPr marL="0" indent="0">
              <a:buNone/>
            </a:pPr>
            <a:r>
              <a:rPr lang="en-US" sz="1050" b="1" dirty="0">
                <a:solidFill>
                  <a:srgbClr val="00B8D9"/>
                </a:solidFill>
                <a:latin typeface="Arial" pitchFamily="34" charset="0"/>
                <a:ea typeface="Arial" pitchFamily="34" charset="-122"/>
                <a:cs typeface="Arial" pitchFamily="34" charset="-120"/>
              </a:rPr>
              <a:t>→ Zustand · Jotai · RTK</a:t>
            </a:r>
            <a:endParaRPr lang="en-US" sz="1050" dirty="0"/>
          </a:p>
        </p:txBody>
      </p:sp>
      <p:sp>
        <p:nvSpPr>
          <p:cNvPr id="36" name="Text 3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37" name="Text 3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28</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6">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Foundational Patterns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useState, useReducer, Context — and the antipatterns that keep them honest.</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useState and useReducer — the right defaults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Most state in a React app is local. Resist the upgrade reflex.</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Reach for useState first</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a component reads or writes the value, that's where the state belongs. Don't lift until you have to.</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 functional updaters</a:t>
            </a:r>
            <a:endParaRPr lang="en-US" sz="140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setX(n =&gt; n + 1) when the next value depends on the previous. Race-safe under concurrent updates.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Lazy init for expensive defaults</a:t>
            </a:r>
            <a:endParaRPr lang="en-US" sz="140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useState(() =&gt; expensive()) runs the function once on mount, not on every render.</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useReducer when transitions get complex</a:t>
            </a:r>
            <a:endParaRPr lang="en-US" sz="140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Multiple related fields, validation, undo/redo, state machines. The transition function tests in isolation.</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28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Context — plumbing, not a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Pass values through the tree without props. That's it. Everything else is misuse.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Good fits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Theme (dark/light, brand colors)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Authenticated user object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i18n locale + translation function</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Feature flags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 pre-instantiated client (e.g., apollo, query client)</a:t>
            </a:r>
            <a:endParaRPr lang="en-US" sz="16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Bad fits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Frequently-changing values that re-render the whole tree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 list of items most of the tree doesn't read</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Server data — use TanStack Query instead</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Anything you'd need to subscribe to a slice of (use a store)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"State management" — context is plumbing, not management</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28</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context-as-store antipattern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Every consumer re-renders when ANY value changes. At scale, this is a perf bug waiting.</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The trap</a:t>
            </a:r>
            <a:endParaRPr lang="en-US" sz="1300" dirty="0"/>
          </a:p>
        </p:txBody>
      </p:sp>
      <p:sp>
        <p:nvSpPr>
          <p:cNvPr id="6" name="Shape 4"/>
          <p:cNvSpPr/>
          <p:nvPr/>
        </p:nvSpPr>
        <p:spPr>
          <a:xfrm>
            <a:off x="777240" y="1920240"/>
            <a:ext cx="5349240" cy="402336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74904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One context for everything</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const AppCtx = </a:t>
            </a:r>
            <a:r>
              <a:rPr lang="en-US" sz="1400" dirty="0">
                <a:solidFill>
                  <a:srgbClr val="DCDCAA"/>
                </a:solidFill>
                <a:latin typeface="Courier New" pitchFamily="34" charset="0"/>
                <a:ea typeface="Courier New" pitchFamily="34" charset="-122"/>
                <a:cs typeface="Courier New" pitchFamily="34" charset="-120"/>
              </a:rPr>
              <a:t>createContext</a:t>
            </a:r>
            <a:r>
              <a:rPr lang="en-US" sz="1400" dirty="0">
                <a:solidFill>
                  <a:srgbClr val="9CDCFE"/>
                </a:solidFill>
                <a:latin typeface="Courier New" pitchFamily="34" charset="0"/>
                <a:ea typeface="Courier New" pitchFamily="34" charset="-122"/>
                <a:cs typeface="Courier New" pitchFamily="34" charset="-120"/>
              </a:rPr>
              <a:t>(</a:t>
            </a:r>
            <a:r>
              <a:rPr lang="en-US" sz="1400" dirty="0">
                <a:solidFill>
                  <a:srgbClr val="C586C0"/>
                </a:solidFill>
                <a:latin typeface="Courier New" pitchFamily="34" charset="0"/>
                <a:ea typeface="Courier New" pitchFamily="34" charset="-122"/>
                <a:cs typeface="Courier New" pitchFamily="34" charset="-120"/>
              </a:rPr>
              <a:t>null</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AppProvider</a:t>
            </a:r>
            <a:r>
              <a:rPr lang="en-US" sz="1400" dirty="0">
                <a:solidFill>
                  <a:srgbClr val="FFFFFF"/>
                </a:solidFill>
                <a:latin typeface="Courier New" pitchFamily="34" charset="0"/>
                <a:ea typeface="Courier New" pitchFamily="34" charset="-122"/>
                <a:cs typeface="Courier New" pitchFamily="34" charset="-120"/>
              </a:rPr>
              <a:t>({ children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[user, setUser] = </a:t>
            </a:r>
            <a:r>
              <a:rPr lang="en-US" sz="1400" dirty="0">
                <a:solidFill>
                  <a:srgbClr val="DCDCAA"/>
                </a:solidFill>
                <a:latin typeface="Courier New" pitchFamily="34" charset="0"/>
                <a:ea typeface="Courier New" pitchFamily="34" charset="-122"/>
                <a:cs typeface="Courier New" pitchFamily="34" charset="-120"/>
              </a:rPr>
              <a:t>useState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[theme, setTheme] = </a:t>
            </a:r>
            <a:r>
              <a:rPr lang="en-US" sz="1400" dirty="0">
                <a:solidFill>
                  <a:srgbClr val="DCDCAA"/>
                </a:solidFill>
                <a:latin typeface="Courier New" pitchFamily="34" charset="0"/>
                <a:ea typeface="Courier New" pitchFamily="34" charset="-122"/>
                <a:cs typeface="Courier New" pitchFamily="34" charset="-120"/>
              </a:rPr>
              <a:t>useState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[posts, setPosts] = </a:t>
            </a:r>
            <a:r>
              <a:rPr lang="en-US" sz="1400" dirty="0">
                <a:solidFill>
                  <a:srgbClr val="DCDCAA"/>
                </a:solidFill>
                <a:latin typeface="Courier New" pitchFamily="34" charset="0"/>
                <a:ea typeface="Courier New" pitchFamily="34" charset="-122"/>
                <a:cs typeface="Courier New" pitchFamily="34" charset="-120"/>
              </a:rPr>
              <a:t>useState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[drawer, setDrawer] = </a:t>
            </a:r>
            <a:r>
              <a:rPr lang="en-US" sz="1400" dirty="0">
                <a:solidFill>
                  <a:srgbClr val="DCDCAA"/>
                </a:solidFill>
                <a:latin typeface="Courier New" pitchFamily="34" charset="0"/>
                <a:ea typeface="Courier New" pitchFamily="34" charset="-122"/>
                <a:cs typeface="Courier New" pitchFamily="34" charset="-120"/>
              </a:rPr>
              <a:t>useState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&lt;AppCtx.Provider value={{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user, setUser, theme, setTheme,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posts, setPosts, drawer, setDrawer</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}}&gt;{children}&lt;/AppCtx.Provider&gt;;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D97706"/>
                </a:solidFill>
                <a:latin typeface="Trebuchet MS" pitchFamily="34" charset="0"/>
                <a:ea typeface="Trebuchet MS" pitchFamily="34" charset="-122"/>
                <a:cs typeface="Trebuchet MS" pitchFamily="34" charset="-120"/>
              </a:rPr>
              <a:t>Why it bites</a:t>
            </a:r>
            <a:endParaRPr lang="en-US" sz="1300" dirty="0"/>
          </a:p>
        </p:txBody>
      </p:sp>
      <p:sp>
        <p:nvSpPr>
          <p:cNvPr id="9" name="Text 7"/>
          <p:cNvSpPr/>
          <p:nvPr/>
        </p:nvSpPr>
        <p:spPr>
          <a:xfrm>
            <a:off x="6355080" y="1920240"/>
            <a:ext cx="5029200" cy="22860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Every setState rebuilds the value object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Every consumer re-renders, even if it only read user.name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Memoization helps but the object changes anyway</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Adding a new field means re-rendering the whole tree</a:t>
            </a:r>
            <a:endParaRPr lang="en-US" sz="1600" dirty="0"/>
          </a:p>
        </p:txBody>
      </p:sp>
      <p:sp>
        <p:nvSpPr>
          <p:cNvPr id="10" name="Shape 8"/>
          <p:cNvSpPr/>
          <p:nvPr/>
        </p:nvSpPr>
        <p:spPr>
          <a:xfrm>
            <a:off x="6355080" y="4297680"/>
            <a:ext cx="5029200" cy="1645920"/>
          </a:xfrm>
          <a:prstGeom prst="rect">
            <a:avLst/>
          </a:prstGeom>
          <a:solidFill>
            <a:srgbClr val="CBF1F6"/>
          </a:solidFill>
          <a:ln w="12700">
            <a:solidFill>
              <a:srgbClr val="CBF1F6"/>
            </a:solidFill>
            <a:prstDash val="solid"/>
          </a:ln>
        </p:spPr>
        <p:txBody>
          <a:bodyPr/>
          <a:lstStyle/>
          <a:p>
            <a:endParaRPr lang="en-US"/>
          </a:p>
        </p:txBody>
      </p:sp>
      <p:pic>
        <p:nvPicPr>
          <p:cNvPr id="11" name="Image 0" descr="preencoded.png"/>
          <p:cNvPicPr>
            <a:picLocks noChangeAspect="1"/>
          </p:cNvPicPr>
          <p:nvPr/>
        </p:nvPicPr>
        <p:blipFill>
          <a:blip r:embed="rId3"/>
          <a:stretch>
            <a:fillRect/>
          </a:stretch>
        </p:blipFill>
        <p:spPr>
          <a:xfrm>
            <a:off x="6537960" y="4754880"/>
            <a:ext cx="502920" cy="502920"/>
          </a:xfrm>
          <a:prstGeom prst="rect">
            <a:avLst/>
          </a:prstGeom>
        </p:spPr>
      </p:pic>
      <p:sp>
        <p:nvSpPr>
          <p:cNvPr id="12" name="Text 9"/>
          <p:cNvSpPr/>
          <p:nvPr/>
        </p:nvSpPr>
        <p:spPr>
          <a:xfrm>
            <a:off x="7178040" y="4343400"/>
            <a:ext cx="4114800" cy="155448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If you find yourself adding a fifth value to one context, it's a store now. Reach for one.</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28</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Client Stores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Zustand, Jotai, Redux Toolkit. Same problem space, three sensibilities.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to reach for a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Not every app needs one. Most that do, need a small one.</a:t>
            </a:r>
            <a:endParaRPr lang="en-US" sz="1400" dirty="0"/>
          </a:p>
        </p:txBody>
      </p:sp>
      <p:sp>
        <p:nvSpPr>
          <p:cNvPr id="5" name="Shape 3"/>
          <p:cNvSpPr/>
          <p:nvPr/>
        </p:nvSpPr>
        <p:spPr>
          <a:xfrm>
            <a:off x="777240" y="1691640"/>
            <a:ext cx="10607040" cy="6400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28800"/>
            <a:ext cx="365760" cy="365760"/>
          </a:xfrm>
          <a:prstGeom prst="rect">
            <a:avLst/>
          </a:prstGeom>
        </p:spPr>
      </p:pic>
      <p:sp>
        <p:nvSpPr>
          <p:cNvPr id="7" name="Text 4"/>
          <p:cNvSpPr/>
          <p:nvPr/>
        </p:nvSpPr>
        <p:spPr>
          <a:xfrm>
            <a:off x="1508760" y="1737360"/>
            <a:ext cx="978408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Multiple distant components read or write the same value</a:t>
            </a:r>
            <a:endParaRPr lang="en-US" sz="1300" dirty="0"/>
          </a:p>
        </p:txBody>
      </p:sp>
      <p:sp>
        <p:nvSpPr>
          <p:cNvPr id="8" name="Shape 5"/>
          <p:cNvSpPr/>
          <p:nvPr/>
        </p:nvSpPr>
        <p:spPr>
          <a:xfrm>
            <a:off x="777240" y="2468880"/>
            <a:ext cx="10607040" cy="6400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606040"/>
            <a:ext cx="365760" cy="365760"/>
          </a:xfrm>
          <a:prstGeom prst="rect">
            <a:avLst/>
          </a:prstGeom>
        </p:spPr>
      </p:pic>
      <p:sp>
        <p:nvSpPr>
          <p:cNvPr id="10" name="Text 6"/>
          <p:cNvSpPr/>
          <p:nvPr/>
        </p:nvSpPr>
        <p:spPr>
          <a:xfrm>
            <a:off x="1508760" y="2514600"/>
            <a:ext cx="978408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You want subscribers to render only when their slice changes</a:t>
            </a:r>
            <a:endParaRPr lang="en-US" sz="1300" dirty="0"/>
          </a:p>
        </p:txBody>
      </p:sp>
      <p:sp>
        <p:nvSpPr>
          <p:cNvPr id="11" name="Shape 7"/>
          <p:cNvSpPr/>
          <p:nvPr/>
        </p:nvSpPr>
        <p:spPr>
          <a:xfrm>
            <a:off x="777240" y="3246120"/>
            <a:ext cx="10607040" cy="6400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383280"/>
            <a:ext cx="365760" cy="365760"/>
          </a:xfrm>
          <a:prstGeom prst="rect">
            <a:avLst/>
          </a:prstGeom>
        </p:spPr>
      </p:pic>
      <p:sp>
        <p:nvSpPr>
          <p:cNvPr id="13" name="Text 8"/>
          <p:cNvSpPr/>
          <p:nvPr/>
        </p:nvSpPr>
        <p:spPr>
          <a:xfrm>
            <a:off x="1508760" y="3291840"/>
            <a:ext cx="978408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Actions need to be testable in isolation, separately from the UI</a:t>
            </a:r>
            <a:endParaRPr lang="en-US" sz="1300" dirty="0"/>
          </a:p>
        </p:txBody>
      </p:sp>
      <p:sp>
        <p:nvSpPr>
          <p:cNvPr id="14" name="Shape 9"/>
          <p:cNvSpPr/>
          <p:nvPr/>
        </p:nvSpPr>
        <p:spPr>
          <a:xfrm>
            <a:off x="777240" y="4023360"/>
            <a:ext cx="10607040" cy="6400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4160520"/>
            <a:ext cx="365760" cy="365760"/>
          </a:xfrm>
          <a:prstGeom prst="rect">
            <a:avLst/>
          </a:prstGeom>
        </p:spPr>
      </p:pic>
      <p:sp>
        <p:nvSpPr>
          <p:cNvPr id="16" name="Text 10"/>
          <p:cNvSpPr/>
          <p:nvPr/>
        </p:nvSpPr>
        <p:spPr>
          <a:xfrm>
            <a:off x="1508760" y="4069080"/>
            <a:ext cx="978408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You want time-travel debugging or middleware (logging, persistence)</a:t>
            </a:r>
            <a:endParaRPr lang="en-US" sz="1300" dirty="0"/>
          </a:p>
        </p:txBody>
      </p:sp>
      <p:sp>
        <p:nvSpPr>
          <p:cNvPr id="17" name="Shape 11"/>
          <p:cNvSpPr/>
          <p:nvPr/>
        </p:nvSpPr>
        <p:spPr>
          <a:xfrm>
            <a:off x="777240" y="4800600"/>
            <a:ext cx="10607040" cy="6400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937760"/>
            <a:ext cx="365760" cy="365760"/>
          </a:xfrm>
          <a:prstGeom prst="rect">
            <a:avLst/>
          </a:prstGeom>
        </p:spPr>
      </p:pic>
      <p:sp>
        <p:nvSpPr>
          <p:cNvPr id="19" name="Text 12"/>
          <p:cNvSpPr/>
          <p:nvPr/>
        </p:nvSpPr>
        <p:spPr>
          <a:xfrm>
            <a:off x="1508760" y="4846320"/>
            <a:ext cx="9784080" cy="548640"/>
          </a:xfrm>
          <a:prstGeom prst="rect">
            <a:avLst/>
          </a:prstGeom>
          <a:noFill/>
          <a:ln/>
        </p:spPr>
        <p:txBody>
          <a:bodyPr wrap="square" lIns="0" tIns="0" rIns="0" bIns="0" rtlCol="0" anchor="ctr"/>
          <a:lstStyle/>
          <a:p>
            <a:pPr marL="0" indent="0">
              <a:buNone/>
            </a:pPr>
            <a:r>
              <a:rPr lang="en-US" sz="1300" dirty="0">
                <a:solidFill>
                  <a:srgbClr val="475569"/>
                </a:solidFill>
                <a:latin typeface="Arial" pitchFamily="34" charset="0"/>
                <a:ea typeface="Arial" pitchFamily="34" charset="-122"/>
                <a:cs typeface="Arial" pitchFamily="34" charset="-120"/>
              </a:rPr>
              <a:t>Your context provider has grown more than four or five values</a:t>
            </a:r>
            <a:endParaRPr lang="en-US" sz="1300" dirty="0"/>
          </a:p>
        </p:txBody>
      </p:sp>
      <p:sp>
        <p:nvSpPr>
          <p:cNvPr id="20" name="Shape 13"/>
          <p:cNvSpPr/>
          <p:nvPr/>
        </p:nvSpPr>
        <p:spPr>
          <a:xfrm>
            <a:off x="777240" y="5715000"/>
            <a:ext cx="10607040" cy="457200"/>
          </a:xfrm>
          <a:prstGeom prst="rect">
            <a:avLst/>
          </a:prstGeom>
          <a:solidFill>
            <a:srgbClr val="CBF1F6"/>
          </a:solidFill>
          <a:ln w="12700">
            <a:solidFill>
              <a:srgbClr val="CBF1F6"/>
            </a:solidFill>
            <a:prstDash val="solid"/>
          </a:ln>
        </p:spPr>
        <p:txBody>
          <a:bodyPr/>
          <a:lstStyle/>
          <a:p>
            <a:endParaRPr lang="en-US"/>
          </a:p>
        </p:txBody>
      </p:sp>
      <p:sp>
        <p:nvSpPr>
          <p:cNvPr id="21" name="Text 14"/>
          <p:cNvSpPr/>
          <p:nvPr/>
        </p:nvSpPr>
        <p:spPr>
          <a:xfrm>
            <a:off x="960120" y="5715000"/>
            <a:ext cx="10424160" cy="457200"/>
          </a:xfrm>
          <a:prstGeom prst="rect">
            <a:avLst/>
          </a:prstGeom>
          <a:noFill/>
          <a:ln/>
        </p:spPr>
        <p:txBody>
          <a:bodyPr wrap="square" lIns="0" tIns="0" rIns="0" bIns="0" rtlCol="0" anchor="ctr"/>
          <a:lstStyle/>
          <a:p>
            <a:pPr marL="0" indent="0">
              <a:buNone/>
            </a:pPr>
            <a:r>
              <a:rPr lang="en-US" sz="1200" i="1" dirty="0">
                <a:solidFill>
                  <a:srgbClr val="0F172A"/>
                </a:solidFill>
                <a:latin typeface="Arial" pitchFamily="34" charset="0"/>
                <a:ea typeface="Arial" pitchFamily="34" charset="-122"/>
                <a:cs typeface="Arial" pitchFamily="34" charset="-120"/>
              </a:rPr>
              <a:t>None of the above? Stick with useState. The simplest tool that works is the right one.</a:t>
            </a:r>
            <a:endParaRPr lang="en-US" sz="1200" dirty="0"/>
          </a:p>
        </p:txBody>
      </p:sp>
      <p:sp>
        <p:nvSpPr>
          <p:cNvPr id="22"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23"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28</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Zustand — the minimal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~1KB. A hook factory. Subscribers re-render only when their slice changes.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dirty="0">
                <a:solidFill>
                  <a:srgbClr val="C586C0"/>
                </a:solidFill>
                <a:latin typeface="Courier New" pitchFamily="34" charset="0"/>
                <a:ea typeface="Courier New" pitchFamily="34" charset="-122"/>
                <a:cs typeface="Courier New" pitchFamily="34" charset="-120"/>
              </a:rPr>
              <a:t>import { create } from </a:t>
            </a:r>
            <a:r>
              <a:rPr lang="en-US" sz="1600" dirty="0">
                <a:solidFill>
                  <a:srgbClr val="9CDCFE"/>
                </a:solidFill>
                <a:latin typeface="Courier New" pitchFamily="34" charset="0"/>
                <a:ea typeface="Courier New" pitchFamily="34" charset="-122"/>
                <a:cs typeface="Courier New" pitchFamily="34" charset="-120"/>
              </a:rPr>
              <a:t>'zustand'</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useCart = </a:t>
            </a:r>
            <a:r>
              <a:rPr lang="en-US" sz="1600" dirty="0">
                <a:solidFill>
                  <a:srgbClr val="DCDCAA"/>
                </a:solidFill>
                <a:latin typeface="Courier New" pitchFamily="34" charset="0"/>
                <a:ea typeface="Courier New" pitchFamily="34" charset="-122"/>
                <a:cs typeface="Courier New" pitchFamily="34" charset="-120"/>
              </a:rPr>
              <a:t>create</a:t>
            </a:r>
            <a:r>
              <a:rPr lang="en-US" sz="1600" dirty="0">
                <a:solidFill>
                  <a:srgbClr val="FFFFFF"/>
                </a:solidFill>
                <a:latin typeface="Courier New" pitchFamily="34" charset="0"/>
                <a:ea typeface="Courier New" pitchFamily="34" charset="-122"/>
                <a:cs typeface="Courier New" pitchFamily="34" charset="-120"/>
              </a:rPr>
              <a:t>((set) =&gt;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items: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add: (item</a:t>
            </a:r>
            <a:r>
              <a:rPr lang="en-US" sz="1600" dirty="0">
                <a:solidFill>
                  <a:srgbClr val="FFFFFF"/>
                </a:solidFill>
                <a:latin typeface="Courier New" pitchFamily="34" charset="0"/>
                <a:ea typeface="Courier New" pitchFamily="34" charset="-122"/>
                <a:cs typeface="Courier New" pitchFamily="34" charset="-120"/>
              </a:rPr>
              <a:t>) =&gt; set((s) =&gt; ({ items: [...s.items, item]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remove: (id) =&gt; set((s) =&gt; ({ items: s.items.filter(i</a:t>
            </a:r>
            <a:r>
              <a:rPr lang="en-US" sz="1600" dirty="0">
                <a:solidFill>
                  <a:srgbClr val="FFFFFF"/>
                </a:solidFill>
                <a:latin typeface="Courier New" pitchFamily="34" charset="0"/>
                <a:ea typeface="Courier New" pitchFamily="34" charset="-122"/>
                <a:cs typeface="Courier New" pitchFamily="34" charset="-120"/>
              </a:rPr>
              <a:t> =&gt; i.id !== id)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clear: () =&gt; set({ items: []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in any component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function </a:t>
            </a:r>
            <a:r>
              <a:rPr lang="en-US" sz="1600" dirty="0">
                <a:solidFill>
                  <a:srgbClr val="DCDCAA"/>
                </a:solidFill>
                <a:latin typeface="Courier New" pitchFamily="34" charset="0"/>
                <a:ea typeface="Courier New" pitchFamily="34" charset="-122"/>
                <a:cs typeface="Courier New" pitchFamily="34" charset="-120"/>
              </a:rPr>
              <a:t>CartCount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count = </a:t>
            </a:r>
            <a:r>
              <a:rPr lang="en-US" sz="1600" dirty="0">
                <a:solidFill>
                  <a:srgbClr val="DCDCAA"/>
                </a:solidFill>
                <a:latin typeface="Courier New" pitchFamily="34" charset="0"/>
                <a:ea typeface="Courier New" pitchFamily="34" charset="-122"/>
                <a:cs typeface="Courier New" pitchFamily="34" charset="-120"/>
              </a:rPr>
              <a:t>useCart</a:t>
            </a:r>
            <a:r>
              <a:rPr lang="en-US" sz="1600" dirty="0">
                <a:solidFill>
                  <a:srgbClr val="FFFFFF"/>
                </a:solidFill>
                <a:latin typeface="Courier New" pitchFamily="34" charset="0"/>
                <a:ea typeface="Courier New" pitchFamily="34" charset="-122"/>
                <a:cs typeface="Courier New" pitchFamily="34" charset="-120"/>
              </a:rPr>
              <a:t>((s) =&gt; s.items.length);</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&lt;span&gt;{count}&lt;/span&gt;;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28</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Zustand — what you get and don't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minimum-surface-area store. Sometimes you want more.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Strengths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Tiny — bundle and mental footprint both</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Selectors give per-slice subscriptions for free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Provider needed in your tree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Easy to test the store in isolation</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Plays well with TS and the React Compiler</a:t>
            </a:r>
            <a:endParaRPr lang="en-US" sz="16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D97706"/>
                </a:solidFill>
                <a:latin typeface="Trebuchet MS" pitchFamily="34" charset="0"/>
                <a:ea typeface="Trebuchet MS" pitchFamily="34" charset="-122"/>
                <a:cs typeface="Trebuchet MS" pitchFamily="34" charset="-120"/>
              </a:rPr>
              <a:t>Trade-offs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formal action type — actions are just methods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Less convention for a large team — easy to drift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built-in middleware ecosystem to match Redux</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DevTools work, but the trace isn't as rich as Redux's</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28</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Jotai — atomic 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State as small atoms you compose.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dirty="0">
                <a:solidFill>
                  <a:srgbClr val="C586C0"/>
                </a:solidFill>
                <a:latin typeface="Courier New" pitchFamily="34" charset="0"/>
                <a:ea typeface="Courier New" pitchFamily="34" charset="-122"/>
                <a:cs typeface="Courier New" pitchFamily="34" charset="-120"/>
              </a:rPr>
              <a:t>import { atom, useAtom } from </a:t>
            </a:r>
            <a:r>
              <a:rPr lang="en-US" sz="1600" dirty="0">
                <a:solidFill>
                  <a:srgbClr val="9CDCFE"/>
                </a:solidFill>
                <a:latin typeface="Courier New" pitchFamily="34" charset="0"/>
                <a:ea typeface="Courier New" pitchFamily="34" charset="-122"/>
                <a:cs typeface="Courier New" pitchFamily="34" charset="-120"/>
              </a:rPr>
              <a:t>'jotai'</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primitive atoms</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cartItemsAtom = </a:t>
            </a:r>
            <a:r>
              <a:rPr lang="en-US" sz="1600" dirty="0">
                <a:solidFill>
                  <a:srgbClr val="DCDCAA"/>
                </a:solidFill>
                <a:latin typeface="Courier New" pitchFamily="34" charset="0"/>
                <a:ea typeface="Courier New" pitchFamily="34" charset="-122"/>
                <a:cs typeface="Courier New" pitchFamily="34" charset="-120"/>
              </a:rPr>
              <a:t>atom</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promoCodeAtom = </a:t>
            </a:r>
            <a:r>
              <a:rPr lang="en-US" sz="1600" dirty="0">
                <a:solidFill>
                  <a:srgbClr val="DCDCAA"/>
                </a:solidFill>
                <a:latin typeface="Courier New" pitchFamily="34" charset="0"/>
                <a:ea typeface="Courier New" pitchFamily="34" charset="-122"/>
                <a:cs typeface="Courier New" pitchFamily="34" charset="-120"/>
              </a:rPr>
              <a:t>atom</a:t>
            </a:r>
            <a:r>
              <a:rPr lang="en-US" sz="1600" dirty="0">
                <a:solidFill>
                  <a:srgbClr val="9CDCFE"/>
                </a:solidFill>
                <a:latin typeface="Courier New" pitchFamily="34" charset="0"/>
                <a:ea typeface="Courier New" pitchFamily="34" charset="-122"/>
                <a:cs typeface="Courier New" pitchFamily="34" charset="-120"/>
              </a:rPr>
              <a: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derived atom (read-only)</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cartTotalAtom = </a:t>
            </a:r>
            <a:r>
              <a:rPr lang="en-US" sz="1600" dirty="0">
                <a:solidFill>
                  <a:srgbClr val="DCDCAA"/>
                </a:solidFill>
                <a:latin typeface="Courier New" pitchFamily="34" charset="0"/>
                <a:ea typeface="Courier New" pitchFamily="34" charset="-122"/>
                <a:cs typeface="Courier New" pitchFamily="34" charset="-120"/>
              </a:rPr>
              <a:t>atom</a:t>
            </a:r>
            <a:r>
              <a:rPr lang="en-US" sz="1600" dirty="0">
                <a:solidFill>
                  <a:srgbClr val="FFFFFF"/>
                </a:solidFill>
                <a:latin typeface="Courier New" pitchFamily="34" charset="0"/>
                <a:ea typeface="Courier New" pitchFamily="34" charset="-122"/>
                <a:cs typeface="Courier New" pitchFamily="34" charset="-120"/>
              </a:rPr>
              <a:t>((get) =&gt;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items = get(cartItemsAtom);</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promo = get(promoCodeAtom);</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calcTotal(items, promo);</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in a component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total = </a:t>
            </a:r>
            <a:r>
              <a:rPr lang="en-US" sz="1600" dirty="0">
                <a:solidFill>
                  <a:srgbClr val="DCDCAA"/>
                </a:solidFill>
                <a:latin typeface="Courier New" pitchFamily="34" charset="0"/>
                <a:ea typeface="Courier New" pitchFamily="34" charset="-122"/>
                <a:cs typeface="Courier New" pitchFamily="34" charset="-120"/>
              </a:rPr>
              <a:t>useAtomValue</a:t>
            </a:r>
            <a:r>
              <a:rPr lang="en-US" sz="1600" dirty="0">
                <a:solidFill>
                  <a:srgbClr val="FFFFFF"/>
                </a:solidFill>
                <a:latin typeface="Courier New" pitchFamily="34" charset="0"/>
                <a:ea typeface="Courier New" pitchFamily="34" charset="-122"/>
                <a:cs typeface="Courier New" pitchFamily="34" charset="-120"/>
              </a:rPr>
              <a:t>(cartTotalAtom);</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28</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Jotai — what you get and don't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your state is naturally graph-shaped, this fits. If it's flat, this is overkill.</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Strengths</a:t>
            </a:r>
            <a:endParaRPr lang="en-US" sz="14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Fine-grained subscriptions per atom</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Derived atoms model dependencies cleanly</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Async atoms integrate with Suspense naturally</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Excellent TS inference — atom types compose</a:t>
            </a:r>
            <a:endParaRPr lang="en-US" sz="16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D97706"/>
                </a:solidFill>
                <a:latin typeface="Trebuchet MS" pitchFamily="34" charset="0"/>
                <a:ea typeface="Trebuchet MS" pitchFamily="34" charset="-122"/>
                <a:cs typeface="Trebuchet MS" pitchFamily="34" charset="-120"/>
              </a:rPr>
              <a:t>Trade-offs</a:t>
            </a:r>
            <a:endParaRPr lang="en-US" sz="14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Mental model differs from Redux/Zustand — onboarding cost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DevTools are functional but less mature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Big atom graphs can become hard to reason about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Smaller community — fewer middleware options</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28</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Redux Toolkit + RTK Query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full-featured option. Verbose, opinionated, complete.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store/cartSlice.js</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createSlice } from </a:t>
            </a:r>
            <a:r>
              <a:rPr lang="en-US" sz="1400" dirty="0">
                <a:solidFill>
                  <a:srgbClr val="9CDCFE"/>
                </a:solidFill>
                <a:latin typeface="Courier New" pitchFamily="34" charset="0"/>
                <a:ea typeface="Courier New" pitchFamily="34" charset="-122"/>
                <a:cs typeface="Courier New" pitchFamily="34" charset="-120"/>
              </a:rPr>
              <a:t>'@reduxjs/toolkit'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const cartSlice = </a:t>
            </a:r>
            <a:r>
              <a:rPr lang="en-US" sz="1400" dirty="0">
                <a:solidFill>
                  <a:srgbClr val="DCDCAA"/>
                </a:solidFill>
                <a:latin typeface="Courier New" pitchFamily="34" charset="0"/>
                <a:ea typeface="Courier New" pitchFamily="34" charset="-122"/>
                <a:cs typeface="Courier New" pitchFamily="34" charset="-120"/>
              </a:rPr>
              <a:t>createSlice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name: 'cart'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initialState: { items: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reducers: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add: (state</a:t>
            </a:r>
            <a:r>
              <a:rPr lang="en-US" sz="1400" dirty="0">
                <a:solidFill>
                  <a:srgbClr val="FFFFFF"/>
                </a:solidFill>
                <a:latin typeface="Courier New" pitchFamily="34" charset="0"/>
                <a:ea typeface="Courier New" pitchFamily="34" charset="-122"/>
                <a:cs typeface="Courier New" pitchFamily="34" charset="-120"/>
              </a:rPr>
              <a:t>, action) =&gt; { state.items.push(action.payload);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remove: (state</a:t>
            </a:r>
            <a:r>
              <a:rPr lang="en-US" sz="1400" dirty="0">
                <a:solidFill>
                  <a:srgbClr val="FFFFFF"/>
                </a:solidFill>
                <a:latin typeface="Courier New" pitchFamily="34" charset="0"/>
                <a:ea typeface="Courier New" pitchFamily="34" charset="-122"/>
                <a:cs typeface="Courier New" pitchFamily="34" charset="-120"/>
              </a:rPr>
              <a:t>, action) =&gt;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state.items = state.items.filter(i</a:t>
            </a:r>
            <a:r>
              <a:rPr lang="en-US" sz="1400" dirty="0">
                <a:solidFill>
                  <a:srgbClr val="FFFFFF"/>
                </a:solidFill>
                <a:latin typeface="Courier New" pitchFamily="34" charset="0"/>
                <a:ea typeface="Courier New" pitchFamily="34" charset="-122"/>
                <a:cs typeface="Courier New" pitchFamily="34" charset="-120"/>
              </a:rPr>
              <a:t> =&gt; i.id !== action.payload);</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export const { add, remove } = cartSlice.actions;</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export default cartSlice.reducer;</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28</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RTK Query — the bundled server-state piece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you're already on RTK, you may not need TanStack Query.</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dirty="0">
                <a:solidFill>
                  <a:srgbClr val="C586C0"/>
                </a:solidFill>
                <a:latin typeface="Courier New" pitchFamily="34" charset="0"/>
                <a:ea typeface="Courier New" pitchFamily="34" charset="-122"/>
                <a:cs typeface="Courier New" pitchFamily="34" charset="-120"/>
              </a:rPr>
              <a:t>import { createApi, fetchBaseQuery } from </a:t>
            </a:r>
            <a:r>
              <a:rPr lang="en-US" sz="1600" dirty="0">
                <a:solidFill>
                  <a:srgbClr val="9CDCFE"/>
                </a:solidFill>
                <a:latin typeface="Courier New" pitchFamily="34" charset="0"/>
                <a:ea typeface="Courier New" pitchFamily="34" charset="-122"/>
                <a:cs typeface="Courier New" pitchFamily="34" charset="-120"/>
              </a:rPr>
              <a:t>'@reduxjs/toolkit/query/react'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const api = </a:t>
            </a:r>
            <a:r>
              <a:rPr lang="en-US" sz="1600" dirty="0">
                <a:solidFill>
                  <a:srgbClr val="DCDCAA"/>
                </a:solidFill>
                <a:latin typeface="Courier New" pitchFamily="34" charset="0"/>
                <a:ea typeface="Courier New" pitchFamily="34" charset="-122"/>
                <a:cs typeface="Courier New" pitchFamily="34" charset="-120"/>
              </a:rPr>
              <a:t>createApi</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baseQuery: </a:t>
            </a:r>
            <a:r>
              <a:rPr lang="en-US" sz="1600" dirty="0">
                <a:solidFill>
                  <a:srgbClr val="DCDCAA"/>
                </a:solidFill>
                <a:latin typeface="Courier New" pitchFamily="34" charset="0"/>
                <a:ea typeface="Courier New" pitchFamily="34" charset="-122"/>
                <a:cs typeface="Courier New" pitchFamily="34" charset="-120"/>
              </a:rPr>
              <a:t>fetchBaseQuery</a:t>
            </a:r>
            <a:r>
              <a:rPr lang="en-US" sz="1600" dirty="0">
                <a:solidFill>
                  <a:srgbClr val="9CDCFE"/>
                </a:solidFill>
                <a:latin typeface="Courier New" pitchFamily="34" charset="0"/>
                <a:ea typeface="Courier New" pitchFamily="34" charset="-122"/>
                <a:cs typeface="Courier New" pitchFamily="34" charset="-120"/>
              </a:rPr>
              <a:t>({ baseUrl: '/api'</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tagTypes: ['Posts'</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endpoints: (build) =&gt;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listPosts: build.query({ query: () =&gt; '/posts', providesTags: ['Posts'</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createPost: build.mutation({</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query: (body) =&gt; ({ url: '/posts', method: 'POST'</a:t>
            </a:r>
            <a:r>
              <a:rPr lang="en-US" sz="1600" dirty="0">
                <a:solidFill>
                  <a:srgbClr val="FFFFFF"/>
                </a:solidFill>
                <a:latin typeface="Courier New" pitchFamily="34" charset="0"/>
                <a:ea typeface="Courier New" pitchFamily="34" charset="-122"/>
                <a:cs typeface="Courier New" pitchFamily="34" charset="-120"/>
              </a:rPr>
              <a:t>, body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invalidatesTags: ['Posts'</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export const { useListPostsQuery, useCreatePostMutation } = api;</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Three stores at a glance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Pick by team size, app shape, and the value of conventions.</a:t>
            </a:r>
            <a:endParaRPr lang="en-US" sz="1400" dirty="0"/>
          </a:p>
        </p:txBody>
      </p:sp>
      <p:sp>
        <p:nvSpPr>
          <p:cNvPr id="5" name="Shape 3"/>
          <p:cNvSpPr/>
          <p:nvPr/>
        </p:nvSpPr>
        <p:spPr>
          <a:xfrm>
            <a:off x="777240" y="1325880"/>
            <a:ext cx="10607040" cy="4114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14400" y="1325880"/>
            <a:ext cx="27432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Dimension</a:t>
            </a:r>
            <a:endParaRPr lang="en-US" sz="1200" dirty="0"/>
          </a:p>
        </p:txBody>
      </p:sp>
      <p:sp>
        <p:nvSpPr>
          <p:cNvPr id="7" name="Text 5"/>
          <p:cNvSpPr/>
          <p:nvPr/>
        </p:nvSpPr>
        <p:spPr>
          <a:xfrm>
            <a:off x="3703320" y="1325880"/>
            <a:ext cx="237744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Zustand</a:t>
            </a:r>
            <a:endParaRPr lang="en-US" sz="1200" dirty="0"/>
          </a:p>
        </p:txBody>
      </p:sp>
      <p:sp>
        <p:nvSpPr>
          <p:cNvPr id="8" name="Text 6"/>
          <p:cNvSpPr/>
          <p:nvPr/>
        </p:nvSpPr>
        <p:spPr>
          <a:xfrm>
            <a:off x="6126480" y="1325880"/>
            <a:ext cx="237744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Jotai</a:t>
            </a:r>
            <a:endParaRPr lang="en-US" sz="1200" dirty="0"/>
          </a:p>
        </p:txBody>
      </p:sp>
      <p:sp>
        <p:nvSpPr>
          <p:cNvPr id="9" name="Text 7"/>
          <p:cNvSpPr/>
          <p:nvPr/>
        </p:nvSpPr>
        <p:spPr>
          <a:xfrm>
            <a:off x="8549640" y="1325880"/>
            <a:ext cx="27432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Redux Toolkit</a:t>
            </a:r>
            <a:endParaRPr lang="en-US" sz="1200" dirty="0"/>
          </a:p>
        </p:txBody>
      </p:sp>
      <p:sp>
        <p:nvSpPr>
          <p:cNvPr id="10" name="Shape 8"/>
          <p:cNvSpPr/>
          <p:nvPr/>
        </p:nvSpPr>
        <p:spPr>
          <a:xfrm>
            <a:off x="777240" y="1737360"/>
            <a:ext cx="10607040" cy="594360"/>
          </a:xfrm>
          <a:prstGeom prst="rect">
            <a:avLst/>
          </a:prstGeom>
          <a:solidFill>
            <a:srgbClr val="FFFFFF"/>
          </a:solidFill>
          <a:ln w="12700">
            <a:solidFill>
              <a:srgbClr val="E2E8F0"/>
            </a:solidFill>
            <a:prstDash val="solid"/>
          </a:ln>
        </p:spPr>
        <p:txBody>
          <a:bodyPr/>
          <a:lstStyle/>
          <a:p>
            <a:endParaRPr lang="en-US"/>
          </a:p>
        </p:txBody>
      </p:sp>
      <p:sp>
        <p:nvSpPr>
          <p:cNvPr id="11" name="Text 9"/>
          <p:cNvSpPr/>
          <p:nvPr/>
        </p:nvSpPr>
        <p:spPr>
          <a:xfrm>
            <a:off x="914400" y="1783080"/>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Bundle size</a:t>
            </a:r>
            <a:endParaRPr lang="en-US" sz="1100" dirty="0"/>
          </a:p>
        </p:txBody>
      </p:sp>
      <p:sp>
        <p:nvSpPr>
          <p:cNvPr id="12" name="Text 10"/>
          <p:cNvSpPr/>
          <p:nvPr/>
        </p:nvSpPr>
        <p:spPr>
          <a:xfrm>
            <a:off x="3703320" y="1783080"/>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~1KB</a:t>
            </a:r>
            <a:endParaRPr lang="en-US" sz="1050" dirty="0"/>
          </a:p>
        </p:txBody>
      </p:sp>
      <p:sp>
        <p:nvSpPr>
          <p:cNvPr id="13" name="Text 11"/>
          <p:cNvSpPr/>
          <p:nvPr/>
        </p:nvSpPr>
        <p:spPr>
          <a:xfrm>
            <a:off x="6126480" y="1783080"/>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~3KB</a:t>
            </a:r>
            <a:endParaRPr lang="en-US" sz="1050" dirty="0"/>
          </a:p>
        </p:txBody>
      </p:sp>
      <p:sp>
        <p:nvSpPr>
          <p:cNvPr id="14" name="Text 12"/>
          <p:cNvSpPr/>
          <p:nvPr/>
        </p:nvSpPr>
        <p:spPr>
          <a:xfrm>
            <a:off x="8549640" y="1783080"/>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~12KB + middleware</a:t>
            </a:r>
            <a:endParaRPr lang="en-US" sz="1050" dirty="0"/>
          </a:p>
        </p:txBody>
      </p:sp>
      <p:sp>
        <p:nvSpPr>
          <p:cNvPr id="15" name="Shape 13"/>
          <p:cNvSpPr/>
          <p:nvPr/>
        </p:nvSpPr>
        <p:spPr>
          <a:xfrm>
            <a:off x="777240" y="2395728"/>
            <a:ext cx="10607040" cy="594360"/>
          </a:xfrm>
          <a:prstGeom prst="rect">
            <a:avLst/>
          </a:prstGeom>
          <a:solidFill>
            <a:srgbClr val="F8FAFC"/>
          </a:solidFill>
          <a:ln w="12700">
            <a:solidFill>
              <a:srgbClr val="E2E8F0"/>
            </a:solidFill>
            <a:prstDash val="solid"/>
          </a:ln>
        </p:spPr>
        <p:txBody>
          <a:bodyPr/>
          <a:lstStyle/>
          <a:p>
            <a:endParaRPr lang="en-US"/>
          </a:p>
        </p:txBody>
      </p:sp>
      <p:sp>
        <p:nvSpPr>
          <p:cNvPr id="16" name="Text 14"/>
          <p:cNvSpPr/>
          <p:nvPr/>
        </p:nvSpPr>
        <p:spPr>
          <a:xfrm>
            <a:off x="914400" y="2441448"/>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API surface</a:t>
            </a:r>
            <a:endParaRPr lang="en-US" sz="1100" dirty="0"/>
          </a:p>
        </p:txBody>
      </p:sp>
      <p:sp>
        <p:nvSpPr>
          <p:cNvPr id="17" name="Text 15"/>
          <p:cNvSpPr/>
          <p:nvPr/>
        </p:nvSpPr>
        <p:spPr>
          <a:xfrm>
            <a:off x="3703320" y="2441448"/>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Small</a:t>
            </a:r>
            <a:endParaRPr lang="en-US" sz="1050" dirty="0"/>
          </a:p>
        </p:txBody>
      </p:sp>
      <p:sp>
        <p:nvSpPr>
          <p:cNvPr id="18" name="Text 16"/>
          <p:cNvSpPr/>
          <p:nvPr/>
        </p:nvSpPr>
        <p:spPr>
          <a:xfrm>
            <a:off x="6126480" y="2441448"/>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Small</a:t>
            </a:r>
            <a:endParaRPr lang="en-US" sz="1050" dirty="0"/>
          </a:p>
        </p:txBody>
      </p:sp>
      <p:sp>
        <p:nvSpPr>
          <p:cNvPr id="19" name="Text 17"/>
          <p:cNvSpPr/>
          <p:nvPr/>
        </p:nvSpPr>
        <p:spPr>
          <a:xfrm>
            <a:off x="8549640" y="2441448"/>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Medium-large</a:t>
            </a:r>
            <a:endParaRPr lang="en-US" sz="1050" dirty="0"/>
          </a:p>
        </p:txBody>
      </p:sp>
      <p:sp>
        <p:nvSpPr>
          <p:cNvPr id="20" name="Shape 18"/>
          <p:cNvSpPr/>
          <p:nvPr/>
        </p:nvSpPr>
        <p:spPr>
          <a:xfrm>
            <a:off x="777240" y="3054096"/>
            <a:ext cx="10607040" cy="594360"/>
          </a:xfrm>
          <a:prstGeom prst="rect">
            <a:avLst/>
          </a:prstGeom>
          <a:solidFill>
            <a:srgbClr val="FFFFFF"/>
          </a:solidFill>
          <a:ln w="12700">
            <a:solidFill>
              <a:srgbClr val="E2E8F0"/>
            </a:solidFill>
            <a:prstDash val="solid"/>
          </a:ln>
        </p:spPr>
        <p:txBody>
          <a:bodyPr/>
          <a:lstStyle/>
          <a:p>
            <a:endParaRPr lang="en-US"/>
          </a:p>
        </p:txBody>
      </p:sp>
      <p:sp>
        <p:nvSpPr>
          <p:cNvPr id="21" name="Text 19"/>
          <p:cNvSpPr/>
          <p:nvPr/>
        </p:nvSpPr>
        <p:spPr>
          <a:xfrm>
            <a:off x="914400" y="3099816"/>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Conventions</a:t>
            </a:r>
            <a:endParaRPr lang="en-US" sz="1100" dirty="0"/>
          </a:p>
        </p:txBody>
      </p:sp>
      <p:sp>
        <p:nvSpPr>
          <p:cNvPr id="22" name="Text 20"/>
          <p:cNvSpPr/>
          <p:nvPr/>
        </p:nvSpPr>
        <p:spPr>
          <a:xfrm>
            <a:off x="3703320" y="3099816"/>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Loose</a:t>
            </a:r>
            <a:endParaRPr lang="en-US" sz="1050" dirty="0"/>
          </a:p>
        </p:txBody>
      </p:sp>
      <p:sp>
        <p:nvSpPr>
          <p:cNvPr id="23" name="Text 21"/>
          <p:cNvSpPr/>
          <p:nvPr/>
        </p:nvSpPr>
        <p:spPr>
          <a:xfrm>
            <a:off x="6126480" y="3099816"/>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Atom-based</a:t>
            </a:r>
            <a:endParaRPr lang="en-US" sz="1050" dirty="0"/>
          </a:p>
        </p:txBody>
      </p:sp>
      <p:sp>
        <p:nvSpPr>
          <p:cNvPr id="24" name="Text 22"/>
          <p:cNvSpPr/>
          <p:nvPr/>
        </p:nvSpPr>
        <p:spPr>
          <a:xfrm>
            <a:off x="8549640" y="3099816"/>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Strong (slices, selectors, tags)</a:t>
            </a:r>
            <a:endParaRPr lang="en-US" sz="1050" dirty="0"/>
          </a:p>
        </p:txBody>
      </p:sp>
      <p:sp>
        <p:nvSpPr>
          <p:cNvPr id="25" name="Shape 23"/>
          <p:cNvSpPr/>
          <p:nvPr/>
        </p:nvSpPr>
        <p:spPr>
          <a:xfrm>
            <a:off x="777240" y="3712464"/>
            <a:ext cx="10607040" cy="594360"/>
          </a:xfrm>
          <a:prstGeom prst="rect">
            <a:avLst/>
          </a:prstGeom>
          <a:solidFill>
            <a:srgbClr val="F8FAFC"/>
          </a:solidFill>
          <a:ln w="12700">
            <a:solidFill>
              <a:srgbClr val="E2E8F0"/>
            </a:solidFill>
            <a:prstDash val="solid"/>
          </a:ln>
        </p:spPr>
        <p:txBody>
          <a:bodyPr/>
          <a:lstStyle/>
          <a:p>
            <a:endParaRPr lang="en-US"/>
          </a:p>
        </p:txBody>
      </p:sp>
      <p:sp>
        <p:nvSpPr>
          <p:cNvPr id="26" name="Text 24"/>
          <p:cNvSpPr/>
          <p:nvPr/>
        </p:nvSpPr>
        <p:spPr>
          <a:xfrm>
            <a:off x="914400" y="3758184"/>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DevTools</a:t>
            </a:r>
            <a:endParaRPr lang="en-US" sz="1100" dirty="0"/>
          </a:p>
        </p:txBody>
      </p:sp>
      <p:sp>
        <p:nvSpPr>
          <p:cNvPr id="27" name="Text 25"/>
          <p:cNvSpPr/>
          <p:nvPr/>
        </p:nvSpPr>
        <p:spPr>
          <a:xfrm>
            <a:off x="3703320" y="3758184"/>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Good</a:t>
            </a:r>
            <a:endParaRPr lang="en-US" sz="1050" dirty="0"/>
          </a:p>
        </p:txBody>
      </p:sp>
      <p:sp>
        <p:nvSpPr>
          <p:cNvPr id="28" name="Text 26"/>
          <p:cNvSpPr/>
          <p:nvPr/>
        </p:nvSpPr>
        <p:spPr>
          <a:xfrm>
            <a:off x="6126480" y="3758184"/>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Functional</a:t>
            </a:r>
            <a:endParaRPr lang="en-US" sz="1050" dirty="0"/>
          </a:p>
        </p:txBody>
      </p:sp>
      <p:sp>
        <p:nvSpPr>
          <p:cNvPr id="29" name="Text 27"/>
          <p:cNvSpPr/>
          <p:nvPr/>
        </p:nvSpPr>
        <p:spPr>
          <a:xfrm>
            <a:off x="8549640" y="3758184"/>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Best in class</a:t>
            </a:r>
            <a:endParaRPr lang="en-US" sz="1050" dirty="0"/>
          </a:p>
        </p:txBody>
      </p:sp>
      <p:sp>
        <p:nvSpPr>
          <p:cNvPr id="30" name="Shape 28"/>
          <p:cNvSpPr/>
          <p:nvPr/>
        </p:nvSpPr>
        <p:spPr>
          <a:xfrm>
            <a:off x="777240" y="4370832"/>
            <a:ext cx="10607040" cy="594360"/>
          </a:xfrm>
          <a:prstGeom prst="rect">
            <a:avLst/>
          </a:prstGeom>
          <a:solidFill>
            <a:srgbClr val="FFFFFF"/>
          </a:solidFill>
          <a:ln w="12700">
            <a:solidFill>
              <a:srgbClr val="E2E8F0"/>
            </a:solidFill>
            <a:prstDash val="solid"/>
          </a:ln>
        </p:spPr>
        <p:txBody>
          <a:bodyPr/>
          <a:lstStyle/>
          <a:p>
            <a:endParaRPr lang="en-US"/>
          </a:p>
        </p:txBody>
      </p:sp>
      <p:sp>
        <p:nvSpPr>
          <p:cNvPr id="31" name="Text 29"/>
          <p:cNvSpPr/>
          <p:nvPr/>
        </p:nvSpPr>
        <p:spPr>
          <a:xfrm>
            <a:off x="914400" y="4416552"/>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Server state</a:t>
            </a:r>
            <a:endParaRPr lang="en-US" sz="1100" dirty="0"/>
          </a:p>
        </p:txBody>
      </p:sp>
      <p:sp>
        <p:nvSpPr>
          <p:cNvPr id="32" name="Text 30"/>
          <p:cNvSpPr/>
          <p:nvPr/>
        </p:nvSpPr>
        <p:spPr>
          <a:xfrm>
            <a:off x="3703320" y="4416552"/>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BYO (e.g. TanStack Query)</a:t>
            </a:r>
            <a:endParaRPr lang="en-US" sz="1050" dirty="0"/>
          </a:p>
        </p:txBody>
      </p:sp>
      <p:sp>
        <p:nvSpPr>
          <p:cNvPr id="33" name="Text 31"/>
          <p:cNvSpPr/>
          <p:nvPr/>
        </p:nvSpPr>
        <p:spPr>
          <a:xfrm>
            <a:off x="6126480" y="4416552"/>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BYO or async atoms</a:t>
            </a:r>
            <a:endParaRPr lang="en-US" sz="1050" dirty="0"/>
          </a:p>
        </p:txBody>
      </p:sp>
      <p:sp>
        <p:nvSpPr>
          <p:cNvPr id="34" name="Text 32"/>
          <p:cNvSpPr/>
          <p:nvPr/>
        </p:nvSpPr>
        <p:spPr>
          <a:xfrm>
            <a:off x="8549640" y="4416552"/>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Bundled (RTK Query)</a:t>
            </a:r>
            <a:endParaRPr lang="en-US" sz="1050" dirty="0"/>
          </a:p>
        </p:txBody>
      </p:sp>
      <p:sp>
        <p:nvSpPr>
          <p:cNvPr id="35" name="Shape 33"/>
          <p:cNvSpPr/>
          <p:nvPr/>
        </p:nvSpPr>
        <p:spPr>
          <a:xfrm>
            <a:off x="777240" y="5029200"/>
            <a:ext cx="10607040" cy="594360"/>
          </a:xfrm>
          <a:prstGeom prst="rect">
            <a:avLst/>
          </a:prstGeom>
          <a:solidFill>
            <a:srgbClr val="F8FAFC"/>
          </a:solidFill>
          <a:ln w="12700">
            <a:solidFill>
              <a:srgbClr val="E2E8F0"/>
            </a:solidFill>
            <a:prstDash val="solid"/>
          </a:ln>
        </p:spPr>
        <p:txBody>
          <a:bodyPr/>
          <a:lstStyle/>
          <a:p>
            <a:endParaRPr lang="en-US"/>
          </a:p>
        </p:txBody>
      </p:sp>
      <p:sp>
        <p:nvSpPr>
          <p:cNvPr id="36" name="Text 34"/>
          <p:cNvSpPr/>
          <p:nvPr/>
        </p:nvSpPr>
        <p:spPr>
          <a:xfrm>
            <a:off x="914400" y="5074920"/>
            <a:ext cx="2743200" cy="502920"/>
          </a:xfrm>
          <a:prstGeom prst="rect">
            <a:avLst/>
          </a:prstGeom>
          <a:noFill/>
          <a:ln/>
        </p:spPr>
        <p:txBody>
          <a:bodyPr wrap="square" lIns="0" tIns="0" rIns="0" bIns="0" rtlCol="0" anchor="ctr"/>
          <a:lstStyle/>
          <a:p>
            <a:pPr marL="0" indent="0">
              <a:buNone/>
            </a:pPr>
            <a:r>
              <a:rPr lang="en-US" sz="1100" b="1" dirty="0">
                <a:solidFill>
                  <a:srgbClr val="0F172A"/>
                </a:solidFill>
                <a:latin typeface="Arial" pitchFamily="34" charset="0"/>
                <a:ea typeface="Arial" pitchFamily="34" charset="-122"/>
                <a:cs typeface="Arial" pitchFamily="34" charset="-120"/>
              </a:rPr>
              <a:t>Best for</a:t>
            </a:r>
            <a:endParaRPr lang="en-US" sz="1100" dirty="0"/>
          </a:p>
        </p:txBody>
      </p:sp>
      <p:sp>
        <p:nvSpPr>
          <p:cNvPr id="37" name="Text 35"/>
          <p:cNvSpPr/>
          <p:nvPr/>
        </p:nvSpPr>
        <p:spPr>
          <a:xfrm>
            <a:off x="3703320" y="5074920"/>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Most apps</a:t>
            </a:r>
            <a:endParaRPr lang="en-US" sz="1050" dirty="0"/>
          </a:p>
        </p:txBody>
      </p:sp>
      <p:sp>
        <p:nvSpPr>
          <p:cNvPr id="38" name="Text 36"/>
          <p:cNvSpPr/>
          <p:nvPr/>
        </p:nvSpPr>
        <p:spPr>
          <a:xfrm>
            <a:off x="6126480" y="5074920"/>
            <a:ext cx="237744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Graph-shaped state</a:t>
            </a:r>
            <a:endParaRPr lang="en-US" sz="1050" dirty="0"/>
          </a:p>
        </p:txBody>
      </p:sp>
      <p:sp>
        <p:nvSpPr>
          <p:cNvPr id="39" name="Text 37"/>
          <p:cNvSpPr/>
          <p:nvPr/>
        </p:nvSpPr>
        <p:spPr>
          <a:xfrm>
            <a:off x="8549640" y="5074920"/>
            <a:ext cx="2743200" cy="502920"/>
          </a:xfrm>
          <a:prstGeom prst="rect">
            <a:avLst/>
          </a:prstGeom>
          <a:noFill/>
          <a:ln/>
        </p:spPr>
        <p:txBody>
          <a:bodyPr wrap="square" lIns="0" tIns="0" rIns="0" bIns="0" rtlCol="0" anchor="ctr"/>
          <a:lstStyle/>
          <a:p>
            <a:pPr marL="0" indent="0">
              <a:buNone/>
            </a:pPr>
            <a:r>
              <a:rPr lang="en-US" sz="1050" dirty="0">
                <a:solidFill>
                  <a:srgbClr val="475569"/>
                </a:solidFill>
                <a:latin typeface="Arial" pitchFamily="34" charset="0"/>
                <a:ea typeface="Arial" pitchFamily="34" charset="-122"/>
                <a:cs typeface="Arial" pitchFamily="34" charset="-120"/>
              </a:rPr>
              <a:t>Large teams, conventions matter</a:t>
            </a:r>
            <a:endParaRPr lang="en-US" sz="1050" dirty="0"/>
          </a:p>
        </p:txBody>
      </p:sp>
      <p:sp>
        <p:nvSpPr>
          <p:cNvPr id="40" name="Text 3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41" name="Text 3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28</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Server State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If the data lives on the server, treat it differently. Half your old store probably belongs here.</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state is different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Not your state. Not your source of truth. A cached view of someone else's truth.</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It can change behind your back</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Another user, another tab, a background job — the truth lives elsewhere.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It needs invalidation, not just updates</a:t>
            </a:r>
            <a:endParaRPr lang="en-US" sz="140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Your local edit is provisional until the server confirms.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Loading and error are first-class concerns</a:t>
            </a:r>
            <a:endParaRPr lang="en-US" sz="140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wire is slow and unreliable. Don't pretend otherwise.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It deduplicates across the app</a:t>
            </a:r>
            <a:endParaRPr lang="en-US" sz="140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Two components asking for the same posts shouldn't fire two requests.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28</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TanStack Query — the canonical lever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Module 5 covers it in depth. Here, just see the shape.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600" dirty="0">
                <a:solidFill>
                  <a:srgbClr val="C586C0"/>
                </a:solidFill>
                <a:latin typeface="Courier New" pitchFamily="34" charset="0"/>
                <a:ea typeface="Courier New" pitchFamily="34" charset="-122"/>
                <a:cs typeface="Courier New" pitchFamily="34" charset="-120"/>
              </a:rPr>
              <a:t>import { useQuery, useMutation, useQueryClient } from </a:t>
            </a:r>
            <a:r>
              <a:rPr lang="en-US" sz="1600" dirty="0">
                <a:solidFill>
                  <a:srgbClr val="9CDCFE"/>
                </a:solidFill>
                <a:latin typeface="Courier New" pitchFamily="34" charset="0"/>
                <a:ea typeface="Courier New" pitchFamily="34" charset="-122"/>
                <a:cs typeface="Courier New" pitchFamily="34" charset="-120"/>
              </a:rPr>
              <a:t>'@tanstack/react-query'</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function </a:t>
            </a:r>
            <a:r>
              <a:rPr lang="en-US" sz="1600" dirty="0">
                <a:solidFill>
                  <a:srgbClr val="DCDCAA"/>
                </a:solidFill>
                <a:latin typeface="Courier New" pitchFamily="34" charset="0"/>
                <a:ea typeface="Courier New" pitchFamily="34" charset="-122"/>
                <a:cs typeface="Courier New" pitchFamily="34" charset="-120"/>
              </a:rPr>
              <a:t>PostList</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 data, isPending, error } = </a:t>
            </a:r>
            <a:r>
              <a:rPr lang="en-US" sz="1600" dirty="0">
                <a:solidFill>
                  <a:srgbClr val="DCDCAA"/>
                </a:solidFill>
                <a:latin typeface="Courier New" pitchFamily="34" charset="0"/>
                <a:ea typeface="Courier New" pitchFamily="34" charset="-122"/>
                <a:cs typeface="Courier New" pitchFamily="34" charset="-120"/>
              </a:rPr>
              <a:t>useQuery</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queryKey: ['posts'</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queryFn: () =&gt; api.listPosts(),</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(isPending) </a:t>
            </a:r>
            <a:r>
              <a:rPr lang="en-US" sz="1600" dirty="0">
                <a:solidFill>
                  <a:srgbClr val="9CDCFE"/>
                </a:solidFill>
                <a:latin typeface="Courier New" pitchFamily="34" charset="0"/>
                <a:ea typeface="Courier New" pitchFamily="34" charset="-122"/>
                <a:cs typeface="Courier New" pitchFamily="34" charset="-120"/>
              </a:rPr>
              <a:t>return &lt;Skeleton /&gt;;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if (error) </a:t>
            </a:r>
            <a:r>
              <a:rPr lang="en-US" sz="1600" dirty="0">
                <a:solidFill>
                  <a:srgbClr val="9CDCFE"/>
                </a:solidFill>
                <a:latin typeface="Courier New" pitchFamily="34" charset="0"/>
                <a:ea typeface="Courier New" pitchFamily="34" charset="-122"/>
                <a:cs typeface="Courier New" pitchFamily="34" charset="-120"/>
              </a:rPr>
              <a:t>return &lt;Error error={error} /&gt;;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return &lt;ul&gt;{data.map(p</a:t>
            </a:r>
            <a:r>
              <a:rPr lang="en-US" sz="1600" dirty="0">
                <a:solidFill>
                  <a:srgbClr val="FFFFFF"/>
                </a:solidFill>
                <a:latin typeface="Courier New" pitchFamily="34" charset="0"/>
                <a:ea typeface="Courier New" pitchFamily="34" charset="-122"/>
                <a:cs typeface="Courier New" pitchFamily="34" charset="-120"/>
              </a:rPr>
              <a:t> =&gt; &lt;Post key={p.id} {...p} /&gt;)}&lt;/ul&gt;;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28</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Why this changes everything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When you split server state out, your client store gets dramatically smaller.</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97706"/>
                </a:solidFill>
                <a:latin typeface="Trebuchet MS" pitchFamily="34" charset="0"/>
                <a:ea typeface="Trebuchet MS" pitchFamily="34" charset="-122"/>
                <a:cs typeface="Trebuchet MS" pitchFamily="34" charset="-120"/>
              </a:rPr>
              <a:t>Before — everything in the store</a:t>
            </a:r>
            <a:endParaRPr lang="en-US" sz="1300" dirty="0"/>
          </a:p>
        </p:txBody>
      </p:sp>
      <p:sp>
        <p:nvSpPr>
          <p:cNvPr id="6" name="Text 4"/>
          <p:cNvSpPr/>
          <p:nvPr/>
        </p:nvSpPr>
        <p:spPr>
          <a:xfrm>
            <a:off x="777240" y="1920240"/>
            <a:ext cx="5349240" cy="4114800"/>
          </a:xfrm>
          <a:prstGeom prst="rect">
            <a:avLst/>
          </a:prstGeom>
          <a:noFill/>
          <a:ln/>
        </p:spPr>
        <p:txBody>
          <a:bodyPr wrap="square" lIns="0" tIns="0" rIns="0" bIns="0" rtlCol="0" anchor="t"/>
          <a:lstStyle/>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Auth user object (server)</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Posts list (server)</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Single post by id (server)</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Drafts being edited (client)</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Sidebar open/closed (client)</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Theme (client)</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Notifications panel (server)</a:t>
            </a:r>
            <a:endParaRPr lang="en-US" dirty="0"/>
          </a:p>
          <a:p>
            <a:pPr marL="342900" indent="-342900">
              <a:spcAft>
                <a:spcPts val="200"/>
              </a:spcAft>
              <a:buSzPct val="100000"/>
              <a:buChar char="•"/>
            </a:pPr>
            <a:r>
              <a:rPr lang="en-US" dirty="0">
                <a:solidFill>
                  <a:srgbClr val="475569"/>
                </a:solidFill>
                <a:latin typeface="Arial" pitchFamily="34" charset="0"/>
                <a:ea typeface="Arial" pitchFamily="34" charset="-122"/>
                <a:cs typeface="Arial" pitchFamily="34" charset="-120"/>
              </a:rPr>
              <a:t>Filter selections (client)</a:t>
            </a:r>
            <a:endParaRPr lang="en-US"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After — split by where truth lives</a:t>
            </a:r>
            <a:endParaRPr lang="en-US" sz="1300" dirty="0"/>
          </a:p>
        </p:txBody>
      </p:sp>
      <p:sp>
        <p:nvSpPr>
          <p:cNvPr id="8" name="Text 6"/>
          <p:cNvSpPr/>
          <p:nvPr/>
        </p:nvSpPr>
        <p:spPr>
          <a:xfrm>
            <a:off x="6355080" y="1920240"/>
            <a:ext cx="5029200" cy="4114800"/>
          </a:xfrm>
          <a:prstGeom prst="rect">
            <a:avLst/>
          </a:prstGeom>
          <a:noFill/>
          <a:ln/>
        </p:spPr>
        <p:txBody>
          <a:bodyPr wrap="square" lIns="0" tIns="0" rIns="0" bIns="0" rtlCol="0" anchor="t"/>
          <a:lstStyle/>
          <a:p>
            <a:pPr marL="0" indent="0">
              <a:spcAft>
                <a:spcPts val="400"/>
              </a:spcAft>
              <a:buNone/>
            </a:pPr>
            <a:r>
              <a:rPr lang="en-US" b="1" dirty="0">
                <a:solidFill>
                  <a:srgbClr val="00B8D9"/>
                </a:solidFill>
                <a:latin typeface="Arial" pitchFamily="34" charset="0"/>
                <a:ea typeface="Arial" pitchFamily="34" charset="-122"/>
                <a:cs typeface="Arial" pitchFamily="34" charset="-120"/>
              </a:rPr>
              <a:t>TanStack Query (server)</a:t>
            </a:r>
            <a:endParaRPr lang="en-US" dirty="0"/>
          </a:p>
          <a:p>
            <a:pPr marL="0" indent="0">
              <a:spcAft>
                <a:spcPts val="400"/>
              </a:spcAft>
              <a:buNone/>
            </a:pPr>
            <a:r>
              <a:rPr lang="en-US" dirty="0">
                <a:solidFill>
                  <a:srgbClr val="475569"/>
                </a:solidFill>
                <a:latin typeface="Arial" pitchFamily="34" charset="0"/>
                <a:ea typeface="Arial" pitchFamily="34" charset="-122"/>
                <a:cs typeface="Arial" pitchFamily="34" charset="-120"/>
              </a:rPr>
              <a:t>User · Posts · Single post · Notifications</a:t>
            </a:r>
            <a:endParaRPr lang="en-US" dirty="0"/>
          </a:p>
          <a:p>
            <a:pPr marL="0" indent="0">
              <a:spcAft>
                <a:spcPts val="400"/>
              </a:spcAft>
              <a:buNone/>
            </a:pPr>
            <a:r>
              <a:rPr lang="en-US" dirty="0">
                <a:solidFill>
                  <a:srgbClr val="475569"/>
                </a:solidFill>
                <a:latin typeface="Arial" pitchFamily="34" charset="0"/>
                <a:ea typeface="Arial" pitchFamily="34" charset="-122"/>
                <a:cs typeface="Arial" pitchFamily="34" charset="-120"/>
              </a:rPr>
              <a:t> </a:t>
            </a:r>
            <a:endParaRPr lang="en-US" dirty="0"/>
          </a:p>
          <a:p>
            <a:pPr marL="0" indent="0">
              <a:spcAft>
                <a:spcPts val="400"/>
              </a:spcAft>
              <a:buNone/>
            </a:pPr>
            <a:r>
              <a:rPr lang="en-US" b="1" dirty="0">
                <a:solidFill>
                  <a:srgbClr val="00B8D9"/>
                </a:solidFill>
                <a:latin typeface="Arial" pitchFamily="34" charset="0"/>
                <a:ea typeface="Arial" pitchFamily="34" charset="-122"/>
                <a:cs typeface="Arial" pitchFamily="34" charset="-120"/>
              </a:rPr>
              <a:t>Client store (or just useState)</a:t>
            </a:r>
            <a:endParaRPr lang="en-US" dirty="0"/>
          </a:p>
          <a:p>
            <a:pPr marL="0" indent="0">
              <a:spcAft>
                <a:spcPts val="400"/>
              </a:spcAft>
              <a:buNone/>
            </a:pPr>
            <a:r>
              <a:rPr lang="en-US" dirty="0">
                <a:solidFill>
                  <a:srgbClr val="475569"/>
                </a:solidFill>
                <a:latin typeface="Arial" pitchFamily="34" charset="0"/>
                <a:ea typeface="Arial" pitchFamily="34" charset="-122"/>
                <a:cs typeface="Arial" pitchFamily="34" charset="-120"/>
              </a:rPr>
              <a:t>Drafts · Sidebar · Theme · Filters</a:t>
            </a:r>
            <a:endParaRPr lang="en-US"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28</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2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Picking and Defending</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The framework on one slide. Then the lab.</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decision framework — one more time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Five questions you ask, in order, for any piece of state.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1874520"/>
            <a:ext cx="411480" cy="41148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187452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50292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Where does the source of truth live?</a:t>
            </a:r>
            <a:endParaRPr lang="en-US" sz="1250" dirty="0"/>
          </a:p>
        </p:txBody>
      </p:sp>
      <p:sp>
        <p:nvSpPr>
          <p:cNvPr id="9" name="Text 7"/>
          <p:cNvSpPr/>
          <p:nvPr/>
        </p:nvSpPr>
        <p:spPr>
          <a:xfrm>
            <a:off x="6629400" y="1737360"/>
            <a:ext cx="46634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Server → TanStack Query / RTK Query / Server Component.</a:t>
            </a:r>
            <a:endParaRPr lang="en-US" sz="120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2743200"/>
            <a:ext cx="411480" cy="41148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27432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50292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Used in only one component or its children?</a:t>
            </a:r>
            <a:endParaRPr lang="en-US" sz="1250" dirty="0"/>
          </a:p>
        </p:txBody>
      </p:sp>
      <p:sp>
        <p:nvSpPr>
          <p:cNvPr id="14" name="Text 12"/>
          <p:cNvSpPr/>
          <p:nvPr/>
        </p:nvSpPr>
        <p:spPr>
          <a:xfrm>
            <a:off x="6629400" y="2606040"/>
            <a:ext cx="46634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Yes → useState or useReducer.</a:t>
            </a:r>
            <a:endParaRPr lang="en-US" sz="120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3611880"/>
            <a:ext cx="411480" cy="41148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36118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50292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Could you lift it to a common ancestor?</a:t>
            </a:r>
            <a:endParaRPr lang="en-US" sz="1250" dirty="0"/>
          </a:p>
        </p:txBody>
      </p:sp>
      <p:sp>
        <p:nvSpPr>
          <p:cNvPr id="19" name="Text 17"/>
          <p:cNvSpPr/>
          <p:nvPr/>
        </p:nvSpPr>
        <p:spPr>
          <a:xfrm>
            <a:off x="6629400" y="3474720"/>
            <a:ext cx="46634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Yes, and it stays small → just lift. Add Context for plumbing.</a:t>
            </a:r>
            <a:endParaRPr lang="en-US" sz="120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960120" y="4480560"/>
            <a:ext cx="411480" cy="411480"/>
          </a:xfrm>
          <a:prstGeom prst="ellipse">
            <a:avLst/>
          </a:prstGeom>
          <a:solidFill>
            <a:srgbClr val="00B8D9"/>
          </a:solidFill>
          <a:ln w="12700">
            <a:solidFill>
              <a:srgbClr val="00B8D9"/>
            </a:solidFill>
            <a:prstDash val="solid"/>
          </a:ln>
        </p:spPr>
        <p:txBody>
          <a:bodyPr/>
          <a:lstStyle/>
          <a:p>
            <a:endParaRPr lang="en-US"/>
          </a:p>
        </p:txBody>
      </p:sp>
      <p:sp>
        <p:nvSpPr>
          <p:cNvPr id="22" name="Text 20"/>
          <p:cNvSpPr/>
          <p:nvPr/>
        </p:nvSpPr>
        <p:spPr>
          <a:xfrm>
            <a:off x="960120" y="4480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50292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Is it shared widely across the app?</a:t>
            </a:r>
            <a:endParaRPr lang="en-US" sz="1250" dirty="0"/>
          </a:p>
        </p:txBody>
      </p:sp>
      <p:sp>
        <p:nvSpPr>
          <p:cNvPr id="24" name="Text 22"/>
          <p:cNvSpPr/>
          <p:nvPr/>
        </p:nvSpPr>
        <p:spPr>
          <a:xfrm>
            <a:off x="6629400" y="4343400"/>
            <a:ext cx="46634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Yes → reach for a store.</a:t>
            </a:r>
            <a:endParaRPr lang="en-US" sz="120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960120" y="5349240"/>
            <a:ext cx="411480" cy="41148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960120" y="5349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50292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Which store?</a:t>
            </a:r>
            <a:endParaRPr lang="en-US" sz="1250" dirty="0"/>
          </a:p>
        </p:txBody>
      </p:sp>
      <p:sp>
        <p:nvSpPr>
          <p:cNvPr id="29" name="Text 27"/>
          <p:cNvSpPr/>
          <p:nvPr/>
        </p:nvSpPr>
        <p:spPr>
          <a:xfrm>
            <a:off x="6629400" y="5212080"/>
            <a:ext cx="4663440" cy="64008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Most: Zustand. Graph-shaped: Jotai. Large team + conventions: RTK.</a:t>
            </a:r>
            <a:endParaRPr lang="en-US" sz="120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28</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mistakes in state management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watch for when you ask AI to add state to your app.</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Reaching for Redux when useState would do — over-engineering</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Putting server data in a client store — duplicates, stale-state bugs</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Context with five values + setters — re-render storm</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useState mirroring props that should just be calculated</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Multiple stores when one slice would do</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localStorage for everything, including sensitive tokens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28</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4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56232"/>
            <a:ext cx="384048" cy="384048"/>
          </a:xfrm>
          <a:prstGeom prst="rect">
            <a:avLst/>
          </a:prstGeom>
        </p:spPr>
      </p:pic>
      <p:sp>
        <p:nvSpPr>
          <p:cNvPr id="7" name="Text 4"/>
          <p:cNvSpPr/>
          <p:nvPr/>
        </p:nvSpPr>
        <p:spPr>
          <a:xfrm>
            <a:off x="1554480" y="178308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Start with the question 'where does this state live?' — server vs client decides half the choice.</a:t>
            </a:r>
            <a:endParaRPr lang="en-US" sz="1250" dirty="0"/>
          </a:p>
        </p:txBody>
      </p:sp>
      <p:sp>
        <p:nvSpPr>
          <p:cNvPr id="8" name="Shape 5"/>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724912"/>
            <a:ext cx="384048" cy="384048"/>
          </a:xfrm>
          <a:prstGeom prst="rect">
            <a:avLst/>
          </a:prstGeom>
        </p:spPr>
      </p:pic>
      <p:sp>
        <p:nvSpPr>
          <p:cNvPr id="10" name="Text 6"/>
          <p:cNvSpPr/>
          <p:nvPr/>
        </p:nvSpPr>
        <p:spPr>
          <a:xfrm>
            <a:off x="1554480" y="265176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useState is still the right answer for most state. Don't upgrade reflexively.</a:t>
            </a:r>
            <a:endParaRPr lang="en-US" sz="1250" dirty="0"/>
          </a:p>
        </p:txBody>
      </p:sp>
      <p:sp>
        <p:nvSpPr>
          <p:cNvPr id="11" name="Shape 7"/>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593592"/>
            <a:ext cx="384048" cy="384048"/>
          </a:xfrm>
          <a:prstGeom prst="rect">
            <a:avLst/>
          </a:prstGeom>
        </p:spPr>
      </p:pic>
      <p:sp>
        <p:nvSpPr>
          <p:cNvPr id="13" name="Text 8"/>
          <p:cNvSpPr/>
          <p:nvPr/>
        </p:nvSpPr>
        <p:spPr>
          <a:xfrm>
            <a:off x="1554480" y="352044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Context is plumbing, not a store. If you have five values in a context, that's a store now.</a:t>
            </a:r>
            <a:endParaRPr lang="en-US" sz="1250" dirty="0"/>
          </a:p>
        </p:txBody>
      </p:sp>
      <p:sp>
        <p:nvSpPr>
          <p:cNvPr id="14" name="Shape 9"/>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4462272"/>
            <a:ext cx="384048" cy="384048"/>
          </a:xfrm>
          <a:prstGeom prst="rect">
            <a:avLst/>
          </a:prstGeom>
        </p:spPr>
      </p:pic>
      <p:sp>
        <p:nvSpPr>
          <p:cNvPr id="16" name="Text 10"/>
          <p:cNvSpPr/>
          <p:nvPr/>
        </p:nvSpPr>
        <p:spPr>
          <a:xfrm>
            <a:off x="1554480" y="438912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Zustand is the right default client store for most apps.</a:t>
            </a:r>
            <a:endParaRPr lang="en-US" sz="1250" dirty="0"/>
          </a:p>
        </p:txBody>
      </p:sp>
      <p:sp>
        <p:nvSpPr>
          <p:cNvPr id="17" name="Shape 11"/>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5330952"/>
            <a:ext cx="384048" cy="384048"/>
          </a:xfrm>
          <a:prstGeom prst="rect">
            <a:avLst/>
          </a:prstGeom>
        </p:spPr>
      </p:pic>
      <p:sp>
        <p:nvSpPr>
          <p:cNvPr id="19" name="Text 12"/>
          <p:cNvSpPr/>
          <p:nvPr/>
        </p:nvSpPr>
        <p:spPr>
          <a:xfrm>
            <a:off x="1554480" y="5257800"/>
            <a:ext cx="9784080" cy="54864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TanStack Query (or RTK Query) eats half of what people used to put in Redux.</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28</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3</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Pick a tool. Refactor the social-media app's state. Defend your choice in 60 seconds.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 3: Pick-Your-Tool State Refactor</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90 minutes  ·  Hands-on  ·  Three reference solutions (one per tool)</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Start with the social-media app — messy prop-drilling and ad-hoc context overuse</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Pick one of: Zustand, Jotai, or RTK + RTK Query</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Refactor the state with your chosen tool</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Present a 60-second pitch on why your tool was right for this app</a:t>
            </a:r>
            <a:endParaRPr lang="en-US" dirty="0"/>
          </a:p>
          <a:p>
            <a:pPr marL="342900" indent="-342900">
              <a:spcAft>
                <a:spcPts val="600"/>
              </a:spcAft>
              <a:buSzPct val="100000"/>
              <a:buChar char="•"/>
            </a:pPr>
            <a:r>
              <a:rPr lang="en-US" dirty="0">
                <a:solidFill>
                  <a:srgbClr val="475569"/>
                </a:solidFill>
                <a:latin typeface="Arial" pitchFamily="34" charset="0"/>
                <a:ea typeface="Arial" pitchFamily="34" charset="-122"/>
                <a:cs typeface="Arial" pitchFamily="34" charset="-120"/>
              </a:rPr>
              <a:t>Stretch: do it again with a second tool and write a comparison</a:t>
            </a:r>
            <a:endParaRPr lang="en-US"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28</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After the lab: Module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Modern data fetching — TanStack Query in depth.</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Module 5 picks up where the server-state section ended:</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The four flavors of data fetching today— client fetch, TanStack Query, Suspense + use(), server-side</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TanStack Query in depth — queries, mutations, invalidation, optimistic updates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Error boundaries and retry strategies that don't lie to your users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Lab 4: convert the social-media app's ad-hoc fetch calls to TanStack Query, with optimistic updates</a:t>
            </a:r>
            <a:endParaRPr lang="en-US" sz="16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4 — State Management</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28 / 28</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5</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Modern Data Fetching</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marL="0" indent="0">
              <a:buNone/>
            </a:pPr>
            <a:r>
              <a:rPr lang="en-US" sz="2000" i="1" dirty="0">
                <a:solidFill>
                  <a:srgbClr val="CBF1F6"/>
                </a:solidFill>
                <a:latin typeface="Arial" pitchFamily="34" charset="0"/>
                <a:ea typeface="Arial" pitchFamily="34" charset="-122"/>
                <a:cs typeface="Arial" pitchFamily="34" charset="-120"/>
              </a:rPr>
              <a:t>Four flavors. One canonical client tool. A clear story for loading and errors.</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60 minutes  ·  Lecture + demos  ·  Lab 4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Four flavors of data fetching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Each one solves a real problem. The skill is matching them to the situation.</a:t>
            </a:r>
            <a:endParaRPr lang="en-US" sz="1400" dirty="0"/>
          </a:p>
        </p:txBody>
      </p:sp>
      <p:sp>
        <p:nvSpPr>
          <p:cNvPr id="5" name="Shape 3"/>
          <p:cNvSpPr/>
          <p:nvPr/>
        </p:nvSpPr>
        <p:spPr>
          <a:xfrm>
            <a:off x="777240" y="1691640"/>
            <a:ext cx="10607040" cy="960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92024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Client fetch + useEffect</a:t>
            </a:r>
            <a:endParaRPr lang="en-US" sz="1500" dirty="0"/>
          </a:p>
        </p:txBody>
      </p:sp>
      <p:sp>
        <p:nvSpPr>
          <p:cNvPr id="8" name="Text 5"/>
          <p:cNvSpPr/>
          <p:nvPr/>
        </p:nvSpPr>
        <p:spPr>
          <a:xfrm>
            <a:off x="1691640" y="2148840"/>
            <a:ext cx="9601200" cy="5029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The from-scratch baseline. Works, but you write everything: loading, error, retry, cache.</a:t>
            </a:r>
            <a:endParaRPr lang="en-US" sz="1250" dirty="0"/>
          </a:p>
        </p:txBody>
      </p:sp>
      <p:sp>
        <p:nvSpPr>
          <p:cNvPr id="9" name="Shape 6"/>
          <p:cNvSpPr/>
          <p:nvPr/>
        </p:nvSpPr>
        <p:spPr>
          <a:xfrm>
            <a:off x="777240" y="2834640"/>
            <a:ext cx="10607040" cy="96012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3063240"/>
            <a:ext cx="502920" cy="502920"/>
          </a:xfrm>
          <a:prstGeom prst="rect">
            <a:avLst/>
          </a:prstGeom>
        </p:spPr>
      </p:pic>
      <p:sp>
        <p:nvSpPr>
          <p:cNvPr id="11" name="Text 7"/>
          <p:cNvSpPr/>
          <p:nvPr/>
        </p:nvSpPr>
        <p:spPr>
          <a:xfrm>
            <a:off x="1691640" y="292608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TanStack Query / SWR / RTK Query</a:t>
            </a:r>
            <a:endParaRPr lang="en-US" sz="1500" dirty="0"/>
          </a:p>
        </p:txBody>
      </p:sp>
      <p:sp>
        <p:nvSpPr>
          <p:cNvPr id="12" name="Text 8"/>
          <p:cNvSpPr/>
          <p:nvPr/>
        </p:nvSpPr>
        <p:spPr>
          <a:xfrm>
            <a:off x="1691640" y="3291840"/>
            <a:ext cx="9601200" cy="5029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The canonical client-driven option. Cache, dedupe, retry, invalidation — solved.</a:t>
            </a:r>
            <a:endParaRPr lang="en-US" sz="1250" dirty="0"/>
          </a:p>
        </p:txBody>
      </p:sp>
      <p:sp>
        <p:nvSpPr>
          <p:cNvPr id="13" name="Shape 9"/>
          <p:cNvSpPr/>
          <p:nvPr/>
        </p:nvSpPr>
        <p:spPr>
          <a:xfrm>
            <a:off x="777240" y="3977640"/>
            <a:ext cx="10607040" cy="96012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4206240"/>
            <a:ext cx="502920" cy="502920"/>
          </a:xfrm>
          <a:prstGeom prst="rect">
            <a:avLst/>
          </a:prstGeom>
        </p:spPr>
      </p:pic>
      <p:sp>
        <p:nvSpPr>
          <p:cNvPr id="15" name="Text 10"/>
          <p:cNvSpPr/>
          <p:nvPr/>
        </p:nvSpPr>
        <p:spPr>
          <a:xfrm>
            <a:off x="1691640" y="406908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Suspense + use()</a:t>
            </a:r>
            <a:endParaRPr lang="en-US" sz="1500" dirty="0"/>
          </a:p>
        </p:txBody>
      </p:sp>
      <p:sp>
        <p:nvSpPr>
          <p:cNvPr id="16" name="Text 11"/>
          <p:cNvSpPr/>
          <p:nvPr/>
        </p:nvSpPr>
        <p:spPr>
          <a:xfrm>
            <a:off x="1691640" y="4434840"/>
            <a:ext cx="9601200" cy="5029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The React-native flavor. Promise in, value out. Pairs with route-level data fetching.</a:t>
            </a:r>
            <a:endParaRPr lang="en-US" sz="1250" dirty="0"/>
          </a:p>
        </p:txBody>
      </p:sp>
      <p:sp>
        <p:nvSpPr>
          <p:cNvPr id="17" name="Shape 12"/>
          <p:cNvSpPr/>
          <p:nvPr/>
        </p:nvSpPr>
        <p:spPr>
          <a:xfrm>
            <a:off x="777240" y="5120640"/>
            <a:ext cx="10607040" cy="96012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5349240"/>
            <a:ext cx="502920" cy="502920"/>
          </a:xfrm>
          <a:prstGeom prst="rect">
            <a:avLst/>
          </a:prstGeom>
        </p:spPr>
      </p:pic>
      <p:sp>
        <p:nvSpPr>
          <p:cNvPr id="19" name="Text 13"/>
          <p:cNvSpPr/>
          <p:nvPr/>
        </p:nvSpPr>
        <p:spPr>
          <a:xfrm>
            <a:off x="1691640" y="5212080"/>
            <a:ext cx="9601200" cy="36576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Server-side (RSC + loaders)</a:t>
            </a:r>
            <a:endParaRPr lang="en-US" sz="1500" dirty="0"/>
          </a:p>
        </p:txBody>
      </p:sp>
      <p:sp>
        <p:nvSpPr>
          <p:cNvPr id="20" name="Text 14"/>
          <p:cNvSpPr/>
          <p:nvPr/>
        </p:nvSpPr>
        <p:spPr>
          <a:xfrm>
            <a:off x="1691640" y="5577840"/>
            <a:ext cx="9601200" cy="502920"/>
          </a:xfrm>
          <a:prstGeom prst="rect">
            <a:avLst/>
          </a:prstGeom>
          <a:noFill/>
          <a:ln/>
        </p:spPr>
        <p:txBody>
          <a:bodyPr wrap="square" lIns="0" tIns="0" rIns="0" bIns="0" rtlCol="0" anchor="t"/>
          <a:lstStyle/>
          <a:p>
            <a:pPr marL="0" indent="0">
              <a:buNone/>
            </a:pPr>
            <a:r>
              <a:rPr lang="en-US" sz="1250" dirty="0">
                <a:solidFill>
                  <a:srgbClr val="475569"/>
                </a:solidFill>
                <a:latin typeface="Arial" pitchFamily="34" charset="0"/>
                <a:ea typeface="Arial" pitchFamily="34" charset="-122"/>
                <a:cs typeface="Arial" pitchFamily="34" charset="-120"/>
              </a:rPr>
              <a:t>Fetch on the server, render on arrival. No client-side fetch at all for this data.</a:t>
            </a:r>
            <a:endParaRPr lang="en-US" sz="12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Four Flavors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What each one is for. Where each one fails. How to pick.</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Client fetch + useEffect — the baseline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Works for one component. Falls apart at scale.</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3931920"/>
          </a:xfrm>
          <a:prstGeom prst="rect">
            <a:avLst/>
          </a:prstGeom>
          <a:noFill/>
          <a:ln/>
        </p:spPr>
        <p:txBody>
          <a:bodyPr wrap="square" lIns="0" tIns="0" rIns="0" bIns="0" rtlCol="0" anchor="t"/>
          <a:lstStyle/>
          <a:p>
            <a:pPr marL="0" indent="0">
              <a:buNone/>
            </a:pPr>
            <a:r>
              <a:rPr lang="en-US" sz="1200" dirty="0">
                <a:solidFill>
                  <a:srgbClr val="C586C0"/>
                </a:solidFill>
                <a:latin typeface="Courier New" pitchFamily="34" charset="0"/>
                <a:ea typeface="Courier New" pitchFamily="34" charset="-122"/>
                <a:cs typeface="Courier New" pitchFamily="34" charset="-120"/>
              </a:rPr>
              <a:t>function </a:t>
            </a:r>
            <a:r>
              <a:rPr lang="en-US" sz="1200" dirty="0">
                <a:solidFill>
                  <a:srgbClr val="DCDCAA"/>
                </a:solidFill>
                <a:latin typeface="Courier New" pitchFamily="34" charset="0"/>
                <a:ea typeface="Courier New" pitchFamily="34" charset="-122"/>
                <a:cs typeface="Courier New" pitchFamily="34" charset="-120"/>
              </a:rPr>
              <a:t>Posts</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[posts, setPosts]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[loading, setLoading]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9CDCFE"/>
                </a:solidFill>
                <a:latin typeface="Courier New" pitchFamily="34" charset="0"/>
                <a:ea typeface="Courier New" pitchFamily="34" charset="-122"/>
                <a:cs typeface="Courier New" pitchFamily="34" charset="-120"/>
              </a:rPr>
              <a:t>(</a:t>
            </a:r>
            <a:r>
              <a:rPr lang="en-US" sz="1200" dirty="0">
                <a:solidFill>
                  <a:srgbClr val="C586C0"/>
                </a:solidFill>
                <a:latin typeface="Courier New" pitchFamily="34" charset="0"/>
                <a:ea typeface="Courier New" pitchFamily="34" charset="-122"/>
                <a:cs typeface="Courier New" pitchFamily="34" charset="-120"/>
              </a:rPr>
              <a:t>true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[error, setError]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9CDCFE"/>
                </a:solidFill>
                <a:latin typeface="Courier New" pitchFamily="34" charset="0"/>
                <a:ea typeface="Courier New" pitchFamily="34" charset="-122"/>
                <a:cs typeface="Courier New" pitchFamily="34" charset="-120"/>
              </a:rPr>
              <a:t>(</a:t>
            </a:r>
            <a:r>
              <a:rPr lang="en-US" sz="1200" dirty="0">
                <a:solidFill>
                  <a:srgbClr val="C586C0"/>
                </a:solidFill>
                <a:latin typeface="Courier New" pitchFamily="34" charset="0"/>
                <a:ea typeface="Courier New" pitchFamily="34" charset="-122"/>
                <a:cs typeface="Courier New" pitchFamily="34" charset="-120"/>
              </a:rPr>
              <a:t>null</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useEffect</a:t>
            </a: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fetch(</a:t>
            </a:r>
            <a:r>
              <a:rPr lang="en-US" sz="1200" dirty="0">
                <a:solidFill>
                  <a:srgbClr val="9CDCFE"/>
                </a:solidFill>
                <a:latin typeface="Courier New" pitchFamily="34" charset="0"/>
                <a:ea typeface="Courier New" pitchFamily="34" charset="-122"/>
                <a:cs typeface="Courier New" pitchFamily="34" charset="-120"/>
              </a:rPr>
              <a:t>'/api/posts'</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.then((r) =&gt; r.json())</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.then(setPosts)</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.catch(setError)</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.finally(() =&gt; setLoading(</a:t>
            </a:r>
            <a:r>
              <a:rPr lang="en-US" sz="1200" dirty="0">
                <a:solidFill>
                  <a:srgbClr val="C586C0"/>
                </a:solidFill>
                <a:latin typeface="Courier New" pitchFamily="34" charset="0"/>
                <a:ea typeface="Courier New" pitchFamily="34" charset="-122"/>
                <a:cs typeface="Courier New" pitchFamily="34" charset="-120"/>
              </a:rPr>
              <a:t>false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 … render</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What this doesn't do:</a:t>
            </a:r>
            <a:endParaRPr lang="en-US" sz="1400" dirty="0"/>
          </a:p>
        </p:txBody>
      </p:sp>
      <p:sp>
        <p:nvSpPr>
          <p:cNvPr id="8" name="Text 6"/>
          <p:cNvSpPr/>
          <p:nvPr/>
        </p:nvSpPr>
        <p:spPr>
          <a:xfrm>
            <a:off x="6949440" y="1920240"/>
            <a:ext cx="4572000" cy="3657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cache — visiting twice fetches twice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deduplication — two components fetch the same URL twice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retry on transient failures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invalidation after a mutation</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No background refresh — stale forever</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Race conditions if effect re-runs while old request pending</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TanStack Query — the canonical client option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Same problem, three lines instead of fifteen. Plus everything client fetch didn't do.</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383280"/>
          </a:xfrm>
          <a:prstGeom prst="rect">
            <a:avLst/>
          </a:prstGeom>
          <a:noFill/>
          <a:ln/>
        </p:spPr>
        <p:txBody>
          <a:bodyPr wrap="square" lIns="0" tIns="0" rIns="0" bIns="0" rtlCol="0" anchor="t"/>
          <a:lstStyle/>
          <a:p>
            <a:pPr marL="0" indent="0">
              <a:buNone/>
            </a:pPr>
            <a:r>
              <a:rPr lang="en-US" dirty="0">
                <a:solidFill>
                  <a:srgbClr val="C586C0"/>
                </a:solidFill>
                <a:latin typeface="Courier New" pitchFamily="34" charset="0"/>
                <a:ea typeface="Courier New" pitchFamily="34" charset="-122"/>
                <a:cs typeface="Courier New" pitchFamily="34" charset="-120"/>
              </a:rPr>
              <a:t>function </a:t>
            </a:r>
            <a:r>
              <a:rPr lang="en-US" dirty="0">
                <a:solidFill>
                  <a:srgbClr val="DCDCAA"/>
                </a:solidFill>
                <a:latin typeface="Courier New" pitchFamily="34" charset="0"/>
                <a:ea typeface="Courier New" pitchFamily="34" charset="-122"/>
                <a:cs typeface="Courier New" pitchFamily="34" charset="-120"/>
              </a:rPr>
              <a:t>Posts</a:t>
            </a: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const { data, isPending, error } = </a:t>
            </a:r>
            <a:r>
              <a:rPr lang="en-US" dirty="0">
                <a:solidFill>
                  <a:srgbClr val="DCDCAA"/>
                </a:solidFill>
                <a:latin typeface="Courier New" pitchFamily="34" charset="0"/>
                <a:ea typeface="Courier New" pitchFamily="34" charset="-122"/>
                <a:cs typeface="Courier New" pitchFamily="34" charset="-120"/>
              </a:rPr>
              <a:t>useQuery</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queryKey: ['posts'</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queryFn: () =&gt; </a:t>
            </a:r>
            <a:r>
              <a:rPr lang="en-US" dirty="0">
                <a:solidFill>
                  <a:srgbClr val="DCDCAA"/>
                </a:solidFill>
                <a:latin typeface="Courier New" pitchFamily="34" charset="0"/>
                <a:ea typeface="Courier New" pitchFamily="34" charset="-122"/>
                <a:cs typeface="Courier New" pitchFamily="34" charset="-120"/>
              </a:rPr>
              <a:t>fetch</a:t>
            </a:r>
            <a:r>
              <a:rPr lang="en-US" dirty="0">
                <a:solidFill>
                  <a:srgbClr val="9CDCFE"/>
                </a:solidFill>
                <a:latin typeface="Courier New" pitchFamily="34" charset="0"/>
                <a:ea typeface="Courier New" pitchFamily="34" charset="-122"/>
                <a:cs typeface="Courier New" pitchFamily="34" charset="-120"/>
              </a:rPr>
              <a:t>('/api/posts'</a:t>
            </a:r>
            <a:r>
              <a:rPr lang="en-US" dirty="0">
                <a:solidFill>
                  <a:srgbClr val="FFFFFF"/>
                </a:solidFill>
                <a:latin typeface="Courier New" pitchFamily="34" charset="0"/>
                <a:ea typeface="Courier New" pitchFamily="34" charset="-122"/>
                <a:cs typeface="Courier New" pitchFamily="34" charset="-120"/>
              </a:rPr>
              <a:t>).then((r) =&gt; r.json()),</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if (isPending) </a:t>
            </a:r>
            <a:r>
              <a:rPr lang="en-US" dirty="0">
                <a:solidFill>
                  <a:srgbClr val="9CDCFE"/>
                </a:solidFill>
                <a:latin typeface="Courier New" pitchFamily="34" charset="0"/>
                <a:ea typeface="Courier New" pitchFamily="34" charset="-122"/>
                <a:cs typeface="Courier New" pitchFamily="34" charset="-120"/>
              </a:rPr>
              <a:t>return &lt;Skeleton /&gt;;</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if (error) </a:t>
            </a:r>
            <a:r>
              <a:rPr lang="en-US" dirty="0">
                <a:solidFill>
                  <a:srgbClr val="9CDCFE"/>
                </a:solidFill>
                <a:latin typeface="Courier New" pitchFamily="34" charset="0"/>
                <a:ea typeface="Courier New" pitchFamily="34" charset="-122"/>
                <a:cs typeface="Courier New" pitchFamily="34" charset="-120"/>
              </a:rPr>
              <a:t>return &lt;Error error={error}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return &lt;PostList posts={data}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p:txBody>
      </p:sp>
      <p:sp>
        <p:nvSpPr>
          <p:cNvPr id="7" name="Shape 5"/>
          <p:cNvSpPr/>
          <p:nvPr/>
        </p:nvSpPr>
        <p:spPr>
          <a:xfrm>
            <a:off x="777240" y="5394960"/>
            <a:ext cx="10607040" cy="822960"/>
          </a:xfrm>
          <a:prstGeom prst="rect">
            <a:avLst/>
          </a:prstGeom>
          <a:solidFill>
            <a:srgbClr val="CBF1F6"/>
          </a:solidFill>
          <a:ln w="12700">
            <a:solidFill>
              <a:srgbClr val="CBF1F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005840" y="5532120"/>
            <a:ext cx="548640" cy="548640"/>
          </a:xfrm>
          <a:prstGeom prst="rect">
            <a:avLst/>
          </a:prstGeom>
        </p:spPr>
      </p:pic>
      <p:sp>
        <p:nvSpPr>
          <p:cNvPr id="9" name="Text 6"/>
          <p:cNvSpPr/>
          <p:nvPr/>
        </p:nvSpPr>
        <p:spPr>
          <a:xfrm>
            <a:off x="1783080" y="5394960"/>
            <a:ext cx="9509760" cy="82296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Free with this: cache, dedup, retry, invalidation, background refetch, stale-while-revalidate, focus refetch, network reconnect refetch.</a:t>
            </a:r>
            <a:endParaRPr lang="en-US" sz="125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Suspense + use() — the React-native flavor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Pass a promise in, get a value out. The component suspends while resolving.</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3832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page (Server Component or parent that creates the promise once)</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PostsPage</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postsPromise = </a:t>
            </a:r>
            <a:r>
              <a:rPr lang="en-US" sz="1400" dirty="0">
                <a:solidFill>
                  <a:srgbClr val="DCDCAA"/>
                </a:solidFill>
                <a:latin typeface="Courier New" pitchFamily="34" charset="0"/>
                <a:ea typeface="Courier New" pitchFamily="34" charset="-122"/>
                <a:cs typeface="Courier New" pitchFamily="34" charset="-120"/>
              </a:rPr>
              <a:t>fetchPosts</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a:t>
            </a:r>
            <a:r>
              <a:rPr lang="en-US" sz="1400" dirty="0">
                <a:solidFill>
                  <a:srgbClr val="DCDCAA"/>
                </a:solidFill>
                <a:latin typeface="Courier New" pitchFamily="34" charset="0"/>
                <a:ea typeface="Courier New" pitchFamily="34" charset="-122"/>
                <a:cs typeface="Courier New" pitchFamily="34" charset="-120"/>
              </a:rPr>
              <a:t>Suspense </a:t>
            </a:r>
            <a:r>
              <a:rPr lang="en-US" sz="1400" dirty="0">
                <a:solidFill>
                  <a:srgbClr val="9CDCFE"/>
                </a:solidFill>
                <a:latin typeface="Courier New" pitchFamily="34" charset="0"/>
                <a:ea typeface="Courier New" pitchFamily="34" charset="-122"/>
                <a:cs typeface="Courier New" pitchFamily="34" charset="-120"/>
              </a:rPr>
              <a:t>fallback={&lt;Skeleton /&gt;}&gt;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&lt;Posts postsPromise={postsPromise} /&gt;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a:t>
            </a:r>
            <a:r>
              <a:rPr lang="en-US" sz="1400" dirty="0">
                <a:solidFill>
                  <a:srgbClr val="DCDCAA"/>
                </a:solidFill>
                <a:latin typeface="Courier New" pitchFamily="34" charset="0"/>
                <a:ea typeface="Courier New" pitchFamily="34" charset="-122"/>
                <a:cs typeface="Courier New" pitchFamily="34" charset="-120"/>
              </a:rPr>
              <a:t>Suspense</a:t>
            </a:r>
            <a:r>
              <a:rPr lang="en-US" sz="1400" dirty="0">
                <a:solidFill>
                  <a:srgbClr val="9CDCFE"/>
                </a:solidFill>
                <a:latin typeface="Courier New" pitchFamily="34" charset="0"/>
                <a:ea typeface="Courier New" pitchFamily="34" charset="-122"/>
                <a:cs typeface="Courier New" pitchFamily="34" charset="-120"/>
              </a:rPr>
              <a:t>&gt;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child</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Posts</a:t>
            </a:r>
            <a:r>
              <a:rPr lang="en-US" sz="1400" dirty="0">
                <a:solidFill>
                  <a:srgbClr val="FFFFFF"/>
                </a:solidFill>
                <a:latin typeface="Courier New" pitchFamily="34" charset="0"/>
                <a:ea typeface="Courier New" pitchFamily="34" charset="-122"/>
                <a:cs typeface="Courier New" pitchFamily="34" charset="-120"/>
              </a:rPr>
              <a:t>({ postsPromise })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posts = </a:t>
            </a:r>
            <a:r>
              <a:rPr lang="en-US" sz="1400" dirty="0">
                <a:solidFill>
                  <a:srgbClr val="DCDCAA"/>
                </a:solidFill>
                <a:latin typeface="Courier New" pitchFamily="34" charset="0"/>
                <a:ea typeface="Courier New" pitchFamily="34" charset="-122"/>
                <a:cs typeface="Courier New" pitchFamily="34" charset="-120"/>
              </a:rPr>
              <a:t>use</a:t>
            </a:r>
            <a:r>
              <a:rPr lang="en-US" sz="1400" dirty="0">
                <a:solidFill>
                  <a:srgbClr val="FFFFFF"/>
                </a:solidFill>
                <a:latin typeface="Courier New" pitchFamily="34" charset="0"/>
                <a:ea typeface="Courier New" pitchFamily="34" charset="-122"/>
                <a:cs typeface="Courier New" pitchFamily="34" charset="-120"/>
              </a:rPr>
              <a:t>(postsPromise);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&lt;PostList posts={posts}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005840" y="557784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Critical: don't create the promise inside the component that calls use(). New promise every render → infinite Suspense loop.</a:t>
            </a:r>
            <a:endParaRPr lang="en-US" sz="125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27</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Server-side — fetch where the data lives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Server Components and route loaders run before the page reaches the client.</a:t>
            </a:r>
            <a:endParaRPr lang="en-US" sz="1400" dirty="0"/>
          </a:p>
        </p:txBody>
      </p:sp>
      <p:sp>
        <p:nvSpPr>
          <p:cNvPr id="5" name="Shape 3"/>
          <p:cNvSpPr/>
          <p:nvPr/>
        </p:nvSpPr>
        <p:spPr>
          <a:xfrm>
            <a:off x="777240" y="1691640"/>
            <a:ext cx="5349240" cy="411480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11480"/>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Next.js Server Component</a:t>
            </a:r>
            <a:endParaRPr lang="en-US" sz="1400" dirty="0"/>
          </a:p>
        </p:txBody>
      </p:sp>
      <p:sp>
        <p:nvSpPr>
          <p:cNvPr id="7" name="Shape 5"/>
          <p:cNvSpPr/>
          <p:nvPr/>
        </p:nvSpPr>
        <p:spPr>
          <a:xfrm>
            <a:off x="960120" y="2377440"/>
            <a:ext cx="4983480" cy="32918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1143000" y="2514600"/>
            <a:ext cx="4617720" cy="30175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app/posts/page.jsx</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async function </a:t>
            </a:r>
            <a:r>
              <a:rPr lang="en-US" sz="1400" dirty="0">
                <a:solidFill>
                  <a:srgbClr val="DCDCAA"/>
                </a:solidFill>
                <a:latin typeface="Courier New" pitchFamily="34" charset="0"/>
                <a:ea typeface="Courier New" pitchFamily="34" charset="-122"/>
                <a:cs typeface="Courier New" pitchFamily="34" charset="-120"/>
              </a:rPr>
              <a:t>Posts</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posts = await db.posts.list();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&lt;PostList posts={posts}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9" name="Shape 7"/>
          <p:cNvSpPr/>
          <p:nvPr/>
        </p:nvSpPr>
        <p:spPr>
          <a:xfrm>
            <a:off x="6355080" y="1691640"/>
            <a:ext cx="5029200" cy="411480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6537960" y="1874520"/>
            <a:ext cx="4754880" cy="411480"/>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RR v7 framework loader</a:t>
            </a:r>
            <a:endParaRPr lang="en-US" sz="1400" dirty="0"/>
          </a:p>
        </p:txBody>
      </p:sp>
      <p:sp>
        <p:nvSpPr>
          <p:cNvPr id="11" name="Shape 9"/>
          <p:cNvSpPr/>
          <p:nvPr/>
        </p:nvSpPr>
        <p:spPr>
          <a:xfrm>
            <a:off x="6537960" y="2377440"/>
            <a:ext cx="4663440" cy="3291840"/>
          </a:xfrm>
          <a:prstGeom prst="rect">
            <a:avLst/>
          </a:prstGeom>
          <a:solidFill>
            <a:srgbClr val="1E2A47"/>
          </a:solidFill>
          <a:ln w="12700">
            <a:solidFill>
              <a:srgbClr val="1E2A47"/>
            </a:solidFill>
            <a:prstDash val="solid"/>
          </a:ln>
        </p:spPr>
        <p:txBody>
          <a:bodyPr/>
          <a:lstStyle/>
          <a:p>
            <a:endParaRPr lang="en-US"/>
          </a:p>
        </p:txBody>
      </p:sp>
      <p:sp>
        <p:nvSpPr>
          <p:cNvPr id="12" name="Text 10"/>
          <p:cNvSpPr/>
          <p:nvPr/>
        </p:nvSpPr>
        <p:spPr>
          <a:xfrm>
            <a:off x="6720840" y="2514600"/>
            <a:ext cx="4297680" cy="30175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app/routes/posts.jsx</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async function </a:t>
            </a:r>
            <a:r>
              <a:rPr lang="en-US" sz="1400" dirty="0">
                <a:solidFill>
                  <a:srgbClr val="DCDCAA"/>
                </a:solidFill>
                <a:latin typeface="Courier New" pitchFamily="34" charset="0"/>
                <a:ea typeface="Courier New" pitchFamily="34" charset="-122"/>
                <a:cs typeface="Courier New" pitchFamily="34" charset="-120"/>
              </a:rPr>
              <a:t>loader</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 posts: await db.posts.list()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function </a:t>
            </a:r>
            <a:r>
              <a:rPr lang="en-US" sz="1400" dirty="0">
                <a:solidFill>
                  <a:srgbClr val="DCDCAA"/>
                </a:solidFill>
                <a:latin typeface="Courier New" pitchFamily="34" charset="0"/>
                <a:ea typeface="Courier New" pitchFamily="34" charset="-122"/>
                <a:cs typeface="Courier New" pitchFamily="34" charset="-120"/>
              </a:rPr>
              <a:t>Posts</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 posts } = </a:t>
            </a:r>
            <a:r>
              <a:rPr lang="en-US" sz="1400" dirty="0">
                <a:solidFill>
                  <a:srgbClr val="DCDCAA"/>
                </a:solidFill>
                <a:latin typeface="Courier New" pitchFamily="34" charset="0"/>
                <a:ea typeface="Courier New" pitchFamily="34" charset="-122"/>
                <a:cs typeface="Courier New" pitchFamily="34" charset="-120"/>
              </a:rPr>
              <a:t>useLoaderData</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&lt;PostList posts={posts}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Picking a flavor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Default to TanStack Query. Use the others when they earn it.</a:t>
            </a:r>
            <a:endParaRPr lang="en-US" sz="1400" dirty="0"/>
          </a:p>
        </p:txBody>
      </p:sp>
      <p:sp>
        <p:nvSpPr>
          <p:cNvPr id="5" name="Shape 3"/>
          <p:cNvSpPr/>
          <p:nvPr/>
        </p:nvSpPr>
        <p:spPr>
          <a:xfrm>
            <a:off x="777240" y="1463040"/>
            <a:ext cx="10607040" cy="4114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14400" y="1463040"/>
            <a:ext cx="64008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Situation</a:t>
            </a:r>
            <a:endParaRPr lang="en-US" sz="1200" dirty="0"/>
          </a:p>
        </p:txBody>
      </p:sp>
      <p:sp>
        <p:nvSpPr>
          <p:cNvPr id="7" name="Text 5"/>
          <p:cNvSpPr/>
          <p:nvPr/>
        </p:nvSpPr>
        <p:spPr>
          <a:xfrm>
            <a:off x="7406640" y="1463040"/>
            <a:ext cx="393192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Pick</a:t>
            </a:r>
            <a:endParaRPr lang="en-US" sz="1200" dirty="0"/>
          </a:p>
        </p:txBody>
      </p:sp>
      <p:sp>
        <p:nvSpPr>
          <p:cNvPr id="8" name="Shape 6"/>
          <p:cNvSpPr/>
          <p:nvPr/>
        </p:nvSpPr>
        <p:spPr>
          <a:xfrm>
            <a:off x="777240" y="1874520"/>
            <a:ext cx="10607040" cy="59436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14400" y="192024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Default for client-driven data</a:t>
            </a:r>
            <a:endParaRPr lang="en-US" sz="1200" dirty="0"/>
          </a:p>
        </p:txBody>
      </p:sp>
      <p:sp>
        <p:nvSpPr>
          <p:cNvPr id="10" name="Text 8"/>
          <p:cNvSpPr/>
          <p:nvPr/>
        </p:nvSpPr>
        <p:spPr>
          <a:xfrm>
            <a:off x="7406640" y="192024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TanStack Query</a:t>
            </a:r>
            <a:endParaRPr lang="en-US" sz="1250" dirty="0"/>
          </a:p>
        </p:txBody>
      </p:sp>
      <p:sp>
        <p:nvSpPr>
          <p:cNvPr id="11" name="Shape 9"/>
          <p:cNvSpPr/>
          <p:nvPr/>
        </p:nvSpPr>
        <p:spPr>
          <a:xfrm>
            <a:off x="777240" y="2514600"/>
            <a:ext cx="10607040" cy="594360"/>
          </a:xfrm>
          <a:prstGeom prst="rect">
            <a:avLst/>
          </a:prstGeom>
          <a:solidFill>
            <a:srgbClr val="F8FAFC"/>
          </a:solidFill>
          <a:ln w="12700">
            <a:solidFill>
              <a:srgbClr val="E2E8F0"/>
            </a:solidFill>
            <a:prstDash val="solid"/>
          </a:ln>
        </p:spPr>
        <p:txBody>
          <a:bodyPr/>
          <a:lstStyle/>
          <a:p>
            <a:endParaRPr lang="en-US"/>
          </a:p>
        </p:txBody>
      </p:sp>
      <p:sp>
        <p:nvSpPr>
          <p:cNvPr id="12" name="Text 10"/>
          <p:cNvSpPr/>
          <p:nvPr/>
        </p:nvSpPr>
        <p:spPr>
          <a:xfrm>
            <a:off x="914400" y="256032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Data lives on the server, page-shaped</a:t>
            </a:r>
            <a:endParaRPr lang="en-US" sz="1200" dirty="0"/>
          </a:p>
        </p:txBody>
      </p:sp>
      <p:sp>
        <p:nvSpPr>
          <p:cNvPr id="13" name="Text 11"/>
          <p:cNvSpPr/>
          <p:nvPr/>
        </p:nvSpPr>
        <p:spPr>
          <a:xfrm>
            <a:off x="7406640" y="256032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Server Components</a:t>
            </a:r>
            <a:endParaRPr lang="en-US" sz="1250" dirty="0"/>
          </a:p>
        </p:txBody>
      </p:sp>
      <p:sp>
        <p:nvSpPr>
          <p:cNvPr id="14" name="Shape 12"/>
          <p:cNvSpPr/>
          <p:nvPr/>
        </p:nvSpPr>
        <p:spPr>
          <a:xfrm>
            <a:off x="777240" y="3154680"/>
            <a:ext cx="10607040" cy="594360"/>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14400" y="320040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Per-route, framework-managed data</a:t>
            </a:r>
            <a:endParaRPr lang="en-US" sz="1200" dirty="0"/>
          </a:p>
        </p:txBody>
      </p:sp>
      <p:sp>
        <p:nvSpPr>
          <p:cNvPr id="16" name="Text 14"/>
          <p:cNvSpPr/>
          <p:nvPr/>
        </p:nvSpPr>
        <p:spPr>
          <a:xfrm>
            <a:off x="7406640" y="320040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Route loader (RR v7)</a:t>
            </a:r>
            <a:endParaRPr lang="en-US" sz="1250" dirty="0"/>
          </a:p>
        </p:txBody>
      </p:sp>
      <p:sp>
        <p:nvSpPr>
          <p:cNvPr id="17" name="Shape 15"/>
          <p:cNvSpPr/>
          <p:nvPr/>
        </p:nvSpPr>
        <p:spPr>
          <a:xfrm>
            <a:off x="777240" y="3794760"/>
            <a:ext cx="10607040" cy="594360"/>
          </a:xfrm>
          <a:prstGeom prst="rect">
            <a:avLst/>
          </a:prstGeom>
          <a:solidFill>
            <a:srgbClr val="F8FAFC"/>
          </a:solidFill>
          <a:ln w="12700">
            <a:solidFill>
              <a:srgbClr val="E2E8F0"/>
            </a:solidFill>
            <a:prstDash val="solid"/>
          </a:ln>
        </p:spPr>
        <p:txBody>
          <a:bodyPr/>
          <a:lstStyle/>
          <a:p>
            <a:endParaRPr lang="en-US"/>
          </a:p>
        </p:txBody>
      </p:sp>
      <p:sp>
        <p:nvSpPr>
          <p:cNvPr id="18" name="Text 16"/>
          <p:cNvSpPr/>
          <p:nvPr/>
        </p:nvSpPr>
        <p:spPr>
          <a:xfrm>
            <a:off x="914400" y="384048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Promise-shaped data already in hand</a:t>
            </a:r>
            <a:endParaRPr lang="en-US" sz="1200" dirty="0"/>
          </a:p>
        </p:txBody>
      </p:sp>
      <p:sp>
        <p:nvSpPr>
          <p:cNvPr id="19" name="Text 17"/>
          <p:cNvSpPr/>
          <p:nvPr/>
        </p:nvSpPr>
        <p:spPr>
          <a:xfrm>
            <a:off x="7406640" y="384048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use() with Suspense</a:t>
            </a:r>
            <a:endParaRPr lang="en-US" sz="1250" dirty="0"/>
          </a:p>
        </p:txBody>
      </p:sp>
      <p:sp>
        <p:nvSpPr>
          <p:cNvPr id="20" name="Shape 18"/>
          <p:cNvSpPr/>
          <p:nvPr/>
        </p:nvSpPr>
        <p:spPr>
          <a:xfrm>
            <a:off x="777240" y="4434840"/>
            <a:ext cx="10607040" cy="594360"/>
          </a:xfrm>
          <a:prstGeom prst="rect">
            <a:avLst/>
          </a:prstGeom>
          <a:solidFill>
            <a:srgbClr val="FFFFFF"/>
          </a:solidFill>
          <a:ln w="12700">
            <a:solidFill>
              <a:srgbClr val="E2E8F0"/>
            </a:solidFill>
            <a:prstDash val="solid"/>
          </a:ln>
        </p:spPr>
        <p:txBody>
          <a:bodyPr/>
          <a:lstStyle/>
          <a:p>
            <a:endParaRPr lang="en-US"/>
          </a:p>
        </p:txBody>
      </p:sp>
      <p:sp>
        <p:nvSpPr>
          <p:cNvPr id="21" name="Text 19"/>
          <p:cNvSpPr/>
          <p:nvPr/>
        </p:nvSpPr>
        <p:spPr>
          <a:xfrm>
            <a:off x="914400" y="448056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Embedded widget, can't add a library</a:t>
            </a:r>
            <a:endParaRPr lang="en-US" sz="1200" dirty="0"/>
          </a:p>
        </p:txBody>
      </p:sp>
      <p:sp>
        <p:nvSpPr>
          <p:cNvPr id="22" name="Text 20"/>
          <p:cNvSpPr/>
          <p:nvPr/>
        </p:nvSpPr>
        <p:spPr>
          <a:xfrm>
            <a:off x="7406640" y="448056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Plain client fetch (carefully)</a:t>
            </a:r>
            <a:endParaRPr lang="en-US" sz="1250" dirty="0"/>
          </a:p>
        </p:txBody>
      </p:sp>
      <p:sp>
        <p:nvSpPr>
          <p:cNvPr id="23" name="Shape 21"/>
          <p:cNvSpPr/>
          <p:nvPr/>
        </p:nvSpPr>
        <p:spPr>
          <a:xfrm>
            <a:off x="777240" y="5074920"/>
            <a:ext cx="10607040" cy="594360"/>
          </a:xfrm>
          <a:prstGeom prst="rect">
            <a:avLst/>
          </a:prstGeom>
          <a:solidFill>
            <a:srgbClr val="F8FAFC"/>
          </a:solidFill>
          <a:ln w="12700">
            <a:solidFill>
              <a:srgbClr val="E2E8F0"/>
            </a:solidFill>
            <a:prstDash val="solid"/>
          </a:ln>
        </p:spPr>
        <p:txBody>
          <a:bodyPr/>
          <a:lstStyle/>
          <a:p>
            <a:endParaRPr lang="en-US"/>
          </a:p>
        </p:txBody>
      </p:sp>
      <p:sp>
        <p:nvSpPr>
          <p:cNvPr id="24" name="Text 22"/>
          <p:cNvSpPr/>
          <p:nvPr/>
        </p:nvSpPr>
        <p:spPr>
          <a:xfrm>
            <a:off x="914400" y="5120640"/>
            <a:ext cx="640080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Already on Redux Toolkit</a:t>
            </a:r>
            <a:endParaRPr lang="en-US" sz="1200" dirty="0"/>
          </a:p>
        </p:txBody>
      </p:sp>
      <p:sp>
        <p:nvSpPr>
          <p:cNvPr id="25" name="Text 23"/>
          <p:cNvSpPr/>
          <p:nvPr/>
        </p:nvSpPr>
        <p:spPr>
          <a:xfrm>
            <a:off x="7406640" y="5120640"/>
            <a:ext cx="393192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RTK Query</a:t>
            </a:r>
            <a:endParaRPr lang="en-US" sz="1250" dirty="0"/>
          </a:p>
        </p:txBody>
      </p:sp>
      <p:sp>
        <p:nvSpPr>
          <p:cNvPr id="26" name="Text 2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7" name="Text 2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9">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TanStack Query in Depth</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Setup, queries, mutations, invalidation, optimistic updates.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Setup — one QueryClient per app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Wrap your tree once. The provider gives every descendant access to the cache.</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app/main.jsx</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QueryClient, QueryClientProvider } from </a:t>
            </a:r>
            <a:r>
              <a:rPr lang="en-US" sz="1600" dirty="0">
                <a:solidFill>
                  <a:srgbClr val="9CDCFE"/>
                </a:solidFill>
                <a:latin typeface="Courier New" pitchFamily="34" charset="0"/>
                <a:ea typeface="Courier New" pitchFamily="34" charset="-122"/>
                <a:cs typeface="Courier New" pitchFamily="34" charset="-120"/>
              </a:rPr>
              <a:t>'@tanstack/react-query'</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const queryClient = </a:t>
            </a:r>
            <a:r>
              <a:rPr lang="en-US" sz="1600" dirty="0">
                <a:solidFill>
                  <a:srgbClr val="DCDCAA"/>
                </a:solidFill>
                <a:latin typeface="Courier New" pitchFamily="34" charset="0"/>
                <a:ea typeface="Courier New" pitchFamily="34" charset="-122"/>
                <a:cs typeface="Courier New" pitchFamily="34" charset="-120"/>
              </a:rPr>
              <a:t>new QueryClient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defaultOptions: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queries: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staleTime: 30 * 1000,        </a:t>
            </a:r>
            <a:r>
              <a:rPr lang="en-US" sz="1600" i="1" dirty="0">
                <a:solidFill>
                  <a:srgbClr val="6A9955"/>
                </a:solidFill>
                <a:latin typeface="Courier New" pitchFamily="34" charset="0"/>
                <a:ea typeface="Courier New" pitchFamily="34" charset="-122"/>
                <a:cs typeface="Courier New" pitchFamily="34" charset="-120"/>
              </a:rPr>
              <a:t>// 30s — adjust per app</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retry: 2</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refetchOnWindowFocus: </a:t>
            </a:r>
            <a:r>
              <a:rPr lang="en-US" sz="1600" dirty="0">
                <a:solidFill>
                  <a:srgbClr val="C586C0"/>
                </a:solidFill>
                <a:latin typeface="Courier New" pitchFamily="34" charset="0"/>
                <a:ea typeface="Courier New" pitchFamily="34" charset="-122"/>
                <a:cs typeface="Courier New" pitchFamily="34" charset="-120"/>
              </a:rPr>
              <a:t>true</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createRoot</a:t>
            </a:r>
            <a:r>
              <a:rPr lang="en-US" sz="1600" dirty="0">
                <a:solidFill>
                  <a:srgbClr val="9CDCFE"/>
                </a:solidFill>
                <a:latin typeface="Courier New" pitchFamily="34" charset="0"/>
                <a:ea typeface="Courier New" pitchFamily="34" charset="-122"/>
                <a:cs typeface="Courier New" pitchFamily="34" charset="-120"/>
              </a:rPr>
              <a:t>(document.getElementById('root'</a:t>
            </a:r>
            <a:r>
              <a:rPr lang="en-US" sz="1600" dirty="0">
                <a:solidFill>
                  <a:srgbClr val="FFFFFF"/>
                </a:solidFill>
                <a:latin typeface="Courier New" pitchFamily="34" charset="0"/>
                <a:ea typeface="Courier New" pitchFamily="34" charset="-122"/>
                <a:cs typeface="Courier New" pitchFamily="34" charset="-120"/>
              </a:rPr>
              <a:t>)).render(</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&lt;</a:t>
            </a:r>
            <a:r>
              <a:rPr lang="en-US" sz="1600" dirty="0">
                <a:solidFill>
                  <a:srgbClr val="DCDCAA"/>
                </a:solidFill>
                <a:latin typeface="Courier New" pitchFamily="34" charset="0"/>
                <a:ea typeface="Courier New" pitchFamily="34" charset="-122"/>
                <a:cs typeface="Courier New" pitchFamily="34" charset="-120"/>
              </a:rPr>
              <a:t>QueryClientProvider </a:t>
            </a:r>
            <a:r>
              <a:rPr lang="en-US" sz="1600" dirty="0">
                <a:solidFill>
                  <a:srgbClr val="9CDCFE"/>
                </a:solidFill>
                <a:latin typeface="Courier New" pitchFamily="34" charset="0"/>
                <a:ea typeface="Courier New" pitchFamily="34" charset="-122"/>
                <a:cs typeface="Courier New" pitchFamily="34" charset="-120"/>
              </a:rPr>
              <a:t>client={queryClient}&gt;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&lt;App /&gt;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&lt;/</a:t>
            </a:r>
            <a:r>
              <a:rPr lang="en-US" sz="1600" dirty="0">
                <a:solidFill>
                  <a:srgbClr val="DCDCAA"/>
                </a:solidFill>
                <a:latin typeface="Courier New" pitchFamily="34" charset="0"/>
                <a:ea typeface="Courier New" pitchFamily="34" charset="-122"/>
                <a:cs typeface="Courier New" pitchFamily="34" charset="-120"/>
              </a:rPr>
              <a:t>QueryClientProvider</a:t>
            </a:r>
            <a:r>
              <a:rPr lang="en-US" sz="1600" dirty="0">
                <a:solidFill>
                  <a:srgbClr val="9CDCFE"/>
                </a:solidFill>
                <a:latin typeface="Courier New" pitchFamily="34" charset="0"/>
                <a:ea typeface="Courier New" pitchFamily="34" charset="-122"/>
                <a:cs typeface="Courier New" pitchFamily="34" charset="-120"/>
              </a:rPr>
              <a:t>&gt;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useQuery — read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queryKey identifies the data. queryFn fetches it. Everything else has good defaults.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dirty="0">
                <a:solidFill>
                  <a:srgbClr val="C586C0"/>
                </a:solidFill>
                <a:latin typeface="Courier New" pitchFamily="34" charset="0"/>
                <a:ea typeface="Courier New" pitchFamily="34" charset="-122"/>
                <a:cs typeface="Courier New" pitchFamily="34" charset="-120"/>
              </a:rPr>
              <a:t>function </a:t>
            </a:r>
            <a:r>
              <a:rPr lang="en-US" dirty="0">
                <a:solidFill>
                  <a:srgbClr val="DCDCAA"/>
                </a:solidFill>
                <a:latin typeface="Courier New" pitchFamily="34" charset="0"/>
                <a:ea typeface="Courier New" pitchFamily="34" charset="-122"/>
                <a:cs typeface="Courier New" pitchFamily="34" charset="-120"/>
              </a:rPr>
              <a:t>PostDetail</a:t>
            </a:r>
            <a:r>
              <a:rPr lang="en-US" dirty="0">
                <a:solidFill>
                  <a:srgbClr val="FFFFFF"/>
                </a:solidFill>
                <a:latin typeface="Courier New" pitchFamily="34" charset="0"/>
                <a:ea typeface="Courier New" pitchFamily="34" charset="-122"/>
                <a:cs typeface="Courier New" pitchFamily="34" charset="-120"/>
              </a:rPr>
              <a:t>({ id }) {</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const { data, isPending, isError, error, refetch } = </a:t>
            </a:r>
            <a:r>
              <a:rPr lang="en-US" dirty="0">
                <a:solidFill>
                  <a:srgbClr val="DCDCAA"/>
                </a:solidFill>
                <a:latin typeface="Courier New" pitchFamily="34" charset="0"/>
                <a:ea typeface="Courier New" pitchFamily="34" charset="-122"/>
                <a:cs typeface="Courier New" pitchFamily="34" charset="-120"/>
              </a:rPr>
              <a:t>useQuery</a:t>
            </a:r>
            <a:r>
              <a:rPr lang="en-US" dirty="0">
                <a:solidFill>
                  <a:srgbClr val="FFFFFF"/>
                </a:solidFill>
                <a:latin typeface="Courier New" pitchFamily="34" charset="0"/>
                <a:ea typeface="Courier New" pitchFamily="34" charset="-122"/>
                <a:cs typeface="Courier New" pitchFamily="34" charset="-120"/>
              </a:rPr>
              <a:t>({</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queryKey: ['posts', id],          </a:t>
            </a:r>
            <a:r>
              <a:rPr lang="en-US" i="1" dirty="0">
                <a:solidFill>
                  <a:srgbClr val="6A9955"/>
                </a:solidFill>
                <a:latin typeface="Courier New" pitchFamily="34" charset="0"/>
                <a:ea typeface="Courier New" pitchFamily="34" charset="-122"/>
                <a:cs typeface="Courier New" pitchFamily="34" charset="-120"/>
              </a:rPr>
              <a:t>// unique cache key</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queryFn: () =&gt; api.getPost(id), </a:t>
            </a:r>
            <a:r>
              <a:rPr lang="en-US" i="1" dirty="0">
                <a:solidFill>
                  <a:srgbClr val="6A9955"/>
                </a:solidFill>
                <a:latin typeface="Courier New" pitchFamily="34" charset="0"/>
                <a:ea typeface="Courier New" pitchFamily="34" charset="-122"/>
                <a:cs typeface="Courier New" pitchFamily="34" charset="-120"/>
              </a:rPr>
              <a:t>// must return a promise</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staleTime: 60 * 1000,          </a:t>
            </a:r>
            <a:r>
              <a:rPr lang="en-US" i="1" dirty="0">
                <a:solidFill>
                  <a:srgbClr val="6A9955"/>
                </a:solidFill>
                <a:latin typeface="Courier New" pitchFamily="34" charset="0"/>
                <a:ea typeface="Courier New" pitchFamily="34" charset="-122"/>
                <a:cs typeface="Courier New" pitchFamily="34" charset="-120"/>
              </a:rPr>
              <a:t>// override per-query</a:t>
            </a:r>
            <a:endParaRPr lang="en-US" dirty="0"/>
          </a:p>
          <a:p>
            <a:pPr marL="0" indent="0">
              <a:buNone/>
            </a:pPr>
            <a:r>
              <a:rPr lang="en-US" dirty="0">
                <a:solidFill>
                  <a:srgbClr val="9CDCFE"/>
                </a:solidFill>
                <a:latin typeface="Courier New" pitchFamily="34" charset="0"/>
                <a:ea typeface="Courier New" pitchFamily="34" charset="-122"/>
                <a:cs typeface="Courier New" pitchFamily="34" charset="-120"/>
              </a:rPr>
              <a:t>    enabled: !!id,                </a:t>
            </a:r>
            <a:r>
              <a:rPr lang="en-US" i="1" dirty="0">
                <a:solidFill>
                  <a:srgbClr val="6A9955"/>
                </a:solidFill>
                <a:latin typeface="Courier New" pitchFamily="34" charset="0"/>
                <a:ea typeface="Courier New" pitchFamily="34" charset="-122"/>
                <a:cs typeface="Courier New" pitchFamily="34" charset="-120"/>
              </a:rPr>
              <a:t>// skip if no id yet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a:t>
            </a:r>
            <a:endParaRPr lang="en-US" dirty="0"/>
          </a:p>
          <a:p>
            <a:pPr marL="0" indent="0">
              <a:buNone/>
            </a:pP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if (isPending) </a:t>
            </a:r>
            <a:r>
              <a:rPr lang="en-US" dirty="0">
                <a:solidFill>
                  <a:srgbClr val="9CDCFE"/>
                </a:solidFill>
                <a:latin typeface="Courier New" pitchFamily="34" charset="0"/>
                <a:ea typeface="Courier New" pitchFamily="34" charset="-122"/>
                <a:cs typeface="Courier New" pitchFamily="34" charset="-120"/>
              </a:rPr>
              <a:t>return &lt;Skeleton /&gt;;</a:t>
            </a:r>
            <a:endParaRPr lang="en-US" dirty="0"/>
          </a:p>
          <a:p>
            <a:pPr marL="0" indent="0">
              <a:buNone/>
            </a:pPr>
            <a:r>
              <a:rPr lang="en-US" dirty="0">
                <a:solidFill>
                  <a:srgbClr val="C586C0"/>
                </a:solidFill>
                <a:latin typeface="Courier New" pitchFamily="34" charset="0"/>
                <a:ea typeface="Courier New" pitchFamily="34" charset="-122"/>
                <a:cs typeface="Courier New" pitchFamily="34" charset="-120"/>
              </a:rPr>
              <a:t>  if (isError) </a:t>
            </a:r>
            <a:r>
              <a:rPr lang="en-US" dirty="0">
                <a:solidFill>
                  <a:srgbClr val="9CDCFE"/>
                </a:solidFill>
                <a:latin typeface="Courier New" pitchFamily="34" charset="0"/>
                <a:ea typeface="Courier New" pitchFamily="34" charset="-122"/>
                <a:cs typeface="Courier New" pitchFamily="34" charset="-120"/>
              </a:rPr>
              <a:t>return &lt;ErrorBox error={error} onRetry={refetch}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  return &lt;Article post={data} /&gt;;</a:t>
            </a:r>
            <a:endParaRPr lang="en-US" dirty="0"/>
          </a:p>
          <a:p>
            <a:pPr marL="0" indent="0">
              <a:buNone/>
            </a:pPr>
            <a:r>
              <a:rPr lang="en-US" dirty="0">
                <a:solidFill>
                  <a:srgbClr val="FFFFFF"/>
                </a:solidFill>
                <a:latin typeface="Courier New" pitchFamily="34" charset="0"/>
                <a:ea typeface="Courier New" pitchFamily="34" charset="-122"/>
                <a:cs typeface="Courier New" pitchFamily="34" charset="-120"/>
              </a:rPr>
              <a:t>}</a:t>
            </a:r>
            <a:endParaRPr lang="en-US"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27</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Query keys are the cache contract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Two queries with the same key share a cache entry. Get the keys right and everything else falls into place.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Conventions worth adopting</a:t>
            </a:r>
            <a:endParaRPr lang="en-US" sz="1400" dirty="0"/>
          </a:p>
        </p:txBody>
      </p:sp>
      <p:sp>
        <p:nvSpPr>
          <p:cNvPr id="6" name="Shape 4"/>
          <p:cNvSpPr/>
          <p:nvPr/>
        </p:nvSpPr>
        <p:spPr>
          <a:xfrm>
            <a:off x="777240" y="2011680"/>
            <a:ext cx="10607040" cy="822960"/>
          </a:xfrm>
          <a:prstGeom prst="rect">
            <a:avLst/>
          </a:prstGeom>
          <a:solidFill>
            <a:srgbClr val="FFFFFF"/>
          </a:solidFill>
          <a:ln w="12700">
            <a:solidFill>
              <a:srgbClr val="E2E8F0"/>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60120" y="2176272"/>
            <a:ext cx="502920" cy="502920"/>
          </a:xfrm>
          <a:prstGeom prst="rect">
            <a:avLst/>
          </a:prstGeom>
        </p:spPr>
      </p:pic>
      <p:sp>
        <p:nvSpPr>
          <p:cNvPr id="8" name="Text 5"/>
          <p:cNvSpPr/>
          <p:nvPr/>
        </p:nvSpPr>
        <p:spPr>
          <a:xfrm>
            <a:off x="1691640" y="2084832"/>
            <a:ext cx="9601200" cy="365760"/>
          </a:xfrm>
          <a:prstGeom prst="rect">
            <a:avLst/>
          </a:prstGeom>
          <a:noFill/>
          <a:ln/>
        </p:spPr>
        <p:txBody>
          <a:bodyPr wrap="square" lIns="0" tIns="0" rIns="0" bIns="0" rtlCol="0" anchor="ctr"/>
          <a:lstStyle/>
          <a:p>
            <a:pPr marL="0" indent="0">
              <a:buNone/>
            </a:pPr>
            <a:r>
              <a:rPr lang="en-US" sz="1300" b="1" dirty="0">
                <a:solidFill>
                  <a:srgbClr val="0F172A"/>
                </a:solidFill>
                <a:latin typeface="Courier New" pitchFamily="34" charset="0"/>
                <a:ea typeface="Courier New" pitchFamily="34" charset="-122"/>
                <a:cs typeface="Courier New" pitchFamily="34" charset="-120"/>
              </a:rPr>
              <a:t>Hierarchical: ['posts'], ['posts', id], ['posts', id, 'comments']</a:t>
            </a:r>
            <a:endParaRPr lang="en-US" sz="1300" dirty="0"/>
          </a:p>
        </p:txBody>
      </p:sp>
      <p:sp>
        <p:nvSpPr>
          <p:cNvPr id="9" name="Text 6"/>
          <p:cNvSpPr/>
          <p:nvPr/>
        </p:nvSpPr>
        <p:spPr>
          <a:xfrm>
            <a:off x="1691640" y="2423160"/>
            <a:ext cx="960120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Lets you invalidate ['posts'] to wipe everything posts-related.</a:t>
            </a:r>
            <a:endParaRPr lang="en-US" sz="1150" dirty="0"/>
          </a:p>
        </p:txBody>
      </p:sp>
      <p:sp>
        <p:nvSpPr>
          <p:cNvPr id="10" name="Shape 7"/>
          <p:cNvSpPr/>
          <p:nvPr/>
        </p:nvSpPr>
        <p:spPr>
          <a:xfrm>
            <a:off x="777240" y="2971800"/>
            <a:ext cx="10607040" cy="822960"/>
          </a:xfrm>
          <a:prstGeom prst="rect">
            <a:avLst/>
          </a:prstGeom>
          <a:solidFill>
            <a:srgbClr val="FFFFFF"/>
          </a:solidFill>
          <a:ln w="12700">
            <a:solidFill>
              <a:srgbClr val="E2E8F0"/>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960120" y="3136392"/>
            <a:ext cx="502920" cy="502920"/>
          </a:xfrm>
          <a:prstGeom prst="rect">
            <a:avLst/>
          </a:prstGeom>
        </p:spPr>
      </p:pic>
      <p:sp>
        <p:nvSpPr>
          <p:cNvPr id="12" name="Text 8"/>
          <p:cNvSpPr/>
          <p:nvPr/>
        </p:nvSpPr>
        <p:spPr>
          <a:xfrm>
            <a:off x="1691640" y="3044952"/>
            <a:ext cx="9601200" cy="365760"/>
          </a:xfrm>
          <a:prstGeom prst="rect">
            <a:avLst/>
          </a:prstGeom>
          <a:noFill/>
          <a:ln/>
        </p:spPr>
        <p:txBody>
          <a:bodyPr wrap="square" lIns="0" tIns="0" rIns="0" bIns="0" rtlCol="0" anchor="ctr"/>
          <a:lstStyle/>
          <a:p>
            <a:pPr marL="0" indent="0">
              <a:buNone/>
            </a:pPr>
            <a:r>
              <a:rPr lang="en-US" sz="1300" b="1" dirty="0">
                <a:solidFill>
                  <a:srgbClr val="0F172A"/>
                </a:solidFill>
                <a:latin typeface="Courier New" pitchFamily="34" charset="0"/>
                <a:ea typeface="Courier New" pitchFamily="34" charset="-122"/>
                <a:cs typeface="Courier New" pitchFamily="34" charset="-120"/>
              </a:rPr>
              <a:t>Include parameters: ['posts', { search, page }]</a:t>
            </a:r>
            <a:endParaRPr lang="en-US" sz="1300" dirty="0"/>
          </a:p>
        </p:txBody>
      </p:sp>
      <p:sp>
        <p:nvSpPr>
          <p:cNvPr id="13" name="Text 9"/>
          <p:cNvSpPr/>
          <p:nvPr/>
        </p:nvSpPr>
        <p:spPr>
          <a:xfrm>
            <a:off x="1691640" y="3383280"/>
            <a:ext cx="960120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Different searches get different cache entries. Identical params share.</a:t>
            </a:r>
            <a:endParaRPr lang="en-US" sz="1150" dirty="0"/>
          </a:p>
        </p:txBody>
      </p:sp>
      <p:sp>
        <p:nvSpPr>
          <p:cNvPr id="14" name="Shape 10"/>
          <p:cNvSpPr/>
          <p:nvPr/>
        </p:nvSpPr>
        <p:spPr>
          <a:xfrm>
            <a:off x="777240" y="3931920"/>
            <a:ext cx="10607040" cy="822960"/>
          </a:xfrm>
          <a:prstGeom prst="rect">
            <a:avLst/>
          </a:prstGeom>
          <a:solidFill>
            <a:srgbClr val="FFFFFF"/>
          </a:solidFill>
          <a:ln w="12700">
            <a:solidFill>
              <a:srgbClr val="E2E8F0"/>
            </a:solidFill>
            <a:prstDash val="solid"/>
          </a:ln>
        </p:spPr>
        <p:txBody>
          <a:bodyPr/>
          <a:lstStyle/>
          <a:p>
            <a:endParaRPr lang="en-US"/>
          </a:p>
        </p:txBody>
      </p:sp>
      <p:pic>
        <p:nvPicPr>
          <p:cNvPr id="15" name="Image 2" descr="preencoded.png"/>
          <p:cNvPicPr>
            <a:picLocks noChangeAspect="1"/>
          </p:cNvPicPr>
          <p:nvPr/>
        </p:nvPicPr>
        <p:blipFill>
          <a:blip r:embed="rId4"/>
          <a:stretch>
            <a:fillRect/>
          </a:stretch>
        </p:blipFill>
        <p:spPr>
          <a:xfrm>
            <a:off x="960120" y="4096512"/>
            <a:ext cx="502920" cy="502920"/>
          </a:xfrm>
          <a:prstGeom prst="rect">
            <a:avLst/>
          </a:prstGeom>
        </p:spPr>
      </p:pic>
      <p:sp>
        <p:nvSpPr>
          <p:cNvPr id="16" name="Text 11"/>
          <p:cNvSpPr/>
          <p:nvPr/>
        </p:nvSpPr>
        <p:spPr>
          <a:xfrm>
            <a:off x="1691640" y="4005072"/>
            <a:ext cx="9601200" cy="365760"/>
          </a:xfrm>
          <a:prstGeom prst="rect">
            <a:avLst/>
          </a:prstGeom>
          <a:noFill/>
          <a:ln/>
        </p:spPr>
        <p:txBody>
          <a:bodyPr wrap="square" lIns="0" tIns="0" rIns="0" bIns="0" rtlCol="0" anchor="ctr"/>
          <a:lstStyle/>
          <a:p>
            <a:pPr marL="0" indent="0">
              <a:buNone/>
            </a:pPr>
            <a:r>
              <a:rPr lang="en-US" sz="1300" b="1" dirty="0">
                <a:solidFill>
                  <a:srgbClr val="0F172A"/>
                </a:solidFill>
                <a:latin typeface="Courier New" pitchFamily="34" charset="0"/>
                <a:ea typeface="Courier New" pitchFamily="34" charset="-122"/>
                <a:cs typeface="Courier New" pitchFamily="34" charset="-120"/>
              </a:rPr>
              <a:t>Avoid mutable references: ['posts', new Date()]</a:t>
            </a:r>
            <a:endParaRPr lang="en-US" sz="1300" dirty="0"/>
          </a:p>
        </p:txBody>
      </p:sp>
      <p:sp>
        <p:nvSpPr>
          <p:cNvPr id="17" name="Text 12"/>
          <p:cNvSpPr/>
          <p:nvPr/>
        </p:nvSpPr>
        <p:spPr>
          <a:xfrm>
            <a:off x="1691640" y="4343400"/>
            <a:ext cx="960120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New key every render — cache miss every time.</a:t>
            </a:r>
            <a:endParaRPr lang="en-US" sz="1150" dirty="0"/>
          </a:p>
        </p:txBody>
      </p:sp>
      <p:sp>
        <p:nvSpPr>
          <p:cNvPr id="18" name="Shape 13"/>
          <p:cNvSpPr/>
          <p:nvPr/>
        </p:nvSpPr>
        <p:spPr>
          <a:xfrm>
            <a:off x="777240" y="4892040"/>
            <a:ext cx="10607040" cy="822960"/>
          </a:xfrm>
          <a:prstGeom prst="rect">
            <a:avLst/>
          </a:prstGeom>
          <a:solidFill>
            <a:srgbClr val="FFFFFF"/>
          </a:solidFill>
          <a:ln w="12700">
            <a:solidFill>
              <a:srgbClr val="E2E8F0"/>
            </a:solidFill>
            <a:prstDash val="solid"/>
          </a:ln>
        </p:spPr>
        <p:txBody>
          <a:bodyPr/>
          <a:lstStyle/>
          <a:p>
            <a:endParaRPr lang="en-US"/>
          </a:p>
        </p:txBody>
      </p:sp>
      <p:pic>
        <p:nvPicPr>
          <p:cNvPr id="19" name="Image 3" descr="preencoded.png"/>
          <p:cNvPicPr>
            <a:picLocks noChangeAspect="1"/>
          </p:cNvPicPr>
          <p:nvPr/>
        </p:nvPicPr>
        <p:blipFill>
          <a:blip r:embed="rId3"/>
          <a:stretch>
            <a:fillRect/>
          </a:stretch>
        </p:blipFill>
        <p:spPr>
          <a:xfrm>
            <a:off x="960120" y="5056632"/>
            <a:ext cx="502920" cy="502920"/>
          </a:xfrm>
          <a:prstGeom prst="rect">
            <a:avLst/>
          </a:prstGeom>
        </p:spPr>
      </p:pic>
      <p:sp>
        <p:nvSpPr>
          <p:cNvPr id="20" name="Text 14"/>
          <p:cNvSpPr/>
          <p:nvPr/>
        </p:nvSpPr>
        <p:spPr>
          <a:xfrm>
            <a:off x="1691640" y="4965192"/>
            <a:ext cx="9601200" cy="365760"/>
          </a:xfrm>
          <a:prstGeom prst="rect">
            <a:avLst/>
          </a:prstGeom>
          <a:noFill/>
          <a:ln/>
        </p:spPr>
        <p:txBody>
          <a:bodyPr wrap="square" lIns="0" tIns="0" rIns="0" bIns="0" rtlCol="0" anchor="ctr"/>
          <a:lstStyle/>
          <a:p>
            <a:pPr marL="0" indent="0">
              <a:buNone/>
            </a:pPr>
            <a:r>
              <a:rPr lang="en-US" sz="1300" b="1" dirty="0">
                <a:solidFill>
                  <a:srgbClr val="0F172A"/>
                </a:solidFill>
                <a:latin typeface="Courier New" pitchFamily="34" charset="0"/>
                <a:ea typeface="Courier New" pitchFamily="34" charset="-122"/>
                <a:cs typeface="Courier New" pitchFamily="34" charset="-120"/>
              </a:rPr>
              <a:t>Centralize key factories: queryKeys.posts.detail(id)</a:t>
            </a:r>
            <a:endParaRPr lang="en-US" sz="1300" dirty="0"/>
          </a:p>
        </p:txBody>
      </p:sp>
      <p:sp>
        <p:nvSpPr>
          <p:cNvPr id="21" name="Text 15"/>
          <p:cNvSpPr/>
          <p:nvPr/>
        </p:nvSpPr>
        <p:spPr>
          <a:xfrm>
            <a:off x="1691640" y="5303520"/>
            <a:ext cx="960120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Refactor-friendly. Catches typos at build time.</a:t>
            </a:r>
            <a:endParaRPr lang="en-US" sz="1150" dirty="0"/>
          </a:p>
        </p:txBody>
      </p:sp>
      <p:sp>
        <p:nvSpPr>
          <p:cNvPr id="22" name="Text 1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3" name="Text 1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27</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useMutation — write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mutationFn does the writing. onSuccess invalidates queries. The hook tracks pending and error.</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600" dirty="0">
                <a:solidFill>
                  <a:srgbClr val="C586C0"/>
                </a:solidFill>
                <a:latin typeface="Courier New" pitchFamily="34" charset="0"/>
                <a:ea typeface="Courier New" pitchFamily="34" charset="-122"/>
                <a:cs typeface="Courier New" pitchFamily="34" charset="-120"/>
              </a:rPr>
              <a:t>function </a:t>
            </a:r>
            <a:r>
              <a:rPr lang="en-US" sz="1600" dirty="0">
                <a:solidFill>
                  <a:srgbClr val="DCDCAA"/>
                </a:solidFill>
                <a:latin typeface="Courier New" pitchFamily="34" charset="0"/>
                <a:ea typeface="Courier New" pitchFamily="34" charset="-122"/>
                <a:cs typeface="Courier New" pitchFamily="34" charset="-120"/>
              </a:rPr>
              <a:t>NewPostForm</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const queryClient = </a:t>
            </a:r>
            <a:r>
              <a:rPr lang="en-US" sz="1600" dirty="0">
                <a:solidFill>
                  <a:srgbClr val="DCDCAA"/>
                </a:solidFill>
                <a:latin typeface="Courier New" pitchFamily="34" charset="0"/>
                <a:ea typeface="Courier New" pitchFamily="34" charset="-122"/>
                <a:cs typeface="Courier New" pitchFamily="34" charset="-120"/>
              </a:rPr>
              <a:t>useQueryClient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 mutate, isPending, isError, error } = </a:t>
            </a:r>
            <a:r>
              <a:rPr lang="en-US" sz="1600" dirty="0">
                <a:solidFill>
                  <a:srgbClr val="DCDCAA"/>
                </a:solidFill>
                <a:latin typeface="Courier New" pitchFamily="34" charset="0"/>
                <a:ea typeface="Courier New" pitchFamily="34" charset="-122"/>
                <a:cs typeface="Courier New" pitchFamily="34" charset="-120"/>
              </a:rPr>
              <a:t>useMutation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mutationFn: (newPost) =&gt; api.createPost(newPost),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onSuccess: () =&gt;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queryClient.invalidateQueries</a:t>
            </a:r>
            <a:r>
              <a:rPr lang="en-US" sz="1600" dirty="0">
                <a:solidFill>
                  <a:srgbClr val="9CDCFE"/>
                </a:solidFill>
                <a:latin typeface="Courier New" pitchFamily="34" charset="0"/>
                <a:ea typeface="Courier New" pitchFamily="34" charset="-122"/>
                <a:cs typeface="Courier New" pitchFamily="34" charset="-120"/>
              </a:rPr>
              <a:t>({ queryKey: ['posts'</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  function </a:t>
            </a:r>
            <a:r>
              <a:rPr lang="en-US" sz="1600" dirty="0">
                <a:solidFill>
                  <a:srgbClr val="DCDCAA"/>
                </a:solidFill>
                <a:latin typeface="Courier New" pitchFamily="34" charset="0"/>
                <a:ea typeface="Courier New" pitchFamily="34" charset="-122"/>
                <a:cs typeface="Courier New" pitchFamily="34" charset="-120"/>
              </a:rPr>
              <a:t>handleSubmit</a:t>
            </a:r>
            <a:r>
              <a:rPr lang="en-US" sz="1600" dirty="0">
                <a:solidFill>
                  <a:srgbClr val="FFFFFF"/>
                </a:solidFill>
                <a:latin typeface="Courier New" pitchFamily="34" charset="0"/>
                <a:ea typeface="Courier New" pitchFamily="34" charset="-122"/>
                <a:cs typeface="Courier New" pitchFamily="34" charset="-120"/>
              </a:rPr>
              <a:t>(formData)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mutate({ title: formData.get(</a:t>
            </a:r>
            <a:r>
              <a:rPr lang="en-US" sz="1600" dirty="0">
                <a:solidFill>
                  <a:srgbClr val="9CDCFE"/>
                </a:solidFill>
                <a:latin typeface="Courier New" pitchFamily="34" charset="0"/>
                <a:ea typeface="Courier New" pitchFamily="34" charset="-122"/>
                <a:cs typeface="Courier New" pitchFamily="34" charset="-120"/>
              </a:rPr>
              <a:t>'title'</a:t>
            </a:r>
            <a:r>
              <a:rPr lang="en-US" sz="1600" dirty="0">
                <a:solidFill>
                  <a:srgbClr val="DCDCAA"/>
                </a:solidFill>
                <a:latin typeface="Courier New" pitchFamily="34" charset="0"/>
                <a:ea typeface="Courier New" pitchFamily="34" charset="-122"/>
                <a:cs typeface="Courier New" pitchFamily="34" charset="-120"/>
              </a:rPr>
              <a:t>), body: formData.get(</a:t>
            </a:r>
            <a:r>
              <a:rPr lang="en-US" sz="1600" dirty="0">
                <a:solidFill>
                  <a:srgbClr val="9CDCFE"/>
                </a:solidFill>
                <a:latin typeface="Courier New" pitchFamily="34" charset="0"/>
                <a:ea typeface="Courier New" pitchFamily="34" charset="-122"/>
                <a:cs typeface="Courier New" pitchFamily="34" charset="-120"/>
              </a:rPr>
              <a:t>'body'</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&lt;form action={handleSubmit}&gt; ... &lt;button disabled={isPending}&gt;Post&lt;/button&gt;&lt;/form&gt;;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Invalidation — the heart of cache management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After a mutation, tell the cache what's stale. TanStack refetches in the background.</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83080"/>
            <a:ext cx="969264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Invalidate one entry</a:t>
            </a:r>
            <a:endParaRPr lang="en-US" sz="1350" dirty="0"/>
          </a:p>
        </p:txBody>
      </p:sp>
      <p:sp>
        <p:nvSpPr>
          <p:cNvPr id="7" name="Shape 5"/>
          <p:cNvSpPr/>
          <p:nvPr/>
        </p:nvSpPr>
        <p:spPr>
          <a:xfrm>
            <a:off x="960120" y="2148840"/>
            <a:ext cx="9692640" cy="384048"/>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1097280" y="2148840"/>
            <a:ext cx="9509760" cy="384048"/>
          </a:xfrm>
          <a:prstGeom prst="rect">
            <a:avLst/>
          </a:prstGeom>
          <a:noFill/>
          <a:ln/>
        </p:spPr>
        <p:txBody>
          <a:bodyPr wrap="square" lIns="0" tIns="0" rIns="0" bIns="0" rtlCol="0" anchor="ctr"/>
          <a:lstStyle/>
          <a:p>
            <a:pPr marL="0" indent="0">
              <a:buNone/>
            </a:pPr>
            <a:r>
              <a:rPr lang="en-US" sz="1150" dirty="0">
                <a:solidFill>
                  <a:srgbClr val="CBF1F6"/>
                </a:solidFill>
                <a:latin typeface="Courier New" pitchFamily="34" charset="0"/>
                <a:ea typeface="Courier New" pitchFamily="34" charset="-122"/>
                <a:cs typeface="Courier New" pitchFamily="34" charset="-120"/>
              </a:rPr>
              <a:t>queryClient.invalidateQueries({ queryKey: ['posts', id] });</a:t>
            </a:r>
            <a:endParaRPr lang="en-US" sz="1150" dirty="0"/>
          </a:p>
        </p:txBody>
      </p:sp>
      <p:sp>
        <p:nvSpPr>
          <p:cNvPr id="9" name="Shape 7"/>
          <p:cNvSpPr/>
          <p:nvPr/>
        </p:nvSpPr>
        <p:spPr>
          <a:xfrm>
            <a:off x="777240" y="2788920"/>
            <a:ext cx="10607040" cy="91440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960120" y="2880360"/>
            <a:ext cx="969264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Invalidate a hierarchy</a:t>
            </a:r>
            <a:endParaRPr lang="en-US" sz="1350" dirty="0"/>
          </a:p>
        </p:txBody>
      </p:sp>
      <p:sp>
        <p:nvSpPr>
          <p:cNvPr id="11" name="Shape 9"/>
          <p:cNvSpPr/>
          <p:nvPr/>
        </p:nvSpPr>
        <p:spPr>
          <a:xfrm>
            <a:off x="960120" y="3246120"/>
            <a:ext cx="9692640" cy="384048"/>
          </a:xfrm>
          <a:prstGeom prst="rect">
            <a:avLst/>
          </a:prstGeom>
          <a:solidFill>
            <a:srgbClr val="1E2A47"/>
          </a:solidFill>
          <a:ln w="12700">
            <a:solidFill>
              <a:srgbClr val="1E2A47"/>
            </a:solidFill>
            <a:prstDash val="solid"/>
          </a:ln>
        </p:spPr>
        <p:txBody>
          <a:bodyPr/>
          <a:lstStyle/>
          <a:p>
            <a:endParaRPr lang="en-US"/>
          </a:p>
        </p:txBody>
      </p:sp>
      <p:sp>
        <p:nvSpPr>
          <p:cNvPr id="12" name="Text 10"/>
          <p:cNvSpPr/>
          <p:nvPr/>
        </p:nvSpPr>
        <p:spPr>
          <a:xfrm>
            <a:off x="1097280" y="3246120"/>
            <a:ext cx="9509760" cy="384048"/>
          </a:xfrm>
          <a:prstGeom prst="rect">
            <a:avLst/>
          </a:prstGeom>
          <a:noFill/>
          <a:ln/>
        </p:spPr>
        <p:txBody>
          <a:bodyPr wrap="square" lIns="0" tIns="0" rIns="0" bIns="0" rtlCol="0" anchor="ctr"/>
          <a:lstStyle/>
          <a:p>
            <a:pPr marL="0" indent="0">
              <a:buNone/>
            </a:pPr>
            <a:r>
              <a:rPr lang="en-US" sz="1150" dirty="0">
                <a:solidFill>
                  <a:srgbClr val="CBF1F6"/>
                </a:solidFill>
                <a:latin typeface="Courier New" pitchFamily="34" charset="0"/>
                <a:ea typeface="Courier New" pitchFamily="34" charset="-122"/>
                <a:cs typeface="Courier New" pitchFamily="34" charset="-120"/>
              </a:rPr>
              <a:t>queryClient.invalidateQueries({ queryKey: ['posts'] });</a:t>
            </a:r>
            <a:endParaRPr lang="en-US" sz="1150" dirty="0"/>
          </a:p>
        </p:txBody>
      </p:sp>
      <p:sp>
        <p:nvSpPr>
          <p:cNvPr id="13" name="Shape 11"/>
          <p:cNvSpPr/>
          <p:nvPr/>
        </p:nvSpPr>
        <p:spPr>
          <a:xfrm>
            <a:off x="777240" y="3886200"/>
            <a:ext cx="10607040" cy="914400"/>
          </a:xfrm>
          <a:prstGeom prst="rect">
            <a:avLst/>
          </a:prstGeom>
          <a:solidFill>
            <a:srgbClr val="FFFFFF"/>
          </a:solidFill>
          <a:ln w="12700">
            <a:solidFill>
              <a:srgbClr val="E2E8F0"/>
            </a:solidFill>
            <a:prstDash val="solid"/>
          </a:ln>
        </p:spPr>
        <p:txBody>
          <a:bodyPr/>
          <a:lstStyle/>
          <a:p>
            <a:endParaRPr lang="en-US"/>
          </a:p>
        </p:txBody>
      </p:sp>
      <p:sp>
        <p:nvSpPr>
          <p:cNvPr id="14" name="Text 12"/>
          <p:cNvSpPr/>
          <p:nvPr/>
        </p:nvSpPr>
        <p:spPr>
          <a:xfrm>
            <a:off x="960120" y="3977640"/>
            <a:ext cx="969264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Invalidate by predicate</a:t>
            </a:r>
            <a:endParaRPr lang="en-US" sz="1350" dirty="0"/>
          </a:p>
        </p:txBody>
      </p:sp>
      <p:sp>
        <p:nvSpPr>
          <p:cNvPr id="15" name="Shape 13"/>
          <p:cNvSpPr/>
          <p:nvPr/>
        </p:nvSpPr>
        <p:spPr>
          <a:xfrm>
            <a:off x="960120" y="4343400"/>
            <a:ext cx="9692640" cy="384048"/>
          </a:xfrm>
          <a:prstGeom prst="rect">
            <a:avLst/>
          </a:prstGeom>
          <a:solidFill>
            <a:srgbClr val="1E2A47"/>
          </a:solidFill>
          <a:ln w="12700">
            <a:solidFill>
              <a:srgbClr val="1E2A47"/>
            </a:solidFill>
            <a:prstDash val="solid"/>
          </a:ln>
        </p:spPr>
        <p:txBody>
          <a:bodyPr/>
          <a:lstStyle/>
          <a:p>
            <a:endParaRPr lang="en-US"/>
          </a:p>
        </p:txBody>
      </p:sp>
      <p:sp>
        <p:nvSpPr>
          <p:cNvPr id="16" name="Text 14"/>
          <p:cNvSpPr/>
          <p:nvPr/>
        </p:nvSpPr>
        <p:spPr>
          <a:xfrm>
            <a:off x="1097280" y="4343400"/>
            <a:ext cx="9509760" cy="384048"/>
          </a:xfrm>
          <a:prstGeom prst="rect">
            <a:avLst/>
          </a:prstGeom>
          <a:noFill/>
          <a:ln/>
        </p:spPr>
        <p:txBody>
          <a:bodyPr wrap="square" lIns="0" tIns="0" rIns="0" bIns="0" rtlCol="0" anchor="ctr"/>
          <a:lstStyle/>
          <a:p>
            <a:pPr marL="0" indent="0">
              <a:buNone/>
            </a:pPr>
            <a:r>
              <a:rPr lang="en-US" sz="1150" dirty="0">
                <a:solidFill>
                  <a:srgbClr val="CBF1F6"/>
                </a:solidFill>
                <a:latin typeface="Courier New" pitchFamily="34" charset="0"/>
                <a:ea typeface="Courier New" pitchFamily="34" charset="-122"/>
                <a:cs typeface="Courier New" pitchFamily="34" charset="-120"/>
              </a:rPr>
              <a:t>queryClient.invalidateQueries({ predicate: (q) =&gt; q.state.data?.authorId === userId });</a:t>
            </a:r>
            <a:endParaRPr lang="en-US" sz="1150" dirty="0"/>
          </a:p>
        </p:txBody>
      </p:sp>
      <p:sp>
        <p:nvSpPr>
          <p:cNvPr id="17" name="Shape 15"/>
          <p:cNvSpPr/>
          <p:nvPr/>
        </p:nvSpPr>
        <p:spPr>
          <a:xfrm>
            <a:off x="777240" y="4983480"/>
            <a:ext cx="10607040" cy="914400"/>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5074920"/>
            <a:ext cx="969264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Refetch immediately (no stale wait)</a:t>
            </a:r>
            <a:endParaRPr lang="en-US" sz="1350" dirty="0"/>
          </a:p>
        </p:txBody>
      </p:sp>
      <p:sp>
        <p:nvSpPr>
          <p:cNvPr id="19" name="Shape 17"/>
          <p:cNvSpPr/>
          <p:nvPr/>
        </p:nvSpPr>
        <p:spPr>
          <a:xfrm>
            <a:off x="960120" y="5440680"/>
            <a:ext cx="9692640" cy="384048"/>
          </a:xfrm>
          <a:prstGeom prst="rect">
            <a:avLst/>
          </a:prstGeom>
          <a:solidFill>
            <a:srgbClr val="1E2A47"/>
          </a:solidFill>
          <a:ln w="12700">
            <a:solidFill>
              <a:srgbClr val="1E2A47"/>
            </a:solidFill>
            <a:prstDash val="solid"/>
          </a:ln>
        </p:spPr>
        <p:txBody>
          <a:bodyPr/>
          <a:lstStyle/>
          <a:p>
            <a:endParaRPr lang="en-US"/>
          </a:p>
        </p:txBody>
      </p:sp>
      <p:sp>
        <p:nvSpPr>
          <p:cNvPr id="20" name="Text 18"/>
          <p:cNvSpPr/>
          <p:nvPr/>
        </p:nvSpPr>
        <p:spPr>
          <a:xfrm>
            <a:off x="1097280" y="5440680"/>
            <a:ext cx="9509760" cy="384048"/>
          </a:xfrm>
          <a:prstGeom prst="rect">
            <a:avLst/>
          </a:prstGeom>
          <a:noFill/>
          <a:ln/>
        </p:spPr>
        <p:txBody>
          <a:bodyPr wrap="square" lIns="0" tIns="0" rIns="0" bIns="0" rtlCol="0" anchor="ctr"/>
          <a:lstStyle/>
          <a:p>
            <a:pPr marL="0" indent="0">
              <a:buNone/>
            </a:pPr>
            <a:r>
              <a:rPr lang="en-US" sz="1150" dirty="0">
                <a:solidFill>
                  <a:srgbClr val="CBF1F6"/>
                </a:solidFill>
                <a:latin typeface="Courier New" pitchFamily="34" charset="0"/>
                <a:ea typeface="Courier New" pitchFamily="34" charset="-122"/>
                <a:cs typeface="Courier New" pitchFamily="34" charset="-120"/>
              </a:rPr>
              <a:t>queryClient.refetchQueries({ queryKey: ['posts'] });</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Optimistic updates — the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Show the success state immediately. Roll back on error. Reconcile on settle.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The four-step pattern in onMutate / onError / onSettled:</a:t>
            </a:r>
            <a:endParaRPr lang="en-US" sz="1400" dirty="0"/>
          </a:p>
        </p:txBody>
      </p:sp>
      <p:sp>
        <p:nvSpPr>
          <p:cNvPr id="6" name="Shape 4"/>
          <p:cNvSpPr/>
          <p:nvPr/>
        </p:nvSpPr>
        <p:spPr>
          <a:xfrm>
            <a:off x="777240" y="2011680"/>
            <a:ext cx="10607040" cy="822960"/>
          </a:xfrm>
          <a:prstGeom prst="rect">
            <a:avLst/>
          </a:prstGeom>
          <a:solidFill>
            <a:srgbClr val="FFFFFF"/>
          </a:solidFill>
          <a:ln w="12700">
            <a:solidFill>
              <a:srgbClr val="E2E8F0"/>
            </a:solidFill>
            <a:prstDash val="solid"/>
          </a:ln>
        </p:spPr>
        <p:txBody>
          <a:bodyPr/>
          <a:lstStyle/>
          <a:p>
            <a:endParaRPr lang="en-US"/>
          </a:p>
        </p:txBody>
      </p:sp>
      <p:sp>
        <p:nvSpPr>
          <p:cNvPr id="7" name="Shape 5"/>
          <p:cNvSpPr/>
          <p:nvPr/>
        </p:nvSpPr>
        <p:spPr>
          <a:xfrm>
            <a:off x="960120" y="2194560"/>
            <a:ext cx="457200" cy="457200"/>
          </a:xfrm>
          <a:prstGeom prst="ellipse">
            <a:avLst/>
          </a:prstGeom>
          <a:solidFill>
            <a:srgbClr val="00B8D9"/>
          </a:solidFill>
          <a:ln w="12700">
            <a:solidFill>
              <a:srgbClr val="00B8D9"/>
            </a:solidFill>
            <a:prstDash val="solid"/>
          </a:ln>
        </p:spPr>
        <p:txBody>
          <a:bodyPr/>
          <a:lstStyle/>
          <a:p>
            <a:endParaRPr lang="en-US"/>
          </a:p>
        </p:txBody>
      </p:sp>
      <p:sp>
        <p:nvSpPr>
          <p:cNvPr id="8" name="Text 6"/>
          <p:cNvSpPr/>
          <p:nvPr/>
        </p:nvSpPr>
        <p:spPr>
          <a:xfrm>
            <a:off x="960120" y="21945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1</a:t>
            </a:r>
            <a:endParaRPr lang="en-US" sz="1600" dirty="0"/>
          </a:p>
        </p:txBody>
      </p:sp>
      <p:sp>
        <p:nvSpPr>
          <p:cNvPr id="9" name="Text 7"/>
          <p:cNvSpPr/>
          <p:nvPr/>
        </p:nvSpPr>
        <p:spPr>
          <a:xfrm>
            <a:off x="1554480" y="2103120"/>
            <a:ext cx="969264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onMutate: cancel in-flight queries for this key, snapshot the cache, write the optimistic value.</a:t>
            </a:r>
            <a:endParaRPr lang="en-US" sz="1250" dirty="0"/>
          </a:p>
        </p:txBody>
      </p:sp>
      <p:sp>
        <p:nvSpPr>
          <p:cNvPr id="10" name="Shape 8"/>
          <p:cNvSpPr/>
          <p:nvPr/>
        </p:nvSpPr>
        <p:spPr>
          <a:xfrm>
            <a:off x="777240" y="2971800"/>
            <a:ext cx="10607040" cy="82296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3154680"/>
            <a:ext cx="457200" cy="45720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31546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2</a:t>
            </a:r>
            <a:endParaRPr lang="en-US" sz="1600" dirty="0"/>
          </a:p>
        </p:txBody>
      </p:sp>
      <p:sp>
        <p:nvSpPr>
          <p:cNvPr id="13" name="Text 11"/>
          <p:cNvSpPr/>
          <p:nvPr/>
        </p:nvSpPr>
        <p:spPr>
          <a:xfrm>
            <a:off x="1554480" y="3063240"/>
            <a:ext cx="969264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Return the snapshot from onMutate so onError can use it for rollback.</a:t>
            </a:r>
            <a:endParaRPr lang="en-US" sz="1250" dirty="0"/>
          </a:p>
        </p:txBody>
      </p:sp>
      <p:sp>
        <p:nvSpPr>
          <p:cNvPr id="14" name="Shape 12"/>
          <p:cNvSpPr/>
          <p:nvPr/>
        </p:nvSpPr>
        <p:spPr>
          <a:xfrm>
            <a:off x="777240" y="3931920"/>
            <a:ext cx="10607040" cy="822960"/>
          </a:xfrm>
          <a:prstGeom prst="rect">
            <a:avLst/>
          </a:prstGeom>
          <a:solidFill>
            <a:srgbClr val="FFFFFF"/>
          </a:solidFill>
          <a:ln w="12700">
            <a:solidFill>
              <a:srgbClr val="E2E8F0"/>
            </a:solidFill>
            <a:prstDash val="solid"/>
          </a:ln>
        </p:spPr>
        <p:txBody>
          <a:bodyPr/>
          <a:lstStyle/>
          <a:p>
            <a:endParaRPr lang="en-US"/>
          </a:p>
        </p:txBody>
      </p:sp>
      <p:sp>
        <p:nvSpPr>
          <p:cNvPr id="15" name="Shape 13"/>
          <p:cNvSpPr/>
          <p:nvPr/>
        </p:nvSpPr>
        <p:spPr>
          <a:xfrm>
            <a:off x="960120" y="4114800"/>
            <a:ext cx="457200" cy="457200"/>
          </a:xfrm>
          <a:prstGeom prst="ellipse">
            <a:avLst/>
          </a:prstGeom>
          <a:solidFill>
            <a:srgbClr val="00B8D9"/>
          </a:solidFill>
          <a:ln w="12700">
            <a:solidFill>
              <a:srgbClr val="00B8D9"/>
            </a:solidFill>
            <a:prstDash val="solid"/>
          </a:ln>
        </p:spPr>
        <p:txBody>
          <a:bodyPr/>
          <a:lstStyle/>
          <a:p>
            <a:endParaRPr lang="en-US"/>
          </a:p>
        </p:txBody>
      </p:sp>
      <p:sp>
        <p:nvSpPr>
          <p:cNvPr id="16" name="Text 14"/>
          <p:cNvSpPr/>
          <p:nvPr/>
        </p:nvSpPr>
        <p:spPr>
          <a:xfrm>
            <a:off x="960120" y="41148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3</a:t>
            </a:r>
            <a:endParaRPr lang="en-US" sz="1600" dirty="0"/>
          </a:p>
        </p:txBody>
      </p:sp>
      <p:sp>
        <p:nvSpPr>
          <p:cNvPr id="17" name="Text 15"/>
          <p:cNvSpPr/>
          <p:nvPr/>
        </p:nvSpPr>
        <p:spPr>
          <a:xfrm>
            <a:off x="1554480" y="4023360"/>
            <a:ext cx="969264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onError: restore the snapshot. The user sees the rollback, not a stale optimistic value.</a:t>
            </a:r>
            <a:endParaRPr lang="en-US" sz="1250" dirty="0"/>
          </a:p>
        </p:txBody>
      </p:sp>
      <p:sp>
        <p:nvSpPr>
          <p:cNvPr id="18" name="Shape 16"/>
          <p:cNvSpPr/>
          <p:nvPr/>
        </p:nvSpPr>
        <p:spPr>
          <a:xfrm>
            <a:off x="777240" y="4892040"/>
            <a:ext cx="10607040" cy="822960"/>
          </a:xfrm>
          <a:prstGeom prst="rect">
            <a:avLst/>
          </a:prstGeom>
          <a:solidFill>
            <a:srgbClr val="FFFFFF"/>
          </a:solidFill>
          <a:ln w="12700">
            <a:solidFill>
              <a:srgbClr val="E2E8F0"/>
            </a:solidFill>
            <a:prstDash val="solid"/>
          </a:ln>
        </p:spPr>
        <p:txBody>
          <a:bodyPr/>
          <a:lstStyle/>
          <a:p>
            <a:endParaRPr lang="en-US"/>
          </a:p>
        </p:txBody>
      </p:sp>
      <p:sp>
        <p:nvSpPr>
          <p:cNvPr id="19" name="Shape 17"/>
          <p:cNvSpPr/>
          <p:nvPr/>
        </p:nvSpPr>
        <p:spPr>
          <a:xfrm>
            <a:off x="960120" y="5074920"/>
            <a:ext cx="457200" cy="457200"/>
          </a:xfrm>
          <a:prstGeom prst="ellipse">
            <a:avLst/>
          </a:prstGeom>
          <a:solidFill>
            <a:srgbClr val="00B8D9"/>
          </a:solidFill>
          <a:ln w="12700">
            <a:solidFill>
              <a:srgbClr val="00B8D9"/>
            </a:solidFill>
            <a:prstDash val="solid"/>
          </a:ln>
        </p:spPr>
        <p:txBody>
          <a:bodyPr/>
          <a:lstStyle/>
          <a:p>
            <a:endParaRPr lang="en-US"/>
          </a:p>
        </p:txBody>
      </p:sp>
      <p:sp>
        <p:nvSpPr>
          <p:cNvPr id="20" name="Text 18"/>
          <p:cNvSpPr/>
          <p:nvPr/>
        </p:nvSpPr>
        <p:spPr>
          <a:xfrm>
            <a:off x="960120" y="50749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Trebuchet MS" pitchFamily="34" charset="0"/>
                <a:ea typeface="Trebuchet MS" pitchFamily="34" charset="-122"/>
                <a:cs typeface="Trebuchet MS" pitchFamily="34" charset="-120"/>
              </a:rPr>
              <a:t>4</a:t>
            </a:r>
            <a:endParaRPr lang="en-US" sz="1600" dirty="0"/>
          </a:p>
        </p:txBody>
      </p:sp>
      <p:sp>
        <p:nvSpPr>
          <p:cNvPr id="21" name="Text 19"/>
          <p:cNvSpPr/>
          <p:nvPr/>
        </p:nvSpPr>
        <p:spPr>
          <a:xfrm>
            <a:off x="1554480" y="4983480"/>
            <a:ext cx="9692640" cy="64008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onSettled: invalidate the key so the cache catches up to the server's truth.</a:t>
            </a:r>
            <a:endParaRPr lang="en-US" sz="1250" dirty="0"/>
          </a:p>
        </p:txBody>
      </p:sp>
      <p:sp>
        <p:nvSpPr>
          <p:cNvPr id="22" name="Text 2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3" name="Text 2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Optimistic updates — the code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classic 'add post' flow with rollback on error.</a:t>
            </a:r>
            <a:endParaRPr lang="en-US" sz="1400" dirty="0"/>
          </a:p>
        </p:txBody>
      </p:sp>
      <p:sp>
        <p:nvSpPr>
          <p:cNvPr id="5" name="Shape 3"/>
          <p:cNvSpPr/>
          <p:nvPr/>
        </p:nvSpPr>
        <p:spPr>
          <a:xfrm>
            <a:off x="777240" y="1554480"/>
            <a:ext cx="10607040" cy="47548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480560"/>
          </a:xfrm>
          <a:prstGeom prst="rect">
            <a:avLst/>
          </a:prstGeom>
          <a:noFill/>
          <a:ln/>
        </p:spPr>
        <p:txBody>
          <a:bodyPr wrap="square" lIns="0" tIns="0" rIns="0" bIns="0" rtlCol="0" anchor="t"/>
          <a:lstStyle/>
          <a:p>
            <a:pPr marL="0" indent="0">
              <a:buNone/>
            </a:pPr>
            <a:r>
              <a:rPr lang="en-US" sz="1600" dirty="0">
                <a:solidFill>
                  <a:srgbClr val="DCDCAA"/>
                </a:solidFill>
                <a:latin typeface="Courier New" pitchFamily="34" charset="0"/>
                <a:ea typeface="Courier New" pitchFamily="34" charset="-122"/>
                <a:cs typeface="Courier New" pitchFamily="34" charset="-120"/>
              </a:rPr>
              <a:t>useMutation</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mutationFn: api.createPost,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onMutate: async (newPost) =&gt;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await queryClient.cancelQueries</a:t>
            </a:r>
            <a:r>
              <a:rPr lang="en-US" sz="1600" dirty="0">
                <a:solidFill>
                  <a:srgbClr val="9CDCFE"/>
                </a:solidFill>
                <a:latin typeface="Courier New" pitchFamily="34" charset="0"/>
                <a:ea typeface="Courier New" pitchFamily="34" charset="-122"/>
                <a:cs typeface="Courier New" pitchFamily="34" charset="-120"/>
              </a:rPr>
              <a:t>({ queryKey: ['posts'</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const snapshot = queryClient.getQueryData</a:t>
            </a:r>
            <a:r>
              <a:rPr lang="en-US" sz="1600" dirty="0">
                <a:solidFill>
                  <a:srgbClr val="9CDCFE"/>
                </a:solidFill>
                <a:latin typeface="Courier New" pitchFamily="34" charset="0"/>
                <a:ea typeface="Courier New" pitchFamily="34" charset="-122"/>
                <a:cs typeface="Courier New" pitchFamily="34" charset="-120"/>
              </a:rPr>
              <a:t>(['posts'</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queryClient.setQueryData</a:t>
            </a:r>
            <a:r>
              <a:rPr lang="en-US" sz="1600" dirty="0">
                <a:solidFill>
                  <a:srgbClr val="9CDCFE"/>
                </a:solidFill>
                <a:latin typeface="Courier New" pitchFamily="34" charset="0"/>
                <a:ea typeface="Courier New" pitchFamily="34" charset="-122"/>
                <a:cs typeface="Courier New" pitchFamily="34" charset="-120"/>
              </a:rPr>
              <a:t>(['posts'], (old = []) =&gt; [{ ...newPost, sending: </a:t>
            </a:r>
            <a:r>
              <a:rPr lang="en-US" sz="1600" dirty="0">
                <a:solidFill>
                  <a:srgbClr val="C586C0"/>
                </a:solidFill>
                <a:latin typeface="Courier New" pitchFamily="34" charset="0"/>
                <a:ea typeface="Courier New" pitchFamily="34" charset="-122"/>
                <a:cs typeface="Courier New" pitchFamily="34" charset="-120"/>
              </a:rPr>
              <a:t>true </a:t>
            </a:r>
            <a:r>
              <a:rPr lang="en-US" sz="1600" dirty="0">
                <a:solidFill>
                  <a:srgbClr val="9CDCFE"/>
                </a:solidFill>
                <a:latin typeface="Courier New" pitchFamily="34" charset="0"/>
                <a:ea typeface="Courier New" pitchFamily="34" charset="-122"/>
                <a:cs typeface="Courier New" pitchFamily="34" charset="-120"/>
              </a:rPr>
              <a:t>}, ...old]);</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 snapshot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onError: (err, newPost, ctx) =&gt;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queryClient.setQueryData</a:t>
            </a:r>
            <a:r>
              <a:rPr lang="en-US" sz="1600" dirty="0">
                <a:solidFill>
                  <a:srgbClr val="9CDCFE"/>
                </a:solidFill>
                <a:latin typeface="Courier New" pitchFamily="34" charset="0"/>
                <a:ea typeface="Courier New" pitchFamily="34" charset="-122"/>
                <a:cs typeface="Courier New" pitchFamily="34" charset="-120"/>
              </a:rPr>
              <a:t>(['posts'</a:t>
            </a:r>
            <a:r>
              <a:rPr lang="en-US" sz="1600" dirty="0">
                <a:solidFill>
                  <a:srgbClr val="FFFFFF"/>
                </a:solidFill>
                <a:latin typeface="Courier New" pitchFamily="34" charset="0"/>
                <a:ea typeface="Courier New" pitchFamily="34" charset="-122"/>
                <a:cs typeface="Courier New" pitchFamily="34" charset="-120"/>
              </a:rPr>
              <a:t>], ctx.snapshot);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toast.error(err.message);</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onSettled: () =&gt;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queryClient.invalidateQueries</a:t>
            </a:r>
            <a:r>
              <a:rPr lang="en-US" sz="1600" dirty="0">
                <a:solidFill>
                  <a:srgbClr val="9CDCFE"/>
                </a:solidFill>
                <a:latin typeface="Courier New" pitchFamily="34" charset="0"/>
                <a:ea typeface="Courier New" pitchFamily="34" charset="-122"/>
                <a:cs typeface="Courier New" pitchFamily="34" charset="-120"/>
              </a:rPr>
              <a:t>({ queryKey: ['posts'</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27</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Loading and Errors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Two patterns. Pick the one that fits the surrounding code.</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Loading — flags or Suspense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Both work with TanStack Query. Pick by what surrounds your component.</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Status flags</a:t>
            </a:r>
            <a:endParaRPr lang="en-US" sz="1600" dirty="0"/>
          </a:p>
        </p:txBody>
      </p:sp>
      <p:sp>
        <p:nvSpPr>
          <p:cNvPr id="7" name="Shape 5"/>
          <p:cNvSpPr/>
          <p:nvPr/>
        </p:nvSpPr>
        <p:spPr>
          <a:xfrm>
            <a:off x="960120" y="2331720"/>
            <a:ext cx="4937760" cy="14630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1143000" y="2468880"/>
            <a:ext cx="4572000" cy="118872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const { data, isPending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useQuery</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if (isPending) </a:t>
            </a:r>
            <a:r>
              <a:rPr lang="en-US" sz="1400" dirty="0">
                <a:solidFill>
                  <a:srgbClr val="9CDCFE"/>
                </a:solidFill>
                <a:latin typeface="Courier New" pitchFamily="34" charset="0"/>
                <a:ea typeface="Courier New" pitchFamily="34" charset="-122"/>
                <a:cs typeface="Courier New" pitchFamily="34" charset="-120"/>
              </a:rPr>
              <a:t>return &lt;Spinner /&gt;;</a:t>
            </a:r>
            <a:endParaRPr lang="en-US" sz="1400" dirty="0"/>
          </a:p>
        </p:txBody>
      </p:sp>
      <p:sp>
        <p:nvSpPr>
          <p:cNvPr id="9" name="Text 7"/>
          <p:cNvSpPr/>
          <p:nvPr/>
        </p:nvSpPr>
        <p:spPr>
          <a:xfrm>
            <a:off x="960120" y="3977640"/>
            <a:ext cx="4937760" cy="18288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Component owns its loading UI</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Easy to add per-query custom states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Default — pick this unless you have a reason</a:t>
            </a:r>
            <a:endParaRPr lang="en-US" sz="1600" dirty="0"/>
          </a:p>
        </p:txBody>
      </p:sp>
      <p:sp>
        <p:nvSpPr>
          <p:cNvPr id="10" name="Shape 8"/>
          <p:cNvSpPr/>
          <p:nvPr/>
        </p:nvSpPr>
        <p:spPr>
          <a:xfrm>
            <a:off x="6355080" y="1691640"/>
            <a:ext cx="5029200" cy="4297680"/>
          </a:xfrm>
          <a:prstGeom prst="rect">
            <a:avLst/>
          </a:prstGeom>
          <a:solidFill>
            <a:srgbClr val="FFFFFF"/>
          </a:solidFill>
          <a:ln w="12700">
            <a:solidFill>
              <a:srgbClr val="E2E8F0"/>
            </a:solidFill>
            <a:prstDash val="solid"/>
          </a:ln>
        </p:spPr>
        <p:txBody>
          <a:bodyPr/>
          <a:lstStyle/>
          <a:p>
            <a:endParaRPr lang="en-US"/>
          </a:p>
        </p:txBody>
      </p:sp>
      <p:sp>
        <p:nvSpPr>
          <p:cNvPr id="11" name="Text 9"/>
          <p:cNvSpPr/>
          <p:nvPr/>
        </p:nvSpPr>
        <p:spPr>
          <a:xfrm>
            <a:off x="6537960" y="1874520"/>
            <a:ext cx="475488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Suspense mode</a:t>
            </a:r>
            <a:endParaRPr lang="en-US" sz="1600" dirty="0"/>
          </a:p>
        </p:txBody>
      </p:sp>
      <p:sp>
        <p:nvSpPr>
          <p:cNvPr id="12" name="Shape 10"/>
          <p:cNvSpPr/>
          <p:nvPr/>
        </p:nvSpPr>
        <p:spPr>
          <a:xfrm>
            <a:off x="6537960" y="2331720"/>
            <a:ext cx="4663440" cy="1463040"/>
          </a:xfrm>
          <a:prstGeom prst="rect">
            <a:avLst/>
          </a:prstGeom>
          <a:solidFill>
            <a:srgbClr val="1E2A47"/>
          </a:solidFill>
          <a:ln w="12700">
            <a:solidFill>
              <a:srgbClr val="1E2A47"/>
            </a:solidFill>
            <a:prstDash val="solid"/>
          </a:ln>
        </p:spPr>
        <p:txBody>
          <a:bodyPr/>
          <a:lstStyle/>
          <a:p>
            <a:endParaRPr lang="en-US"/>
          </a:p>
        </p:txBody>
      </p:sp>
      <p:sp>
        <p:nvSpPr>
          <p:cNvPr id="13" name="Text 11"/>
          <p:cNvSpPr/>
          <p:nvPr/>
        </p:nvSpPr>
        <p:spPr>
          <a:xfrm>
            <a:off x="6720840" y="2468880"/>
            <a:ext cx="4297680" cy="118872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const { data } = </a:t>
            </a:r>
            <a:r>
              <a:rPr lang="en-US" sz="1400" dirty="0">
                <a:solidFill>
                  <a:srgbClr val="DCDCAA"/>
                </a:solidFill>
                <a:latin typeface="Courier New" pitchFamily="34" charset="0"/>
                <a:ea typeface="Courier New" pitchFamily="34" charset="-122"/>
                <a:cs typeface="Courier New" pitchFamily="34" charset="-120"/>
              </a:rPr>
              <a:t>useSuspenseQuery</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no isPending check — parent</a:t>
            </a: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Suspense boundary handles it</a:t>
            </a:r>
            <a:endParaRPr lang="en-US" sz="1400" dirty="0"/>
          </a:p>
        </p:txBody>
      </p:sp>
      <p:sp>
        <p:nvSpPr>
          <p:cNvPr id="14" name="Text 12"/>
          <p:cNvSpPr/>
          <p:nvPr/>
        </p:nvSpPr>
        <p:spPr>
          <a:xfrm>
            <a:off x="6537960" y="3977640"/>
            <a:ext cx="4663440" cy="18288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Loading UI lives in a parent &lt;Suspense&gt;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Component code reads as if data is always present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Fits naturally with route-level loading.jsx files</a:t>
            </a:r>
            <a:endParaRPr lang="en-US" sz="1600" dirty="0"/>
          </a:p>
        </p:txBody>
      </p:sp>
      <p:sp>
        <p:nvSpPr>
          <p:cNvPr id="15"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6"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27</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Errors — boundaries beat conditionals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Wrap features in error boundaries. TanStack Query throws into them when configured.</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app/main.jsx</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&lt;</a:t>
            </a:r>
            <a:r>
              <a:rPr lang="en-US" sz="1400" dirty="0">
                <a:solidFill>
                  <a:srgbClr val="DCDCAA"/>
                </a:solidFill>
                <a:latin typeface="Courier New" pitchFamily="34" charset="0"/>
                <a:ea typeface="Courier New" pitchFamily="34" charset="-122"/>
                <a:cs typeface="Courier New" pitchFamily="34" charset="-120"/>
              </a:rPr>
              <a:t>QueryErrorResetBoundary</a:t>
            </a:r>
            <a:r>
              <a:rPr lang="en-US" sz="1400" dirty="0">
                <a:solidFill>
                  <a:srgbClr val="9CDCFE"/>
                </a:solidFill>
                <a:latin typeface="Courier New" pitchFamily="34" charset="0"/>
                <a:ea typeface="Courier New" pitchFamily="34" charset="-122"/>
                <a:cs typeface="Courier New" pitchFamily="34" charset="-120"/>
              </a:rPr>
              <a:t>&gt;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 reset }) =&gt;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a:t>
            </a:r>
            <a:r>
              <a:rPr lang="en-US" sz="1400" dirty="0">
                <a:solidFill>
                  <a:srgbClr val="DCDCAA"/>
                </a:solidFill>
                <a:latin typeface="Courier New" pitchFamily="34" charset="0"/>
                <a:ea typeface="Courier New" pitchFamily="34" charset="-122"/>
                <a:cs typeface="Courier New" pitchFamily="34" charset="-120"/>
              </a:rPr>
              <a:t>ErrorBoundary</a:t>
            </a:r>
            <a:r>
              <a:rPr lang="en-US" sz="1400" dirty="0">
                <a:solidFill>
                  <a:srgbClr val="9CDCFE"/>
                </a:solidFill>
                <a:latin typeface="Courier New" pitchFamily="34" charset="0"/>
                <a:ea typeface="Courier New" pitchFamily="34" charset="-122"/>
                <a:cs typeface="Courier New" pitchFamily="34" charset="-120"/>
              </a:rPr>
              <a:t> onReset={reset} fallbackRender={({ error, resetErrorBoundary })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&lt;ErrorPanel error={error} onRetry={resetErrorBoundary}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&lt;App /&gt;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a:t>
            </a:r>
            <a:r>
              <a:rPr lang="en-US" sz="1400" dirty="0">
                <a:solidFill>
                  <a:srgbClr val="DCDCAA"/>
                </a:solidFill>
                <a:latin typeface="Courier New" pitchFamily="34" charset="0"/>
                <a:ea typeface="Courier New" pitchFamily="34" charset="-122"/>
                <a:cs typeface="Courier New" pitchFamily="34" charset="-120"/>
              </a:rPr>
              <a:t>ErrorBoundary</a:t>
            </a:r>
            <a:r>
              <a:rPr lang="en-US" sz="1400" dirty="0">
                <a:solidFill>
                  <a:srgbClr val="9CDCFE"/>
                </a:solidFill>
                <a:latin typeface="Courier New" pitchFamily="34" charset="0"/>
                <a:ea typeface="Courier New" pitchFamily="34" charset="-122"/>
                <a:cs typeface="Courier New" pitchFamily="34" charset="-120"/>
              </a:rPr>
              <a:t>&gt;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&lt;/</a:t>
            </a:r>
            <a:r>
              <a:rPr lang="en-US" sz="1400" dirty="0">
                <a:solidFill>
                  <a:srgbClr val="DCDCAA"/>
                </a:solidFill>
                <a:latin typeface="Courier New" pitchFamily="34" charset="0"/>
                <a:ea typeface="Courier New" pitchFamily="34" charset="-122"/>
                <a:cs typeface="Courier New" pitchFamily="34" charset="-120"/>
              </a:rPr>
              <a:t>QueryErrorResetBoundary</a:t>
            </a:r>
            <a:r>
              <a:rPr lang="en-US" sz="1400" dirty="0">
                <a:solidFill>
                  <a:srgbClr val="9CDCFE"/>
                </a:solidFill>
                <a:latin typeface="Courier New" pitchFamily="34" charset="0"/>
                <a:ea typeface="Courier New" pitchFamily="34" charset="-122"/>
                <a:cs typeface="Courier New" pitchFamily="34" charset="-120"/>
              </a:rPr>
              <a:t>&gt;</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in the query</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useQuery</a:t>
            </a:r>
            <a:r>
              <a:rPr lang="en-US" sz="1400" dirty="0">
                <a:solidFill>
                  <a:srgbClr val="9CDCFE"/>
                </a:solidFill>
                <a:latin typeface="Courier New" pitchFamily="34" charset="0"/>
                <a:ea typeface="Courier New" pitchFamily="34" charset="-122"/>
                <a:cs typeface="Courier New" pitchFamily="34" charset="-120"/>
              </a:rPr>
              <a:t>({ ..., throwOnError: </a:t>
            </a:r>
            <a:r>
              <a:rPr lang="en-US" sz="1400" dirty="0">
                <a:solidFill>
                  <a:srgbClr val="C586C0"/>
                </a:solidFill>
                <a:latin typeface="Courier New" pitchFamily="34" charset="0"/>
                <a:ea typeface="Courier New" pitchFamily="34" charset="-122"/>
                <a:cs typeface="Courier New" pitchFamily="34" charset="-120"/>
              </a:rPr>
              <a:t>true </a:t>
            </a:r>
            <a:r>
              <a:rPr lang="en-US" sz="1400" dirty="0">
                <a:solidFill>
                  <a:srgbClr val="9CDCFE"/>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27</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Retry — when, when not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Default retries 3 times with exponential backoff. Override per-query.</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Retry transient network errors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5xx, fetch failures, timeouts. Default behavior is fine.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Don't retry 4xx errors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Client mistakes won't fix themselves on retry. retry: (n, err) =&gt; err.status &lt; 500.</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4"/>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Don't retry mutations by default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 failed POST shouldn't auto-fire again — could double-submit. retry: false on mutations.</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Custom backoff for rate-limited APIs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retryDelay: (attempt) =&gt; Math.min(1000 * 2 ** attempt, 30000).</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2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use() vs useQuery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Different tools, overlapping problems. Knowing when each fits is the skill.</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 and TanStack Query — when each wins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Both can read promises. Pick by what owns the promise and what you need around it.</a:t>
            </a:r>
            <a:endParaRPr lang="en-US" sz="1400" dirty="0"/>
          </a:p>
        </p:txBody>
      </p:sp>
      <p:sp>
        <p:nvSpPr>
          <p:cNvPr id="5" name="Shape 3"/>
          <p:cNvSpPr/>
          <p:nvPr/>
        </p:nvSpPr>
        <p:spPr>
          <a:xfrm>
            <a:off x="777240" y="1691640"/>
            <a:ext cx="5349240" cy="438912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0B8D9"/>
                </a:solidFill>
                <a:latin typeface="Courier New" pitchFamily="34" charset="0"/>
                <a:ea typeface="Courier New" pitchFamily="34" charset="-122"/>
                <a:cs typeface="Courier New" pitchFamily="34" charset="-120"/>
              </a:rPr>
              <a:t>use(promise)</a:t>
            </a:r>
            <a:endParaRPr lang="en-US" sz="1800" dirty="0"/>
          </a:p>
        </p:txBody>
      </p:sp>
      <p:sp>
        <p:nvSpPr>
          <p:cNvPr id="7" name="Text 5"/>
          <p:cNvSpPr/>
          <p:nvPr/>
        </p:nvSpPr>
        <p:spPr>
          <a:xfrm>
            <a:off x="960120" y="2468880"/>
            <a:ext cx="4937760" cy="3474720"/>
          </a:xfrm>
          <a:prstGeom prst="rect">
            <a:avLst/>
          </a:prstGeom>
          <a:noFill/>
          <a:ln/>
        </p:spPr>
        <p:txBody>
          <a:bodyPr wrap="square" lIns="0" tIns="0" rIns="0" bIns="0" rtlCol="0" anchor="t"/>
          <a:lstStyle/>
          <a:p>
            <a:pPr marL="0" indent="0">
              <a:spcAft>
                <a:spcPts val="400"/>
              </a:spcAft>
              <a:buNone/>
            </a:pPr>
            <a:r>
              <a:rPr lang="en-US" sz="1300" b="1" dirty="0">
                <a:solidFill>
                  <a:srgbClr val="0F172A"/>
                </a:solidFill>
                <a:latin typeface="Arial" pitchFamily="34" charset="0"/>
                <a:ea typeface="Arial" pitchFamily="34" charset="-122"/>
                <a:cs typeface="Arial" pitchFamily="34" charset="-120"/>
              </a:rPr>
              <a:t>When</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Promise is created by a route loader, Server Component, or stable parent.</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marL="0" indent="0">
              <a:spcAft>
                <a:spcPts val="400"/>
              </a:spcAft>
              <a:buNone/>
            </a:pPr>
            <a:r>
              <a:rPr lang="en-US" sz="1300" b="1" dirty="0">
                <a:solidFill>
                  <a:srgbClr val="0F172A"/>
                </a:solidFill>
                <a:latin typeface="Arial" pitchFamily="34" charset="0"/>
                <a:ea typeface="Arial" pitchFamily="34" charset="-122"/>
                <a:cs typeface="Arial" pitchFamily="34" charset="-120"/>
              </a:rPr>
              <a:t>Win</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Components read like sync code. No isPending checks. Composes naturally with Suspense.</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marL="0" indent="0">
              <a:spcAft>
                <a:spcPts val="400"/>
              </a:spcAft>
              <a:buNone/>
            </a:pPr>
            <a:r>
              <a:rPr lang="en-US" sz="1300" b="1" dirty="0">
                <a:solidFill>
                  <a:srgbClr val="0F172A"/>
                </a:solidFill>
                <a:latin typeface="Arial" pitchFamily="34" charset="0"/>
                <a:ea typeface="Arial" pitchFamily="34" charset="-122"/>
                <a:cs typeface="Arial" pitchFamily="34" charset="-120"/>
              </a:rPr>
              <a:t>Don't get</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Cache, dedup, retry, invalidation, refetch. You'd build those yourself.</a:t>
            </a:r>
            <a:endParaRPr lang="en-US" sz="1200" dirty="0"/>
          </a:p>
        </p:txBody>
      </p:sp>
      <p:sp>
        <p:nvSpPr>
          <p:cNvPr id="8" name="Shape 6"/>
          <p:cNvSpPr/>
          <p:nvPr/>
        </p:nvSpPr>
        <p:spPr>
          <a:xfrm>
            <a:off x="6355080" y="1691640"/>
            <a:ext cx="5029200" cy="438912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00B8D9"/>
                </a:solidFill>
                <a:latin typeface="Courier New" pitchFamily="34" charset="0"/>
                <a:ea typeface="Courier New" pitchFamily="34" charset="-122"/>
                <a:cs typeface="Courier New" pitchFamily="34" charset="-120"/>
              </a:rPr>
              <a:t>useQuery / useMutation</a:t>
            </a:r>
            <a:endParaRPr lang="en-US" sz="1800" dirty="0"/>
          </a:p>
        </p:txBody>
      </p:sp>
      <p:sp>
        <p:nvSpPr>
          <p:cNvPr id="10" name="Text 8"/>
          <p:cNvSpPr/>
          <p:nvPr/>
        </p:nvSpPr>
        <p:spPr>
          <a:xfrm>
            <a:off x="6537960" y="2468880"/>
            <a:ext cx="4663440" cy="3474720"/>
          </a:xfrm>
          <a:prstGeom prst="rect">
            <a:avLst/>
          </a:prstGeom>
          <a:noFill/>
          <a:ln/>
        </p:spPr>
        <p:txBody>
          <a:bodyPr wrap="square" lIns="0" tIns="0" rIns="0" bIns="0" rtlCol="0" anchor="t"/>
          <a:lstStyle/>
          <a:p>
            <a:pPr marL="0" indent="0">
              <a:spcAft>
                <a:spcPts val="400"/>
              </a:spcAft>
              <a:buNone/>
            </a:pPr>
            <a:r>
              <a:rPr lang="en-US" sz="1300" b="1" dirty="0">
                <a:solidFill>
                  <a:srgbClr val="0F172A"/>
                </a:solidFill>
                <a:latin typeface="Arial" pitchFamily="34" charset="0"/>
                <a:ea typeface="Arial" pitchFamily="34" charset="-122"/>
                <a:cs typeface="Arial" pitchFamily="34" charset="-120"/>
              </a:rPr>
              <a:t>When</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Component triggers the fetch. Multiple components share the data. Mutations and refetches matter.</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marL="0" indent="0">
              <a:spcAft>
                <a:spcPts val="400"/>
              </a:spcAft>
              <a:buNone/>
            </a:pPr>
            <a:r>
              <a:rPr lang="en-US" sz="1300" b="1" dirty="0">
                <a:solidFill>
                  <a:srgbClr val="0F172A"/>
                </a:solidFill>
                <a:latin typeface="Arial" pitchFamily="34" charset="0"/>
                <a:ea typeface="Arial" pitchFamily="34" charset="-122"/>
                <a:cs typeface="Arial" pitchFamily="34" charset="-120"/>
              </a:rPr>
              <a:t>Win</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Cache, dedup, retry, invalidation, refetch. The full data layer.</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marL="0" indent="0">
              <a:spcAft>
                <a:spcPts val="400"/>
              </a:spcAft>
              <a:buNone/>
            </a:pPr>
            <a:r>
              <a:rPr lang="en-US" sz="1300" b="1" dirty="0">
                <a:solidFill>
                  <a:srgbClr val="0F172A"/>
                </a:solidFill>
                <a:latin typeface="Arial" pitchFamily="34" charset="0"/>
                <a:ea typeface="Arial" pitchFamily="34" charset="-122"/>
                <a:cs typeface="Arial" pitchFamily="34" charset="-120"/>
              </a:rPr>
              <a:t>Don't get</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The 'reads like sync code' ergonomic of use() — but useSuspenseQuery gets close.</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5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Default to TanStack Query for client-driven data. It solves the dozen problems plain fetch + useEffect doesn't.</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Query keys are the cache contract. Hierarchical, parameterized, never mutable. Centralize them.</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Mutations finish with invalidation. The whole pattern is: do the thing, then tell the cache.</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Optimistic updates have four phases: cancel → snapshot → write → reconcile. Don't memorize, recognize.</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Status flags or Suspense — pick by what surrounds the component. Errors belong in boundaries.</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 wins when a parent owns the promise. Server Components win when the data lives on the server.</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mistakes in data fetching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look for when AI helps you wire up data.</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Reaching for useEffect + fetch instead of useQuery — old pattern from training data</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Recreating the QueryClient on every render — multiple caches, broken dedup</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Mutable query keys: ['posts', new Date()] — cache miss every render</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Missing invalidation after a mutation — stale UI until next manual refetch</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Retrying mutations by default — risk of double-submits</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Promise created inside the use() consumer — infinite Suspense loop</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4</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Convert the social-media app's ad-hoc fetch calls to TanStack Query.</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400" b="1" dirty="0">
                <a:solidFill>
                  <a:srgbClr val="0F172A"/>
                </a:solidFill>
                <a:latin typeface="Trebuchet MS" pitchFamily="34" charset="0"/>
                <a:ea typeface="Trebuchet MS" pitchFamily="34" charset="-122"/>
                <a:cs typeface="Trebuchet MS" pitchFamily="34" charset="-120"/>
              </a:rPr>
              <a:t>Lab 4: TanStack Query Migration</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75 minutes  ·  Hands-on  ·  Solution: solutions/lab-04-tanstack-query/</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Replace ad-hoc fetch + useEffect calls in the social-media client with useQuery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Convert the create-post flow to a useMutation with invalidation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Add an optimistic update — posts appear instantly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Wrap the feed in &lt;Suspense&gt; + an ErrorBoundary for proper loading/error UX</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implement infinite scroll for the posts feed using useInfiniteQuery</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After the lab: Module 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Server Components and Server Actions in depth.</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Module 6 picks up the server-side flavor we touched on today:</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Server Components — what runs where, what props can cross the boundary</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Server Actions with progressive enhancement and useActionState</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Streaming with multiple Suspense boundaries</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The boundary mistakes AI tools love to make — and how to spot them</a:t>
            </a:r>
            <a:endParaRPr lang="en-US" sz="1600" dirty="0"/>
          </a:p>
          <a:p>
            <a:pPr marL="342900" indent="-342900">
              <a:spcAft>
                <a:spcPts val="600"/>
              </a:spcAft>
              <a:buSzPct val="100000"/>
              <a:buChar char="•"/>
            </a:pPr>
            <a:r>
              <a:rPr lang="en-US" sz="1600" dirty="0">
                <a:solidFill>
                  <a:srgbClr val="475569"/>
                </a:solidFill>
                <a:latin typeface="Arial" pitchFamily="34" charset="0"/>
                <a:ea typeface="Arial" pitchFamily="34" charset="-122"/>
                <a:cs typeface="Arial" pitchFamily="34" charset="-120"/>
              </a:rPr>
              <a:t>Lab 5: build a Server Components dashboard with a Server Action form</a:t>
            </a:r>
            <a:endParaRPr lang="en-US" sz="16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End of Module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Day 2 still has Module 6 + Lab 5 after Lab 4.</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1097280" y="192024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Where we are in Day 2:</a:t>
            </a:r>
            <a:endParaRPr lang="en-US" sz="1400" dirty="0"/>
          </a:p>
        </p:txBody>
      </p:sp>
      <p:sp>
        <p:nvSpPr>
          <p:cNvPr id="7" name="Text 5"/>
          <p:cNvSpPr/>
          <p:nvPr/>
        </p:nvSpPr>
        <p:spPr>
          <a:xfrm>
            <a:off x="1097280" y="2423160"/>
            <a:ext cx="10058400" cy="3291840"/>
          </a:xfrm>
          <a:prstGeom prst="rect">
            <a:avLst/>
          </a:prstGeom>
          <a:noFill/>
          <a:ln/>
        </p:spPr>
        <p:txBody>
          <a:bodyPr wrap="square" lIns="0" tIns="0" rIns="0" bIns="0" rtlCol="0" anchor="t"/>
          <a:lstStyle/>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Module 4 — State management decision framework ✓</a:t>
            </a:r>
            <a:endParaRPr lang="en-US" dirty="0"/>
          </a:p>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Lab 3 — Pick-your-tool state refactor ✓</a:t>
            </a:r>
            <a:endParaRPr lang="en-US" dirty="0"/>
          </a:p>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Module 5 — Modern data fetching ✓ (just finished)</a:t>
            </a:r>
            <a:endParaRPr lang="en-US" dirty="0"/>
          </a:p>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Lab 4 — TanStack Query migration (next)</a:t>
            </a:r>
            <a:endParaRPr lang="en-US" dirty="0"/>
          </a:p>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Module 6 — Server Components + Server Actions</a:t>
            </a:r>
            <a:endParaRPr lang="en-US" dirty="0"/>
          </a:p>
          <a:p>
            <a:pPr marL="342900" indent="-342900">
              <a:spcAft>
                <a:spcPts val="400"/>
              </a:spcAft>
              <a:buSzPct val="100000"/>
              <a:buChar char="•"/>
            </a:pPr>
            <a:r>
              <a:rPr lang="en-US" dirty="0">
                <a:solidFill>
                  <a:srgbClr val="475569"/>
                </a:solidFill>
                <a:latin typeface="Arial" pitchFamily="34" charset="0"/>
                <a:ea typeface="Arial" pitchFamily="34" charset="-122"/>
                <a:cs typeface="Arial" pitchFamily="34" charset="-120"/>
              </a:rPr>
              <a:t>Lab 5 — Server Components dashboard</a:t>
            </a:r>
            <a:endParaRPr lang="en-US"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5 — Modern Data Fetching</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6</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000" b="1" dirty="0">
                <a:solidFill>
                  <a:srgbClr val="FFFFFF"/>
                </a:solidFill>
                <a:latin typeface="Trebuchet MS" pitchFamily="34" charset="0"/>
                <a:ea typeface="Trebuchet MS" pitchFamily="34" charset="-122"/>
                <a:cs typeface="Trebuchet MS" pitchFamily="34" charset="-120"/>
              </a:rPr>
              <a:t>Server Components &amp; Server Actions</a:t>
            </a:r>
            <a:endParaRPr lang="en-US" sz="40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Where code runs is the new mental model. Get the boundary right and the rest follows.</a:t>
            </a:r>
            <a:endParaRPr lang="en-US" sz="1800" dirty="0"/>
          </a:p>
        </p:txBody>
      </p:sp>
      <p:sp>
        <p:nvSpPr>
          <p:cNvPr id="6" name="Text 4"/>
          <p:cNvSpPr/>
          <p:nvPr/>
        </p:nvSpPr>
        <p:spPr>
          <a:xfrm>
            <a:off x="640080" y="502920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75 minutes  ·  Lecture + demos  ·  Lab 5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mental model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Every component runs somewhere. The job is knowing where, and what's allowed there.</a:t>
            </a:r>
            <a:endParaRPr lang="en-US" sz="1400" dirty="0"/>
          </a:p>
        </p:txBody>
      </p:sp>
      <p:sp>
        <p:nvSpPr>
          <p:cNvPr id="5" name="Shape 3"/>
          <p:cNvSpPr/>
          <p:nvPr/>
        </p:nvSpPr>
        <p:spPr>
          <a:xfrm>
            <a:off x="777240" y="1691640"/>
            <a:ext cx="5349240" cy="4297680"/>
          </a:xfrm>
          <a:prstGeom prst="rect">
            <a:avLst/>
          </a:prstGeom>
          <a:solidFill>
            <a:srgbClr val="1E2A47"/>
          </a:solidFill>
          <a:ln w="12700">
            <a:solidFill>
              <a:srgbClr val="1E2A47"/>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05840" y="1920240"/>
            <a:ext cx="640080" cy="640080"/>
          </a:xfrm>
          <a:prstGeom prst="rect">
            <a:avLst/>
          </a:prstGeom>
        </p:spPr>
      </p:pic>
      <p:sp>
        <p:nvSpPr>
          <p:cNvPr id="7" name="Text 4"/>
          <p:cNvSpPr/>
          <p:nvPr/>
        </p:nvSpPr>
        <p:spPr>
          <a:xfrm>
            <a:off x="1828800" y="1920240"/>
            <a:ext cx="4114800" cy="640080"/>
          </a:xfrm>
          <a:prstGeom prst="rect">
            <a:avLst/>
          </a:prstGeom>
          <a:noFill/>
          <a:ln/>
        </p:spPr>
        <p:txBody>
          <a:bodyPr wrap="square" lIns="0" tIns="0" rIns="0" bIns="0" rtlCol="0" anchor="ctr"/>
          <a:lstStyle/>
          <a:p>
            <a:pPr marL="0" indent="0">
              <a:buNone/>
            </a:pPr>
            <a:r>
              <a:rPr lang="en-US" sz="2200" b="1" dirty="0">
                <a:solidFill>
                  <a:srgbClr val="00B8D9"/>
                </a:solidFill>
                <a:latin typeface="Trebuchet MS" pitchFamily="34" charset="0"/>
                <a:ea typeface="Trebuchet MS" pitchFamily="34" charset="-122"/>
                <a:cs typeface="Trebuchet MS" pitchFamily="34" charset="-120"/>
              </a:rPr>
              <a:t>Server</a:t>
            </a:r>
            <a:endParaRPr lang="en-US" sz="2200" dirty="0"/>
          </a:p>
        </p:txBody>
      </p:sp>
      <p:sp>
        <p:nvSpPr>
          <p:cNvPr id="8" name="Text 5"/>
          <p:cNvSpPr/>
          <p:nvPr/>
        </p:nvSpPr>
        <p:spPr>
          <a:xfrm>
            <a:off x="1005840" y="2743200"/>
            <a:ext cx="5029200"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Runs in your Node process (or edge runtime)</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Has access to the database, file system, secrets</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Renders to a streamed payload</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No browser, no DOM, no event handlers</a:t>
            </a:r>
            <a:endParaRPr lang="en-US" sz="1300" dirty="0"/>
          </a:p>
        </p:txBody>
      </p:sp>
      <p:sp>
        <p:nvSpPr>
          <p:cNvPr id="9" name="Shape 6"/>
          <p:cNvSpPr/>
          <p:nvPr/>
        </p:nvSpPr>
        <p:spPr>
          <a:xfrm>
            <a:off x="6355080" y="1691640"/>
            <a:ext cx="5029200" cy="4297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583680" y="1920240"/>
            <a:ext cx="640080" cy="640080"/>
          </a:xfrm>
          <a:prstGeom prst="rect">
            <a:avLst/>
          </a:prstGeom>
        </p:spPr>
      </p:pic>
      <p:sp>
        <p:nvSpPr>
          <p:cNvPr id="11" name="Text 7"/>
          <p:cNvSpPr/>
          <p:nvPr/>
        </p:nvSpPr>
        <p:spPr>
          <a:xfrm>
            <a:off x="7406640" y="1920240"/>
            <a:ext cx="384048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Client (Browser)</a:t>
            </a:r>
            <a:endParaRPr lang="en-US" sz="2200" dirty="0"/>
          </a:p>
        </p:txBody>
      </p:sp>
      <p:sp>
        <p:nvSpPr>
          <p:cNvPr id="12" name="Text 8"/>
          <p:cNvSpPr/>
          <p:nvPr/>
        </p:nvSpPr>
        <p:spPr>
          <a:xfrm>
            <a:off x="6583680" y="2743200"/>
            <a:ext cx="4572000"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Runs in the user's browser tab</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Has DOM, event handlers, browser APIs</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Hydrates from the server's payload</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Can't access your DB or your secrets</a:t>
            </a:r>
            <a:endParaRPr lang="en-US" sz="1300" dirty="0"/>
          </a:p>
        </p:txBody>
      </p:sp>
      <p:sp>
        <p:nvSpPr>
          <p:cNvPr id="13"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4"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31</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Server Components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Components that only run on the server. The default in modern frameworks.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What's a Server Component?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component that runs on the server, returns serializable output, and ships zero JS to the browser.</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3832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app/posts/page.jsx — Next.js Server Component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db } from </a:t>
            </a:r>
            <a:r>
              <a:rPr lang="en-US" sz="1600" dirty="0">
                <a:solidFill>
                  <a:srgbClr val="9CDCFE"/>
                </a:solidFill>
                <a:latin typeface="Courier New" pitchFamily="34" charset="0"/>
                <a:ea typeface="Courier New" pitchFamily="34" charset="-122"/>
                <a:cs typeface="Courier New" pitchFamily="34" charset="-120"/>
              </a:rPr>
              <a:t>'@/lib/db'</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async function </a:t>
            </a:r>
            <a:r>
              <a:rPr lang="en-US" sz="1600" dirty="0">
                <a:solidFill>
                  <a:srgbClr val="DCDCAA"/>
                </a:solidFill>
                <a:latin typeface="Courier New" pitchFamily="34" charset="0"/>
                <a:ea typeface="Courier New" pitchFamily="34" charset="-122"/>
                <a:cs typeface="Courier New" pitchFamily="34" charset="-120"/>
              </a:rPr>
              <a:t>PostsPage</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posts = await db.posts.findMany();</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&lt;main&gt;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{posts.map((p) =&gt; &lt;article key={p.id}&gt;{p.title}&lt;/article&gt;)}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&lt;/main&gt;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005840" y="553212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The function is async. Database access at the top of the component. Zero JS in the browser for this code.</a:t>
            </a:r>
            <a:endParaRPr lang="en-US" sz="130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31</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first is the new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In Next.js 15 and RR v7 framework mode, every component is a Server Component unless you opt out.</a:t>
            </a:r>
            <a:endParaRPr lang="en-US" sz="1400" dirty="0"/>
          </a:p>
        </p:txBody>
      </p:sp>
      <p:sp>
        <p:nvSpPr>
          <p:cNvPr id="5" name="Shape 3"/>
          <p:cNvSpPr/>
          <p:nvPr/>
        </p:nvSpPr>
        <p:spPr>
          <a:xfrm>
            <a:off x="777240" y="1691640"/>
            <a:ext cx="10607040" cy="457200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100584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The shift in defaults</a:t>
            </a:r>
            <a:endParaRPr lang="en-US" sz="1800" dirty="0"/>
          </a:p>
        </p:txBody>
      </p:sp>
      <p:pic>
        <p:nvPicPr>
          <p:cNvPr id="7" name="Image 0" descr="preencoded.png"/>
          <p:cNvPicPr>
            <a:picLocks noChangeAspect="1"/>
          </p:cNvPicPr>
          <p:nvPr/>
        </p:nvPicPr>
        <p:blipFill>
          <a:blip r:embed="rId3"/>
          <a:stretch>
            <a:fillRect/>
          </a:stretch>
        </p:blipFill>
        <p:spPr>
          <a:xfrm>
            <a:off x="1051560" y="2560320"/>
            <a:ext cx="457200" cy="457200"/>
          </a:xfrm>
          <a:prstGeom prst="rect">
            <a:avLst/>
          </a:prstGeom>
        </p:spPr>
      </p:pic>
      <p:sp>
        <p:nvSpPr>
          <p:cNvPr id="8" name="Text 5"/>
          <p:cNvSpPr/>
          <p:nvPr/>
        </p:nvSpPr>
        <p:spPr>
          <a:xfrm>
            <a:off x="1691640" y="2468880"/>
            <a:ext cx="950976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All components are server components by default</a:t>
            </a:r>
            <a:endParaRPr lang="en-US" sz="1350" dirty="0"/>
          </a:p>
        </p:txBody>
      </p:sp>
      <p:sp>
        <p:nvSpPr>
          <p:cNvPr id="9" name="Text 6"/>
          <p:cNvSpPr/>
          <p:nvPr/>
        </p:nvSpPr>
        <p:spPr>
          <a:xfrm>
            <a:off x="1691640" y="2834640"/>
            <a:ext cx="950976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page.jsx, layout.jsx, and any component they import — server unless marked otherwise.</a:t>
            </a:r>
            <a:endParaRPr lang="en-US" sz="1150" dirty="0"/>
          </a:p>
        </p:txBody>
      </p:sp>
      <p:pic>
        <p:nvPicPr>
          <p:cNvPr id="10" name="Image 1" descr="preencoded.png"/>
          <p:cNvPicPr>
            <a:picLocks noChangeAspect="1"/>
          </p:cNvPicPr>
          <p:nvPr/>
        </p:nvPicPr>
        <p:blipFill>
          <a:blip r:embed="rId4"/>
          <a:stretch>
            <a:fillRect/>
          </a:stretch>
        </p:blipFill>
        <p:spPr>
          <a:xfrm>
            <a:off x="1051560" y="3474720"/>
            <a:ext cx="457200" cy="457200"/>
          </a:xfrm>
          <a:prstGeom prst="rect">
            <a:avLst/>
          </a:prstGeom>
        </p:spPr>
      </p:pic>
      <p:sp>
        <p:nvSpPr>
          <p:cNvPr id="11" name="Text 7"/>
          <p:cNvSpPr/>
          <p:nvPr/>
        </p:nvSpPr>
        <p:spPr>
          <a:xfrm>
            <a:off x="1691640" y="3383280"/>
            <a:ext cx="950976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Opt in to client with 'use client'</a:t>
            </a:r>
            <a:endParaRPr lang="en-US" sz="1350" dirty="0"/>
          </a:p>
        </p:txBody>
      </p:sp>
      <p:sp>
        <p:nvSpPr>
          <p:cNvPr id="12" name="Text 8"/>
          <p:cNvSpPr/>
          <p:nvPr/>
        </p:nvSpPr>
        <p:spPr>
          <a:xfrm>
            <a:off x="1691640" y="3749040"/>
            <a:ext cx="950976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First line of a file. Everything in that file (and its imports) is now client-side.</a:t>
            </a:r>
            <a:endParaRPr lang="en-US" sz="1150" dirty="0"/>
          </a:p>
        </p:txBody>
      </p:sp>
      <p:pic>
        <p:nvPicPr>
          <p:cNvPr id="13" name="Image 2" descr="preencoded.png"/>
          <p:cNvPicPr>
            <a:picLocks noChangeAspect="1"/>
          </p:cNvPicPr>
          <p:nvPr/>
        </p:nvPicPr>
        <p:blipFill>
          <a:blip r:embed="rId5"/>
          <a:stretch>
            <a:fillRect/>
          </a:stretch>
        </p:blipFill>
        <p:spPr>
          <a:xfrm>
            <a:off x="1051560" y="4389120"/>
            <a:ext cx="457200" cy="457200"/>
          </a:xfrm>
          <a:prstGeom prst="rect">
            <a:avLst/>
          </a:prstGeom>
        </p:spPr>
      </p:pic>
      <p:sp>
        <p:nvSpPr>
          <p:cNvPr id="14" name="Text 9"/>
          <p:cNvSpPr/>
          <p:nvPr/>
        </p:nvSpPr>
        <p:spPr>
          <a:xfrm>
            <a:off x="1691640" y="4297680"/>
            <a:ext cx="950976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Client components import client components</a:t>
            </a:r>
            <a:endParaRPr lang="en-US" sz="1350" dirty="0"/>
          </a:p>
        </p:txBody>
      </p:sp>
      <p:sp>
        <p:nvSpPr>
          <p:cNvPr id="15" name="Text 10"/>
          <p:cNvSpPr/>
          <p:nvPr/>
        </p:nvSpPr>
        <p:spPr>
          <a:xfrm>
            <a:off x="1691640" y="4663440"/>
            <a:ext cx="950976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Once you cross the boundary into client code, the rest of that subtree is client too.</a:t>
            </a:r>
            <a:endParaRPr lang="en-US" sz="1150" dirty="0"/>
          </a:p>
        </p:txBody>
      </p:sp>
      <p:pic>
        <p:nvPicPr>
          <p:cNvPr id="16" name="Image 3" descr="preencoded.png"/>
          <p:cNvPicPr>
            <a:picLocks noChangeAspect="1"/>
          </p:cNvPicPr>
          <p:nvPr/>
        </p:nvPicPr>
        <p:blipFill>
          <a:blip r:embed="rId6"/>
          <a:stretch>
            <a:fillRect/>
          </a:stretch>
        </p:blipFill>
        <p:spPr>
          <a:xfrm>
            <a:off x="1051560" y="5303520"/>
            <a:ext cx="457200" cy="457200"/>
          </a:xfrm>
          <a:prstGeom prst="rect">
            <a:avLst/>
          </a:prstGeom>
        </p:spPr>
      </p:pic>
      <p:sp>
        <p:nvSpPr>
          <p:cNvPr id="17" name="Text 11"/>
          <p:cNvSpPr/>
          <p:nvPr/>
        </p:nvSpPr>
        <p:spPr>
          <a:xfrm>
            <a:off x="1691640" y="5212080"/>
            <a:ext cx="950976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The boundary is per-file, not per-component</a:t>
            </a:r>
            <a:endParaRPr lang="en-US" sz="1350" dirty="0"/>
          </a:p>
        </p:txBody>
      </p:sp>
      <p:sp>
        <p:nvSpPr>
          <p:cNvPr id="18" name="Text 12"/>
          <p:cNvSpPr/>
          <p:nvPr/>
        </p:nvSpPr>
        <p:spPr>
          <a:xfrm>
            <a:off x="1691640" y="5577840"/>
            <a:ext cx="950976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You can't have a server function and a client function in the same file.</a:t>
            </a:r>
            <a:endParaRPr lang="en-US" sz="1150" dirty="0"/>
          </a:p>
        </p:txBody>
      </p:sp>
      <p:sp>
        <p:nvSpPr>
          <p:cNvPr id="19"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0"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31</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Server Components can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Things you couldn't do in a Client Component without a separate API layer.</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Query the database directly — no API endpoint needed</a:t>
            </a:r>
            <a:endParaRPr lang="en-US" sz="12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Read files from disk, including markdown and config</a:t>
            </a:r>
            <a:endParaRPr lang="en-US" sz="12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Use environment variables and secrets without exposing them</a:t>
            </a:r>
            <a:endParaRPr lang="en-US" sz="12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Call private internal services that aren't internet-accessible</a:t>
            </a:r>
            <a:endParaRPr lang="en-US" sz="12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Run heavy computations without shipping the JS to the browser</a:t>
            </a:r>
            <a:endParaRPr lang="en-US" sz="12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Import server-only libraries (e.g., Node crypto, fs, ORM clients)</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31</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Server Components can't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Anything that needs the browser. The list is shorter than you'd think.</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Use useState, useEffect, useReducer, or any hook with state</a:t>
            </a:r>
            <a:endParaRPr lang="en-US" sz="12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Attach event handlers (onClick, onChange, etc.)</a:t>
            </a:r>
            <a:endParaRPr lang="en-US" sz="12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Use browser APIs — window, document, localStorage, fetch</a:t>
            </a:r>
            <a:endParaRPr lang="en-US" sz="12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Use refs — useRef won't work without state to back it</a:t>
            </a:r>
            <a:endParaRPr lang="en-US" sz="12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Be marked 'use client' — that flips the file to client</a:t>
            </a:r>
            <a:endParaRPr lang="en-US" sz="12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Be re-rendered on the client — they render once, on the server</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31</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'use client' directive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First line of a file. Everything in that file is client-side from there.</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600" dirty="0">
                <a:solidFill>
                  <a:srgbClr val="9CDCFE"/>
                </a:solidFill>
                <a:latin typeface="Courier New" pitchFamily="34" charset="0"/>
                <a:ea typeface="Courier New" pitchFamily="34" charset="-122"/>
                <a:cs typeface="Courier New" pitchFamily="34" charset="-120"/>
              </a:rPr>
              <a:t>'use client'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Now we can use hooks, event handlers, browser APIs</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useState } from </a:t>
            </a:r>
            <a:r>
              <a:rPr lang="en-US" sz="1600" dirty="0">
                <a:solidFill>
                  <a:srgbClr val="9CDCFE"/>
                </a:solidFill>
                <a:latin typeface="Courier New" pitchFamily="34" charset="0"/>
                <a:ea typeface="Courier New" pitchFamily="34" charset="-122"/>
                <a:cs typeface="Courier New" pitchFamily="34" charset="-120"/>
              </a:rPr>
              <a:t>'react'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Counter</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[count, setCount] = </a:t>
            </a:r>
            <a:r>
              <a:rPr lang="en-US" sz="1600" dirty="0">
                <a:solidFill>
                  <a:srgbClr val="DCDCAA"/>
                </a:solidFill>
                <a:latin typeface="Courier New" pitchFamily="34" charset="0"/>
                <a:ea typeface="Courier New" pitchFamily="34" charset="-122"/>
                <a:cs typeface="Courier New" pitchFamily="34" charset="-120"/>
              </a:rPr>
              <a:t>useState</a:t>
            </a:r>
            <a:r>
              <a:rPr lang="en-US" sz="1600" dirty="0">
                <a:solidFill>
                  <a:srgbClr val="FFFFFF"/>
                </a:solidFill>
                <a:latin typeface="Courier New" pitchFamily="34" charset="0"/>
                <a:ea typeface="Courier New" pitchFamily="34" charset="-122"/>
                <a:cs typeface="Courier New" pitchFamily="34" charset="-120"/>
              </a:rPr>
              <a:t>(0);</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    &lt;button onClick={() =&gt; setCount(n =&gt; n + 1)}&gt;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Clicked {count} times</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&lt;/button&gt;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Shape 5"/>
          <p:cNvSpPr/>
          <p:nvPr/>
        </p:nvSpPr>
        <p:spPr>
          <a:xfrm>
            <a:off x="777240" y="5806440"/>
            <a:ext cx="10607040" cy="457200"/>
          </a:xfrm>
          <a:prstGeom prst="rect">
            <a:avLst/>
          </a:prstGeom>
          <a:solidFill>
            <a:srgbClr val="CBF1F6"/>
          </a:solidFill>
          <a:ln w="12700">
            <a:solidFill>
              <a:srgbClr val="CBF1F6"/>
            </a:solidFill>
            <a:prstDash val="solid"/>
          </a:ln>
        </p:spPr>
        <p:txBody>
          <a:bodyPr/>
          <a:lstStyle/>
          <a:p>
            <a:endParaRPr lang="en-US"/>
          </a:p>
        </p:txBody>
      </p:sp>
      <p:sp>
        <p:nvSpPr>
          <p:cNvPr id="8" name="Text 6"/>
          <p:cNvSpPr/>
          <p:nvPr/>
        </p:nvSpPr>
        <p:spPr>
          <a:xfrm>
            <a:off x="960120" y="5806440"/>
            <a:ext cx="10424160" cy="457200"/>
          </a:xfrm>
          <a:prstGeom prst="rect">
            <a:avLst/>
          </a:prstGeom>
          <a:noFill/>
          <a:ln/>
        </p:spPr>
        <p:txBody>
          <a:bodyPr wrap="square" lIns="0" tIns="0" rIns="0" bIns="0" rtlCol="0" anchor="ctr"/>
          <a:lstStyle/>
          <a:p>
            <a:pPr marL="0" indent="0">
              <a:buNone/>
            </a:pPr>
            <a:r>
              <a:rPr lang="en-US" sz="1150" i="1" dirty="0">
                <a:solidFill>
                  <a:srgbClr val="0F172A"/>
                </a:solidFill>
                <a:latin typeface="Arial" pitchFamily="34" charset="0"/>
                <a:ea typeface="Arial" pitchFamily="34" charset="-122"/>
                <a:cs typeface="Arial" pitchFamily="34" charset="-120"/>
              </a:rPr>
              <a:t>The directive is per-FILE. Once present, every export from that file is a Client Component, and every component imported into the file becomes client.</a:t>
            </a:r>
            <a:endParaRPr lang="en-US" sz="11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31</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client/server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Components 'cross' from server into client. They never cross back.</a:t>
            </a:r>
            <a:endParaRPr lang="en-US" sz="1400" dirty="0"/>
          </a:p>
        </p:txBody>
      </p:sp>
      <p:sp>
        <p:nvSpPr>
          <p:cNvPr id="5" name="Shape 3"/>
          <p:cNvSpPr/>
          <p:nvPr/>
        </p:nvSpPr>
        <p:spPr>
          <a:xfrm>
            <a:off x="777240" y="1691640"/>
            <a:ext cx="5349240" cy="438912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874520"/>
            <a:ext cx="5029200" cy="411480"/>
          </a:xfrm>
          <a:prstGeom prst="rect">
            <a:avLst/>
          </a:prstGeom>
          <a:noFill/>
          <a:ln/>
        </p:spPr>
        <p:txBody>
          <a:bodyPr wrap="square" lIns="0" tIns="0" rIns="0" bIns="0" rtlCol="0" anchor="ctr"/>
          <a:lstStyle/>
          <a:p>
            <a:pPr marL="0" indent="0">
              <a:buNone/>
            </a:pPr>
            <a:r>
              <a:rPr lang="en-US" sz="1400" b="1" dirty="0">
                <a:solidFill>
                  <a:srgbClr val="00B8D9"/>
                </a:solidFill>
                <a:latin typeface="Trebuchet MS" pitchFamily="34" charset="0"/>
                <a:ea typeface="Trebuchet MS" pitchFamily="34" charset="-122"/>
                <a:cs typeface="Trebuchet MS" pitchFamily="34" charset="-120"/>
              </a:rPr>
              <a:t>Server Components</a:t>
            </a:r>
            <a:endParaRPr lang="en-US" sz="1400" dirty="0"/>
          </a:p>
        </p:txBody>
      </p:sp>
      <p:sp>
        <p:nvSpPr>
          <p:cNvPr id="7" name="Text 5"/>
          <p:cNvSpPr/>
          <p:nvPr/>
        </p:nvSpPr>
        <p:spPr>
          <a:xfrm>
            <a:off x="960120" y="2423160"/>
            <a:ext cx="5029200" cy="347472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&lt;Page&gt;</a:t>
            </a:r>
            <a:endParaRPr lang="en-US" sz="1400" dirty="0"/>
          </a:p>
          <a:p>
            <a:pPr marL="0" indent="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&lt;Layout&gt;</a:t>
            </a:r>
            <a:endParaRPr lang="en-US" sz="1400" dirty="0"/>
          </a:p>
          <a:p>
            <a:pPr marL="0" indent="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&lt;PostsList&gt;  </a:t>
            </a:r>
            <a:r>
              <a:rPr lang="en-US" sz="1400" i="1" dirty="0">
                <a:solidFill>
                  <a:srgbClr val="6A9955"/>
                </a:solidFill>
                <a:latin typeface="Courier New" pitchFamily="34" charset="0"/>
                <a:ea typeface="Courier New" pitchFamily="34" charset="-122"/>
                <a:cs typeface="Courier New" pitchFamily="34" charset="-120"/>
              </a:rPr>
              <a:t>← awaits db</a:t>
            </a:r>
            <a:endParaRPr lang="en-US" sz="1400" dirty="0"/>
          </a:p>
          <a:p>
            <a:pPr marL="0" indent="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&lt;Post&gt; &lt;Post&gt; &lt;Post&gt;</a:t>
            </a:r>
            <a:endParaRPr lang="en-US" sz="1400" dirty="0"/>
          </a:p>
        </p:txBody>
      </p:sp>
      <p:pic>
        <p:nvPicPr>
          <p:cNvPr id="8" name="Image 0" descr="preencoded.png"/>
          <p:cNvPicPr>
            <a:picLocks noChangeAspect="1"/>
          </p:cNvPicPr>
          <p:nvPr/>
        </p:nvPicPr>
        <p:blipFill>
          <a:blip r:embed="rId3"/>
          <a:stretch>
            <a:fillRect/>
          </a:stretch>
        </p:blipFill>
        <p:spPr>
          <a:xfrm>
            <a:off x="6126480" y="3520440"/>
            <a:ext cx="457200" cy="457200"/>
          </a:xfrm>
          <a:prstGeom prst="rect">
            <a:avLst/>
          </a:prstGeom>
        </p:spPr>
      </p:pic>
      <p:sp>
        <p:nvSpPr>
          <p:cNvPr id="9" name="Text 6"/>
          <p:cNvSpPr/>
          <p:nvPr/>
        </p:nvSpPr>
        <p:spPr>
          <a:xfrm>
            <a:off x="5852160" y="4023360"/>
            <a:ext cx="1005840" cy="274320"/>
          </a:xfrm>
          <a:prstGeom prst="rect">
            <a:avLst/>
          </a:prstGeom>
          <a:noFill/>
          <a:ln/>
        </p:spPr>
        <p:txBody>
          <a:bodyPr wrap="square" lIns="0" tIns="0" rIns="0" bIns="0" rtlCol="0" anchor="ctr"/>
          <a:lstStyle/>
          <a:p>
            <a:pPr marL="0" indent="0" algn="ctr">
              <a:buNone/>
            </a:pPr>
            <a:r>
              <a:rPr lang="en-US" sz="1000" i="1" dirty="0">
                <a:solidFill>
                  <a:srgbClr val="475569"/>
                </a:solidFill>
                <a:latin typeface="Arial" pitchFamily="34" charset="0"/>
                <a:ea typeface="Arial" pitchFamily="34" charset="-122"/>
                <a:cs typeface="Arial" pitchFamily="34" charset="-120"/>
              </a:rPr>
              <a:t>crosses</a:t>
            </a:r>
            <a:endParaRPr lang="en-US" sz="1000" dirty="0"/>
          </a:p>
        </p:txBody>
      </p:sp>
      <p:sp>
        <p:nvSpPr>
          <p:cNvPr id="10" name="Shape 7"/>
          <p:cNvSpPr/>
          <p:nvPr/>
        </p:nvSpPr>
        <p:spPr>
          <a:xfrm>
            <a:off x="6766560" y="1691640"/>
            <a:ext cx="4617720" cy="4389120"/>
          </a:xfrm>
          <a:prstGeom prst="rect">
            <a:avLst/>
          </a:prstGeom>
          <a:solidFill>
            <a:srgbClr val="FFFFFF"/>
          </a:solidFill>
          <a:ln w="12700">
            <a:solidFill>
              <a:srgbClr val="E2E8F0"/>
            </a:solidFill>
            <a:prstDash val="solid"/>
          </a:ln>
        </p:spPr>
        <p:txBody>
          <a:bodyPr/>
          <a:lstStyle/>
          <a:p>
            <a:endParaRPr lang="en-US"/>
          </a:p>
        </p:txBody>
      </p:sp>
      <p:sp>
        <p:nvSpPr>
          <p:cNvPr id="11" name="Text 8"/>
          <p:cNvSpPr/>
          <p:nvPr/>
        </p:nvSpPr>
        <p:spPr>
          <a:xfrm>
            <a:off x="6949440" y="1874520"/>
            <a:ext cx="4297680" cy="41148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Client Components</a:t>
            </a:r>
            <a:endParaRPr lang="en-US" sz="1400" dirty="0"/>
          </a:p>
        </p:txBody>
      </p:sp>
      <p:sp>
        <p:nvSpPr>
          <p:cNvPr id="12" name="Text 9"/>
          <p:cNvSpPr/>
          <p:nvPr/>
        </p:nvSpPr>
        <p:spPr>
          <a:xfrm>
            <a:off x="6949440" y="2423160"/>
            <a:ext cx="4297680" cy="3474720"/>
          </a:xfrm>
          <a:prstGeom prst="rect">
            <a:avLst/>
          </a:prstGeom>
          <a:noFill/>
          <a:ln/>
        </p:spPr>
        <p:txBody>
          <a:bodyPr wrap="square" lIns="0" tIns="0" rIns="0" bIns="0" rtlCol="0" anchor="t"/>
          <a:lstStyle/>
          <a:p>
            <a:pPr marL="0" indent="0">
              <a:buNone/>
            </a:pPr>
            <a:r>
              <a:rPr lang="en-US" sz="1300" dirty="0">
                <a:solidFill>
                  <a:srgbClr val="0F172A"/>
                </a:solidFill>
                <a:latin typeface="Courier New" pitchFamily="34" charset="0"/>
                <a:ea typeface="Courier New" pitchFamily="34" charset="-122"/>
                <a:cs typeface="Courier New" pitchFamily="34" charset="-120"/>
              </a:rPr>
              <a:t>&lt;LikeButton&gt;</a:t>
            </a:r>
            <a:endParaRPr lang="en-US" sz="1300" dirty="0"/>
          </a:p>
          <a:p>
            <a:pPr marL="0" indent="0">
              <a:buNone/>
            </a:pPr>
            <a:r>
              <a:rPr lang="en-US" sz="1300" dirty="0">
                <a:solidFill>
                  <a:srgbClr val="00B8D9"/>
                </a:solidFill>
                <a:latin typeface="Courier New" pitchFamily="34" charset="0"/>
                <a:ea typeface="Courier New" pitchFamily="34" charset="-122"/>
                <a:cs typeface="Courier New" pitchFamily="34" charset="-120"/>
              </a:rPr>
              <a:t>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useState, onClick</a:t>
            </a:r>
            <a:endParaRPr lang="en-US" sz="1300" dirty="0"/>
          </a:p>
          <a:p>
            <a:pPr marL="0" indent="0">
              <a:buNone/>
            </a:pPr>
            <a:r>
              <a:rPr lang="en-US" sz="1300" dirty="0">
                <a:solidFill>
                  <a:srgbClr val="000000"/>
                </a:solidFill>
              </a:rPr>
              <a:t> </a:t>
            </a:r>
            <a:endParaRPr lang="en-US" sz="1300" dirty="0"/>
          </a:p>
          <a:p>
            <a:pPr marL="0" indent="0">
              <a:buNone/>
            </a:pPr>
            <a:r>
              <a:rPr lang="en-US" sz="1300" dirty="0">
                <a:solidFill>
                  <a:srgbClr val="0F172A"/>
                </a:solidFill>
                <a:latin typeface="Courier New" pitchFamily="34" charset="0"/>
                <a:ea typeface="Courier New" pitchFamily="34" charset="-122"/>
                <a:cs typeface="Courier New" pitchFamily="34" charset="-120"/>
              </a:rPr>
              <a:t>&lt;CommentBox&gt;</a:t>
            </a:r>
            <a:endParaRPr lang="en-US" sz="1300" dirty="0"/>
          </a:p>
          <a:p>
            <a:pPr marL="0" indent="0">
              <a:buNone/>
            </a:pPr>
            <a:r>
              <a:rPr lang="en-US" sz="1300" dirty="0">
                <a:solidFill>
                  <a:srgbClr val="00B8D9"/>
                </a:solidFill>
                <a:latin typeface="Courier New" pitchFamily="34" charset="0"/>
                <a:ea typeface="Courier New" pitchFamily="34" charset="-122"/>
                <a:cs typeface="Courier New" pitchFamily="34" charset="-120"/>
              </a:rPr>
              <a:t>  ↓</a:t>
            </a:r>
            <a:endParaRPr lang="en-US" sz="1300" dirty="0"/>
          </a:p>
          <a:p>
            <a:pPr marL="0" indent="0">
              <a:buNone/>
            </a:pPr>
            <a:r>
              <a:rPr lang="en-US" sz="1300" i="1" dirty="0">
                <a:solidFill>
                  <a:srgbClr val="6A9955"/>
                </a:solidFill>
                <a:latin typeface="Courier New" pitchFamily="34" charset="0"/>
                <a:ea typeface="Courier New" pitchFamily="34" charset="-122"/>
                <a:cs typeface="Courier New" pitchFamily="34" charset="-120"/>
              </a:rPr>
              <a:t>useState, useFormStatus</a:t>
            </a:r>
            <a:endParaRPr lang="en-US" sz="1300" dirty="0"/>
          </a:p>
        </p:txBody>
      </p:sp>
      <p:sp>
        <p:nvSpPr>
          <p:cNvPr id="13" name="Text 10"/>
          <p:cNvSpPr/>
          <p:nvPr/>
        </p:nvSpPr>
        <p:spPr>
          <a:xfrm>
            <a:off x="777240" y="6126480"/>
            <a:ext cx="10607040" cy="320040"/>
          </a:xfrm>
          <a:prstGeom prst="rect">
            <a:avLst/>
          </a:prstGeom>
          <a:noFill/>
          <a:ln/>
        </p:spPr>
        <p:txBody>
          <a:bodyPr wrap="square" lIns="0" tIns="0" rIns="0" bIns="0" rtlCol="0" anchor="ctr"/>
          <a:lstStyle/>
          <a:p>
            <a:pPr marL="0" indent="0">
              <a:buNone/>
            </a:pPr>
            <a:r>
              <a:rPr lang="en-US" sz="1100" i="1" dirty="0">
                <a:solidFill>
                  <a:srgbClr val="475569"/>
                </a:solidFill>
                <a:latin typeface="Arial" pitchFamily="34" charset="0"/>
                <a:ea typeface="Arial" pitchFamily="34" charset="-122"/>
                <a:cs typeface="Arial" pitchFamily="34" charset="-120"/>
              </a:rPr>
              <a:t>Server components can render client components as children. Client components cannot import server components.</a:t>
            </a:r>
            <a:endParaRPr lang="en-US" sz="11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31</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can cross the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Props from a Server Component to a Client Component must be serializable.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Allowed props</a:t>
            </a:r>
            <a:endParaRPr lang="en-US" sz="1400" dirty="0"/>
          </a:p>
        </p:txBody>
      </p:sp>
      <p:sp>
        <p:nvSpPr>
          <p:cNvPr id="6" name="Text 4"/>
          <p:cNvSpPr/>
          <p:nvPr/>
        </p:nvSpPr>
        <p:spPr>
          <a:xfrm>
            <a:off x="777240" y="1920240"/>
            <a:ext cx="5349240" cy="3657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Strings, numbers, booleans, null, undefined</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Plain objects and arrays of the above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Date, Map, Set, Promise (yes — promises serialize)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Server Action functions (passed by reference, executed on server)</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JSX as a children prop (renders separately)</a:t>
            </a:r>
            <a:endParaRPr lang="en-US" sz="16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Not allowed</a:t>
            </a:r>
            <a:endParaRPr lang="en-US" sz="1400" dirty="0"/>
          </a:p>
        </p:txBody>
      </p:sp>
      <p:sp>
        <p:nvSpPr>
          <p:cNvPr id="8" name="Text 6"/>
          <p:cNvSpPr/>
          <p:nvPr/>
        </p:nvSpPr>
        <p:spPr>
          <a:xfrm>
            <a:off x="6355080" y="1920240"/>
            <a:ext cx="5029200" cy="3657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Regular functions defined inline (not Server Actions)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Class instances with methods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Symbols (other than well-known)</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Functions returned from libraries (e.g., a configured logger)</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DOM elements or refs</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31</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Composition: pass Client Components as children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Client Component can render Server Component children — they just need to be passed in, not imported.</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200" i="1" dirty="0">
                <a:solidFill>
                  <a:srgbClr val="6A9955"/>
                </a:solidFill>
                <a:latin typeface="Courier New" pitchFamily="34" charset="0"/>
                <a:ea typeface="Courier New" pitchFamily="34" charset="-122"/>
                <a:cs typeface="Courier New" pitchFamily="34" charset="-120"/>
              </a:rPr>
              <a:t>// AccordionPanel.jsx — Client Component</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'use client'</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export default function </a:t>
            </a:r>
            <a:r>
              <a:rPr lang="en-US" sz="1200" dirty="0">
                <a:solidFill>
                  <a:srgbClr val="DCDCAA"/>
                </a:solidFill>
                <a:latin typeface="Courier New" pitchFamily="34" charset="0"/>
                <a:ea typeface="Courier New" pitchFamily="34" charset="-122"/>
                <a:cs typeface="Courier New" pitchFamily="34" charset="-120"/>
              </a:rPr>
              <a:t>AccordionPanel</a:t>
            </a:r>
            <a:r>
              <a:rPr lang="en-US" sz="1200" dirty="0">
                <a:solidFill>
                  <a:srgbClr val="FFFFFF"/>
                </a:solidFill>
                <a:latin typeface="Courier New" pitchFamily="34" charset="0"/>
                <a:ea typeface="Courier New" pitchFamily="34" charset="-122"/>
                <a:cs typeface="Courier New" pitchFamily="34" charset="-120"/>
              </a:rPr>
              <a:t>({ children, summary })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[open, setOpen]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9CDCFE"/>
                </a:solidFill>
                <a:latin typeface="Courier New" pitchFamily="34" charset="0"/>
                <a:ea typeface="Courier New" pitchFamily="34" charset="-122"/>
                <a:cs typeface="Courier New" pitchFamily="34" charset="-120"/>
              </a:rPr>
              <a:t>(</a:t>
            </a:r>
            <a:r>
              <a:rPr lang="en-US" sz="1200" dirty="0">
                <a:solidFill>
                  <a:srgbClr val="C586C0"/>
                </a:solidFill>
                <a:latin typeface="Courier New" pitchFamily="34" charset="0"/>
                <a:ea typeface="Courier New" pitchFamily="34" charset="-122"/>
                <a:cs typeface="Courier New" pitchFamily="34" charset="-120"/>
              </a:rPr>
              <a:t>false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return &lt;details onClick={() =&gt; setOpen(</a:t>
            </a:r>
            <a:r>
              <a:rPr lang="en-US" sz="1200" dirty="0">
                <a:solidFill>
                  <a:srgbClr val="9CDCFE"/>
                </a:solidFill>
                <a:latin typeface="Courier New" pitchFamily="34" charset="0"/>
                <a:ea typeface="Courier New" pitchFamily="34" charset="-122"/>
                <a:cs typeface="Courier New" pitchFamily="34" charset="-120"/>
              </a:rPr>
              <a:t>o</a:t>
            </a:r>
            <a:r>
              <a:rPr lang="en-US" sz="1200" dirty="0">
                <a:solidFill>
                  <a:srgbClr val="FFFFFF"/>
                </a:solidFill>
                <a:latin typeface="Courier New" pitchFamily="34" charset="0"/>
                <a:ea typeface="Courier New" pitchFamily="34" charset="-122"/>
                <a:cs typeface="Courier New" pitchFamily="34" charset="-120"/>
              </a:rPr>
              <a:t> =&gt; !o)}&gt;&lt;summary&gt;{summary}&lt;/summary&gt;{open &amp;&amp; children}&lt;/details&gt;;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page.jsx — Server Component using it</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import AccordionPanel from </a:t>
            </a:r>
            <a:r>
              <a:rPr lang="en-US" sz="1200" dirty="0">
                <a:solidFill>
                  <a:srgbClr val="9CDCFE"/>
                </a:solidFill>
                <a:latin typeface="Courier New" pitchFamily="34" charset="0"/>
                <a:ea typeface="Courier New" pitchFamily="34" charset="-122"/>
                <a:cs typeface="Courier New" pitchFamily="34" charset="-120"/>
              </a:rPr>
              <a:t>'./AccordionPanel'</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import PostsList from </a:t>
            </a:r>
            <a:r>
              <a:rPr lang="en-US" sz="1200" dirty="0">
                <a:solidFill>
                  <a:srgbClr val="9CDCFE"/>
                </a:solidFill>
                <a:latin typeface="Courier New" pitchFamily="34" charset="0"/>
                <a:ea typeface="Courier New" pitchFamily="34" charset="-122"/>
                <a:cs typeface="Courier New" pitchFamily="34" charset="-120"/>
              </a:rPr>
              <a:t>'./PostsList';   </a:t>
            </a:r>
            <a:r>
              <a:rPr lang="en-US" sz="1200" i="1" dirty="0">
                <a:solidFill>
                  <a:srgbClr val="6A9955"/>
                </a:solidFill>
                <a:latin typeface="Courier New" pitchFamily="34" charset="0"/>
                <a:ea typeface="Courier New" pitchFamily="34" charset="-122"/>
                <a:cs typeface="Courier New" pitchFamily="34" charset="-120"/>
              </a:rPr>
              <a:t>// also a Server Component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export default async function </a:t>
            </a:r>
            <a:r>
              <a:rPr lang="en-US" sz="1200" dirty="0">
                <a:solidFill>
                  <a:srgbClr val="DCDCAA"/>
                </a:solidFill>
                <a:latin typeface="Courier New" pitchFamily="34" charset="0"/>
                <a:ea typeface="Courier New" pitchFamily="34" charset="-122"/>
                <a:cs typeface="Courier New" pitchFamily="34" charset="-120"/>
              </a:rPr>
              <a:t>Page</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&lt;AccordionPanel summary='Recent posts'</a:t>
            </a:r>
            <a:r>
              <a:rPr lang="en-US" sz="1200" dirty="0">
                <a:solidFill>
                  <a:srgbClr val="FFFFFF"/>
                </a:solidFill>
                <a:latin typeface="Courier New" pitchFamily="34" charset="0"/>
                <a:ea typeface="Courier New" pitchFamily="34" charset="-122"/>
                <a:cs typeface="Courier New" pitchFamily="34" charset="-120"/>
              </a:rPr>
              <a:t>&gt;</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&lt;PostsList /&gt;     </a:t>
            </a:r>
            <a:r>
              <a:rPr lang="en-US" sz="1200" i="1" dirty="0">
                <a:solidFill>
                  <a:srgbClr val="6A9955"/>
                </a:solidFill>
                <a:latin typeface="Courier New" pitchFamily="34" charset="0"/>
                <a:ea typeface="Courier New" pitchFamily="34" charset="-122"/>
                <a:cs typeface="Courier New" pitchFamily="34" charset="-120"/>
              </a:rPr>
              <a:t>// Server Component as a child of a Client Component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&lt;/AccordionPanel&gt;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31</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Server Actions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Functions that run on the server when called from the client. Forms become quiet again.</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What's a Server Action?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function marked 'use server'. Called from the client; runs on the server.</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app/posts/new/page.jsx</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redirect } from </a:t>
            </a:r>
            <a:r>
              <a:rPr lang="en-US" sz="1400" dirty="0">
                <a:solidFill>
                  <a:srgbClr val="9CDCFE"/>
                </a:solidFill>
                <a:latin typeface="Courier New" pitchFamily="34" charset="0"/>
                <a:ea typeface="Courier New" pitchFamily="34" charset="-122"/>
                <a:cs typeface="Courier New" pitchFamily="34" charset="-120"/>
              </a:rPr>
              <a:t>'next/navigation'</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db } from </a:t>
            </a:r>
            <a:r>
              <a:rPr lang="en-US" sz="1400" dirty="0">
                <a:solidFill>
                  <a:srgbClr val="9CDCFE"/>
                </a:solidFill>
                <a:latin typeface="Courier New" pitchFamily="34" charset="0"/>
                <a:ea typeface="Courier New" pitchFamily="34" charset="-122"/>
                <a:cs typeface="Courier New" pitchFamily="34" charset="-120"/>
              </a:rPr>
              <a:t>'@/lib/db'</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async function </a:t>
            </a:r>
            <a:r>
              <a:rPr lang="en-US" sz="1400" dirty="0">
                <a:solidFill>
                  <a:srgbClr val="DCDCAA"/>
                </a:solidFill>
                <a:latin typeface="Courier New" pitchFamily="34" charset="0"/>
                <a:ea typeface="Courier New" pitchFamily="34" charset="-122"/>
                <a:cs typeface="Courier New" pitchFamily="34" charset="-120"/>
              </a:rPr>
              <a:t>createPost</a:t>
            </a:r>
            <a:r>
              <a:rPr lang="en-US" sz="1400" dirty="0">
                <a:solidFill>
                  <a:srgbClr val="FFFFFF"/>
                </a:solidFill>
                <a:latin typeface="Courier New" pitchFamily="34" charset="0"/>
                <a:ea typeface="Courier New" pitchFamily="34" charset="-122"/>
                <a:cs typeface="Courier New" pitchFamily="34" charset="-120"/>
              </a:rPr>
              <a:t>(formData)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9CDCFE"/>
                </a:solidFill>
                <a:latin typeface="Courier New" pitchFamily="34" charset="0"/>
                <a:ea typeface="Courier New" pitchFamily="34" charset="-122"/>
                <a:cs typeface="Courier New" pitchFamily="34" charset="-120"/>
              </a:rPr>
              <a:t>'use server'</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post = await db.posts.create({</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data: { title: formData.get(</a:t>
            </a:r>
            <a:r>
              <a:rPr lang="en-US" sz="1400" dirty="0">
                <a:solidFill>
                  <a:srgbClr val="9CDCFE"/>
                </a:solidFill>
                <a:latin typeface="Courier New" pitchFamily="34" charset="0"/>
                <a:ea typeface="Courier New" pitchFamily="34" charset="-122"/>
                <a:cs typeface="Courier New" pitchFamily="34" charset="-120"/>
              </a:rPr>
              <a:t>'title'</a:t>
            </a:r>
            <a:r>
              <a:rPr lang="en-US" sz="1400" dirty="0">
                <a:solidFill>
                  <a:srgbClr val="C586C0"/>
                </a:solidFill>
                <a:latin typeface="Courier New" pitchFamily="34" charset="0"/>
                <a:ea typeface="Courier New" pitchFamily="34" charset="-122"/>
                <a:cs typeface="Courier New" pitchFamily="34" charset="-120"/>
              </a:rPr>
              <a:t>), body: formData.get(</a:t>
            </a:r>
            <a:r>
              <a:rPr lang="en-US" sz="1400" dirty="0">
                <a:solidFill>
                  <a:srgbClr val="9CDCFE"/>
                </a:solidFill>
                <a:latin typeface="Courier New" pitchFamily="34" charset="0"/>
                <a:ea typeface="Courier New" pitchFamily="34" charset="-122"/>
                <a:cs typeface="Courier New" pitchFamily="34" charset="-120"/>
              </a:rPr>
              <a:t>'body'</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redirect</a:t>
            </a:r>
            <a:r>
              <a:rPr lang="en-US" sz="1400" dirty="0">
                <a:solidFill>
                  <a:srgbClr val="FFFFFF"/>
                </a:solidFill>
                <a:latin typeface="Courier New" pitchFamily="34" charset="0"/>
                <a:ea typeface="Courier New" pitchFamily="34" charset="-122"/>
                <a:cs typeface="Courier New" pitchFamily="34" charset="-120"/>
              </a:rPr>
              <a:t>(`/posts/${post.id}`);</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function </a:t>
            </a:r>
            <a:r>
              <a:rPr lang="en-US" sz="1400" dirty="0">
                <a:solidFill>
                  <a:srgbClr val="DCDCAA"/>
                </a:solidFill>
                <a:latin typeface="Courier New" pitchFamily="34" charset="0"/>
                <a:ea typeface="Courier New" pitchFamily="34" charset="-122"/>
                <a:cs typeface="Courier New" pitchFamily="34" charset="-120"/>
              </a:rPr>
              <a:t>NewPost</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&lt;form action={createPost}&gt; ... &lt;/form&gt;;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31</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Actions in forms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Pass the action to &lt;form action&gt;. React handles the rest.</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92808"/>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FormData is the input</a:t>
            </a:r>
            <a:endParaRPr lang="en-US" sz="1400" dirty="0"/>
          </a:p>
        </p:txBody>
      </p:sp>
      <p:sp>
        <p:nvSpPr>
          <p:cNvPr id="8" name="Text 5"/>
          <p:cNvSpPr/>
          <p:nvPr/>
        </p:nvSpPr>
        <p:spPr>
          <a:xfrm>
            <a:off x="1691640" y="214884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Action receives a FormData object. No JSON parsing, no useState for fields.</a:t>
            </a:r>
            <a:endParaRPr lang="en-US" sz="1200" dirty="0"/>
          </a:p>
        </p:txBody>
      </p:sp>
      <p:sp>
        <p:nvSpPr>
          <p:cNvPr id="9" name="Shape 6"/>
          <p:cNvSpPr/>
          <p:nvPr/>
        </p:nvSpPr>
        <p:spPr>
          <a:xfrm>
            <a:off x="777240" y="278892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90088"/>
            <a:ext cx="502920" cy="502920"/>
          </a:xfrm>
          <a:prstGeom prst="rect">
            <a:avLst/>
          </a:prstGeom>
        </p:spPr>
      </p:pic>
      <p:sp>
        <p:nvSpPr>
          <p:cNvPr id="11" name="Text 7"/>
          <p:cNvSpPr/>
          <p:nvPr/>
        </p:nvSpPr>
        <p:spPr>
          <a:xfrm>
            <a:off x="1691640" y="288036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Submission is intercepted</a:t>
            </a:r>
            <a:endParaRPr lang="en-US" sz="1400" dirty="0"/>
          </a:p>
        </p:txBody>
      </p:sp>
      <p:sp>
        <p:nvSpPr>
          <p:cNvPr id="12" name="Text 8"/>
          <p:cNvSpPr/>
          <p:nvPr/>
        </p:nvSpPr>
        <p:spPr>
          <a:xfrm>
            <a:off x="1691640" y="324612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React posts to the action; no full page reload. The page revalidates after.</a:t>
            </a:r>
            <a:endParaRPr lang="en-US" sz="1200" dirty="0"/>
          </a:p>
        </p:txBody>
      </p:sp>
      <p:sp>
        <p:nvSpPr>
          <p:cNvPr id="13" name="Shape 9"/>
          <p:cNvSpPr/>
          <p:nvPr/>
        </p:nvSpPr>
        <p:spPr>
          <a:xfrm>
            <a:off x="777240" y="388620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4087368"/>
            <a:ext cx="502920" cy="502920"/>
          </a:xfrm>
          <a:prstGeom prst="rect">
            <a:avLst/>
          </a:prstGeom>
        </p:spPr>
      </p:pic>
      <p:sp>
        <p:nvSpPr>
          <p:cNvPr id="15" name="Text 10"/>
          <p:cNvSpPr/>
          <p:nvPr/>
        </p:nvSpPr>
        <p:spPr>
          <a:xfrm>
            <a:off x="1691640" y="397764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Pending state is automatic</a:t>
            </a:r>
            <a:endParaRPr lang="en-US" sz="1400" dirty="0"/>
          </a:p>
        </p:txBody>
      </p:sp>
      <p:sp>
        <p:nvSpPr>
          <p:cNvPr id="16" name="Text 11"/>
          <p:cNvSpPr/>
          <p:nvPr/>
        </p:nvSpPr>
        <p:spPr>
          <a:xfrm>
            <a:off x="1691640" y="434340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useFormStatus inside any descendant of the form sees pending: true while the action runs.</a:t>
            </a:r>
            <a:endParaRPr lang="en-US" sz="1200" dirty="0"/>
          </a:p>
        </p:txBody>
      </p:sp>
      <p:sp>
        <p:nvSpPr>
          <p:cNvPr id="17" name="Shape 12"/>
          <p:cNvSpPr/>
          <p:nvPr/>
        </p:nvSpPr>
        <p:spPr>
          <a:xfrm>
            <a:off x="777240" y="498348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184648"/>
            <a:ext cx="502920" cy="502920"/>
          </a:xfrm>
          <a:prstGeom prst="rect">
            <a:avLst/>
          </a:prstGeom>
        </p:spPr>
      </p:pic>
      <p:sp>
        <p:nvSpPr>
          <p:cNvPr id="19" name="Text 13"/>
          <p:cNvSpPr/>
          <p:nvPr/>
        </p:nvSpPr>
        <p:spPr>
          <a:xfrm>
            <a:off x="1691640" y="5074920"/>
            <a:ext cx="9601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Works without JS</a:t>
            </a:r>
            <a:endParaRPr lang="en-US" sz="1400" dirty="0"/>
          </a:p>
        </p:txBody>
      </p:sp>
      <p:sp>
        <p:nvSpPr>
          <p:cNvPr id="20" name="Text 14"/>
          <p:cNvSpPr/>
          <p:nvPr/>
        </p:nvSpPr>
        <p:spPr>
          <a:xfrm>
            <a:off x="1691640" y="544068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If JS hasn't loaded yet, the browser does a regular form POST. Progressive enhancement built-in.</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31</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Pair with useActionState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useActionState wraps the action and gives you state, the wrapped action, and isPending.</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LoginForm.jsx — Client Component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'use client'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useActionState } from </a:t>
            </a:r>
            <a:r>
              <a:rPr lang="en-US" sz="1600" dirty="0">
                <a:solidFill>
                  <a:srgbClr val="9CDCFE"/>
                </a:solidFill>
                <a:latin typeface="Courier New" pitchFamily="34" charset="0"/>
                <a:ea typeface="Courier New" pitchFamily="34" charset="-122"/>
                <a:cs typeface="Courier New" pitchFamily="34" charset="-120"/>
              </a:rPr>
              <a:t>'react'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login } from </a:t>
            </a:r>
            <a:r>
              <a:rPr lang="en-US" sz="1600" dirty="0">
                <a:solidFill>
                  <a:srgbClr val="9CDCFE"/>
                </a:solidFill>
                <a:latin typeface="Courier New" pitchFamily="34" charset="0"/>
                <a:ea typeface="Courier New" pitchFamily="34" charset="-122"/>
                <a:cs typeface="Courier New" pitchFamily="34" charset="-120"/>
              </a:rPr>
              <a:t>'@/actions/auth'</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default function </a:t>
            </a:r>
            <a:r>
              <a:rPr lang="en-US" sz="1600" dirty="0">
                <a:solidFill>
                  <a:srgbClr val="DCDCAA"/>
                </a:solidFill>
                <a:latin typeface="Courier New" pitchFamily="34" charset="0"/>
                <a:ea typeface="Courier New" pitchFamily="34" charset="-122"/>
                <a:cs typeface="Courier New" pitchFamily="34" charset="-120"/>
              </a:rPr>
              <a:t>LoginForm</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const [state, action, isPending] = </a:t>
            </a:r>
            <a:r>
              <a:rPr lang="en-US" sz="1600" dirty="0">
                <a:solidFill>
                  <a:srgbClr val="DCDCAA"/>
                </a:solidFill>
                <a:latin typeface="Courier New" pitchFamily="34" charset="0"/>
                <a:ea typeface="Courier New" pitchFamily="34" charset="-122"/>
                <a:cs typeface="Courier New" pitchFamily="34" charset="-120"/>
              </a:rPr>
              <a:t>useActionState</a:t>
            </a:r>
            <a:r>
              <a:rPr lang="en-US" sz="1600" dirty="0">
                <a:solidFill>
                  <a:srgbClr val="FFFFFF"/>
                </a:solidFill>
                <a:latin typeface="Courier New" pitchFamily="34" charset="0"/>
                <a:ea typeface="Courier New" pitchFamily="34" charset="-122"/>
                <a:cs typeface="Courier New" pitchFamily="34" charset="-120"/>
              </a:rPr>
              <a:t>(login, {});</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return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&lt;form action={action}&gt;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&lt;input name=</a:t>
            </a:r>
            <a:r>
              <a:rPr lang="en-US" sz="1600" dirty="0">
                <a:solidFill>
                  <a:srgbClr val="9CDCFE"/>
                </a:solidFill>
                <a:latin typeface="Courier New" pitchFamily="34" charset="0"/>
                <a:ea typeface="Courier New" pitchFamily="34" charset="-122"/>
                <a:cs typeface="Courier New" pitchFamily="34" charset="-120"/>
              </a:rPr>
              <a:t>'email'</a:t>
            </a:r>
            <a:r>
              <a:rPr lang="en-US" sz="1600" dirty="0">
                <a:solidFill>
                  <a:srgbClr val="FFFFFF"/>
                </a:solidFill>
                <a:latin typeface="Courier New" pitchFamily="34" charset="0"/>
                <a:ea typeface="Courier New" pitchFamily="34" charset="-122"/>
                <a:cs typeface="Courier New" pitchFamily="34" charset="-120"/>
              </a:rPr>
              <a:t> defaultValue={state.email} /&gt;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&lt;input name=</a:t>
            </a:r>
            <a:r>
              <a:rPr lang="en-US" sz="1600" dirty="0">
                <a:solidFill>
                  <a:srgbClr val="9CDCFE"/>
                </a:solidFill>
                <a:latin typeface="Courier New" pitchFamily="34" charset="0"/>
                <a:ea typeface="Courier New" pitchFamily="34" charset="-122"/>
                <a:cs typeface="Courier New" pitchFamily="34" charset="-120"/>
              </a:rPr>
              <a:t>'password'</a:t>
            </a:r>
            <a:r>
              <a:rPr lang="en-US" sz="1600" dirty="0">
                <a:solidFill>
                  <a:srgbClr val="FFFFFF"/>
                </a:solidFill>
                <a:latin typeface="Courier New" pitchFamily="34" charset="0"/>
                <a:ea typeface="Courier New" pitchFamily="34" charset="-122"/>
                <a:cs typeface="Courier New" pitchFamily="34" charset="-120"/>
              </a:rPr>
              <a:t> type=</a:t>
            </a:r>
            <a:r>
              <a:rPr lang="en-US" sz="1600" dirty="0">
                <a:solidFill>
                  <a:srgbClr val="9CDCFE"/>
                </a:solidFill>
                <a:latin typeface="Courier New" pitchFamily="34" charset="0"/>
                <a:ea typeface="Courier New" pitchFamily="34" charset="-122"/>
                <a:cs typeface="Courier New" pitchFamily="34" charset="-120"/>
              </a:rPr>
              <a:t>'password'</a:t>
            </a:r>
            <a:r>
              <a:rPr lang="en-US" sz="1600" dirty="0">
                <a:solidFill>
                  <a:srgbClr val="FFFFFF"/>
                </a:solidFill>
                <a:latin typeface="Courier New" pitchFamily="34" charset="0"/>
                <a:ea typeface="Courier New" pitchFamily="34" charset="-122"/>
                <a:cs typeface="Courier New" pitchFamily="34" charset="-120"/>
              </a:rPr>
              <a:t> /&gt;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{state.error &amp;&amp; &lt;p className=</a:t>
            </a:r>
            <a:r>
              <a:rPr lang="en-US" sz="1600" dirty="0">
                <a:solidFill>
                  <a:srgbClr val="9CDCFE"/>
                </a:solidFill>
                <a:latin typeface="Courier New" pitchFamily="34" charset="0"/>
                <a:ea typeface="Courier New" pitchFamily="34" charset="-122"/>
                <a:cs typeface="Courier New" pitchFamily="34" charset="-120"/>
              </a:rPr>
              <a:t>'error'</a:t>
            </a:r>
            <a:r>
              <a:rPr lang="en-US" sz="1600" dirty="0">
                <a:solidFill>
                  <a:srgbClr val="FFFFFF"/>
                </a:solidFill>
                <a:latin typeface="Courier New" pitchFamily="34" charset="0"/>
                <a:ea typeface="Courier New" pitchFamily="34" charset="-122"/>
                <a:cs typeface="Courier New" pitchFamily="34" charset="-120"/>
              </a:rPr>
              <a:t>&gt;{state.error}&lt;/p&gt;}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&lt;button disabled={isPending}&gt;Sign in&lt;/button&gt;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&lt;/form&gt;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31</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Server Actions from event handlers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Not all actions are forms. You can call them from any Client Component handler.</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LikeButton.jsx — Client Component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'use client'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useTransition } from </a:t>
            </a:r>
            <a:r>
              <a:rPr lang="en-US" sz="1400" dirty="0">
                <a:solidFill>
                  <a:srgbClr val="9CDCFE"/>
                </a:solidFill>
                <a:latin typeface="Courier New" pitchFamily="34" charset="0"/>
                <a:ea typeface="Courier New" pitchFamily="34" charset="-122"/>
                <a:cs typeface="Courier New" pitchFamily="34" charset="-120"/>
              </a:rPr>
              <a:t>'react'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likePost } from </a:t>
            </a:r>
            <a:r>
              <a:rPr lang="en-US" sz="1400" dirty="0">
                <a:solidFill>
                  <a:srgbClr val="9CDCFE"/>
                </a:solidFill>
                <a:latin typeface="Courier New" pitchFamily="34" charset="0"/>
                <a:ea typeface="Courier New" pitchFamily="34" charset="-122"/>
                <a:cs typeface="Courier New" pitchFamily="34" charset="-120"/>
              </a:rPr>
              <a:t>'@/actions/posts';   </a:t>
            </a:r>
            <a:r>
              <a:rPr lang="en-US" sz="1400" i="1" dirty="0">
                <a:solidFill>
                  <a:srgbClr val="6A9955"/>
                </a:solidFill>
                <a:latin typeface="Courier New" pitchFamily="34" charset="0"/>
                <a:ea typeface="Courier New" pitchFamily="34" charset="-122"/>
                <a:cs typeface="Courier New" pitchFamily="34" charset="-120"/>
              </a:rPr>
              <a:t>// 'use server' fn</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function </a:t>
            </a:r>
            <a:r>
              <a:rPr lang="en-US" sz="1400" dirty="0">
                <a:solidFill>
                  <a:srgbClr val="DCDCAA"/>
                </a:solidFill>
                <a:latin typeface="Courier New" pitchFamily="34" charset="0"/>
                <a:ea typeface="Courier New" pitchFamily="34" charset="-122"/>
                <a:cs typeface="Courier New" pitchFamily="34" charset="-120"/>
              </a:rPr>
              <a:t>LikeButton</a:t>
            </a:r>
            <a:r>
              <a:rPr lang="en-US" sz="1400" dirty="0">
                <a:solidFill>
                  <a:srgbClr val="FFFFFF"/>
                </a:solidFill>
                <a:latin typeface="Courier New" pitchFamily="34" charset="0"/>
                <a:ea typeface="Courier New" pitchFamily="34" charset="-122"/>
                <a:cs typeface="Courier New" pitchFamily="34" charset="-120"/>
              </a:rPr>
              <a:t>({ postId, initialLiked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[isPending, startTransition] = </a:t>
            </a:r>
            <a:r>
              <a:rPr lang="en-US" sz="1400" dirty="0">
                <a:solidFill>
                  <a:srgbClr val="DCDCAA"/>
                </a:solidFill>
                <a:latin typeface="Courier New" pitchFamily="34" charset="0"/>
                <a:ea typeface="Courier New" pitchFamily="34" charset="-122"/>
                <a:cs typeface="Courier New" pitchFamily="34" charset="-120"/>
              </a:rPr>
              <a:t>useTransition</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function </a:t>
            </a:r>
            <a:r>
              <a:rPr lang="en-US" sz="1400" dirty="0">
                <a:solidFill>
                  <a:srgbClr val="DCDCAA"/>
                </a:solidFill>
                <a:latin typeface="Courier New" pitchFamily="34" charset="0"/>
                <a:ea typeface="Courier New" pitchFamily="34" charset="-122"/>
                <a:cs typeface="Courier New" pitchFamily="34" charset="-120"/>
              </a:rPr>
              <a:t>handleClick</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startTransition</a:t>
            </a:r>
            <a:r>
              <a:rPr lang="en-US" sz="1400" dirty="0">
                <a:solidFill>
                  <a:srgbClr val="FFFFFF"/>
                </a:solidFill>
                <a:latin typeface="Courier New" pitchFamily="34" charset="0"/>
                <a:ea typeface="Courier New" pitchFamily="34" charset="-122"/>
                <a:cs typeface="Courier New" pitchFamily="34" charset="-120"/>
              </a:rPr>
              <a:t>(async () =&gt;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await </a:t>
            </a:r>
            <a:r>
              <a:rPr lang="en-US" sz="1400" dirty="0">
                <a:solidFill>
                  <a:srgbClr val="DCDCAA"/>
                </a:solidFill>
                <a:latin typeface="Courier New" pitchFamily="34" charset="0"/>
                <a:ea typeface="Courier New" pitchFamily="34" charset="-122"/>
                <a:cs typeface="Courier New" pitchFamily="34" charset="-120"/>
              </a:rPr>
              <a:t>likePost</a:t>
            </a:r>
            <a:r>
              <a:rPr lang="en-US" sz="1400" dirty="0">
                <a:solidFill>
                  <a:srgbClr val="FFFFFF"/>
                </a:solidFill>
                <a:latin typeface="Courier New" pitchFamily="34" charset="0"/>
                <a:ea typeface="Courier New" pitchFamily="34" charset="-122"/>
                <a:cs typeface="Courier New" pitchFamily="34" charset="-120"/>
              </a:rPr>
              <a:t>(postId);</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&lt;button onClick={handleClick} disabled={isPending}&gt;♥&lt;/button&gt;;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31</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Streaming on the Server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Suspense boundaries split a page into chunks that stream in independently.</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streaming model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shell ships first. Slow data arrives in its own time. The user sees content sooner.</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10058400" cy="45720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How it flows</a:t>
            </a:r>
            <a:endParaRPr lang="en-US" sz="1800" dirty="0"/>
          </a:p>
        </p:txBody>
      </p:sp>
      <p:sp>
        <p:nvSpPr>
          <p:cNvPr id="7" name="Shape 5"/>
          <p:cNvSpPr/>
          <p:nvPr/>
        </p:nvSpPr>
        <p:spPr>
          <a:xfrm>
            <a:off x="1051560" y="2560320"/>
            <a:ext cx="457200" cy="457200"/>
          </a:xfrm>
          <a:prstGeom prst="ellipse">
            <a:avLst/>
          </a:prstGeom>
          <a:solidFill>
            <a:srgbClr val="00B8D9"/>
          </a:solidFill>
          <a:ln w="12700">
            <a:solidFill>
              <a:srgbClr val="00B8D9"/>
            </a:solidFill>
            <a:prstDash val="solid"/>
          </a:ln>
        </p:spPr>
        <p:txBody>
          <a:bodyPr/>
          <a:lstStyle/>
          <a:p>
            <a:endParaRPr lang="en-US"/>
          </a:p>
        </p:txBody>
      </p:sp>
      <p:sp>
        <p:nvSpPr>
          <p:cNvPr id="8" name="Text 6"/>
          <p:cNvSpPr/>
          <p:nvPr/>
        </p:nvSpPr>
        <p:spPr>
          <a:xfrm>
            <a:off x="1051560" y="256032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9" name="Text 7"/>
          <p:cNvSpPr/>
          <p:nvPr/>
        </p:nvSpPr>
        <p:spPr>
          <a:xfrm>
            <a:off x="1691640" y="2468880"/>
            <a:ext cx="9509760" cy="41148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Page request hits the server.</a:t>
            </a:r>
            <a:endParaRPr lang="en-US" sz="1350" dirty="0"/>
          </a:p>
        </p:txBody>
      </p:sp>
      <p:sp>
        <p:nvSpPr>
          <p:cNvPr id="10" name="Text 8"/>
          <p:cNvSpPr/>
          <p:nvPr/>
        </p:nvSpPr>
        <p:spPr>
          <a:xfrm>
            <a:off x="1691640" y="2880360"/>
            <a:ext cx="950976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The framework starts rendering.</a:t>
            </a:r>
            <a:endParaRPr lang="en-US" sz="1150" dirty="0"/>
          </a:p>
        </p:txBody>
      </p:sp>
      <p:sp>
        <p:nvSpPr>
          <p:cNvPr id="11" name="Shape 9"/>
          <p:cNvSpPr/>
          <p:nvPr/>
        </p:nvSpPr>
        <p:spPr>
          <a:xfrm>
            <a:off x="1051560" y="3474720"/>
            <a:ext cx="457200" cy="45720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1051560" y="347472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691640" y="3383280"/>
            <a:ext cx="9509760" cy="41148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Fast parts render immediately.</a:t>
            </a:r>
            <a:endParaRPr lang="en-US" sz="1350" dirty="0"/>
          </a:p>
        </p:txBody>
      </p:sp>
      <p:sp>
        <p:nvSpPr>
          <p:cNvPr id="14" name="Text 12"/>
          <p:cNvSpPr/>
          <p:nvPr/>
        </p:nvSpPr>
        <p:spPr>
          <a:xfrm>
            <a:off x="1691640" y="3794760"/>
            <a:ext cx="950976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Header, nav, layout chrome — anything that doesn't await something slow.</a:t>
            </a:r>
            <a:endParaRPr lang="en-US" sz="1150" dirty="0"/>
          </a:p>
        </p:txBody>
      </p:sp>
      <p:sp>
        <p:nvSpPr>
          <p:cNvPr id="15" name="Shape 13"/>
          <p:cNvSpPr/>
          <p:nvPr/>
        </p:nvSpPr>
        <p:spPr>
          <a:xfrm>
            <a:off x="1051560" y="4389120"/>
            <a:ext cx="457200" cy="457200"/>
          </a:xfrm>
          <a:prstGeom prst="ellipse">
            <a:avLst/>
          </a:prstGeom>
          <a:solidFill>
            <a:srgbClr val="00B8D9"/>
          </a:solidFill>
          <a:ln w="12700">
            <a:solidFill>
              <a:srgbClr val="00B8D9"/>
            </a:solidFill>
            <a:prstDash val="solid"/>
          </a:ln>
        </p:spPr>
        <p:txBody>
          <a:bodyPr/>
          <a:lstStyle/>
          <a:p>
            <a:endParaRPr lang="en-US"/>
          </a:p>
        </p:txBody>
      </p:sp>
      <p:sp>
        <p:nvSpPr>
          <p:cNvPr id="16" name="Text 14"/>
          <p:cNvSpPr/>
          <p:nvPr/>
        </p:nvSpPr>
        <p:spPr>
          <a:xfrm>
            <a:off x="1051560" y="438912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7" name="Text 15"/>
          <p:cNvSpPr/>
          <p:nvPr/>
        </p:nvSpPr>
        <p:spPr>
          <a:xfrm>
            <a:off x="1691640" y="4297680"/>
            <a:ext cx="9509760" cy="41148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&lt;Suspense&gt; boundaries hold a placeholder.</a:t>
            </a:r>
            <a:endParaRPr lang="en-US" sz="1350" dirty="0"/>
          </a:p>
        </p:txBody>
      </p:sp>
      <p:sp>
        <p:nvSpPr>
          <p:cNvPr id="18" name="Text 16"/>
          <p:cNvSpPr/>
          <p:nvPr/>
        </p:nvSpPr>
        <p:spPr>
          <a:xfrm>
            <a:off x="1691640" y="4709160"/>
            <a:ext cx="950976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Each boundary's fallback ships in the initial HTML. The user sees the page load.</a:t>
            </a:r>
            <a:endParaRPr lang="en-US" sz="1150" dirty="0"/>
          </a:p>
        </p:txBody>
      </p:sp>
      <p:sp>
        <p:nvSpPr>
          <p:cNvPr id="19" name="Shape 17"/>
          <p:cNvSpPr/>
          <p:nvPr/>
        </p:nvSpPr>
        <p:spPr>
          <a:xfrm>
            <a:off x="1051560" y="5303520"/>
            <a:ext cx="457200" cy="457200"/>
          </a:xfrm>
          <a:prstGeom prst="ellipse">
            <a:avLst/>
          </a:prstGeom>
          <a:solidFill>
            <a:srgbClr val="00B8D9"/>
          </a:solidFill>
          <a:ln w="12700">
            <a:solidFill>
              <a:srgbClr val="00B8D9"/>
            </a:solidFill>
            <a:prstDash val="solid"/>
          </a:ln>
        </p:spPr>
        <p:txBody>
          <a:bodyPr/>
          <a:lstStyle/>
          <a:p>
            <a:endParaRPr lang="en-US"/>
          </a:p>
        </p:txBody>
      </p:sp>
      <p:sp>
        <p:nvSpPr>
          <p:cNvPr id="20" name="Text 18"/>
          <p:cNvSpPr/>
          <p:nvPr/>
        </p:nvSpPr>
        <p:spPr>
          <a:xfrm>
            <a:off x="1051560" y="530352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1" name="Text 19"/>
          <p:cNvSpPr/>
          <p:nvPr/>
        </p:nvSpPr>
        <p:spPr>
          <a:xfrm>
            <a:off x="1691640" y="5212080"/>
            <a:ext cx="9509760" cy="41148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Slow data resolves, the chunk streams in.</a:t>
            </a:r>
            <a:endParaRPr lang="en-US" sz="1350" dirty="0"/>
          </a:p>
        </p:txBody>
      </p:sp>
      <p:sp>
        <p:nvSpPr>
          <p:cNvPr id="22" name="Text 20"/>
          <p:cNvSpPr/>
          <p:nvPr/>
        </p:nvSpPr>
        <p:spPr>
          <a:xfrm>
            <a:off x="1691640" y="5623560"/>
            <a:ext cx="9509760" cy="41148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React replaces the placeholder with the real content as it arrives.</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31</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loading.jsx and granular boundaries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Next.js gives each segment a loading.jsx. RR v7 uses defer + Await.</a:t>
            </a:r>
            <a:endParaRPr lang="en-US" sz="1400" dirty="0"/>
          </a:p>
        </p:txBody>
      </p:sp>
      <p:sp>
        <p:nvSpPr>
          <p:cNvPr id="5" name="Shape 3"/>
          <p:cNvSpPr/>
          <p:nvPr/>
        </p:nvSpPr>
        <p:spPr>
          <a:xfrm>
            <a:off x="777240" y="1554480"/>
            <a:ext cx="594360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42976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app/dashboard/page.jsx</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Suspense } from </a:t>
            </a:r>
            <a:r>
              <a:rPr lang="en-US" sz="1400" dirty="0">
                <a:solidFill>
                  <a:srgbClr val="9CDCFE"/>
                </a:solidFill>
                <a:latin typeface="Courier New" pitchFamily="34" charset="0"/>
                <a:ea typeface="Courier New" pitchFamily="34" charset="-122"/>
                <a:cs typeface="Courier New" pitchFamily="34" charset="-120"/>
              </a:rPr>
              <a:t>'react'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function </a:t>
            </a:r>
            <a:r>
              <a:rPr lang="en-US" sz="1400" dirty="0">
                <a:solidFill>
                  <a:srgbClr val="DCDCAA"/>
                </a:solidFill>
                <a:latin typeface="Courier New" pitchFamily="34" charset="0"/>
                <a:ea typeface="Courier New" pitchFamily="34" charset="-122"/>
                <a:cs typeface="Courier New" pitchFamily="34" charset="-120"/>
              </a:rPr>
              <a:t>Dashboard</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&lt;main&gt;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&lt;Header /&gt;              </a:t>
            </a:r>
            <a:r>
              <a:rPr lang="en-US" sz="1400" i="1" dirty="0">
                <a:solidFill>
                  <a:srgbClr val="6A9955"/>
                </a:solidFill>
                <a:latin typeface="Courier New" pitchFamily="34" charset="0"/>
                <a:ea typeface="Courier New" pitchFamily="34" charset="-122"/>
                <a:cs typeface="Courier New" pitchFamily="34" charset="-120"/>
              </a:rPr>
              <a:t>// fast</a:t>
            </a:r>
            <a:endParaRPr lang="en-US" sz="1400" dirty="0"/>
          </a:p>
          <a:p>
            <a:pPr marL="0" indent="0">
              <a:buNone/>
            </a:pP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&lt;Suspense fallback={&lt;RevenueSkeleton /&gt;}&gt;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&lt;Revenue /&gt;          </a:t>
            </a:r>
            <a:r>
              <a:rPr lang="en-US" sz="1400" i="1" dirty="0">
                <a:solidFill>
                  <a:srgbClr val="6A9955"/>
                </a:solidFill>
                <a:latin typeface="Courier New" pitchFamily="34" charset="0"/>
                <a:ea typeface="Courier New" pitchFamily="34" charset="-122"/>
                <a:cs typeface="Courier New" pitchFamily="34" charset="-120"/>
              </a:rPr>
              <a:t>// slow query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&lt;/Suspense&gt;</a:t>
            </a:r>
            <a:endParaRPr lang="en-US" sz="1400" dirty="0"/>
          </a:p>
          <a:p>
            <a:pPr marL="0" indent="0">
              <a:buNone/>
            </a:pP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&lt;Suspense fallback={&lt;ChartSkeleton /&gt;}&gt;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&lt;UserChart /&gt;        </a:t>
            </a:r>
            <a:r>
              <a:rPr lang="en-US" sz="1400" i="1" dirty="0">
                <a:solidFill>
                  <a:srgbClr val="6A9955"/>
                </a:solidFill>
                <a:latin typeface="Courier New" pitchFamily="34" charset="0"/>
                <a:ea typeface="Courier New" pitchFamily="34" charset="-122"/>
                <a:cs typeface="Courier New" pitchFamily="34" charset="-120"/>
              </a:rPr>
              <a:t>// even slower</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&lt;/Suspense&gt;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&lt;/main&gt;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Two boundaries, two streams</a:t>
            </a:r>
            <a:endParaRPr lang="en-US" sz="1400" dirty="0"/>
          </a:p>
        </p:txBody>
      </p:sp>
      <p:sp>
        <p:nvSpPr>
          <p:cNvPr id="8" name="Text 6"/>
          <p:cNvSpPr/>
          <p:nvPr/>
        </p:nvSpPr>
        <p:spPr>
          <a:xfrm>
            <a:off x="6949440" y="1920240"/>
            <a:ext cx="4572000" cy="4114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Header renders immediately</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Both skeletons appear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Revenue arrives, replaces its skeleton</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UserChart arrives later, replaces its skeleton</a:t>
            </a:r>
            <a:endParaRPr lang="en-US" sz="1200" dirty="0"/>
          </a:p>
          <a:p>
            <a:pPr marL="0" indent="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marL="0" indent="0">
              <a:spcAft>
                <a:spcPts val="400"/>
              </a:spcAft>
              <a:buNone/>
            </a:pPr>
            <a:r>
              <a:rPr lang="en-US" sz="1200" i="1" dirty="0">
                <a:solidFill>
                  <a:srgbClr val="475569"/>
                </a:solidFill>
                <a:latin typeface="Arial" pitchFamily="34" charset="0"/>
                <a:ea typeface="Arial" pitchFamily="34" charset="-122"/>
                <a:cs typeface="Arial" pitchFamily="34" charset="-120"/>
              </a:rPr>
              <a:t>User sees content faster than a single big-query page would deliver.</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31</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Boundary Pitfalls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Where teams get this wrong. AI tools especially.</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Pitfall: 'use client' too high in the tree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Marking a layout 'use client' opts out the entire subtree. You lose the Server Component benefits.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The mistake</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383280"/>
          </a:xfrm>
          <a:prstGeom prst="rect">
            <a:avLst/>
          </a:prstGeom>
          <a:noFill/>
          <a:ln/>
        </p:spPr>
        <p:txBody>
          <a:bodyPr wrap="square" lIns="0" tIns="0" rIns="0" bIns="0" rtlCol="0" anchor="t"/>
          <a:lstStyle/>
          <a:p>
            <a:pPr marL="0" indent="0">
              <a:buNone/>
            </a:pPr>
            <a:r>
              <a:rPr lang="en-US" sz="1200" i="1" dirty="0">
                <a:solidFill>
                  <a:srgbClr val="6A9955"/>
                </a:solidFill>
                <a:latin typeface="Courier New" pitchFamily="34" charset="0"/>
                <a:ea typeface="Courier New" pitchFamily="34" charset="-122"/>
                <a:cs typeface="Courier New" pitchFamily="34" charset="-120"/>
              </a:rPr>
              <a:t>// app/dashboard/layout.jsx</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'use client';  </a:t>
            </a:r>
            <a:r>
              <a:rPr lang="en-US" sz="1200" i="1" dirty="0">
                <a:solidFill>
                  <a:srgbClr val="6A9955"/>
                </a:solidFill>
                <a:latin typeface="Courier New" pitchFamily="34" charset="0"/>
                <a:ea typeface="Courier New" pitchFamily="34" charset="-122"/>
                <a:cs typeface="Courier New" pitchFamily="34" charset="-120"/>
              </a:rPr>
              <a:t>// ← whole subtree</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import { useState } from </a:t>
            </a:r>
            <a:r>
              <a:rPr lang="en-US" sz="1200" dirty="0">
                <a:solidFill>
                  <a:srgbClr val="9CDCFE"/>
                </a:solidFill>
                <a:latin typeface="Courier New" pitchFamily="34" charset="0"/>
                <a:ea typeface="Courier New" pitchFamily="34" charset="-122"/>
                <a:cs typeface="Courier New" pitchFamily="34" charset="-120"/>
              </a:rPr>
              <a:t>'react'</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export default function </a:t>
            </a:r>
            <a:r>
              <a:rPr lang="en-US" sz="1200" dirty="0">
                <a:solidFill>
                  <a:srgbClr val="DCDCAA"/>
                </a:solidFill>
                <a:latin typeface="Courier New" pitchFamily="34" charset="0"/>
                <a:ea typeface="Courier New" pitchFamily="34" charset="-122"/>
                <a:cs typeface="Courier New" pitchFamily="34" charset="-120"/>
              </a:rPr>
              <a:t>Layout</a:t>
            </a:r>
            <a:r>
              <a:rPr lang="en-US" sz="1200" dirty="0">
                <a:solidFill>
                  <a:srgbClr val="FFFFFF"/>
                </a:solidFill>
                <a:latin typeface="Courier New" pitchFamily="34" charset="0"/>
                <a:ea typeface="Courier New" pitchFamily="34" charset="-122"/>
                <a:cs typeface="Courier New" pitchFamily="34" charset="-120"/>
              </a:rPr>
              <a:t>({ children })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[collapsed, setCollapsed]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9CDCFE"/>
                </a:solidFill>
                <a:latin typeface="Courier New" pitchFamily="34" charset="0"/>
                <a:ea typeface="Courier New" pitchFamily="34" charset="-122"/>
                <a:cs typeface="Courier New" pitchFamily="34" charset="-120"/>
              </a:rPr>
              <a:t>(</a:t>
            </a:r>
            <a:r>
              <a:rPr lang="en-US" sz="1200" dirty="0">
                <a:solidFill>
                  <a:srgbClr val="C586C0"/>
                </a:solidFill>
                <a:latin typeface="Courier New" pitchFamily="34" charset="0"/>
                <a:ea typeface="Courier New" pitchFamily="34" charset="-122"/>
                <a:cs typeface="Courier New" pitchFamily="34" charset="-120"/>
              </a:rPr>
              <a:t>false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&lt;div className={collapsed ? 'compact' : ''</a:t>
            </a:r>
            <a:r>
              <a:rPr lang="en-US" sz="1200" dirty="0">
                <a:solidFill>
                  <a:srgbClr val="FFFFFF"/>
                </a:solidFill>
                <a:latin typeface="Courier New" pitchFamily="34" charset="0"/>
                <a:ea typeface="Courier New" pitchFamily="34" charset="-122"/>
                <a:cs typeface="Courier New" pitchFamily="34" charset="-120"/>
              </a:rPr>
              <a:t>}&gt;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&lt;Sidebar /&gt;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&lt;main&gt;{children}&lt;/main&gt;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&lt;/div&gt;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Text 7"/>
          <p:cNvSpPr/>
          <p:nvPr/>
        </p:nvSpPr>
        <p:spPr>
          <a:xfrm>
            <a:off x="6355080" y="1920240"/>
            <a:ext cx="5029200" cy="3657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Keep the layout server-only</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Extract the interactive part (the collapse toggle) into a small Client Component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Pass children through the Client Component back into the server tree</a:t>
            </a:r>
            <a:endParaRPr lang="en-US" sz="1600" dirty="0"/>
          </a:p>
          <a:p>
            <a:pPr marL="0" indent="0">
              <a:spcAft>
                <a:spcPts val="400"/>
              </a:spcAft>
              <a:buNone/>
            </a:pPr>
            <a:r>
              <a:rPr lang="en-US" sz="1600" dirty="0">
                <a:solidFill>
                  <a:srgbClr val="475569"/>
                </a:solidFill>
                <a:latin typeface="Arial" pitchFamily="34" charset="0"/>
                <a:ea typeface="Arial" pitchFamily="34" charset="-122"/>
                <a:cs typeface="Arial" pitchFamily="34" charset="-120"/>
              </a:rPr>
              <a:t> </a:t>
            </a:r>
            <a:endParaRPr lang="en-US" sz="1600" dirty="0"/>
          </a:p>
          <a:p>
            <a:pPr marL="0" indent="0">
              <a:spcAft>
                <a:spcPts val="400"/>
              </a:spcAft>
              <a:buNone/>
            </a:pPr>
            <a:r>
              <a:rPr lang="en-US" sz="1600" i="1" dirty="0">
                <a:solidFill>
                  <a:srgbClr val="475569"/>
                </a:solidFill>
                <a:latin typeface="Arial" pitchFamily="34" charset="0"/>
                <a:ea typeface="Arial" pitchFamily="34" charset="-122"/>
                <a:cs typeface="Arial" pitchFamily="34" charset="-120"/>
              </a:rPr>
              <a:t>Result: the subtree stays Server Components. Only the toggle ships JS.</a:t>
            </a:r>
            <a:endParaRPr lang="en-US" sz="1600" dirty="0"/>
          </a:p>
        </p:txBody>
      </p:sp>
      <p:sp>
        <p:nvSpPr>
          <p:cNvPr id="10"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1"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31</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Pitfall: importing server-only code into a client file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build error is opaque. The cause is usually a transitive import.</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3832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utils.js — has no 'use client'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db } from </a:t>
            </a:r>
            <a:r>
              <a:rPr lang="en-US" sz="1600" dirty="0">
                <a:solidFill>
                  <a:srgbClr val="9CDCFE"/>
                </a:solidFill>
                <a:latin typeface="Courier New" pitchFamily="34" charset="0"/>
                <a:ea typeface="Courier New" pitchFamily="34" charset="-122"/>
                <a:cs typeface="Courier New" pitchFamily="34" charset="-120"/>
              </a:rPr>
              <a:t>'@/lib/db';   </a:t>
            </a:r>
            <a:r>
              <a:rPr lang="en-US" sz="1600" i="1" dirty="0">
                <a:solidFill>
                  <a:srgbClr val="6A9955"/>
                </a:solidFill>
                <a:latin typeface="Courier New" pitchFamily="34" charset="0"/>
                <a:ea typeface="Courier New" pitchFamily="34" charset="-122"/>
                <a:cs typeface="Courier New" pitchFamily="34" charset="-120"/>
              </a:rPr>
              <a:t>// server-only</a:t>
            </a:r>
            <a:endParaRPr lang="en-US" sz="1600" dirty="0"/>
          </a:p>
          <a:p>
            <a:pPr marL="0" indent="0">
              <a:buNone/>
            </a:pP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export function </a:t>
            </a:r>
            <a:r>
              <a:rPr lang="en-US" sz="1600" dirty="0">
                <a:solidFill>
                  <a:srgbClr val="DCDCAA"/>
                </a:solidFill>
                <a:latin typeface="Courier New" pitchFamily="34" charset="0"/>
                <a:ea typeface="Courier New" pitchFamily="34" charset="-122"/>
                <a:cs typeface="Courier New" pitchFamily="34" charset="-120"/>
              </a:rPr>
              <a:t>formatTitle</a:t>
            </a:r>
            <a:r>
              <a:rPr lang="en-US" sz="1600" dirty="0">
                <a:solidFill>
                  <a:srgbClr val="9CDCFE"/>
                </a:solidFill>
                <a:latin typeface="Courier New" pitchFamily="34" charset="0"/>
                <a:ea typeface="Courier New" pitchFamily="34" charset="-122"/>
                <a:cs typeface="Courier New" pitchFamily="34" charset="-120"/>
              </a:rPr>
              <a:t>(post) { return post.title.toUpperCase(); }   </a:t>
            </a:r>
            <a:r>
              <a:rPr lang="en-US" sz="1600" i="1" dirty="0">
                <a:solidFill>
                  <a:srgbClr val="6A9955"/>
                </a:solidFill>
                <a:latin typeface="Courier New" pitchFamily="34" charset="0"/>
                <a:ea typeface="Courier New" pitchFamily="34" charset="-122"/>
                <a:cs typeface="Courier New" pitchFamily="34" charset="-120"/>
              </a:rPr>
              <a:t>// pure</a:t>
            </a:r>
            <a:endParaRPr lang="en-US" sz="1600" dirty="0"/>
          </a:p>
          <a:p>
            <a:pPr marL="0" indent="0">
              <a:buNone/>
            </a:pP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LikeButton.jsx — 'use client'</a:t>
            </a:r>
            <a:endParaRPr lang="en-US" sz="1600" dirty="0"/>
          </a:p>
          <a:p>
            <a:pPr marL="0" indent="0">
              <a:buNone/>
            </a:pPr>
            <a:r>
              <a:rPr lang="en-US" sz="1600" dirty="0">
                <a:solidFill>
                  <a:srgbClr val="9CDCFE"/>
                </a:solidFill>
                <a:latin typeface="Courier New" pitchFamily="34" charset="0"/>
                <a:ea typeface="Courier New" pitchFamily="34" charset="-122"/>
                <a:cs typeface="Courier New" pitchFamily="34" charset="-120"/>
              </a:rPr>
              <a:t>'use client'</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import { formatTitle } from </a:t>
            </a:r>
            <a:r>
              <a:rPr lang="en-US" sz="1600" dirty="0">
                <a:solidFill>
                  <a:srgbClr val="9CDCFE"/>
                </a:solidFill>
                <a:latin typeface="Courier New" pitchFamily="34" charset="0"/>
                <a:ea typeface="Courier New" pitchFamily="34" charset="-122"/>
                <a:cs typeface="Courier New" pitchFamily="34" charset="-120"/>
              </a:rPr>
              <a:t>'./utils';   </a:t>
            </a:r>
            <a:r>
              <a:rPr lang="en-US" sz="1600" i="1" dirty="0">
                <a:solidFill>
                  <a:srgbClr val="6A9955"/>
                </a:solidFill>
                <a:latin typeface="Courier New" pitchFamily="34" charset="0"/>
                <a:ea typeface="Courier New" pitchFamily="34" charset="-122"/>
                <a:cs typeface="Courier New" pitchFamily="34" charset="-120"/>
              </a:rPr>
              <a:t>// pulls db transitively!</a:t>
            </a:r>
            <a:endParaRPr lang="en-US" sz="16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005840" y="553212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Mark server-only files with the 'server-only' package import. Build will refuse to bundle them into client code with a clear error.</a:t>
            </a:r>
            <a:endParaRPr lang="en-US" sz="130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31</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Pitfall: non-serializable props across the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Trying to pass a function from a Server Component to a Client Component fails — unless it's a Server Action.</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Won't work</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3832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page.jsx (server)</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function </a:t>
            </a:r>
            <a:r>
              <a:rPr lang="en-US" sz="1600" dirty="0">
                <a:solidFill>
                  <a:srgbClr val="DCDCAA"/>
                </a:solidFill>
                <a:latin typeface="Courier New" pitchFamily="34" charset="0"/>
                <a:ea typeface="Courier New" pitchFamily="34" charset="-122"/>
                <a:cs typeface="Courier New" pitchFamily="34" charset="-120"/>
              </a:rPr>
              <a:t>handleSomething</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DCDCAA"/>
                </a:solidFill>
                <a:latin typeface="Courier New" pitchFamily="34" charset="0"/>
                <a:ea typeface="Courier New" pitchFamily="34" charset="-122"/>
                <a:cs typeface="Courier New" pitchFamily="34" charset="-120"/>
              </a:rPr>
              <a:t>  console.log(</a:t>
            </a:r>
            <a:r>
              <a:rPr lang="en-US" sz="1600" dirty="0">
                <a:solidFill>
                  <a:srgbClr val="9CDCFE"/>
                </a:solidFill>
                <a:latin typeface="Courier New" pitchFamily="34" charset="0"/>
                <a:ea typeface="Courier New" pitchFamily="34" charset="-122"/>
                <a:cs typeface="Courier New" pitchFamily="34" charset="-120"/>
              </a:rPr>
              <a:t>'hi'</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&lt;ClientButton onClick={handleSomething} /&gt;</a:t>
            </a: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 Error: cannot pass functions</a:t>
            </a:r>
            <a:endParaRPr lang="en-US" sz="16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Will work</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383280"/>
          </a:xfrm>
          <a:prstGeom prst="rect">
            <a:avLst/>
          </a:prstGeom>
          <a:noFill/>
          <a:ln/>
        </p:spPr>
        <p:txBody>
          <a:bodyPr wrap="square" lIns="0" tIns="0" rIns="0" bIns="0" rtlCol="0" anchor="t"/>
          <a:lstStyle/>
          <a:p>
            <a:pPr marL="0" indent="0">
              <a:buNone/>
            </a:pPr>
            <a:r>
              <a:rPr lang="en-US" sz="1600" i="1" dirty="0">
                <a:solidFill>
                  <a:srgbClr val="6A9955"/>
                </a:solidFill>
                <a:latin typeface="Courier New" pitchFamily="34" charset="0"/>
                <a:ea typeface="Courier New" pitchFamily="34" charset="-122"/>
                <a:cs typeface="Courier New" pitchFamily="34" charset="-120"/>
              </a:rPr>
              <a:t>// page.jsx (server)</a:t>
            </a:r>
            <a:endParaRPr lang="en-US" sz="1600" dirty="0"/>
          </a:p>
          <a:p>
            <a:pPr marL="0" indent="0">
              <a:buNone/>
            </a:pPr>
            <a:r>
              <a:rPr lang="en-US" sz="1600" dirty="0">
                <a:solidFill>
                  <a:srgbClr val="C586C0"/>
                </a:solidFill>
                <a:latin typeface="Courier New" pitchFamily="34" charset="0"/>
                <a:ea typeface="Courier New" pitchFamily="34" charset="-122"/>
                <a:cs typeface="Courier New" pitchFamily="34" charset="-120"/>
              </a:rPr>
              <a:t>async function </a:t>
            </a:r>
            <a:r>
              <a:rPr lang="en-US" sz="1600" dirty="0">
                <a:solidFill>
                  <a:srgbClr val="DCDCAA"/>
                </a:solidFill>
                <a:latin typeface="Courier New" pitchFamily="34" charset="0"/>
                <a:ea typeface="Courier New" pitchFamily="34" charset="-122"/>
                <a:cs typeface="Courier New" pitchFamily="34" charset="-120"/>
              </a:rPr>
              <a:t>handleSomething</a:t>
            </a: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t>
            </a:r>
            <a:r>
              <a:rPr lang="en-US" sz="1600" dirty="0">
                <a:solidFill>
                  <a:srgbClr val="9CDCFE"/>
                </a:solidFill>
                <a:latin typeface="Courier New" pitchFamily="34" charset="0"/>
                <a:ea typeface="Courier New" pitchFamily="34" charset="-122"/>
                <a:cs typeface="Courier New" pitchFamily="34" charset="-120"/>
              </a:rPr>
              <a:t>'use server'</a:t>
            </a: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  await db.something();</a:t>
            </a: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marL="0" indent="0">
              <a:buNone/>
            </a:pPr>
            <a:endParaRPr lang="en-US" sz="1600" dirty="0"/>
          </a:p>
          <a:p>
            <a:pPr marL="0" indent="0">
              <a:buNone/>
            </a:pPr>
            <a:r>
              <a:rPr lang="en-US" sz="1600" dirty="0">
                <a:solidFill>
                  <a:srgbClr val="FFFFFF"/>
                </a:solidFill>
                <a:latin typeface="Courier New" pitchFamily="34" charset="0"/>
                <a:ea typeface="Courier New" pitchFamily="34" charset="-122"/>
                <a:cs typeface="Courier New" pitchFamily="34" charset="-120"/>
              </a:rPr>
              <a:t>&lt;ClientButton onClick={handleSomething} /&gt;</a:t>
            </a:r>
            <a:endParaRPr lang="en-US" sz="1600" dirty="0"/>
          </a:p>
          <a:p>
            <a:pPr marL="0" indent="0">
              <a:buNone/>
            </a:pPr>
            <a:r>
              <a:rPr lang="en-US" sz="1600" i="1" dirty="0">
                <a:solidFill>
                  <a:srgbClr val="6A9955"/>
                </a:solidFill>
                <a:latin typeface="Courier New" pitchFamily="34" charset="0"/>
                <a:ea typeface="Courier New" pitchFamily="34" charset="-122"/>
                <a:cs typeface="Courier New" pitchFamily="34" charset="-120"/>
              </a:rPr>
              <a:t>// → Server Action; works</a:t>
            </a:r>
            <a:endParaRPr lang="en-US" sz="16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31</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Pitfall: hydration mismatches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Server renders one thing, client expects another. Often non-deterministic.</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Date.now() in render</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time != client time. Use a stable key, or render conditionally on client only.</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Math.random() in render</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Different on each render. Move to useState with initializer or generate on the server.</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navigator.* / window.* checks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Undefined on server. Wrap in useEffect or 'use client' boundary.</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Locale-dependent formatting</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locale != browser locale. Use a stable formatter or render on client.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31</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AI escape-hatch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When AI hits a Server/Client boundary, it slaps 'use client' on top until the error goes away.</a:t>
            </a:r>
            <a:endParaRPr lang="en-US" sz="1400" dirty="0"/>
          </a:p>
        </p:txBody>
      </p:sp>
      <p:sp>
        <p:nvSpPr>
          <p:cNvPr id="5" name="Shape 3"/>
          <p:cNvSpPr/>
          <p:nvPr/>
        </p:nvSpPr>
        <p:spPr>
          <a:xfrm>
            <a:off x="777240" y="1691640"/>
            <a:ext cx="10607040" cy="457200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What you'll see in AI-generated code</a:t>
            </a:r>
            <a:endParaRPr lang="en-US" sz="1800" dirty="0"/>
          </a:p>
        </p:txBody>
      </p:sp>
      <p:sp>
        <p:nvSpPr>
          <p:cNvPr id="8" name="Text 5"/>
          <p:cNvSpPr/>
          <p:nvPr/>
        </p:nvSpPr>
        <p:spPr>
          <a:xfrm>
            <a:off x="1097280" y="2834640"/>
            <a:ext cx="10058400" cy="3291840"/>
          </a:xfrm>
          <a:prstGeom prst="rect">
            <a:avLst/>
          </a:prstGeom>
          <a:noFill/>
          <a:ln/>
        </p:spPr>
        <p:txBody>
          <a:bodyPr wrap="square" lIns="0" tIns="0" rIns="0" bIns="0" rtlCol="0" anchor="t"/>
          <a:lstStyle/>
          <a:p>
            <a:pPr marL="0" indent="0">
              <a:spcAft>
                <a:spcPts val="600"/>
              </a:spcAft>
              <a:buNone/>
            </a:pPr>
            <a:r>
              <a:rPr lang="en-US" sz="1300" dirty="0">
                <a:solidFill>
                  <a:srgbClr val="475569"/>
                </a:solidFill>
                <a:latin typeface="Arial" pitchFamily="34" charset="0"/>
                <a:ea typeface="Arial" pitchFamily="34" charset="-122"/>
                <a:cs typeface="Arial" pitchFamily="34" charset="-120"/>
              </a:rPr>
              <a:t>1. AI writes a Server Component that uses useState. Build fails.</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2. AI adds 'use client' to the top of the file. Build passes.</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3. The component is now a Client Component — and so is everything it imports.</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4. The benefits of Server Components are gone. JS bundle grew. Server-only imports break.</a:t>
            </a:r>
            <a:endParaRPr lang="en-US" sz="1300" dirty="0"/>
          </a:p>
          <a:p>
            <a:pPr marL="0" indent="0">
              <a:spcAft>
                <a:spcPts val="600"/>
              </a:spcAft>
              <a:buNone/>
            </a:pPr>
            <a:r>
              <a:rPr lang="en-US" sz="1300" dirty="0">
                <a:solidFill>
                  <a:srgbClr val="475569"/>
                </a:solidFill>
                <a:latin typeface="Arial" pitchFamily="34" charset="0"/>
                <a:ea typeface="Arial" pitchFamily="34" charset="-122"/>
                <a:cs typeface="Arial" pitchFamily="34" charset="-120"/>
              </a:rPr>
              <a:t> </a:t>
            </a:r>
            <a:endParaRPr lang="en-US" sz="1300" dirty="0"/>
          </a:p>
          <a:p>
            <a:pPr marL="0" indent="0">
              <a:spcAft>
                <a:spcPts val="600"/>
              </a:spcAft>
              <a:buNone/>
            </a:pPr>
            <a:r>
              <a:rPr lang="en-US" sz="1300" i="1" dirty="0">
                <a:solidFill>
                  <a:srgbClr val="475569"/>
                </a:solidFill>
                <a:latin typeface="Arial" pitchFamily="34" charset="0"/>
                <a:ea typeface="Arial" pitchFamily="34" charset="-122"/>
                <a:cs typeface="Arial" pitchFamily="34" charset="-120"/>
              </a:rPr>
              <a:t>The right fix is almost always to extract just the interactive part as a small Client Component and leave the parent server-side.</a:t>
            </a:r>
            <a:endParaRPr lang="en-US" sz="1300" dirty="0"/>
          </a:p>
        </p:txBody>
      </p:sp>
      <p:sp>
        <p:nvSpPr>
          <p:cNvPr id="9"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0"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31</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26">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Wrap-up</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Two frameworks, same primitives. Then the lab.</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Next.js vs RR v7 — same primitives, different syntax</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Once you understand the boundary, both frameworks are mostly bookkeeping.</a:t>
            </a:r>
            <a:endParaRPr lang="en-US" sz="1400" dirty="0"/>
          </a:p>
        </p:txBody>
      </p:sp>
      <p:sp>
        <p:nvSpPr>
          <p:cNvPr id="5" name="Shape 3"/>
          <p:cNvSpPr/>
          <p:nvPr/>
        </p:nvSpPr>
        <p:spPr>
          <a:xfrm>
            <a:off x="777240" y="1325880"/>
            <a:ext cx="10607040" cy="4114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14400" y="1325880"/>
            <a:ext cx="3657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Primitive</a:t>
            </a:r>
            <a:endParaRPr lang="en-US" sz="1200" dirty="0"/>
          </a:p>
        </p:txBody>
      </p:sp>
      <p:sp>
        <p:nvSpPr>
          <p:cNvPr id="7" name="Text 5"/>
          <p:cNvSpPr/>
          <p:nvPr/>
        </p:nvSpPr>
        <p:spPr>
          <a:xfrm>
            <a:off x="4617720" y="1325880"/>
            <a:ext cx="338328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Next.js 15</a:t>
            </a:r>
            <a:endParaRPr lang="en-US" sz="1200" dirty="0"/>
          </a:p>
        </p:txBody>
      </p:sp>
      <p:sp>
        <p:nvSpPr>
          <p:cNvPr id="8" name="Text 6"/>
          <p:cNvSpPr/>
          <p:nvPr/>
        </p:nvSpPr>
        <p:spPr>
          <a:xfrm>
            <a:off x="8046720" y="1325880"/>
            <a:ext cx="329184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React Router v7</a:t>
            </a:r>
            <a:endParaRPr lang="en-US" sz="1200" dirty="0"/>
          </a:p>
        </p:txBody>
      </p:sp>
      <p:sp>
        <p:nvSpPr>
          <p:cNvPr id="9" name="Shape 7"/>
          <p:cNvSpPr/>
          <p:nvPr/>
        </p:nvSpPr>
        <p:spPr>
          <a:xfrm>
            <a:off x="777240" y="1737360"/>
            <a:ext cx="10607040" cy="64008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914400" y="1783080"/>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Component default</a:t>
            </a:r>
            <a:endParaRPr lang="en-US" sz="1150" dirty="0"/>
          </a:p>
        </p:txBody>
      </p:sp>
      <p:sp>
        <p:nvSpPr>
          <p:cNvPr id="11" name="Text 9"/>
          <p:cNvSpPr/>
          <p:nvPr/>
        </p:nvSpPr>
        <p:spPr>
          <a:xfrm>
            <a:off x="4617720" y="1783080"/>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page.jsx, layout.jsx</a:t>
            </a:r>
            <a:endParaRPr lang="en-US" sz="1100" dirty="0"/>
          </a:p>
        </p:txBody>
      </p:sp>
      <p:sp>
        <p:nvSpPr>
          <p:cNvPr id="12" name="Text 10"/>
          <p:cNvSpPr/>
          <p:nvPr/>
        </p:nvSpPr>
        <p:spPr>
          <a:xfrm>
            <a:off x="8046720" y="1783080"/>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Routes are server by default</a:t>
            </a:r>
            <a:endParaRPr lang="en-US" sz="1100" dirty="0"/>
          </a:p>
        </p:txBody>
      </p:sp>
      <p:sp>
        <p:nvSpPr>
          <p:cNvPr id="13" name="Shape 11"/>
          <p:cNvSpPr/>
          <p:nvPr/>
        </p:nvSpPr>
        <p:spPr>
          <a:xfrm>
            <a:off x="777240" y="2450592"/>
            <a:ext cx="10607040" cy="640080"/>
          </a:xfrm>
          <a:prstGeom prst="rect">
            <a:avLst/>
          </a:prstGeom>
          <a:solidFill>
            <a:srgbClr val="F8FAFC"/>
          </a:solidFill>
          <a:ln w="12700">
            <a:solidFill>
              <a:srgbClr val="E2E8F0"/>
            </a:solidFill>
            <a:prstDash val="solid"/>
          </a:ln>
        </p:spPr>
        <p:txBody>
          <a:bodyPr/>
          <a:lstStyle/>
          <a:p>
            <a:endParaRPr lang="en-US"/>
          </a:p>
        </p:txBody>
      </p:sp>
      <p:sp>
        <p:nvSpPr>
          <p:cNvPr id="14" name="Text 12"/>
          <p:cNvSpPr/>
          <p:nvPr/>
        </p:nvSpPr>
        <p:spPr>
          <a:xfrm>
            <a:off x="914400" y="2496312"/>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Client opt-in</a:t>
            </a:r>
            <a:endParaRPr lang="en-US" sz="1150" dirty="0"/>
          </a:p>
        </p:txBody>
      </p:sp>
      <p:sp>
        <p:nvSpPr>
          <p:cNvPr id="15" name="Text 13"/>
          <p:cNvSpPr/>
          <p:nvPr/>
        </p:nvSpPr>
        <p:spPr>
          <a:xfrm>
            <a:off x="4617720" y="2496312"/>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'use client'</a:t>
            </a:r>
            <a:endParaRPr lang="en-US" sz="1100" dirty="0"/>
          </a:p>
        </p:txBody>
      </p:sp>
      <p:sp>
        <p:nvSpPr>
          <p:cNvPr id="16" name="Text 14"/>
          <p:cNvSpPr/>
          <p:nvPr/>
        </p:nvSpPr>
        <p:spPr>
          <a:xfrm>
            <a:off x="8046720" y="2496312"/>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'use client'</a:t>
            </a:r>
            <a:endParaRPr lang="en-US" sz="1100" dirty="0"/>
          </a:p>
        </p:txBody>
      </p:sp>
      <p:sp>
        <p:nvSpPr>
          <p:cNvPr id="17" name="Shape 15"/>
          <p:cNvSpPr/>
          <p:nvPr/>
        </p:nvSpPr>
        <p:spPr>
          <a:xfrm>
            <a:off x="777240" y="3163824"/>
            <a:ext cx="10607040" cy="640080"/>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14400" y="3209544"/>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Action declaration</a:t>
            </a:r>
            <a:endParaRPr lang="en-US" sz="1150" dirty="0"/>
          </a:p>
        </p:txBody>
      </p:sp>
      <p:sp>
        <p:nvSpPr>
          <p:cNvPr id="19" name="Text 17"/>
          <p:cNvSpPr/>
          <p:nvPr/>
        </p:nvSpPr>
        <p:spPr>
          <a:xfrm>
            <a:off x="4617720" y="3209544"/>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'use server' inline or in module</a:t>
            </a:r>
            <a:endParaRPr lang="en-US" sz="1100" dirty="0"/>
          </a:p>
        </p:txBody>
      </p:sp>
      <p:sp>
        <p:nvSpPr>
          <p:cNvPr id="20" name="Text 18"/>
          <p:cNvSpPr/>
          <p:nvPr/>
        </p:nvSpPr>
        <p:spPr>
          <a:xfrm>
            <a:off x="8046720" y="3209544"/>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'use server' inline or in module</a:t>
            </a:r>
            <a:endParaRPr lang="en-US" sz="1100" dirty="0"/>
          </a:p>
        </p:txBody>
      </p:sp>
      <p:sp>
        <p:nvSpPr>
          <p:cNvPr id="21" name="Shape 19"/>
          <p:cNvSpPr/>
          <p:nvPr/>
        </p:nvSpPr>
        <p:spPr>
          <a:xfrm>
            <a:off x="777240" y="3877056"/>
            <a:ext cx="10607040" cy="640080"/>
          </a:xfrm>
          <a:prstGeom prst="rect">
            <a:avLst/>
          </a:prstGeom>
          <a:solidFill>
            <a:srgbClr val="F8FAFC"/>
          </a:solidFill>
          <a:ln w="12700">
            <a:solidFill>
              <a:srgbClr val="E2E8F0"/>
            </a:solidFill>
            <a:prstDash val="solid"/>
          </a:ln>
        </p:spPr>
        <p:txBody>
          <a:bodyPr/>
          <a:lstStyle/>
          <a:p>
            <a:endParaRPr lang="en-US"/>
          </a:p>
        </p:txBody>
      </p:sp>
      <p:sp>
        <p:nvSpPr>
          <p:cNvPr id="22" name="Text 20"/>
          <p:cNvSpPr/>
          <p:nvPr/>
        </p:nvSpPr>
        <p:spPr>
          <a:xfrm>
            <a:off x="914400" y="3922776"/>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Form action</a:t>
            </a:r>
            <a:endParaRPr lang="en-US" sz="1150" dirty="0"/>
          </a:p>
        </p:txBody>
      </p:sp>
      <p:sp>
        <p:nvSpPr>
          <p:cNvPr id="23" name="Text 21"/>
          <p:cNvSpPr/>
          <p:nvPr/>
        </p:nvSpPr>
        <p:spPr>
          <a:xfrm>
            <a:off x="4617720" y="3922776"/>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&lt;form action={fn}&gt;</a:t>
            </a:r>
            <a:endParaRPr lang="en-US" sz="1100" dirty="0"/>
          </a:p>
        </p:txBody>
      </p:sp>
      <p:sp>
        <p:nvSpPr>
          <p:cNvPr id="24" name="Text 22"/>
          <p:cNvSpPr/>
          <p:nvPr/>
        </p:nvSpPr>
        <p:spPr>
          <a:xfrm>
            <a:off x="8046720" y="3922776"/>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&lt;form action={fn}&gt; or &lt;Form action&gt;</a:t>
            </a:r>
            <a:endParaRPr lang="en-US" sz="1100" dirty="0"/>
          </a:p>
        </p:txBody>
      </p:sp>
      <p:sp>
        <p:nvSpPr>
          <p:cNvPr id="25" name="Shape 23"/>
          <p:cNvSpPr/>
          <p:nvPr/>
        </p:nvSpPr>
        <p:spPr>
          <a:xfrm>
            <a:off x="777240" y="4590288"/>
            <a:ext cx="10607040" cy="640080"/>
          </a:xfrm>
          <a:prstGeom prst="rect">
            <a:avLst/>
          </a:prstGeom>
          <a:solidFill>
            <a:srgbClr val="FFFFFF"/>
          </a:solidFill>
          <a:ln w="12700">
            <a:solidFill>
              <a:srgbClr val="E2E8F0"/>
            </a:solidFill>
            <a:prstDash val="solid"/>
          </a:ln>
        </p:spPr>
        <p:txBody>
          <a:bodyPr/>
          <a:lstStyle/>
          <a:p>
            <a:endParaRPr lang="en-US"/>
          </a:p>
        </p:txBody>
      </p:sp>
      <p:sp>
        <p:nvSpPr>
          <p:cNvPr id="26" name="Text 24"/>
          <p:cNvSpPr/>
          <p:nvPr/>
        </p:nvSpPr>
        <p:spPr>
          <a:xfrm>
            <a:off x="914400" y="4636008"/>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Streaming primitive</a:t>
            </a:r>
            <a:endParaRPr lang="en-US" sz="1150" dirty="0"/>
          </a:p>
        </p:txBody>
      </p:sp>
      <p:sp>
        <p:nvSpPr>
          <p:cNvPr id="27" name="Text 25"/>
          <p:cNvSpPr/>
          <p:nvPr/>
        </p:nvSpPr>
        <p:spPr>
          <a:xfrm>
            <a:off x="4617720" y="4636008"/>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&lt;Suspense&gt; + loading.jsx</a:t>
            </a:r>
            <a:endParaRPr lang="en-US" sz="1100" dirty="0"/>
          </a:p>
        </p:txBody>
      </p:sp>
      <p:sp>
        <p:nvSpPr>
          <p:cNvPr id="28" name="Text 26"/>
          <p:cNvSpPr/>
          <p:nvPr/>
        </p:nvSpPr>
        <p:spPr>
          <a:xfrm>
            <a:off x="8046720" y="4636008"/>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&lt;Suspense&gt; + defer/Await</a:t>
            </a:r>
            <a:endParaRPr lang="en-US" sz="1100" dirty="0"/>
          </a:p>
        </p:txBody>
      </p:sp>
      <p:sp>
        <p:nvSpPr>
          <p:cNvPr id="29" name="Shape 27"/>
          <p:cNvSpPr/>
          <p:nvPr/>
        </p:nvSpPr>
        <p:spPr>
          <a:xfrm>
            <a:off x="777240" y="5303520"/>
            <a:ext cx="10607040" cy="640080"/>
          </a:xfrm>
          <a:prstGeom prst="rect">
            <a:avLst/>
          </a:prstGeom>
          <a:solidFill>
            <a:srgbClr val="F8FAFC"/>
          </a:solidFill>
          <a:ln w="12700">
            <a:solidFill>
              <a:srgbClr val="E2E8F0"/>
            </a:solidFill>
            <a:prstDash val="solid"/>
          </a:ln>
        </p:spPr>
        <p:txBody>
          <a:bodyPr/>
          <a:lstStyle/>
          <a:p>
            <a:endParaRPr lang="en-US"/>
          </a:p>
        </p:txBody>
      </p:sp>
      <p:sp>
        <p:nvSpPr>
          <p:cNvPr id="30" name="Text 28"/>
          <p:cNvSpPr/>
          <p:nvPr/>
        </p:nvSpPr>
        <p:spPr>
          <a:xfrm>
            <a:off x="914400" y="5349240"/>
            <a:ext cx="3657600" cy="548640"/>
          </a:xfrm>
          <a:prstGeom prst="rect">
            <a:avLst/>
          </a:prstGeom>
          <a:noFill/>
          <a:ln/>
        </p:spPr>
        <p:txBody>
          <a:bodyPr wrap="square" lIns="0" tIns="0" rIns="0" bIns="0" rtlCol="0" anchor="ctr"/>
          <a:lstStyle/>
          <a:p>
            <a:pPr marL="0" indent="0">
              <a:buNone/>
            </a:pPr>
            <a:r>
              <a:rPr lang="en-US" sz="1150" b="1" dirty="0">
                <a:solidFill>
                  <a:srgbClr val="0F172A"/>
                </a:solidFill>
                <a:latin typeface="Arial" pitchFamily="34" charset="0"/>
                <a:ea typeface="Arial" pitchFamily="34" charset="-122"/>
                <a:cs typeface="Arial" pitchFamily="34" charset="-120"/>
              </a:rPr>
              <a:t>Server Actions on event handlers</a:t>
            </a:r>
            <a:endParaRPr lang="en-US" sz="1150" dirty="0"/>
          </a:p>
        </p:txBody>
      </p:sp>
      <p:sp>
        <p:nvSpPr>
          <p:cNvPr id="31" name="Text 29"/>
          <p:cNvSpPr/>
          <p:nvPr/>
        </p:nvSpPr>
        <p:spPr>
          <a:xfrm>
            <a:off x="4617720" y="5349240"/>
            <a:ext cx="338328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Yes — use directly</a:t>
            </a:r>
            <a:endParaRPr lang="en-US" sz="1100" dirty="0"/>
          </a:p>
        </p:txBody>
      </p:sp>
      <p:sp>
        <p:nvSpPr>
          <p:cNvPr id="32" name="Text 30"/>
          <p:cNvSpPr/>
          <p:nvPr/>
        </p:nvSpPr>
        <p:spPr>
          <a:xfrm>
            <a:off x="8046720" y="5349240"/>
            <a:ext cx="3291840" cy="54864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Yes — call in transition</a:t>
            </a:r>
            <a:endParaRPr lang="en-US" sz="1100" dirty="0"/>
          </a:p>
        </p:txBody>
      </p:sp>
      <p:sp>
        <p:nvSpPr>
          <p:cNvPr id="33" name="Text 3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34" name="Text 3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31</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mistakes in Server Components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Your review checklist for Lab 5 and beyond.</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 client' added at the file top to silence a hook-related error</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Server-only import (db client, env vars) leaked into a 'use client' file</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Inline event handler passed across the boundary as a regular function</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Date.now() or Math.random() in render — hydration mismatch coming</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The whole page wrapped in one Suspense — no streaming benefit</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Server Action without 'use server' directive — runs as a regular client function</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28 / 31</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6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Server-first is the new default. Add 'use client' only where you need state or events.</a:t>
            </a:r>
            <a:endParaRPr lang="en-US" sz="115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The boundary is per-file. Once a file is 'use client', everything in it (and downstream) is client.</a:t>
            </a:r>
            <a:endParaRPr lang="en-US" sz="115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Components can render Client Components. Client Components can receive Server Components as children — never import them.</a:t>
            </a:r>
            <a:endParaRPr lang="en-US" sz="115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Props across the boundary must be serializable. Inline event handlers are the most common violation.</a:t>
            </a:r>
            <a:endParaRPr lang="en-US" sz="115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Actions = 'use server' functions. Pair with useActionState for forms, useTransition for handlers.</a:t>
            </a:r>
            <a:endParaRPr lang="en-US" sz="115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Streaming wins come from MULTIPLE Suspense boundaries. One boundary around everything is no win at all.</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29 / 31</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Build a Server Components dashboard with a Server Action form.</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 5: Server Components Dashboard</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75 minutes  ·  Hands-on  ·  Solution: solutions/lab-05-dashboard/</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Build a small dashboard page with Server Components fetching data</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Add a Server Action form using useActionState for state and validation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Identify which components must be 'use client' and document why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streaming with multiple Suspense boundaries</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30 / 31</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End of Day 2</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Lab 5 closes the day. Day 3 covers performance, testing, and AI.</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192024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Day 2 covered:</a:t>
            </a:r>
            <a:endParaRPr lang="en-US" sz="1400" dirty="0"/>
          </a:p>
        </p:txBody>
      </p:sp>
      <p:sp>
        <p:nvSpPr>
          <p:cNvPr id="7" name="Text 5"/>
          <p:cNvSpPr/>
          <p:nvPr/>
        </p:nvSpPr>
        <p:spPr>
          <a:xfrm>
            <a:off x="1097280" y="2331720"/>
            <a:ext cx="1005840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State management decision framework + pick-your-tool refactor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Modern data fetching + TanStack Query migration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 Server Actions (just finished)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5 — Server Components dashboard (next)</a:t>
            </a:r>
            <a:endParaRPr lang="en-US" sz="1250" dirty="0"/>
          </a:p>
        </p:txBody>
      </p:sp>
      <p:sp>
        <p:nvSpPr>
          <p:cNvPr id="8" name="Text 6"/>
          <p:cNvSpPr/>
          <p:nvPr/>
        </p:nvSpPr>
        <p:spPr>
          <a:xfrm>
            <a:off x="1097280" y="5166360"/>
            <a:ext cx="10058400" cy="54864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Tomorrow: performance in the Compiler era, testing with Vitest + RTL, and a full module on working with AI assistants.</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31 / 31</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7</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Performance in the Compiler Era</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Measure first. Use the Compiler. Reach for hand work only when the data says so.</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60 minutes  ·  Lecture + demos  ·  Lab 6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we'll cover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Five tools, in the order you'd reach for them.</a:t>
            </a:r>
            <a:endParaRPr lang="en-US" sz="1400" dirty="0"/>
          </a:p>
        </p:txBody>
      </p:sp>
      <p:sp>
        <p:nvSpPr>
          <p:cNvPr id="5" name="Shape 3"/>
          <p:cNvSpPr/>
          <p:nvPr/>
        </p:nvSpPr>
        <p:spPr>
          <a:xfrm>
            <a:off x="777240" y="1691640"/>
            <a:ext cx="10607040" cy="77724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56232"/>
            <a:ext cx="457200" cy="457200"/>
          </a:xfrm>
          <a:prstGeom prst="rect">
            <a:avLst/>
          </a:prstGeom>
        </p:spPr>
      </p:pic>
      <p:sp>
        <p:nvSpPr>
          <p:cNvPr id="7" name="Text 4"/>
          <p:cNvSpPr/>
          <p:nvPr/>
        </p:nvSpPr>
        <p:spPr>
          <a:xfrm>
            <a:off x="1600200" y="1764792"/>
            <a:ext cx="36576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Measurement</a:t>
            </a:r>
            <a:endParaRPr lang="en-US" sz="1400" dirty="0"/>
          </a:p>
        </p:txBody>
      </p:sp>
      <p:sp>
        <p:nvSpPr>
          <p:cNvPr id="8" name="Text 5"/>
          <p:cNvSpPr/>
          <p:nvPr/>
        </p:nvSpPr>
        <p:spPr>
          <a:xfrm>
            <a:off x="1600200" y="2103120"/>
            <a:ext cx="9692640" cy="3200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Profiler, Lighthouse, Core Web Vitals — before any optimization.</a:t>
            </a:r>
            <a:endParaRPr lang="en-US" sz="1200" dirty="0"/>
          </a:p>
        </p:txBody>
      </p:sp>
      <p:sp>
        <p:nvSpPr>
          <p:cNvPr id="9" name="Shape 6"/>
          <p:cNvSpPr/>
          <p:nvPr/>
        </p:nvSpPr>
        <p:spPr>
          <a:xfrm>
            <a:off x="777240" y="2606040"/>
            <a:ext cx="10607040" cy="77724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770632"/>
            <a:ext cx="457200" cy="457200"/>
          </a:xfrm>
          <a:prstGeom prst="rect">
            <a:avLst/>
          </a:prstGeom>
        </p:spPr>
      </p:pic>
      <p:sp>
        <p:nvSpPr>
          <p:cNvPr id="11" name="Text 7"/>
          <p:cNvSpPr/>
          <p:nvPr/>
        </p:nvSpPr>
        <p:spPr>
          <a:xfrm>
            <a:off x="1600200" y="2679192"/>
            <a:ext cx="36576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The React Compiler</a:t>
            </a:r>
            <a:endParaRPr lang="en-US" sz="1400" dirty="0"/>
          </a:p>
        </p:txBody>
      </p:sp>
      <p:sp>
        <p:nvSpPr>
          <p:cNvPr id="12" name="Text 8"/>
          <p:cNvSpPr/>
          <p:nvPr/>
        </p:nvSpPr>
        <p:spPr>
          <a:xfrm>
            <a:off x="1600200" y="3017520"/>
            <a:ext cx="9692640" cy="3200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Auto-memoization. What it does, what it doesn't.</a:t>
            </a:r>
            <a:endParaRPr lang="en-US" sz="1200" dirty="0"/>
          </a:p>
        </p:txBody>
      </p:sp>
      <p:sp>
        <p:nvSpPr>
          <p:cNvPr id="13" name="Shape 9"/>
          <p:cNvSpPr/>
          <p:nvPr/>
        </p:nvSpPr>
        <p:spPr>
          <a:xfrm>
            <a:off x="777240" y="3520440"/>
            <a:ext cx="10607040" cy="77724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3685032"/>
            <a:ext cx="457200" cy="457200"/>
          </a:xfrm>
          <a:prstGeom prst="rect">
            <a:avLst/>
          </a:prstGeom>
        </p:spPr>
      </p:pic>
      <p:sp>
        <p:nvSpPr>
          <p:cNvPr id="15" name="Text 10"/>
          <p:cNvSpPr/>
          <p:nvPr/>
        </p:nvSpPr>
        <p:spPr>
          <a:xfrm>
            <a:off x="1600200" y="3593592"/>
            <a:ext cx="36576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Manual memoization</a:t>
            </a:r>
            <a:endParaRPr lang="en-US" sz="1400" dirty="0"/>
          </a:p>
        </p:txBody>
      </p:sp>
      <p:sp>
        <p:nvSpPr>
          <p:cNvPr id="16" name="Text 11"/>
          <p:cNvSpPr/>
          <p:nvPr/>
        </p:nvSpPr>
        <p:spPr>
          <a:xfrm>
            <a:off x="1600200" y="3931920"/>
            <a:ext cx="9692640" cy="3200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When useMemo, useCallback, React.memo still earn their keep.</a:t>
            </a:r>
            <a:endParaRPr lang="en-US" sz="1200" dirty="0"/>
          </a:p>
        </p:txBody>
      </p:sp>
      <p:sp>
        <p:nvSpPr>
          <p:cNvPr id="17" name="Shape 12"/>
          <p:cNvSpPr/>
          <p:nvPr/>
        </p:nvSpPr>
        <p:spPr>
          <a:xfrm>
            <a:off x="777240" y="4434840"/>
            <a:ext cx="10607040" cy="77724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4599432"/>
            <a:ext cx="457200" cy="457200"/>
          </a:xfrm>
          <a:prstGeom prst="rect">
            <a:avLst/>
          </a:prstGeom>
        </p:spPr>
      </p:pic>
      <p:sp>
        <p:nvSpPr>
          <p:cNvPr id="19" name="Text 13"/>
          <p:cNvSpPr/>
          <p:nvPr/>
        </p:nvSpPr>
        <p:spPr>
          <a:xfrm>
            <a:off x="1600200" y="4507992"/>
            <a:ext cx="36576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Code splitting</a:t>
            </a:r>
            <a:endParaRPr lang="en-US" sz="1400" dirty="0"/>
          </a:p>
        </p:txBody>
      </p:sp>
      <p:sp>
        <p:nvSpPr>
          <p:cNvPr id="20" name="Text 14"/>
          <p:cNvSpPr/>
          <p:nvPr/>
        </p:nvSpPr>
        <p:spPr>
          <a:xfrm>
            <a:off x="1600200" y="4846320"/>
            <a:ext cx="9692640" cy="3200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React.lazy + Suspense. Route-level and component-level.</a:t>
            </a:r>
            <a:endParaRPr lang="en-US" sz="1200" dirty="0"/>
          </a:p>
        </p:txBody>
      </p:sp>
      <p:sp>
        <p:nvSpPr>
          <p:cNvPr id="21" name="Shape 15"/>
          <p:cNvSpPr/>
          <p:nvPr/>
        </p:nvSpPr>
        <p:spPr>
          <a:xfrm>
            <a:off x="777240" y="5349240"/>
            <a:ext cx="10607040" cy="777240"/>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960120" y="5513832"/>
            <a:ext cx="457200" cy="457200"/>
          </a:xfrm>
          <a:prstGeom prst="rect">
            <a:avLst/>
          </a:prstGeom>
        </p:spPr>
      </p:pic>
      <p:sp>
        <p:nvSpPr>
          <p:cNvPr id="23" name="Text 16"/>
          <p:cNvSpPr/>
          <p:nvPr/>
        </p:nvSpPr>
        <p:spPr>
          <a:xfrm>
            <a:off x="1600200" y="5422392"/>
            <a:ext cx="36576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Beyond the render</a:t>
            </a:r>
            <a:endParaRPr lang="en-US" sz="1400" dirty="0"/>
          </a:p>
        </p:txBody>
      </p:sp>
      <p:sp>
        <p:nvSpPr>
          <p:cNvPr id="24" name="Text 17"/>
          <p:cNvSpPr/>
          <p:nvPr/>
        </p:nvSpPr>
        <p:spPr>
          <a:xfrm>
            <a:off x="1600200" y="5760720"/>
            <a:ext cx="9692640" cy="3200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Virtualization, Web Workers, throttling/debouncing.</a:t>
            </a:r>
            <a:endParaRPr lang="en-US" sz="120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25</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Measure First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Optimization without measurement is theater. Pick a tool, get a baseline.</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'no measurement' trap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Most performance work in React 19 is on the wrong thing.</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Symptom: 'Add useMemo everywhere, just in case'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Memoization without measurement adds bugs and code, not speed. Most components don't need it.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Symptom: 'It feels slow'</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Without numbers, you can't tell if your fix worked. You're chasing a vibe.</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Symptom: 'The first thing I tried was code splitting'</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your bottleneck is a render storm, code splitting won't help. Profile first.</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Symptom: 'I'll just optimize all the things'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Most components are not the bottleneck. Optimizing 80% of components for 0% gain is what burns weeks.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25</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React DevTools profiler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Records render counts and durations. Tells you which components are actually expensive.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How to use it</a:t>
            </a:r>
            <a:endParaRPr lang="en-US" sz="1400" dirty="0"/>
          </a:p>
        </p:txBody>
      </p:sp>
      <p:sp>
        <p:nvSpPr>
          <p:cNvPr id="6" name="Text 4"/>
          <p:cNvSpPr/>
          <p:nvPr/>
        </p:nvSpPr>
        <p:spPr>
          <a:xfrm>
            <a:off x="777240" y="1920240"/>
            <a:ext cx="5349240" cy="29260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Open the Profiler tab in React DevTools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Click record, interact with your app, click stop</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The flame graph shows render time per component</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Sort by 'rendered most' to find re-render storms</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Click any bar to see why that component rendered</a:t>
            </a:r>
            <a:endParaRPr lang="en-US" sz="16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to look for</a:t>
            </a:r>
            <a:endParaRPr lang="en-US" sz="1400" dirty="0"/>
          </a:p>
        </p:txBody>
      </p:sp>
      <p:sp>
        <p:nvSpPr>
          <p:cNvPr id="8" name="Text 6"/>
          <p:cNvSpPr/>
          <p:nvPr/>
        </p:nvSpPr>
        <p:spPr>
          <a:xfrm>
            <a:off x="6355080" y="1920240"/>
            <a:ext cx="5029200" cy="29260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Components rendering on every keystroke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A component rendering &gt;10× per user action</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Long render durations (&gt;16ms = dropped frame)</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'Why did this render?' showing prop changes you didn't intend</a:t>
            </a:r>
            <a:endParaRPr lang="en-US" sz="1600" dirty="0"/>
          </a:p>
          <a:p>
            <a:pPr marL="342900" indent="-342900">
              <a:spcAft>
                <a:spcPts val="400"/>
              </a:spcAft>
              <a:buSzPct val="100000"/>
              <a:buChar char="•"/>
            </a:pPr>
            <a:r>
              <a:rPr lang="en-US" sz="1600" dirty="0">
                <a:solidFill>
                  <a:srgbClr val="475569"/>
                </a:solidFill>
                <a:latin typeface="Arial" pitchFamily="34" charset="0"/>
                <a:ea typeface="Arial" pitchFamily="34" charset="-122"/>
                <a:cs typeface="Arial" pitchFamily="34" charset="-120"/>
              </a:rPr>
              <a:t>Unexpected re-renders after the Compiler memoizes</a:t>
            </a:r>
            <a:endParaRPr lang="en-US" sz="16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25</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Lighthouse + Core Web Vitals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Lighthouse measures the user's experience. Profiler measures your code.</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83080"/>
            <a:ext cx="5029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LCP — Largest Contentful Paint</a:t>
            </a:r>
            <a:endParaRPr lang="en-US" sz="1350" dirty="0"/>
          </a:p>
        </p:txBody>
      </p:sp>
      <p:sp>
        <p:nvSpPr>
          <p:cNvPr id="7" name="Text 5"/>
          <p:cNvSpPr/>
          <p:nvPr/>
        </p:nvSpPr>
        <p:spPr>
          <a:xfrm>
            <a:off x="960120" y="2103120"/>
            <a:ext cx="5029200" cy="365760"/>
          </a:xfrm>
          <a:prstGeom prst="rect">
            <a:avLst/>
          </a:prstGeom>
          <a:noFill/>
          <a:ln/>
        </p:spPr>
        <p:txBody>
          <a:bodyPr wrap="square" lIns="0" tIns="0" rIns="0" bIns="0" rtlCol="0" anchor="ctr"/>
          <a:lstStyle/>
          <a:p>
            <a:pPr marL="0" indent="0">
              <a:buNone/>
            </a:pPr>
            <a:r>
              <a:rPr lang="en-US" sz="1150" i="1" dirty="0">
                <a:solidFill>
                  <a:srgbClr val="00B8D9"/>
                </a:solidFill>
                <a:latin typeface="Courier New" pitchFamily="34" charset="0"/>
                <a:ea typeface="Courier New" pitchFamily="34" charset="-122"/>
                <a:cs typeface="Courier New" pitchFamily="34" charset="-120"/>
              </a:rPr>
              <a:t>good: ≤ 2.5s</a:t>
            </a:r>
            <a:endParaRPr lang="en-US" sz="1150" dirty="0"/>
          </a:p>
        </p:txBody>
      </p:sp>
      <p:sp>
        <p:nvSpPr>
          <p:cNvPr id="8" name="Text 6"/>
          <p:cNvSpPr/>
          <p:nvPr/>
        </p:nvSpPr>
        <p:spPr>
          <a:xfrm>
            <a:off x="6126480" y="1783080"/>
            <a:ext cx="512064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How quickly the main content appears. Server Components and streaming help most.</a:t>
            </a:r>
            <a:endParaRPr lang="en-US" sz="1150" dirty="0"/>
          </a:p>
        </p:txBody>
      </p:sp>
      <p:sp>
        <p:nvSpPr>
          <p:cNvPr id="9" name="Shape 7"/>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960120" y="2834640"/>
            <a:ext cx="5029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INP — Interaction to Next Paint</a:t>
            </a:r>
            <a:endParaRPr lang="en-US" sz="1350" dirty="0"/>
          </a:p>
        </p:txBody>
      </p:sp>
      <p:sp>
        <p:nvSpPr>
          <p:cNvPr id="11" name="Text 9"/>
          <p:cNvSpPr/>
          <p:nvPr/>
        </p:nvSpPr>
        <p:spPr>
          <a:xfrm>
            <a:off x="960120" y="3154680"/>
            <a:ext cx="5029200" cy="365760"/>
          </a:xfrm>
          <a:prstGeom prst="rect">
            <a:avLst/>
          </a:prstGeom>
          <a:noFill/>
          <a:ln/>
        </p:spPr>
        <p:txBody>
          <a:bodyPr wrap="square" lIns="0" tIns="0" rIns="0" bIns="0" rtlCol="0" anchor="ctr"/>
          <a:lstStyle/>
          <a:p>
            <a:pPr marL="0" indent="0">
              <a:buNone/>
            </a:pPr>
            <a:r>
              <a:rPr lang="en-US" sz="1150" i="1" dirty="0">
                <a:solidFill>
                  <a:srgbClr val="00B8D9"/>
                </a:solidFill>
                <a:latin typeface="Courier New" pitchFamily="34" charset="0"/>
                <a:ea typeface="Courier New" pitchFamily="34" charset="-122"/>
                <a:cs typeface="Courier New" pitchFamily="34" charset="-120"/>
              </a:rPr>
              <a:t>good: ≤ 200ms</a:t>
            </a:r>
            <a:endParaRPr lang="en-US" sz="1150" dirty="0"/>
          </a:p>
        </p:txBody>
      </p:sp>
      <p:sp>
        <p:nvSpPr>
          <p:cNvPr id="12" name="Text 10"/>
          <p:cNvSpPr/>
          <p:nvPr/>
        </p:nvSpPr>
        <p:spPr>
          <a:xfrm>
            <a:off x="6126480" y="2834640"/>
            <a:ext cx="512064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How responsive your app feels. Replaced FID in 2024. Long tasks are the killer.</a:t>
            </a:r>
            <a:endParaRPr lang="en-US" sz="1150" dirty="0"/>
          </a:p>
        </p:txBody>
      </p:sp>
      <p:sp>
        <p:nvSpPr>
          <p:cNvPr id="13" name="Shape 11"/>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sp>
        <p:nvSpPr>
          <p:cNvPr id="14" name="Text 12"/>
          <p:cNvSpPr/>
          <p:nvPr/>
        </p:nvSpPr>
        <p:spPr>
          <a:xfrm>
            <a:off x="960120" y="3886200"/>
            <a:ext cx="5029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CLS — Cumulative Layout Shift</a:t>
            </a:r>
            <a:endParaRPr lang="en-US" sz="1350" dirty="0"/>
          </a:p>
        </p:txBody>
      </p:sp>
      <p:sp>
        <p:nvSpPr>
          <p:cNvPr id="15" name="Text 13"/>
          <p:cNvSpPr/>
          <p:nvPr/>
        </p:nvSpPr>
        <p:spPr>
          <a:xfrm>
            <a:off x="960120" y="4206240"/>
            <a:ext cx="5029200" cy="365760"/>
          </a:xfrm>
          <a:prstGeom prst="rect">
            <a:avLst/>
          </a:prstGeom>
          <a:noFill/>
          <a:ln/>
        </p:spPr>
        <p:txBody>
          <a:bodyPr wrap="square" lIns="0" tIns="0" rIns="0" bIns="0" rtlCol="0" anchor="ctr"/>
          <a:lstStyle/>
          <a:p>
            <a:pPr marL="0" indent="0">
              <a:buNone/>
            </a:pPr>
            <a:r>
              <a:rPr lang="en-US" sz="1150" i="1" dirty="0">
                <a:solidFill>
                  <a:srgbClr val="00B8D9"/>
                </a:solidFill>
                <a:latin typeface="Courier New" pitchFamily="34" charset="0"/>
                <a:ea typeface="Courier New" pitchFamily="34" charset="-122"/>
                <a:cs typeface="Courier New" pitchFamily="34" charset="-120"/>
              </a:rPr>
              <a:t>good: ≤ 0.1</a:t>
            </a:r>
            <a:endParaRPr lang="en-US" sz="1150" dirty="0"/>
          </a:p>
        </p:txBody>
      </p:sp>
      <p:sp>
        <p:nvSpPr>
          <p:cNvPr id="16" name="Text 14"/>
          <p:cNvSpPr/>
          <p:nvPr/>
        </p:nvSpPr>
        <p:spPr>
          <a:xfrm>
            <a:off x="6126480" y="3886200"/>
            <a:ext cx="512064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How stable the layout is. Skeletons that match real content shape avoid this.</a:t>
            </a:r>
            <a:endParaRPr lang="en-US" sz="1150" dirty="0"/>
          </a:p>
        </p:txBody>
      </p:sp>
      <p:sp>
        <p:nvSpPr>
          <p:cNvPr id="17" name="Shape 15"/>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4937760"/>
            <a:ext cx="5029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TTFB — Time to First Byte</a:t>
            </a:r>
            <a:endParaRPr lang="en-US" sz="1350" dirty="0"/>
          </a:p>
        </p:txBody>
      </p:sp>
      <p:sp>
        <p:nvSpPr>
          <p:cNvPr id="19" name="Text 17"/>
          <p:cNvSpPr/>
          <p:nvPr/>
        </p:nvSpPr>
        <p:spPr>
          <a:xfrm>
            <a:off x="960120" y="5257800"/>
            <a:ext cx="5029200" cy="365760"/>
          </a:xfrm>
          <a:prstGeom prst="rect">
            <a:avLst/>
          </a:prstGeom>
          <a:noFill/>
          <a:ln/>
        </p:spPr>
        <p:txBody>
          <a:bodyPr wrap="square" lIns="0" tIns="0" rIns="0" bIns="0" rtlCol="0" anchor="ctr"/>
          <a:lstStyle/>
          <a:p>
            <a:pPr marL="0" indent="0">
              <a:buNone/>
            </a:pPr>
            <a:r>
              <a:rPr lang="en-US" sz="1150" i="1" dirty="0">
                <a:solidFill>
                  <a:srgbClr val="00B8D9"/>
                </a:solidFill>
                <a:latin typeface="Courier New" pitchFamily="34" charset="0"/>
                <a:ea typeface="Courier New" pitchFamily="34" charset="-122"/>
                <a:cs typeface="Courier New" pitchFamily="34" charset="-120"/>
              </a:rPr>
              <a:t>good: ≤ 800ms</a:t>
            </a:r>
            <a:endParaRPr lang="en-US" sz="1150" dirty="0"/>
          </a:p>
        </p:txBody>
      </p:sp>
      <p:sp>
        <p:nvSpPr>
          <p:cNvPr id="20" name="Text 18"/>
          <p:cNvSpPr/>
          <p:nvPr/>
        </p:nvSpPr>
        <p:spPr>
          <a:xfrm>
            <a:off x="6126480" y="4937760"/>
            <a:ext cx="512064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response time. Mostly your backend, but streaming SSR helps.</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25</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React Compiler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Auto-memoization. The biggest 2024-to-2026 shift in how we write React.</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the Compiler does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Reads your component, figures out what's safe to memoize, generates the equivalent code.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97706"/>
                </a:solidFill>
                <a:latin typeface="Trebuchet MS" pitchFamily="34" charset="0"/>
                <a:ea typeface="Trebuchet MS" pitchFamily="34" charset="-122"/>
                <a:cs typeface="Trebuchet MS" pitchFamily="34" charset="-120"/>
              </a:rPr>
              <a:t>Before — manual</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38328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List</a:t>
            </a:r>
            <a:r>
              <a:rPr lang="en-US" sz="1400" dirty="0">
                <a:solidFill>
                  <a:srgbClr val="FFFFFF"/>
                </a:solidFill>
                <a:latin typeface="Courier New" pitchFamily="34" charset="0"/>
                <a:ea typeface="Courier New" pitchFamily="34" charset="-122"/>
                <a:cs typeface="Courier New" pitchFamily="34" charset="-120"/>
              </a:rPr>
              <a:t>({ items, query })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filtered = </a:t>
            </a:r>
            <a:r>
              <a:rPr lang="en-US" sz="1400" dirty="0">
                <a:solidFill>
                  <a:srgbClr val="DCDCAA"/>
                </a:solidFill>
                <a:latin typeface="Courier New" pitchFamily="34" charset="0"/>
                <a:ea typeface="Courier New" pitchFamily="34" charset="-122"/>
                <a:cs typeface="Courier New" pitchFamily="34" charset="-120"/>
              </a:rPr>
              <a:t>useMemo</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 =&gt; items.filter(i</a:t>
            </a:r>
            <a:r>
              <a:rPr lang="en-US" sz="1400" dirty="0">
                <a:solidFill>
                  <a:srgbClr val="FFFFFF"/>
                </a:solidFill>
                <a:latin typeface="Courier New" pitchFamily="34" charset="0"/>
                <a:ea typeface="Courier New" pitchFamily="34" charset="-122"/>
                <a:cs typeface="Courier New" pitchFamily="34" charset="-120"/>
              </a:rPr>
              <a:t> =&gt; i.includes(query)),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[items, query]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onClick = </a:t>
            </a:r>
            <a:r>
              <a:rPr lang="en-US" sz="1400" dirty="0">
                <a:solidFill>
                  <a:srgbClr val="DCDCAA"/>
                </a:solidFill>
                <a:latin typeface="Courier New" pitchFamily="34" charset="0"/>
                <a:ea typeface="Courier New" pitchFamily="34" charset="-122"/>
                <a:cs typeface="Courier New" pitchFamily="34" charset="-120"/>
              </a:rPr>
              <a:t>useCallback</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(e) =&gt; save(e), [save]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&lt;Items items={filtered} onClick={onClick}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export default </a:t>
            </a:r>
            <a:r>
              <a:rPr lang="en-US" sz="1400" dirty="0">
                <a:solidFill>
                  <a:srgbClr val="DCDCAA"/>
                </a:solidFill>
                <a:latin typeface="Courier New" pitchFamily="34" charset="0"/>
                <a:ea typeface="Courier New" pitchFamily="34" charset="-122"/>
                <a:cs typeface="Courier New" pitchFamily="34" charset="-120"/>
              </a:rPr>
              <a:t>memo</a:t>
            </a:r>
            <a:r>
              <a:rPr lang="en-US" sz="1400" dirty="0">
                <a:solidFill>
                  <a:srgbClr val="FFFFFF"/>
                </a:solidFill>
                <a:latin typeface="Courier New" pitchFamily="34" charset="0"/>
                <a:ea typeface="Courier New" pitchFamily="34" charset="-122"/>
                <a:cs typeface="Courier New" pitchFamily="34" charset="-120"/>
              </a:rPr>
              <a:t>(List);</a:t>
            </a:r>
            <a:endParaRPr lang="en-US" sz="14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After — Compiler enabled</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38328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function </a:t>
            </a:r>
            <a:r>
              <a:rPr lang="en-US" sz="1400" dirty="0">
                <a:solidFill>
                  <a:srgbClr val="DCDCAA"/>
                </a:solidFill>
                <a:latin typeface="Courier New" pitchFamily="34" charset="0"/>
                <a:ea typeface="Courier New" pitchFamily="34" charset="-122"/>
                <a:cs typeface="Courier New" pitchFamily="34" charset="-120"/>
              </a:rPr>
              <a:t>List</a:t>
            </a:r>
            <a:r>
              <a:rPr lang="en-US" sz="1400" dirty="0">
                <a:solidFill>
                  <a:srgbClr val="FFFFFF"/>
                </a:solidFill>
                <a:latin typeface="Courier New" pitchFamily="34" charset="0"/>
                <a:ea typeface="Courier New" pitchFamily="34" charset="-122"/>
                <a:cs typeface="Courier New" pitchFamily="34" charset="-120"/>
              </a:rPr>
              <a:t>({ items, query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filtered = items.filter(</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9CDCFE"/>
                </a:solidFill>
                <a:latin typeface="Courier New" pitchFamily="34" charset="0"/>
                <a:ea typeface="Courier New" pitchFamily="34" charset="-122"/>
                <a:cs typeface="Courier New" pitchFamily="34" charset="-120"/>
              </a:rPr>
              <a:t>i</a:t>
            </a:r>
            <a:r>
              <a:rPr lang="en-US" sz="1400" dirty="0">
                <a:solidFill>
                  <a:srgbClr val="FFFFFF"/>
                </a:solidFill>
                <a:latin typeface="Courier New" pitchFamily="34" charset="0"/>
                <a:ea typeface="Courier New" pitchFamily="34" charset="-122"/>
                <a:cs typeface="Courier New" pitchFamily="34" charset="-120"/>
              </a:rPr>
              <a:t> =&gt; i.includes(query)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onClick = (e) =&gt; save(e);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&lt;Items items={filtered} onClick={onClick}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Compiler memoizes equivalently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export default List;</a:t>
            </a:r>
            <a:endParaRPr lang="en-US" sz="14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25</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the Compiler doesn't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Knowing the limits is what keeps performance work honest.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457200" cy="457200"/>
          </a:xfrm>
          <a:prstGeom prst="rect">
            <a:avLst/>
          </a:prstGeom>
        </p:spPr>
      </p:pic>
      <p:sp>
        <p:nvSpPr>
          <p:cNvPr id="7" name="Text 4"/>
          <p:cNvSpPr/>
          <p:nvPr/>
        </p:nvSpPr>
        <p:spPr>
          <a:xfrm>
            <a:off x="1554480" y="1737360"/>
            <a:ext cx="429768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 doesn't fix Rules of Hooks violations</a:t>
            </a:r>
            <a:endParaRPr lang="en-US" sz="1250" dirty="0"/>
          </a:p>
        </p:txBody>
      </p:sp>
      <p:sp>
        <p:nvSpPr>
          <p:cNvPr id="8" name="Text 5"/>
          <p:cNvSpPr/>
          <p:nvPr/>
        </p:nvSpPr>
        <p:spPr>
          <a:xfrm>
            <a:off x="5989320" y="1737360"/>
            <a:ext cx="530352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Same rules as before. Components that violate them bail out — and you get an eslint warning.</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679192"/>
            <a:ext cx="457200" cy="457200"/>
          </a:xfrm>
          <a:prstGeom prst="rect">
            <a:avLst/>
          </a:prstGeom>
        </p:spPr>
      </p:pic>
      <p:sp>
        <p:nvSpPr>
          <p:cNvPr id="11" name="Text 7"/>
          <p:cNvSpPr/>
          <p:nvPr/>
        </p:nvSpPr>
        <p:spPr>
          <a:xfrm>
            <a:off x="1554480" y="2606040"/>
            <a:ext cx="429768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 doesn't memoize across mutation</a:t>
            </a:r>
            <a:endParaRPr lang="en-US" sz="1250" dirty="0"/>
          </a:p>
        </p:txBody>
      </p:sp>
      <p:sp>
        <p:nvSpPr>
          <p:cNvPr id="12" name="Text 8"/>
          <p:cNvSpPr/>
          <p:nvPr/>
        </p:nvSpPr>
        <p:spPr>
          <a:xfrm>
            <a:off x="5989320" y="2606040"/>
            <a:ext cx="530352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Mutating an object and reusing it still breaks memoization. Use immutable updates.</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547872"/>
            <a:ext cx="457200" cy="457200"/>
          </a:xfrm>
          <a:prstGeom prst="rect">
            <a:avLst/>
          </a:prstGeom>
        </p:spPr>
      </p:pic>
      <p:sp>
        <p:nvSpPr>
          <p:cNvPr id="15" name="Text 10"/>
          <p:cNvSpPr/>
          <p:nvPr/>
        </p:nvSpPr>
        <p:spPr>
          <a:xfrm>
            <a:off x="1554480" y="3474720"/>
            <a:ext cx="429768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 doesn't replace algorithmic optimization</a:t>
            </a:r>
            <a:endParaRPr lang="en-US" sz="1250" dirty="0"/>
          </a:p>
        </p:txBody>
      </p:sp>
      <p:sp>
        <p:nvSpPr>
          <p:cNvPr id="16" name="Text 11"/>
          <p:cNvSpPr/>
          <p:nvPr/>
        </p:nvSpPr>
        <p:spPr>
          <a:xfrm>
            <a:off x="5989320" y="3474720"/>
            <a:ext cx="530352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An O(n²) filter is still O(n²). Look at the data, not just the renders.</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4416552"/>
            <a:ext cx="457200" cy="457200"/>
          </a:xfrm>
          <a:prstGeom prst="rect">
            <a:avLst/>
          </a:prstGeom>
        </p:spPr>
      </p:pic>
      <p:sp>
        <p:nvSpPr>
          <p:cNvPr id="19" name="Text 13"/>
          <p:cNvSpPr/>
          <p:nvPr/>
        </p:nvSpPr>
        <p:spPr>
          <a:xfrm>
            <a:off x="1554480" y="4343400"/>
            <a:ext cx="429768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 doesn't help with non-React work</a:t>
            </a:r>
            <a:endParaRPr lang="en-US" sz="1250" dirty="0"/>
          </a:p>
        </p:txBody>
      </p:sp>
      <p:sp>
        <p:nvSpPr>
          <p:cNvPr id="20" name="Text 14"/>
          <p:cNvSpPr/>
          <p:nvPr/>
        </p:nvSpPr>
        <p:spPr>
          <a:xfrm>
            <a:off x="5989320" y="4343400"/>
            <a:ext cx="530352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 200ms blocking request is still 200ms. Web Workers, Suspense, streaming still apply.</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3"/>
          <a:stretch>
            <a:fillRect/>
          </a:stretch>
        </p:blipFill>
        <p:spPr>
          <a:xfrm>
            <a:off x="960120" y="5285232"/>
            <a:ext cx="457200" cy="457200"/>
          </a:xfrm>
          <a:prstGeom prst="rect">
            <a:avLst/>
          </a:prstGeom>
        </p:spPr>
      </p:pic>
      <p:sp>
        <p:nvSpPr>
          <p:cNvPr id="23" name="Text 16"/>
          <p:cNvSpPr/>
          <p:nvPr/>
        </p:nvSpPr>
        <p:spPr>
          <a:xfrm>
            <a:off x="1554480" y="5212080"/>
            <a:ext cx="429768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 doesn't make a slow render fast</a:t>
            </a:r>
            <a:endParaRPr lang="en-US" sz="1250" dirty="0"/>
          </a:p>
        </p:txBody>
      </p:sp>
      <p:sp>
        <p:nvSpPr>
          <p:cNvPr id="24" name="Text 17"/>
          <p:cNvSpPr/>
          <p:nvPr/>
        </p:nvSpPr>
        <p:spPr>
          <a:xfrm>
            <a:off x="5989320" y="5212080"/>
            <a:ext cx="530352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If a single render is slow because the work is heavy, memoization caches it but the first run is the same speed.</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25</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Compiler eslint plugin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Tells you which components opted out of memoization. Treat its warnings as bugs.</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1554480"/>
          </a:xfrm>
          <a:prstGeom prst="rect">
            <a:avLst/>
          </a:prstGeom>
          <a:noFill/>
          <a:ln/>
        </p:spPr>
        <p:txBody>
          <a:bodyPr wrap="square" lIns="0" tIns="0" rIns="0" bIns="0" rtlCol="0" anchor="t"/>
          <a:lstStyle/>
          <a:p>
            <a:pPr marL="0" indent="0">
              <a:buNone/>
            </a:pPr>
            <a:r>
              <a:rPr lang="en-US" sz="1300" i="1" dirty="0">
                <a:solidFill>
                  <a:srgbClr val="6A9955"/>
                </a:solidFill>
                <a:latin typeface="Courier New" pitchFamily="34" charset="0"/>
                <a:ea typeface="Courier New" pitchFamily="34" charset="-122"/>
                <a:cs typeface="Courier New" pitchFamily="34" charset="-120"/>
              </a:rPr>
              <a:t>// .eslintrc.cjs</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module.exports = {</a:t>
            </a:r>
            <a:endParaRPr lang="en-US" sz="1300" dirty="0"/>
          </a:p>
          <a:p>
            <a:pPr marL="0" indent="0">
              <a:buNone/>
            </a:pPr>
            <a:r>
              <a:rPr lang="en-US" sz="1300" dirty="0">
                <a:solidFill>
                  <a:srgbClr val="C586C0"/>
                </a:solidFill>
                <a:latin typeface="Courier New" pitchFamily="34" charset="0"/>
                <a:ea typeface="Courier New" pitchFamily="34" charset="-122"/>
                <a:cs typeface="Courier New" pitchFamily="34" charset="-120"/>
              </a:rPr>
              <a:t>  plugins: [</a:t>
            </a:r>
            <a:r>
              <a:rPr lang="en-US" sz="1300" dirty="0">
                <a:solidFill>
                  <a:srgbClr val="9CDCFE"/>
                </a:solidFill>
                <a:latin typeface="Courier New" pitchFamily="34" charset="0"/>
                <a:ea typeface="Courier New" pitchFamily="34" charset="-122"/>
                <a:cs typeface="Courier New" pitchFamily="34" charset="-120"/>
              </a:rPr>
              <a:t>'react-compiler'</a:t>
            </a:r>
            <a:r>
              <a:rPr lang="en-US" sz="1300" dirty="0">
                <a:solidFill>
                  <a:srgbClr val="C586C0"/>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rules: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r>
              <a:rPr lang="en-US" sz="1300" dirty="0">
                <a:solidFill>
                  <a:srgbClr val="9CDCFE"/>
                </a:solidFill>
                <a:latin typeface="Courier New" pitchFamily="34" charset="0"/>
                <a:ea typeface="Courier New" pitchFamily="34" charset="-122"/>
                <a:cs typeface="Courier New" pitchFamily="34" charset="-120"/>
              </a:rPr>
              <a:t>'react-compiler/react-compiler'</a:t>
            </a:r>
            <a:r>
              <a:rPr lang="en-US" sz="1300" dirty="0">
                <a:solidFill>
                  <a:srgbClr val="C586C0"/>
                </a:solidFill>
                <a:latin typeface="Courier New" pitchFamily="34" charset="0"/>
                <a:ea typeface="Courier New" pitchFamily="34" charset="-122"/>
                <a:cs typeface="Courier New" pitchFamily="34" charset="-120"/>
              </a:rPr>
              <a:t>: </a:t>
            </a:r>
            <a:r>
              <a:rPr lang="en-US" sz="1300" dirty="0">
                <a:solidFill>
                  <a:srgbClr val="9CDCFE"/>
                </a:solidFill>
                <a:latin typeface="Courier New" pitchFamily="34" charset="0"/>
                <a:ea typeface="Courier New" pitchFamily="34" charset="-122"/>
                <a:cs typeface="Courier New" pitchFamily="34" charset="-120"/>
              </a:rPr>
              <a:t>'error'</a:t>
            </a: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777240" y="3657600"/>
            <a:ext cx="10607040" cy="36576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Common bail-out causes the lint will flag:</a:t>
            </a:r>
            <a:endParaRPr lang="en-US" sz="1300" dirty="0"/>
          </a:p>
        </p:txBody>
      </p:sp>
      <p:sp>
        <p:nvSpPr>
          <p:cNvPr id="8" name="Text 6"/>
          <p:cNvSpPr/>
          <p:nvPr/>
        </p:nvSpPr>
        <p:spPr>
          <a:xfrm>
            <a:off x="777240" y="4023360"/>
            <a:ext cx="10607040" cy="22860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Mutating values inside the render function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Calling functions with side effects during render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Using refs.current.value as if it were reactive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Conditional hook calls (always a violation, regardless of compiler)</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25</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manual memoization still earns its keep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Edge cases the Compiler won't reach. Reach for hand work only when the data says so.</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Truly expensive computations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Image processing, large CSV parses — useMemo prevents redundant work even with the Compiler enabled.</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Stable references for external libs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Some libraries (D3, charts) misbehave when their props change identity. useCallback gives you that stability.</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Components that opted out of the Compiler</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Legacy code with side effects in render. eslint plugin shows you which.</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Object/array deps in useEffect or useMemo</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you derive an object you pass as a dep, you may need useMemo even with the Compiler — depends on your code shape.</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25</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Code Splitting</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Don't ship code the user won't use. The bundle analyzer is your friend.</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React.lazy + Suspense — the basics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Defer loading a component until it's actually rendered.</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200" dirty="0">
                <a:solidFill>
                  <a:srgbClr val="C586C0"/>
                </a:solidFill>
                <a:latin typeface="Courier New" pitchFamily="34" charset="0"/>
                <a:ea typeface="Courier New" pitchFamily="34" charset="-122"/>
                <a:cs typeface="Courier New" pitchFamily="34" charset="-120"/>
              </a:rPr>
              <a:t>import { lazy, Suspense } from </a:t>
            </a:r>
            <a:r>
              <a:rPr lang="en-US" sz="1200" dirty="0">
                <a:solidFill>
                  <a:srgbClr val="9CDCFE"/>
                </a:solidFill>
                <a:latin typeface="Courier New" pitchFamily="34" charset="0"/>
                <a:ea typeface="Courier New" pitchFamily="34" charset="-122"/>
                <a:cs typeface="Courier New" pitchFamily="34" charset="-120"/>
              </a:rPr>
              <a:t>'react'</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const Settings = </a:t>
            </a:r>
            <a:r>
              <a:rPr lang="en-US" sz="1200" dirty="0">
                <a:solidFill>
                  <a:srgbClr val="DCDCAA"/>
                </a:solidFill>
                <a:latin typeface="Courier New" pitchFamily="34" charset="0"/>
                <a:ea typeface="Courier New" pitchFamily="34" charset="-122"/>
                <a:cs typeface="Courier New" pitchFamily="34" charset="-120"/>
              </a:rPr>
              <a:t>lazy</a:t>
            </a:r>
            <a:r>
              <a:rPr lang="en-US" sz="1200" dirty="0">
                <a:solidFill>
                  <a:srgbClr val="9CDCFE"/>
                </a:solidFill>
                <a:latin typeface="Courier New" pitchFamily="34" charset="0"/>
                <a:ea typeface="Courier New" pitchFamily="34" charset="-122"/>
                <a:cs typeface="Courier New" pitchFamily="34" charset="-120"/>
              </a:rPr>
              <a:t>(() =&gt; import('./Settings'</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function </a:t>
            </a:r>
            <a:r>
              <a:rPr lang="en-US" sz="1200" dirty="0">
                <a:solidFill>
                  <a:srgbClr val="DCDCAA"/>
                </a:solidFill>
                <a:latin typeface="Courier New" pitchFamily="34" charset="0"/>
                <a:ea typeface="Courier New" pitchFamily="34" charset="-122"/>
                <a:cs typeface="Courier New" pitchFamily="34" charset="-120"/>
              </a:rPr>
              <a:t>App</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[showSettings, setShowSettings] = </a:t>
            </a:r>
            <a:r>
              <a:rPr lang="en-US" sz="1200" dirty="0">
                <a:solidFill>
                  <a:srgbClr val="DCDCAA"/>
                </a:solidFill>
                <a:latin typeface="Courier New" pitchFamily="34" charset="0"/>
                <a:ea typeface="Courier New" pitchFamily="34" charset="-122"/>
                <a:cs typeface="Courier New" pitchFamily="34" charset="-120"/>
              </a:rPr>
              <a:t>useState</a:t>
            </a:r>
            <a:r>
              <a:rPr lang="en-US" sz="1200" dirty="0">
                <a:solidFill>
                  <a:srgbClr val="9CDCFE"/>
                </a:solidFill>
                <a:latin typeface="Courier New" pitchFamily="34" charset="0"/>
                <a:ea typeface="Courier New" pitchFamily="34" charset="-122"/>
                <a:cs typeface="Courier New" pitchFamily="34" charset="-120"/>
              </a:rPr>
              <a:t>(</a:t>
            </a:r>
            <a:r>
              <a:rPr lang="en-US" sz="1200" dirty="0">
                <a:solidFill>
                  <a:srgbClr val="C586C0"/>
                </a:solidFill>
                <a:latin typeface="Courier New" pitchFamily="34" charset="0"/>
                <a:ea typeface="Courier New" pitchFamily="34" charset="-122"/>
                <a:cs typeface="Courier New" pitchFamily="34" charset="-120"/>
              </a:rPr>
              <a:t>false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&lt;&gt;</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&lt;button onClick={() =&gt; setShowSettings(</a:t>
            </a:r>
            <a:r>
              <a:rPr lang="en-US" sz="1200" dirty="0">
                <a:solidFill>
                  <a:srgbClr val="C586C0"/>
                </a:solidFill>
                <a:latin typeface="Courier New" pitchFamily="34" charset="0"/>
                <a:ea typeface="Courier New" pitchFamily="34" charset="-122"/>
                <a:cs typeface="Courier New" pitchFamily="34" charset="-120"/>
              </a:rPr>
              <a:t>true</a:t>
            </a:r>
            <a:r>
              <a:rPr lang="en-US" sz="1200" dirty="0">
                <a:solidFill>
                  <a:srgbClr val="FFFFFF"/>
                </a:solidFill>
                <a:latin typeface="Courier New" pitchFamily="34" charset="0"/>
                <a:ea typeface="Courier New" pitchFamily="34" charset="-122"/>
                <a:cs typeface="Courier New" pitchFamily="34" charset="-120"/>
              </a:rPr>
              <a:t>)}&gt;Open settings&lt;/button&gt;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{showSettings &amp;&amp;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&lt;Suspense fallback={&lt;Spinner /&gt;}&gt;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&lt;Settings /&gt;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&lt;/Suspense&gt;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&lt;/&gt;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25</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Where code splitting actually wins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Frameworks split routes for free. Your job is to spot the components inside a route.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411480" cy="411480"/>
          </a:xfrm>
          <a:prstGeom prst="rect">
            <a:avLst/>
          </a:prstGeom>
        </p:spPr>
      </p:pic>
      <p:sp>
        <p:nvSpPr>
          <p:cNvPr id="7" name="Text 4"/>
          <p:cNvSpPr/>
          <p:nvPr/>
        </p:nvSpPr>
        <p:spPr>
          <a:xfrm>
            <a:off x="1508760" y="173736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Routes — usually automatic</a:t>
            </a:r>
            <a:endParaRPr lang="en-US" sz="1250" dirty="0"/>
          </a:p>
        </p:txBody>
      </p:sp>
      <p:sp>
        <p:nvSpPr>
          <p:cNvPr id="8" name="Text 5"/>
          <p:cNvSpPr/>
          <p:nvPr/>
        </p:nvSpPr>
        <p:spPr>
          <a:xfrm>
            <a:off x="5212080" y="173736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Next.js and RR v7 split per-route by default. Each page is its own chunk.</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679192"/>
            <a:ext cx="411480" cy="411480"/>
          </a:xfrm>
          <a:prstGeom prst="rect">
            <a:avLst/>
          </a:prstGeom>
        </p:spPr>
      </p:pic>
      <p:sp>
        <p:nvSpPr>
          <p:cNvPr id="11" name="Text 7"/>
          <p:cNvSpPr/>
          <p:nvPr/>
        </p:nvSpPr>
        <p:spPr>
          <a:xfrm>
            <a:off x="1508760" y="260604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Modal dialogs</a:t>
            </a:r>
            <a:endParaRPr lang="en-US" sz="1250" dirty="0"/>
          </a:p>
        </p:txBody>
      </p:sp>
      <p:sp>
        <p:nvSpPr>
          <p:cNvPr id="12" name="Text 8"/>
          <p:cNvSpPr/>
          <p:nvPr/>
        </p:nvSpPr>
        <p:spPr>
          <a:xfrm>
            <a:off x="5212080" y="260604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Open by user action, often heavy (rich-text editor, file picker). Lazy-load on first open.</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547872"/>
            <a:ext cx="411480" cy="411480"/>
          </a:xfrm>
          <a:prstGeom prst="rect">
            <a:avLst/>
          </a:prstGeom>
        </p:spPr>
      </p:pic>
      <p:sp>
        <p:nvSpPr>
          <p:cNvPr id="15" name="Text 10"/>
          <p:cNvSpPr/>
          <p:nvPr/>
        </p:nvSpPr>
        <p:spPr>
          <a:xfrm>
            <a:off x="1508760" y="347472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Admin or settings panels</a:t>
            </a:r>
            <a:endParaRPr lang="en-US" sz="1250" dirty="0"/>
          </a:p>
        </p:txBody>
      </p:sp>
      <p:sp>
        <p:nvSpPr>
          <p:cNvPr id="16" name="Text 11"/>
          <p:cNvSpPr/>
          <p:nvPr/>
        </p:nvSpPr>
        <p:spPr>
          <a:xfrm>
            <a:off x="5212080" y="347472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Most users never open them. Don't ship that JS in the main bundle.</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4416552"/>
            <a:ext cx="411480" cy="411480"/>
          </a:xfrm>
          <a:prstGeom prst="rect">
            <a:avLst/>
          </a:prstGeom>
        </p:spPr>
      </p:pic>
      <p:sp>
        <p:nvSpPr>
          <p:cNvPr id="19" name="Text 13"/>
          <p:cNvSpPr/>
          <p:nvPr/>
        </p:nvSpPr>
        <p:spPr>
          <a:xfrm>
            <a:off x="1508760" y="434340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Visualization libraries</a:t>
            </a:r>
            <a:endParaRPr lang="en-US" sz="1250" dirty="0"/>
          </a:p>
        </p:txBody>
      </p:sp>
      <p:sp>
        <p:nvSpPr>
          <p:cNvPr id="20" name="Text 14"/>
          <p:cNvSpPr/>
          <p:nvPr/>
        </p:nvSpPr>
        <p:spPr>
          <a:xfrm>
            <a:off x="5212080" y="434340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Chart.js, D3, Recharts can be 100KB+. Lazy-load the visualization, not the page.</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4"/>
          <a:stretch>
            <a:fillRect/>
          </a:stretch>
        </p:blipFill>
        <p:spPr>
          <a:xfrm>
            <a:off x="960120" y="5285232"/>
            <a:ext cx="411480" cy="411480"/>
          </a:xfrm>
          <a:prstGeom prst="rect">
            <a:avLst/>
          </a:prstGeom>
        </p:spPr>
      </p:pic>
      <p:sp>
        <p:nvSpPr>
          <p:cNvPr id="23" name="Text 16"/>
          <p:cNvSpPr/>
          <p:nvPr/>
        </p:nvSpPr>
        <p:spPr>
          <a:xfrm>
            <a:off x="1508760" y="521208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Tiny utilities</a:t>
            </a:r>
            <a:endParaRPr lang="en-US" sz="1250" dirty="0"/>
          </a:p>
        </p:txBody>
      </p:sp>
      <p:sp>
        <p:nvSpPr>
          <p:cNvPr id="24" name="Text 17"/>
          <p:cNvSpPr/>
          <p:nvPr/>
        </p:nvSpPr>
        <p:spPr>
          <a:xfrm>
            <a:off x="5212080" y="521208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Splitting a 2KB module costs more in network round-trips than it saves.</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25</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Beyond the Render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Sometimes the bottleneck isn't React — it's the work React is asking the browser to do.</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Virtualization — render only what's visible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Long lists are death. TanStack Virtual renders only the rows in view.</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840480"/>
          </a:xfrm>
          <a:prstGeom prst="rect">
            <a:avLst/>
          </a:prstGeom>
          <a:noFill/>
          <a:ln/>
        </p:spPr>
        <p:txBody>
          <a:bodyPr wrap="square" lIns="0" tIns="0" rIns="0" bIns="0" rtlCol="0" anchor="t"/>
          <a:lstStyle/>
          <a:p>
            <a:pPr marL="0" indent="0">
              <a:buNone/>
            </a:pPr>
            <a:r>
              <a:rPr lang="en-US" sz="1100" dirty="0">
                <a:solidFill>
                  <a:srgbClr val="C586C0"/>
                </a:solidFill>
                <a:latin typeface="Courier New" pitchFamily="34" charset="0"/>
                <a:ea typeface="Courier New" pitchFamily="34" charset="-122"/>
                <a:cs typeface="Courier New" pitchFamily="34" charset="-120"/>
              </a:rPr>
              <a:t>import { useVirtualizer } from </a:t>
            </a:r>
            <a:r>
              <a:rPr lang="en-US" sz="1100" dirty="0">
                <a:solidFill>
                  <a:srgbClr val="9CDCFE"/>
                </a:solidFill>
                <a:latin typeface="Courier New" pitchFamily="34" charset="0"/>
                <a:ea typeface="Courier New" pitchFamily="34" charset="-122"/>
                <a:cs typeface="Courier New" pitchFamily="34" charset="-120"/>
              </a:rPr>
              <a:t>'@tanstack/react-virtual'</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function </a:t>
            </a:r>
            <a:r>
              <a:rPr lang="en-US" sz="1100" dirty="0">
                <a:solidFill>
                  <a:srgbClr val="DCDCAA"/>
                </a:solidFill>
                <a:latin typeface="Courier New" pitchFamily="34" charset="0"/>
                <a:ea typeface="Courier New" pitchFamily="34" charset="-122"/>
                <a:cs typeface="Courier New" pitchFamily="34" charset="-120"/>
              </a:rPr>
              <a:t>BigList</a:t>
            </a:r>
            <a:r>
              <a:rPr lang="en-US" sz="1100" dirty="0">
                <a:solidFill>
                  <a:srgbClr val="FFFFFF"/>
                </a:solidFill>
                <a:latin typeface="Courier New" pitchFamily="34" charset="0"/>
                <a:ea typeface="Courier New" pitchFamily="34" charset="-122"/>
                <a:cs typeface="Courier New" pitchFamily="34" charset="-120"/>
              </a:rPr>
              <a:t>({ items }) {</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  const parentRef = </a:t>
            </a:r>
            <a:r>
              <a:rPr lang="en-US" sz="1100" dirty="0">
                <a:solidFill>
                  <a:srgbClr val="DCDCAA"/>
                </a:solidFill>
                <a:latin typeface="Courier New" pitchFamily="34" charset="0"/>
                <a:ea typeface="Courier New" pitchFamily="34" charset="-122"/>
                <a:cs typeface="Courier New" pitchFamily="34" charset="-120"/>
              </a:rPr>
              <a:t>useRef</a:t>
            </a:r>
            <a:r>
              <a:rPr lang="en-US" sz="1100" dirty="0">
                <a:solidFill>
                  <a:srgbClr val="9CDCFE"/>
                </a:solidFill>
                <a:latin typeface="Courier New" pitchFamily="34" charset="0"/>
                <a:ea typeface="Courier New" pitchFamily="34" charset="-122"/>
                <a:cs typeface="Courier New" pitchFamily="34" charset="-120"/>
              </a:rPr>
              <a:t>(</a:t>
            </a:r>
            <a:r>
              <a:rPr lang="en-US" sz="1100" dirty="0">
                <a:solidFill>
                  <a:srgbClr val="C586C0"/>
                </a:solidFill>
                <a:latin typeface="Courier New" pitchFamily="34" charset="0"/>
                <a:ea typeface="Courier New" pitchFamily="34" charset="-122"/>
                <a:cs typeface="Courier New" pitchFamily="34" charset="-120"/>
              </a:rPr>
              <a:t>null</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  const virtualizer = </a:t>
            </a:r>
            <a:r>
              <a:rPr lang="en-US" sz="1100" dirty="0">
                <a:solidFill>
                  <a:srgbClr val="DCDCAA"/>
                </a:solidFill>
                <a:latin typeface="Courier New" pitchFamily="34" charset="0"/>
                <a:ea typeface="Courier New" pitchFamily="34" charset="-122"/>
                <a:cs typeface="Courier New" pitchFamily="34" charset="-120"/>
              </a:rPr>
              <a:t>useVirtualizer</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count: items.length,</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getScrollElement: () =&gt; parentRef.current,</a:t>
            </a:r>
            <a:endParaRPr lang="en-US" sz="1100" dirty="0"/>
          </a:p>
          <a:p>
            <a:pPr marL="0" indent="0">
              <a:buNone/>
            </a:pPr>
            <a:r>
              <a:rPr lang="en-US" sz="1100" dirty="0">
                <a:solidFill>
                  <a:srgbClr val="DCDCAA"/>
                </a:solidFill>
                <a:latin typeface="Courier New" pitchFamily="34" charset="0"/>
                <a:ea typeface="Courier New" pitchFamily="34" charset="-122"/>
                <a:cs typeface="Courier New" pitchFamily="34" charset="-120"/>
              </a:rPr>
              <a:t>    estimateSize: () =&gt; </a:t>
            </a:r>
            <a:r>
              <a:rPr lang="en-US" sz="1100" dirty="0">
                <a:solidFill>
                  <a:srgbClr val="9CDCFE"/>
                </a:solidFill>
                <a:latin typeface="Courier New" pitchFamily="34" charset="0"/>
                <a:ea typeface="Courier New" pitchFamily="34" charset="-122"/>
                <a:cs typeface="Courier New" pitchFamily="34" charset="-120"/>
              </a:rPr>
              <a:t>44</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return (</a:t>
            </a:r>
            <a:endParaRPr lang="en-US" sz="1100" dirty="0"/>
          </a:p>
          <a:p>
            <a:pPr marL="0" indent="0">
              <a:buNone/>
            </a:pPr>
            <a:r>
              <a:rPr lang="en-US" sz="1100" dirty="0">
                <a:solidFill>
                  <a:srgbClr val="9CDCFE"/>
                </a:solidFill>
                <a:latin typeface="Courier New" pitchFamily="34" charset="0"/>
                <a:ea typeface="Courier New" pitchFamily="34" charset="-122"/>
                <a:cs typeface="Courier New" pitchFamily="34" charset="-120"/>
              </a:rPr>
              <a:t>    &lt;div ref={parentRef} style={{ height: 400, overflow: 'auto'</a:t>
            </a:r>
            <a:r>
              <a:rPr lang="en-US" sz="1100" dirty="0">
                <a:solidFill>
                  <a:srgbClr val="FFFFFF"/>
                </a:solidFill>
                <a:latin typeface="Courier New" pitchFamily="34" charset="0"/>
                <a:ea typeface="Courier New" pitchFamily="34" charset="-122"/>
                <a:cs typeface="Courier New" pitchFamily="34" charset="-120"/>
              </a:rPr>
              <a:t> }}&gt;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&lt;div style={{ height: virtualizer.getTotalSize() }}&gt;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{virtualizer.getVirtualItems().map(({ key, index, start }) =&gt;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&lt;Row key={key} data={items[index]} top={start} /&gt;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&lt;/div&gt;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&lt;/div&gt;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25</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Web Workers — off the main thread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a calculation locks the UI, move it to a worker. The main thread stays responsive.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Use a worker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 computation takes &gt;50ms and runs frequently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Parsing large JSON or CSV blobs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Image processing in JS (resize, filter)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Cryptography (hashing, encrypting client-side data)</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that drops INP below 200ms</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Don't reach for it when:</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work is fast (&lt;16ms) — overhead exceeds benefit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work needs DOM access (workers can't reach 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data round-trip dominates the work itself</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Server Components could do it instead — usually they should</a:t>
            </a:r>
            <a:endParaRPr lang="en-US" sz="125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Comlink (https://github.com/GoogleChromeLabs/comlink) makes worker messaging feel like async function calls. Strongly recommended over raw postMessage.</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25</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Throttling vs debouncing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Both limit how often a handler runs. They limit it differently.</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0B8D9"/>
                </a:solidFill>
                <a:latin typeface="Trebuchet MS" pitchFamily="34" charset="0"/>
                <a:ea typeface="Trebuchet MS" pitchFamily="34" charset="-122"/>
                <a:cs typeface="Trebuchet MS" pitchFamily="34" charset="-120"/>
              </a:rPr>
              <a:t>Throttle</a:t>
            </a:r>
            <a:endParaRPr lang="en-US" sz="1800" dirty="0"/>
          </a:p>
        </p:txBody>
      </p:sp>
      <p:sp>
        <p:nvSpPr>
          <p:cNvPr id="7" name="Text 5"/>
          <p:cNvSpPr/>
          <p:nvPr/>
        </p:nvSpPr>
        <p:spPr>
          <a:xfrm>
            <a:off x="960120" y="2468880"/>
            <a:ext cx="4937760" cy="45720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Run AT MOST every N ms.</a:t>
            </a:r>
            <a:endParaRPr lang="en-US" sz="1300" dirty="0"/>
          </a:p>
        </p:txBody>
      </p:sp>
      <p:sp>
        <p:nvSpPr>
          <p:cNvPr id="8" name="Text 6"/>
          <p:cNvSpPr/>
          <p:nvPr/>
        </p:nvSpPr>
        <p:spPr>
          <a:xfrm>
            <a:off x="960120" y="3063240"/>
            <a:ext cx="493776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 for continuous events you want sampled regularly</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Scroll handlers (sticky header, infinite scroll trigger)</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Mousemove handlers (drag tracking)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Resize handlers</a:t>
            </a:r>
            <a:endParaRPr lang="en-US" sz="1200" dirty="0"/>
          </a:p>
        </p:txBody>
      </p:sp>
      <p:sp>
        <p:nvSpPr>
          <p:cNvPr id="9" name="Shape 7"/>
          <p:cNvSpPr/>
          <p:nvPr/>
        </p:nvSpPr>
        <p:spPr>
          <a:xfrm>
            <a:off x="6355080" y="1691640"/>
            <a:ext cx="5029200" cy="429768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00B8D9"/>
                </a:solidFill>
                <a:latin typeface="Trebuchet MS" pitchFamily="34" charset="0"/>
                <a:ea typeface="Trebuchet MS" pitchFamily="34" charset="-122"/>
                <a:cs typeface="Trebuchet MS" pitchFamily="34" charset="-120"/>
              </a:rPr>
              <a:t>Debounce</a:t>
            </a:r>
            <a:endParaRPr lang="en-US" sz="1800" dirty="0"/>
          </a:p>
        </p:txBody>
      </p:sp>
      <p:sp>
        <p:nvSpPr>
          <p:cNvPr id="11" name="Text 9"/>
          <p:cNvSpPr/>
          <p:nvPr/>
        </p:nvSpPr>
        <p:spPr>
          <a:xfrm>
            <a:off x="6537960" y="2468880"/>
            <a:ext cx="4663440" cy="45720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Run ONCE after N ms of quiet.</a:t>
            </a:r>
            <a:endParaRPr lang="en-US" sz="1300" dirty="0"/>
          </a:p>
        </p:txBody>
      </p:sp>
      <p:sp>
        <p:nvSpPr>
          <p:cNvPr id="12" name="Text 10"/>
          <p:cNvSpPr/>
          <p:nvPr/>
        </p:nvSpPr>
        <p:spPr>
          <a:xfrm>
            <a:off x="6537960" y="3063240"/>
            <a:ext cx="46634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 when you only care about the final state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Search-as-you-type (fire after typing stops)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Auto-save (after the user stops editing)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Form validation (after the user pauses input)</a:t>
            </a:r>
            <a:endParaRPr lang="en-US" sz="12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25</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Putting it Together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A decision flow. AI mistakes. Then the lab.</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Performance decision flow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Five questions, in order.</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1856232"/>
            <a:ext cx="411480" cy="41148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185623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Did you measure?</a:t>
            </a:r>
            <a:endParaRPr lang="en-US" sz="1250" dirty="0"/>
          </a:p>
        </p:txBody>
      </p:sp>
      <p:sp>
        <p:nvSpPr>
          <p:cNvPr id="9" name="Text 7"/>
          <p:cNvSpPr/>
          <p:nvPr/>
        </p:nvSpPr>
        <p:spPr>
          <a:xfrm>
            <a:off x="5715000" y="1737360"/>
            <a:ext cx="5577840" cy="64008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If no — go measure. Profiler + Lighthouse first.</a:t>
            </a:r>
            <a:endParaRPr lang="en-US" sz="115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2724912"/>
            <a:ext cx="411480" cy="41148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272491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Is the bundle bloated?</a:t>
            </a:r>
            <a:endParaRPr lang="en-US" sz="1250" dirty="0"/>
          </a:p>
        </p:txBody>
      </p:sp>
      <p:sp>
        <p:nvSpPr>
          <p:cNvPr id="14" name="Text 12"/>
          <p:cNvSpPr/>
          <p:nvPr/>
        </p:nvSpPr>
        <p:spPr>
          <a:xfrm>
            <a:off x="5715000" y="2606040"/>
            <a:ext cx="5577840" cy="64008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Yes → code splitting. React.lazy + Suspense around big modules.</a:t>
            </a:r>
            <a:endParaRPr lang="en-US" sz="115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3593592"/>
            <a:ext cx="411480" cy="41148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35935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Is a single component re-rendering too much?</a:t>
            </a:r>
            <a:endParaRPr lang="en-US" sz="1250" dirty="0"/>
          </a:p>
        </p:txBody>
      </p:sp>
      <p:sp>
        <p:nvSpPr>
          <p:cNvPr id="19" name="Text 17"/>
          <p:cNvSpPr/>
          <p:nvPr/>
        </p:nvSpPr>
        <p:spPr>
          <a:xfrm>
            <a:off x="5715000" y="3474720"/>
            <a:ext cx="5577840" cy="64008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Profile says so → check the Compiler eslint output. Manual memo only if needed.</a:t>
            </a:r>
            <a:endParaRPr lang="en-US" sz="115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960120" y="4462272"/>
            <a:ext cx="411480" cy="411480"/>
          </a:xfrm>
          <a:prstGeom prst="ellipse">
            <a:avLst/>
          </a:prstGeom>
          <a:solidFill>
            <a:srgbClr val="00B8D9"/>
          </a:solidFill>
          <a:ln w="12700">
            <a:solidFill>
              <a:srgbClr val="00B8D9"/>
            </a:solidFill>
            <a:prstDash val="solid"/>
          </a:ln>
        </p:spPr>
        <p:txBody>
          <a:bodyPr/>
          <a:lstStyle/>
          <a:p>
            <a:endParaRPr lang="en-US"/>
          </a:p>
        </p:txBody>
      </p:sp>
      <p:sp>
        <p:nvSpPr>
          <p:cNvPr id="22" name="Text 20"/>
          <p:cNvSpPr/>
          <p:nvPr/>
        </p:nvSpPr>
        <p:spPr>
          <a:xfrm>
            <a:off x="960120" y="446227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Is the list long?</a:t>
            </a:r>
            <a:endParaRPr lang="en-US" sz="1250" dirty="0"/>
          </a:p>
        </p:txBody>
      </p:sp>
      <p:sp>
        <p:nvSpPr>
          <p:cNvPr id="24" name="Text 22"/>
          <p:cNvSpPr/>
          <p:nvPr/>
        </p:nvSpPr>
        <p:spPr>
          <a:xfrm>
            <a:off x="5715000" y="4343400"/>
            <a:ext cx="5577840" cy="64008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100+ items → virtualize. TanStack Virtual is the go-to.</a:t>
            </a:r>
            <a:endParaRPr lang="en-US" sz="115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960120" y="5330952"/>
            <a:ext cx="411480" cy="41148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960120" y="533095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Arial" pitchFamily="34" charset="0"/>
                <a:ea typeface="Arial" pitchFamily="34" charset="-122"/>
                <a:cs typeface="Arial" pitchFamily="34" charset="-120"/>
              </a:rPr>
              <a:t>Is a calculation blocking the main thread?</a:t>
            </a:r>
            <a:endParaRPr lang="en-US" sz="1250" dirty="0"/>
          </a:p>
        </p:txBody>
      </p:sp>
      <p:sp>
        <p:nvSpPr>
          <p:cNvPr id="29" name="Text 27"/>
          <p:cNvSpPr/>
          <p:nvPr/>
        </p:nvSpPr>
        <p:spPr>
          <a:xfrm>
            <a:off x="5715000" y="5212080"/>
            <a:ext cx="5577840" cy="64008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Yes → Web Worker. Or move to the server.</a:t>
            </a:r>
            <a:endParaRPr lang="en-US" sz="115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25</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mistakes in performance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look for when AI suggests an optimization.</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Adding useMemo/useCallback to every value (cargo-culted from 2024)</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React.memo wrapping every component, even ones with complex props</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useEffect for derived data — same mistake as Module 2</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Code splitting tiny utility modules — net regression</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Suggesting Web Workers for fast computations (overhead &gt; work)</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Optimizing without measuring first — the cardinal AI sin here</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25</a:t>
            </a:r>
            <a:endParaRPr lang="en-US" sz="9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7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Measure before you optimize. Profiler for component cost, Lighthouse for user experience.</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Enable the React Compiler. Most manual useMemo/useCallback/React.memo from 2024 becomes optional.</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Manual memoization still wins for truly expensive work and stable references for external libs.</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Code splitting wins on routes (free), modals, and visualization libraries — not on tiny utilities.</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Virtualize lists with more than ~100 items. Web Workers for &gt;50ms blocking work.</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Throttle for sampled continuous events; debounce for 'final value' events.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25</a:t>
            </a:r>
            <a:endParaRPr lang="en-US" sz="9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Profile the social-media app, identify bottlenecks, apply at least three optimizations.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400" b="1" dirty="0">
                <a:solidFill>
                  <a:srgbClr val="0F172A"/>
                </a:solidFill>
                <a:latin typeface="Trebuchet MS" pitchFamily="34" charset="0"/>
                <a:ea typeface="Trebuchet MS" pitchFamily="34" charset="-122"/>
                <a:cs typeface="Trebuchet MS" pitchFamily="34" charset="-120"/>
              </a:rPr>
              <a:t>Lab 6: Profile and Optimize</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75 minutes  ·  Hands-on  ·  Solution: solutions/lab-06-perf/</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Run the Profiler and Lighthouse to capture a baseline of the social-media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Identify the top three bottlenecks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Apply at least three different optimizations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Report before/after numbers (render time, bundle size, or Web Vitals)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a virtualized posts feed using TanStack Virtual</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25</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After the lab: Module 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Testing React apps in 2026 — Vitest, RTL, MSW, Playwright.</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Module 8 covers:</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Vitest as the test runner — fast, ESM-native, Jest-compatible API</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React Testing Library — query priorities, user-event, async patterns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MSW for API mocking — same mocks for tests and dev</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Playwright for end-to-end (overview)</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Evaluating AI-generated tests — behavior vs implementation</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25</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Where we are in Day 3</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Performance done. Testing and AI still to come.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1097280" y="192024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Day 3 plan:</a:t>
            </a:r>
            <a:endParaRPr lang="en-US" sz="1400" dirty="0"/>
          </a:p>
        </p:txBody>
      </p:sp>
      <p:sp>
        <p:nvSpPr>
          <p:cNvPr id="7" name="Text 5"/>
          <p:cNvSpPr/>
          <p:nvPr/>
        </p:nvSpPr>
        <p:spPr>
          <a:xfrm>
            <a:off x="1097280" y="2377440"/>
            <a:ext cx="10058400" cy="3383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in the Compiler era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from scratch + AI-generated test review</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Advanced React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 to end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concerns + wrap-up</a:t>
            </a:r>
            <a:endParaRPr lang="en-US" sz="12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7 — Performance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25</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8</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Testing React Apps in 2026</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Vitest, RTL, MSW, Playwright. And the AI-generated test review skill.</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60 minutes  ·  Lecture + demos  ·  Lab 7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2026 testing stack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Four tools, each at a different layer.</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92808"/>
            <a:ext cx="502920" cy="502920"/>
          </a:xfrm>
          <a:prstGeom prst="rect">
            <a:avLst/>
          </a:prstGeom>
        </p:spPr>
      </p:pic>
      <p:sp>
        <p:nvSpPr>
          <p:cNvPr id="7" name="Text 4"/>
          <p:cNvSpPr/>
          <p:nvPr/>
        </p:nvSpPr>
        <p:spPr>
          <a:xfrm>
            <a:off x="1691640" y="1783080"/>
            <a:ext cx="411480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Vitest</a:t>
            </a:r>
            <a:endParaRPr lang="en-US" sz="1600" dirty="0"/>
          </a:p>
        </p:txBody>
      </p:sp>
      <p:sp>
        <p:nvSpPr>
          <p:cNvPr id="8" name="Text 5"/>
          <p:cNvSpPr/>
          <p:nvPr/>
        </p:nvSpPr>
        <p:spPr>
          <a:xfrm>
            <a:off x="1691640" y="214884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The test runner. Fast, ESM-native, Jest-compatible API. Replaces Jest in new projects.</a:t>
            </a:r>
            <a:endParaRPr lang="en-US" sz="1200" dirty="0"/>
          </a:p>
        </p:txBody>
      </p:sp>
      <p:sp>
        <p:nvSpPr>
          <p:cNvPr id="9" name="Shape 6"/>
          <p:cNvSpPr/>
          <p:nvPr/>
        </p:nvSpPr>
        <p:spPr>
          <a:xfrm>
            <a:off x="777240" y="278892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990088"/>
            <a:ext cx="502920" cy="502920"/>
          </a:xfrm>
          <a:prstGeom prst="rect">
            <a:avLst/>
          </a:prstGeom>
        </p:spPr>
      </p:pic>
      <p:sp>
        <p:nvSpPr>
          <p:cNvPr id="11" name="Text 7"/>
          <p:cNvSpPr/>
          <p:nvPr/>
        </p:nvSpPr>
        <p:spPr>
          <a:xfrm>
            <a:off x="1691640" y="2880360"/>
            <a:ext cx="411480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React Testing Library</a:t>
            </a:r>
            <a:endParaRPr lang="en-US" sz="1600" dirty="0"/>
          </a:p>
        </p:txBody>
      </p:sp>
      <p:sp>
        <p:nvSpPr>
          <p:cNvPr id="12" name="Text 8"/>
          <p:cNvSpPr/>
          <p:nvPr/>
        </p:nvSpPr>
        <p:spPr>
          <a:xfrm>
            <a:off x="1691640" y="324612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The DOM-querying library. Forces you to test what users see, not what your components import.</a:t>
            </a:r>
            <a:endParaRPr lang="en-US" sz="1200" dirty="0"/>
          </a:p>
        </p:txBody>
      </p:sp>
      <p:sp>
        <p:nvSpPr>
          <p:cNvPr id="13" name="Shape 9"/>
          <p:cNvSpPr/>
          <p:nvPr/>
        </p:nvSpPr>
        <p:spPr>
          <a:xfrm>
            <a:off x="777240" y="388620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4087368"/>
            <a:ext cx="502920" cy="502920"/>
          </a:xfrm>
          <a:prstGeom prst="rect">
            <a:avLst/>
          </a:prstGeom>
        </p:spPr>
      </p:pic>
      <p:sp>
        <p:nvSpPr>
          <p:cNvPr id="15" name="Text 10"/>
          <p:cNvSpPr/>
          <p:nvPr/>
        </p:nvSpPr>
        <p:spPr>
          <a:xfrm>
            <a:off x="1691640" y="3977640"/>
            <a:ext cx="411480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MSW (Mock Service Worker)</a:t>
            </a:r>
            <a:endParaRPr lang="en-US" sz="1600" dirty="0"/>
          </a:p>
        </p:txBody>
      </p:sp>
      <p:sp>
        <p:nvSpPr>
          <p:cNvPr id="16" name="Text 11"/>
          <p:cNvSpPr/>
          <p:nvPr/>
        </p:nvSpPr>
        <p:spPr>
          <a:xfrm>
            <a:off x="1691640" y="434340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Intercepts network requests. Same mocks for tests and dev. No more mocking fetch by hand.</a:t>
            </a:r>
            <a:endParaRPr lang="en-US" sz="1200" dirty="0"/>
          </a:p>
        </p:txBody>
      </p:sp>
      <p:sp>
        <p:nvSpPr>
          <p:cNvPr id="17" name="Shape 12"/>
          <p:cNvSpPr/>
          <p:nvPr/>
        </p:nvSpPr>
        <p:spPr>
          <a:xfrm>
            <a:off x="777240" y="4983480"/>
            <a:ext cx="10607040" cy="91440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5184648"/>
            <a:ext cx="502920" cy="502920"/>
          </a:xfrm>
          <a:prstGeom prst="rect">
            <a:avLst/>
          </a:prstGeom>
        </p:spPr>
      </p:pic>
      <p:sp>
        <p:nvSpPr>
          <p:cNvPr id="19" name="Text 13"/>
          <p:cNvSpPr/>
          <p:nvPr/>
        </p:nvSpPr>
        <p:spPr>
          <a:xfrm>
            <a:off x="1691640" y="5074920"/>
            <a:ext cx="4114800" cy="36576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Playwright</a:t>
            </a:r>
            <a:endParaRPr lang="en-US" sz="1600" dirty="0"/>
          </a:p>
        </p:txBody>
      </p:sp>
      <p:sp>
        <p:nvSpPr>
          <p:cNvPr id="20" name="Text 14"/>
          <p:cNvSpPr/>
          <p:nvPr/>
        </p:nvSpPr>
        <p:spPr>
          <a:xfrm>
            <a:off x="1691640" y="5440680"/>
            <a:ext cx="9601200" cy="45720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End-to-end. Real browser, real user flows. The expensive layer — use sparingly.</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Vitest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The Jest-compatible runner for the Vite era.</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Why Vitest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Same API as Jest. Faster startup. ESM-native. Plays well with Vite.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411480" cy="411480"/>
          </a:xfrm>
          <a:prstGeom prst="rect">
            <a:avLst/>
          </a:prstGeom>
        </p:spPr>
      </p:pic>
      <p:sp>
        <p:nvSpPr>
          <p:cNvPr id="7" name="Text 4"/>
          <p:cNvSpPr/>
          <p:nvPr/>
        </p:nvSpPr>
        <p:spPr>
          <a:xfrm>
            <a:off x="1554480" y="173736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Jest-compatible expect, describe, it, vi.fn()</a:t>
            </a:r>
            <a:endParaRPr lang="en-US" sz="1250" dirty="0"/>
          </a:p>
        </p:txBody>
      </p:sp>
      <p:sp>
        <p:nvSpPr>
          <p:cNvPr id="8" name="Text 5"/>
          <p:cNvSpPr/>
          <p:nvPr/>
        </p:nvSpPr>
        <p:spPr>
          <a:xfrm>
            <a:off x="5212080" y="173736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Migrating from Jest is mostly removing config, not rewriting tests.</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679192"/>
            <a:ext cx="411480" cy="411480"/>
          </a:xfrm>
          <a:prstGeom prst="rect">
            <a:avLst/>
          </a:prstGeom>
        </p:spPr>
      </p:pic>
      <p:sp>
        <p:nvSpPr>
          <p:cNvPr id="11" name="Text 7"/>
          <p:cNvSpPr/>
          <p:nvPr/>
        </p:nvSpPr>
        <p:spPr>
          <a:xfrm>
            <a:off x="1554480" y="260604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ESM-native, no babel transform overhead</a:t>
            </a:r>
            <a:endParaRPr lang="en-US" sz="1250" dirty="0"/>
          </a:p>
        </p:txBody>
      </p:sp>
      <p:sp>
        <p:nvSpPr>
          <p:cNvPr id="12" name="Text 8"/>
          <p:cNvSpPr/>
          <p:nvPr/>
        </p:nvSpPr>
        <p:spPr>
          <a:xfrm>
            <a:off x="5212080" y="260604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Test startup measured in hundreds of ms, not seconds.</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547872"/>
            <a:ext cx="411480" cy="411480"/>
          </a:xfrm>
          <a:prstGeom prst="rect">
            <a:avLst/>
          </a:prstGeom>
        </p:spPr>
      </p:pic>
      <p:sp>
        <p:nvSpPr>
          <p:cNvPr id="15" name="Text 10"/>
          <p:cNvSpPr/>
          <p:nvPr/>
        </p:nvSpPr>
        <p:spPr>
          <a:xfrm>
            <a:off x="1554480" y="347472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Watch mode that's actually fast</a:t>
            </a:r>
            <a:endParaRPr lang="en-US" sz="1250" dirty="0"/>
          </a:p>
        </p:txBody>
      </p:sp>
      <p:sp>
        <p:nvSpPr>
          <p:cNvPr id="16" name="Text 11"/>
          <p:cNvSpPr/>
          <p:nvPr/>
        </p:nvSpPr>
        <p:spPr>
          <a:xfrm>
            <a:off x="5212080" y="347472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Re-runs only the affected tests on file change. Real TDD speed.</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4416552"/>
            <a:ext cx="411480" cy="411480"/>
          </a:xfrm>
          <a:prstGeom prst="rect">
            <a:avLst/>
          </a:prstGeom>
        </p:spPr>
      </p:pic>
      <p:sp>
        <p:nvSpPr>
          <p:cNvPr id="19" name="Text 13"/>
          <p:cNvSpPr/>
          <p:nvPr/>
        </p:nvSpPr>
        <p:spPr>
          <a:xfrm>
            <a:off x="1554480" y="434340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Built-in coverage via v8 (no Istanbul)</a:t>
            </a:r>
            <a:endParaRPr lang="en-US" sz="1250" dirty="0"/>
          </a:p>
        </p:txBody>
      </p:sp>
      <p:sp>
        <p:nvSpPr>
          <p:cNvPr id="20" name="Text 14"/>
          <p:cNvSpPr/>
          <p:nvPr/>
        </p:nvSpPr>
        <p:spPr>
          <a:xfrm>
            <a:off x="5212080" y="434340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Faster than Jest's coverage. JSON / HTML / lcov outputs supported.</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3"/>
          <a:stretch>
            <a:fillRect/>
          </a:stretch>
        </p:blipFill>
        <p:spPr>
          <a:xfrm>
            <a:off x="960120" y="5285232"/>
            <a:ext cx="411480" cy="411480"/>
          </a:xfrm>
          <a:prstGeom prst="rect">
            <a:avLst/>
          </a:prstGeom>
        </p:spPr>
      </p:pic>
      <p:sp>
        <p:nvSpPr>
          <p:cNvPr id="23" name="Text 16"/>
          <p:cNvSpPr/>
          <p:nvPr/>
        </p:nvSpPr>
        <p:spPr>
          <a:xfrm>
            <a:off x="1554480" y="5212080"/>
            <a:ext cx="36576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Shares your Vite config</a:t>
            </a:r>
            <a:endParaRPr lang="en-US" sz="1250" dirty="0"/>
          </a:p>
        </p:txBody>
      </p:sp>
      <p:sp>
        <p:nvSpPr>
          <p:cNvPr id="24" name="Text 17"/>
          <p:cNvSpPr/>
          <p:nvPr/>
        </p:nvSpPr>
        <p:spPr>
          <a:xfrm>
            <a:off x="5212080" y="5212080"/>
            <a:ext cx="61264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Path aliases, env vars, transformers — all reused from the app's Vite config.</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Vitest — setup and a first test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Two files. Done.</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5577840" cy="3931920"/>
          </a:xfrm>
          <a:prstGeom prst="rect">
            <a:avLst/>
          </a:prstGeom>
          <a:noFill/>
          <a:ln/>
        </p:spPr>
        <p:txBody>
          <a:bodyPr wrap="square" lIns="0" tIns="0" rIns="0" bIns="0" rtlCol="0" anchor="t"/>
          <a:lstStyle/>
          <a:p>
            <a:pPr marL="0" indent="0">
              <a:buNone/>
            </a:pPr>
            <a:r>
              <a:rPr lang="en-US" sz="1150" i="1" dirty="0">
                <a:solidFill>
                  <a:srgbClr val="6A9955"/>
                </a:solidFill>
                <a:latin typeface="Courier New" pitchFamily="34" charset="0"/>
                <a:ea typeface="Courier New" pitchFamily="34" charset="-122"/>
                <a:cs typeface="Courier New" pitchFamily="34" charset="-120"/>
              </a:rPr>
              <a:t>// vite.config.js</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import { defineConfig } from </a:t>
            </a:r>
            <a:r>
              <a:rPr lang="en-US" sz="1150" dirty="0">
                <a:solidFill>
                  <a:srgbClr val="9CDCFE"/>
                </a:solidFill>
                <a:latin typeface="Courier New" pitchFamily="34" charset="0"/>
                <a:ea typeface="Courier New" pitchFamily="34" charset="-122"/>
                <a:cs typeface="Courier New" pitchFamily="34" charset="-120"/>
              </a:rPr>
              <a:t>'vitest/config'</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import react from </a:t>
            </a:r>
            <a:r>
              <a:rPr lang="en-US" sz="1150" dirty="0">
                <a:solidFill>
                  <a:srgbClr val="9CDCFE"/>
                </a:solidFill>
                <a:latin typeface="Courier New" pitchFamily="34" charset="0"/>
                <a:ea typeface="Courier New" pitchFamily="34" charset="-122"/>
                <a:cs typeface="Courier New" pitchFamily="34" charset="-120"/>
              </a:rPr>
              <a:t>'@vitejs/plugin-react'</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export default </a:t>
            </a:r>
            <a:r>
              <a:rPr lang="en-US" sz="1150" dirty="0">
                <a:solidFill>
                  <a:srgbClr val="DCDCAA"/>
                </a:solidFill>
                <a:latin typeface="Courier New" pitchFamily="34" charset="0"/>
                <a:ea typeface="Courier New" pitchFamily="34" charset="-122"/>
                <a:cs typeface="Courier New" pitchFamily="34" charset="-120"/>
              </a:rPr>
              <a:t>defineConfig</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plugins: [</a:t>
            </a:r>
            <a:r>
              <a:rPr lang="en-US" sz="1150" dirty="0">
                <a:solidFill>
                  <a:srgbClr val="DCDCAA"/>
                </a:solidFill>
                <a:latin typeface="Courier New" pitchFamily="34" charset="0"/>
                <a:ea typeface="Courier New" pitchFamily="34" charset="-122"/>
                <a:cs typeface="Courier New" pitchFamily="34" charset="-120"/>
              </a:rPr>
              <a:t>react</a:t>
            </a:r>
            <a:r>
              <a:rPr lang="en-US" sz="1150" dirty="0">
                <a:solidFill>
                  <a:srgbClr val="9CDCFE"/>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test: {</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environment: 'jsdom'</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setupFiles: ['./src/test/setup.js'</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9CDCFE"/>
                </a:solidFill>
                <a:latin typeface="Courier New" pitchFamily="34" charset="0"/>
                <a:ea typeface="Courier New" pitchFamily="34" charset="-122"/>
                <a:cs typeface="Courier New" pitchFamily="34" charset="-120"/>
              </a:rPr>
              <a:t>    globals: </a:t>
            </a:r>
            <a:r>
              <a:rPr lang="en-US" sz="1150" dirty="0">
                <a:solidFill>
                  <a:srgbClr val="C586C0"/>
                </a:solidFill>
                <a:latin typeface="Courier New" pitchFamily="34" charset="0"/>
                <a:ea typeface="Courier New" pitchFamily="34" charset="-122"/>
                <a:cs typeface="Courier New" pitchFamily="34" charset="-120"/>
              </a:rPr>
              <a:t>true</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Shape 5"/>
          <p:cNvSpPr/>
          <p:nvPr/>
        </p:nvSpPr>
        <p:spPr>
          <a:xfrm>
            <a:off x="6949440" y="1554480"/>
            <a:ext cx="4434840" cy="4206240"/>
          </a:xfrm>
          <a:prstGeom prst="rect">
            <a:avLst/>
          </a:prstGeom>
          <a:solidFill>
            <a:srgbClr val="1E2A47"/>
          </a:solidFill>
          <a:ln w="12700">
            <a:solidFill>
              <a:srgbClr val="1E2A47"/>
            </a:solidFill>
            <a:prstDash val="solid"/>
          </a:ln>
        </p:spPr>
        <p:txBody>
          <a:bodyPr/>
          <a:lstStyle/>
          <a:p>
            <a:endParaRPr lang="en-US"/>
          </a:p>
        </p:txBody>
      </p:sp>
      <p:sp>
        <p:nvSpPr>
          <p:cNvPr id="8" name="Text 6"/>
          <p:cNvSpPr/>
          <p:nvPr/>
        </p:nvSpPr>
        <p:spPr>
          <a:xfrm>
            <a:off x="7132320" y="1691640"/>
            <a:ext cx="4069080" cy="3931920"/>
          </a:xfrm>
          <a:prstGeom prst="rect">
            <a:avLst/>
          </a:prstGeom>
          <a:noFill/>
          <a:ln/>
        </p:spPr>
        <p:txBody>
          <a:bodyPr wrap="square" lIns="0" tIns="0" rIns="0" bIns="0" rtlCol="0" anchor="t"/>
          <a:lstStyle/>
          <a:p>
            <a:pPr marL="0" indent="0">
              <a:buNone/>
            </a:pPr>
            <a:r>
              <a:rPr lang="en-US" sz="1100" i="1" dirty="0">
                <a:solidFill>
                  <a:srgbClr val="6A9955"/>
                </a:solidFill>
                <a:latin typeface="Courier New" pitchFamily="34" charset="0"/>
                <a:ea typeface="Courier New" pitchFamily="34" charset="-122"/>
                <a:cs typeface="Courier New" pitchFamily="34" charset="-120"/>
              </a:rPr>
              <a:t>// src/sum.test.js</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import { sum } from </a:t>
            </a:r>
            <a:r>
              <a:rPr lang="en-US" sz="1100" dirty="0">
                <a:solidFill>
                  <a:srgbClr val="9CDCFE"/>
                </a:solidFill>
                <a:latin typeface="Courier New" pitchFamily="34" charset="0"/>
                <a:ea typeface="Courier New" pitchFamily="34" charset="-122"/>
                <a:cs typeface="Courier New" pitchFamily="34" charset="-120"/>
              </a:rPr>
              <a:t>'./sum'</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dirty="0">
                <a:solidFill>
                  <a:srgbClr val="DCDCAA"/>
                </a:solidFill>
                <a:latin typeface="Courier New" pitchFamily="34" charset="0"/>
                <a:ea typeface="Courier New" pitchFamily="34" charset="-122"/>
                <a:cs typeface="Courier New" pitchFamily="34" charset="-120"/>
              </a:rPr>
              <a:t>describe</a:t>
            </a:r>
            <a:r>
              <a:rPr lang="en-US" sz="1100" dirty="0">
                <a:solidFill>
                  <a:srgbClr val="9CDCFE"/>
                </a:solidFill>
                <a:latin typeface="Courier New" pitchFamily="34" charset="0"/>
                <a:ea typeface="Courier New" pitchFamily="34" charset="-122"/>
                <a:cs typeface="Courier New" pitchFamily="34" charset="-120"/>
              </a:rPr>
              <a:t>('sum'</a:t>
            </a:r>
            <a:r>
              <a:rPr lang="en-US" sz="1100" dirty="0">
                <a:solidFill>
                  <a:srgbClr val="FFFFFF"/>
                </a:solidFill>
                <a:latin typeface="Courier New" pitchFamily="34" charset="0"/>
                <a:ea typeface="Courier New" pitchFamily="34" charset="-122"/>
                <a:cs typeface="Courier New" pitchFamily="34" charset="-120"/>
              </a:rPr>
              <a:t>, () =&gt; {</a:t>
            </a:r>
            <a:endParaRPr lang="en-US" sz="1100" dirty="0"/>
          </a:p>
          <a:p>
            <a:pPr marL="0" indent="0">
              <a:buNone/>
            </a:pPr>
            <a:r>
              <a:rPr lang="en-US" sz="1100" dirty="0">
                <a:solidFill>
                  <a:srgbClr val="DCDCAA"/>
                </a:solidFill>
                <a:latin typeface="Courier New" pitchFamily="34" charset="0"/>
                <a:ea typeface="Courier New" pitchFamily="34" charset="-122"/>
                <a:cs typeface="Courier New" pitchFamily="34" charset="-120"/>
              </a:rPr>
              <a:t>  it</a:t>
            </a:r>
            <a:r>
              <a:rPr lang="en-US" sz="1100" dirty="0">
                <a:solidFill>
                  <a:srgbClr val="9CDCFE"/>
                </a:solidFill>
                <a:latin typeface="Courier New" pitchFamily="34" charset="0"/>
                <a:ea typeface="Courier New" pitchFamily="34" charset="-122"/>
                <a:cs typeface="Courier New" pitchFamily="34" charset="-120"/>
              </a:rPr>
              <a:t>('adds two numbers'</a:t>
            </a:r>
            <a:r>
              <a:rPr lang="en-US" sz="1100" dirty="0">
                <a:solidFill>
                  <a:srgbClr val="FFFFFF"/>
                </a:solidFill>
                <a:latin typeface="Courier New" pitchFamily="34" charset="0"/>
                <a:ea typeface="Courier New" pitchFamily="34" charset="-122"/>
                <a:cs typeface="Courier New" pitchFamily="34" charset="-120"/>
              </a:rPr>
              <a:t>, () =&gt; {</a:t>
            </a:r>
            <a:endParaRPr lang="en-US" sz="1100" dirty="0"/>
          </a:p>
          <a:p>
            <a:pPr marL="0" indent="0">
              <a:buNone/>
            </a:pPr>
            <a:r>
              <a:rPr lang="en-US" sz="1100" dirty="0">
                <a:solidFill>
                  <a:srgbClr val="DCDCAA"/>
                </a:solidFill>
                <a:latin typeface="Courier New" pitchFamily="34" charset="0"/>
                <a:ea typeface="Courier New" pitchFamily="34" charset="-122"/>
                <a:cs typeface="Courier New" pitchFamily="34" charset="-120"/>
              </a:rPr>
              <a:t>    expect</a:t>
            </a:r>
            <a:r>
              <a:rPr lang="en-US" sz="1100" dirty="0">
                <a:solidFill>
                  <a:srgbClr val="FFFFFF"/>
                </a:solidFill>
                <a:latin typeface="Courier New" pitchFamily="34" charset="0"/>
                <a:ea typeface="Courier New" pitchFamily="34" charset="-122"/>
                <a:cs typeface="Courier New" pitchFamily="34" charset="-120"/>
              </a:rPr>
              <a:t>(sum(1, 2)).toBe(3);</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run: npx vitest</a:t>
            </a:r>
            <a:endParaRPr lang="en-US" sz="11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6">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React Testing Library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Test what users see. Forget about implementation details.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RTL philosophy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your test breaks every time you refactor without changing behavior, your test is wrong.</a:t>
            </a:r>
            <a:endParaRPr lang="en-US" sz="1400" dirty="0"/>
          </a:p>
        </p:txBody>
      </p:sp>
      <p:sp>
        <p:nvSpPr>
          <p:cNvPr id="5" name="Shape 3"/>
          <p:cNvSpPr/>
          <p:nvPr/>
        </p:nvSpPr>
        <p:spPr>
          <a:xfrm>
            <a:off x="777240" y="1691640"/>
            <a:ext cx="10607040" cy="137160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960120" y="1691640"/>
            <a:ext cx="10424160" cy="1371600"/>
          </a:xfrm>
          <a:prstGeom prst="rect">
            <a:avLst/>
          </a:prstGeom>
          <a:noFill/>
          <a:ln/>
        </p:spPr>
        <p:txBody>
          <a:bodyPr wrap="square" lIns="0" tIns="0" rIns="0" bIns="0" rtlCol="0" anchor="ctr"/>
          <a:lstStyle/>
          <a:p>
            <a:pPr marL="0" indent="0" algn="ctr">
              <a:buNone/>
            </a:pPr>
            <a:r>
              <a:rPr lang="en-US" sz="1700" i="1" dirty="0">
                <a:solidFill>
                  <a:srgbClr val="0F172A"/>
                </a:solidFill>
                <a:latin typeface="Arial" pitchFamily="34" charset="0"/>
                <a:ea typeface="Arial" pitchFamily="34" charset="-122"/>
                <a:cs typeface="Arial" pitchFamily="34" charset="-120"/>
              </a:rPr>
              <a:t>"The more your tests resemble the way your software is used, the more confidence they can give you."</a:t>
            </a:r>
            <a:endParaRPr lang="en-US" sz="1700" dirty="0"/>
          </a:p>
        </p:txBody>
      </p:sp>
      <p:sp>
        <p:nvSpPr>
          <p:cNvPr id="7" name="Text 5"/>
          <p:cNvSpPr/>
          <p:nvPr/>
        </p:nvSpPr>
        <p:spPr>
          <a:xfrm>
            <a:off x="960120" y="2743200"/>
            <a:ext cx="10424160" cy="365760"/>
          </a:xfrm>
          <a:prstGeom prst="rect">
            <a:avLst/>
          </a:prstGeom>
          <a:noFill/>
          <a:ln/>
        </p:spPr>
        <p:txBody>
          <a:bodyPr wrap="square" lIns="0" tIns="0" rIns="0" bIns="0" rtlCol="0" anchor="ctr"/>
          <a:lstStyle/>
          <a:p>
            <a:pPr marL="0" indent="0" algn="ctr">
              <a:buNone/>
            </a:pPr>
            <a:r>
              <a:rPr lang="en-US" sz="1200" i="1" dirty="0">
                <a:solidFill>
                  <a:srgbClr val="475569"/>
                </a:solidFill>
                <a:latin typeface="Arial" pitchFamily="34" charset="0"/>
                <a:ea typeface="Arial" pitchFamily="34" charset="-122"/>
                <a:cs typeface="Arial" pitchFamily="34" charset="-120"/>
              </a:rPr>
              <a:t>— Kent C. Dodds, RTL author</a:t>
            </a:r>
            <a:endParaRPr lang="en-US" sz="1200" dirty="0"/>
          </a:p>
        </p:txBody>
      </p:sp>
      <p:sp>
        <p:nvSpPr>
          <p:cNvPr id="8" name="Text 6"/>
          <p:cNvSpPr/>
          <p:nvPr/>
        </p:nvSpPr>
        <p:spPr>
          <a:xfrm>
            <a:off x="777240" y="3383280"/>
            <a:ext cx="106070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Practical implications</a:t>
            </a:r>
            <a:endParaRPr lang="en-US" sz="1400" dirty="0"/>
          </a:p>
        </p:txBody>
      </p:sp>
      <p:sp>
        <p:nvSpPr>
          <p:cNvPr id="9" name="Text 7"/>
          <p:cNvSpPr/>
          <p:nvPr/>
        </p:nvSpPr>
        <p:spPr>
          <a:xfrm>
            <a:off x="777240" y="3749040"/>
            <a:ext cx="1060704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Query by ROLE first, then by accessible name, label, or text — not by class names or test IDs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Simulate USER actions (user-event), not DOM events (fireEvent)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Assert on what the user can perceive — visible text, focused element, navigation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Don't test that a useState was called or that a callback received a specific argument</a:t>
            </a:r>
            <a:endParaRPr lang="en-US" sz="1250" dirty="0"/>
          </a:p>
        </p:txBody>
      </p:sp>
      <p:sp>
        <p:nvSpPr>
          <p:cNvPr id="10"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1"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Query priority hierarchy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Use the highest-priority query that fits. The lower you go, the brittler the test.</a:t>
            </a:r>
            <a:endParaRPr lang="en-US" sz="1400" dirty="0"/>
          </a:p>
        </p:txBody>
      </p:sp>
      <p:sp>
        <p:nvSpPr>
          <p:cNvPr id="5" name="Shape 3"/>
          <p:cNvSpPr/>
          <p:nvPr/>
        </p:nvSpPr>
        <p:spPr>
          <a:xfrm>
            <a:off x="777240" y="1691640"/>
            <a:ext cx="10607040" cy="566928"/>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14400" y="1837944"/>
            <a:ext cx="292608" cy="292608"/>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14400" y="183794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1</a:t>
            </a:r>
            <a:endParaRPr lang="en-US" sz="1100" dirty="0"/>
          </a:p>
        </p:txBody>
      </p:sp>
      <p:sp>
        <p:nvSpPr>
          <p:cNvPr id="8" name="Text 6"/>
          <p:cNvSpPr/>
          <p:nvPr/>
        </p:nvSpPr>
        <p:spPr>
          <a:xfrm>
            <a:off x="1325880" y="173736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getByRole</a:t>
            </a:r>
            <a:endParaRPr lang="en-US" sz="1200" dirty="0"/>
          </a:p>
        </p:txBody>
      </p:sp>
      <p:sp>
        <p:nvSpPr>
          <p:cNvPr id="9" name="Text 7"/>
          <p:cNvSpPr/>
          <p:nvPr/>
        </p:nvSpPr>
        <p:spPr>
          <a:xfrm>
            <a:off x="4572000" y="173736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Accessible to everyone, including screen readers. Almost always the right answer.</a:t>
            </a:r>
            <a:endParaRPr lang="en-US" sz="1100" dirty="0"/>
          </a:p>
        </p:txBody>
      </p:sp>
      <p:sp>
        <p:nvSpPr>
          <p:cNvPr id="10" name="Shape 8"/>
          <p:cNvSpPr/>
          <p:nvPr/>
        </p:nvSpPr>
        <p:spPr>
          <a:xfrm>
            <a:off x="777240" y="2331720"/>
            <a:ext cx="10607040" cy="566928"/>
          </a:xfrm>
          <a:prstGeom prst="rect">
            <a:avLst/>
          </a:prstGeom>
          <a:solidFill>
            <a:srgbClr val="F8FAFC"/>
          </a:solidFill>
          <a:ln w="12700">
            <a:solidFill>
              <a:srgbClr val="E2E8F0"/>
            </a:solidFill>
            <a:prstDash val="solid"/>
          </a:ln>
        </p:spPr>
        <p:txBody>
          <a:bodyPr/>
          <a:lstStyle/>
          <a:p>
            <a:endParaRPr lang="en-US"/>
          </a:p>
        </p:txBody>
      </p:sp>
      <p:sp>
        <p:nvSpPr>
          <p:cNvPr id="11" name="Shape 9"/>
          <p:cNvSpPr/>
          <p:nvPr/>
        </p:nvSpPr>
        <p:spPr>
          <a:xfrm>
            <a:off x="914400" y="2478024"/>
            <a:ext cx="292608" cy="292608"/>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14400" y="247802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2</a:t>
            </a:r>
            <a:endParaRPr lang="en-US" sz="1100" dirty="0"/>
          </a:p>
        </p:txBody>
      </p:sp>
      <p:sp>
        <p:nvSpPr>
          <p:cNvPr id="13" name="Text 11"/>
          <p:cNvSpPr/>
          <p:nvPr/>
        </p:nvSpPr>
        <p:spPr>
          <a:xfrm>
            <a:off x="1325880" y="237744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getByLabelText</a:t>
            </a:r>
            <a:endParaRPr lang="en-US" sz="1200" dirty="0"/>
          </a:p>
        </p:txBody>
      </p:sp>
      <p:sp>
        <p:nvSpPr>
          <p:cNvPr id="14" name="Text 12"/>
          <p:cNvSpPr/>
          <p:nvPr/>
        </p:nvSpPr>
        <p:spPr>
          <a:xfrm>
            <a:off x="4572000" y="237744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Form fields. Labels carry semantic meaning.</a:t>
            </a:r>
            <a:endParaRPr lang="en-US" sz="1100" dirty="0"/>
          </a:p>
        </p:txBody>
      </p:sp>
      <p:sp>
        <p:nvSpPr>
          <p:cNvPr id="15" name="Shape 13"/>
          <p:cNvSpPr/>
          <p:nvPr/>
        </p:nvSpPr>
        <p:spPr>
          <a:xfrm>
            <a:off x="777240" y="2971800"/>
            <a:ext cx="10607040" cy="566928"/>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14400" y="3118104"/>
            <a:ext cx="292608" cy="292608"/>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14400" y="311810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3</a:t>
            </a:r>
            <a:endParaRPr lang="en-US" sz="1100" dirty="0"/>
          </a:p>
        </p:txBody>
      </p:sp>
      <p:sp>
        <p:nvSpPr>
          <p:cNvPr id="18" name="Text 16"/>
          <p:cNvSpPr/>
          <p:nvPr/>
        </p:nvSpPr>
        <p:spPr>
          <a:xfrm>
            <a:off x="1325880" y="301752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getByPlaceholderText</a:t>
            </a:r>
            <a:endParaRPr lang="en-US" sz="1200" dirty="0"/>
          </a:p>
        </p:txBody>
      </p:sp>
      <p:sp>
        <p:nvSpPr>
          <p:cNvPr id="19" name="Text 17"/>
          <p:cNvSpPr/>
          <p:nvPr/>
        </p:nvSpPr>
        <p:spPr>
          <a:xfrm>
            <a:off x="4572000" y="301752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Fallback for inputs without a proper label. Worse than 2 — fix the label instead.</a:t>
            </a:r>
            <a:endParaRPr lang="en-US" sz="1100" dirty="0"/>
          </a:p>
        </p:txBody>
      </p:sp>
      <p:sp>
        <p:nvSpPr>
          <p:cNvPr id="20" name="Shape 18"/>
          <p:cNvSpPr/>
          <p:nvPr/>
        </p:nvSpPr>
        <p:spPr>
          <a:xfrm>
            <a:off x="777240" y="3611880"/>
            <a:ext cx="10607040" cy="566928"/>
          </a:xfrm>
          <a:prstGeom prst="rect">
            <a:avLst/>
          </a:prstGeom>
          <a:solidFill>
            <a:srgbClr val="F8FAFC"/>
          </a:solidFill>
          <a:ln w="12700">
            <a:solidFill>
              <a:srgbClr val="E2E8F0"/>
            </a:solidFill>
            <a:prstDash val="solid"/>
          </a:ln>
        </p:spPr>
        <p:txBody>
          <a:bodyPr/>
          <a:lstStyle/>
          <a:p>
            <a:endParaRPr lang="en-US"/>
          </a:p>
        </p:txBody>
      </p:sp>
      <p:sp>
        <p:nvSpPr>
          <p:cNvPr id="21" name="Shape 19"/>
          <p:cNvSpPr/>
          <p:nvPr/>
        </p:nvSpPr>
        <p:spPr>
          <a:xfrm>
            <a:off x="914400" y="3758184"/>
            <a:ext cx="292608" cy="292608"/>
          </a:xfrm>
          <a:prstGeom prst="ellipse">
            <a:avLst/>
          </a:prstGeom>
          <a:solidFill>
            <a:srgbClr val="00B8D9"/>
          </a:solidFill>
          <a:ln w="12700">
            <a:solidFill>
              <a:srgbClr val="00B8D9"/>
            </a:solidFill>
            <a:prstDash val="solid"/>
          </a:ln>
        </p:spPr>
        <p:txBody>
          <a:bodyPr/>
          <a:lstStyle/>
          <a:p>
            <a:endParaRPr lang="en-US"/>
          </a:p>
        </p:txBody>
      </p:sp>
      <p:sp>
        <p:nvSpPr>
          <p:cNvPr id="22" name="Text 20"/>
          <p:cNvSpPr/>
          <p:nvPr/>
        </p:nvSpPr>
        <p:spPr>
          <a:xfrm>
            <a:off x="914400" y="375818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4</a:t>
            </a:r>
            <a:endParaRPr lang="en-US" sz="1100" dirty="0"/>
          </a:p>
        </p:txBody>
      </p:sp>
      <p:sp>
        <p:nvSpPr>
          <p:cNvPr id="23" name="Text 21"/>
          <p:cNvSpPr/>
          <p:nvPr/>
        </p:nvSpPr>
        <p:spPr>
          <a:xfrm>
            <a:off x="1325880" y="365760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getByText</a:t>
            </a:r>
            <a:endParaRPr lang="en-US" sz="1200" dirty="0"/>
          </a:p>
        </p:txBody>
      </p:sp>
      <p:sp>
        <p:nvSpPr>
          <p:cNvPr id="24" name="Text 22"/>
          <p:cNvSpPr/>
          <p:nvPr/>
        </p:nvSpPr>
        <p:spPr>
          <a:xfrm>
            <a:off x="4572000" y="365760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Non-interactive content. Use sparingly — text changes more than roles.</a:t>
            </a:r>
            <a:endParaRPr lang="en-US" sz="1100" dirty="0"/>
          </a:p>
        </p:txBody>
      </p:sp>
      <p:sp>
        <p:nvSpPr>
          <p:cNvPr id="25" name="Shape 23"/>
          <p:cNvSpPr/>
          <p:nvPr/>
        </p:nvSpPr>
        <p:spPr>
          <a:xfrm>
            <a:off x="777240" y="4251960"/>
            <a:ext cx="10607040" cy="566928"/>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914400" y="4398264"/>
            <a:ext cx="292608" cy="292608"/>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914400" y="439826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5</a:t>
            </a:r>
            <a:endParaRPr lang="en-US" sz="1100" dirty="0"/>
          </a:p>
        </p:txBody>
      </p:sp>
      <p:sp>
        <p:nvSpPr>
          <p:cNvPr id="28" name="Text 26"/>
          <p:cNvSpPr/>
          <p:nvPr/>
        </p:nvSpPr>
        <p:spPr>
          <a:xfrm>
            <a:off x="1325880" y="429768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getByDisplayValue</a:t>
            </a:r>
            <a:endParaRPr lang="en-US" sz="1200" dirty="0"/>
          </a:p>
        </p:txBody>
      </p:sp>
      <p:sp>
        <p:nvSpPr>
          <p:cNvPr id="29" name="Text 27"/>
          <p:cNvSpPr/>
          <p:nvPr/>
        </p:nvSpPr>
        <p:spPr>
          <a:xfrm>
            <a:off x="4572000" y="429768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The current value of an input. Useful in form-driven tests.</a:t>
            </a:r>
            <a:endParaRPr lang="en-US" sz="1100" dirty="0"/>
          </a:p>
        </p:txBody>
      </p:sp>
      <p:sp>
        <p:nvSpPr>
          <p:cNvPr id="30" name="Shape 28"/>
          <p:cNvSpPr/>
          <p:nvPr/>
        </p:nvSpPr>
        <p:spPr>
          <a:xfrm>
            <a:off x="777240" y="4892040"/>
            <a:ext cx="10607040" cy="566928"/>
          </a:xfrm>
          <a:prstGeom prst="rect">
            <a:avLst/>
          </a:prstGeom>
          <a:solidFill>
            <a:srgbClr val="F8FAFC"/>
          </a:solidFill>
          <a:ln w="12700">
            <a:solidFill>
              <a:srgbClr val="E2E8F0"/>
            </a:solidFill>
            <a:prstDash val="solid"/>
          </a:ln>
        </p:spPr>
        <p:txBody>
          <a:bodyPr/>
          <a:lstStyle/>
          <a:p>
            <a:endParaRPr lang="en-US"/>
          </a:p>
        </p:txBody>
      </p:sp>
      <p:sp>
        <p:nvSpPr>
          <p:cNvPr id="31" name="Shape 29"/>
          <p:cNvSpPr/>
          <p:nvPr/>
        </p:nvSpPr>
        <p:spPr>
          <a:xfrm>
            <a:off x="914400" y="5038344"/>
            <a:ext cx="292608" cy="292608"/>
          </a:xfrm>
          <a:prstGeom prst="ellipse">
            <a:avLst/>
          </a:prstGeom>
          <a:solidFill>
            <a:srgbClr val="00B8D9"/>
          </a:solidFill>
          <a:ln w="12700">
            <a:solidFill>
              <a:srgbClr val="00B8D9"/>
            </a:solidFill>
            <a:prstDash val="solid"/>
          </a:ln>
        </p:spPr>
        <p:txBody>
          <a:bodyPr/>
          <a:lstStyle/>
          <a:p>
            <a:endParaRPr lang="en-US"/>
          </a:p>
        </p:txBody>
      </p:sp>
      <p:sp>
        <p:nvSpPr>
          <p:cNvPr id="32" name="Text 30"/>
          <p:cNvSpPr/>
          <p:nvPr/>
        </p:nvSpPr>
        <p:spPr>
          <a:xfrm>
            <a:off x="914400" y="503834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6</a:t>
            </a:r>
            <a:endParaRPr lang="en-US" sz="1100" dirty="0"/>
          </a:p>
        </p:txBody>
      </p:sp>
      <p:sp>
        <p:nvSpPr>
          <p:cNvPr id="33" name="Text 31"/>
          <p:cNvSpPr/>
          <p:nvPr/>
        </p:nvSpPr>
        <p:spPr>
          <a:xfrm>
            <a:off x="1325880" y="493776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getByAltText, getByTitle</a:t>
            </a:r>
            <a:endParaRPr lang="en-US" sz="1200" dirty="0"/>
          </a:p>
        </p:txBody>
      </p:sp>
      <p:sp>
        <p:nvSpPr>
          <p:cNvPr id="34" name="Text 32"/>
          <p:cNvSpPr/>
          <p:nvPr/>
        </p:nvSpPr>
        <p:spPr>
          <a:xfrm>
            <a:off x="4572000" y="493776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Images, abbreviations. Tied to accessible attributes.</a:t>
            </a:r>
            <a:endParaRPr lang="en-US" sz="1100" dirty="0"/>
          </a:p>
        </p:txBody>
      </p:sp>
      <p:sp>
        <p:nvSpPr>
          <p:cNvPr id="35" name="Shape 33"/>
          <p:cNvSpPr/>
          <p:nvPr/>
        </p:nvSpPr>
        <p:spPr>
          <a:xfrm>
            <a:off x="777240" y="5532120"/>
            <a:ext cx="10607040" cy="566928"/>
          </a:xfrm>
          <a:prstGeom prst="rect">
            <a:avLst/>
          </a:prstGeom>
          <a:solidFill>
            <a:srgbClr val="FFFFFF"/>
          </a:solidFill>
          <a:ln w="12700">
            <a:solidFill>
              <a:srgbClr val="E2E8F0"/>
            </a:solidFill>
            <a:prstDash val="solid"/>
          </a:ln>
        </p:spPr>
        <p:txBody>
          <a:bodyPr/>
          <a:lstStyle/>
          <a:p>
            <a:endParaRPr lang="en-US"/>
          </a:p>
        </p:txBody>
      </p:sp>
      <p:sp>
        <p:nvSpPr>
          <p:cNvPr id="36" name="Shape 34"/>
          <p:cNvSpPr/>
          <p:nvPr/>
        </p:nvSpPr>
        <p:spPr>
          <a:xfrm>
            <a:off x="914400" y="5678424"/>
            <a:ext cx="292608" cy="292608"/>
          </a:xfrm>
          <a:prstGeom prst="ellipse">
            <a:avLst/>
          </a:prstGeom>
          <a:solidFill>
            <a:srgbClr val="00B8D9"/>
          </a:solidFill>
          <a:ln w="12700">
            <a:solidFill>
              <a:srgbClr val="00B8D9"/>
            </a:solidFill>
            <a:prstDash val="solid"/>
          </a:ln>
        </p:spPr>
        <p:txBody>
          <a:bodyPr/>
          <a:lstStyle/>
          <a:p>
            <a:endParaRPr lang="en-US"/>
          </a:p>
        </p:txBody>
      </p:sp>
      <p:sp>
        <p:nvSpPr>
          <p:cNvPr id="37" name="Text 35"/>
          <p:cNvSpPr/>
          <p:nvPr/>
        </p:nvSpPr>
        <p:spPr>
          <a:xfrm>
            <a:off x="914400" y="5678424"/>
            <a:ext cx="292608"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Trebuchet MS" pitchFamily="34" charset="0"/>
                <a:ea typeface="Trebuchet MS" pitchFamily="34" charset="-122"/>
                <a:cs typeface="Trebuchet MS" pitchFamily="34" charset="-120"/>
              </a:rPr>
              <a:t>7</a:t>
            </a:r>
            <a:endParaRPr lang="en-US" sz="1100" dirty="0"/>
          </a:p>
        </p:txBody>
      </p:sp>
      <p:sp>
        <p:nvSpPr>
          <p:cNvPr id="38" name="Text 36"/>
          <p:cNvSpPr/>
          <p:nvPr/>
        </p:nvSpPr>
        <p:spPr>
          <a:xfrm>
            <a:off x="1325880" y="5577840"/>
            <a:ext cx="3200400" cy="502920"/>
          </a:xfrm>
          <a:prstGeom prst="rect">
            <a:avLst/>
          </a:prstGeom>
          <a:noFill/>
          <a:ln/>
        </p:spPr>
        <p:txBody>
          <a:bodyPr wrap="square" lIns="0" tIns="0" rIns="0" bIns="0" rtlCol="0" anchor="ctr"/>
          <a:lstStyle/>
          <a:p>
            <a:pPr marL="0" indent="0">
              <a:buNone/>
            </a:pPr>
            <a:r>
              <a:rPr lang="en-US" sz="1200" b="1" dirty="0">
                <a:solidFill>
                  <a:srgbClr val="0F172A"/>
                </a:solidFill>
                <a:latin typeface="Courier New" pitchFamily="34" charset="0"/>
                <a:ea typeface="Courier New" pitchFamily="34" charset="-122"/>
                <a:cs typeface="Courier New" pitchFamily="34" charset="-120"/>
              </a:rPr>
              <a:t>getByTestId</a:t>
            </a:r>
            <a:endParaRPr lang="en-US" sz="1200" dirty="0"/>
          </a:p>
        </p:txBody>
      </p:sp>
      <p:sp>
        <p:nvSpPr>
          <p:cNvPr id="39" name="Text 37"/>
          <p:cNvSpPr/>
          <p:nvPr/>
        </p:nvSpPr>
        <p:spPr>
          <a:xfrm>
            <a:off x="4572000" y="5577840"/>
            <a:ext cx="6766560" cy="502920"/>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Last resort. Treat as code smell — usually means the UI lacks accessibility metadata.</a:t>
            </a:r>
            <a:endParaRPr lang="en-US" sz="1100" dirty="0"/>
          </a:p>
        </p:txBody>
      </p:sp>
      <p:sp>
        <p:nvSpPr>
          <p:cNvPr id="40" name="Text 3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41" name="Text 3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user-event vs fireEvent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Both type characters into a field. Only one simulates what the user actually does.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97706"/>
                </a:solidFill>
                <a:latin typeface="Trebuchet MS" pitchFamily="34" charset="0"/>
                <a:ea typeface="Trebuchet MS" pitchFamily="34" charset="-122"/>
                <a:cs typeface="Trebuchet MS" pitchFamily="34" charset="-120"/>
              </a:rPr>
              <a:t>fireEvent — low-level</a:t>
            </a:r>
            <a:endParaRPr lang="en-US" sz="1300" dirty="0"/>
          </a:p>
        </p:txBody>
      </p:sp>
      <p:sp>
        <p:nvSpPr>
          <p:cNvPr id="6" name="Shape 4"/>
          <p:cNvSpPr/>
          <p:nvPr/>
        </p:nvSpPr>
        <p:spPr>
          <a:xfrm>
            <a:off x="777240" y="1920240"/>
            <a:ext cx="5349240" cy="22860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2011680"/>
          </a:xfrm>
          <a:prstGeom prst="rect">
            <a:avLst/>
          </a:prstGeom>
          <a:noFill/>
          <a:ln/>
        </p:spPr>
        <p:txBody>
          <a:bodyPr wrap="square" lIns="0" tIns="0" rIns="0" bIns="0" rtlCol="0" anchor="t"/>
          <a:lstStyle/>
          <a:p>
            <a:pPr marL="0" indent="0">
              <a:buNone/>
            </a:pPr>
            <a:r>
              <a:rPr lang="en-US" sz="1100" dirty="0">
                <a:solidFill>
                  <a:srgbClr val="C586C0"/>
                </a:solidFill>
                <a:latin typeface="Courier New" pitchFamily="34" charset="0"/>
                <a:ea typeface="Courier New" pitchFamily="34" charset="-122"/>
                <a:cs typeface="Courier New" pitchFamily="34" charset="-120"/>
              </a:rPr>
              <a:t>import { fireEvent } from </a:t>
            </a:r>
            <a:r>
              <a:rPr lang="en-US" sz="1100" dirty="0">
                <a:solidFill>
                  <a:srgbClr val="9CDCFE"/>
                </a:solidFill>
                <a:latin typeface="Courier New" pitchFamily="34" charset="0"/>
                <a:ea typeface="Courier New" pitchFamily="34" charset="-122"/>
                <a:cs typeface="Courier New" pitchFamily="34" charset="-120"/>
              </a:rPr>
              <a:t>'@testing-library/react'</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dirty="0">
                <a:solidFill>
                  <a:srgbClr val="DCDCAA"/>
                </a:solidFill>
                <a:latin typeface="Courier New" pitchFamily="34" charset="0"/>
                <a:ea typeface="Courier New" pitchFamily="34" charset="-122"/>
                <a:cs typeface="Courier New" pitchFamily="34" charset="-120"/>
              </a:rPr>
              <a:t>fireEvent</a:t>
            </a:r>
            <a:r>
              <a:rPr lang="en-US" sz="1100" dirty="0">
                <a:solidFill>
                  <a:srgbClr val="FFFFFF"/>
                </a:solidFill>
                <a:latin typeface="Courier New" pitchFamily="34" charset="0"/>
                <a:ea typeface="Courier New" pitchFamily="34" charset="-122"/>
                <a:cs typeface="Courier New" pitchFamily="34" charset="-120"/>
              </a:rPr>
              <a:t>.change(input, {</a:t>
            </a:r>
            <a:endParaRPr lang="en-US" sz="1100" dirty="0"/>
          </a:p>
          <a:p>
            <a:pPr marL="0" indent="0">
              <a:buNone/>
            </a:pPr>
            <a:r>
              <a:rPr lang="en-US" sz="1100" dirty="0">
                <a:solidFill>
                  <a:srgbClr val="9CDCFE"/>
                </a:solidFill>
                <a:latin typeface="Courier New" pitchFamily="34" charset="0"/>
                <a:ea typeface="Courier New" pitchFamily="34" charset="-122"/>
                <a:cs typeface="Courier New" pitchFamily="34" charset="-120"/>
              </a:rPr>
              <a:t>  target: { value: 'hello'</a:t>
            </a: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fires one synthetic event</a:t>
            </a:r>
            <a:endParaRPr lang="en-US" sz="1100" dirty="0"/>
          </a:p>
        </p:txBody>
      </p:sp>
      <p:sp>
        <p:nvSpPr>
          <p:cNvPr id="8" name="Text 6"/>
          <p:cNvSpPr/>
          <p:nvPr/>
        </p:nvSpPr>
        <p:spPr>
          <a:xfrm>
            <a:off x="777240" y="4297680"/>
            <a:ext cx="5349240" cy="45720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Skips: focus, keypress, key validation, paste handling.</a:t>
            </a:r>
            <a:endParaRPr lang="en-US" sz="1150" dirty="0"/>
          </a:p>
        </p:txBody>
      </p:sp>
      <p:sp>
        <p:nvSpPr>
          <p:cNvPr id="9" name="Text 7"/>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user-event — high-level</a:t>
            </a:r>
            <a:endParaRPr lang="en-US" sz="1300" dirty="0"/>
          </a:p>
        </p:txBody>
      </p:sp>
      <p:sp>
        <p:nvSpPr>
          <p:cNvPr id="10" name="Shape 8"/>
          <p:cNvSpPr/>
          <p:nvPr/>
        </p:nvSpPr>
        <p:spPr>
          <a:xfrm>
            <a:off x="6355080" y="1920240"/>
            <a:ext cx="5029200" cy="2286000"/>
          </a:xfrm>
          <a:prstGeom prst="rect">
            <a:avLst/>
          </a:prstGeom>
          <a:solidFill>
            <a:srgbClr val="1E2A47"/>
          </a:solidFill>
          <a:ln w="12700">
            <a:solidFill>
              <a:srgbClr val="1E2A47"/>
            </a:solidFill>
            <a:prstDash val="solid"/>
          </a:ln>
        </p:spPr>
        <p:txBody>
          <a:bodyPr/>
          <a:lstStyle/>
          <a:p>
            <a:endParaRPr lang="en-US"/>
          </a:p>
        </p:txBody>
      </p:sp>
      <p:sp>
        <p:nvSpPr>
          <p:cNvPr id="11" name="Text 9"/>
          <p:cNvSpPr/>
          <p:nvPr/>
        </p:nvSpPr>
        <p:spPr>
          <a:xfrm>
            <a:off x="6537960" y="2057400"/>
            <a:ext cx="4663440" cy="2011680"/>
          </a:xfrm>
          <a:prstGeom prst="rect">
            <a:avLst/>
          </a:prstGeom>
          <a:noFill/>
          <a:ln/>
        </p:spPr>
        <p:txBody>
          <a:bodyPr wrap="square" lIns="0" tIns="0" rIns="0" bIns="0" rtlCol="0" anchor="t"/>
          <a:lstStyle/>
          <a:p>
            <a:pPr marL="0" indent="0">
              <a:buNone/>
            </a:pPr>
            <a:r>
              <a:rPr lang="en-US" sz="1100" dirty="0">
                <a:solidFill>
                  <a:srgbClr val="C586C0"/>
                </a:solidFill>
                <a:latin typeface="Courier New" pitchFamily="34" charset="0"/>
                <a:ea typeface="Courier New" pitchFamily="34" charset="-122"/>
                <a:cs typeface="Courier New" pitchFamily="34" charset="-120"/>
              </a:rPr>
              <a:t>import userEvent from </a:t>
            </a:r>
            <a:r>
              <a:rPr lang="en-US" sz="1100" dirty="0">
                <a:solidFill>
                  <a:srgbClr val="9CDCFE"/>
                </a:solidFill>
                <a:latin typeface="Courier New" pitchFamily="34" charset="0"/>
                <a:ea typeface="Courier New" pitchFamily="34" charset="-122"/>
                <a:cs typeface="Courier New" pitchFamily="34" charset="-120"/>
              </a:rPr>
              <a:t>'@testing-library/user-event'</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const user = </a:t>
            </a:r>
            <a:r>
              <a:rPr lang="en-US" sz="1100" dirty="0">
                <a:solidFill>
                  <a:srgbClr val="DCDCAA"/>
                </a:solidFill>
                <a:latin typeface="Courier New" pitchFamily="34" charset="0"/>
                <a:ea typeface="Courier New" pitchFamily="34" charset="-122"/>
                <a:cs typeface="Courier New" pitchFamily="34" charset="-120"/>
              </a:rPr>
              <a:t>userEvent</a:t>
            </a:r>
            <a:r>
              <a:rPr lang="en-US" sz="1100" dirty="0">
                <a:solidFill>
                  <a:srgbClr val="FFFFFF"/>
                </a:solidFill>
                <a:latin typeface="Courier New" pitchFamily="34" charset="0"/>
                <a:ea typeface="Courier New" pitchFamily="34" charset="-122"/>
                <a:cs typeface="Courier New" pitchFamily="34" charset="-120"/>
              </a:rPr>
              <a:t>.setup();</a:t>
            </a:r>
            <a:endParaRPr lang="en-US" sz="1100" dirty="0"/>
          </a:p>
          <a:p>
            <a:pPr marL="0" indent="0">
              <a:buNone/>
            </a:pPr>
            <a:r>
              <a:rPr lang="en-US" sz="1100" dirty="0">
                <a:solidFill>
                  <a:srgbClr val="C586C0"/>
                </a:solidFill>
                <a:latin typeface="Courier New" pitchFamily="34" charset="0"/>
                <a:ea typeface="Courier New" pitchFamily="34" charset="-122"/>
                <a:cs typeface="Courier New" pitchFamily="34" charset="-120"/>
              </a:rPr>
              <a:t>await user.type(input, </a:t>
            </a:r>
            <a:r>
              <a:rPr lang="en-US" sz="1100" dirty="0">
                <a:solidFill>
                  <a:srgbClr val="9CDCFE"/>
                </a:solidFill>
                <a:latin typeface="Courier New" pitchFamily="34" charset="0"/>
                <a:ea typeface="Courier New" pitchFamily="34" charset="-122"/>
                <a:cs typeface="Courier New" pitchFamily="34" charset="-120"/>
              </a:rPr>
              <a:t>'hello'</a:t>
            </a: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fires focus, keydown, keypress, keyup,</a:t>
            </a:r>
            <a:endParaRPr lang="en-US" sz="1100" dirty="0"/>
          </a:p>
          <a:p>
            <a:pPr marL="0" indent="0">
              <a:buNone/>
            </a:pPr>
            <a:r>
              <a:rPr lang="en-US" sz="1100" i="1" dirty="0">
                <a:solidFill>
                  <a:srgbClr val="6A9955"/>
                </a:solidFill>
                <a:latin typeface="Courier New" pitchFamily="34" charset="0"/>
                <a:ea typeface="Courier New" pitchFamily="34" charset="-122"/>
                <a:cs typeface="Courier New" pitchFamily="34" charset="-120"/>
              </a:rPr>
              <a:t>// input, change — for each character</a:t>
            </a:r>
            <a:endParaRPr lang="en-US" sz="1100" dirty="0"/>
          </a:p>
        </p:txBody>
      </p:sp>
      <p:sp>
        <p:nvSpPr>
          <p:cNvPr id="12" name="Text 10"/>
          <p:cNvSpPr/>
          <p:nvPr/>
        </p:nvSpPr>
        <p:spPr>
          <a:xfrm>
            <a:off x="6355080" y="4297680"/>
            <a:ext cx="5029200" cy="457200"/>
          </a:xfrm>
          <a:prstGeom prst="rect">
            <a:avLst/>
          </a:prstGeom>
          <a:noFill/>
          <a:ln/>
        </p:spPr>
        <p:txBody>
          <a:bodyPr wrap="square" lIns="0" tIns="0" rIns="0" bIns="0" rtlCol="0" anchor="ctr"/>
          <a:lstStyle/>
          <a:p>
            <a:pPr marL="0" indent="0">
              <a:buNone/>
            </a:pPr>
            <a:r>
              <a:rPr lang="en-US" sz="1150" i="1" dirty="0">
                <a:solidFill>
                  <a:srgbClr val="475569"/>
                </a:solidFill>
                <a:latin typeface="Arial" pitchFamily="34" charset="0"/>
                <a:ea typeface="Arial" pitchFamily="34" charset="-122"/>
                <a:cs typeface="Arial" pitchFamily="34" charset="-120"/>
              </a:rPr>
              <a:t>Catches: missing key handlers, paste handlers, IME input, more.</a:t>
            </a:r>
            <a:endParaRPr lang="en-US" sz="1150" dirty="0"/>
          </a:p>
        </p:txBody>
      </p:sp>
      <p:sp>
        <p:nvSpPr>
          <p:cNvPr id="13" name="Shape 11"/>
          <p:cNvSpPr/>
          <p:nvPr/>
        </p:nvSpPr>
        <p:spPr>
          <a:xfrm>
            <a:off x="777240" y="502920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14"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5" name="Text 12"/>
          <p:cNvSpPr/>
          <p:nvPr/>
        </p:nvSpPr>
        <p:spPr>
          <a:xfrm>
            <a:off x="1691640" y="5074920"/>
            <a:ext cx="9601200" cy="100584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Default to user-event. Reach for fireEvent only when user-event can't simulate the action (rare in practice).</a:t>
            </a:r>
            <a:endParaRPr lang="en-US" sz="1300" dirty="0"/>
          </a:p>
        </p:txBody>
      </p:sp>
      <p:sp>
        <p:nvSpPr>
          <p:cNvPr id="16" name="Text 1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7" name="Text 1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27</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Async patterns — find vs waitFor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Most modern UI is async. Use the right primitive for the wait.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findBy: returns a promise that resolves when an element appears</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const post = await </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.findByRole(</a:t>
            </a:r>
            <a:r>
              <a:rPr lang="en-US" sz="1400" dirty="0">
                <a:solidFill>
                  <a:srgbClr val="9CDCFE"/>
                </a:solidFill>
                <a:latin typeface="Courier New" pitchFamily="34" charset="0"/>
                <a:ea typeface="Courier New" pitchFamily="34" charset="-122"/>
                <a:cs typeface="Courier New" pitchFamily="34" charset="-120"/>
              </a:rPr>
              <a:t>'article'</a:t>
            </a:r>
            <a:r>
              <a:rPr lang="en-US" sz="1400" dirty="0">
                <a:solidFill>
                  <a:srgbClr val="DCDCAA"/>
                </a:solidFill>
                <a:latin typeface="Courier New" pitchFamily="34" charset="0"/>
                <a:ea typeface="Courier New" pitchFamily="34" charset="-122"/>
                <a:cs typeface="Courier New" pitchFamily="34" charset="-120"/>
              </a:rPr>
              <a:t>, { name: </a:t>
            </a:r>
            <a:r>
              <a:rPr lang="en-US" sz="1400" dirty="0">
                <a:solidFill>
                  <a:srgbClr val="9CDCFE"/>
                </a:solidFill>
                <a:latin typeface="Courier New" pitchFamily="34" charset="0"/>
                <a:ea typeface="Courier New" pitchFamily="34" charset="-122"/>
                <a:cs typeface="Courier New" pitchFamily="34" charset="-120"/>
              </a:rPr>
              <a:t>/welcome/i</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waitFor: re-runs the assertion until it passes (or times out)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await </a:t>
            </a:r>
            <a:r>
              <a:rPr lang="en-US" sz="1400" dirty="0">
                <a:solidFill>
                  <a:srgbClr val="DCDCAA"/>
                </a:solidFill>
                <a:latin typeface="Courier New" pitchFamily="34" charset="0"/>
                <a:ea typeface="Courier New" pitchFamily="34" charset="-122"/>
                <a:cs typeface="Courier New" pitchFamily="34" charset="-120"/>
              </a:rPr>
              <a:t>waitFor</a:t>
            </a:r>
            <a:r>
              <a:rPr lang="en-US" sz="1400" dirty="0">
                <a:solidFill>
                  <a:srgbClr val="FFFFFF"/>
                </a:solidFill>
                <a:latin typeface="Courier New" pitchFamily="34" charset="0"/>
                <a:ea typeface="Courier New" pitchFamily="34" charset="-122"/>
                <a:cs typeface="Courier New" pitchFamily="34" charset="-120"/>
              </a:rPr>
              <a:t>(()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expect</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.getByText(</a:t>
            </a:r>
            <a:r>
              <a:rPr lang="en-US" sz="1400" dirty="0">
                <a:solidFill>
                  <a:srgbClr val="9CDCFE"/>
                </a:solidFill>
                <a:latin typeface="Courier New" pitchFamily="34" charset="0"/>
                <a:ea typeface="Courier New" pitchFamily="34" charset="-122"/>
                <a:cs typeface="Courier New" pitchFamily="34" charset="-120"/>
              </a:rPr>
              <a:t>/loading/i</a:t>
            </a:r>
            <a:r>
              <a:rPr lang="en-US" sz="1400" dirty="0">
                <a:solidFill>
                  <a:srgbClr val="FFFFFF"/>
                </a:solidFill>
                <a:latin typeface="Courier New" pitchFamily="34" charset="0"/>
                <a:ea typeface="Courier New" pitchFamily="34" charset="-122"/>
                <a:cs typeface="Courier New" pitchFamily="34" charset="-120"/>
              </a:rPr>
              <a:t>)).not.toBeInTheDocument();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waitForElementToBeRemoved: when something disappears</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await </a:t>
            </a:r>
            <a:r>
              <a:rPr lang="en-US" sz="1400" dirty="0">
                <a:solidFill>
                  <a:srgbClr val="DCDCAA"/>
                </a:solidFill>
                <a:latin typeface="Courier New" pitchFamily="34" charset="0"/>
                <a:ea typeface="Courier New" pitchFamily="34" charset="-122"/>
                <a:cs typeface="Courier New" pitchFamily="34" charset="-120"/>
              </a:rPr>
              <a:t>waitForElementToBeRemoved</a:t>
            </a:r>
            <a:r>
              <a:rPr lang="en-US" sz="1400" dirty="0">
                <a:solidFill>
                  <a:srgbClr val="9CDCFE"/>
                </a:solidFill>
                <a:latin typeface="Courier New" pitchFamily="34" charset="0"/>
                <a:ea typeface="Courier New" pitchFamily="34" charset="-122"/>
                <a:cs typeface="Courier New" pitchFamily="34" charset="-120"/>
              </a:rPr>
              <a:t>(() =&gt; screen</a:t>
            </a:r>
            <a:r>
              <a:rPr lang="en-US" sz="1400" dirty="0">
                <a:solidFill>
                  <a:srgbClr val="DCDCAA"/>
                </a:solidFill>
                <a:latin typeface="Courier New" pitchFamily="34" charset="0"/>
                <a:ea typeface="Courier New" pitchFamily="34" charset="-122"/>
                <a:cs typeface="Courier New" pitchFamily="34" charset="-120"/>
              </a:rPr>
              <a:t>.queryByText(</a:t>
            </a:r>
            <a:r>
              <a:rPr lang="en-US" sz="1400" dirty="0">
                <a:solidFill>
                  <a:srgbClr val="9CDCFE"/>
                </a:solidFill>
                <a:latin typeface="Courier New" pitchFamily="34" charset="0"/>
                <a:ea typeface="Courier New" pitchFamily="34" charset="-122"/>
                <a:cs typeface="Courier New" pitchFamily="34" charset="-120"/>
              </a:rPr>
              <a:t>/loading/i</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AVOID: arbitrary timeouts</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await new Promise(</a:t>
            </a:r>
            <a:r>
              <a:rPr lang="en-US" sz="1400" dirty="0">
                <a:solidFill>
                  <a:srgbClr val="9CDCFE"/>
                </a:solidFill>
                <a:latin typeface="Courier New" pitchFamily="34" charset="0"/>
                <a:ea typeface="Courier New" pitchFamily="34" charset="-122"/>
                <a:cs typeface="Courier New" pitchFamily="34" charset="-120"/>
              </a:rPr>
              <a:t>r</a:t>
            </a:r>
            <a:r>
              <a:rPr lang="en-US" sz="1400" dirty="0">
                <a:solidFill>
                  <a:srgbClr val="DCDCAA"/>
                </a:solidFill>
                <a:latin typeface="Courier New" pitchFamily="34" charset="0"/>
                <a:ea typeface="Courier New" pitchFamily="34" charset="-122"/>
                <a:cs typeface="Courier New" pitchFamily="34" charset="-120"/>
              </a:rPr>
              <a:t> =&gt; setTimeout(r, 1000)); </a:t>
            </a:r>
            <a:r>
              <a:rPr lang="en-US" sz="1400" i="1" dirty="0">
                <a:solidFill>
                  <a:srgbClr val="6A9955"/>
                </a:solidFill>
                <a:latin typeface="Courier New" pitchFamily="34" charset="0"/>
                <a:ea typeface="Courier New" pitchFamily="34" charset="-122"/>
                <a:cs typeface="Courier New" pitchFamily="34" charset="-120"/>
              </a:rPr>
              <a:t>// flaky</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 complete RTL example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Test the form's behavior, not its internals.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400" dirty="0">
                <a:solidFill>
                  <a:srgbClr val="C586C0"/>
                </a:solidFill>
                <a:latin typeface="Courier New" pitchFamily="34" charset="0"/>
                <a:ea typeface="Courier New" pitchFamily="34" charset="-122"/>
                <a:cs typeface="Courier New" pitchFamily="34" charset="-120"/>
              </a:rPr>
              <a:t>import { render, screen } from </a:t>
            </a:r>
            <a:r>
              <a:rPr lang="en-US" sz="1400" dirty="0">
                <a:solidFill>
                  <a:srgbClr val="9CDCFE"/>
                </a:solidFill>
                <a:latin typeface="Courier New" pitchFamily="34" charset="0"/>
                <a:ea typeface="Courier New" pitchFamily="34" charset="-122"/>
                <a:cs typeface="Courier New" pitchFamily="34" charset="-120"/>
              </a:rPr>
              <a:t>'@testing-library/react'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userEvent from </a:t>
            </a:r>
            <a:r>
              <a:rPr lang="en-US" sz="1400" dirty="0">
                <a:solidFill>
                  <a:srgbClr val="9CDCFE"/>
                </a:solidFill>
                <a:latin typeface="Courier New" pitchFamily="34" charset="0"/>
                <a:ea typeface="Courier New" pitchFamily="34" charset="-122"/>
                <a:cs typeface="Courier New" pitchFamily="34" charset="-120"/>
              </a:rPr>
              <a:t>'@testing-library/user-event'</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LoginForm from </a:t>
            </a:r>
            <a:r>
              <a:rPr lang="en-US" sz="1400" dirty="0">
                <a:solidFill>
                  <a:srgbClr val="9CDCFE"/>
                </a:solidFill>
                <a:latin typeface="Courier New" pitchFamily="34" charset="0"/>
                <a:ea typeface="Courier New" pitchFamily="34" charset="-122"/>
                <a:cs typeface="Courier New" pitchFamily="34" charset="-120"/>
              </a:rPr>
              <a:t>'./LoginForm'</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describe</a:t>
            </a:r>
            <a:r>
              <a:rPr lang="en-US" sz="1400" dirty="0">
                <a:solidFill>
                  <a:srgbClr val="9CDCFE"/>
                </a:solidFill>
                <a:latin typeface="Courier New" pitchFamily="34" charset="0"/>
                <a:ea typeface="Courier New" pitchFamily="34" charset="-122"/>
                <a:cs typeface="Courier New" pitchFamily="34" charset="-120"/>
              </a:rPr>
              <a:t>('LoginForm'</a:t>
            </a:r>
            <a:r>
              <a:rPr lang="en-US" sz="1400" dirty="0">
                <a:solidFill>
                  <a:srgbClr val="FFFFFF"/>
                </a:solidFill>
                <a:latin typeface="Courier New" pitchFamily="34" charset="0"/>
                <a:ea typeface="Courier New" pitchFamily="34" charset="-122"/>
                <a:cs typeface="Courier New" pitchFamily="34" charset="-120"/>
              </a:rPr>
              <a:t>, () =&gt; {</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  it</a:t>
            </a:r>
            <a:r>
              <a:rPr lang="en-US" sz="1400" dirty="0">
                <a:solidFill>
                  <a:srgbClr val="9CDCFE"/>
                </a:solidFill>
                <a:latin typeface="Courier New" pitchFamily="34" charset="0"/>
                <a:ea typeface="Courier New" pitchFamily="34" charset="-122"/>
                <a:cs typeface="Courier New" pitchFamily="34" charset="-120"/>
              </a:rPr>
              <a:t>('shows a validation error when the password is empty'</a:t>
            </a:r>
            <a:r>
              <a:rPr lang="en-US" sz="1400" dirty="0">
                <a:solidFill>
                  <a:srgbClr val="FFFFFF"/>
                </a:solidFill>
                <a:latin typeface="Courier New" pitchFamily="34" charset="0"/>
                <a:ea typeface="Courier New" pitchFamily="34" charset="-122"/>
                <a:cs typeface="Courier New" pitchFamily="34" charset="-120"/>
              </a:rPr>
              <a:t>, async () =&gt; {</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const user = </a:t>
            </a:r>
            <a:r>
              <a:rPr lang="en-US" sz="1400" dirty="0">
                <a:solidFill>
                  <a:srgbClr val="DCDCAA"/>
                </a:solidFill>
                <a:latin typeface="Courier New" pitchFamily="34" charset="0"/>
                <a:ea typeface="Courier New" pitchFamily="34" charset="-122"/>
                <a:cs typeface="Courier New" pitchFamily="34" charset="-120"/>
              </a:rPr>
              <a:t>userEvent</a:t>
            </a:r>
            <a:r>
              <a:rPr lang="en-US" sz="1400" dirty="0">
                <a:solidFill>
                  <a:srgbClr val="FFFFFF"/>
                </a:solidFill>
                <a:latin typeface="Courier New" pitchFamily="34" charset="0"/>
                <a:ea typeface="Courier New" pitchFamily="34" charset="-122"/>
                <a:cs typeface="Courier New" pitchFamily="34" charset="-120"/>
              </a:rPr>
              <a:t>.setup();</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render</a:t>
            </a:r>
            <a:r>
              <a:rPr lang="en-US" sz="1400" dirty="0">
                <a:solidFill>
                  <a:srgbClr val="FFFFFF"/>
                </a:solidFill>
                <a:latin typeface="Courier New" pitchFamily="34" charset="0"/>
                <a:ea typeface="Courier New" pitchFamily="34" charset="-122"/>
                <a:cs typeface="Courier New" pitchFamily="34" charset="-120"/>
              </a:rPr>
              <a:t>(&lt;LoginForm /&gt;);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await user.type(</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.getByLabelText(</a:t>
            </a:r>
            <a:r>
              <a:rPr lang="en-US" sz="1400" dirty="0">
                <a:solidFill>
                  <a:srgbClr val="9CDCFE"/>
                </a:solidFill>
                <a:latin typeface="Courier New" pitchFamily="34" charset="0"/>
                <a:ea typeface="Courier New" pitchFamily="34" charset="-122"/>
                <a:cs typeface="Courier New" pitchFamily="34" charset="-120"/>
              </a:rPr>
              <a:t>/email/i), 'a@b.com'</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    await user.click(</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.getByRole(</a:t>
            </a:r>
            <a:r>
              <a:rPr lang="en-US" sz="1400" dirty="0">
                <a:solidFill>
                  <a:srgbClr val="9CDCFE"/>
                </a:solidFill>
                <a:latin typeface="Courier New" pitchFamily="34" charset="0"/>
                <a:ea typeface="Courier New" pitchFamily="34" charset="-122"/>
                <a:cs typeface="Courier New" pitchFamily="34" charset="-120"/>
              </a:rPr>
              <a:t>'button'</a:t>
            </a:r>
            <a:r>
              <a:rPr lang="en-US" sz="1400" dirty="0">
                <a:solidFill>
                  <a:srgbClr val="DCDCAA"/>
                </a:solidFill>
                <a:latin typeface="Courier New" pitchFamily="34" charset="0"/>
                <a:ea typeface="Courier New" pitchFamily="34" charset="-122"/>
                <a:cs typeface="Courier New" pitchFamily="34" charset="-120"/>
              </a:rPr>
              <a:t>, { name: </a:t>
            </a:r>
            <a:r>
              <a:rPr lang="en-US" sz="1400" dirty="0">
                <a:solidFill>
                  <a:srgbClr val="9CDCFE"/>
                </a:solidFill>
                <a:latin typeface="Courier New" pitchFamily="34" charset="0"/>
                <a:ea typeface="Courier New" pitchFamily="34" charset="-122"/>
                <a:cs typeface="Courier New" pitchFamily="34" charset="-120"/>
              </a:rPr>
              <a:t>/sign in/i</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    expect</a:t>
            </a:r>
            <a:r>
              <a:rPr lang="en-US" sz="1400" dirty="0">
                <a:solidFill>
                  <a:srgbClr val="C586C0"/>
                </a:solidFill>
                <a:latin typeface="Courier New" pitchFamily="34" charset="0"/>
                <a:ea typeface="Courier New" pitchFamily="34" charset="-122"/>
                <a:cs typeface="Courier New" pitchFamily="34" charset="-120"/>
              </a:rPr>
              <a:t>(await </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.findByText(</a:t>
            </a:r>
            <a:r>
              <a:rPr lang="en-US" sz="1400" dirty="0">
                <a:solidFill>
                  <a:srgbClr val="9CDCFE"/>
                </a:solidFill>
                <a:latin typeface="Courier New" pitchFamily="34" charset="0"/>
                <a:ea typeface="Courier New" pitchFamily="34" charset="-122"/>
                <a:cs typeface="Courier New" pitchFamily="34" charset="-120"/>
              </a:rPr>
              <a:t>/password is required/i</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.toBeInTheDocument();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27</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MSW (Mock Service Worker)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Mock at the network layer. Same mocks for tests AND dev.</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Why MSW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Mocking fetch by hand has tradeoffs MSW avoids.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Without MSW</a:t>
            </a:r>
            <a:endParaRPr lang="en-US" sz="14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vi.fn() per fetch call — easy to forget one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Mocks live in tests; dev still hits the real API</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Refactoring the API layer breaks all tests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Hard to simulate retries or error sequences</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With MSW</a:t>
            </a:r>
            <a:endParaRPr lang="en-US" sz="14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Mocks intercept network requests below fetch</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Same handlers run in tests, dev (service worker), and Storybook</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Refactoring api.js doesn't break tests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Easy to simulate sequences: error then success on retry</a:t>
            </a:r>
            <a:endParaRPr lang="en-US" sz="1250" dirty="0"/>
          </a:p>
        </p:txBody>
      </p:sp>
      <p:sp>
        <p:nvSpPr>
          <p:cNvPr id="9" name="Shape 7"/>
          <p:cNvSpPr/>
          <p:nvPr/>
        </p:nvSpPr>
        <p:spPr>
          <a:xfrm>
            <a:off x="777240" y="4572000"/>
            <a:ext cx="10607040" cy="146304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4983480"/>
            <a:ext cx="640080" cy="640080"/>
          </a:xfrm>
          <a:prstGeom prst="rect">
            <a:avLst/>
          </a:prstGeom>
        </p:spPr>
      </p:pic>
      <p:sp>
        <p:nvSpPr>
          <p:cNvPr id="11" name="Text 8"/>
          <p:cNvSpPr/>
          <p:nvPr/>
        </p:nvSpPr>
        <p:spPr>
          <a:xfrm>
            <a:off x="1828800" y="4617720"/>
            <a:ext cx="9418320" cy="141732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MSW intercepts at the network layer using the Service Worker API in dev and a Node-side interceptor in tests. Your application code calls fetch as normal — it never knows about the mock.</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MSW — setup and handlers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Define handlers once. Use them everywhere.</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src/test/handlers.js</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http, HttpResponse } from </a:t>
            </a:r>
            <a:r>
              <a:rPr lang="en-US" sz="1400" dirty="0">
                <a:solidFill>
                  <a:srgbClr val="9CDCFE"/>
                </a:solidFill>
                <a:latin typeface="Courier New" pitchFamily="34" charset="0"/>
                <a:ea typeface="Courier New" pitchFamily="34" charset="-122"/>
                <a:cs typeface="Courier New" pitchFamily="34" charset="-120"/>
              </a:rPr>
              <a:t>'msw'</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export const handlers =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http</a:t>
            </a:r>
            <a:r>
              <a:rPr lang="en-US" sz="1400" dirty="0">
                <a:solidFill>
                  <a:srgbClr val="9CDCFE"/>
                </a:solidFill>
                <a:latin typeface="Courier New" pitchFamily="34" charset="0"/>
                <a:ea typeface="Courier New" pitchFamily="34" charset="-122"/>
                <a:cs typeface="Courier New" pitchFamily="34" charset="-120"/>
              </a:rPr>
              <a:t>.get('/api/posts'</a:t>
            </a:r>
            <a:r>
              <a:rPr lang="en-US" sz="1400" dirty="0">
                <a:solidFill>
                  <a:srgbClr val="FFFFFF"/>
                </a:solidFill>
                <a:latin typeface="Courier New" pitchFamily="34" charset="0"/>
                <a:ea typeface="Courier New" pitchFamily="34" charset="-122"/>
                <a:cs typeface="Courier New" pitchFamily="34" charset="-120"/>
              </a:rPr>
              <a:t>, ()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return HttpResponse.json([</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 id: 1, title: 'Hello', body: '…'</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http</a:t>
            </a:r>
            <a:r>
              <a:rPr lang="en-US" sz="1400" dirty="0">
                <a:solidFill>
                  <a:srgbClr val="9CDCFE"/>
                </a:solidFill>
                <a:latin typeface="Courier New" pitchFamily="34" charset="0"/>
                <a:ea typeface="Courier New" pitchFamily="34" charset="-122"/>
                <a:cs typeface="Courier New" pitchFamily="34" charset="-120"/>
              </a:rPr>
              <a:t>.post('/api/posts'</a:t>
            </a:r>
            <a:r>
              <a:rPr lang="en-US" sz="1400" dirty="0">
                <a:solidFill>
                  <a:srgbClr val="FFFFFF"/>
                </a:solidFill>
                <a:latin typeface="Courier New" pitchFamily="34" charset="0"/>
                <a:ea typeface="Courier New" pitchFamily="34" charset="-122"/>
                <a:cs typeface="Courier New" pitchFamily="34" charset="-120"/>
              </a:rPr>
              <a:t>, async ({ request })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const post = await request.json();</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return HttpResponse.json({ id: 2, ...post }, { status: 201</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http</a:t>
            </a:r>
            <a:r>
              <a:rPr lang="en-US" sz="1400" dirty="0">
                <a:solidFill>
                  <a:srgbClr val="9CDCFE"/>
                </a:solidFill>
                <a:latin typeface="Courier New" pitchFamily="34" charset="0"/>
                <a:ea typeface="Courier New" pitchFamily="34" charset="-122"/>
                <a:cs typeface="Courier New" pitchFamily="34" charset="-120"/>
              </a:rPr>
              <a:t>.get('/api/posts/:id'</a:t>
            </a:r>
            <a:r>
              <a:rPr lang="en-US" sz="1400" dirty="0">
                <a:solidFill>
                  <a:srgbClr val="FFFFFF"/>
                </a:solidFill>
                <a:latin typeface="Courier New" pitchFamily="34" charset="0"/>
                <a:ea typeface="Courier New" pitchFamily="34" charset="-122"/>
                <a:cs typeface="Courier New" pitchFamily="34" charset="-120"/>
              </a:rPr>
              <a:t>, ({ params }) =&gt; {</a:t>
            </a:r>
            <a:endParaRPr lang="en-US" sz="1400" dirty="0"/>
          </a:p>
          <a:p>
            <a:pPr marL="0" indent="0">
              <a:buNone/>
            </a:pPr>
            <a:r>
              <a:rPr lang="en-US" sz="1400" dirty="0">
                <a:solidFill>
                  <a:srgbClr val="9CDCFE"/>
                </a:solidFill>
                <a:latin typeface="Courier New" pitchFamily="34" charset="0"/>
                <a:ea typeface="Courier New" pitchFamily="34" charset="-122"/>
                <a:cs typeface="Courier New" pitchFamily="34" charset="-120"/>
              </a:rPr>
              <a:t>    return HttpResponse.json({ id: +params.id, title: '…'</a:t>
            </a: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MSW in tests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Wire it up once in test setup. Override handlers per-test for edge cases.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400" i="1" dirty="0">
                <a:solidFill>
                  <a:srgbClr val="6A9955"/>
                </a:solidFill>
                <a:latin typeface="Courier New" pitchFamily="34" charset="0"/>
                <a:ea typeface="Courier New" pitchFamily="34" charset="-122"/>
                <a:cs typeface="Courier New" pitchFamily="34" charset="-120"/>
              </a:rPr>
              <a:t>// src/test/setup.js</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setupServer } from </a:t>
            </a:r>
            <a:r>
              <a:rPr lang="en-US" sz="1400" dirty="0">
                <a:solidFill>
                  <a:srgbClr val="9CDCFE"/>
                </a:solidFill>
                <a:latin typeface="Courier New" pitchFamily="34" charset="0"/>
                <a:ea typeface="Courier New" pitchFamily="34" charset="-122"/>
                <a:cs typeface="Courier New" pitchFamily="34" charset="-120"/>
              </a:rPr>
              <a:t>'msw/node'</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import { handlers } from </a:t>
            </a:r>
            <a:r>
              <a:rPr lang="en-US" sz="1400" dirty="0">
                <a:solidFill>
                  <a:srgbClr val="9CDCFE"/>
                </a:solidFill>
                <a:latin typeface="Courier New" pitchFamily="34" charset="0"/>
                <a:ea typeface="Courier New" pitchFamily="34" charset="-122"/>
                <a:cs typeface="Courier New" pitchFamily="34" charset="-120"/>
              </a:rPr>
              <a:t>'./handlers'</a:t>
            </a: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marL="0" indent="0">
              <a:buNone/>
            </a:pPr>
            <a:endParaRPr lang="en-US" sz="1400" dirty="0"/>
          </a:p>
          <a:p>
            <a:pPr marL="0" indent="0">
              <a:buNone/>
            </a:pPr>
            <a:r>
              <a:rPr lang="en-US" sz="1400" dirty="0">
                <a:solidFill>
                  <a:srgbClr val="C586C0"/>
                </a:solidFill>
                <a:latin typeface="Courier New" pitchFamily="34" charset="0"/>
                <a:ea typeface="Courier New" pitchFamily="34" charset="-122"/>
                <a:cs typeface="Courier New" pitchFamily="34" charset="-120"/>
              </a:rPr>
              <a:t>const server = </a:t>
            </a:r>
            <a:r>
              <a:rPr lang="en-US" sz="1400" dirty="0">
                <a:solidFill>
                  <a:srgbClr val="DCDCAA"/>
                </a:solidFill>
                <a:latin typeface="Courier New" pitchFamily="34" charset="0"/>
                <a:ea typeface="Courier New" pitchFamily="34" charset="-122"/>
                <a:cs typeface="Courier New" pitchFamily="34" charset="-120"/>
              </a:rPr>
              <a:t>setupServer</a:t>
            </a:r>
            <a:r>
              <a:rPr lang="en-US" sz="1400" dirty="0">
                <a:solidFill>
                  <a:srgbClr val="FFFFFF"/>
                </a:solidFill>
                <a:latin typeface="Courier New" pitchFamily="34" charset="0"/>
                <a:ea typeface="Courier New" pitchFamily="34" charset="-122"/>
                <a:cs typeface="Courier New" pitchFamily="34" charset="-120"/>
              </a:rPr>
              <a:t>(...handlers);</a:t>
            </a:r>
            <a:endParaRPr lang="en-US" sz="1400" dirty="0"/>
          </a:p>
          <a:p>
            <a:pPr marL="0" indent="0">
              <a:buNone/>
            </a:pP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beforeAll</a:t>
            </a:r>
            <a:r>
              <a:rPr lang="en-US" sz="1400" dirty="0">
                <a:solidFill>
                  <a:srgbClr val="FFFFFF"/>
                </a:solidFill>
                <a:latin typeface="Courier New" pitchFamily="34" charset="0"/>
                <a:ea typeface="Courier New" pitchFamily="34" charset="-122"/>
                <a:cs typeface="Courier New" pitchFamily="34" charset="-120"/>
              </a:rPr>
              <a:t>(() =&gt; server.listen());</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afterEach</a:t>
            </a:r>
            <a:r>
              <a:rPr lang="en-US" sz="1400" dirty="0">
                <a:solidFill>
                  <a:srgbClr val="FFFFFF"/>
                </a:solidFill>
                <a:latin typeface="Courier New" pitchFamily="34" charset="0"/>
                <a:ea typeface="Courier New" pitchFamily="34" charset="-122"/>
                <a:cs typeface="Courier New" pitchFamily="34" charset="-120"/>
              </a:rPr>
              <a:t>(() =&gt; server.resetHandlers());</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afterAll</a:t>
            </a:r>
            <a:r>
              <a:rPr lang="en-US" sz="1400" dirty="0">
                <a:solidFill>
                  <a:srgbClr val="FFFFFF"/>
                </a:solidFill>
                <a:latin typeface="Courier New" pitchFamily="34" charset="0"/>
                <a:ea typeface="Courier New" pitchFamily="34" charset="-122"/>
                <a:cs typeface="Courier New" pitchFamily="34" charset="-120"/>
              </a:rPr>
              <a:t>(() =&gt; server.close());</a:t>
            </a:r>
            <a:endParaRPr lang="en-US" sz="1400" dirty="0"/>
          </a:p>
          <a:p>
            <a:pPr marL="0" indent="0">
              <a:buNone/>
            </a:pPr>
            <a:endParaRPr lang="en-US" sz="1400" dirty="0"/>
          </a:p>
          <a:p>
            <a:pPr marL="0" indent="0">
              <a:buNone/>
            </a:pPr>
            <a:r>
              <a:rPr lang="en-US" sz="1400" i="1" dirty="0">
                <a:solidFill>
                  <a:srgbClr val="6A9955"/>
                </a:solidFill>
                <a:latin typeface="Courier New" pitchFamily="34" charset="0"/>
                <a:ea typeface="Courier New" pitchFamily="34" charset="-122"/>
                <a:cs typeface="Courier New" pitchFamily="34" charset="-120"/>
              </a:rPr>
              <a:t>// Per-test override:</a:t>
            </a:r>
            <a:endParaRPr lang="en-US" sz="1400" dirty="0"/>
          </a:p>
          <a:p>
            <a:pPr marL="0" indent="0">
              <a:buNone/>
            </a:pPr>
            <a:r>
              <a:rPr lang="en-US" sz="1400" dirty="0">
                <a:solidFill>
                  <a:srgbClr val="DCDCAA"/>
                </a:solidFill>
                <a:latin typeface="Courier New" pitchFamily="34" charset="0"/>
                <a:ea typeface="Courier New" pitchFamily="34" charset="-122"/>
                <a:cs typeface="Courier New" pitchFamily="34" charset="-120"/>
              </a:rPr>
              <a:t>it</a:t>
            </a:r>
            <a:r>
              <a:rPr lang="en-US" sz="1400" dirty="0">
                <a:solidFill>
                  <a:srgbClr val="9CDCFE"/>
                </a:solidFill>
                <a:latin typeface="Courier New" pitchFamily="34" charset="0"/>
                <a:ea typeface="Courier New" pitchFamily="34" charset="-122"/>
                <a:cs typeface="Courier New" pitchFamily="34" charset="-120"/>
              </a:rPr>
              <a:t>('shows error on 500'</a:t>
            </a:r>
            <a:r>
              <a:rPr lang="en-US" sz="1400" dirty="0">
                <a:solidFill>
                  <a:srgbClr val="FFFFFF"/>
                </a:solidFill>
                <a:latin typeface="Courier New" pitchFamily="34" charset="0"/>
                <a:ea typeface="Courier New" pitchFamily="34" charset="-122"/>
                <a:cs typeface="Courier New" pitchFamily="34" charset="-120"/>
              </a:rPr>
              <a:t>, async () =&gt;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server.use(</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http</a:t>
            </a:r>
            <a:r>
              <a:rPr lang="en-US" sz="1400" dirty="0">
                <a:solidFill>
                  <a:srgbClr val="9CDCFE"/>
                </a:solidFill>
                <a:latin typeface="Courier New" pitchFamily="34" charset="0"/>
                <a:ea typeface="Courier New" pitchFamily="34" charset="-122"/>
                <a:cs typeface="Courier New" pitchFamily="34" charset="-120"/>
              </a:rPr>
              <a:t>.get('/api/posts'</a:t>
            </a:r>
            <a:r>
              <a:rPr lang="en-US" sz="1400" dirty="0">
                <a:solidFill>
                  <a:srgbClr val="FFFFFF"/>
                </a:solidFill>
                <a:latin typeface="Courier New" pitchFamily="34" charset="0"/>
                <a:ea typeface="Courier New" pitchFamily="34" charset="-122"/>
                <a:cs typeface="Courier New" pitchFamily="34" charset="-120"/>
              </a:rPr>
              <a:t>, () =&gt; HttpResponse.error())</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render</a:t>
            </a:r>
            <a:r>
              <a:rPr lang="en-US" sz="1400" dirty="0">
                <a:solidFill>
                  <a:srgbClr val="FFFFFF"/>
                </a:solidFill>
                <a:latin typeface="Courier New" pitchFamily="34" charset="0"/>
                <a:ea typeface="Courier New" pitchFamily="34" charset="-122"/>
                <a:cs typeface="Courier New" pitchFamily="34" charset="-120"/>
              </a:rPr>
              <a:t>(&lt;PostsFeed /&gt;);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a:t>
            </a:r>
            <a:r>
              <a:rPr lang="en-US" sz="1400" dirty="0">
                <a:solidFill>
                  <a:srgbClr val="DCDCAA"/>
                </a:solidFill>
                <a:latin typeface="Courier New" pitchFamily="34" charset="0"/>
                <a:ea typeface="Courier New" pitchFamily="34" charset="-122"/>
                <a:cs typeface="Courier New" pitchFamily="34" charset="-120"/>
              </a:rPr>
              <a:t>expect</a:t>
            </a:r>
            <a:r>
              <a:rPr lang="en-US" sz="1400" dirty="0">
                <a:solidFill>
                  <a:srgbClr val="C586C0"/>
                </a:solidFill>
                <a:latin typeface="Courier New" pitchFamily="34" charset="0"/>
                <a:ea typeface="Courier New" pitchFamily="34" charset="-122"/>
                <a:cs typeface="Courier New" pitchFamily="34" charset="-120"/>
              </a:rPr>
              <a:t>(await </a:t>
            </a:r>
            <a:r>
              <a:rPr lang="en-US" sz="1400" dirty="0">
                <a:solidFill>
                  <a:srgbClr val="9CDCFE"/>
                </a:solidFill>
                <a:latin typeface="Courier New" pitchFamily="34" charset="0"/>
                <a:ea typeface="Courier New" pitchFamily="34" charset="-122"/>
                <a:cs typeface="Courier New" pitchFamily="34" charset="-120"/>
              </a:rPr>
              <a:t>screen</a:t>
            </a:r>
            <a:r>
              <a:rPr lang="en-US" sz="1400" dirty="0">
                <a:solidFill>
                  <a:srgbClr val="DCDCAA"/>
                </a:solidFill>
                <a:latin typeface="Courier New" pitchFamily="34" charset="0"/>
                <a:ea typeface="Courier New" pitchFamily="34" charset="-122"/>
                <a:cs typeface="Courier New" pitchFamily="34" charset="-120"/>
              </a:rPr>
              <a:t>.findByText(</a:t>
            </a:r>
            <a:r>
              <a:rPr lang="en-US" sz="1400" dirty="0">
                <a:solidFill>
                  <a:srgbClr val="9CDCFE"/>
                </a:solidFill>
                <a:latin typeface="Courier New" pitchFamily="34" charset="0"/>
                <a:ea typeface="Courier New" pitchFamily="34" charset="-122"/>
                <a:cs typeface="Courier New" pitchFamily="34" charset="-120"/>
              </a:rPr>
              <a:t>/something went wrong/i</a:t>
            </a:r>
            <a:r>
              <a:rPr lang="en-US" sz="1400" dirty="0">
                <a:solidFill>
                  <a:srgbClr val="FFFFFF"/>
                </a:solidFill>
                <a:latin typeface="Courier New" pitchFamily="34" charset="0"/>
                <a:ea typeface="Courier New" pitchFamily="34" charset="-122"/>
                <a:cs typeface="Courier New" pitchFamily="34" charset="-120"/>
              </a:rPr>
              <a:t>)).toBeInTheDocument();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16">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Playwright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End-to-end tests in a real browser. The expensive layer.</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When E2E is the right tool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Slow. Expensive to write. Highest confidence. Use sparingly.</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59669"/>
                </a:solidFill>
                <a:latin typeface="Trebuchet MS" pitchFamily="34" charset="0"/>
                <a:ea typeface="Trebuchet MS" pitchFamily="34" charset="-122"/>
                <a:cs typeface="Trebuchet MS" pitchFamily="34" charset="-120"/>
              </a:rPr>
              <a:t>Reach for Playwright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critical user flows end-to-end (auth, checkout, payment)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Catching cross-browser bugs (Safari, Firefox, Chrome)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the real backend, not a mock</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Visual regression — screenshots over time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Smoke tests against staging or production</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DC2626"/>
                </a:solidFill>
                <a:latin typeface="Trebuchet MS" pitchFamily="34" charset="0"/>
                <a:ea typeface="Trebuchet MS" pitchFamily="34" charset="-122"/>
                <a:cs typeface="Trebuchet MS" pitchFamily="34" charset="-120"/>
              </a:rPr>
              <a:t>Don't reach for Playwright when:</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a single component's rendering (use RTL)</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edge cases that need many runs (slow)</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You don't have CI capacity for browser test runs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Your team won't maintain flaky tests (E2E is flaky)</a:t>
            </a:r>
            <a:endParaRPr lang="en-US" sz="120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Rule of thumb: 80% RTL/unit, 15% integration, 5% E2E. Inverted ratios mean expensive, slow, flaky test suites.</a:t>
            </a:r>
            <a:endParaRPr lang="en-US" sz="13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27</a:t>
            </a:r>
            <a:endParaRPr lang="en-US" sz="9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Playwright at a glance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Real browser, real DOM, codegen for the boilerplate.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3931920"/>
          </a:xfrm>
          <a:prstGeom prst="rect">
            <a:avLst/>
          </a:prstGeom>
          <a:noFill/>
          <a:ln/>
        </p:spPr>
        <p:txBody>
          <a:bodyPr wrap="square" lIns="0" tIns="0" rIns="0" bIns="0" rtlCol="0" anchor="t"/>
          <a:lstStyle/>
          <a:p>
            <a:pPr marL="0" indent="0">
              <a:buNone/>
            </a:pPr>
            <a:r>
              <a:rPr lang="en-US" sz="1150" i="1" dirty="0">
                <a:solidFill>
                  <a:srgbClr val="6A9955"/>
                </a:solidFill>
                <a:latin typeface="Courier New" pitchFamily="34" charset="0"/>
                <a:ea typeface="Courier New" pitchFamily="34" charset="-122"/>
                <a:cs typeface="Courier New" pitchFamily="34" charset="-120"/>
              </a:rPr>
              <a:t>// e2e/login.spec.ts</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import { test, expect } from </a:t>
            </a:r>
            <a:r>
              <a:rPr lang="en-US" sz="1150" dirty="0">
                <a:solidFill>
                  <a:srgbClr val="9CDCFE"/>
                </a:solidFill>
                <a:latin typeface="Courier New" pitchFamily="34" charset="0"/>
                <a:ea typeface="Courier New" pitchFamily="34" charset="-122"/>
                <a:cs typeface="Courier New" pitchFamily="34" charset="-120"/>
              </a:rPr>
              <a:t>'@playwright/test'</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endParaRPr lang="en-US" sz="1150" dirty="0"/>
          </a:p>
          <a:p>
            <a:pPr marL="0" indent="0">
              <a:buNone/>
            </a:pPr>
            <a:r>
              <a:rPr lang="en-US" sz="1150" dirty="0">
                <a:solidFill>
                  <a:srgbClr val="DCDCAA"/>
                </a:solidFill>
                <a:latin typeface="Courier New" pitchFamily="34" charset="0"/>
                <a:ea typeface="Courier New" pitchFamily="34" charset="-122"/>
                <a:cs typeface="Courier New" pitchFamily="34" charset="-120"/>
              </a:rPr>
              <a:t>test</a:t>
            </a:r>
            <a:r>
              <a:rPr lang="en-US" sz="1150" dirty="0">
                <a:solidFill>
                  <a:srgbClr val="9CDCFE"/>
                </a:solidFill>
                <a:latin typeface="Courier New" pitchFamily="34" charset="0"/>
                <a:ea typeface="Courier New" pitchFamily="34" charset="-122"/>
                <a:cs typeface="Courier New" pitchFamily="34" charset="-120"/>
              </a:rPr>
              <a:t>('user can sign in and reach the dashboard'</a:t>
            </a:r>
            <a:r>
              <a:rPr lang="en-US" sz="1150" dirty="0">
                <a:solidFill>
                  <a:srgbClr val="FFFFFF"/>
                </a:solidFill>
                <a:latin typeface="Courier New" pitchFamily="34" charset="0"/>
                <a:ea typeface="Courier New" pitchFamily="34" charset="-122"/>
                <a:cs typeface="Courier New" pitchFamily="34" charset="-120"/>
              </a:rPr>
              <a:t>, async ({ page }) =&gt; {</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page.goto(</a:t>
            </a:r>
            <a:r>
              <a:rPr lang="en-US" sz="1150" dirty="0">
                <a:solidFill>
                  <a:srgbClr val="9CDCFE"/>
                </a:solidFill>
                <a:latin typeface="Courier New" pitchFamily="34" charset="0"/>
                <a:ea typeface="Courier New" pitchFamily="34" charset="-122"/>
                <a:cs typeface="Courier New" pitchFamily="34" charset="-120"/>
              </a:rPr>
              <a:t>'/login'</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page.getByLabel(</a:t>
            </a:r>
            <a:r>
              <a:rPr lang="en-US" sz="1150" dirty="0">
                <a:solidFill>
                  <a:srgbClr val="9CDCFE"/>
                </a:solidFill>
                <a:latin typeface="Courier New" pitchFamily="34" charset="0"/>
                <a:ea typeface="Courier New" pitchFamily="34" charset="-122"/>
                <a:cs typeface="Courier New" pitchFamily="34" charset="-120"/>
              </a:rPr>
              <a:t>'Email'</a:t>
            </a:r>
            <a:r>
              <a:rPr lang="en-US" sz="1150" dirty="0">
                <a:solidFill>
                  <a:srgbClr val="DCDCAA"/>
                </a:solidFill>
                <a:latin typeface="Courier New" pitchFamily="34" charset="0"/>
                <a:ea typeface="Courier New" pitchFamily="34" charset="-122"/>
                <a:cs typeface="Courier New" pitchFamily="34" charset="-120"/>
              </a:rPr>
              <a:t>).fill(</a:t>
            </a:r>
            <a:r>
              <a:rPr lang="en-US" sz="1150" dirty="0">
                <a:solidFill>
                  <a:srgbClr val="9CDCFE"/>
                </a:solidFill>
                <a:latin typeface="Courier New" pitchFamily="34" charset="0"/>
                <a:ea typeface="Courier New" pitchFamily="34" charset="-122"/>
                <a:cs typeface="Courier New" pitchFamily="34" charset="-120"/>
              </a:rPr>
              <a:t>'a@b.com'</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page.getByLabel(</a:t>
            </a:r>
            <a:r>
              <a:rPr lang="en-US" sz="1150" dirty="0">
                <a:solidFill>
                  <a:srgbClr val="9CDCFE"/>
                </a:solidFill>
                <a:latin typeface="Courier New" pitchFamily="34" charset="0"/>
                <a:ea typeface="Courier New" pitchFamily="34" charset="-122"/>
                <a:cs typeface="Courier New" pitchFamily="34" charset="-120"/>
              </a:rPr>
              <a:t>'Password'</a:t>
            </a:r>
            <a:r>
              <a:rPr lang="en-US" sz="1150" dirty="0">
                <a:solidFill>
                  <a:srgbClr val="DCDCAA"/>
                </a:solidFill>
                <a:latin typeface="Courier New" pitchFamily="34" charset="0"/>
                <a:ea typeface="Courier New" pitchFamily="34" charset="-122"/>
                <a:cs typeface="Courier New" pitchFamily="34" charset="-120"/>
              </a:rPr>
              <a:t>).fill(</a:t>
            </a:r>
            <a:r>
              <a:rPr lang="en-US" sz="1150" dirty="0">
                <a:solidFill>
                  <a:srgbClr val="9CDCFE"/>
                </a:solidFill>
                <a:latin typeface="Courier New" pitchFamily="34" charset="0"/>
                <a:ea typeface="Courier New" pitchFamily="34" charset="-122"/>
                <a:cs typeface="Courier New" pitchFamily="34" charset="-120"/>
              </a:rPr>
              <a:t>'secret123'</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page.getByRole(</a:t>
            </a:r>
            <a:r>
              <a:rPr lang="en-US" sz="1150" dirty="0">
                <a:solidFill>
                  <a:srgbClr val="9CDCFE"/>
                </a:solidFill>
                <a:latin typeface="Courier New" pitchFamily="34" charset="0"/>
                <a:ea typeface="Courier New" pitchFamily="34" charset="-122"/>
                <a:cs typeface="Courier New" pitchFamily="34" charset="-120"/>
              </a:rPr>
              <a:t>'button'</a:t>
            </a:r>
            <a:r>
              <a:rPr lang="en-US" sz="1150" dirty="0">
                <a:solidFill>
                  <a:srgbClr val="DCDCAA"/>
                </a:solidFill>
                <a:latin typeface="Courier New" pitchFamily="34" charset="0"/>
                <a:ea typeface="Courier New" pitchFamily="34" charset="-122"/>
                <a:cs typeface="Courier New" pitchFamily="34" charset="-120"/>
              </a:rPr>
              <a:t>, { name: </a:t>
            </a:r>
            <a:r>
              <a:rPr lang="en-US" sz="1150" dirty="0">
                <a:solidFill>
                  <a:srgbClr val="9CDCFE"/>
                </a:solidFill>
                <a:latin typeface="Courier New" pitchFamily="34" charset="0"/>
                <a:ea typeface="Courier New" pitchFamily="34" charset="-122"/>
                <a:cs typeface="Courier New" pitchFamily="34" charset="-120"/>
              </a:rPr>
              <a:t>'Sign in'</a:t>
            </a:r>
            <a:r>
              <a:rPr lang="en-US" sz="1150" dirty="0">
                <a:solidFill>
                  <a:srgbClr val="FFFFFF"/>
                </a:solidFill>
                <a:latin typeface="Courier New" pitchFamily="34" charset="0"/>
                <a:ea typeface="Courier New" pitchFamily="34" charset="-122"/>
                <a:cs typeface="Courier New" pitchFamily="34" charset="-120"/>
              </a:rPr>
              <a:t> }).click();</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a:t>
            </a:r>
            <a:r>
              <a:rPr lang="en-US" sz="1150" dirty="0">
                <a:solidFill>
                  <a:srgbClr val="DCDCAA"/>
                </a:solidFill>
                <a:latin typeface="Courier New" pitchFamily="34" charset="0"/>
                <a:ea typeface="Courier New" pitchFamily="34" charset="-122"/>
                <a:cs typeface="Courier New" pitchFamily="34" charset="-120"/>
              </a:rPr>
              <a:t>expect(page).toHaveURL(</a:t>
            </a:r>
            <a:r>
              <a:rPr lang="en-US" sz="1150" dirty="0">
                <a:solidFill>
                  <a:srgbClr val="9CDCFE"/>
                </a:solidFill>
                <a:latin typeface="Courier New" pitchFamily="34" charset="0"/>
                <a:ea typeface="Courier New" pitchFamily="34" charset="-122"/>
                <a:cs typeface="Courier New" pitchFamily="34" charset="-120"/>
              </a:rPr>
              <a:t>/.*dashboard/</a:t>
            </a: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r>
              <a:rPr lang="en-US" sz="1150" dirty="0">
                <a:solidFill>
                  <a:srgbClr val="C586C0"/>
                </a:solidFill>
                <a:latin typeface="Courier New" pitchFamily="34" charset="0"/>
                <a:ea typeface="Courier New" pitchFamily="34" charset="-122"/>
                <a:cs typeface="Courier New" pitchFamily="34" charset="-120"/>
              </a:rPr>
              <a:t>  await </a:t>
            </a:r>
            <a:r>
              <a:rPr lang="en-US" sz="1150" dirty="0">
                <a:solidFill>
                  <a:srgbClr val="DCDCAA"/>
                </a:solidFill>
                <a:latin typeface="Courier New" pitchFamily="34" charset="0"/>
                <a:ea typeface="Courier New" pitchFamily="34" charset="-122"/>
                <a:cs typeface="Courier New" pitchFamily="34" charset="-120"/>
              </a:rPr>
              <a:t>expect(page.getByRole(</a:t>
            </a:r>
            <a:r>
              <a:rPr lang="en-US" sz="1150" dirty="0">
                <a:solidFill>
                  <a:srgbClr val="9CDCFE"/>
                </a:solidFill>
                <a:latin typeface="Courier New" pitchFamily="34" charset="0"/>
                <a:ea typeface="Courier New" pitchFamily="34" charset="-122"/>
                <a:cs typeface="Courier New" pitchFamily="34" charset="-120"/>
              </a:rPr>
              <a:t>'heading'</a:t>
            </a:r>
            <a:r>
              <a:rPr lang="en-US" sz="1150" dirty="0">
                <a:solidFill>
                  <a:srgbClr val="DCDCAA"/>
                </a:solidFill>
                <a:latin typeface="Courier New" pitchFamily="34" charset="0"/>
                <a:ea typeface="Courier New" pitchFamily="34" charset="-122"/>
                <a:cs typeface="Courier New" pitchFamily="34" charset="-120"/>
              </a:rPr>
              <a:t>, { name: </a:t>
            </a:r>
            <a:r>
              <a:rPr lang="en-US" sz="1150" dirty="0">
                <a:solidFill>
                  <a:srgbClr val="9CDCFE"/>
                </a:solidFill>
                <a:latin typeface="Courier New" pitchFamily="34" charset="0"/>
                <a:ea typeface="Courier New" pitchFamily="34" charset="-122"/>
                <a:cs typeface="Courier New" pitchFamily="34" charset="-120"/>
              </a:rPr>
              <a:t>/welcome/i</a:t>
            </a:r>
            <a:r>
              <a:rPr lang="en-US" sz="1150" dirty="0">
                <a:solidFill>
                  <a:srgbClr val="FFFFFF"/>
                </a:solidFill>
                <a:latin typeface="Courier New" pitchFamily="34" charset="0"/>
                <a:ea typeface="Courier New" pitchFamily="34" charset="-122"/>
                <a:cs typeface="Courier New" pitchFamily="34" charset="-120"/>
              </a:rPr>
              <a:t> })).toBeVisible();</a:t>
            </a:r>
            <a:endParaRPr lang="en-US" sz="1150" dirty="0"/>
          </a:p>
          <a:p>
            <a:pPr marL="0" indent="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marL="0" indent="0">
              <a:buNone/>
            </a:pPr>
            <a:endParaRPr lang="en-US" sz="1150" dirty="0"/>
          </a:p>
          <a:p>
            <a:pPr marL="0" indent="0">
              <a:buNone/>
            </a:pPr>
            <a:r>
              <a:rPr lang="en-US" sz="1150" i="1" dirty="0">
                <a:solidFill>
                  <a:srgbClr val="6A9955"/>
                </a:solidFill>
                <a:latin typeface="Courier New" pitchFamily="34" charset="0"/>
                <a:ea typeface="Courier New" pitchFamily="34" charset="-122"/>
                <a:cs typeface="Courier New" pitchFamily="34" charset="-120"/>
              </a:rPr>
              <a:t>// run: npx playwright test</a:t>
            </a:r>
            <a:endParaRPr lang="en-US" sz="1150" dirty="0"/>
          </a:p>
          <a:p>
            <a:pPr marL="0" indent="0">
              <a:buNone/>
            </a:pPr>
            <a:r>
              <a:rPr lang="en-US" sz="1150" i="1" dirty="0">
                <a:solidFill>
                  <a:srgbClr val="6A9955"/>
                </a:solidFill>
                <a:latin typeface="Courier New" pitchFamily="34" charset="0"/>
                <a:ea typeface="Courier New" pitchFamily="34" charset="-122"/>
                <a:cs typeface="Courier New" pitchFamily="34" charset="-120"/>
              </a:rPr>
              <a:t>// or: npx playwright codegen http://localhost:5173 (records actions)</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27</a:t>
            </a:r>
            <a:endParaRPr lang="en-US" sz="9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Testing the Server Side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The newest territory. Tools are still maturing.</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Testing Server Components and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story is incomplete in mid-2026. Here's where it stands.</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Server Action functions test like any async function</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Import the action, call it with FormData, assert on the return value or DB state. Standard Vitest.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Server Components — mostly E2E for now</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RTL doesn't render Server Components directly. Either test the data layer with unit tests + the rendered output with Playwright, or use Next.js's experimental test helpers.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Mock the data layer, not the framework</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Test that getPosts() returns the expected shape; test that the page renders that shape correctly. Don't try to mock React's renderer.</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5"/>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When in doubt, push to the boundary</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Action contracts (input/output) and Client Component renders are both well-understood. The seam between them is where E2E earns its keep.</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6</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AI-Generated Tests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AI writes a lot of tests. Most of them test the wrong thing.</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Behavior vs implementation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Two tests for the same component. One survives a refactor; one doesn't.</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Implementation test (don't)</a:t>
            </a:r>
            <a:endParaRPr lang="en-US" sz="1300" dirty="0"/>
          </a:p>
        </p:txBody>
      </p:sp>
      <p:sp>
        <p:nvSpPr>
          <p:cNvPr id="6" name="Shape 4"/>
          <p:cNvSpPr/>
          <p:nvPr/>
        </p:nvSpPr>
        <p:spPr>
          <a:xfrm>
            <a:off x="777240" y="1920240"/>
            <a:ext cx="5349240" cy="402336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749040"/>
          </a:xfrm>
          <a:prstGeom prst="rect">
            <a:avLst/>
          </a:prstGeom>
          <a:noFill/>
          <a:ln/>
        </p:spPr>
        <p:txBody>
          <a:bodyPr wrap="square" lIns="0" tIns="0" rIns="0" bIns="0" rtlCol="0" anchor="t"/>
          <a:lstStyle/>
          <a:p>
            <a:pPr marL="0" indent="0">
              <a:buNone/>
            </a:pPr>
            <a:r>
              <a:rPr lang="en-US" sz="1200" dirty="0">
                <a:solidFill>
                  <a:srgbClr val="DCDCAA"/>
                </a:solidFill>
                <a:latin typeface="Courier New" pitchFamily="34" charset="0"/>
                <a:ea typeface="Courier New" pitchFamily="34" charset="-122"/>
                <a:cs typeface="Courier New" pitchFamily="34" charset="-120"/>
              </a:rPr>
              <a:t>it</a:t>
            </a:r>
            <a:r>
              <a:rPr lang="en-US" sz="1200" dirty="0">
                <a:solidFill>
                  <a:srgbClr val="9CDCFE"/>
                </a:solidFill>
                <a:latin typeface="Courier New" pitchFamily="34" charset="0"/>
                <a:ea typeface="Courier New" pitchFamily="34" charset="-122"/>
                <a:cs typeface="Courier New" pitchFamily="34" charset="-120"/>
              </a:rPr>
              <a:t>('sets isOpen state on click'</a:t>
            </a:r>
            <a:r>
              <a:rPr lang="en-US" sz="1200" dirty="0">
                <a:solidFill>
                  <a:srgbClr val="FFFFFF"/>
                </a:solidFill>
                <a:latin typeface="Courier New" pitchFamily="34" charset="0"/>
                <a:ea typeface="Courier New" pitchFamily="34" charset="-122"/>
                <a:cs typeface="Courier New" pitchFamily="34" charset="-120"/>
              </a:rPr>
              <a:t>, () =&gt; {</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const setState = </a:t>
            </a:r>
            <a:r>
              <a:rPr lang="en-US" sz="1200" dirty="0">
                <a:solidFill>
                  <a:srgbClr val="DCDCAA"/>
                </a:solidFill>
                <a:latin typeface="Courier New" pitchFamily="34" charset="0"/>
                <a:ea typeface="Courier New" pitchFamily="34" charset="-122"/>
                <a:cs typeface="Courier New" pitchFamily="34" charset="-120"/>
              </a:rPr>
              <a:t>vi.spyOn</a:t>
            </a:r>
            <a:r>
              <a:rPr lang="en-US" sz="1200" dirty="0">
                <a:solidFill>
                  <a:srgbClr val="9CDCFE"/>
                </a:solidFill>
                <a:latin typeface="Courier New" pitchFamily="34" charset="0"/>
                <a:ea typeface="Courier New" pitchFamily="34" charset="-122"/>
                <a:cs typeface="Courier New" pitchFamily="34" charset="-120"/>
              </a:rPr>
              <a:t>(React, 'useState'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render</a:t>
            </a:r>
            <a:r>
              <a:rPr lang="en-US" sz="1200" dirty="0">
                <a:solidFill>
                  <a:srgbClr val="FFFFFF"/>
                </a:solidFill>
                <a:latin typeface="Courier New" pitchFamily="34" charset="0"/>
                <a:ea typeface="Courier New" pitchFamily="34" charset="-122"/>
                <a:cs typeface="Courier New" pitchFamily="34" charset="-120"/>
              </a:rPr>
              <a:t>(&lt;Drawer /&gt;);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fireEvent</a:t>
            </a:r>
            <a:r>
              <a:rPr lang="en-US" sz="1200" dirty="0">
                <a:solidFill>
                  <a:srgbClr val="9CDCFE"/>
                </a:solidFill>
                <a:latin typeface="Courier New" pitchFamily="34" charset="0"/>
                <a:ea typeface="Courier New" pitchFamily="34" charset="-122"/>
                <a:cs typeface="Courier New" pitchFamily="34" charset="-120"/>
              </a:rPr>
              <a:t>.click(screen</a:t>
            </a:r>
            <a:r>
              <a:rPr lang="en-US" sz="1200" dirty="0">
                <a:solidFill>
                  <a:srgbClr val="DCDCAA"/>
                </a:solidFill>
                <a:latin typeface="Courier New" pitchFamily="34" charset="0"/>
                <a:ea typeface="Courier New" pitchFamily="34" charset="-122"/>
                <a:cs typeface="Courier New" pitchFamily="34" charset="-120"/>
              </a:rPr>
              <a:t>.getByTestId(</a:t>
            </a:r>
            <a:r>
              <a:rPr lang="en-US" sz="1200" dirty="0">
                <a:solidFill>
                  <a:srgbClr val="9CDCFE"/>
                </a:solidFill>
                <a:latin typeface="Courier New" pitchFamily="34" charset="0"/>
                <a:ea typeface="Courier New" pitchFamily="34" charset="-122"/>
                <a:cs typeface="Courier New" pitchFamily="34" charset="-120"/>
              </a:rPr>
              <a:t>'open-btn'</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expect(setState).toHaveBeenCalledWith(</a:t>
            </a:r>
            <a:r>
              <a:rPr lang="en-US" sz="1200" dirty="0">
                <a:solidFill>
                  <a:srgbClr val="C586C0"/>
                </a:solidFill>
                <a:latin typeface="Courier New" pitchFamily="34" charset="0"/>
                <a:ea typeface="Courier New" pitchFamily="34" charset="-122"/>
                <a:cs typeface="Courier New" pitchFamily="34" charset="-120"/>
              </a:rPr>
              <a:t>true</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breaks if you switch to useReducer</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breaks if you rename the state var</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breaks if you change the test ID</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Behavior test (do)</a:t>
            </a:r>
            <a:endParaRPr lang="en-US" sz="1300" dirty="0"/>
          </a:p>
        </p:txBody>
      </p:sp>
      <p:sp>
        <p:nvSpPr>
          <p:cNvPr id="9" name="Shape 7"/>
          <p:cNvSpPr/>
          <p:nvPr/>
        </p:nvSpPr>
        <p:spPr>
          <a:xfrm>
            <a:off x="6355080" y="1920240"/>
            <a:ext cx="5029200" cy="402336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749040"/>
          </a:xfrm>
          <a:prstGeom prst="rect">
            <a:avLst/>
          </a:prstGeom>
          <a:noFill/>
          <a:ln/>
        </p:spPr>
        <p:txBody>
          <a:bodyPr wrap="square" lIns="0" tIns="0" rIns="0" bIns="0" rtlCol="0" anchor="t"/>
          <a:lstStyle/>
          <a:p>
            <a:pPr marL="0" indent="0">
              <a:buNone/>
            </a:pPr>
            <a:r>
              <a:rPr lang="en-US" sz="1200" dirty="0">
                <a:solidFill>
                  <a:srgbClr val="DCDCAA"/>
                </a:solidFill>
                <a:latin typeface="Courier New" pitchFamily="34" charset="0"/>
                <a:ea typeface="Courier New" pitchFamily="34" charset="-122"/>
                <a:cs typeface="Courier New" pitchFamily="34" charset="-120"/>
              </a:rPr>
              <a:t>it</a:t>
            </a:r>
            <a:r>
              <a:rPr lang="en-US" sz="1200" dirty="0">
                <a:solidFill>
                  <a:srgbClr val="9CDCFE"/>
                </a:solidFill>
                <a:latin typeface="Courier New" pitchFamily="34" charset="0"/>
                <a:ea typeface="Courier New" pitchFamily="34" charset="-122"/>
                <a:cs typeface="Courier New" pitchFamily="34" charset="-120"/>
              </a:rPr>
              <a:t>('opens drawer on click'</a:t>
            </a:r>
            <a:r>
              <a:rPr lang="en-US" sz="1200" dirty="0">
                <a:solidFill>
                  <a:srgbClr val="FFFFFF"/>
                </a:solidFill>
                <a:latin typeface="Courier New" pitchFamily="34" charset="0"/>
                <a:ea typeface="Courier New" pitchFamily="34" charset="-122"/>
                <a:cs typeface="Courier New" pitchFamily="34" charset="-120"/>
              </a:rPr>
              <a:t>, async () =&gt; {</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const user = </a:t>
            </a:r>
            <a:r>
              <a:rPr lang="en-US" sz="1200" dirty="0">
                <a:solidFill>
                  <a:srgbClr val="DCDCAA"/>
                </a:solidFill>
                <a:latin typeface="Courier New" pitchFamily="34" charset="0"/>
                <a:ea typeface="Courier New" pitchFamily="34" charset="-122"/>
                <a:cs typeface="Courier New" pitchFamily="34" charset="-120"/>
              </a:rPr>
              <a:t>userEvent</a:t>
            </a:r>
            <a:r>
              <a:rPr lang="en-US" sz="1200" dirty="0">
                <a:solidFill>
                  <a:srgbClr val="FFFFFF"/>
                </a:solidFill>
                <a:latin typeface="Courier New" pitchFamily="34" charset="0"/>
                <a:ea typeface="Courier New" pitchFamily="34" charset="-122"/>
                <a:cs typeface="Courier New" pitchFamily="34" charset="-120"/>
              </a:rPr>
              <a:t>.setup();</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render</a:t>
            </a:r>
            <a:r>
              <a:rPr lang="en-US" sz="1200" dirty="0">
                <a:solidFill>
                  <a:srgbClr val="FFFFFF"/>
                </a:solidFill>
                <a:latin typeface="Courier New" pitchFamily="34" charset="0"/>
                <a:ea typeface="Courier New" pitchFamily="34" charset="-122"/>
                <a:cs typeface="Courier New" pitchFamily="34" charset="-120"/>
              </a:rPr>
              <a:t>(&lt;Drawer /&gt;);</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const btn = </a:t>
            </a:r>
            <a:r>
              <a:rPr lang="en-US" sz="1200" dirty="0">
                <a:solidFill>
                  <a:srgbClr val="9CDCFE"/>
                </a:solidFill>
                <a:latin typeface="Courier New" pitchFamily="34" charset="0"/>
                <a:ea typeface="Courier New" pitchFamily="34" charset="-122"/>
                <a:cs typeface="Courier New" pitchFamily="34" charset="-120"/>
              </a:rPr>
              <a:t>screen</a:t>
            </a:r>
            <a:r>
              <a:rPr lang="en-US" sz="1200" dirty="0">
                <a:solidFill>
                  <a:srgbClr val="DCDCAA"/>
                </a:solidFill>
                <a:latin typeface="Courier New" pitchFamily="34" charset="0"/>
                <a:ea typeface="Courier New" pitchFamily="34" charset="-122"/>
                <a:cs typeface="Courier New" pitchFamily="34" charset="-120"/>
              </a:rPr>
              <a:t>.getByRole(</a:t>
            </a:r>
            <a:r>
              <a:rPr lang="en-US" sz="1200" dirty="0">
                <a:solidFill>
                  <a:srgbClr val="9CDCFE"/>
                </a:solidFill>
                <a:latin typeface="Courier New" pitchFamily="34" charset="0"/>
                <a:ea typeface="Courier New" pitchFamily="34" charset="-122"/>
                <a:cs typeface="Courier New" pitchFamily="34" charset="-120"/>
              </a:rPr>
              <a:t>'button'</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await user.click(btn);</a:t>
            </a:r>
            <a:endParaRPr lang="en-US" sz="1200" dirty="0"/>
          </a:p>
          <a:p>
            <a:pPr marL="0" indent="0">
              <a:buNone/>
            </a:pP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DCDCAA"/>
                </a:solidFill>
                <a:latin typeface="Courier New" pitchFamily="34" charset="0"/>
                <a:ea typeface="Courier New" pitchFamily="34" charset="-122"/>
                <a:cs typeface="Courier New" pitchFamily="34" charset="-120"/>
              </a:rPr>
              <a:t>expect</a:t>
            </a:r>
            <a:r>
              <a:rPr lang="en-US" sz="1200" dirty="0">
                <a:solidFill>
                  <a:srgbClr val="9CDCFE"/>
                </a:solidFill>
                <a:latin typeface="Courier New" pitchFamily="34" charset="0"/>
                <a:ea typeface="Courier New" pitchFamily="34" charset="-122"/>
                <a:cs typeface="Courier New" pitchFamily="34" charset="-120"/>
              </a:rPr>
              <a:t>(screen</a:t>
            </a:r>
            <a:r>
              <a:rPr lang="en-US" sz="1200" dirty="0">
                <a:solidFill>
                  <a:srgbClr val="DCDCAA"/>
                </a:solidFill>
                <a:latin typeface="Courier New" pitchFamily="34" charset="0"/>
                <a:ea typeface="Courier New" pitchFamily="34" charset="-122"/>
                <a:cs typeface="Courier New" pitchFamily="34" charset="-120"/>
              </a:rPr>
              <a:t>.getByRole(</a:t>
            </a:r>
            <a:r>
              <a:rPr lang="en-US" sz="1200" dirty="0">
                <a:solidFill>
                  <a:srgbClr val="9CDCFE"/>
                </a:solidFill>
                <a:latin typeface="Courier New" pitchFamily="34" charset="0"/>
                <a:ea typeface="Courier New" pitchFamily="34" charset="-122"/>
                <a:cs typeface="Courier New" pitchFamily="34" charset="-120"/>
              </a:rPr>
              <a:t>'navigation'</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.toBeVisible();</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passes for useState, useReducer,</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Zustand, or RTK — same behavior</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 test red flags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When you read AI-generated tests, look for these.</a:t>
            </a:r>
            <a:endParaRPr lang="en-US" sz="1400" dirty="0"/>
          </a:p>
        </p:txBody>
      </p:sp>
      <p:sp>
        <p:nvSpPr>
          <p:cNvPr id="5" name="Shape 3"/>
          <p:cNvSpPr/>
          <p:nvPr/>
        </p:nvSpPr>
        <p:spPr>
          <a:xfrm>
            <a:off x="777240" y="1691640"/>
            <a:ext cx="5212080" cy="82296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56232"/>
            <a:ext cx="457200" cy="457200"/>
          </a:xfrm>
          <a:prstGeom prst="rect">
            <a:avLst/>
          </a:prstGeom>
        </p:spPr>
      </p:pic>
      <p:sp>
        <p:nvSpPr>
          <p:cNvPr id="7" name="Text 4"/>
          <p:cNvSpPr/>
          <p:nvPr/>
        </p:nvSpPr>
        <p:spPr>
          <a:xfrm>
            <a:off x="1554480" y="173736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vi.spyOn() on React's hooks — testing internals</a:t>
            </a:r>
            <a:endParaRPr lang="en-US" sz="1150" dirty="0"/>
          </a:p>
        </p:txBody>
      </p:sp>
      <p:sp>
        <p:nvSpPr>
          <p:cNvPr id="8" name="Shape 5"/>
          <p:cNvSpPr/>
          <p:nvPr/>
        </p:nvSpPr>
        <p:spPr>
          <a:xfrm>
            <a:off x="6126480" y="1691640"/>
            <a:ext cx="5212080" cy="82296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1856232"/>
            <a:ext cx="457200" cy="457200"/>
          </a:xfrm>
          <a:prstGeom prst="rect">
            <a:avLst/>
          </a:prstGeom>
        </p:spPr>
      </p:pic>
      <p:sp>
        <p:nvSpPr>
          <p:cNvPr id="10" name="Text 6"/>
          <p:cNvSpPr/>
          <p:nvPr/>
        </p:nvSpPr>
        <p:spPr>
          <a:xfrm>
            <a:off x="6903720" y="173736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getByTestId everywhere instead of getByRole</a:t>
            </a:r>
            <a:endParaRPr lang="en-US" sz="1150" dirty="0"/>
          </a:p>
        </p:txBody>
      </p:sp>
      <p:sp>
        <p:nvSpPr>
          <p:cNvPr id="11" name="Shape 7"/>
          <p:cNvSpPr/>
          <p:nvPr/>
        </p:nvSpPr>
        <p:spPr>
          <a:xfrm>
            <a:off x="777240" y="2651760"/>
            <a:ext cx="5212080" cy="82296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2816352"/>
            <a:ext cx="457200" cy="457200"/>
          </a:xfrm>
          <a:prstGeom prst="rect">
            <a:avLst/>
          </a:prstGeom>
        </p:spPr>
      </p:pic>
      <p:sp>
        <p:nvSpPr>
          <p:cNvPr id="13" name="Text 8"/>
          <p:cNvSpPr/>
          <p:nvPr/>
        </p:nvSpPr>
        <p:spPr>
          <a:xfrm>
            <a:off x="1554480" y="269748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expect(setState).toHaveBeenCalledWith(...) — implementation coupling</a:t>
            </a:r>
            <a:endParaRPr lang="en-US" sz="1150" dirty="0"/>
          </a:p>
        </p:txBody>
      </p:sp>
      <p:sp>
        <p:nvSpPr>
          <p:cNvPr id="14" name="Shape 9"/>
          <p:cNvSpPr/>
          <p:nvPr/>
        </p:nvSpPr>
        <p:spPr>
          <a:xfrm>
            <a:off x="6126480" y="2651760"/>
            <a:ext cx="5212080" cy="82296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2816352"/>
            <a:ext cx="457200" cy="457200"/>
          </a:xfrm>
          <a:prstGeom prst="rect">
            <a:avLst/>
          </a:prstGeom>
        </p:spPr>
      </p:pic>
      <p:sp>
        <p:nvSpPr>
          <p:cNvPr id="16" name="Text 10"/>
          <p:cNvSpPr/>
          <p:nvPr/>
        </p:nvSpPr>
        <p:spPr>
          <a:xfrm>
            <a:off x="6903720" y="269748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fireEvent instead of userEvent — misses real user interactions</a:t>
            </a:r>
            <a:endParaRPr lang="en-US" sz="1150" dirty="0"/>
          </a:p>
        </p:txBody>
      </p:sp>
      <p:sp>
        <p:nvSpPr>
          <p:cNvPr id="17" name="Shape 11"/>
          <p:cNvSpPr/>
          <p:nvPr/>
        </p:nvSpPr>
        <p:spPr>
          <a:xfrm>
            <a:off x="777240" y="3611880"/>
            <a:ext cx="5212080" cy="82296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3776472"/>
            <a:ext cx="457200" cy="457200"/>
          </a:xfrm>
          <a:prstGeom prst="rect">
            <a:avLst/>
          </a:prstGeom>
        </p:spPr>
      </p:pic>
      <p:sp>
        <p:nvSpPr>
          <p:cNvPr id="19" name="Text 12"/>
          <p:cNvSpPr/>
          <p:nvPr/>
        </p:nvSpPr>
        <p:spPr>
          <a:xfrm>
            <a:off x="1554480" y="365760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Mocking individual functions in api.js — should mock at the network</a:t>
            </a:r>
            <a:endParaRPr lang="en-US" sz="1150" dirty="0"/>
          </a:p>
        </p:txBody>
      </p:sp>
      <p:sp>
        <p:nvSpPr>
          <p:cNvPr id="20" name="Shape 13"/>
          <p:cNvSpPr/>
          <p:nvPr/>
        </p:nvSpPr>
        <p:spPr>
          <a:xfrm>
            <a:off x="6126480" y="3611880"/>
            <a:ext cx="5212080" cy="82296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3776472"/>
            <a:ext cx="457200" cy="457200"/>
          </a:xfrm>
          <a:prstGeom prst="rect">
            <a:avLst/>
          </a:prstGeom>
        </p:spPr>
      </p:pic>
      <p:sp>
        <p:nvSpPr>
          <p:cNvPr id="22" name="Text 14"/>
          <p:cNvSpPr/>
          <p:nvPr/>
        </p:nvSpPr>
        <p:spPr>
          <a:xfrm>
            <a:off x="6903720" y="365760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setTimeout-based waits — flakiness factory</a:t>
            </a:r>
            <a:endParaRPr lang="en-US" sz="1150" dirty="0"/>
          </a:p>
        </p:txBody>
      </p:sp>
      <p:sp>
        <p:nvSpPr>
          <p:cNvPr id="23" name="Shape 15"/>
          <p:cNvSpPr/>
          <p:nvPr/>
        </p:nvSpPr>
        <p:spPr>
          <a:xfrm>
            <a:off x="777240" y="4572000"/>
            <a:ext cx="5212080" cy="822960"/>
          </a:xfrm>
          <a:prstGeom prst="rect">
            <a:avLst/>
          </a:prstGeom>
          <a:solidFill>
            <a:srgbClr val="FFFFFF"/>
          </a:solidFill>
          <a:ln w="12700">
            <a:solidFill>
              <a:srgbClr val="E2E8F0"/>
            </a:solidFill>
            <a:prstDash val="solid"/>
          </a:ln>
        </p:spPr>
        <p:txBody>
          <a:bodyPr/>
          <a:lstStyle/>
          <a:p>
            <a:endParaRPr lang="en-US"/>
          </a:p>
        </p:txBody>
      </p:sp>
      <p:pic>
        <p:nvPicPr>
          <p:cNvPr id="24" name="Image 6" descr="preencoded.png"/>
          <p:cNvPicPr>
            <a:picLocks noChangeAspect="1"/>
          </p:cNvPicPr>
          <p:nvPr/>
        </p:nvPicPr>
        <p:blipFill>
          <a:blip r:embed="rId3"/>
          <a:stretch>
            <a:fillRect/>
          </a:stretch>
        </p:blipFill>
        <p:spPr>
          <a:xfrm>
            <a:off x="960120" y="4736592"/>
            <a:ext cx="457200" cy="457200"/>
          </a:xfrm>
          <a:prstGeom prst="rect">
            <a:avLst/>
          </a:prstGeom>
        </p:spPr>
      </p:pic>
      <p:sp>
        <p:nvSpPr>
          <p:cNvPr id="25" name="Text 16"/>
          <p:cNvSpPr/>
          <p:nvPr/>
        </p:nvSpPr>
        <p:spPr>
          <a:xfrm>
            <a:off x="1554480" y="461772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Tests that pass without rendering anything — checking pure utils only</a:t>
            </a:r>
            <a:endParaRPr lang="en-US" sz="1150" dirty="0"/>
          </a:p>
        </p:txBody>
      </p:sp>
      <p:sp>
        <p:nvSpPr>
          <p:cNvPr id="26" name="Shape 17"/>
          <p:cNvSpPr/>
          <p:nvPr/>
        </p:nvSpPr>
        <p:spPr>
          <a:xfrm>
            <a:off x="6126480" y="4572000"/>
            <a:ext cx="5212080" cy="822960"/>
          </a:xfrm>
          <a:prstGeom prst="rect">
            <a:avLst/>
          </a:prstGeom>
          <a:solidFill>
            <a:srgbClr val="FFFFFF"/>
          </a:solidFill>
          <a:ln w="12700">
            <a:solidFill>
              <a:srgbClr val="E2E8F0"/>
            </a:solidFill>
            <a:prstDash val="solid"/>
          </a:ln>
        </p:spPr>
        <p:txBody>
          <a:bodyPr/>
          <a:lstStyle/>
          <a:p>
            <a:endParaRPr lang="en-US"/>
          </a:p>
        </p:txBody>
      </p:sp>
      <p:pic>
        <p:nvPicPr>
          <p:cNvPr id="27" name="Image 7" descr="preencoded.png"/>
          <p:cNvPicPr>
            <a:picLocks noChangeAspect="1"/>
          </p:cNvPicPr>
          <p:nvPr/>
        </p:nvPicPr>
        <p:blipFill>
          <a:blip r:embed="rId3"/>
          <a:stretch>
            <a:fillRect/>
          </a:stretch>
        </p:blipFill>
        <p:spPr>
          <a:xfrm>
            <a:off x="6309360" y="4736592"/>
            <a:ext cx="457200" cy="457200"/>
          </a:xfrm>
          <a:prstGeom prst="rect">
            <a:avLst/>
          </a:prstGeom>
        </p:spPr>
      </p:pic>
      <p:sp>
        <p:nvSpPr>
          <p:cNvPr id="28" name="Text 18"/>
          <p:cNvSpPr/>
          <p:nvPr/>
        </p:nvSpPr>
        <p:spPr>
          <a:xfrm>
            <a:off x="6903720" y="461772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Snapshot tests for entire components — every refactor fails them</a:t>
            </a:r>
            <a:endParaRPr lang="en-US" sz="1150" dirty="0"/>
          </a:p>
        </p:txBody>
      </p:sp>
      <p:sp>
        <p:nvSpPr>
          <p:cNvPr id="29"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30"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8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Vitest &gt; Jest for new projects. Same API, faster startup, shared config with Vite.</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Test BEHAVIOR, not implementation. Query by ROLE first; getByTestId is the last resort.</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user-event over fireEvent. Always await it. It simulates real interaction.</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MSW intercepts at the network layer. Same mocks for tests AND dev. Reset handlers between tests.</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Playwright for critical flows only. 80/15/5 — unit/integration/E2E.</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AI-generated tests need review. Look for spyOn, fireEvent, getByTestId, setTimeout.</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7</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Write a baseline test suite, then have AI extend it. Review every line.</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 7: Test Suite from Scratch</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75 minutes  ·  Hands-on  ·  AI-test review is the load-bearing part</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Set up Vitest + RTL + MSW for the social-media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Write a baseline test suite for one feature by hand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Have AI extend the suite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Mark each AI-generated test as keep / refactor / delete with a written reason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one Playwright e2e test for the auth flow</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After the lab: Module 9</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Advanced React with AI assistants — the focused module.</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Module 9 brings together the AI thread that's run through every day:</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Tool-agnostic patterns that work across Cursor, Claude Code, Copilot, Windsurf</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Taxonomy of React mistakes LLMs make — pulled from your own findings this week</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Project context for AI: AGENTS.md / CLAUDE.md, lint rules, repo conventions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AI-assisted refactors and migrations — and verification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8: build a feature end-to-end with AI assistance, then code-review yourself</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Day 3 progress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modules done. AI module + final wrap-up still ahead.</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1097280" y="192024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Day 3 plan:</a:t>
            </a:r>
            <a:endParaRPr lang="en-US" sz="1400" dirty="0"/>
          </a:p>
        </p:txBody>
      </p:sp>
      <p:sp>
        <p:nvSpPr>
          <p:cNvPr id="7" name="Text 5"/>
          <p:cNvSpPr/>
          <p:nvPr/>
        </p:nvSpPr>
        <p:spPr>
          <a:xfrm>
            <a:off x="1097280" y="2377440"/>
            <a:ext cx="10058400" cy="3383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in the Compiler era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 AI-generated test review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Working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 to end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concerns + course wrap-up</a:t>
            </a:r>
            <a:endParaRPr lang="en-US" sz="12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8 — Testing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9</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000" b="1" dirty="0">
                <a:solidFill>
                  <a:srgbClr val="FFFFFF"/>
                </a:solidFill>
                <a:latin typeface="Trebuchet MS" pitchFamily="34" charset="0"/>
                <a:ea typeface="Trebuchet MS" pitchFamily="34" charset="-122"/>
                <a:cs typeface="Trebuchet MS" pitchFamily="34" charset="-120"/>
              </a:rPr>
              <a:t>Advanced React with AI Assistants</a:t>
            </a:r>
            <a:endParaRPr lang="en-US" sz="40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Tool-agnostic patterns. The mistake taxonomy. Project context. The review checklist.</a:t>
            </a:r>
            <a:endParaRPr lang="en-US" sz="1800" dirty="0"/>
          </a:p>
        </p:txBody>
      </p:sp>
      <p:sp>
        <p:nvSpPr>
          <p:cNvPr id="6" name="Text 4"/>
          <p:cNvSpPr/>
          <p:nvPr/>
        </p:nvSpPr>
        <p:spPr>
          <a:xfrm>
            <a:off x="640080" y="502920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75 minutes  ·  Lecture + demos  ·  Lab 8 follows</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thread so far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You've spotted AI-generated React mistakes in every lab this week.</a:t>
            </a:r>
            <a:endParaRPr lang="en-US" sz="1400" dirty="0"/>
          </a:p>
        </p:txBody>
      </p:sp>
      <p:sp>
        <p:nvSpPr>
          <p:cNvPr id="5" name="Shape 3"/>
          <p:cNvSpPr/>
          <p:nvPr/>
        </p:nvSpPr>
        <p:spPr>
          <a:xfrm>
            <a:off x="777240" y="1691640"/>
            <a:ext cx="10607040" cy="50292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3736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1</a:t>
            </a:r>
            <a:endParaRPr lang="en-US" sz="1200" dirty="0"/>
          </a:p>
        </p:txBody>
      </p:sp>
      <p:sp>
        <p:nvSpPr>
          <p:cNvPr id="7" name="Text 5"/>
          <p:cNvSpPr/>
          <p:nvPr/>
        </p:nvSpPr>
        <p:spPr>
          <a:xfrm>
            <a:off x="2468880" y="173736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Stale closures, useEffect for derived state, race-prone setters</a:t>
            </a:r>
            <a:endParaRPr lang="en-US" sz="1150" dirty="0"/>
          </a:p>
        </p:txBody>
      </p:sp>
      <p:sp>
        <p:nvSpPr>
          <p:cNvPr id="8" name="Shape 6"/>
          <p:cNvSpPr/>
          <p:nvPr/>
        </p:nvSpPr>
        <p:spPr>
          <a:xfrm>
            <a:off x="777240" y="2286000"/>
            <a:ext cx="10607040" cy="502920"/>
          </a:xfrm>
          <a:prstGeom prst="rect">
            <a:avLst/>
          </a:prstGeom>
          <a:solidFill>
            <a:srgbClr val="F8FAFC"/>
          </a:solidFill>
          <a:ln w="12700">
            <a:solidFill>
              <a:srgbClr val="E2E8F0"/>
            </a:solidFill>
            <a:prstDash val="solid"/>
          </a:ln>
        </p:spPr>
        <p:txBody>
          <a:bodyPr/>
          <a:lstStyle/>
          <a:p>
            <a:endParaRPr lang="en-US"/>
          </a:p>
        </p:txBody>
      </p:sp>
      <p:sp>
        <p:nvSpPr>
          <p:cNvPr id="9" name="Text 7"/>
          <p:cNvSpPr/>
          <p:nvPr/>
        </p:nvSpPr>
        <p:spPr>
          <a:xfrm>
            <a:off x="960120" y="233172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2</a:t>
            </a:r>
            <a:endParaRPr lang="en-US" sz="1200" dirty="0"/>
          </a:p>
        </p:txBody>
      </p:sp>
      <p:sp>
        <p:nvSpPr>
          <p:cNvPr id="10" name="Text 8"/>
          <p:cNvSpPr/>
          <p:nvPr/>
        </p:nvSpPr>
        <p:spPr>
          <a:xfrm>
            <a:off x="2468880" y="233172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v6 React Router patterns, Pages-Router-era Next.js, localStorage for sessions</a:t>
            </a:r>
            <a:endParaRPr lang="en-US" sz="1150" dirty="0"/>
          </a:p>
        </p:txBody>
      </p:sp>
      <p:sp>
        <p:nvSpPr>
          <p:cNvPr id="11" name="Shape 9"/>
          <p:cNvSpPr/>
          <p:nvPr/>
        </p:nvSpPr>
        <p:spPr>
          <a:xfrm>
            <a:off x="777240" y="2880360"/>
            <a:ext cx="10607040" cy="502920"/>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292608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3</a:t>
            </a:r>
            <a:endParaRPr lang="en-US" sz="1200" dirty="0"/>
          </a:p>
        </p:txBody>
      </p:sp>
      <p:sp>
        <p:nvSpPr>
          <p:cNvPr id="13" name="Text 11"/>
          <p:cNvSpPr/>
          <p:nvPr/>
        </p:nvSpPr>
        <p:spPr>
          <a:xfrm>
            <a:off x="2468880" y="292608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data in client store, setter-shaped action names</a:t>
            </a:r>
            <a:endParaRPr lang="en-US" sz="1150" dirty="0"/>
          </a:p>
        </p:txBody>
      </p:sp>
      <p:sp>
        <p:nvSpPr>
          <p:cNvPr id="14" name="Shape 12"/>
          <p:cNvSpPr/>
          <p:nvPr/>
        </p:nvSpPr>
        <p:spPr>
          <a:xfrm>
            <a:off x="777240" y="3474720"/>
            <a:ext cx="10607040" cy="502920"/>
          </a:xfrm>
          <a:prstGeom prst="rect">
            <a:avLst/>
          </a:prstGeom>
          <a:solidFill>
            <a:srgbClr val="F8FAFC"/>
          </a:solidFill>
          <a:ln w="12700">
            <a:solidFill>
              <a:srgbClr val="E2E8F0"/>
            </a:solidFill>
            <a:prstDash val="solid"/>
          </a:ln>
        </p:spPr>
        <p:txBody>
          <a:bodyPr/>
          <a:lstStyle/>
          <a:p>
            <a:endParaRPr lang="en-US"/>
          </a:p>
        </p:txBody>
      </p:sp>
      <p:sp>
        <p:nvSpPr>
          <p:cNvPr id="15" name="Text 13"/>
          <p:cNvSpPr/>
          <p:nvPr/>
        </p:nvSpPr>
        <p:spPr>
          <a:xfrm>
            <a:off x="960120" y="352044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4</a:t>
            </a:r>
            <a:endParaRPr lang="en-US" sz="1200" dirty="0"/>
          </a:p>
        </p:txBody>
      </p:sp>
      <p:sp>
        <p:nvSpPr>
          <p:cNvPr id="16" name="Text 14"/>
          <p:cNvSpPr/>
          <p:nvPr/>
        </p:nvSpPr>
        <p:spPr>
          <a:xfrm>
            <a:off x="2468880" y="352044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Mutable query keys, missing invalidation, retry on mutations</a:t>
            </a:r>
            <a:endParaRPr lang="en-US" sz="1150" dirty="0"/>
          </a:p>
        </p:txBody>
      </p:sp>
      <p:sp>
        <p:nvSpPr>
          <p:cNvPr id="17" name="Shape 15"/>
          <p:cNvSpPr/>
          <p:nvPr/>
        </p:nvSpPr>
        <p:spPr>
          <a:xfrm>
            <a:off x="777240" y="4069080"/>
            <a:ext cx="10607040" cy="502920"/>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411480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5</a:t>
            </a:r>
            <a:endParaRPr lang="en-US" sz="1200" dirty="0"/>
          </a:p>
        </p:txBody>
      </p:sp>
      <p:sp>
        <p:nvSpPr>
          <p:cNvPr id="19" name="Text 17"/>
          <p:cNvSpPr/>
          <p:nvPr/>
        </p:nvSpPr>
        <p:spPr>
          <a:xfrm>
            <a:off x="2468880" y="411480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 client' as escape hatch, server-only imports leaking, non-serializable props</a:t>
            </a:r>
            <a:endParaRPr lang="en-US" sz="1150" dirty="0"/>
          </a:p>
        </p:txBody>
      </p:sp>
      <p:sp>
        <p:nvSpPr>
          <p:cNvPr id="20" name="Shape 18"/>
          <p:cNvSpPr/>
          <p:nvPr/>
        </p:nvSpPr>
        <p:spPr>
          <a:xfrm>
            <a:off x="777240" y="4663440"/>
            <a:ext cx="10607040" cy="502920"/>
          </a:xfrm>
          <a:prstGeom prst="rect">
            <a:avLst/>
          </a:prstGeom>
          <a:solidFill>
            <a:srgbClr val="F8FAFC"/>
          </a:solidFill>
          <a:ln w="12700">
            <a:solidFill>
              <a:srgbClr val="E2E8F0"/>
            </a:solidFill>
            <a:prstDash val="solid"/>
          </a:ln>
        </p:spPr>
        <p:txBody>
          <a:bodyPr/>
          <a:lstStyle/>
          <a:p>
            <a:endParaRPr lang="en-US"/>
          </a:p>
        </p:txBody>
      </p:sp>
      <p:sp>
        <p:nvSpPr>
          <p:cNvPr id="21" name="Text 19"/>
          <p:cNvSpPr/>
          <p:nvPr/>
        </p:nvSpPr>
        <p:spPr>
          <a:xfrm>
            <a:off x="960120" y="470916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6</a:t>
            </a:r>
            <a:endParaRPr lang="en-US" sz="1200" dirty="0"/>
          </a:p>
        </p:txBody>
      </p:sp>
      <p:sp>
        <p:nvSpPr>
          <p:cNvPr id="22" name="Text 20"/>
          <p:cNvSpPr/>
          <p:nvPr/>
        </p:nvSpPr>
        <p:spPr>
          <a:xfrm>
            <a:off x="2468880" y="470916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Optimize without measure, useMemo everywhere, Web Worker overhead</a:t>
            </a:r>
            <a:endParaRPr lang="en-US" sz="1150" dirty="0"/>
          </a:p>
        </p:txBody>
      </p:sp>
      <p:sp>
        <p:nvSpPr>
          <p:cNvPr id="23" name="Shape 21"/>
          <p:cNvSpPr/>
          <p:nvPr/>
        </p:nvSpPr>
        <p:spPr>
          <a:xfrm>
            <a:off x="777240" y="5257800"/>
            <a:ext cx="10607040" cy="502920"/>
          </a:xfrm>
          <a:prstGeom prst="rect">
            <a:avLst/>
          </a:prstGeom>
          <a:solidFill>
            <a:srgbClr val="FFFFFF"/>
          </a:solidFill>
          <a:ln w="12700">
            <a:solidFill>
              <a:srgbClr val="E2E8F0"/>
            </a:solidFill>
            <a:prstDash val="solid"/>
          </a:ln>
        </p:spPr>
        <p:txBody>
          <a:bodyPr/>
          <a:lstStyle/>
          <a:p>
            <a:endParaRPr lang="en-US"/>
          </a:p>
        </p:txBody>
      </p:sp>
      <p:sp>
        <p:nvSpPr>
          <p:cNvPr id="24" name="Text 22"/>
          <p:cNvSpPr/>
          <p:nvPr/>
        </p:nvSpPr>
        <p:spPr>
          <a:xfrm>
            <a:off x="960120" y="5303520"/>
            <a:ext cx="137160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Lab 7</a:t>
            </a:r>
            <a:endParaRPr lang="en-US" sz="1200" dirty="0"/>
          </a:p>
        </p:txBody>
      </p:sp>
      <p:sp>
        <p:nvSpPr>
          <p:cNvPr id="25" name="Text 23"/>
          <p:cNvSpPr/>
          <p:nvPr/>
        </p:nvSpPr>
        <p:spPr>
          <a:xfrm>
            <a:off x="2468880" y="5303520"/>
            <a:ext cx="8778240" cy="4114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getByTestId, fireEvent, snapshot tests, spyOn React.useState</a:t>
            </a:r>
            <a:endParaRPr lang="en-US" sz="1150" dirty="0"/>
          </a:p>
        </p:txBody>
      </p:sp>
      <p:sp>
        <p:nvSpPr>
          <p:cNvPr id="26" name="Text 2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7" name="Text 2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 / 29</a:t>
            </a:r>
            <a:endParaRPr lang="en-US" sz="9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AI Tool Landscape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Four big tools, one principle: agnostic patterns over tool-specific tricks.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Tool-agnostic principles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Any tool gets better when you apply these. None gets bad when you don't.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457200" cy="457200"/>
          </a:xfrm>
          <a:prstGeom prst="rect">
            <a:avLst/>
          </a:prstGeom>
        </p:spPr>
      </p:pic>
      <p:sp>
        <p:nvSpPr>
          <p:cNvPr id="7" name="Text 4"/>
          <p:cNvSpPr/>
          <p:nvPr/>
        </p:nvSpPr>
        <p:spPr>
          <a:xfrm>
            <a:off x="1554480" y="1737360"/>
            <a:ext cx="3840480" cy="64008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Read every diff</a:t>
            </a:r>
            <a:endParaRPr lang="en-US" sz="1300" dirty="0"/>
          </a:p>
        </p:txBody>
      </p:sp>
      <p:sp>
        <p:nvSpPr>
          <p:cNvPr id="8" name="Text 5"/>
          <p:cNvSpPr/>
          <p:nvPr/>
        </p:nvSpPr>
        <p:spPr>
          <a:xfrm>
            <a:off x="5486400" y="1737360"/>
            <a:ext cx="585216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Don't accept output without reading. The friction of reading is what catches the bugs. AI gets faster — your reading discipline shouldn't.</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679192"/>
            <a:ext cx="457200" cy="457200"/>
          </a:xfrm>
          <a:prstGeom prst="rect">
            <a:avLst/>
          </a:prstGeom>
        </p:spPr>
      </p:pic>
      <p:sp>
        <p:nvSpPr>
          <p:cNvPr id="11" name="Text 7"/>
          <p:cNvSpPr/>
          <p:nvPr/>
        </p:nvSpPr>
        <p:spPr>
          <a:xfrm>
            <a:off x="1554480" y="2606040"/>
            <a:ext cx="3840480" cy="64008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Give it project context</a:t>
            </a:r>
            <a:endParaRPr lang="en-US" sz="1300" dirty="0"/>
          </a:p>
        </p:txBody>
      </p:sp>
      <p:sp>
        <p:nvSpPr>
          <p:cNvPr id="12" name="Text 8"/>
          <p:cNvSpPr/>
          <p:nvPr/>
        </p:nvSpPr>
        <p:spPr>
          <a:xfrm>
            <a:off x="5486400" y="2606040"/>
            <a:ext cx="585216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AGENTS.md, CLAUDE.md, lint rules, conventions — all of these scope the AI's output to your codebase's reality.</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3547872"/>
            <a:ext cx="457200" cy="457200"/>
          </a:xfrm>
          <a:prstGeom prst="rect">
            <a:avLst/>
          </a:prstGeom>
        </p:spPr>
      </p:pic>
      <p:sp>
        <p:nvSpPr>
          <p:cNvPr id="15" name="Text 10"/>
          <p:cNvSpPr/>
          <p:nvPr/>
        </p:nvSpPr>
        <p:spPr>
          <a:xfrm>
            <a:off x="1554480" y="3474720"/>
            <a:ext cx="3840480" cy="64008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Specify the contract, not the steps</a:t>
            </a:r>
            <a:endParaRPr lang="en-US" sz="1300" dirty="0"/>
          </a:p>
        </p:txBody>
      </p:sp>
      <p:sp>
        <p:nvSpPr>
          <p:cNvPr id="16" name="Text 11"/>
          <p:cNvSpPr/>
          <p:nvPr/>
        </p:nvSpPr>
        <p:spPr>
          <a:xfrm>
            <a:off x="5486400" y="3474720"/>
            <a:ext cx="585216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"This function takes X, returns Y, mutates nothing" beats "first do A, then B, then C". The AI is good at filling in the middle.</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4416552"/>
            <a:ext cx="457200" cy="457200"/>
          </a:xfrm>
          <a:prstGeom prst="rect">
            <a:avLst/>
          </a:prstGeom>
        </p:spPr>
      </p:pic>
      <p:sp>
        <p:nvSpPr>
          <p:cNvPr id="19" name="Text 13"/>
          <p:cNvSpPr/>
          <p:nvPr/>
        </p:nvSpPr>
        <p:spPr>
          <a:xfrm>
            <a:off x="1554480" y="4343400"/>
            <a:ext cx="3840480" cy="64008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Iterate small</a:t>
            </a:r>
            <a:endParaRPr lang="en-US" sz="1300" dirty="0"/>
          </a:p>
        </p:txBody>
      </p:sp>
      <p:sp>
        <p:nvSpPr>
          <p:cNvPr id="20" name="Text 14"/>
          <p:cNvSpPr/>
          <p:nvPr/>
        </p:nvSpPr>
        <p:spPr>
          <a:xfrm>
            <a:off x="5486400" y="4343400"/>
            <a:ext cx="585216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One hook, one component, one feature. Big batches mean big diffs you can't review. Small batches give the AI feedback in the loop.</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960120" y="5285232"/>
            <a:ext cx="457200" cy="457200"/>
          </a:xfrm>
          <a:prstGeom prst="rect">
            <a:avLst/>
          </a:prstGeom>
        </p:spPr>
      </p:pic>
      <p:sp>
        <p:nvSpPr>
          <p:cNvPr id="23" name="Text 16"/>
          <p:cNvSpPr/>
          <p:nvPr/>
        </p:nvSpPr>
        <p:spPr>
          <a:xfrm>
            <a:off x="1554480" y="5212080"/>
            <a:ext cx="3840480" cy="640080"/>
          </a:xfrm>
          <a:prstGeom prst="rect">
            <a:avLst/>
          </a:prstGeom>
          <a:noFill/>
          <a:ln/>
        </p:spPr>
        <p:txBody>
          <a:bodyPr wrap="square" lIns="0" tIns="0" rIns="0" bIns="0" rtlCol="0" anchor="ctr"/>
          <a:lstStyle/>
          <a:p>
            <a:pPr marL="0" indent="0">
              <a:buNone/>
            </a:pPr>
            <a:r>
              <a:rPr lang="en-US" sz="1300" b="1" dirty="0">
                <a:solidFill>
                  <a:srgbClr val="0F172A"/>
                </a:solidFill>
                <a:latin typeface="Trebuchet MS" pitchFamily="34" charset="0"/>
                <a:ea typeface="Trebuchet MS" pitchFamily="34" charset="-122"/>
                <a:cs typeface="Trebuchet MS" pitchFamily="34" charset="-120"/>
              </a:rPr>
              <a:t>Verify with running code, not just reading</a:t>
            </a:r>
            <a:endParaRPr lang="en-US" sz="1300" dirty="0"/>
          </a:p>
        </p:txBody>
      </p:sp>
      <p:sp>
        <p:nvSpPr>
          <p:cNvPr id="24" name="Text 17"/>
          <p:cNvSpPr/>
          <p:nvPr/>
        </p:nvSpPr>
        <p:spPr>
          <a:xfrm>
            <a:off x="5486400" y="5212080"/>
            <a:ext cx="585216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Tests, type checks, the dev server. Reading catches some mistakes; running catches the rest.</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29</a:t>
            </a:r>
            <a:endParaRPr lang="en-US" sz="9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Four tools, different shapes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Pick by workflow, not by hype. Most teams settle on one or two.</a:t>
            </a:r>
            <a:endParaRPr lang="en-US" sz="1400" dirty="0"/>
          </a:p>
        </p:txBody>
      </p:sp>
      <p:sp>
        <p:nvSpPr>
          <p:cNvPr id="5" name="Shape 3"/>
          <p:cNvSpPr/>
          <p:nvPr/>
        </p:nvSpPr>
        <p:spPr>
          <a:xfrm>
            <a:off x="777240" y="1691640"/>
            <a:ext cx="5212080" cy="128016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9728" cy="1280160"/>
          </a:xfrm>
          <a:prstGeom prst="rect">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1051560" y="1828800"/>
            <a:ext cx="4846320" cy="41148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Cursor</a:t>
            </a:r>
            <a:endParaRPr lang="en-US" sz="1800" dirty="0"/>
          </a:p>
        </p:txBody>
      </p:sp>
      <p:sp>
        <p:nvSpPr>
          <p:cNvPr id="8" name="Text 6"/>
          <p:cNvSpPr/>
          <p:nvPr/>
        </p:nvSpPr>
        <p:spPr>
          <a:xfrm>
            <a:off x="1051560" y="2286000"/>
            <a:ext cx="4846320" cy="640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VS Code fork. Inline edits + agent panel. Diff-driven. Strong for editor-in-the-loop work.</a:t>
            </a:r>
            <a:endParaRPr lang="en-US" sz="1200" dirty="0"/>
          </a:p>
        </p:txBody>
      </p:sp>
      <p:sp>
        <p:nvSpPr>
          <p:cNvPr id="9" name="Shape 7"/>
          <p:cNvSpPr/>
          <p:nvPr/>
        </p:nvSpPr>
        <p:spPr>
          <a:xfrm>
            <a:off x="6126480" y="1691640"/>
            <a:ext cx="5212080" cy="128016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6126480" y="1691640"/>
            <a:ext cx="109728" cy="1280160"/>
          </a:xfrm>
          <a:prstGeom prst="rect">
            <a:avLst/>
          </a:prstGeom>
          <a:solidFill>
            <a:srgbClr val="00B8D9"/>
          </a:solidFill>
          <a:ln w="12700">
            <a:solidFill>
              <a:srgbClr val="00B8D9"/>
            </a:solidFill>
            <a:prstDash val="solid"/>
          </a:ln>
        </p:spPr>
        <p:txBody>
          <a:bodyPr/>
          <a:lstStyle/>
          <a:p>
            <a:endParaRPr lang="en-US"/>
          </a:p>
        </p:txBody>
      </p:sp>
      <p:sp>
        <p:nvSpPr>
          <p:cNvPr id="11" name="Text 9"/>
          <p:cNvSpPr/>
          <p:nvPr/>
        </p:nvSpPr>
        <p:spPr>
          <a:xfrm>
            <a:off x="6400800" y="1828800"/>
            <a:ext cx="4846320" cy="41148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Claude Code</a:t>
            </a:r>
            <a:endParaRPr lang="en-US" sz="1800" dirty="0"/>
          </a:p>
        </p:txBody>
      </p:sp>
      <p:sp>
        <p:nvSpPr>
          <p:cNvPr id="12" name="Text 10"/>
          <p:cNvSpPr/>
          <p:nvPr/>
        </p:nvSpPr>
        <p:spPr>
          <a:xfrm>
            <a:off x="6400800" y="2286000"/>
            <a:ext cx="4846320" cy="640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CLI agent. Reads/edits files, runs commands. Strong for long autonomous tasks.</a:t>
            </a:r>
            <a:endParaRPr lang="en-US" sz="1200" dirty="0"/>
          </a:p>
        </p:txBody>
      </p:sp>
      <p:sp>
        <p:nvSpPr>
          <p:cNvPr id="13" name="Shape 11"/>
          <p:cNvSpPr/>
          <p:nvPr/>
        </p:nvSpPr>
        <p:spPr>
          <a:xfrm>
            <a:off x="777240" y="3154680"/>
            <a:ext cx="5212080" cy="128016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777240" y="3154680"/>
            <a:ext cx="109728" cy="1280160"/>
          </a:xfrm>
          <a:prstGeom prst="rect">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1051560" y="3291840"/>
            <a:ext cx="4846320" cy="41148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Copilot</a:t>
            </a:r>
            <a:endParaRPr lang="en-US" sz="1800" dirty="0"/>
          </a:p>
        </p:txBody>
      </p:sp>
      <p:sp>
        <p:nvSpPr>
          <p:cNvPr id="16" name="Text 14"/>
          <p:cNvSpPr/>
          <p:nvPr/>
        </p:nvSpPr>
        <p:spPr>
          <a:xfrm>
            <a:off x="1051560" y="3749040"/>
            <a:ext cx="4846320" cy="640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GitHub-integrated. In-editor completions + chat. Strong for 'autocomplete on steroids'.</a:t>
            </a:r>
            <a:endParaRPr lang="en-US" sz="1200" dirty="0"/>
          </a:p>
        </p:txBody>
      </p:sp>
      <p:sp>
        <p:nvSpPr>
          <p:cNvPr id="17" name="Shape 15"/>
          <p:cNvSpPr/>
          <p:nvPr/>
        </p:nvSpPr>
        <p:spPr>
          <a:xfrm>
            <a:off x="6126480" y="3154680"/>
            <a:ext cx="5212080" cy="128016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6126480" y="3154680"/>
            <a:ext cx="109728" cy="1280160"/>
          </a:xfrm>
          <a:prstGeom prst="rect">
            <a:avLst/>
          </a:prstGeom>
          <a:solidFill>
            <a:srgbClr val="00B8D9"/>
          </a:solidFill>
          <a:ln w="12700">
            <a:solidFill>
              <a:srgbClr val="00B8D9"/>
            </a:solidFill>
            <a:prstDash val="solid"/>
          </a:ln>
        </p:spPr>
        <p:txBody>
          <a:bodyPr/>
          <a:lstStyle/>
          <a:p>
            <a:endParaRPr lang="en-US"/>
          </a:p>
        </p:txBody>
      </p:sp>
      <p:sp>
        <p:nvSpPr>
          <p:cNvPr id="19" name="Text 17"/>
          <p:cNvSpPr/>
          <p:nvPr/>
        </p:nvSpPr>
        <p:spPr>
          <a:xfrm>
            <a:off x="6400800" y="3291840"/>
            <a:ext cx="4846320" cy="411480"/>
          </a:xfrm>
          <a:prstGeom prst="rect">
            <a:avLst/>
          </a:prstGeom>
          <a:noFill/>
          <a:ln/>
        </p:spPr>
        <p:txBody>
          <a:bodyPr wrap="square" lIns="0" tIns="0" rIns="0" bIns="0" rtlCol="0" anchor="ctr"/>
          <a:lstStyle/>
          <a:p>
            <a:pPr marL="0" indent="0">
              <a:buNone/>
            </a:pPr>
            <a:r>
              <a:rPr lang="en-US" sz="1800" b="1" dirty="0">
                <a:solidFill>
                  <a:srgbClr val="0F172A"/>
                </a:solidFill>
                <a:latin typeface="Trebuchet MS" pitchFamily="34" charset="0"/>
                <a:ea typeface="Trebuchet MS" pitchFamily="34" charset="-122"/>
                <a:cs typeface="Trebuchet MS" pitchFamily="34" charset="-120"/>
              </a:rPr>
              <a:t>Windsurf</a:t>
            </a:r>
            <a:endParaRPr lang="en-US" sz="1800" dirty="0"/>
          </a:p>
        </p:txBody>
      </p:sp>
      <p:sp>
        <p:nvSpPr>
          <p:cNvPr id="20" name="Text 18"/>
          <p:cNvSpPr/>
          <p:nvPr/>
        </p:nvSpPr>
        <p:spPr>
          <a:xfrm>
            <a:off x="6400800" y="3749040"/>
            <a:ext cx="4846320" cy="64008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IDE with agent + Cascade flow. Good middle ground between Cursor and CLI agents.</a:t>
            </a:r>
            <a:endParaRPr lang="en-US" sz="1200" dirty="0"/>
          </a:p>
        </p:txBody>
      </p:sp>
      <p:sp>
        <p:nvSpPr>
          <p:cNvPr id="21" name="Shape 19"/>
          <p:cNvSpPr/>
          <p:nvPr/>
        </p:nvSpPr>
        <p:spPr>
          <a:xfrm>
            <a:off x="777240" y="4754880"/>
            <a:ext cx="10607040" cy="1280160"/>
          </a:xfrm>
          <a:prstGeom prst="rect">
            <a:avLst/>
          </a:prstGeom>
          <a:solidFill>
            <a:srgbClr val="CBF1F6"/>
          </a:solidFill>
          <a:ln w="12700">
            <a:solidFill>
              <a:srgbClr val="CBF1F6"/>
            </a:solidFill>
            <a:prstDash val="solid"/>
          </a:ln>
        </p:spPr>
        <p:txBody>
          <a:bodyPr/>
          <a:lstStyle/>
          <a:p>
            <a:endParaRPr lang="en-US"/>
          </a:p>
        </p:txBody>
      </p:sp>
      <p:pic>
        <p:nvPicPr>
          <p:cNvPr id="22" name="Image 0" descr="preencoded.png"/>
          <p:cNvPicPr>
            <a:picLocks noChangeAspect="1"/>
          </p:cNvPicPr>
          <p:nvPr/>
        </p:nvPicPr>
        <p:blipFill>
          <a:blip r:embed="rId3"/>
          <a:stretch>
            <a:fillRect/>
          </a:stretch>
        </p:blipFill>
        <p:spPr>
          <a:xfrm>
            <a:off x="1005840" y="5074920"/>
            <a:ext cx="640080" cy="640080"/>
          </a:xfrm>
          <a:prstGeom prst="rect">
            <a:avLst/>
          </a:prstGeom>
        </p:spPr>
      </p:pic>
      <p:sp>
        <p:nvSpPr>
          <p:cNvPr id="23" name="Text 20"/>
          <p:cNvSpPr/>
          <p:nvPr/>
        </p:nvSpPr>
        <p:spPr>
          <a:xfrm>
            <a:off x="1828800" y="4800600"/>
            <a:ext cx="9418320" cy="123444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All four use similar underlying models. The differences are workflow surface, not capability ceiling. Pick what fits how you actually work.</a:t>
            </a:r>
            <a:endParaRPr lang="en-US" sz="1300" dirty="0"/>
          </a:p>
        </p:txBody>
      </p:sp>
      <p:sp>
        <p:nvSpPr>
          <p:cNvPr id="24"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5"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29</a:t>
            </a:r>
            <a:endParaRPr lang="en-US" sz="9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Editor-in-the-loop vs agent-in-the-loop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Two workflow modes. They suit different tasks.</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874520"/>
            <a:ext cx="5029200" cy="457200"/>
          </a:xfrm>
          <a:prstGeom prst="rect">
            <a:avLst/>
          </a:prstGeom>
          <a:noFill/>
          <a:ln/>
        </p:spPr>
        <p:txBody>
          <a:bodyPr wrap="square" lIns="0" tIns="0" rIns="0" bIns="0" rtlCol="0" anchor="ctr"/>
          <a:lstStyle/>
          <a:p>
            <a:pPr marL="0" indent="0">
              <a:buNone/>
            </a:pPr>
            <a:r>
              <a:rPr lang="en-US" sz="1800" b="1" dirty="0">
                <a:solidFill>
                  <a:srgbClr val="00B8D9"/>
                </a:solidFill>
                <a:latin typeface="Trebuchet MS" pitchFamily="34" charset="0"/>
                <a:ea typeface="Trebuchet MS" pitchFamily="34" charset="-122"/>
                <a:cs typeface="Trebuchet MS" pitchFamily="34" charset="-120"/>
              </a:rPr>
              <a:t>Editor-in-the-loop</a:t>
            </a:r>
            <a:endParaRPr lang="en-US" sz="1800" dirty="0"/>
          </a:p>
        </p:txBody>
      </p:sp>
      <p:sp>
        <p:nvSpPr>
          <p:cNvPr id="7" name="Text 5"/>
          <p:cNvSpPr/>
          <p:nvPr/>
        </p:nvSpPr>
        <p:spPr>
          <a:xfrm>
            <a:off x="960120" y="2468880"/>
            <a:ext cx="493776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You drive; AI suggests.</a:t>
            </a:r>
            <a:endParaRPr lang="en-US" sz="1300" dirty="0"/>
          </a:p>
        </p:txBody>
      </p:sp>
      <p:sp>
        <p:nvSpPr>
          <p:cNvPr id="8" name="Text 6"/>
          <p:cNvSpPr/>
          <p:nvPr/>
        </p:nvSpPr>
        <p:spPr>
          <a:xfrm>
            <a:off x="960120" y="2971800"/>
            <a:ext cx="493776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Inline completions + small edits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Tight loop — read, accept/reject, continue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Best for: well-understood code, refactors with clear intent, single-file changes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Tools: Cursor, Copilot, IDE chat panels</a:t>
            </a:r>
            <a:endParaRPr lang="en-US" sz="1200" dirty="0"/>
          </a:p>
        </p:txBody>
      </p:sp>
      <p:sp>
        <p:nvSpPr>
          <p:cNvPr id="9" name="Shape 7"/>
          <p:cNvSpPr/>
          <p:nvPr/>
        </p:nvSpPr>
        <p:spPr>
          <a:xfrm>
            <a:off x="6355080" y="1691640"/>
            <a:ext cx="5029200" cy="4297680"/>
          </a:xfrm>
          <a:prstGeom prst="rect">
            <a:avLst/>
          </a:prstGeom>
          <a:solidFill>
            <a:srgbClr val="FFFFFF"/>
          </a:solidFill>
          <a:ln w="12700">
            <a:solidFill>
              <a:srgbClr val="E2E8F0"/>
            </a:solidFill>
            <a:prstDash val="solid"/>
          </a:ln>
        </p:spPr>
        <p:txBody>
          <a:bodyPr/>
          <a:lstStyle/>
          <a:p>
            <a:endParaRPr lang="en-US"/>
          </a:p>
        </p:txBody>
      </p:sp>
      <p:sp>
        <p:nvSpPr>
          <p:cNvPr id="10" name="Text 8"/>
          <p:cNvSpPr/>
          <p:nvPr/>
        </p:nvSpPr>
        <p:spPr>
          <a:xfrm>
            <a:off x="6537960" y="1874520"/>
            <a:ext cx="4754880" cy="457200"/>
          </a:xfrm>
          <a:prstGeom prst="rect">
            <a:avLst/>
          </a:prstGeom>
          <a:noFill/>
          <a:ln/>
        </p:spPr>
        <p:txBody>
          <a:bodyPr wrap="square" lIns="0" tIns="0" rIns="0" bIns="0" rtlCol="0" anchor="ctr"/>
          <a:lstStyle/>
          <a:p>
            <a:pPr marL="0" indent="0">
              <a:buNone/>
            </a:pPr>
            <a:r>
              <a:rPr lang="en-US" sz="1800" b="1" dirty="0">
                <a:solidFill>
                  <a:srgbClr val="00B8D9"/>
                </a:solidFill>
                <a:latin typeface="Trebuchet MS" pitchFamily="34" charset="0"/>
                <a:ea typeface="Trebuchet MS" pitchFamily="34" charset="-122"/>
                <a:cs typeface="Trebuchet MS" pitchFamily="34" charset="-120"/>
              </a:rPr>
              <a:t>Agent-in-the-loop</a:t>
            </a:r>
            <a:endParaRPr lang="en-US" sz="1800" dirty="0"/>
          </a:p>
        </p:txBody>
      </p:sp>
      <p:sp>
        <p:nvSpPr>
          <p:cNvPr id="11" name="Text 9"/>
          <p:cNvSpPr/>
          <p:nvPr/>
        </p:nvSpPr>
        <p:spPr>
          <a:xfrm>
            <a:off x="6537960" y="2468880"/>
            <a:ext cx="466344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You spec; AI executes.</a:t>
            </a:r>
            <a:endParaRPr lang="en-US" sz="1300" dirty="0"/>
          </a:p>
        </p:txBody>
      </p:sp>
      <p:sp>
        <p:nvSpPr>
          <p:cNvPr id="12" name="Text 10"/>
          <p:cNvSpPr/>
          <p:nvPr/>
        </p:nvSpPr>
        <p:spPr>
          <a:xfrm>
            <a:off x="6537960" y="2971800"/>
            <a:ext cx="46634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Multi-file changes, tool use, autonomous loops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Loop is longer — minutes, not seconds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Best for: greenfield features, repetitive edits across many files, migrations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Tools: Claude Code, Cursor agent mode, Windsurf Cascade</a:t>
            </a:r>
            <a:endParaRPr lang="en-US" sz="12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29</a:t>
            </a:r>
            <a:endParaRPr lang="en-US" sz="9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Taxonomy of Mistakes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Six categories. The same patterns across every tool.</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Six recurring mistake categories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same six show up regardless of which AI tool you use.</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1810512"/>
            <a:ext cx="365760" cy="36576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181051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8" name="Text 6"/>
          <p:cNvSpPr/>
          <p:nvPr/>
        </p:nvSpPr>
        <p:spPr>
          <a:xfrm>
            <a:off x="1463040" y="1737360"/>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Stale closures and missing deps</a:t>
            </a:r>
            <a:endParaRPr lang="en-US" sz="1250" dirty="0"/>
          </a:p>
        </p:txBody>
      </p:sp>
      <p:sp>
        <p:nvSpPr>
          <p:cNvPr id="9" name="Text 7"/>
          <p:cNvSpPr/>
          <p:nvPr/>
        </p:nvSpPr>
        <p:spPr>
          <a:xfrm>
            <a:off x="5669280" y="1737360"/>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Effects that capture old values. Always the top of the list.</a:t>
            </a:r>
            <a:endParaRPr lang="en-US" sz="1150" dirty="0"/>
          </a:p>
        </p:txBody>
      </p:sp>
      <p:sp>
        <p:nvSpPr>
          <p:cNvPr id="10" name="Shape 8"/>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2523744"/>
            <a:ext cx="365760" cy="36576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252374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1463040" y="2450592"/>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useEffect for things that aren't effects</a:t>
            </a:r>
            <a:endParaRPr lang="en-US" sz="1250" dirty="0"/>
          </a:p>
        </p:txBody>
      </p:sp>
      <p:sp>
        <p:nvSpPr>
          <p:cNvPr id="14" name="Text 12"/>
          <p:cNvSpPr/>
          <p:nvPr/>
        </p:nvSpPr>
        <p:spPr>
          <a:xfrm>
            <a:off x="5669280" y="2450592"/>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Derived state, prop synchronization, event-triggered actions.</a:t>
            </a:r>
            <a:endParaRPr lang="en-US" sz="1150" dirty="0"/>
          </a:p>
        </p:txBody>
      </p:sp>
      <p:sp>
        <p:nvSpPr>
          <p:cNvPr id="15" name="Shape 13"/>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3236976"/>
            <a:ext cx="365760" cy="36576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32369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8" name="Text 16"/>
          <p:cNvSpPr/>
          <p:nvPr/>
        </p:nvSpPr>
        <p:spPr>
          <a:xfrm>
            <a:off x="1463040" y="3163824"/>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Server/client boundary violations</a:t>
            </a:r>
            <a:endParaRPr lang="en-US" sz="1250" dirty="0"/>
          </a:p>
        </p:txBody>
      </p:sp>
      <p:sp>
        <p:nvSpPr>
          <p:cNvPr id="19" name="Text 17"/>
          <p:cNvSpPr/>
          <p:nvPr/>
        </p:nvSpPr>
        <p:spPr>
          <a:xfrm>
            <a:off x="5669280" y="3163824"/>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 client' as escape hatch, server imports leaking, non-serializable props.</a:t>
            </a:r>
            <a:endParaRPr lang="en-US" sz="1150" dirty="0"/>
          </a:p>
        </p:txBody>
      </p:sp>
      <p:sp>
        <p:nvSpPr>
          <p:cNvPr id="20" name="Shape 18"/>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960120" y="3950208"/>
            <a:ext cx="365760" cy="365760"/>
          </a:xfrm>
          <a:prstGeom prst="ellipse">
            <a:avLst/>
          </a:prstGeom>
          <a:solidFill>
            <a:srgbClr val="00B8D9"/>
          </a:solidFill>
          <a:ln w="12700">
            <a:solidFill>
              <a:srgbClr val="00B8D9"/>
            </a:solidFill>
            <a:prstDash val="solid"/>
          </a:ln>
        </p:spPr>
        <p:txBody>
          <a:bodyPr/>
          <a:lstStyle/>
          <a:p>
            <a:endParaRPr lang="en-US"/>
          </a:p>
        </p:txBody>
      </p:sp>
      <p:sp>
        <p:nvSpPr>
          <p:cNvPr id="22" name="Text 20"/>
          <p:cNvSpPr/>
          <p:nvPr/>
        </p:nvSpPr>
        <p:spPr>
          <a:xfrm>
            <a:off x="960120" y="395020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3" name="Text 21"/>
          <p:cNvSpPr/>
          <p:nvPr/>
        </p:nvSpPr>
        <p:spPr>
          <a:xfrm>
            <a:off x="1463040" y="3877056"/>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Hydration mismatches</a:t>
            </a:r>
            <a:endParaRPr lang="en-US" sz="1250" dirty="0"/>
          </a:p>
        </p:txBody>
      </p:sp>
      <p:sp>
        <p:nvSpPr>
          <p:cNvPr id="24" name="Text 22"/>
          <p:cNvSpPr/>
          <p:nvPr/>
        </p:nvSpPr>
        <p:spPr>
          <a:xfrm>
            <a:off x="5669280" y="3877056"/>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Date.now(), Math.random(), navigator checks during render.</a:t>
            </a:r>
            <a:endParaRPr lang="en-US" sz="1150" dirty="0"/>
          </a:p>
        </p:txBody>
      </p:sp>
      <p:sp>
        <p:nvSpPr>
          <p:cNvPr id="25" name="Shape 23"/>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960120" y="4663440"/>
            <a:ext cx="365760" cy="36576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960120" y="46634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28" name="Text 26"/>
          <p:cNvSpPr/>
          <p:nvPr/>
        </p:nvSpPr>
        <p:spPr>
          <a:xfrm>
            <a:off x="1463040" y="4590288"/>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Outdated patterns from training data</a:t>
            </a:r>
            <a:endParaRPr lang="en-US" sz="1250" dirty="0"/>
          </a:p>
        </p:txBody>
      </p:sp>
      <p:sp>
        <p:nvSpPr>
          <p:cNvPr id="29" name="Text 27"/>
          <p:cNvSpPr/>
          <p:nvPr/>
        </p:nvSpPr>
        <p:spPr>
          <a:xfrm>
            <a:off x="5669280" y="4590288"/>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v6 React Router, Pages-Router Next.js, class components, Redux without Toolkit.</a:t>
            </a:r>
            <a:endParaRPr lang="en-US" sz="1150" dirty="0"/>
          </a:p>
        </p:txBody>
      </p:sp>
      <p:sp>
        <p:nvSpPr>
          <p:cNvPr id="30" name="Shape 28"/>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sp>
        <p:nvSpPr>
          <p:cNvPr id="31" name="Shape 29"/>
          <p:cNvSpPr/>
          <p:nvPr/>
        </p:nvSpPr>
        <p:spPr>
          <a:xfrm>
            <a:off x="960120" y="5376672"/>
            <a:ext cx="365760" cy="365760"/>
          </a:xfrm>
          <a:prstGeom prst="ellipse">
            <a:avLst/>
          </a:prstGeom>
          <a:solidFill>
            <a:srgbClr val="00B8D9"/>
          </a:solidFill>
          <a:ln w="12700">
            <a:solidFill>
              <a:srgbClr val="00B8D9"/>
            </a:solidFill>
            <a:prstDash val="solid"/>
          </a:ln>
        </p:spPr>
        <p:txBody>
          <a:bodyPr/>
          <a:lstStyle/>
          <a:p>
            <a:endParaRPr lang="en-US"/>
          </a:p>
        </p:txBody>
      </p:sp>
      <p:sp>
        <p:nvSpPr>
          <p:cNvPr id="32" name="Text 30"/>
          <p:cNvSpPr/>
          <p:nvPr/>
        </p:nvSpPr>
        <p:spPr>
          <a:xfrm>
            <a:off x="960120" y="537667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3" name="Text 31"/>
          <p:cNvSpPr/>
          <p:nvPr/>
        </p:nvSpPr>
        <p:spPr>
          <a:xfrm>
            <a:off x="1463040" y="5303520"/>
            <a:ext cx="4114800" cy="50292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Test coupling and accessibility skips</a:t>
            </a:r>
            <a:endParaRPr lang="en-US" sz="1250" dirty="0"/>
          </a:p>
        </p:txBody>
      </p:sp>
      <p:sp>
        <p:nvSpPr>
          <p:cNvPr id="34" name="Text 32"/>
          <p:cNvSpPr/>
          <p:nvPr/>
        </p:nvSpPr>
        <p:spPr>
          <a:xfrm>
            <a:off x="5669280" y="5303520"/>
            <a:ext cx="56692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getByTestId, fireEvent, snapshot tests, spying on hooks.</a:t>
            </a:r>
            <a:endParaRPr lang="en-US" sz="1150" dirty="0"/>
          </a:p>
        </p:txBody>
      </p:sp>
      <p:sp>
        <p:nvSpPr>
          <p:cNvPr id="35" name="Text 3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36" name="Text 3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29</a:t>
            </a:r>
            <a:endParaRPr lang="en-US" sz="9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1. Stale closures and missing deps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most common AI-generated React bug. Eslint catches most; some slip through.</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Anti-pattern</a:t>
            </a:r>
            <a:endParaRPr lang="en-US" sz="1300" dirty="0"/>
          </a:p>
        </p:txBody>
      </p:sp>
      <p:sp>
        <p:nvSpPr>
          <p:cNvPr id="6" name="Shape 4"/>
          <p:cNvSpPr/>
          <p:nvPr/>
        </p:nvSpPr>
        <p:spPr>
          <a:xfrm>
            <a:off x="777240" y="1920240"/>
            <a:ext cx="5349240" cy="310896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2834640"/>
          </a:xfrm>
          <a:prstGeom prst="rect">
            <a:avLst/>
          </a:prstGeom>
          <a:noFill/>
          <a:ln/>
        </p:spPr>
        <p:txBody>
          <a:bodyPr wrap="square" lIns="0" tIns="0" rIns="0" bIns="0" rtlCol="0" anchor="t"/>
          <a:lstStyle/>
          <a:p>
            <a:pPr marL="0" indent="0">
              <a:buNone/>
            </a:pPr>
            <a:r>
              <a:rPr lang="en-US" sz="1200" dirty="0">
                <a:solidFill>
                  <a:srgbClr val="DCDCAA"/>
                </a:solidFill>
                <a:latin typeface="Courier New" pitchFamily="34" charset="0"/>
                <a:ea typeface="Courier New" pitchFamily="34" charset="-122"/>
                <a:cs typeface="Courier New" pitchFamily="34" charset="-120"/>
              </a:rPr>
              <a:t>useEffect</a:t>
            </a: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id = setInterval(() =&gt; {</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console.log(count);  </a:t>
            </a:r>
            <a:r>
              <a:rPr lang="en-US" sz="1200" i="1" dirty="0">
                <a:solidFill>
                  <a:srgbClr val="6A9955"/>
                </a:solidFill>
                <a:latin typeface="Courier New" pitchFamily="34" charset="0"/>
                <a:ea typeface="Courier New" pitchFamily="34" charset="-122"/>
                <a:cs typeface="Courier New" pitchFamily="34" charset="-120"/>
              </a:rPr>
              <a:t>// always 0</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 1000</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 =&gt; clearInterval(id);</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  </a:t>
            </a:r>
            <a:r>
              <a:rPr lang="en-US" sz="1200" i="1" dirty="0">
                <a:solidFill>
                  <a:srgbClr val="6A9955"/>
                </a:solidFill>
                <a:latin typeface="Courier New" pitchFamily="34" charset="0"/>
                <a:ea typeface="Courier New" pitchFamily="34" charset="-122"/>
                <a:cs typeface="Courier New" pitchFamily="34" charset="-120"/>
              </a:rPr>
              <a:t>// missing [count]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Fix</a:t>
            </a:r>
            <a:endParaRPr lang="en-US" sz="1300" dirty="0"/>
          </a:p>
        </p:txBody>
      </p:sp>
      <p:sp>
        <p:nvSpPr>
          <p:cNvPr id="9" name="Shape 7"/>
          <p:cNvSpPr/>
          <p:nvPr/>
        </p:nvSpPr>
        <p:spPr>
          <a:xfrm>
            <a:off x="6355080" y="1920240"/>
            <a:ext cx="5029200" cy="310896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2834640"/>
          </a:xfrm>
          <a:prstGeom prst="rect">
            <a:avLst/>
          </a:prstGeom>
          <a:noFill/>
          <a:ln/>
        </p:spPr>
        <p:txBody>
          <a:bodyPr wrap="square" lIns="0" tIns="0" rIns="0" bIns="0" rtlCol="0" anchor="t"/>
          <a:lstStyle/>
          <a:p>
            <a:pPr marL="0" indent="0">
              <a:buNone/>
            </a:pPr>
            <a:r>
              <a:rPr lang="en-US" sz="1200" dirty="0">
                <a:solidFill>
                  <a:srgbClr val="DCDCAA"/>
                </a:solidFill>
                <a:latin typeface="Courier New" pitchFamily="34" charset="0"/>
                <a:ea typeface="Courier New" pitchFamily="34" charset="-122"/>
                <a:cs typeface="Courier New" pitchFamily="34" charset="-120"/>
              </a:rPr>
              <a:t>useEffect</a:t>
            </a: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id = setInterval(() =&gt; {</a:t>
            </a:r>
            <a:endParaRPr lang="en-US" sz="1200" dirty="0"/>
          </a:p>
          <a:p>
            <a:pPr marL="0" indent="0">
              <a:buNone/>
            </a:pPr>
            <a:r>
              <a:rPr lang="en-US" sz="1200" dirty="0">
                <a:solidFill>
                  <a:srgbClr val="DCDCAA"/>
                </a:solidFill>
                <a:latin typeface="Courier New" pitchFamily="34" charset="0"/>
                <a:ea typeface="Courier New" pitchFamily="34" charset="-122"/>
                <a:cs typeface="Courier New" pitchFamily="34" charset="-120"/>
              </a:rPr>
              <a:t>    setCount(</a:t>
            </a:r>
            <a:r>
              <a:rPr lang="en-US" sz="1200" dirty="0">
                <a:solidFill>
                  <a:srgbClr val="9CDCFE"/>
                </a:solidFill>
                <a:latin typeface="Courier New" pitchFamily="34" charset="0"/>
                <a:ea typeface="Courier New" pitchFamily="34" charset="-122"/>
                <a:cs typeface="Courier New" pitchFamily="34" charset="-120"/>
              </a:rPr>
              <a:t>n</a:t>
            </a:r>
            <a:r>
              <a:rPr lang="en-US" sz="1200" dirty="0">
                <a:solidFill>
                  <a:srgbClr val="FFFFFF"/>
                </a:solidFill>
                <a:latin typeface="Courier New" pitchFamily="34" charset="0"/>
                <a:ea typeface="Courier New" pitchFamily="34" charset="-122"/>
                <a:cs typeface="Courier New" pitchFamily="34" charset="-120"/>
              </a:rPr>
              <a:t> =&gt; n + 1);</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 1000</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return () =&gt; clearInterval(id);</a:t>
            </a:r>
            <a:endParaRPr lang="en-US" sz="1200" dirty="0"/>
          </a:p>
          <a:p>
            <a:pPr marL="0" indent="0">
              <a:buNone/>
            </a:pPr>
            <a:r>
              <a:rPr lang="en-US" sz="1200" dirty="0">
                <a:solidFill>
                  <a:srgbClr val="9CDCFE"/>
                </a:solidFill>
                <a:latin typeface="Courier New" pitchFamily="34" charset="0"/>
                <a:ea typeface="Courier New" pitchFamily="34" charset="-122"/>
                <a:cs typeface="Courier New" pitchFamily="34" charset="-120"/>
              </a:rPr>
              <a:t>}, []);  </a:t>
            </a:r>
            <a:r>
              <a:rPr lang="en-US" sz="1200" i="1" dirty="0">
                <a:solidFill>
                  <a:srgbClr val="6A9955"/>
                </a:solidFill>
                <a:latin typeface="Courier New" pitchFamily="34" charset="0"/>
                <a:ea typeface="Courier New" pitchFamily="34" charset="-122"/>
                <a:cs typeface="Courier New" pitchFamily="34" charset="-120"/>
              </a:rPr>
              <a:t>// safe — functional updater</a:t>
            </a:r>
            <a:endParaRPr lang="en-US" sz="1200" dirty="0"/>
          </a:p>
        </p:txBody>
      </p:sp>
      <p:sp>
        <p:nvSpPr>
          <p:cNvPr id="11" name="Shape 9"/>
          <p:cNvSpPr/>
          <p:nvPr/>
        </p:nvSpPr>
        <p:spPr>
          <a:xfrm>
            <a:off x="777240" y="5212080"/>
            <a:ext cx="10607040" cy="914400"/>
          </a:xfrm>
          <a:prstGeom prst="rect">
            <a:avLst/>
          </a:prstGeom>
          <a:solidFill>
            <a:srgbClr val="CBF1F6"/>
          </a:solidFill>
          <a:ln w="12700">
            <a:solidFill>
              <a:srgbClr val="CBF1F6"/>
            </a:solidFill>
            <a:prstDash val="solid"/>
          </a:ln>
        </p:spPr>
        <p:txBody>
          <a:bodyPr/>
          <a:lstStyle/>
          <a:p>
            <a:endParaRPr lang="en-US"/>
          </a:p>
        </p:txBody>
      </p:sp>
      <p:pic>
        <p:nvPicPr>
          <p:cNvPr id="12"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3" name="Text 10"/>
          <p:cNvSpPr/>
          <p:nvPr/>
        </p:nvSpPr>
        <p:spPr>
          <a:xfrm>
            <a:off x="1691640" y="5257800"/>
            <a:ext cx="9601200" cy="82296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Eslint plugin react-hooks/exhaustive-deps catches the missing-dep version. Don't disable it. Functional setState avoids the dep entirely.</a:t>
            </a:r>
            <a:endParaRPr lang="en-US" sz="125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29</a:t>
            </a:r>
            <a:endParaRPr lang="en-US" sz="9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2. useEffect for things that aren't effects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 can derive it, don't sync it. If it's an event response, don't put it in an effect.</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Derived state via useEffect + useState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filteredItems = items.filter() should be inline, not synchronized via setState.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useEffect to reset state when prop changes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Pass a key prop. React unmounts + remounts the subtree.</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useEffect to fetch on mount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Use Suspense + use(), TanStack Query, or a route loader. Module 5.</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useEffect to dispatch on user action</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Move the dispatch into the event handler. Not every state change is an effect trigger.</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29</a:t>
            </a:r>
            <a:endParaRPr lang="en-US" sz="9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3. Server/client boundary violations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 2026-specific category. Module 6's content, in field form.</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 client' added at the top of a Server Component to silence a hook error</a:t>
            </a:r>
            <a:endParaRPr lang="en-US" sz="11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Server-only utility (e.g., db client) imported into a 'use client' file</a:t>
            </a:r>
            <a:endParaRPr lang="en-US" sz="11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Inline function passed as a prop from Server to Client Component (must be Server Action)</a:t>
            </a:r>
            <a:endParaRPr lang="en-US" sz="11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useState in a Server Component (use a Client Component for state)</a:t>
            </a:r>
            <a:endParaRPr lang="en-US" sz="11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Action without 'use server' directive — runs as a regular client function</a:t>
            </a:r>
            <a:endParaRPr lang="en-US" sz="11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Reading cookies() or headers() inside a Client Component</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11 / 29</a:t>
            </a:r>
            <a:endParaRPr lang="en-US" sz="9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4. Hydration mismatches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Server renders one thing, client renders another. Often non-deterministic.</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Date.now() in render</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time != client time. Use a stable date or render only on client.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Math.random() in render</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Different on each render. Pre-compute or move to useState init.</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navigator.* / window.* checks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Undefined on server. Wrap in useEffect or use 'use client'.</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Locale-dependent formatting</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Server locale != browser locale. Use a stable formatter or render client-side.</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29</a:t>
            </a:r>
            <a:endParaRPr lang="en-US" sz="9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5. Outdated patterns from training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AI learned React from years of code. Some of that code is from 2020.</a:t>
            </a:r>
            <a:endParaRPr lang="en-US" sz="1400" dirty="0"/>
          </a:p>
        </p:txBody>
      </p:sp>
      <p:sp>
        <p:nvSpPr>
          <p:cNvPr id="5" name="Shape 3"/>
          <p:cNvSpPr/>
          <p:nvPr/>
        </p:nvSpPr>
        <p:spPr>
          <a:xfrm>
            <a:off x="777240" y="1508760"/>
            <a:ext cx="10607040" cy="41148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14400" y="1508760"/>
            <a:ext cx="521208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Old pattern</a:t>
            </a:r>
            <a:endParaRPr lang="en-US" sz="1200" dirty="0"/>
          </a:p>
        </p:txBody>
      </p:sp>
      <p:sp>
        <p:nvSpPr>
          <p:cNvPr id="7" name="Text 5"/>
          <p:cNvSpPr/>
          <p:nvPr/>
        </p:nvSpPr>
        <p:spPr>
          <a:xfrm>
            <a:off x="6172200" y="1508760"/>
            <a:ext cx="5212080" cy="411480"/>
          </a:xfrm>
          <a:prstGeom prst="rect">
            <a:avLst/>
          </a:prstGeom>
          <a:noFill/>
          <a:ln/>
        </p:spPr>
        <p:txBody>
          <a:bodyPr wrap="square" lIns="0" tIns="0" rIns="0" bIns="0" rtlCol="0" anchor="ctr"/>
          <a:lstStyle/>
          <a:p>
            <a:pPr marL="0" indent="0">
              <a:buNone/>
            </a:pPr>
            <a:r>
              <a:rPr lang="en-US" sz="1200" b="1" dirty="0">
                <a:solidFill>
                  <a:srgbClr val="00B8D9"/>
                </a:solidFill>
                <a:latin typeface="Trebuchet MS" pitchFamily="34" charset="0"/>
                <a:ea typeface="Trebuchet MS" pitchFamily="34" charset="-122"/>
                <a:cs typeface="Trebuchet MS" pitchFamily="34" charset="-120"/>
              </a:rPr>
              <a:t>Modern</a:t>
            </a:r>
            <a:endParaRPr lang="en-US" sz="1200" dirty="0"/>
          </a:p>
        </p:txBody>
      </p:sp>
      <p:sp>
        <p:nvSpPr>
          <p:cNvPr id="8" name="Shape 6"/>
          <p:cNvSpPr/>
          <p:nvPr/>
        </p:nvSpPr>
        <p:spPr>
          <a:xfrm>
            <a:off x="777240" y="1920240"/>
            <a:ext cx="10607040" cy="594360"/>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14400" y="196596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v6 BrowserRouter / Routes / Route JSX</a:t>
            </a:r>
            <a:endParaRPr lang="en-US" sz="1150" dirty="0"/>
          </a:p>
        </p:txBody>
      </p:sp>
      <p:pic>
        <p:nvPicPr>
          <p:cNvPr id="10" name="Image 0" descr="preencoded.png"/>
          <p:cNvPicPr>
            <a:picLocks noChangeAspect="1"/>
          </p:cNvPicPr>
          <p:nvPr/>
        </p:nvPicPr>
        <p:blipFill>
          <a:blip r:embed="rId3"/>
          <a:stretch>
            <a:fillRect/>
          </a:stretch>
        </p:blipFill>
        <p:spPr>
          <a:xfrm>
            <a:off x="5897880" y="2084832"/>
            <a:ext cx="274320" cy="274320"/>
          </a:xfrm>
          <a:prstGeom prst="rect">
            <a:avLst/>
          </a:prstGeom>
        </p:spPr>
      </p:pic>
      <p:sp>
        <p:nvSpPr>
          <p:cNvPr id="11" name="Text 8"/>
          <p:cNvSpPr/>
          <p:nvPr/>
        </p:nvSpPr>
        <p:spPr>
          <a:xfrm>
            <a:off x="6263640" y="196596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RR v7 routes config + framework mode</a:t>
            </a:r>
            <a:endParaRPr lang="en-US" sz="1150" dirty="0"/>
          </a:p>
        </p:txBody>
      </p:sp>
      <p:sp>
        <p:nvSpPr>
          <p:cNvPr id="12" name="Shape 9"/>
          <p:cNvSpPr/>
          <p:nvPr/>
        </p:nvSpPr>
        <p:spPr>
          <a:xfrm>
            <a:off x="777240" y="2560320"/>
            <a:ext cx="10607040" cy="594360"/>
          </a:xfrm>
          <a:prstGeom prst="rect">
            <a:avLst/>
          </a:prstGeom>
          <a:solidFill>
            <a:srgbClr val="F8FAFC"/>
          </a:solidFill>
          <a:ln w="12700">
            <a:solidFill>
              <a:srgbClr val="E2E8F0"/>
            </a:solidFill>
            <a:prstDash val="solid"/>
          </a:ln>
        </p:spPr>
        <p:txBody>
          <a:bodyPr/>
          <a:lstStyle/>
          <a:p>
            <a:endParaRPr lang="en-US"/>
          </a:p>
        </p:txBody>
      </p:sp>
      <p:sp>
        <p:nvSpPr>
          <p:cNvPr id="13" name="Text 10"/>
          <p:cNvSpPr/>
          <p:nvPr/>
        </p:nvSpPr>
        <p:spPr>
          <a:xfrm>
            <a:off x="914400" y="260604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Pages Router (getServerSideProps)</a:t>
            </a:r>
            <a:endParaRPr lang="en-US" sz="1150" dirty="0"/>
          </a:p>
        </p:txBody>
      </p:sp>
      <p:pic>
        <p:nvPicPr>
          <p:cNvPr id="14" name="Image 1" descr="preencoded.png"/>
          <p:cNvPicPr>
            <a:picLocks noChangeAspect="1"/>
          </p:cNvPicPr>
          <p:nvPr/>
        </p:nvPicPr>
        <p:blipFill>
          <a:blip r:embed="rId3"/>
          <a:stretch>
            <a:fillRect/>
          </a:stretch>
        </p:blipFill>
        <p:spPr>
          <a:xfrm>
            <a:off x="5897880" y="2724912"/>
            <a:ext cx="274320" cy="274320"/>
          </a:xfrm>
          <a:prstGeom prst="rect">
            <a:avLst/>
          </a:prstGeom>
        </p:spPr>
      </p:pic>
      <p:sp>
        <p:nvSpPr>
          <p:cNvPr id="15" name="Text 11"/>
          <p:cNvSpPr/>
          <p:nvPr/>
        </p:nvSpPr>
        <p:spPr>
          <a:xfrm>
            <a:off x="6263640" y="260604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App Router (Server Components + Actions)</a:t>
            </a:r>
            <a:endParaRPr lang="en-US" sz="1150" dirty="0"/>
          </a:p>
        </p:txBody>
      </p:sp>
      <p:sp>
        <p:nvSpPr>
          <p:cNvPr id="16" name="Shape 12"/>
          <p:cNvSpPr/>
          <p:nvPr/>
        </p:nvSpPr>
        <p:spPr>
          <a:xfrm>
            <a:off x="777240" y="3200400"/>
            <a:ext cx="10607040" cy="594360"/>
          </a:xfrm>
          <a:prstGeom prst="rect">
            <a:avLst/>
          </a:prstGeom>
          <a:solidFill>
            <a:srgbClr val="FFFFFF"/>
          </a:solidFill>
          <a:ln w="12700">
            <a:solidFill>
              <a:srgbClr val="E2E8F0"/>
            </a:solidFill>
            <a:prstDash val="solid"/>
          </a:ln>
        </p:spPr>
        <p:txBody>
          <a:bodyPr/>
          <a:lstStyle/>
          <a:p>
            <a:endParaRPr lang="en-US"/>
          </a:p>
        </p:txBody>
      </p:sp>
      <p:sp>
        <p:nvSpPr>
          <p:cNvPr id="17" name="Text 13"/>
          <p:cNvSpPr/>
          <p:nvPr/>
        </p:nvSpPr>
        <p:spPr>
          <a:xfrm>
            <a:off x="914400" y="324612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Class components</a:t>
            </a:r>
            <a:endParaRPr lang="en-US" sz="1150" dirty="0"/>
          </a:p>
        </p:txBody>
      </p:sp>
      <p:pic>
        <p:nvPicPr>
          <p:cNvPr id="18" name="Image 2" descr="preencoded.png"/>
          <p:cNvPicPr>
            <a:picLocks noChangeAspect="1"/>
          </p:cNvPicPr>
          <p:nvPr/>
        </p:nvPicPr>
        <p:blipFill>
          <a:blip r:embed="rId3"/>
          <a:stretch>
            <a:fillRect/>
          </a:stretch>
        </p:blipFill>
        <p:spPr>
          <a:xfrm>
            <a:off x="5897880" y="3364992"/>
            <a:ext cx="274320" cy="274320"/>
          </a:xfrm>
          <a:prstGeom prst="rect">
            <a:avLst/>
          </a:prstGeom>
        </p:spPr>
      </p:pic>
      <p:sp>
        <p:nvSpPr>
          <p:cNvPr id="19" name="Text 14"/>
          <p:cNvSpPr/>
          <p:nvPr/>
        </p:nvSpPr>
        <p:spPr>
          <a:xfrm>
            <a:off x="6263640" y="324612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Function components + hooks</a:t>
            </a:r>
            <a:endParaRPr lang="en-US" sz="1150" dirty="0"/>
          </a:p>
        </p:txBody>
      </p:sp>
      <p:sp>
        <p:nvSpPr>
          <p:cNvPr id="20" name="Shape 15"/>
          <p:cNvSpPr/>
          <p:nvPr/>
        </p:nvSpPr>
        <p:spPr>
          <a:xfrm>
            <a:off x="777240" y="3840480"/>
            <a:ext cx="10607040" cy="594360"/>
          </a:xfrm>
          <a:prstGeom prst="rect">
            <a:avLst/>
          </a:prstGeom>
          <a:solidFill>
            <a:srgbClr val="F8FAFC"/>
          </a:solidFill>
          <a:ln w="12700">
            <a:solidFill>
              <a:srgbClr val="E2E8F0"/>
            </a:solidFill>
            <a:prstDash val="solid"/>
          </a:ln>
        </p:spPr>
        <p:txBody>
          <a:bodyPr/>
          <a:lstStyle/>
          <a:p>
            <a:endParaRPr lang="en-US"/>
          </a:p>
        </p:txBody>
      </p:sp>
      <p:sp>
        <p:nvSpPr>
          <p:cNvPr id="21" name="Text 16"/>
          <p:cNvSpPr/>
          <p:nvPr/>
        </p:nvSpPr>
        <p:spPr>
          <a:xfrm>
            <a:off x="914400" y="388620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Redux with createStore + Thunk</a:t>
            </a:r>
            <a:endParaRPr lang="en-US" sz="1150" dirty="0"/>
          </a:p>
        </p:txBody>
      </p:sp>
      <p:pic>
        <p:nvPicPr>
          <p:cNvPr id="22" name="Image 3" descr="preencoded.png"/>
          <p:cNvPicPr>
            <a:picLocks noChangeAspect="1"/>
          </p:cNvPicPr>
          <p:nvPr/>
        </p:nvPicPr>
        <p:blipFill>
          <a:blip r:embed="rId3"/>
          <a:stretch>
            <a:fillRect/>
          </a:stretch>
        </p:blipFill>
        <p:spPr>
          <a:xfrm>
            <a:off x="5897880" y="4005072"/>
            <a:ext cx="274320" cy="274320"/>
          </a:xfrm>
          <a:prstGeom prst="rect">
            <a:avLst/>
          </a:prstGeom>
        </p:spPr>
      </p:pic>
      <p:sp>
        <p:nvSpPr>
          <p:cNvPr id="23" name="Text 17"/>
          <p:cNvSpPr/>
          <p:nvPr/>
        </p:nvSpPr>
        <p:spPr>
          <a:xfrm>
            <a:off x="6263640" y="388620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Redux Toolkit (or skip Redux entirely)</a:t>
            </a:r>
            <a:endParaRPr lang="en-US" sz="1150" dirty="0"/>
          </a:p>
        </p:txBody>
      </p:sp>
      <p:sp>
        <p:nvSpPr>
          <p:cNvPr id="24" name="Shape 18"/>
          <p:cNvSpPr/>
          <p:nvPr/>
        </p:nvSpPr>
        <p:spPr>
          <a:xfrm>
            <a:off x="777240" y="4480560"/>
            <a:ext cx="10607040" cy="594360"/>
          </a:xfrm>
          <a:prstGeom prst="rect">
            <a:avLst/>
          </a:prstGeom>
          <a:solidFill>
            <a:srgbClr val="FFFFFF"/>
          </a:solidFill>
          <a:ln w="12700">
            <a:solidFill>
              <a:srgbClr val="E2E8F0"/>
            </a:solidFill>
            <a:prstDash val="solid"/>
          </a:ln>
        </p:spPr>
        <p:txBody>
          <a:bodyPr/>
          <a:lstStyle/>
          <a:p>
            <a:endParaRPr lang="en-US"/>
          </a:p>
        </p:txBody>
      </p:sp>
      <p:sp>
        <p:nvSpPr>
          <p:cNvPr id="25" name="Text 19"/>
          <p:cNvSpPr/>
          <p:nvPr/>
        </p:nvSpPr>
        <p:spPr>
          <a:xfrm>
            <a:off x="914400" y="452628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componentDidMount / componentWillUnmount</a:t>
            </a:r>
            <a:endParaRPr lang="en-US" sz="1150" dirty="0"/>
          </a:p>
        </p:txBody>
      </p:sp>
      <p:pic>
        <p:nvPicPr>
          <p:cNvPr id="26" name="Image 4" descr="preencoded.png"/>
          <p:cNvPicPr>
            <a:picLocks noChangeAspect="1"/>
          </p:cNvPicPr>
          <p:nvPr/>
        </p:nvPicPr>
        <p:blipFill>
          <a:blip r:embed="rId3"/>
          <a:stretch>
            <a:fillRect/>
          </a:stretch>
        </p:blipFill>
        <p:spPr>
          <a:xfrm>
            <a:off x="5897880" y="4645152"/>
            <a:ext cx="274320" cy="274320"/>
          </a:xfrm>
          <a:prstGeom prst="rect">
            <a:avLst/>
          </a:prstGeom>
        </p:spPr>
      </p:pic>
      <p:sp>
        <p:nvSpPr>
          <p:cNvPr id="27" name="Text 20"/>
          <p:cNvSpPr/>
          <p:nvPr/>
        </p:nvSpPr>
        <p:spPr>
          <a:xfrm>
            <a:off x="6263640" y="452628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useEffect with cleanup</a:t>
            </a:r>
            <a:endParaRPr lang="en-US" sz="1150" dirty="0"/>
          </a:p>
        </p:txBody>
      </p:sp>
      <p:sp>
        <p:nvSpPr>
          <p:cNvPr id="28" name="Shape 21"/>
          <p:cNvSpPr/>
          <p:nvPr/>
        </p:nvSpPr>
        <p:spPr>
          <a:xfrm>
            <a:off x="777240" y="5120640"/>
            <a:ext cx="10607040" cy="594360"/>
          </a:xfrm>
          <a:prstGeom prst="rect">
            <a:avLst/>
          </a:prstGeom>
          <a:solidFill>
            <a:srgbClr val="F8FAFC"/>
          </a:solidFill>
          <a:ln w="12700">
            <a:solidFill>
              <a:srgbClr val="E2E8F0"/>
            </a:solidFill>
            <a:prstDash val="solid"/>
          </a:ln>
        </p:spPr>
        <p:txBody>
          <a:bodyPr/>
          <a:lstStyle/>
          <a:p>
            <a:endParaRPr lang="en-US"/>
          </a:p>
        </p:txBody>
      </p:sp>
      <p:sp>
        <p:nvSpPr>
          <p:cNvPr id="29" name="Text 22"/>
          <p:cNvSpPr/>
          <p:nvPr/>
        </p:nvSpPr>
        <p:spPr>
          <a:xfrm>
            <a:off x="914400" y="5166360"/>
            <a:ext cx="5212080" cy="502920"/>
          </a:xfrm>
          <a:prstGeom prst="rect">
            <a:avLst/>
          </a:prstGeom>
          <a:noFill/>
          <a:ln/>
        </p:spPr>
        <p:txBody>
          <a:bodyPr wrap="square" lIns="0" tIns="0" rIns="0" bIns="0" rtlCol="0" anchor="ctr"/>
          <a:lstStyle/>
          <a:p>
            <a:pPr marL="0" indent="0">
              <a:buNone/>
            </a:pPr>
            <a:r>
              <a:rPr lang="en-US" sz="1150" dirty="0">
                <a:solidFill>
                  <a:srgbClr val="D97706"/>
                </a:solidFill>
                <a:latin typeface="Arial" pitchFamily="34" charset="0"/>
                <a:ea typeface="Arial" pitchFamily="34" charset="-122"/>
                <a:cs typeface="Arial" pitchFamily="34" charset="-120"/>
              </a:rPr>
              <a:t>Manual useMemo/useCallback everywhere</a:t>
            </a:r>
            <a:endParaRPr lang="en-US" sz="1150" dirty="0"/>
          </a:p>
        </p:txBody>
      </p:sp>
      <p:pic>
        <p:nvPicPr>
          <p:cNvPr id="30" name="Image 5" descr="preencoded.png"/>
          <p:cNvPicPr>
            <a:picLocks noChangeAspect="1"/>
          </p:cNvPicPr>
          <p:nvPr/>
        </p:nvPicPr>
        <p:blipFill>
          <a:blip r:embed="rId3"/>
          <a:stretch>
            <a:fillRect/>
          </a:stretch>
        </p:blipFill>
        <p:spPr>
          <a:xfrm>
            <a:off x="5897880" y="5285232"/>
            <a:ext cx="274320" cy="274320"/>
          </a:xfrm>
          <a:prstGeom prst="rect">
            <a:avLst/>
          </a:prstGeom>
        </p:spPr>
      </p:pic>
      <p:sp>
        <p:nvSpPr>
          <p:cNvPr id="31" name="Text 23"/>
          <p:cNvSpPr/>
          <p:nvPr/>
        </p:nvSpPr>
        <p:spPr>
          <a:xfrm>
            <a:off x="6263640" y="5166360"/>
            <a:ext cx="5120640" cy="502920"/>
          </a:xfrm>
          <a:prstGeom prst="rect">
            <a:avLst/>
          </a:prstGeom>
          <a:noFill/>
          <a:ln/>
        </p:spPr>
        <p:txBody>
          <a:bodyPr wrap="square" lIns="0" tIns="0" rIns="0" bIns="0" rtlCol="0" anchor="ctr"/>
          <a:lstStyle/>
          <a:p>
            <a:pPr marL="0" indent="0">
              <a:buNone/>
            </a:pPr>
            <a:r>
              <a:rPr lang="en-US" sz="1150" dirty="0">
                <a:solidFill>
                  <a:srgbClr val="059669"/>
                </a:solidFill>
                <a:latin typeface="Arial" pitchFamily="34" charset="0"/>
                <a:ea typeface="Arial" pitchFamily="34" charset="-122"/>
                <a:cs typeface="Arial" pitchFamily="34" charset="-120"/>
              </a:rPr>
              <a:t>React Compiler (most cases)</a:t>
            </a:r>
            <a:endParaRPr lang="en-US" sz="1150" dirty="0"/>
          </a:p>
        </p:txBody>
      </p:sp>
      <p:sp>
        <p:nvSpPr>
          <p:cNvPr id="32" name="Text 24"/>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33" name="Text 25"/>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6. Test coupling and accessibility skips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Module 8's red-flag list, in field form.</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getByTestId everywhere instead of role-based queries</a:t>
            </a:r>
            <a:endParaRPr lang="en-US" sz="11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fireEvent instead of userEvent (misses real interactions)</a:t>
            </a:r>
            <a:endParaRPr lang="en-US" sz="11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vi.spyOn on React hooks — testing internals</a:t>
            </a:r>
            <a:endParaRPr lang="en-US" sz="11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Snapshot tests for entire components</a:t>
            </a:r>
            <a:endParaRPr lang="en-US" sz="11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Mocking individual api.js functions instead of network mocks</a:t>
            </a:r>
            <a:endParaRPr lang="en-US" sz="11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setTimeout-based waits — flakiness factory</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29</a:t>
            </a:r>
            <a:endParaRPr lang="en-US" sz="9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Project Context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Set the rules in writing. AI plays by them.</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AGENTS.md / CLAUDE.md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 markdown file at your repo root. Tells AI tools how your project does things.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it does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Documents conventions: file naming, where state lives, how routes are structured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Lists 'do not' rules: don't use useEffect for derived state, don't add deps without asking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Specifies test commands: 'run tests with npm test'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Names key files the AI should always read first</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Why it works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Most AI tools auto-load AGENTS.md (or CLAUDE.md, depending on tool)</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Overrides training-data drift — 'we use RR v7' beats whatever the AI learned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Lets new contributors and AI agents share the same context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Versioned in git — conventions evolve with the codebase</a:t>
            </a:r>
            <a:endParaRPr lang="en-US" sz="125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marL="0" indent="0">
              <a:buNone/>
            </a:pPr>
            <a:r>
              <a:rPr lang="en-US" sz="1250" i="1" dirty="0">
                <a:solidFill>
                  <a:srgbClr val="0F172A"/>
                </a:solidFill>
                <a:latin typeface="Arial" pitchFamily="34" charset="0"/>
                <a:ea typeface="Arial" pitchFamily="34" charset="-122"/>
                <a:cs typeface="Arial" pitchFamily="34" charset="-120"/>
              </a:rPr>
              <a:t>AGENTS.md is the emerging cross-tool standard. CLAUDE.md is Claude-specific. Both can exist in a repo — most tools read whichever they expect.</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Example AGENTS.md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Short, opinionated, code-grounded. Avoid abstractions; name files.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1691640"/>
            <a:ext cx="10241280" cy="4297680"/>
          </a:xfrm>
          <a:prstGeom prst="rect">
            <a:avLst/>
          </a:prstGeom>
          <a:noFill/>
          <a:ln/>
        </p:spPr>
        <p:txBody>
          <a:bodyPr wrap="square" lIns="0" tIns="0" rIns="0" bIns="0" rtlCol="0" anchor="t"/>
          <a:lstStyle/>
          <a:p>
            <a:pPr marL="0" indent="0">
              <a:buNone/>
            </a:pPr>
            <a:r>
              <a:rPr lang="en-US" sz="1100" dirty="0">
                <a:solidFill>
                  <a:srgbClr val="6A9955"/>
                </a:solidFill>
                <a:latin typeface="Courier New" pitchFamily="34" charset="0"/>
                <a:ea typeface="Courier New" pitchFamily="34" charset="-122"/>
                <a:cs typeface="Courier New" pitchFamily="34" charset="-120"/>
              </a:rPr>
              <a:t># AGENTS.md — social-media-rr-v7</a:t>
            </a:r>
            <a:endParaRPr lang="en-US" sz="1100" dirty="0"/>
          </a:p>
          <a:p>
            <a:pPr marL="0" indent="0">
              <a:buNone/>
            </a:pPr>
            <a:endParaRPr lang="en-US" sz="1100" dirty="0"/>
          </a:p>
          <a:p>
            <a:pPr marL="0" indent="0">
              <a:buNone/>
            </a:pPr>
            <a:r>
              <a:rPr lang="en-US" sz="1100" dirty="0">
                <a:solidFill>
                  <a:srgbClr val="6A9955"/>
                </a:solidFill>
                <a:latin typeface="Courier New" pitchFamily="34" charset="0"/>
                <a:ea typeface="Courier New" pitchFamily="34" charset="-122"/>
                <a:cs typeface="Courier New" pitchFamily="34" charset="-120"/>
              </a:rPr>
              <a:t>## Stack</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React 19, React Router v7 (framework mode), TanStack Query, Zustand for client state.</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Vite 6. Vitest + RTL + MSW for tests. ESLint with react-hooks and react-compiler plugins.</a:t>
            </a:r>
            <a:endParaRPr lang="en-US" sz="1100" dirty="0"/>
          </a:p>
          <a:p>
            <a:pPr marL="0" indent="0">
              <a:buNone/>
            </a:pPr>
            <a:endParaRPr lang="en-US" sz="1100" dirty="0"/>
          </a:p>
          <a:p>
            <a:pPr marL="0" indent="0">
              <a:buNone/>
            </a:pPr>
            <a:r>
              <a:rPr lang="en-US" sz="1100" dirty="0">
                <a:solidFill>
                  <a:srgbClr val="6A9955"/>
                </a:solidFill>
                <a:latin typeface="Courier New" pitchFamily="34" charset="0"/>
                <a:ea typeface="Courier New" pitchFamily="34" charset="-122"/>
                <a:cs typeface="Courier New" pitchFamily="34" charset="-120"/>
              </a:rPr>
              <a:t>## Conventions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All routes go in app/routes/. Loaders + actions are exports from those files.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Server data goes through TanStack Query. Don't use useEffect + fetch.</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Tests use userEvent.setup(), getByRole, MSW handlers (NOT vi.fn on api.js).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Action names describe transitions: addItem, removePost. Not setItems, setPosts.</a:t>
            </a:r>
            <a:endParaRPr lang="en-US" sz="1100" dirty="0"/>
          </a:p>
          <a:p>
            <a:pPr marL="0" indent="0">
              <a:buNone/>
            </a:pPr>
            <a:endParaRPr lang="en-US" sz="1100" dirty="0"/>
          </a:p>
          <a:p>
            <a:pPr marL="0" indent="0">
              <a:buNone/>
            </a:pPr>
            <a:r>
              <a:rPr lang="en-US" sz="1100" dirty="0">
                <a:solidFill>
                  <a:srgbClr val="6A9955"/>
                </a:solidFill>
                <a:latin typeface="Courier New" pitchFamily="34" charset="0"/>
                <a:ea typeface="Courier New" pitchFamily="34" charset="-122"/>
                <a:cs typeface="Courier New" pitchFamily="34" charset="-120"/>
              </a:rPr>
              <a:t>## Do not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Add 'use client' to silence build errors. Refactor instead.</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Use getByTestId in tests. Use accessible queries.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Add localStorage for auth tokens. Cookies are HttpOnly server-managed.</a:t>
            </a:r>
            <a:endParaRPr lang="en-US" sz="1100" dirty="0"/>
          </a:p>
          <a:p>
            <a:pPr marL="0" indent="0">
              <a:buNone/>
            </a:pPr>
            <a:endParaRPr lang="en-US" sz="1100" dirty="0"/>
          </a:p>
          <a:p>
            <a:pPr marL="0" indent="0">
              <a:buNone/>
            </a:pPr>
            <a:r>
              <a:rPr lang="en-US" sz="1100" dirty="0">
                <a:solidFill>
                  <a:srgbClr val="6A9955"/>
                </a:solidFill>
                <a:latin typeface="Courier New" pitchFamily="34" charset="0"/>
                <a:ea typeface="Courier New" pitchFamily="34" charset="-122"/>
                <a:cs typeface="Courier New" pitchFamily="34" charset="-120"/>
              </a:rPr>
              <a:t>## Read first</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app/lib/queryKeys.js (cache key conventions)</a:t>
            </a:r>
            <a:endParaRPr lang="en-US" sz="1100" dirty="0"/>
          </a:p>
          <a:p>
            <a:pPr marL="0" indent="0">
              <a:buNone/>
            </a:pPr>
            <a:r>
              <a:rPr lang="en-US" sz="1100" dirty="0">
                <a:solidFill>
                  <a:srgbClr val="FFFFFF"/>
                </a:solidFill>
                <a:latin typeface="Courier New" pitchFamily="34" charset="0"/>
                <a:ea typeface="Courier New" pitchFamily="34" charset="-122"/>
                <a:cs typeface="Courier New" pitchFamily="34" charset="-120"/>
              </a:rPr>
              <a:t>- app/stores/ui.js (theme + sidebar — example of our store style)</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29</a:t>
            </a:r>
            <a:endParaRPr lang="en-US" sz="9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Lint rules as guardrails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AI listens to errors. Make the lint config strict so AI fixes things on the way out.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37360"/>
            <a:ext cx="4572000" cy="64008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react-hooks/exhaustive-deps</a:t>
            </a:r>
            <a:endParaRPr lang="en-US" sz="1150" dirty="0"/>
          </a:p>
        </p:txBody>
      </p:sp>
      <p:sp>
        <p:nvSpPr>
          <p:cNvPr id="7" name="Text 5"/>
          <p:cNvSpPr/>
          <p:nvPr/>
        </p:nvSpPr>
        <p:spPr>
          <a:xfrm>
            <a:off x="5623560" y="1737360"/>
            <a:ext cx="5669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Catches missing useEffect deps. Catches stale closures the AI introduces.</a:t>
            </a:r>
            <a:endParaRPr lang="en-US" sz="1150" dirty="0"/>
          </a:p>
        </p:txBody>
      </p:sp>
      <p:sp>
        <p:nvSpPr>
          <p:cNvPr id="8"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60120" y="2606040"/>
            <a:ext cx="4572000" cy="64008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react-compiler/react-compiler</a:t>
            </a:r>
            <a:endParaRPr lang="en-US" sz="1150" dirty="0"/>
          </a:p>
        </p:txBody>
      </p:sp>
      <p:sp>
        <p:nvSpPr>
          <p:cNvPr id="10" name="Text 8"/>
          <p:cNvSpPr/>
          <p:nvPr/>
        </p:nvSpPr>
        <p:spPr>
          <a:xfrm>
            <a:off x="5623560" y="2606040"/>
            <a:ext cx="5669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Flags components that bail out of compiler memoization. Catches in-render mutation.</a:t>
            </a:r>
            <a:endParaRPr lang="en-US" sz="1150" dirty="0"/>
          </a:p>
        </p:txBody>
      </p:sp>
      <p:sp>
        <p:nvSpPr>
          <p:cNvPr id="11"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3474720"/>
            <a:ext cx="4572000" cy="64008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@typescript-eslint/no-floating-promises</a:t>
            </a:r>
            <a:endParaRPr lang="en-US" sz="1150" dirty="0"/>
          </a:p>
        </p:txBody>
      </p:sp>
      <p:sp>
        <p:nvSpPr>
          <p:cNvPr id="13" name="Text 11"/>
          <p:cNvSpPr/>
          <p:nvPr/>
        </p:nvSpPr>
        <p:spPr>
          <a:xfrm>
            <a:off x="5623560" y="3474720"/>
            <a:ext cx="5669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If TS: catches AI's tendency to forget await.</a:t>
            </a:r>
            <a:endParaRPr lang="en-US" sz="1150" dirty="0"/>
          </a:p>
        </p:txBody>
      </p:sp>
      <p:sp>
        <p:nvSpPr>
          <p:cNvPr id="14"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60120" y="4343400"/>
            <a:ext cx="4572000" cy="64008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testing-library/prefer-user-event</a:t>
            </a:r>
            <a:endParaRPr lang="en-US" sz="1150" dirty="0"/>
          </a:p>
        </p:txBody>
      </p:sp>
      <p:sp>
        <p:nvSpPr>
          <p:cNvPr id="16" name="Text 14"/>
          <p:cNvSpPr/>
          <p:nvPr/>
        </p:nvSpPr>
        <p:spPr>
          <a:xfrm>
            <a:off x="5623560" y="4343400"/>
            <a:ext cx="5669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Auto-flags fireEvent suggestions in test files.</a:t>
            </a:r>
            <a:endParaRPr lang="en-US" sz="1150" dirty="0"/>
          </a:p>
        </p:txBody>
      </p:sp>
      <p:sp>
        <p:nvSpPr>
          <p:cNvPr id="17"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5212080"/>
            <a:ext cx="4572000" cy="640080"/>
          </a:xfrm>
          <a:prstGeom prst="rect">
            <a:avLst/>
          </a:prstGeom>
          <a:noFill/>
          <a:ln/>
        </p:spPr>
        <p:txBody>
          <a:bodyPr wrap="square" lIns="0" tIns="0" rIns="0" bIns="0" rtlCol="0" anchor="ctr"/>
          <a:lstStyle/>
          <a:p>
            <a:pPr marL="0" indent="0">
              <a:buNone/>
            </a:pPr>
            <a:r>
              <a:rPr lang="en-US" sz="1150" b="1" dirty="0">
                <a:solidFill>
                  <a:srgbClr val="00B8D9"/>
                </a:solidFill>
                <a:latin typeface="Courier New" pitchFamily="34" charset="0"/>
                <a:ea typeface="Courier New" pitchFamily="34" charset="-122"/>
                <a:cs typeface="Courier New" pitchFamily="34" charset="-120"/>
              </a:rPr>
              <a:t>no-restricted-imports (server-only / client-only)</a:t>
            </a:r>
            <a:endParaRPr lang="en-US" sz="1150" dirty="0"/>
          </a:p>
        </p:txBody>
      </p:sp>
      <p:sp>
        <p:nvSpPr>
          <p:cNvPr id="19" name="Text 17"/>
          <p:cNvSpPr/>
          <p:nvPr/>
        </p:nvSpPr>
        <p:spPr>
          <a:xfrm>
            <a:off x="5623560" y="5212080"/>
            <a:ext cx="5669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Prevents server modules leaking into client and vice versa.</a:t>
            </a:r>
            <a:endParaRPr lang="en-US" sz="115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29</a:t>
            </a:r>
            <a:endParaRPr lang="en-US" sz="9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Repo conventions that travel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Small, codified, durable. AI tools across your team see the same shape.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411480" cy="411480"/>
          </a:xfrm>
          <a:prstGeom prst="rect">
            <a:avLst/>
          </a:prstGeom>
        </p:spPr>
      </p:pic>
      <p:sp>
        <p:nvSpPr>
          <p:cNvPr id="7" name="Text 4"/>
          <p:cNvSpPr/>
          <p:nvPr/>
        </p:nvSpPr>
        <p:spPr>
          <a:xfrm>
            <a:off x="1554480" y="1737360"/>
            <a:ext cx="2743200" cy="640080"/>
          </a:xfrm>
          <a:prstGeom prst="rect">
            <a:avLst/>
          </a:prstGeom>
          <a:noFill/>
          <a:ln/>
        </p:spPr>
        <p:txBody>
          <a:bodyPr wrap="square" lIns="0" tIns="0" rIns="0" bIns="0" rtlCol="0" anchor="ctr"/>
          <a:lstStyle/>
          <a:p>
            <a:pPr marL="0" indent="0">
              <a:buNone/>
            </a:pPr>
            <a:r>
              <a:rPr lang="en-US" sz="1250" b="1" dirty="0">
                <a:solidFill>
                  <a:srgbClr val="0F172A"/>
                </a:solidFill>
                <a:latin typeface="Courier New" pitchFamily="34" charset="0"/>
                <a:ea typeface="Courier New" pitchFamily="34" charset="-122"/>
                <a:cs typeface="Courier New" pitchFamily="34" charset="-120"/>
              </a:rPr>
              <a:t>queryKeys.js</a:t>
            </a:r>
            <a:endParaRPr lang="en-US" sz="1250" dirty="0"/>
          </a:p>
        </p:txBody>
      </p:sp>
      <p:sp>
        <p:nvSpPr>
          <p:cNvPr id="8" name="Text 5"/>
          <p:cNvSpPr/>
          <p:nvPr/>
        </p:nvSpPr>
        <p:spPr>
          <a:xfrm>
            <a:off x="4434840" y="1737360"/>
            <a:ext cx="685800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Centralize TanStack Query keys. AI uses your factories instead of inventing new ones.</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679192"/>
            <a:ext cx="411480" cy="411480"/>
          </a:xfrm>
          <a:prstGeom prst="rect">
            <a:avLst/>
          </a:prstGeom>
        </p:spPr>
      </p:pic>
      <p:sp>
        <p:nvSpPr>
          <p:cNvPr id="11" name="Text 7"/>
          <p:cNvSpPr/>
          <p:nvPr/>
        </p:nvSpPr>
        <p:spPr>
          <a:xfrm>
            <a:off x="1554480" y="2606040"/>
            <a:ext cx="2743200" cy="640080"/>
          </a:xfrm>
          <a:prstGeom prst="rect">
            <a:avLst/>
          </a:prstGeom>
          <a:noFill/>
          <a:ln/>
        </p:spPr>
        <p:txBody>
          <a:bodyPr wrap="square" lIns="0" tIns="0" rIns="0" bIns="0" rtlCol="0" anchor="ctr"/>
          <a:lstStyle/>
          <a:p>
            <a:pPr marL="0" indent="0">
              <a:buNone/>
            </a:pPr>
            <a:r>
              <a:rPr lang="en-US" sz="1250" b="1" dirty="0">
                <a:solidFill>
                  <a:srgbClr val="0F172A"/>
                </a:solidFill>
                <a:latin typeface="Courier New" pitchFamily="34" charset="0"/>
                <a:ea typeface="Courier New" pitchFamily="34" charset="-122"/>
                <a:cs typeface="Courier New" pitchFamily="34" charset="-120"/>
              </a:rPr>
              <a:t>stores/</a:t>
            </a:r>
            <a:endParaRPr lang="en-US" sz="1250" dirty="0"/>
          </a:p>
        </p:txBody>
      </p:sp>
      <p:sp>
        <p:nvSpPr>
          <p:cNvPr id="12" name="Text 8"/>
          <p:cNvSpPr/>
          <p:nvPr/>
        </p:nvSpPr>
        <p:spPr>
          <a:xfrm>
            <a:off x="4434840" y="2606040"/>
            <a:ext cx="685800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Group client state by feature. AI mirrors the structure when adding state.</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3547872"/>
            <a:ext cx="411480" cy="411480"/>
          </a:xfrm>
          <a:prstGeom prst="rect">
            <a:avLst/>
          </a:prstGeom>
        </p:spPr>
      </p:pic>
      <p:sp>
        <p:nvSpPr>
          <p:cNvPr id="15" name="Text 10"/>
          <p:cNvSpPr/>
          <p:nvPr/>
        </p:nvSpPr>
        <p:spPr>
          <a:xfrm>
            <a:off x="1554480" y="3474720"/>
            <a:ext cx="2743200" cy="640080"/>
          </a:xfrm>
          <a:prstGeom prst="rect">
            <a:avLst/>
          </a:prstGeom>
          <a:noFill/>
          <a:ln/>
        </p:spPr>
        <p:txBody>
          <a:bodyPr wrap="square" lIns="0" tIns="0" rIns="0" bIns="0" rtlCol="0" anchor="ctr"/>
          <a:lstStyle/>
          <a:p>
            <a:pPr marL="0" indent="0">
              <a:buNone/>
            </a:pPr>
            <a:r>
              <a:rPr lang="en-US" sz="1250" b="1" dirty="0">
                <a:solidFill>
                  <a:srgbClr val="0F172A"/>
                </a:solidFill>
                <a:latin typeface="Courier New" pitchFamily="34" charset="0"/>
                <a:ea typeface="Courier New" pitchFamily="34" charset="-122"/>
                <a:cs typeface="Courier New" pitchFamily="34" charset="-120"/>
              </a:rPr>
              <a:t>actions/</a:t>
            </a:r>
            <a:endParaRPr lang="en-US" sz="1250" dirty="0"/>
          </a:p>
        </p:txBody>
      </p:sp>
      <p:sp>
        <p:nvSpPr>
          <p:cNvPr id="16" name="Text 11"/>
          <p:cNvSpPr/>
          <p:nvPr/>
        </p:nvSpPr>
        <p:spPr>
          <a:xfrm>
            <a:off x="4434840" y="3474720"/>
            <a:ext cx="685800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Actions in one folder. 'use server' at the top of each file makes the boundary obvious.</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4416552"/>
            <a:ext cx="411480" cy="411480"/>
          </a:xfrm>
          <a:prstGeom prst="rect">
            <a:avLst/>
          </a:prstGeom>
        </p:spPr>
      </p:pic>
      <p:sp>
        <p:nvSpPr>
          <p:cNvPr id="19" name="Text 13"/>
          <p:cNvSpPr/>
          <p:nvPr/>
        </p:nvSpPr>
        <p:spPr>
          <a:xfrm>
            <a:off x="1554480" y="4343400"/>
            <a:ext cx="2743200" cy="640080"/>
          </a:xfrm>
          <a:prstGeom prst="rect">
            <a:avLst/>
          </a:prstGeom>
          <a:noFill/>
          <a:ln/>
        </p:spPr>
        <p:txBody>
          <a:bodyPr wrap="square" lIns="0" tIns="0" rIns="0" bIns="0" rtlCol="0" anchor="ctr"/>
          <a:lstStyle/>
          <a:p>
            <a:pPr marL="0" indent="0">
              <a:buNone/>
            </a:pPr>
            <a:r>
              <a:rPr lang="en-US" sz="1250" b="1" dirty="0">
                <a:solidFill>
                  <a:srgbClr val="0F172A"/>
                </a:solidFill>
                <a:latin typeface="Courier New" pitchFamily="34" charset="0"/>
                <a:ea typeface="Courier New" pitchFamily="34" charset="-122"/>
                <a:cs typeface="Courier New" pitchFamily="34" charset="-120"/>
              </a:rPr>
              <a:t>lib/api.js</a:t>
            </a:r>
            <a:endParaRPr lang="en-US" sz="1250" dirty="0"/>
          </a:p>
        </p:txBody>
      </p:sp>
      <p:sp>
        <p:nvSpPr>
          <p:cNvPr id="20" name="Text 14"/>
          <p:cNvSpPr/>
          <p:nvPr/>
        </p:nvSpPr>
        <p:spPr>
          <a:xfrm>
            <a:off x="4434840" y="4343400"/>
            <a:ext cx="685800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Single source of network calls. AI extends it instead of rolling new fetch patterns.</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960120" y="5285232"/>
            <a:ext cx="411480" cy="411480"/>
          </a:xfrm>
          <a:prstGeom prst="rect">
            <a:avLst/>
          </a:prstGeom>
        </p:spPr>
      </p:pic>
      <p:sp>
        <p:nvSpPr>
          <p:cNvPr id="23" name="Text 16"/>
          <p:cNvSpPr/>
          <p:nvPr/>
        </p:nvSpPr>
        <p:spPr>
          <a:xfrm>
            <a:off x="1554480" y="5212080"/>
            <a:ext cx="2743200" cy="640080"/>
          </a:xfrm>
          <a:prstGeom prst="rect">
            <a:avLst/>
          </a:prstGeom>
          <a:noFill/>
          <a:ln/>
        </p:spPr>
        <p:txBody>
          <a:bodyPr wrap="square" lIns="0" tIns="0" rIns="0" bIns="0" rtlCol="0" anchor="ctr"/>
          <a:lstStyle/>
          <a:p>
            <a:pPr marL="0" indent="0">
              <a:buNone/>
            </a:pPr>
            <a:r>
              <a:rPr lang="en-US" sz="1250" b="1" dirty="0">
                <a:solidFill>
                  <a:srgbClr val="0F172A"/>
                </a:solidFill>
                <a:latin typeface="Courier New" pitchFamily="34" charset="0"/>
                <a:ea typeface="Courier New" pitchFamily="34" charset="-122"/>
                <a:cs typeface="Courier New" pitchFamily="34" charset="-120"/>
              </a:rPr>
              <a:t>test/handlers.js</a:t>
            </a:r>
            <a:endParaRPr lang="en-US" sz="1250" dirty="0"/>
          </a:p>
        </p:txBody>
      </p:sp>
      <p:sp>
        <p:nvSpPr>
          <p:cNvPr id="24" name="Text 17"/>
          <p:cNvSpPr/>
          <p:nvPr/>
        </p:nvSpPr>
        <p:spPr>
          <a:xfrm>
            <a:off x="4434840" y="5212080"/>
            <a:ext cx="685800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MSW handlers in one place. AI extends, doesn't fragment, the mock surface.</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29</a:t>
            </a:r>
            <a:endParaRPr lang="en-US" sz="9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Workflows That Work</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Spec-driven dev. AI-assisted refactors. AI-assisted migrations.</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Spec-driven development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Write a brief spec. Let the AI do the typing. Review the diff.</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1856232"/>
            <a:ext cx="411480" cy="41148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185623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Write a one-paragraph spec</a:t>
            </a:r>
            <a:endParaRPr lang="en-US" sz="1250" dirty="0"/>
          </a:p>
        </p:txBody>
      </p:sp>
      <p:sp>
        <p:nvSpPr>
          <p:cNvPr id="9" name="Text 7"/>
          <p:cNvSpPr/>
          <p:nvPr/>
        </p:nvSpPr>
        <p:spPr>
          <a:xfrm>
            <a:off x="5715000" y="1737360"/>
            <a:ext cx="557784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What does the feature do? What's the acceptance criteria? Where does the code go? What's out of scope?</a:t>
            </a:r>
            <a:endParaRPr lang="en-US" sz="115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2724912"/>
            <a:ext cx="411480" cy="41148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272491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Drop the spec into the AI's context</a:t>
            </a:r>
            <a:endParaRPr lang="en-US" sz="1250" dirty="0"/>
          </a:p>
        </p:txBody>
      </p:sp>
      <p:sp>
        <p:nvSpPr>
          <p:cNvPr id="14" name="Text 12"/>
          <p:cNvSpPr/>
          <p:nvPr/>
        </p:nvSpPr>
        <p:spPr>
          <a:xfrm>
            <a:off x="5715000" y="2606040"/>
            <a:ext cx="557784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Either as a prompt or as a SPEC.md file the agent reads.</a:t>
            </a:r>
            <a:endParaRPr lang="en-US" sz="115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3593592"/>
            <a:ext cx="411480" cy="41148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35935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Let the AI propose a structure first</a:t>
            </a:r>
            <a:endParaRPr lang="en-US" sz="1250" dirty="0"/>
          </a:p>
        </p:txBody>
      </p:sp>
      <p:sp>
        <p:nvSpPr>
          <p:cNvPr id="19" name="Text 17"/>
          <p:cNvSpPr/>
          <p:nvPr/>
        </p:nvSpPr>
        <p:spPr>
          <a:xfrm>
            <a:off x="5715000" y="3474720"/>
            <a:ext cx="557784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File list, function signatures, type definitions. Review BEFORE implementation.</a:t>
            </a:r>
            <a:endParaRPr lang="en-US" sz="115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960120" y="4462272"/>
            <a:ext cx="411480" cy="411480"/>
          </a:xfrm>
          <a:prstGeom prst="ellipse">
            <a:avLst/>
          </a:prstGeom>
          <a:solidFill>
            <a:srgbClr val="00B8D9"/>
          </a:solidFill>
          <a:ln w="12700">
            <a:solidFill>
              <a:srgbClr val="00B8D9"/>
            </a:solidFill>
            <a:prstDash val="solid"/>
          </a:ln>
        </p:spPr>
        <p:txBody>
          <a:bodyPr/>
          <a:lstStyle/>
          <a:p>
            <a:endParaRPr lang="en-US"/>
          </a:p>
        </p:txBody>
      </p:sp>
      <p:sp>
        <p:nvSpPr>
          <p:cNvPr id="22" name="Text 20"/>
          <p:cNvSpPr/>
          <p:nvPr/>
        </p:nvSpPr>
        <p:spPr>
          <a:xfrm>
            <a:off x="960120" y="446227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Iterate small</a:t>
            </a:r>
            <a:endParaRPr lang="en-US" sz="1250" dirty="0"/>
          </a:p>
        </p:txBody>
      </p:sp>
      <p:sp>
        <p:nvSpPr>
          <p:cNvPr id="24" name="Text 22"/>
          <p:cNvSpPr/>
          <p:nvPr/>
        </p:nvSpPr>
        <p:spPr>
          <a:xfrm>
            <a:off x="5715000" y="4343400"/>
            <a:ext cx="557784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One file at a time. Read each diff. Run tests after each batch.</a:t>
            </a:r>
            <a:endParaRPr lang="en-US" sz="115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960120" y="5330952"/>
            <a:ext cx="411480" cy="41148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960120" y="533095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4114800" cy="640080"/>
          </a:xfrm>
          <a:prstGeom prst="rect">
            <a:avLst/>
          </a:prstGeom>
          <a:noFill/>
          <a:ln/>
        </p:spPr>
        <p:txBody>
          <a:bodyPr wrap="square" lIns="0" tIns="0" rIns="0" bIns="0" rtlCol="0" anchor="ctr"/>
          <a:lstStyle/>
          <a:p>
            <a:pPr marL="0" indent="0">
              <a:buNone/>
            </a:pPr>
            <a:r>
              <a:rPr lang="en-US" sz="1250" b="1" dirty="0">
                <a:solidFill>
                  <a:srgbClr val="0F172A"/>
                </a:solidFill>
                <a:latin typeface="Trebuchet MS" pitchFamily="34" charset="0"/>
                <a:ea typeface="Trebuchet MS" pitchFamily="34" charset="-122"/>
                <a:cs typeface="Trebuchet MS" pitchFamily="34" charset="-120"/>
              </a:rPr>
              <a:t>Verify with tests, types, dev server</a:t>
            </a:r>
            <a:endParaRPr lang="en-US" sz="1250" dirty="0"/>
          </a:p>
        </p:txBody>
      </p:sp>
      <p:sp>
        <p:nvSpPr>
          <p:cNvPr id="29" name="Text 27"/>
          <p:cNvSpPr/>
          <p:nvPr/>
        </p:nvSpPr>
        <p:spPr>
          <a:xfrm>
            <a:off x="5715000" y="5212080"/>
            <a:ext cx="557784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All three layers. Bugs that survive any one layer often die in another.</a:t>
            </a:r>
            <a:endParaRPr lang="en-US" sz="115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29</a:t>
            </a:r>
            <a:endParaRPr lang="en-US" sz="9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AI-assisted refactors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AI is great at mechanical refactors. Verify with tests, not vibes.</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Class to function components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Lab 1's pattern. AI handles the syntactic conversion; you fix the semantic mistakes (stale closures, state-in-effect).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Old hooks to new hooks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useState to useReducer, useEffect+fetch to TanStack Query. AI gets the structure right; you check the dep arrays.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Renaming across files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AI is faster than your IDE for cross-file renames with logic changes. Verify with tests.</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3"/>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API shape changes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Backend renames a field; frontend has 30 references. AI finds them; you spot-check the edge cases.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22 / 29</a:t>
            </a:r>
            <a:endParaRPr lang="en-US" sz="9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AI-assisted migrations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Bigger than refactors. Plan more deliberately.</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Lock down a known-good baseline first — tests pass, types check, dev server works</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Migrate one module/route/feature at a time, not the whole repo</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Run the full test suite after each batch — if anything breaks, revert and re-prompt</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Commit each migrated module as its own change — one change, one revert path</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Keep a CHANGELOG of what was migrated, what's still old, and what each commit covered</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When in doubt, ask the AI to explain its choices BEFORE you accept the diff</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23 / 29</a:t>
            </a:r>
            <a:endParaRPr lang="en-US" sz="9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4">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The Review Checklist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One page. Carry it into every review of AI-generated React.</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AI-generated React review checklist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Carry it. Apply it. Lab 8 puts it into practice.</a:t>
            </a:r>
            <a:endParaRPr lang="en-US" sz="1400" dirty="0"/>
          </a:p>
        </p:txBody>
      </p:sp>
      <p:sp>
        <p:nvSpPr>
          <p:cNvPr id="5" name="Shape 3"/>
          <p:cNvSpPr/>
          <p:nvPr/>
        </p:nvSpPr>
        <p:spPr>
          <a:xfrm>
            <a:off x="777240" y="1691640"/>
            <a:ext cx="5212080" cy="182880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5212080" cy="41148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1691640"/>
            <a:ext cx="4846320" cy="41148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Hooks</a:t>
            </a:r>
            <a:endParaRPr lang="en-US" sz="1300" dirty="0"/>
          </a:p>
        </p:txBody>
      </p:sp>
      <p:sp>
        <p:nvSpPr>
          <p:cNvPr id="8" name="Text 6"/>
          <p:cNvSpPr/>
          <p:nvPr/>
        </p:nvSpPr>
        <p:spPr>
          <a:xfrm>
            <a:off x="1005840" y="219456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Stale closures in useEffect?</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Missing dep array entries?</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Hooks inside conditionals or loops?</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useEffect for derived state or events?</a:t>
            </a:r>
            <a:endParaRPr lang="en-US" sz="1100" dirty="0"/>
          </a:p>
        </p:txBody>
      </p:sp>
      <p:sp>
        <p:nvSpPr>
          <p:cNvPr id="9" name="Shape 7"/>
          <p:cNvSpPr/>
          <p:nvPr/>
        </p:nvSpPr>
        <p:spPr>
          <a:xfrm>
            <a:off x="777240" y="3794760"/>
            <a:ext cx="5212080" cy="182880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777240" y="3794760"/>
            <a:ext cx="5212080" cy="411480"/>
          </a:xfrm>
          <a:prstGeom prst="rect">
            <a:avLst/>
          </a:prstGeom>
          <a:solidFill>
            <a:srgbClr val="1E2A47"/>
          </a:solidFill>
          <a:ln w="12700">
            <a:solidFill>
              <a:srgbClr val="1E2A47"/>
            </a:solidFill>
            <a:prstDash val="solid"/>
          </a:ln>
        </p:spPr>
        <p:txBody>
          <a:bodyPr/>
          <a:lstStyle/>
          <a:p>
            <a:endParaRPr lang="en-US"/>
          </a:p>
        </p:txBody>
      </p:sp>
      <p:sp>
        <p:nvSpPr>
          <p:cNvPr id="11" name="Text 9"/>
          <p:cNvSpPr/>
          <p:nvPr/>
        </p:nvSpPr>
        <p:spPr>
          <a:xfrm>
            <a:off x="960120" y="3794760"/>
            <a:ext cx="4846320" cy="41148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Boundaries</a:t>
            </a:r>
            <a:endParaRPr lang="en-US" sz="1300" dirty="0"/>
          </a:p>
        </p:txBody>
      </p:sp>
      <p:sp>
        <p:nvSpPr>
          <p:cNvPr id="12" name="Text 10"/>
          <p:cNvSpPr/>
          <p:nvPr/>
        </p:nvSpPr>
        <p:spPr>
          <a:xfrm>
            <a:off x="1005840" y="429768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 client' at the right level?</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Server-only imports staying server-side?</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Functions across boundary marked 'use server'?</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Non-serializable props eliminated?</a:t>
            </a:r>
            <a:endParaRPr lang="en-US" sz="1100" dirty="0"/>
          </a:p>
        </p:txBody>
      </p:sp>
      <p:sp>
        <p:nvSpPr>
          <p:cNvPr id="13" name="Shape 11"/>
          <p:cNvSpPr/>
          <p:nvPr/>
        </p:nvSpPr>
        <p:spPr>
          <a:xfrm>
            <a:off x="6126480" y="1691640"/>
            <a:ext cx="5212080" cy="182880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6126480" y="1691640"/>
            <a:ext cx="5212080" cy="411480"/>
          </a:xfrm>
          <a:prstGeom prst="rect">
            <a:avLst/>
          </a:prstGeom>
          <a:solidFill>
            <a:srgbClr val="1E2A47"/>
          </a:solidFill>
          <a:ln w="12700">
            <a:solidFill>
              <a:srgbClr val="1E2A47"/>
            </a:solidFill>
            <a:prstDash val="solid"/>
          </a:ln>
        </p:spPr>
        <p:txBody>
          <a:bodyPr/>
          <a:lstStyle/>
          <a:p>
            <a:endParaRPr lang="en-US"/>
          </a:p>
        </p:txBody>
      </p:sp>
      <p:sp>
        <p:nvSpPr>
          <p:cNvPr id="15" name="Text 13"/>
          <p:cNvSpPr/>
          <p:nvPr/>
        </p:nvSpPr>
        <p:spPr>
          <a:xfrm>
            <a:off x="6309360" y="1691640"/>
            <a:ext cx="4846320" cy="41148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Patterns</a:t>
            </a:r>
            <a:endParaRPr lang="en-US" sz="1300" dirty="0"/>
          </a:p>
        </p:txBody>
      </p:sp>
      <p:sp>
        <p:nvSpPr>
          <p:cNvPr id="16" name="Text 14"/>
          <p:cNvSpPr/>
          <p:nvPr/>
        </p:nvSpPr>
        <p:spPr>
          <a:xfrm>
            <a:off x="6355080" y="219456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Modern Router APIs (RR v7 / Next.js App Router)?</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Modern state (Zustand/Jotai/RTK or just useState)?</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Server data through TanStack Query, not useEffect+fetch?</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Functional setState where it matters?</a:t>
            </a:r>
            <a:endParaRPr lang="en-US" sz="1100" dirty="0"/>
          </a:p>
        </p:txBody>
      </p:sp>
      <p:sp>
        <p:nvSpPr>
          <p:cNvPr id="17" name="Shape 15"/>
          <p:cNvSpPr/>
          <p:nvPr/>
        </p:nvSpPr>
        <p:spPr>
          <a:xfrm>
            <a:off x="6126480" y="3794760"/>
            <a:ext cx="5212080" cy="182880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6126480" y="3794760"/>
            <a:ext cx="5212080" cy="411480"/>
          </a:xfrm>
          <a:prstGeom prst="rect">
            <a:avLst/>
          </a:prstGeom>
          <a:solidFill>
            <a:srgbClr val="1E2A47"/>
          </a:solidFill>
          <a:ln w="12700">
            <a:solidFill>
              <a:srgbClr val="1E2A47"/>
            </a:solidFill>
            <a:prstDash val="solid"/>
          </a:ln>
        </p:spPr>
        <p:txBody>
          <a:bodyPr/>
          <a:lstStyle/>
          <a:p>
            <a:endParaRPr lang="en-US"/>
          </a:p>
        </p:txBody>
      </p:sp>
      <p:sp>
        <p:nvSpPr>
          <p:cNvPr id="19" name="Text 17"/>
          <p:cNvSpPr/>
          <p:nvPr/>
        </p:nvSpPr>
        <p:spPr>
          <a:xfrm>
            <a:off x="6309360" y="3794760"/>
            <a:ext cx="4846320" cy="411480"/>
          </a:xfrm>
          <a:prstGeom prst="rect">
            <a:avLst/>
          </a:prstGeom>
          <a:noFill/>
          <a:ln/>
        </p:spPr>
        <p:txBody>
          <a:bodyPr wrap="square" lIns="0" tIns="0" rIns="0" bIns="0" rtlCol="0" anchor="ctr"/>
          <a:lstStyle/>
          <a:p>
            <a:pPr marL="0" indent="0">
              <a:buNone/>
            </a:pPr>
            <a:r>
              <a:rPr lang="en-US" sz="1300" b="1" dirty="0">
                <a:solidFill>
                  <a:srgbClr val="00B8D9"/>
                </a:solidFill>
                <a:latin typeface="Trebuchet MS" pitchFamily="34" charset="0"/>
                <a:ea typeface="Trebuchet MS" pitchFamily="34" charset="-122"/>
                <a:cs typeface="Trebuchet MS" pitchFamily="34" charset="-120"/>
              </a:rPr>
              <a:t>Tests</a:t>
            </a:r>
            <a:endParaRPr lang="en-US" sz="1300" dirty="0"/>
          </a:p>
        </p:txBody>
      </p:sp>
      <p:sp>
        <p:nvSpPr>
          <p:cNvPr id="20" name="Text 18"/>
          <p:cNvSpPr/>
          <p:nvPr/>
        </p:nvSpPr>
        <p:spPr>
          <a:xfrm>
            <a:off x="6355080" y="429768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Role-based queries, not getByTestId?</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user-event, not fireEvent?</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MSW for network mocks, not vi.fn on api?</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No spies on React internals?</a:t>
            </a:r>
            <a:endParaRPr lang="en-US" sz="110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25 / 29</a:t>
            </a:r>
            <a:endParaRPr lang="en-US" sz="9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Module 9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Read every diff. The friction of reading is what catches the bugs.</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Six recurring AI mistakes: stale closures, useEffect overreach, boundary violations, hydration mismatches, outdated patterns, test coupling.</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AGENTS.md / CLAUDE.md is your project context for AI. Short, opinionated, names files.</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Lint rules are guardrails. Don't disable to let AI's code compile.</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Spec → structure → small batches → verify with tests + types + running code.</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00" dirty="0">
                <a:solidFill>
                  <a:srgbClr val="475569"/>
                </a:solidFill>
                <a:latin typeface="Arial" pitchFamily="34" charset="0"/>
                <a:ea typeface="Arial" pitchFamily="34" charset="-122"/>
                <a:cs typeface="Arial" pitchFamily="34" charset="-120"/>
              </a:rPr>
              <a:t>Carry the review checklist. Roles, hooks, boundaries, patterns, tests.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26 / 29</a:t>
            </a:r>
            <a:endParaRPr lang="en-US" sz="9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Coming up: Lab 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Build a feature end-to-end with AI. Self-review the result.</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marL="0" indent="0">
              <a:buNone/>
            </a:pPr>
            <a:r>
              <a:rPr lang="en-US" sz="2200" b="1" dirty="0">
                <a:solidFill>
                  <a:srgbClr val="0F172A"/>
                </a:solidFill>
                <a:latin typeface="Trebuchet MS" pitchFamily="34" charset="0"/>
                <a:ea typeface="Trebuchet MS" pitchFamily="34" charset="-122"/>
                <a:cs typeface="Trebuchet MS" pitchFamily="34" charset="-120"/>
              </a:rPr>
              <a:t>Lab 8: AI-Assisted Feature, End to End</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marL="0" indent="0">
              <a:buNone/>
            </a:pPr>
            <a:r>
              <a:rPr lang="en-US" sz="1300" i="1" dirty="0">
                <a:solidFill>
                  <a:srgbClr val="475569"/>
                </a:solidFill>
                <a:latin typeface="Arial" pitchFamily="34" charset="0"/>
                <a:ea typeface="Arial" pitchFamily="34" charset="-122"/>
                <a:cs typeface="Arial" pitchFamily="34" charset="-120"/>
              </a:rPr>
              <a:t>90 minutes  ·  Hands-on  ·  Self-review is the deliverable</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Pick one feature from a provided backlog (or propose your own)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Write a brief spec (one paragraph)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Build the feature with heavy AI assistance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Self-review using the checklist — find at least three issues you fixed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End with working code + a written self-review listing the issues you caught</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27 / 29</a:t>
            </a:r>
            <a:endParaRPr lang="en-US" sz="9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After the lab: Module 10</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Production concerns + course wrap-up.</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Module 10 covers:</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React-specific security: CSP for streaming SSR, secrets in Server Actions, hydration safety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Accessibility — what AI assistants frequently miss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Internationalization briefly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Course wrap-up, Q&amp;A, where to go next</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28 / 29</a:t>
            </a:r>
            <a:endParaRPr lang="en-US" sz="9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Day 3 progress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Almost there.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1097280" y="1920240"/>
            <a:ext cx="10058400" cy="3840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 AI review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AI assistants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end-to-end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 wrap-up</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9 — AI Assistants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29 / 29</a:t>
            </a:r>
            <a:endParaRPr lang="en-US" sz="9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542032"/>
            <a:ext cx="5486400" cy="457200"/>
          </a:xfrm>
          <a:prstGeom prst="rect">
            <a:avLst/>
          </a:prstGeom>
          <a:noFill/>
          <a:ln/>
        </p:spPr>
        <p:txBody>
          <a:bodyPr wrap="square" lIns="0" tIns="0" rIns="0" bIns="0" rtlCol="0" anchor="ctr"/>
          <a:lstStyle/>
          <a:p>
            <a:pPr marL="0" indent="0">
              <a:buNone/>
            </a:pPr>
            <a:r>
              <a:rPr lang="en-US" sz="1800" dirty="0">
                <a:solidFill>
                  <a:srgbClr val="00B8D9"/>
                </a:solidFill>
                <a:latin typeface="Trebuchet MS" pitchFamily="34" charset="0"/>
                <a:ea typeface="Trebuchet MS" pitchFamily="34" charset="-122"/>
                <a:cs typeface="Trebuchet MS" pitchFamily="34" charset="-120"/>
              </a:rPr>
              <a:t>Module 10</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Production Concerns + Wrap-up</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Security, accessibility, i18n, and where to go from here.</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45 minutes  ·  Lecture + Q&amp;A  ·  Final module</a:t>
            </a:r>
            <a:endParaRPr lang="en-US" sz="1400" dirty="0"/>
          </a:p>
        </p:txBody>
      </p:sp>
      <p:pic>
        <p:nvPicPr>
          <p:cNvPr id="7"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React-Specific Security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Generic security advice + the things that bite React apps in particular.</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dangerouslySetInnerHTML — when and how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React escapes content by default. The exception is the danger zone.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When you actually need it</a:t>
            </a:r>
            <a:endParaRPr lang="en-US" sz="1400" dirty="0"/>
          </a:p>
        </p:txBody>
      </p:sp>
      <p:sp>
        <p:nvSpPr>
          <p:cNvPr id="6" name="Text 4"/>
          <p:cNvSpPr/>
          <p:nvPr/>
        </p:nvSpPr>
        <p:spPr>
          <a:xfrm>
            <a:off x="777240" y="1920240"/>
            <a:ext cx="534924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Rendering pre-sanitized HTML from a CMS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Inlining markdown that's already been parsed and sanitized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Embedding SVG content as a string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Inlining critical CSS for first paint (rare)</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Sanitize first, render second</a:t>
            </a:r>
            <a:endParaRPr lang="en-US" sz="1400" dirty="0"/>
          </a:p>
        </p:txBody>
      </p:sp>
      <p:sp>
        <p:nvSpPr>
          <p:cNvPr id="8" name="Shape 6"/>
          <p:cNvSpPr/>
          <p:nvPr/>
        </p:nvSpPr>
        <p:spPr>
          <a:xfrm>
            <a:off x="6355080" y="1920240"/>
            <a:ext cx="5029200" cy="2468880"/>
          </a:xfrm>
          <a:prstGeom prst="rect">
            <a:avLst/>
          </a:prstGeom>
          <a:solidFill>
            <a:srgbClr val="1E2A47"/>
          </a:solidFill>
          <a:ln w="12700">
            <a:solidFill>
              <a:srgbClr val="1E2A47"/>
            </a:solidFill>
            <a:prstDash val="solid"/>
          </a:ln>
        </p:spPr>
        <p:txBody>
          <a:bodyPr/>
          <a:lstStyle/>
          <a:p>
            <a:endParaRPr lang="en-US"/>
          </a:p>
        </p:txBody>
      </p:sp>
      <p:sp>
        <p:nvSpPr>
          <p:cNvPr id="9" name="Text 7"/>
          <p:cNvSpPr/>
          <p:nvPr/>
        </p:nvSpPr>
        <p:spPr>
          <a:xfrm>
            <a:off x="6537960" y="2057400"/>
            <a:ext cx="4663440" cy="2194560"/>
          </a:xfrm>
          <a:prstGeom prst="rect">
            <a:avLst/>
          </a:prstGeom>
          <a:noFill/>
          <a:ln/>
        </p:spPr>
        <p:txBody>
          <a:bodyPr wrap="square" lIns="0" tIns="0" rIns="0" bIns="0" rtlCol="0" anchor="t"/>
          <a:lstStyle/>
          <a:p>
            <a:pPr marL="0" indent="0">
              <a:buNone/>
            </a:pPr>
            <a:r>
              <a:rPr lang="en-US" sz="1200" dirty="0">
                <a:solidFill>
                  <a:srgbClr val="C586C0"/>
                </a:solidFill>
                <a:latin typeface="Courier New" pitchFamily="34" charset="0"/>
                <a:ea typeface="Courier New" pitchFamily="34" charset="-122"/>
                <a:cs typeface="Courier New" pitchFamily="34" charset="-120"/>
              </a:rPr>
              <a:t>import DOMPurify from </a:t>
            </a:r>
            <a:r>
              <a:rPr lang="en-US" sz="1200" dirty="0">
                <a:solidFill>
                  <a:srgbClr val="9CDCFE"/>
                </a:solidFill>
                <a:latin typeface="Courier New" pitchFamily="34" charset="0"/>
                <a:ea typeface="Courier New" pitchFamily="34" charset="-122"/>
                <a:cs typeface="Courier New" pitchFamily="34" charset="-120"/>
              </a:rPr>
              <a:t>'isomorphic-dompurify'</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&lt;div</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dangerouslySetInnerHTML={{</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__html: DOMPurify.sanitize(html)</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/&gt;</a:t>
            </a:r>
            <a:endParaRPr lang="en-US" sz="1200" dirty="0"/>
          </a:p>
        </p:txBody>
      </p:sp>
      <p:sp>
        <p:nvSpPr>
          <p:cNvPr id="10" name="Shape 8"/>
          <p:cNvSpPr/>
          <p:nvPr/>
        </p:nvSpPr>
        <p:spPr>
          <a:xfrm>
            <a:off x="777240" y="4754880"/>
            <a:ext cx="10607040" cy="1371600"/>
          </a:xfrm>
          <a:prstGeom prst="rect">
            <a:avLst/>
          </a:prstGeom>
          <a:solidFill>
            <a:srgbClr val="CBF1F6"/>
          </a:solidFill>
          <a:ln w="12700">
            <a:solidFill>
              <a:srgbClr val="CBF1F6"/>
            </a:solidFill>
            <a:prstDash val="solid"/>
          </a:ln>
        </p:spPr>
        <p:txBody>
          <a:bodyPr/>
          <a:lstStyle/>
          <a:p>
            <a:endParaRPr lang="en-US"/>
          </a:p>
        </p:txBody>
      </p:sp>
      <p:pic>
        <p:nvPicPr>
          <p:cNvPr id="11" name="Image 0" descr="preencoded.png"/>
          <p:cNvPicPr>
            <a:picLocks noChangeAspect="1"/>
          </p:cNvPicPr>
          <p:nvPr/>
        </p:nvPicPr>
        <p:blipFill>
          <a:blip r:embed="rId3"/>
          <a:stretch>
            <a:fillRect/>
          </a:stretch>
        </p:blipFill>
        <p:spPr>
          <a:xfrm>
            <a:off x="1005840" y="5166360"/>
            <a:ext cx="548640" cy="548640"/>
          </a:xfrm>
          <a:prstGeom prst="rect">
            <a:avLst/>
          </a:prstGeom>
        </p:spPr>
      </p:pic>
      <p:sp>
        <p:nvSpPr>
          <p:cNvPr id="12" name="Text 9"/>
          <p:cNvSpPr/>
          <p:nvPr/>
        </p:nvSpPr>
        <p:spPr>
          <a:xfrm>
            <a:off x="1828800" y="4800600"/>
            <a:ext cx="9418320" cy="1280160"/>
          </a:xfrm>
          <a:prstGeom prst="rect">
            <a:avLst/>
          </a:prstGeom>
          <a:noFill/>
          <a:ln/>
        </p:spPr>
        <p:txBody>
          <a:bodyPr wrap="square" lIns="0" tIns="0" rIns="0" bIns="0" rtlCol="0" anchor="ctr"/>
          <a:lstStyle/>
          <a:p>
            <a:pPr marL="0" indent="0">
              <a:buNone/>
            </a:pPr>
            <a:r>
              <a:rPr lang="en-US" sz="1300" i="1" dirty="0">
                <a:solidFill>
                  <a:srgbClr val="0F172A"/>
                </a:solidFill>
                <a:latin typeface="Arial" pitchFamily="34" charset="0"/>
                <a:ea typeface="Arial" pitchFamily="34" charset="-122"/>
                <a:cs typeface="Arial" pitchFamily="34" charset="-120"/>
              </a:rPr>
              <a:t>AI tools sometimes use dangerouslySetInnerHTML to render plain user input — that's an XSS bug. Always sanitize, or use plain children if the content is text.</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3 / 21</a:t>
            </a:r>
            <a:endParaRPr lang="en-US" sz="9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CSP for streaming SSR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Streaming responses make the inline-script story trickier than 2024.</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Inline scripts in streaming SSR need a nonce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React injects scripts during streaming hydration. Without a nonce in the CSP, browser blocks them — silently breaking your app.</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Use a per-request nonce</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Generate at request time, attach to the response's CSP header AND pass to React's renderToPipeableStream as the nonce option.</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4"/>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Frameworks handle this for you</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Next.js 15 and RR v7 framework mode generate nonces automatically. Vanilla SSR setups need to wire it manually.</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5"/>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Don't use 'unsafe-inline' to make it work</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Defeats the entire CSP. The five minutes to set up a nonce save you the actual XSS bugs CSP exists to prevent.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4 / 21</a:t>
            </a:r>
            <a:endParaRPr lang="en-US" sz="9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Secrets in Server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Server Actions run on the server. The closure captures variables. Be careful what those variables are.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marL="0" indent="0">
              <a:buNone/>
            </a:pPr>
            <a:r>
              <a:rPr lang="en-US" sz="1300" b="1" dirty="0">
                <a:solidFill>
                  <a:srgbClr val="DC2626"/>
                </a:solidFill>
                <a:latin typeface="Trebuchet MS" pitchFamily="34" charset="0"/>
                <a:ea typeface="Trebuchet MS" pitchFamily="34" charset="-122"/>
                <a:cs typeface="Trebuchet MS" pitchFamily="34" charset="-120"/>
              </a:rPr>
              <a:t>Bug pattern</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2057400"/>
            <a:ext cx="4983480" cy="3383280"/>
          </a:xfrm>
          <a:prstGeom prst="rect">
            <a:avLst/>
          </a:prstGeom>
          <a:noFill/>
          <a:ln/>
        </p:spPr>
        <p:txBody>
          <a:bodyPr wrap="square" lIns="0" tIns="0" rIns="0" bIns="0" rtlCol="0" anchor="t"/>
          <a:lstStyle/>
          <a:p>
            <a:pPr marL="0" indent="0">
              <a:buNone/>
            </a:pPr>
            <a:r>
              <a:rPr lang="en-US" sz="1200" i="1" dirty="0">
                <a:solidFill>
                  <a:srgbClr val="6A9955"/>
                </a:solidFill>
                <a:latin typeface="Courier New" pitchFamily="34" charset="0"/>
                <a:ea typeface="Courier New" pitchFamily="34" charset="-122"/>
                <a:cs typeface="Courier New" pitchFamily="34" charset="-120"/>
              </a:rPr>
              <a:t>// page.jsx (Server Component)</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const apiKey = process.env.SECRET_KEY;</a:t>
            </a:r>
            <a:endParaRPr lang="en-US" sz="1200" dirty="0"/>
          </a:p>
          <a:p>
            <a:pPr marL="0" indent="0">
              <a:buNone/>
            </a:pP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async function </a:t>
            </a:r>
            <a:r>
              <a:rPr lang="en-US" sz="1200" dirty="0">
                <a:solidFill>
                  <a:srgbClr val="DCDCAA"/>
                </a:solidFill>
                <a:latin typeface="Courier New" pitchFamily="34" charset="0"/>
                <a:ea typeface="Courier New" pitchFamily="34" charset="-122"/>
                <a:cs typeface="Courier New" pitchFamily="34" charset="-120"/>
              </a:rPr>
              <a:t>doThing</a:t>
            </a: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9CDCFE"/>
                </a:solidFill>
                <a:latin typeface="Courier New" pitchFamily="34" charset="0"/>
                <a:ea typeface="Courier New" pitchFamily="34" charset="-122"/>
                <a:cs typeface="Courier New" pitchFamily="34" charset="-120"/>
              </a:rPr>
              <a:t>'use server'</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return </a:t>
            </a:r>
            <a:r>
              <a:rPr lang="en-US" sz="1200" dirty="0">
                <a:solidFill>
                  <a:srgbClr val="DCDCAA"/>
                </a:solidFill>
                <a:latin typeface="Courier New" pitchFamily="34" charset="0"/>
                <a:ea typeface="Courier New" pitchFamily="34" charset="-122"/>
                <a:cs typeface="Courier New" pitchFamily="34" charset="-120"/>
              </a:rPr>
              <a:t>fetch</a:t>
            </a:r>
            <a:r>
              <a:rPr lang="en-US" sz="1200" dirty="0">
                <a:solidFill>
                  <a:srgbClr val="9CDCFE"/>
                </a:solidFill>
                <a:latin typeface="Courier New" pitchFamily="34" charset="0"/>
                <a:ea typeface="Courier New" pitchFamily="34" charset="-122"/>
                <a:cs typeface="Courier New" pitchFamily="34" charset="-120"/>
              </a:rPr>
              <a:t>(url</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headers: { Authorization: apiKey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apiKey is in the action's closure</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 it gets serialized into the bundle</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 it ships to the client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marL="0" indent="0">
              <a:buNone/>
            </a:pPr>
            <a:r>
              <a:rPr lang="en-US" sz="1300" b="1" dirty="0">
                <a:solidFill>
                  <a:srgbClr val="059669"/>
                </a:solidFill>
                <a:latin typeface="Trebuchet MS" pitchFamily="34" charset="0"/>
                <a:ea typeface="Trebuchet MS" pitchFamily="34" charset="-122"/>
                <a:cs typeface="Trebuchet MS" pitchFamily="34" charset="-120"/>
              </a:rPr>
              <a:t>Fix</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txBody>
          <a:bodyPr/>
          <a:lstStyle/>
          <a:p>
            <a:endParaRPr lang="en-US"/>
          </a:p>
        </p:txBody>
      </p:sp>
      <p:sp>
        <p:nvSpPr>
          <p:cNvPr id="10" name="Text 8"/>
          <p:cNvSpPr/>
          <p:nvPr/>
        </p:nvSpPr>
        <p:spPr>
          <a:xfrm>
            <a:off x="6537960" y="2057400"/>
            <a:ext cx="4663440" cy="3383280"/>
          </a:xfrm>
          <a:prstGeom prst="rect">
            <a:avLst/>
          </a:prstGeom>
          <a:noFill/>
          <a:ln/>
        </p:spPr>
        <p:txBody>
          <a:bodyPr wrap="square" lIns="0" tIns="0" rIns="0" bIns="0" rtlCol="0" anchor="t"/>
          <a:lstStyle/>
          <a:p>
            <a:pPr marL="0" indent="0">
              <a:buNone/>
            </a:pPr>
            <a:r>
              <a:rPr lang="en-US" sz="1200" dirty="0">
                <a:solidFill>
                  <a:srgbClr val="C586C0"/>
                </a:solidFill>
                <a:latin typeface="Courier New" pitchFamily="34" charset="0"/>
                <a:ea typeface="Courier New" pitchFamily="34" charset="-122"/>
                <a:cs typeface="Courier New" pitchFamily="34" charset="-120"/>
              </a:rPr>
              <a:t>async function </a:t>
            </a:r>
            <a:r>
              <a:rPr lang="en-US" sz="1200" dirty="0">
                <a:solidFill>
                  <a:srgbClr val="DCDCAA"/>
                </a:solidFill>
                <a:latin typeface="Courier New" pitchFamily="34" charset="0"/>
                <a:ea typeface="Courier New" pitchFamily="34" charset="-122"/>
                <a:cs typeface="Courier New" pitchFamily="34" charset="-120"/>
              </a:rPr>
              <a:t>doThing</a:t>
            </a: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r>
              <a:rPr lang="en-US" sz="1200" dirty="0">
                <a:solidFill>
                  <a:srgbClr val="9CDCFE"/>
                </a:solidFill>
                <a:latin typeface="Courier New" pitchFamily="34" charset="0"/>
                <a:ea typeface="Courier New" pitchFamily="34" charset="-122"/>
                <a:cs typeface="Courier New" pitchFamily="34" charset="-120"/>
              </a:rPr>
              <a:t>'use server'</a:t>
            </a: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 read inside the action</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const apiKey = process.env.SECRET_KEY;</a:t>
            </a:r>
            <a:endParaRPr lang="en-US" sz="1200" dirty="0"/>
          </a:p>
          <a:p>
            <a:pPr marL="0" indent="0">
              <a:buNone/>
            </a:pPr>
            <a:r>
              <a:rPr lang="en-US" sz="1200" dirty="0">
                <a:solidFill>
                  <a:srgbClr val="C586C0"/>
                </a:solidFill>
                <a:latin typeface="Courier New" pitchFamily="34" charset="0"/>
                <a:ea typeface="Courier New" pitchFamily="34" charset="-122"/>
                <a:cs typeface="Courier New" pitchFamily="34" charset="-120"/>
              </a:rPr>
              <a:t>  return </a:t>
            </a:r>
            <a:r>
              <a:rPr lang="en-US" sz="1200" dirty="0">
                <a:solidFill>
                  <a:srgbClr val="DCDCAA"/>
                </a:solidFill>
                <a:latin typeface="Courier New" pitchFamily="34" charset="0"/>
                <a:ea typeface="Courier New" pitchFamily="34" charset="-122"/>
                <a:cs typeface="Courier New" pitchFamily="34" charset="-120"/>
              </a:rPr>
              <a:t>fetch</a:t>
            </a:r>
            <a:r>
              <a:rPr lang="en-US" sz="1200" dirty="0">
                <a:solidFill>
                  <a:srgbClr val="9CDCFE"/>
                </a:solidFill>
                <a:latin typeface="Courier New" pitchFamily="34" charset="0"/>
                <a:ea typeface="Courier New" pitchFamily="34" charset="-122"/>
                <a:cs typeface="Courier New" pitchFamily="34" charset="-120"/>
              </a:rPr>
              <a:t>(url</a:t>
            </a: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headers: { Authorization: apiKey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apiKey read at call time on the server</a:t>
            </a:r>
            <a:endParaRPr lang="en-US" sz="1200" dirty="0"/>
          </a:p>
          <a:p>
            <a:pPr marL="0" indent="0">
              <a:buNone/>
            </a:pPr>
            <a:r>
              <a:rPr lang="en-US" sz="1200" i="1" dirty="0">
                <a:solidFill>
                  <a:srgbClr val="6A9955"/>
                </a:solidFill>
                <a:latin typeface="Courier New" pitchFamily="34" charset="0"/>
                <a:ea typeface="Courier New" pitchFamily="34" charset="-122"/>
                <a:cs typeface="Courier New" pitchFamily="34" charset="-120"/>
              </a:rPr>
              <a:t>// → never crosses the boundary</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5 / 21</a:t>
            </a:r>
            <a:endParaRPr lang="en-US" sz="9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Auth tokens belong in HttpOnly cookies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Not localStorage. Not sessionStorage. Not 'just for now.'</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localStorage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Readable by any JS on the page. One XSS = full account takeover. Don't use for tokens, ever.</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3"/>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sessionStorage</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Same XSS exposure. The 'session-scoped' part doesn't help — XSS happens during the session.</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4"/>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Plain cookies (not HttpOnly)</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Still readable by JS. Only marginally better than localStorage.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5"/>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HttpOnly + Secure + SameSite cookies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Set by the server. Sent automatically on requests. Not accessible to JavaScript. The right answer.</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6 / 21</a:t>
            </a:r>
            <a:endParaRPr lang="en-US" sz="9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7">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Accessibility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What AI assistants miss. What you should always check.</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accessibility minimum bar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Six things that aren't optional. AI gets some right; gets others embarrassingly wrong.</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Every interactive element is a button, link, or properly-labeled input</a:t>
            </a:r>
            <a:endParaRPr lang="en-US" sz="125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All form fields have a visible &lt;label&gt; with htmlFor + id wiring</a:t>
            </a:r>
            <a:endParaRPr lang="en-US" sz="125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Color contrast meets WCAG AA (4.5:1 for body, 3:1 for large text)</a:t>
            </a:r>
            <a:endParaRPr lang="en-US" sz="125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Focus states are visible — never outline: none without a replacement</a:t>
            </a:r>
            <a:endParaRPr lang="en-US" sz="125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Modal dialogs trap focus; closing returns focus to the opener</a:t>
            </a:r>
            <a:endParaRPr lang="en-US" sz="125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marL="0" indent="0">
              <a:buNone/>
            </a:pPr>
            <a:r>
              <a:rPr lang="en-US" sz="1250" dirty="0">
                <a:solidFill>
                  <a:srgbClr val="475569"/>
                </a:solidFill>
                <a:latin typeface="Arial" pitchFamily="34" charset="0"/>
                <a:ea typeface="Arial" pitchFamily="34" charset="-122"/>
                <a:cs typeface="Arial" pitchFamily="34" charset="-120"/>
              </a:rPr>
              <a:t>All non-decorative images have alt text; decorative ones have alt=""</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8 / 21</a:t>
            </a:r>
            <a:endParaRPr lang="en-US" sz="9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AI tools systematically miss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These are the ones that show up in code review unless you're looking.</a:t>
            </a:r>
            <a:endParaRPr lang="en-US" sz="1400" dirty="0"/>
          </a:p>
        </p:txBody>
      </p:sp>
      <p:sp>
        <p:nvSpPr>
          <p:cNvPr id="5" name="Shape 3"/>
          <p:cNvSpPr/>
          <p:nvPr/>
        </p:nvSpPr>
        <p:spPr>
          <a:xfrm>
            <a:off x="777240" y="1691640"/>
            <a:ext cx="5212080" cy="82296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457200" cy="457200"/>
          </a:xfrm>
          <a:prstGeom prst="rect">
            <a:avLst/>
          </a:prstGeom>
        </p:spPr>
      </p:pic>
      <p:sp>
        <p:nvSpPr>
          <p:cNvPr id="7" name="Text 4"/>
          <p:cNvSpPr/>
          <p:nvPr/>
        </p:nvSpPr>
        <p:spPr>
          <a:xfrm>
            <a:off x="1554480" y="173736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&lt;div onClick&gt; for buttons (no keyboard handler, no role, no focus)</a:t>
            </a:r>
            <a:endParaRPr lang="en-US" sz="1150" dirty="0"/>
          </a:p>
        </p:txBody>
      </p:sp>
      <p:sp>
        <p:nvSpPr>
          <p:cNvPr id="8" name="Shape 5"/>
          <p:cNvSpPr/>
          <p:nvPr/>
        </p:nvSpPr>
        <p:spPr>
          <a:xfrm>
            <a:off x="6126480" y="1691640"/>
            <a:ext cx="5212080" cy="822960"/>
          </a:xfrm>
          <a:prstGeom prst="rect">
            <a:avLst/>
          </a:prstGeom>
          <a:solidFill>
            <a:srgbClr val="FFFFFF"/>
          </a:solidFill>
          <a:ln w="12700">
            <a:solidFill>
              <a:srgbClr val="E2E8F0"/>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6309360" y="1874520"/>
            <a:ext cx="457200" cy="457200"/>
          </a:xfrm>
          <a:prstGeom prst="rect">
            <a:avLst/>
          </a:prstGeom>
        </p:spPr>
      </p:pic>
      <p:sp>
        <p:nvSpPr>
          <p:cNvPr id="10" name="Text 6"/>
          <p:cNvSpPr/>
          <p:nvPr/>
        </p:nvSpPr>
        <p:spPr>
          <a:xfrm>
            <a:off x="6903720" y="173736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Placeholder used as label (disappears when typing, screen reader skips it)</a:t>
            </a:r>
            <a:endParaRPr lang="en-US" sz="1150" dirty="0"/>
          </a:p>
        </p:txBody>
      </p:sp>
      <p:sp>
        <p:nvSpPr>
          <p:cNvPr id="11" name="Shape 7"/>
          <p:cNvSpPr/>
          <p:nvPr/>
        </p:nvSpPr>
        <p:spPr>
          <a:xfrm>
            <a:off x="777240" y="2651760"/>
            <a:ext cx="5212080" cy="822960"/>
          </a:xfrm>
          <a:prstGeom prst="rect">
            <a:avLst/>
          </a:prstGeom>
          <a:solidFill>
            <a:srgbClr val="FFFFFF"/>
          </a:solidFill>
          <a:ln w="12700">
            <a:solidFill>
              <a:srgbClr val="E2E8F0"/>
            </a:solidFill>
            <a:prstDash val="solid"/>
          </a:ln>
        </p:spPr>
        <p:txBody>
          <a:bodyPr/>
          <a:lstStyle/>
          <a:p>
            <a:endParaRPr lang="en-US"/>
          </a:p>
        </p:txBody>
      </p:sp>
      <p:pic>
        <p:nvPicPr>
          <p:cNvPr id="12" name="Image 2" descr="preencoded.png"/>
          <p:cNvPicPr>
            <a:picLocks noChangeAspect="1"/>
          </p:cNvPicPr>
          <p:nvPr/>
        </p:nvPicPr>
        <p:blipFill>
          <a:blip r:embed="rId3"/>
          <a:stretch>
            <a:fillRect/>
          </a:stretch>
        </p:blipFill>
        <p:spPr>
          <a:xfrm>
            <a:off x="960120" y="2834640"/>
            <a:ext cx="457200" cy="457200"/>
          </a:xfrm>
          <a:prstGeom prst="rect">
            <a:avLst/>
          </a:prstGeom>
        </p:spPr>
      </p:pic>
      <p:sp>
        <p:nvSpPr>
          <p:cNvPr id="13" name="Text 8"/>
          <p:cNvSpPr/>
          <p:nvPr/>
        </p:nvSpPr>
        <p:spPr>
          <a:xfrm>
            <a:off x="1554480" y="269748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Custom dropdown without keyboard navigation (arrow keys, Escape)</a:t>
            </a:r>
            <a:endParaRPr lang="en-US" sz="1150" dirty="0"/>
          </a:p>
        </p:txBody>
      </p:sp>
      <p:sp>
        <p:nvSpPr>
          <p:cNvPr id="14" name="Shape 9"/>
          <p:cNvSpPr/>
          <p:nvPr/>
        </p:nvSpPr>
        <p:spPr>
          <a:xfrm>
            <a:off x="6126480" y="2651760"/>
            <a:ext cx="5212080" cy="822960"/>
          </a:xfrm>
          <a:prstGeom prst="rect">
            <a:avLst/>
          </a:prstGeom>
          <a:solidFill>
            <a:srgbClr val="FFFFFF"/>
          </a:solidFill>
          <a:ln w="12700">
            <a:solidFill>
              <a:srgbClr val="E2E8F0"/>
            </a:solidFill>
            <a:prstDash val="solid"/>
          </a:ln>
        </p:spPr>
        <p:txBody>
          <a:bodyPr/>
          <a:lstStyle/>
          <a:p>
            <a:endParaRPr lang="en-US"/>
          </a:p>
        </p:txBody>
      </p:sp>
      <p:pic>
        <p:nvPicPr>
          <p:cNvPr id="15" name="Image 3" descr="preencoded.png"/>
          <p:cNvPicPr>
            <a:picLocks noChangeAspect="1"/>
          </p:cNvPicPr>
          <p:nvPr/>
        </p:nvPicPr>
        <p:blipFill>
          <a:blip r:embed="rId3"/>
          <a:stretch>
            <a:fillRect/>
          </a:stretch>
        </p:blipFill>
        <p:spPr>
          <a:xfrm>
            <a:off x="6309360" y="2834640"/>
            <a:ext cx="457200" cy="457200"/>
          </a:xfrm>
          <a:prstGeom prst="rect">
            <a:avLst/>
          </a:prstGeom>
        </p:spPr>
      </p:pic>
      <p:sp>
        <p:nvSpPr>
          <p:cNvPr id="16" name="Text 10"/>
          <p:cNvSpPr/>
          <p:nvPr/>
        </p:nvSpPr>
        <p:spPr>
          <a:xfrm>
            <a:off x="6903720" y="269748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Modal that doesn't trap focus or return it on close</a:t>
            </a:r>
            <a:endParaRPr lang="en-US" sz="1150" dirty="0"/>
          </a:p>
        </p:txBody>
      </p:sp>
      <p:sp>
        <p:nvSpPr>
          <p:cNvPr id="17" name="Shape 11"/>
          <p:cNvSpPr/>
          <p:nvPr/>
        </p:nvSpPr>
        <p:spPr>
          <a:xfrm>
            <a:off x="777240" y="3611880"/>
            <a:ext cx="5212080" cy="822960"/>
          </a:xfrm>
          <a:prstGeom prst="rect">
            <a:avLst/>
          </a:prstGeom>
          <a:solidFill>
            <a:srgbClr val="FFFFFF"/>
          </a:solidFill>
          <a:ln w="12700">
            <a:solidFill>
              <a:srgbClr val="E2E8F0"/>
            </a:solidFill>
            <a:prstDash val="solid"/>
          </a:ln>
        </p:spPr>
        <p:txBody>
          <a:bodyPr/>
          <a:lstStyle/>
          <a:p>
            <a:endParaRPr lang="en-US"/>
          </a:p>
        </p:txBody>
      </p:sp>
      <p:pic>
        <p:nvPicPr>
          <p:cNvPr id="18" name="Image 4" descr="preencoded.png"/>
          <p:cNvPicPr>
            <a:picLocks noChangeAspect="1"/>
          </p:cNvPicPr>
          <p:nvPr/>
        </p:nvPicPr>
        <p:blipFill>
          <a:blip r:embed="rId3"/>
          <a:stretch>
            <a:fillRect/>
          </a:stretch>
        </p:blipFill>
        <p:spPr>
          <a:xfrm>
            <a:off x="960120" y="3794760"/>
            <a:ext cx="457200" cy="457200"/>
          </a:xfrm>
          <a:prstGeom prst="rect">
            <a:avLst/>
          </a:prstGeom>
        </p:spPr>
      </p:pic>
      <p:sp>
        <p:nvSpPr>
          <p:cNvPr id="19" name="Text 12"/>
          <p:cNvSpPr/>
          <p:nvPr/>
        </p:nvSpPr>
        <p:spPr>
          <a:xfrm>
            <a:off x="1554480" y="365760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Loading spinner without aria-live='polite' or aria-busy</a:t>
            </a:r>
            <a:endParaRPr lang="en-US" sz="1150" dirty="0"/>
          </a:p>
        </p:txBody>
      </p:sp>
      <p:sp>
        <p:nvSpPr>
          <p:cNvPr id="20" name="Shape 13"/>
          <p:cNvSpPr/>
          <p:nvPr/>
        </p:nvSpPr>
        <p:spPr>
          <a:xfrm>
            <a:off x="6126480" y="3611880"/>
            <a:ext cx="5212080" cy="822960"/>
          </a:xfrm>
          <a:prstGeom prst="rect">
            <a:avLst/>
          </a:prstGeom>
          <a:solidFill>
            <a:srgbClr val="FFFFFF"/>
          </a:solidFill>
          <a:ln w="12700">
            <a:solidFill>
              <a:srgbClr val="E2E8F0"/>
            </a:solidFill>
            <a:prstDash val="solid"/>
          </a:ln>
        </p:spPr>
        <p:txBody>
          <a:bodyPr/>
          <a:lstStyle/>
          <a:p>
            <a:endParaRPr lang="en-US"/>
          </a:p>
        </p:txBody>
      </p:sp>
      <p:pic>
        <p:nvPicPr>
          <p:cNvPr id="21" name="Image 5" descr="preencoded.png"/>
          <p:cNvPicPr>
            <a:picLocks noChangeAspect="1"/>
          </p:cNvPicPr>
          <p:nvPr/>
        </p:nvPicPr>
        <p:blipFill>
          <a:blip r:embed="rId3"/>
          <a:stretch>
            <a:fillRect/>
          </a:stretch>
        </p:blipFill>
        <p:spPr>
          <a:xfrm>
            <a:off x="6309360" y="3794760"/>
            <a:ext cx="457200" cy="457200"/>
          </a:xfrm>
          <a:prstGeom prst="rect">
            <a:avLst/>
          </a:prstGeom>
        </p:spPr>
      </p:pic>
      <p:sp>
        <p:nvSpPr>
          <p:cNvPr id="22" name="Text 14"/>
          <p:cNvSpPr/>
          <p:nvPr/>
        </p:nvSpPr>
        <p:spPr>
          <a:xfrm>
            <a:off x="6903720" y="365760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Error messages not associated with the failing field via aria-describedby</a:t>
            </a:r>
            <a:endParaRPr lang="en-US" sz="1150" dirty="0"/>
          </a:p>
        </p:txBody>
      </p:sp>
      <p:sp>
        <p:nvSpPr>
          <p:cNvPr id="23" name="Shape 15"/>
          <p:cNvSpPr/>
          <p:nvPr/>
        </p:nvSpPr>
        <p:spPr>
          <a:xfrm>
            <a:off x="777240" y="4572000"/>
            <a:ext cx="5212080" cy="822960"/>
          </a:xfrm>
          <a:prstGeom prst="rect">
            <a:avLst/>
          </a:prstGeom>
          <a:solidFill>
            <a:srgbClr val="FFFFFF"/>
          </a:solidFill>
          <a:ln w="12700">
            <a:solidFill>
              <a:srgbClr val="E2E8F0"/>
            </a:solidFill>
            <a:prstDash val="solid"/>
          </a:ln>
        </p:spPr>
        <p:txBody>
          <a:bodyPr/>
          <a:lstStyle/>
          <a:p>
            <a:endParaRPr lang="en-US"/>
          </a:p>
        </p:txBody>
      </p:sp>
      <p:pic>
        <p:nvPicPr>
          <p:cNvPr id="24" name="Image 6" descr="preencoded.png"/>
          <p:cNvPicPr>
            <a:picLocks noChangeAspect="1"/>
          </p:cNvPicPr>
          <p:nvPr/>
        </p:nvPicPr>
        <p:blipFill>
          <a:blip r:embed="rId3"/>
          <a:stretch>
            <a:fillRect/>
          </a:stretch>
        </p:blipFill>
        <p:spPr>
          <a:xfrm>
            <a:off x="960120" y="4754880"/>
            <a:ext cx="457200" cy="457200"/>
          </a:xfrm>
          <a:prstGeom prst="rect">
            <a:avLst/>
          </a:prstGeom>
        </p:spPr>
      </p:pic>
      <p:sp>
        <p:nvSpPr>
          <p:cNvPr id="25" name="Text 16"/>
          <p:cNvSpPr/>
          <p:nvPr/>
        </p:nvSpPr>
        <p:spPr>
          <a:xfrm>
            <a:off x="1554480" y="461772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Icon buttons without aria-label (just an emoji or SVG inside &lt;button&gt;)</a:t>
            </a:r>
            <a:endParaRPr lang="en-US" sz="1150" dirty="0"/>
          </a:p>
        </p:txBody>
      </p:sp>
      <p:sp>
        <p:nvSpPr>
          <p:cNvPr id="26" name="Shape 17"/>
          <p:cNvSpPr/>
          <p:nvPr/>
        </p:nvSpPr>
        <p:spPr>
          <a:xfrm>
            <a:off x="6126480" y="4572000"/>
            <a:ext cx="5212080" cy="822960"/>
          </a:xfrm>
          <a:prstGeom prst="rect">
            <a:avLst/>
          </a:prstGeom>
          <a:solidFill>
            <a:srgbClr val="FFFFFF"/>
          </a:solidFill>
          <a:ln w="12700">
            <a:solidFill>
              <a:srgbClr val="E2E8F0"/>
            </a:solidFill>
            <a:prstDash val="solid"/>
          </a:ln>
        </p:spPr>
        <p:txBody>
          <a:bodyPr/>
          <a:lstStyle/>
          <a:p>
            <a:endParaRPr lang="en-US"/>
          </a:p>
        </p:txBody>
      </p:sp>
      <p:pic>
        <p:nvPicPr>
          <p:cNvPr id="27" name="Image 7" descr="preencoded.png"/>
          <p:cNvPicPr>
            <a:picLocks noChangeAspect="1"/>
          </p:cNvPicPr>
          <p:nvPr/>
        </p:nvPicPr>
        <p:blipFill>
          <a:blip r:embed="rId3"/>
          <a:stretch>
            <a:fillRect/>
          </a:stretch>
        </p:blipFill>
        <p:spPr>
          <a:xfrm>
            <a:off x="6309360" y="4754880"/>
            <a:ext cx="457200" cy="457200"/>
          </a:xfrm>
          <a:prstGeom prst="rect">
            <a:avLst/>
          </a:prstGeom>
        </p:spPr>
      </p:pic>
      <p:sp>
        <p:nvSpPr>
          <p:cNvPr id="28" name="Text 18"/>
          <p:cNvSpPr/>
          <p:nvPr/>
        </p:nvSpPr>
        <p:spPr>
          <a:xfrm>
            <a:off x="6903720" y="4617720"/>
            <a:ext cx="4297680" cy="7315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Tooltips on hover only (unreachable by keyboard)</a:t>
            </a:r>
            <a:endParaRPr lang="en-US" sz="1150" dirty="0"/>
          </a:p>
        </p:txBody>
      </p:sp>
      <p:sp>
        <p:nvSpPr>
          <p:cNvPr id="29" name="Text 19"/>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30" name="Text 20"/>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9 / 21</a:t>
            </a:r>
            <a:endParaRPr lang="en-US" sz="9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Accessibility review tools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tools that catch most issues. None catches all.</a:t>
            </a:r>
            <a:endParaRPr lang="en-US" sz="1400" dirty="0"/>
          </a:p>
        </p:txBody>
      </p:sp>
      <p:sp>
        <p:nvSpPr>
          <p:cNvPr id="5" name="Shape 3"/>
          <p:cNvSpPr/>
          <p:nvPr/>
        </p:nvSpPr>
        <p:spPr>
          <a:xfrm>
            <a:off x="777240" y="1691640"/>
            <a:ext cx="10607040" cy="118872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011680"/>
            <a:ext cx="548640" cy="548640"/>
          </a:xfrm>
          <a:prstGeom prst="rect">
            <a:avLst/>
          </a:prstGeom>
        </p:spPr>
      </p:pic>
      <p:sp>
        <p:nvSpPr>
          <p:cNvPr id="7" name="Text 4"/>
          <p:cNvSpPr/>
          <p:nvPr/>
        </p:nvSpPr>
        <p:spPr>
          <a:xfrm>
            <a:off x="1691640" y="1828800"/>
            <a:ext cx="9601200" cy="41148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eslint-plugin-jsx-a11y</a:t>
            </a:r>
            <a:endParaRPr lang="en-US" sz="1600" dirty="0"/>
          </a:p>
        </p:txBody>
      </p:sp>
      <p:sp>
        <p:nvSpPr>
          <p:cNvPr id="8" name="Text 5"/>
          <p:cNvSpPr/>
          <p:nvPr/>
        </p:nvSpPr>
        <p:spPr>
          <a:xfrm>
            <a:off x="1691640" y="2240280"/>
            <a:ext cx="960120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Static checks. Catches missing alt, onClick on non-interactive elements, label associations. Add to your eslint config — it's lightweight.</a:t>
            </a:r>
            <a:endParaRPr lang="en-US" sz="1200" dirty="0"/>
          </a:p>
        </p:txBody>
      </p:sp>
      <p:sp>
        <p:nvSpPr>
          <p:cNvPr id="9" name="Shape 6"/>
          <p:cNvSpPr/>
          <p:nvPr/>
        </p:nvSpPr>
        <p:spPr>
          <a:xfrm>
            <a:off x="777240" y="3063240"/>
            <a:ext cx="10607040" cy="118872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3383280"/>
            <a:ext cx="548640" cy="548640"/>
          </a:xfrm>
          <a:prstGeom prst="rect">
            <a:avLst/>
          </a:prstGeom>
        </p:spPr>
      </p:pic>
      <p:sp>
        <p:nvSpPr>
          <p:cNvPr id="11" name="Text 7"/>
          <p:cNvSpPr/>
          <p:nvPr/>
        </p:nvSpPr>
        <p:spPr>
          <a:xfrm>
            <a:off x="1691640" y="3200400"/>
            <a:ext cx="9601200" cy="41148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axe DevTools (browser extension)</a:t>
            </a:r>
            <a:endParaRPr lang="en-US" sz="1600" dirty="0"/>
          </a:p>
        </p:txBody>
      </p:sp>
      <p:sp>
        <p:nvSpPr>
          <p:cNvPr id="12" name="Text 8"/>
          <p:cNvSpPr/>
          <p:nvPr/>
        </p:nvSpPr>
        <p:spPr>
          <a:xfrm>
            <a:off x="1691640" y="3611880"/>
            <a:ext cx="960120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Runtime audit. Tests color contrast, ARIA roles, keyboard nav, focus management. Run on every page before shipping.</a:t>
            </a:r>
            <a:endParaRPr lang="en-US" sz="1200" dirty="0"/>
          </a:p>
        </p:txBody>
      </p:sp>
      <p:sp>
        <p:nvSpPr>
          <p:cNvPr id="13" name="Shape 9"/>
          <p:cNvSpPr/>
          <p:nvPr/>
        </p:nvSpPr>
        <p:spPr>
          <a:xfrm>
            <a:off x="777240" y="4434840"/>
            <a:ext cx="10607040" cy="118872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4754880"/>
            <a:ext cx="548640" cy="548640"/>
          </a:xfrm>
          <a:prstGeom prst="rect">
            <a:avLst/>
          </a:prstGeom>
        </p:spPr>
      </p:pic>
      <p:sp>
        <p:nvSpPr>
          <p:cNvPr id="15" name="Text 10"/>
          <p:cNvSpPr/>
          <p:nvPr/>
        </p:nvSpPr>
        <p:spPr>
          <a:xfrm>
            <a:off x="1691640" y="4572000"/>
            <a:ext cx="9601200" cy="41148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Manual keyboard testing</a:t>
            </a:r>
            <a:endParaRPr lang="en-US" sz="1600" dirty="0"/>
          </a:p>
        </p:txBody>
      </p:sp>
      <p:sp>
        <p:nvSpPr>
          <p:cNvPr id="16" name="Text 11"/>
          <p:cNvSpPr/>
          <p:nvPr/>
        </p:nvSpPr>
        <p:spPr>
          <a:xfrm>
            <a:off x="1691640" y="4983480"/>
            <a:ext cx="9601200" cy="59436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Tab through the page. Can you reach every interactive element? Can you escape modals? If not, neither can keyboard-only users.</a:t>
            </a:r>
            <a:endParaRPr lang="en-US" sz="1200" dirty="0"/>
          </a:p>
        </p:txBody>
      </p:sp>
      <p:sp>
        <p:nvSpPr>
          <p:cNvPr id="17" name="Text 12"/>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18" name="Text 13"/>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10 / 21</a:t>
            </a:r>
            <a:endParaRPr lang="en-US" sz="9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1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Internationalization</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Briefly. Enough to know what to reach for.</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The minimum viable i18n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decisions, one library, done.</a:t>
            </a:r>
            <a:endParaRPr lang="en-US" sz="1400" dirty="0"/>
          </a:p>
        </p:txBody>
      </p:sp>
      <p:sp>
        <p:nvSpPr>
          <p:cNvPr id="5" name="Shape 3"/>
          <p:cNvSpPr/>
          <p:nvPr/>
        </p:nvSpPr>
        <p:spPr>
          <a:xfrm>
            <a:off x="777240" y="1691640"/>
            <a:ext cx="10607040" cy="109728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60120" y="2011680"/>
            <a:ext cx="457200" cy="45720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60120" y="20116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8" name="Text 6"/>
          <p:cNvSpPr/>
          <p:nvPr/>
        </p:nvSpPr>
        <p:spPr>
          <a:xfrm>
            <a:off x="1554480" y="1828800"/>
            <a:ext cx="9692640" cy="41148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Pick a library</a:t>
            </a:r>
            <a:endParaRPr lang="en-US" sz="1500" dirty="0"/>
          </a:p>
        </p:txBody>
      </p:sp>
      <p:sp>
        <p:nvSpPr>
          <p:cNvPr id="9" name="Text 7"/>
          <p:cNvSpPr/>
          <p:nvPr/>
        </p:nvSpPr>
        <p:spPr>
          <a:xfrm>
            <a:off x="1554480" y="2240280"/>
            <a:ext cx="9692640" cy="5486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react-intl (mature, FormatJS-based) or next-intl (Next.js-flavored). Both wrap the Intl Web API and give you a t() function.</a:t>
            </a:r>
            <a:endParaRPr lang="en-US" sz="1200" dirty="0"/>
          </a:p>
        </p:txBody>
      </p:sp>
      <p:sp>
        <p:nvSpPr>
          <p:cNvPr id="10" name="Shape 8"/>
          <p:cNvSpPr/>
          <p:nvPr/>
        </p:nvSpPr>
        <p:spPr>
          <a:xfrm>
            <a:off x="777240" y="2971800"/>
            <a:ext cx="10607040" cy="109728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960120" y="3291840"/>
            <a:ext cx="457200" cy="457200"/>
          </a:xfrm>
          <a:prstGeom prst="ellipse">
            <a:avLst/>
          </a:prstGeom>
          <a:solidFill>
            <a:srgbClr val="00B8D9"/>
          </a:solidFill>
          <a:ln w="12700">
            <a:solidFill>
              <a:srgbClr val="00B8D9"/>
            </a:solidFill>
            <a:prstDash val="solid"/>
          </a:ln>
        </p:spPr>
        <p:txBody>
          <a:bodyPr/>
          <a:lstStyle/>
          <a:p>
            <a:endParaRPr lang="en-US"/>
          </a:p>
        </p:txBody>
      </p:sp>
      <p:sp>
        <p:nvSpPr>
          <p:cNvPr id="12" name="Text 10"/>
          <p:cNvSpPr/>
          <p:nvPr/>
        </p:nvSpPr>
        <p:spPr>
          <a:xfrm>
            <a:off x="960120" y="3291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3" name="Text 11"/>
          <p:cNvSpPr/>
          <p:nvPr/>
        </p:nvSpPr>
        <p:spPr>
          <a:xfrm>
            <a:off x="1554480" y="3108960"/>
            <a:ext cx="9692640" cy="41148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Externalize strings</a:t>
            </a:r>
            <a:endParaRPr lang="en-US" sz="1500" dirty="0"/>
          </a:p>
        </p:txBody>
      </p:sp>
      <p:sp>
        <p:nvSpPr>
          <p:cNvPr id="14" name="Text 12"/>
          <p:cNvSpPr/>
          <p:nvPr/>
        </p:nvSpPr>
        <p:spPr>
          <a:xfrm>
            <a:off x="1554480" y="3520440"/>
            <a:ext cx="9692640" cy="5486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Move every user-visible string into translation files. Avoid string concatenation — use ICU MessageFormat for plurals, gender, dates.</a:t>
            </a:r>
            <a:endParaRPr lang="en-US" sz="1200" dirty="0"/>
          </a:p>
        </p:txBody>
      </p:sp>
      <p:sp>
        <p:nvSpPr>
          <p:cNvPr id="15" name="Shape 13"/>
          <p:cNvSpPr/>
          <p:nvPr/>
        </p:nvSpPr>
        <p:spPr>
          <a:xfrm>
            <a:off x="777240" y="4251960"/>
            <a:ext cx="10607040" cy="109728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960120" y="4572000"/>
            <a:ext cx="457200" cy="457200"/>
          </a:xfrm>
          <a:prstGeom prst="ellipse">
            <a:avLst/>
          </a:prstGeom>
          <a:solidFill>
            <a:srgbClr val="00B8D9"/>
          </a:solidFill>
          <a:ln w="12700">
            <a:solidFill>
              <a:srgbClr val="00B8D9"/>
            </a:solidFill>
            <a:prstDash val="solid"/>
          </a:ln>
        </p:spPr>
        <p:txBody>
          <a:bodyPr/>
          <a:lstStyle/>
          <a:p>
            <a:endParaRPr lang="en-US"/>
          </a:p>
        </p:txBody>
      </p:sp>
      <p:sp>
        <p:nvSpPr>
          <p:cNvPr id="17" name="Text 15"/>
          <p:cNvSpPr/>
          <p:nvPr/>
        </p:nvSpPr>
        <p:spPr>
          <a:xfrm>
            <a:off x="960120" y="457200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8" name="Text 16"/>
          <p:cNvSpPr/>
          <p:nvPr/>
        </p:nvSpPr>
        <p:spPr>
          <a:xfrm>
            <a:off x="1554480" y="4389120"/>
            <a:ext cx="9692640" cy="411480"/>
          </a:xfrm>
          <a:prstGeom prst="rect">
            <a:avLst/>
          </a:prstGeom>
          <a:noFill/>
          <a:ln/>
        </p:spPr>
        <p:txBody>
          <a:bodyPr wrap="square" lIns="0" tIns="0" rIns="0" bIns="0" rtlCol="0" anchor="ctr"/>
          <a:lstStyle/>
          <a:p>
            <a:pPr marL="0" indent="0">
              <a:buNone/>
            </a:pPr>
            <a:r>
              <a:rPr lang="en-US" sz="1500" b="1" dirty="0">
                <a:solidFill>
                  <a:srgbClr val="0F172A"/>
                </a:solidFill>
                <a:latin typeface="Trebuchet MS" pitchFamily="34" charset="0"/>
                <a:ea typeface="Trebuchet MS" pitchFamily="34" charset="-122"/>
                <a:cs typeface="Trebuchet MS" pitchFamily="34" charset="-120"/>
              </a:rPr>
              <a:t>Decide where the locale lives</a:t>
            </a:r>
            <a:endParaRPr lang="en-US" sz="1500" dirty="0"/>
          </a:p>
        </p:txBody>
      </p:sp>
      <p:sp>
        <p:nvSpPr>
          <p:cNvPr id="19" name="Text 17"/>
          <p:cNvSpPr/>
          <p:nvPr/>
        </p:nvSpPr>
        <p:spPr>
          <a:xfrm>
            <a:off x="1554480" y="4800600"/>
            <a:ext cx="9692640" cy="548640"/>
          </a:xfrm>
          <a:prstGeom prst="rect">
            <a:avLst/>
          </a:prstGeom>
          <a:noFill/>
          <a:ln/>
        </p:spPr>
        <p:txBody>
          <a:bodyPr wrap="square" lIns="0" tIns="0" rIns="0" bIns="0" rtlCol="0" anchor="t"/>
          <a:lstStyle/>
          <a:p>
            <a:pPr marL="0" indent="0">
              <a:buNone/>
            </a:pPr>
            <a:r>
              <a:rPr lang="en-US" sz="1200" dirty="0">
                <a:solidFill>
                  <a:srgbClr val="475569"/>
                </a:solidFill>
                <a:latin typeface="Arial" pitchFamily="34" charset="0"/>
                <a:ea typeface="Arial" pitchFamily="34" charset="-122"/>
                <a:cs typeface="Arial" pitchFamily="34" charset="-120"/>
              </a:rPr>
              <a:t>URL prefix (/en/, /fr/) for SEO. Cookie-based for app state. Don't sniff Accept-Language and forget it — make the choice user-controllable.</a:t>
            </a:r>
            <a:endParaRPr lang="en-US" sz="1200" dirty="0"/>
          </a:p>
        </p:txBody>
      </p:sp>
      <p:sp>
        <p:nvSpPr>
          <p:cNvPr id="20" name="Shape 18"/>
          <p:cNvSpPr/>
          <p:nvPr/>
        </p:nvSpPr>
        <p:spPr>
          <a:xfrm>
            <a:off x="777240" y="5623560"/>
            <a:ext cx="10607040" cy="457200"/>
          </a:xfrm>
          <a:prstGeom prst="rect">
            <a:avLst/>
          </a:prstGeom>
          <a:solidFill>
            <a:srgbClr val="CBF1F6"/>
          </a:solidFill>
          <a:ln w="12700">
            <a:solidFill>
              <a:srgbClr val="CBF1F6"/>
            </a:solidFill>
            <a:prstDash val="solid"/>
          </a:ln>
        </p:spPr>
        <p:txBody>
          <a:bodyPr/>
          <a:lstStyle/>
          <a:p>
            <a:endParaRPr lang="en-US"/>
          </a:p>
        </p:txBody>
      </p:sp>
      <p:sp>
        <p:nvSpPr>
          <p:cNvPr id="21" name="Text 19"/>
          <p:cNvSpPr/>
          <p:nvPr/>
        </p:nvSpPr>
        <p:spPr>
          <a:xfrm>
            <a:off x="960120" y="5623560"/>
            <a:ext cx="10424160" cy="457200"/>
          </a:xfrm>
          <a:prstGeom prst="rect">
            <a:avLst/>
          </a:prstGeom>
          <a:noFill/>
          <a:ln/>
        </p:spPr>
        <p:txBody>
          <a:bodyPr wrap="square" lIns="0" tIns="0" rIns="0" bIns="0" rtlCol="0" anchor="ctr"/>
          <a:lstStyle/>
          <a:p>
            <a:pPr marL="0" indent="0">
              <a:buNone/>
            </a:pPr>
            <a:r>
              <a:rPr lang="en-US" sz="1200" i="1" dirty="0">
                <a:solidFill>
                  <a:srgbClr val="0F172A"/>
                </a:solidFill>
                <a:latin typeface="Arial" pitchFamily="34" charset="0"/>
                <a:ea typeface="Arial" pitchFamily="34" charset="-122"/>
                <a:cs typeface="Arial" pitchFamily="34" charset="-120"/>
              </a:rPr>
              <a:t>Add i18n early if you might need it. Retrofitting is painful — string concatenation spreads across the codebase.</a:t>
            </a:r>
            <a:endParaRPr lang="en-US" sz="1200" dirty="0"/>
          </a:p>
        </p:txBody>
      </p:sp>
      <p:sp>
        <p:nvSpPr>
          <p:cNvPr id="22" name="Text 20"/>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3" name="Text 21"/>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12 / 21</a:t>
            </a:r>
            <a:endParaRPr lang="en-US" sz="9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3">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880360"/>
            <a:ext cx="3657600" cy="457200"/>
          </a:xfrm>
          <a:prstGeom prst="rect">
            <a:avLst/>
          </a:prstGeom>
          <a:noFill/>
          <a:ln/>
        </p:spPr>
        <p:txBody>
          <a:bodyPr wrap="square" lIns="0" tIns="0" rIns="0" bIns="0" rtlCol="0" anchor="ctr"/>
          <a:lstStyle/>
          <a:p>
            <a:pPr marL="0" indent="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marL="0" indent="0">
              <a:buNone/>
            </a:pPr>
            <a:r>
              <a:rPr lang="en-US" sz="4400" b="1" dirty="0">
                <a:solidFill>
                  <a:srgbClr val="FFFFFF"/>
                </a:solidFill>
                <a:latin typeface="Trebuchet MS" pitchFamily="34" charset="0"/>
                <a:ea typeface="Trebuchet MS" pitchFamily="34" charset="-122"/>
                <a:cs typeface="Trebuchet MS" pitchFamily="34" charset="-120"/>
              </a:rPr>
              <a:t>Course Wrap-up</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marL="0" indent="0">
              <a:buNone/>
            </a:pPr>
            <a:r>
              <a:rPr lang="en-US" sz="1800" i="1" dirty="0">
                <a:solidFill>
                  <a:srgbClr val="CBF1F6"/>
                </a:solidFill>
                <a:latin typeface="Arial" pitchFamily="34" charset="0"/>
                <a:ea typeface="Arial" pitchFamily="34" charset="-122"/>
                <a:cs typeface="Arial" pitchFamily="34" charset="-120"/>
              </a:rPr>
              <a:t>Three days. Ten modules. Eight labs. Where to go next.</a:t>
            </a:r>
            <a:endParaRPr lang="en-US" sz="1800" dirty="0"/>
          </a:p>
        </p:txBody>
      </p:sp>
      <p:pic>
        <p:nvPicPr>
          <p:cNvPr id="6" name="Image 0" descr="preencoded.png"/>
          <p:cNvPicPr>
            <a:picLocks noChangeAspect="1"/>
          </p:cNvPicPr>
          <p:nvPr/>
        </p:nvPicPr>
        <p:blipFill>
          <a:blip r:embed="rId3"/>
          <a:stretch>
            <a:fillRect/>
          </a:stretch>
        </p:blipFill>
        <p:spPr>
          <a:xfrm>
            <a:off x="9905695" y="640080"/>
            <a:ext cx="1371600" cy="1371600"/>
          </a:xfrm>
          <a:prstGeom prst="rect">
            <a:avLst/>
          </a:prstGeom>
        </p:spPr>
      </p:pic>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What we covered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Three days, ten modules, eight labs.</a:t>
            </a:r>
            <a:endParaRPr lang="en-US" sz="1400" dirty="0"/>
          </a:p>
        </p:txBody>
      </p:sp>
      <p:sp>
        <p:nvSpPr>
          <p:cNvPr id="5" name="Shape 3"/>
          <p:cNvSpPr/>
          <p:nvPr/>
        </p:nvSpPr>
        <p:spPr>
          <a:xfrm>
            <a:off x="777240" y="1691640"/>
            <a:ext cx="10607040" cy="123444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777240" y="1691640"/>
            <a:ext cx="10607040" cy="457200"/>
          </a:xfrm>
          <a:prstGeom prst="rect">
            <a:avLst/>
          </a:prstGeom>
          <a:solidFill>
            <a:srgbClr val="1E2A47"/>
          </a:solidFill>
          <a:ln w="12700">
            <a:solidFill>
              <a:srgbClr val="1E2A47"/>
            </a:solidFill>
            <a:prstDash val="solid"/>
          </a:ln>
        </p:spPr>
        <p:txBody>
          <a:bodyPr/>
          <a:lstStyle/>
          <a:p>
            <a:endParaRPr lang="en-US"/>
          </a:p>
        </p:txBody>
      </p:sp>
      <p:sp>
        <p:nvSpPr>
          <p:cNvPr id="7" name="Text 5"/>
          <p:cNvSpPr/>
          <p:nvPr/>
        </p:nvSpPr>
        <p:spPr>
          <a:xfrm>
            <a:off x="960120" y="1691640"/>
            <a:ext cx="1024128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Day 1 — Foundations</a:t>
            </a:r>
            <a:endParaRPr lang="en-US" sz="1600" dirty="0"/>
          </a:p>
        </p:txBody>
      </p:sp>
      <p:sp>
        <p:nvSpPr>
          <p:cNvPr id="8" name="Text 6"/>
          <p:cNvSpPr/>
          <p:nvPr/>
        </p:nvSpPr>
        <p:spPr>
          <a:xfrm>
            <a:off x="960120" y="2194560"/>
            <a:ext cx="10241280" cy="320040"/>
          </a:xfrm>
          <a:prstGeom prst="rect">
            <a:avLst/>
          </a:prstGeom>
          <a:noFill/>
          <a:ln/>
        </p:spPr>
        <p:txBody>
          <a:bodyPr wrap="square" lIns="0" tIns="0" rIns="0" bIns="0" rtlCol="0" anchor="ctr"/>
          <a:lstStyle/>
          <a:p>
            <a:pPr marL="0" indent="0">
              <a:buNone/>
            </a:pPr>
            <a:r>
              <a:rPr lang="en-US" sz="1200" b="1" dirty="0">
                <a:solidFill>
                  <a:srgbClr val="0F172A"/>
                </a:solidFill>
                <a:latin typeface="Arial" pitchFamily="34" charset="0"/>
                <a:ea typeface="Arial" pitchFamily="34" charset="-122"/>
                <a:cs typeface="Arial" pitchFamily="34" charset="-120"/>
              </a:rPr>
              <a:t>Modules: Landscape · Hooks · Routing</a:t>
            </a:r>
            <a:endParaRPr lang="en-US" sz="1200" dirty="0"/>
          </a:p>
        </p:txBody>
      </p:sp>
      <p:sp>
        <p:nvSpPr>
          <p:cNvPr id="9" name="Text 7"/>
          <p:cNvSpPr/>
          <p:nvPr/>
        </p:nvSpPr>
        <p:spPr>
          <a:xfrm>
            <a:off x="960120" y="2514600"/>
            <a:ext cx="10241280" cy="32004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Labs: Modernize chat · Routing in two frameworks</a:t>
            </a:r>
            <a:endParaRPr lang="en-US" sz="1200" dirty="0"/>
          </a:p>
        </p:txBody>
      </p:sp>
      <p:sp>
        <p:nvSpPr>
          <p:cNvPr id="10" name="Shape 8"/>
          <p:cNvSpPr/>
          <p:nvPr/>
        </p:nvSpPr>
        <p:spPr>
          <a:xfrm>
            <a:off x="777240" y="3108960"/>
            <a:ext cx="10607040" cy="123444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777240" y="3108960"/>
            <a:ext cx="10607040" cy="457200"/>
          </a:xfrm>
          <a:prstGeom prst="rect">
            <a:avLst/>
          </a:prstGeom>
          <a:solidFill>
            <a:srgbClr val="1E2A47"/>
          </a:solidFill>
          <a:ln w="12700">
            <a:solidFill>
              <a:srgbClr val="1E2A47"/>
            </a:solidFill>
            <a:prstDash val="solid"/>
          </a:ln>
        </p:spPr>
        <p:txBody>
          <a:bodyPr/>
          <a:lstStyle/>
          <a:p>
            <a:endParaRPr lang="en-US"/>
          </a:p>
        </p:txBody>
      </p:sp>
      <p:sp>
        <p:nvSpPr>
          <p:cNvPr id="12" name="Text 10"/>
          <p:cNvSpPr/>
          <p:nvPr/>
        </p:nvSpPr>
        <p:spPr>
          <a:xfrm>
            <a:off x="960120" y="3108960"/>
            <a:ext cx="1024128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Day 2 — Data, State, Server</a:t>
            </a:r>
            <a:endParaRPr lang="en-US" sz="1600" dirty="0"/>
          </a:p>
        </p:txBody>
      </p:sp>
      <p:sp>
        <p:nvSpPr>
          <p:cNvPr id="13" name="Text 11"/>
          <p:cNvSpPr/>
          <p:nvPr/>
        </p:nvSpPr>
        <p:spPr>
          <a:xfrm>
            <a:off x="960120" y="3611880"/>
            <a:ext cx="10241280" cy="320040"/>
          </a:xfrm>
          <a:prstGeom prst="rect">
            <a:avLst/>
          </a:prstGeom>
          <a:noFill/>
          <a:ln/>
        </p:spPr>
        <p:txBody>
          <a:bodyPr wrap="square" lIns="0" tIns="0" rIns="0" bIns="0" rtlCol="0" anchor="ctr"/>
          <a:lstStyle/>
          <a:p>
            <a:pPr marL="0" indent="0">
              <a:buNone/>
            </a:pPr>
            <a:r>
              <a:rPr lang="en-US" sz="1200" b="1" dirty="0">
                <a:solidFill>
                  <a:srgbClr val="0F172A"/>
                </a:solidFill>
                <a:latin typeface="Arial" pitchFamily="34" charset="0"/>
                <a:ea typeface="Arial" pitchFamily="34" charset="-122"/>
                <a:cs typeface="Arial" pitchFamily="34" charset="-120"/>
              </a:rPr>
              <a:t>Modules: State · Data fetching · Server Components</a:t>
            </a:r>
            <a:endParaRPr lang="en-US" sz="1200" dirty="0"/>
          </a:p>
        </p:txBody>
      </p:sp>
      <p:sp>
        <p:nvSpPr>
          <p:cNvPr id="14" name="Text 12"/>
          <p:cNvSpPr/>
          <p:nvPr/>
        </p:nvSpPr>
        <p:spPr>
          <a:xfrm>
            <a:off x="960120" y="3931920"/>
            <a:ext cx="10241280" cy="32004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Labs: Pick-your-tool refactor · TanStack Query · RSC dashboard</a:t>
            </a:r>
            <a:endParaRPr lang="en-US" sz="1200" dirty="0"/>
          </a:p>
        </p:txBody>
      </p:sp>
      <p:sp>
        <p:nvSpPr>
          <p:cNvPr id="15" name="Shape 13"/>
          <p:cNvSpPr/>
          <p:nvPr/>
        </p:nvSpPr>
        <p:spPr>
          <a:xfrm>
            <a:off x="777240" y="4526280"/>
            <a:ext cx="10607040" cy="1234440"/>
          </a:xfrm>
          <a:prstGeom prst="rect">
            <a:avLst/>
          </a:prstGeom>
          <a:solidFill>
            <a:srgbClr val="FFFFFF"/>
          </a:solidFill>
          <a:ln w="12700">
            <a:solidFill>
              <a:srgbClr val="E2E8F0"/>
            </a:solidFill>
            <a:prstDash val="solid"/>
          </a:ln>
        </p:spPr>
        <p:txBody>
          <a:bodyPr/>
          <a:lstStyle/>
          <a:p>
            <a:endParaRPr lang="en-US"/>
          </a:p>
        </p:txBody>
      </p:sp>
      <p:sp>
        <p:nvSpPr>
          <p:cNvPr id="16" name="Shape 14"/>
          <p:cNvSpPr/>
          <p:nvPr/>
        </p:nvSpPr>
        <p:spPr>
          <a:xfrm>
            <a:off x="777240" y="4526280"/>
            <a:ext cx="10607040" cy="457200"/>
          </a:xfrm>
          <a:prstGeom prst="rect">
            <a:avLst/>
          </a:prstGeom>
          <a:solidFill>
            <a:srgbClr val="1E2A47"/>
          </a:solidFill>
          <a:ln w="12700">
            <a:solidFill>
              <a:srgbClr val="1E2A47"/>
            </a:solidFill>
            <a:prstDash val="solid"/>
          </a:ln>
        </p:spPr>
        <p:txBody>
          <a:bodyPr/>
          <a:lstStyle/>
          <a:p>
            <a:endParaRPr lang="en-US"/>
          </a:p>
        </p:txBody>
      </p:sp>
      <p:sp>
        <p:nvSpPr>
          <p:cNvPr id="17" name="Text 15"/>
          <p:cNvSpPr/>
          <p:nvPr/>
        </p:nvSpPr>
        <p:spPr>
          <a:xfrm>
            <a:off x="960120" y="4526280"/>
            <a:ext cx="10241280" cy="457200"/>
          </a:xfrm>
          <a:prstGeom prst="rect">
            <a:avLst/>
          </a:prstGeom>
          <a:noFill/>
          <a:ln/>
        </p:spPr>
        <p:txBody>
          <a:bodyPr wrap="square" lIns="0" tIns="0" rIns="0" bIns="0" rtlCol="0" anchor="ctr"/>
          <a:lstStyle/>
          <a:p>
            <a:pPr marL="0" indent="0">
              <a:buNone/>
            </a:pPr>
            <a:r>
              <a:rPr lang="en-US" sz="1600" b="1" dirty="0">
                <a:solidFill>
                  <a:srgbClr val="00B8D9"/>
                </a:solidFill>
                <a:latin typeface="Trebuchet MS" pitchFamily="34" charset="0"/>
                <a:ea typeface="Trebuchet MS" pitchFamily="34" charset="-122"/>
                <a:cs typeface="Trebuchet MS" pitchFamily="34" charset="-120"/>
              </a:rPr>
              <a:t>Day 3 — Performance, Quality, AI</a:t>
            </a:r>
            <a:endParaRPr lang="en-US" sz="1600" dirty="0"/>
          </a:p>
        </p:txBody>
      </p:sp>
      <p:sp>
        <p:nvSpPr>
          <p:cNvPr id="18" name="Text 16"/>
          <p:cNvSpPr/>
          <p:nvPr/>
        </p:nvSpPr>
        <p:spPr>
          <a:xfrm>
            <a:off x="960120" y="5029200"/>
            <a:ext cx="10241280" cy="320040"/>
          </a:xfrm>
          <a:prstGeom prst="rect">
            <a:avLst/>
          </a:prstGeom>
          <a:noFill/>
          <a:ln/>
        </p:spPr>
        <p:txBody>
          <a:bodyPr wrap="square" lIns="0" tIns="0" rIns="0" bIns="0" rtlCol="0" anchor="ctr"/>
          <a:lstStyle/>
          <a:p>
            <a:pPr marL="0" indent="0">
              <a:buNone/>
            </a:pPr>
            <a:r>
              <a:rPr lang="en-US" sz="1200" b="1" dirty="0">
                <a:solidFill>
                  <a:srgbClr val="0F172A"/>
                </a:solidFill>
                <a:latin typeface="Arial" pitchFamily="34" charset="0"/>
                <a:ea typeface="Arial" pitchFamily="34" charset="-122"/>
                <a:cs typeface="Arial" pitchFamily="34" charset="-120"/>
              </a:rPr>
              <a:t>Modules: Performance · Testing · AI · Production</a:t>
            </a:r>
            <a:endParaRPr lang="en-US" sz="1200" dirty="0"/>
          </a:p>
        </p:txBody>
      </p:sp>
      <p:sp>
        <p:nvSpPr>
          <p:cNvPr id="19" name="Text 17"/>
          <p:cNvSpPr/>
          <p:nvPr/>
        </p:nvSpPr>
        <p:spPr>
          <a:xfrm>
            <a:off x="960120" y="5349240"/>
            <a:ext cx="10241280" cy="320040"/>
          </a:xfrm>
          <a:prstGeom prst="rect">
            <a:avLst/>
          </a:prstGeom>
          <a:noFill/>
          <a:ln/>
        </p:spPr>
        <p:txBody>
          <a:bodyPr wrap="square" lIns="0" tIns="0" rIns="0" bIns="0" rtlCol="0" anchor="ctr"/>
          <a:lstStyle/>
          <a:p>
            <a:pPr marL="0" indent="0">
              <a:buNone/>
            </a:pPr>
            <a:r>
              <a:rPr lang="en-US" sz="1200" i="1" dirty="0">
                <a:solidFill>
                  <a:srgbClr val="475569"/>
                </a:solidFill>
                <a:latin typeface="Arial" pitchFamily="34" charset="0"/>
                <a:ea typeface="Arial" pitchFamily="34" charset="-122"/>
                <a:cs typeface="Arial" pitchFamily="34" charset="-120"/>
              </a:rPr>
              <a:t>Labs: Profile + optimize · Test suite + AI review · AI-assisted feature</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14 / 21</a:t>
            </a:r>
            <a:endParaRPr lang="en-US" sz="9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Ten things to take back to work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 remember nothing else, remember these.</a:t>
            </a:r>
            <a:endParaRPr lang="en-US" sz="1400" dirty="0"/>
          </a:p>
        </p:txBody>
      </p:sp>
      <p:sp>
        <p:nvSpPr>
          <p:cNvPr id="5" name="Shape 3"/>
          <p:cNvSpPr/>
          <p:nvPr/>
        </p:nvSpPr>
        <p:spPr>
          <a:xfrm>
            <a:off x="777240" y="1691640"/>
            <a:ext cx="5212080" cy="731520"/>
          </a:xfrm>
          <a:prstGeom prst="rect">
            <a:avLst/>
          </a:prstGeom>
          <a:solidFill>
            <a:srgbClr val="FFFFFF"/>
          </a:solidFill>
          <a:ln w="12700">
            <a:solidFill>
              <a:srgbClr val="E2E8F0"/>
            </a:solidFill>
            <a:prstDash val="solid"/>
          </a:ln>
        </p:spPr>
        <p:txBody>
          <a:bodyPr/>
          <a:lstStyle/>
          <a:p>
            <a:endParaRPr lang="en-US"/>
          </a:p>
        </p:txBody>
      </p:sp>
      <p:sp>
        <p:nvSpPr>
          <p:cNvPr id="6" name="Shape 4"/>
          <p:cNvSpPr/>
          <p:nvPr/>
        </p:nvSpPr>
        <p:spPr>
          <a:xfrm>
            <a:off x="914400" y="1874520"/>
            <a:ext cx="365760" cy="365760"/>
          </a:xfrm>
          <a:prstGeom prst="ellipse">
            <a:avLst/>
          </a:prstGeom>
          <a:solidFill>
            <a:srgbClr val="00B8D9"/>
          </a:solidFill>
          <a:ln w="12700">
            <a:solidFill>
              <a:srgbClr val="00B8D9"/>
            </a:solidFill>
            <a:prstDash val="solid"/>
          </a:ln>
        </p:spPr>
        <p:txBody>
          <a:bodyPr/>
          <a:lstStyle/>
          <a:p>
            <a:endParaRPr lang="en-US"/>
          </a:p>
        </p:txBody>
      </p:sp>
      <p:sp>
        <p:nvSpPr>
          <p:cNvPr id="7" name="Text 5"/>
          <p:cNvSpPr/>
          <p:nvPr/>
        </p:nvSpPr>
        <p:spPr>
          <a:xfrm>
            <a:off x="914400" y="18745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8" name="Text 6"/>
          <p:cNvSpPr/>
          <p:nvPr/>
        </p:nvSpPr>
        <p:spPr>
          <a:xfrm>
            <a:off x="1417320" y="173736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Read every diff. Especially AI-generated ones.</a:t>
            </a:r>
            <a:endParaRPr lang="en-US" sz="1150" dirty="0"/>
          </a:p>
        </p:txBody>
      </p:sp>
      <p:sp>
        <p:nvSpPr>
          <p:cNvPr id="9" name="Shape 7"/>
          <p:cNvSpPr/>
          <p:nvPr/>
        </p:nvSpPr>
        <p:spPr>
          <a:xfrm>
            <a:off x="6126480" y="1691640"/>
            <a:ext cx="5212080" cy="731520"/>
          </a:xfrm>
          <a:prstGeom prst="rect">
            <a:avLst/>
          </a:prstGeom>
          <a:solidFill>
            <a:srgbClr val="FFFFFF"/>
          </a:solidFill>
          <a:ln w="12700">
            <a:solidFill>
              <a:srgbClr val="E2E8F0"/>
            </a:solidFill>
            <a:prstDash val="solid"/>
          </a:ln>
        </p:spPr>
        <p:txBody>
          <a:bodyPr/>
          <a:lstStyle/>
          <a:p>
            <a:endParaRPr lang="en-US"/>
          </a:p>
        </p:txBody>
      </p:sp>
      <p:sp>
        <p:nvSpPr>
          <p:cNvPr id="10" name="Shape 8"/>
          <p:cNvSpPr/>
          <p:nvPr/>
        </p:nvSpPr>
        <p:spPr>
          <a:xfrm>
            <a:off x="6263640" y="1874520"/>
            <a:ext cx="365760" cy="365760"/>
          </a:xfrm>
          <a:prstGeom prst="ellipse">
            <a:avLst/>
          </a:prstGeom>
          <a:solidFill>
            <a:srgbClr val="00B8D9"/>
          </a:solidFill>
          <a:ln w="12700">
            <a:solidFill>
              <a:srgbClr val="00B8D9"/>
            </a:solidFill>
            <a:prstDash val="solid"/>
          </a:ln>
        </p:spPr>
        <p:txBody>
          <a:bodyPr/>
          <a:lstStyle/>
          <a:p>
            <a:endParaRPr lang="en-US"/>
          </a:p>
        </p:txBody>
      </p:sp>
      <p:sp>
        <p:nvSpPr>
          <p:cNvPr id="11" name="Text 9"/>
          <p:cNvSpPr/>
          <p:nvPr/>
        </p:nvSpPr>
        <p:spPr>
          <a:xfrm>
            <a:off x="6263640" y="18745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2" name="Text 10"/>
          <p:cNvSpPr/>
          <p:nvPr/>
        </p:nvSpPr>
        <p:spPr>
          <a:xfrm>
            <a:off x="6766560" y="173736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useEffect synchronizes with external systems. Almost everything else is a misuse.</a:t>
            </a:r>
            <a:endParaRPr lang="en-US" sz="1150" dirty="0"/>
          </a:p>
        </p:txBody>
      </p:sp>
      <p:sp>
        <p:nvSpPr>
          <p:cNvPr id="13" name="Shape 11"/>
          <p:cNvSpPr/>
          <p:nvPr/>
        </p:nvSpPr>
        <p:spPr>
          <a:xfrm>
            <a:off x="777240" y="2560320"/>
            <a:ext cx="5212080" cy="731520"/>
          </a:xfrm>
          <a:prstGeom prst="rect">
            <a:avLst/>
          </a:prstGeom>
          <a:solidFill>
            <a:srgbClr val="FFFFFF"/>
          </a:solidFill>
          <a:ln w="12700">
            <a:solidFill>
              <a:srgbClr val="E2E8F0"/>
            </a:solidFill>
            <a:prstDash val="solid"/>
          </a:ln>
        </p:spPr>
        <p:txBody>
          <a:bodyPr/>
          <a:lstStyle/>
          <a:p>
            <a:endParaRPr lang="en-US"/>
          </a:p>
        </p:txBody>
      </p:sp>
      <p:sp>
        <p:nvSpPr>
          <p:cNvPr id="14" name="Shape 12"/>
          <p:cNvSpPr/>
          <p:nvPr/>
        </p:nvSpPr>
        <p:spPr>
          <a:xfrm>
            <a:off x="914400" y="2743200"/>
            <a:ext cx="365760" cy="365760"/>
          </a:xfrm>
          <a:prstGeom prst="ellipse">
            <a:avLst/>
          </a:prstGeom>
          <a:solidFill>
            <a:srgbClr val="00B8D9"/>
          </a:solidFill>
          <a:ln w="12700">
            <a:solidFill>
              <a:srgbClr val="00B8D9"/>
            </a:solidFill>
            <a:prstDash val="solid"/>
          </a:ln>
        </p:spPr>
        <p:txBody>
          <a:bodyPr/>
          <a:lstStyle/>
          <a:p>
            <a:endParaRPr lang="en-US"/>
          </a:p>
        </p:txBody>
      </p:sp>
      <p:sp>
        <p:nvSpPr>
          <p:cNvPr id="15" name="Text 13"/>
          <p:cNvSpPr/>
          <p:nvPr/>
        </p:nvSpPr>
        <p:spPr>
          <a:xfrm>
            <a:off x="914400" y="27432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6" name="Text 14"/>
          <p:cNvSpPr/>
          <p:nvPr/>
        </p:nvSpPr>
        <p:spPr>
          <a:xfrm>
            <a:off x="1417320" y="260604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state belongs in TanStack Query. Client state belongs in useState (or a small store).</a:t>
            </a:r>
            <a:endParaRPr lang="en-US" sz="1150" dirty="0"/>
          </a:p>
        </p:txBody>
      </p:sp>
      <p:sp>
        <p:nvSpPr>
          <p:cNvPr id="17" name="Shape 15"/>
          <p:cNvSpPr/>
          <p:nvPr/>
        </p:nvSpPr>
        <p:spPr>
          <a:xfrm>
            <a:off x="6126480" y="2560320"/>
            <a:ext cx="5212080" cy="731520"/>
          </a:xfrm>
          <a:prstGeom prst="rect">
            <a:avLst/>
          </a:prstGeom>
          <a:solidFill>
            <a:srgbClr val="FFFFFF"/>
          </a:solidFill>
          <a:ln w="12700">
            <a:solidFill>
              <a:srgbClr val="E2E8F0"/>
            </a:solidFill>
            <a:prstDash val="solid"/>
          </a:ln>
        </p:spPr>
        <p:txBody>
          <a:bodyPr/>
          <a:lstStyle/>
          <a:p>
            <a:endParaRPr lang="en-US"/>
          </a:p>
        </p:txBody>
      </p:sp>
      <p:sp>
        <p:nvSpPr>
          <p:cNvPr id="18" name="Shape 16"/>
          <p:cNvSpPr/>
          <p:nvPr/>
        </p:nvSpPr>
        <p:spPr>
          <a:xfrm>
            <a:off x="6263640" y="2743200"/>
            <a:ext cx="365760" cy="365760"/>
          </a:xfrm>
          <a:prstGeom prst="ellipse">
            <a:avLst/>
          </a:prstGeom>
          <a:solidFill>
            <a:srgbClr val="00B8D9"/>
          </a:solidFill>
          <a:ln w="12700">
            <a:solidFill>
              <a:srgbClr val="00B8D9"/>
            </a:solidFill>
            <a:prstDash val="solid"/>
          </a:ln>
        </p:spPr>
        <p:txBody>
          <a:bodyPr/>
          <a:lstStyle/>
          <a:p>
            <a:endParaRPr lang="en-US"/>
          </a:p>
        </p:txBody>
      </p:sp>
      <p:sp>
        <p:nvSpPr>
          <p:cNvPr id="19" name="Text 17"/>
          <p:cNvSpPr/>
          <p:nvPr/>
        </p:nvSpPr>
        <p:spPr>
          <a:xfrm>
            <a:off x="6263640" y="27432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0" name="Text 18"/>
          <p:cNvSpPr/>
          <p:nvPr/>
        </p:nvSpPr>
        <p:spPr>
          <a:xfrm>
            <a:off x="6766560" y="260604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RR v7 framework mode and Next.js App Router solve the same problems. Pick by team and deploy story.</a:t>
            </a:r>
            <a:endParaRPr lang="en-US" sz="1150" dirty="0"/>
          </a:p>
        </p:txBody>
      </p:sp>
      <p:sp>
        <p:nvSpPr>
          <p:cNvPr id="21" name="Shape 19"/>
          <p:cNvSpPr/>
          <p:nvPr/>
        </p:nvSpPr>
        <p:spPr>
          <a:xfrm>
            <a:off x="777240" y="3429000"/>
            <a:ext cx="5212080" cy="731520"/>
          </a:xfrm>
          <a:prstGeom prst="rect">
            <a:avLst/>
          </a:prstGeom>
          <a:solidFill>
            <a:srgbClr val="FFFFFF"/>
          </a:solidFill>
          <a:ln w="12700">
            <a:solidFill>
              <a:srgbClr val="E2E8F0"/>
            </a:solidFill>
            <a:prstDash val="solid"/>
          </a:ln>
        </p:spPr>
        <p:txBody>
          <a:bodyPr/>
          <a:lstStyle/>
          <a:p>
            <a:endParaRPr lang="en-US"/>
          </a:p>
        </p:txBody>
      </p:sp>
      <p:sp>
        <p:nvSpPr>
          <p:cNvPr id="22" name="Shape 20"/>
          <p:cNvSpPr/>
          <p:nvPr/>
        </p:nvSpPr>
        <p:spPr>
          <a:xfrm>
            <a:off x="914400" y="3611880"/>
            <a:ext cx="365760" cy="365760"/>
          </a:xfrm>
          <a:prstGeom prst="ellipse">
            <a:avLst/>
          </a:prstGeom>
          <a:solidFill>
            <a:srgbClr val="00B8D9"/>
          </a:solidFill>
          <a:ln w="12700">
            <a:solidFill>
              <a:srgbClr val="00B8D9"/>
            </a:solidFill>
            <a:prstDash val="solid"/>
          </a:ln>
        </p:spPr>
        <p:txBody>
          <a:bodyPr/>
          <a:lstStyle/>
          <a:p>
            <a:endParaRPr lang="en-US"/>
          </a:p>
        </p:txBody>
      </p:sp>
      <p:sp>
        <p:nvSpPr>
          <p:cNvPr id="23" name="Text 21"/>
          <p:cNvSpPr/>
          <p:nvPr/>
        </p:nvSpPr>
        <p:spPr>
          <a:xfrm>
            <a:off x="914400" y="36118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24" name="Text 22"/>
          <p:cNvSpPr/>
          <p:nvPr/>
        </p:nvSpPr>
        <p:spPr>
          <a:xfrm>
            <a:off x="1417320" y="347472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Server Components run on the server. 'use client' is opt-in, not the default.</a:t>
            </a:r>
            <a:endParaRPr lang="en-US" sz="1150" dirty="0"/>
          </a:p>
        </p:txBody>
      </p:sp>
      <p:sp>
        <p:nvSpPr>
          <p:cNvPr id="25" name="Shape 23"/>
          <p:cNvSpPr/>
          <p:nvPr/>
        </p:nvSpPr>
        <p:spPr>
          <a:xfrm>
            <a:off x="6126480" y="3429000"/>
            <a:ext cx="5212080" cy="731520"/>
          </a:xfrm>
          <a:prstGeom prst="rect">
            <a:avLst/>
          </a:prstGeom>
          <a:solidFill>
            <a:srgbClr val="FFFFFF"/>
          </a:solidFill>
          <a:ln w="12700">
            <a:solidFill>
              <a:srgbClr val="E2E8F0"/>
            </a:solidFill>
            <a:prstDash val="solid"/>
          </a:ln>
        </p:spPr>
        <p:txBody>
          <a:bodyPr/>
          <a:lstStyle/>
          <a:p>
            <a:endParaRPr lang="en-US"/>
          </a:p>
        </p:txBody>
      </p:sp>
      <p:sp>
        <p:nvSpPr>
          <p:cNvPr id="26" name="Shape 24"/>
          <p:cNvSpPr/>
          <p:nvPr/>
        </p:nvSpPr>
        <p:spPr>
          <a:xfrm>
            <a:off x="6263640" y="3611880"/>
            <a:ext cx="365760" cy="365760"/>
          </a:xfrm>
          <a:prstGeom prst="ellipse">
            <a:avLst/>
          </a:prstGeom>
          <a:solidFill>
            <a:srgbClr val="00B8D9"/>
          </a:solidFill>
          <a:ln w="12700">
            <a:solidFill>
              <a:srgbClr val="00B8D9"/>
            </a:solidFill>
            <a:prstDash val="solid"/>
          </a:ln>
        </p:spPr>
        <p:txBody>
          <a:bodyPr/>
          <a:lstStyle/>
          <a:p>
            <a:endParaRPr lang="en-US"/>
          </a:p>
        </p:txBody>
      </p:sp>
      <p:sp>
        <p:nvSpPr>
          <p:cNvPr id="27" name="Text 25"/>
          <p:cNvSpPr/>
          <p:nvPr/>
        </p:nvSpPr>
        <p:spPr>
          <a:xfrm>
            <a:off x="6263640" y="36118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28" name="Text 26"/>
          <p:cNvSpPr/>
          <p:nvPr/>
        </p:nvSpPr>
        <p:spPr>
          <a:xfrm>
            <a:off x="6766560" y="347472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The React Compiler eliminates most manual memoization. Enable it and the eslint plugin.</a:t>
            </a:r>
            <a:endParaRPr lang="en-US" sz="1150" dirty="0"/>
          </a:p>
        </p:txBody>
      </p:sp>
      <p:sp>
        <p:nvSpPr>
          <p:cNvPr id="29" name="Shape 27"/>
          <p:cNvSpPr/>
          <p:nvPr/>
        </p:nvSpPr>
        <p:spPr>
          <a:xfrm>
            <a:off x="777240" y="4297680"/>
            <a:ext cx="5212080" cy="731520"/>
          </a:xfrm>
          <a:prstGeom prst="rect">
            <a:avLst/>
          </a:prstGeom>
          <a:solidFill>
            <a:srgbClr val="FFFFFF"/>
          </a:solidFill>
          <a:ln w="12700">
            <a:solidFill>
              <a:srgbClr val="E2E8F0"/>
            </a:solidFill>
            <a:prstDash val="solid"/>
          </a:ln>
        </p:spPr>
        <p:txBody>
          <a:bodyPr/>
          <a:lstStyle/>
          <a:p>
            <a:endParaRPr lang="en-US"/>
          </a:p>
        </p:txBody>
      </p:sp>
      <p:sp>
        <p:nvSpPr>
          <p:cNvPr id="30" name="Shape 28"/>
          <p:cNvSpPr/>
          <p:nvPr/>
        </p:nvSpPr>
        <p:spPr>
          <a:xfrm>
            <a:off x="914400" y="4480560"/>
            <a:ext cx="365760" cy="365760"/>
          </a:xfrm>
          <a:prstGeom prst="ellipse">
            <a:avLst/>
          </a:prstGeom>
          <a:solidFill>
            <a:srgbClr val="00B8D9"/>
          </a:solidFill>
          <a:ln w="12700">
            <a:solidFill>
              <a:srgbClr val="00B8D9"/>
            </a:solidFill>
            <a:prstDash val="solid"/>
          </a:ln>
        </p:spPr>
        <p:txBody>
          <a:bodyPr/>
          <a:lstStyle/>
          <a:p>
            <a:endParaRPr lang="en-US"/>
          </a:p>
        </p:txBody>
      </p:sp>
      <p:sp>
        <p:nvSpPr>
          <p:cNvPr id="31" name="Text 29"/>
          <p:cNvSpPr/>
          <p:nvPr/>
        </p:nvSpPr>
        <p:spPr>
          <a:xfrm>
            <a:off x="914400" y="44805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32" name="Text 30"/>
          <p:cNvSpPr/>
          <p:nvPr/>
        </p:nvSpPr>
        <p:spPr>
          <a:xfrm>
            <a:off x="1417320" y="434340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Measure before you optimize. Profiler + Lighthouse + bundle analyzer.</a:t>
            </a:r>
            <a:endParaRPr lang="en-US" sz="1150" dirty="0"/>
          </a:p>
        </p:txBody>
      </p:sp>
      <p:sp>
        <p:nvSpPr>
          <p:cNvPr id="33" name="Shape 31"/>
          <p:cNvSpPr/>
          <p:nvPr/>
        </p:nvSpPr>
        <p:spPr>
          <a:xfrm>
            <a:off x="6126480" y="4297680"/>
            <a:ext cx="5212080" cy="731520"/>
          </a:xfrm>
          <a:prstGeom prst="rect">
            <a:avLst/>
          </a:prstGeom>
          <a:solidFill>
            <a:srgbClr val="FFFFFF"/>
          </a:solidFill>
          <a:ln w="12700">
            <a:solidFill>
              <a:srgbClr val="E2E8F0"/>
            </a:solidFill>
            <a:prstDash val="solid"/>
          </a:ln>
        </p:spPr>
        <p:txBody>
          <a:bodyPr/>
          <a:lstStyle/>
          <a:p>
            <a:endParaRPr lang="en-US"/>
          </a:p>
        </p:txBody>
      </p:sp>
      <p:sp>
        <p:nvSpPr>
          <p:cNvPr id="34" name="Shape 32"/>
          <p:cNvSpPr/>
          <p:nvPr/>
        </p:nvSpPr>
        <p:spPr>
          <a:xfrm>
            <a:off x="6263640" y="4480560"/>
            <a:ext cx="365760" cy="365760"/>
          </a:xfrm>
          <a:prstGeom prst="ellipse">
            <a:avLst/>
          </a:prstGeom>
          <a:solidFill>
            <a:srgbClr val="00B8D9"/>
          </a:solidFill>
          <a:ln w="12700">
            <a:solidFill>
              <a:srgbClr val="00B8D9"/>
            </a:solidFill>
            <a:prstDash val="solid"/>
          </a:ln>
        </p:spPr>
        <p:txBody>
          <a:bodyPr/>
          <a:lstStyle/>
          <a:p>
            <a:endParaRPr lang="en-US"/>
          </a:p>
        </p:txBody>
      </p:sp>
      <p:sp>
        <p:nvSpPr>
          <p:cNvPr id="35" name="Text 33"/>
          <p:cNvSpPr/>
          <p:nvPr/>
        </p:nvSpPr>
        <p:spPr>
          <a:xfrm>
            <a:off x="6263640" y="44805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8</a:t>
            </a:r>
            <a:endParaRPr lang="en-US" sz="1200" dirty="0"/>
          </a:p>
        </p:txBody>
      </p:sp>
      <p:sp>
        <p:nvSpPr>
          <p:cNvPr id="36" name="Text 34"/>
          <p:cNvSpPr/>
          <p:nvPr/>
        </p:nvSpPr>
        <p:spPr>
          <a:xfrm>
            <a:off x="6766560" y="434340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Test behavior, not implementation. getByRole, userEvent, MSW.</a:t>
            </a:r>
            <a:endParaRPr lang="en-US" sz="1150" dirty="0"/>
          </a:p>
        </p:txBody>
      </p:sp>
      <p:sp>
        <p:nvSpPr>
          <p:cNvPr id="37" name="Shape 35"/>
          <p:cNvSpPr/>
          <p:nvPr/>
        </p:nvSpPr>
        <p:spPr>
          <a:xfrm>
            <a:off x="777240" y="5166360"/>
            <a:ext cx="5212080" cy="731520"/>
          </a:xfrm>
          <a:prstGeom prst="rect">
            <a:avLst/>
          </a:prstGeom>
          <a:solidFill>
            <a:srgbClr val="FFFFFF"/>
          </a:solidFill>
          <a:ln w="12700">
            <a:solidFill>
              <a:srgbClr val="E2E8F0"/>
            </a:solidFill>
            <a:prstDash val="solid"/>
          </a:ln>
        </p:spPr>
        <p:txBody>
          <a:bodyPr/>
          <a:lstStyle/>
          <a:p>
            <a:endParaRPr lang="en-US"/>
          </a:p>
        </p:txBody>
      </p:sp>
      <p:sp>
        <p:nvSpPr>
          <p:cNvPr id="38" name="Shape 36"/>
          <p:cNvSpPr/>
          <p:nvPr/>
        </p:nvSpPr>
        <p:spPr>
          <a:xfrm>
            <a:off x="914400" y="5349240"/>
            <a:ext cx="365760" cy="365760"/>
          </a:xfrm>
          <a:prstGeom prst="ellipse">
            <a:avLst/>
          </a:prstGeom>
          <a:solidFill>
            <a:srgbClr val="00B8D9"/>
          </a:solidFill>
          <a:ln w="12700">
            <a:solidFill>
              <a:srgbClr val="00B8D9"/>
            </a:solidFill>
            <a:prstDash val="solid"/>
          </a:ln>
        </p:spPr>
        <p:txBody>
          <a:bodyPr/>
          <a:lstStyle/>
          <a:p>
            <a:endParaRPr lang="en-US"/>
          </a:p>
        </p:txBody>
      </p:sp>
      <p:sp>
        <p:nvSpPr>
          <p:cNvPr id="39" name="Text 37"/>
          <p:cNvSpPr/>
          <p:nvPr/>
        </p:nvSpPr>
        <p:spPr>
          <a:xfrm>
            <a:off x="914400" y="5349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9</a:t>
            </a:r>
            <a:endParaRPr lang="en-US" sz="1200" dirty="0"/>
          </a:p>
        </p:txBody>
      </p:sp>
      <p:sp>
        <p:nvSpPr>
          <p:cNvPr id="40" name="Text 38"/>
          <p:cNvSpPr/>
          <p:nvPr/>
        </p:nvSpPr>
        <p:spPr>
          <a:xfrm>
            <a:off x="1417320" y="521208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AGENTS.md / CLAUDE.md is your project context for AI. Short, specific, names files.</a:t>
            </a:r>
            <a:endParaRPr lang="en-US" sz="1150" dirty="0"/>
          </a:p>
        </p:txBody>
      </p:sp>
      <p:sp>
        <p:nvSpPr>
          <p:cNvPr id="41" name="Shape 39"/>
          <p:cNvSpPr/>
          <p:nvPr/>
        </p:nvSpPr>
        <p:spPr>
          <a:xfrm>
            <a:off x="6126480" y="5166360"/>
            <a:ext cx="5212080" cy="731520"/>
          </a:xfrm>
          <a:prstGeom prst="rect">
            <a:avLst/>
          </a:prstGeom>
          <a:solidFill>
            <a:srgbClr val="FFFFFF"/>
          </a:solidFill>
          <a:ln w="12700">
            <a:solidFill>
              <a:srgbClr val="E2E8F0"/>
            </a:solidFill>
            <a:prstDash val="solid"/>
          </a:ln>
        </p:spPr>
        <p:txBody>
          <a:bodyPr/>
          <a:lstStyle/>
          <a:p>
            <a:endParaRPr lang="en-US"/>
          </a:p>
        </p:txBody>
      </p:sp>
      <p:sp>
        <p:nvSpPr>
          <p:cNvPr id="42" name="Shape 40"/>
          <p:cNvSpPr/>
          <p:nvPr/>
        </p:nvSpPr>
        <p:spPr>
          <a:xfrm>
            <a:off x="6263640" y="5349240"/>
            <a:ext cx="365760" cy="365760"/>
          </a:xfrm>
          <a:prstGeom prst="ellipse">
            <a:avLst/>
          </a:prstGeom>
          <a:solidFill>
            <a:srgbClr val="00B8D9"/>
          </a:solidFill>
          <a:ln w="12700">
            <a:solidFill>
              <a:srgbClr val="00B8D9"/>
            </a:solidFill>
            <a:prstDash val="solid"/>
          </a:ln>
        </p:spPr>
        <p:txBody>
          <a:bodyPr/>
          <a:lstStyle/>
          <a:p>
            <a:endParaRPr lang="en-US"/>
          </a:p>
        </p:txBody>
      </p:sp>
      <p:sp>
        <p:nvSpPr>
          <p:cNvPr id="43" name="Text 41"/>
          <p:cNvSpPr/>
          <p:nvPr/>
        </p:nvSpPr>
        <p:spPr>
          <a:xfrm>
            <a:off x="6263640" y="53492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Trebuchet MS" pitchFamily="34" charset="0"/>
                <a:ea typeface="Trebuchet MS" pitchFamily="34" charset="-122"/>
                <a:cs typeface="Trebuchet MS" pitchFamily="34" charset="-120"/>
              </a:rPr>
              <a:t>10</a:t>
            </a:r>
            <a:endParaRPr lang="en-US" sz="1200" dirty="0"/>
          </a:p>
        </p:txBody>
      </p:sp>
      <p:sp>
        <p:nvSpPr>
          <p:cNvPr id="44" name="Text 42"/>
          <p:cNvSpPr/>
          <p:nvPr/>
        </p:nvSpPr>
        <p:spPr>
          <a:xfrm>
            <a:off x="6766560" y="5212080"/>
            <a:ext cx="4526280" cy="64008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HttpOnly cookies for auth. Never localStorage.</a:t>
            </a:r>
            <a:endParaRPr lang="en-US" sz="1150" dirty="0"/>
          </a:p>
        </p:txBody>
      </p:sp>
      <p:sp>
        <p:nvSpPr>
          <p:cNvPr id="45" name="Text 43"/>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46" name="Text 44"/>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15 / 21</a:t>
            </a:r>
            <a:endParaRPr lang="en-US" sz="9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Where to go next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Concrete next steps for the week after the course.</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This week: pick one thing</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Enable the React Compiler in one project. Or migrate one route to Server Components. Or write AGENTS.md for one repo. Don't try all three.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Next month: deepen one area</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If RSC bent your mind, build something with Next.js or RR v7 framework mode. If state shape clicked, refactor a real codebase. Pick the one that matters most for your work.</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Make the AI thread a habit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Pull the Module 9 checklist into your team's PR template. Write your team's AGENTS.md. Establish review norms for AI-generated code.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marL="0" indent="0">
              <a:buNone/>
            </a:pPr>
            <a:r>
              <a:rPr lang="en-US" sz="1350" b="1" dirty="0">
                <a:solidFill>
                  <a:srgbClr val="0F172A"/>
                </a:solidFill>
                <a:latin typeface="Trebuchet MS" pitchFamily="34" charset="0"/>
                <a:ea typeface="Trebuchet MS" pitchFamily="34" charset="-122"/>
                <a:cs typeface="Trebuchet MS" pitchFamily="34" charset="-120"/>
              </a:rPr>
              <a:t>Share what worked</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marL="0" indent="0">
              <a:buNone/>
            </a:pPr>
            <a:r>
              <a:rPr lang="en-US" sz="1150" dirty="0">
                <a:solidFill>
                  <a:srgbClr val="475569"/>
                </a:solidFill>
                <a:latin typeface="Arial" pitchFamily="34" charset="0"/>
                <a:ea typeface="Arial" pitchFamily="34" charset="-122"/>
                <a:cs typeface="Arial" pitchFamily="34" charset="-120"/>
              </a:rPr>
              <a:t>Internal lunch-and-learn on one module. The teaching is the test of whether you understood it.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16 / 21</a:t>
            </a:r>
            <a:endParaRPr lang="en-US" sz="9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Resources for continued learning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Links that will still be relevant in six months.</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960120" y="1737360"/>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react.dev</a:t>
            </a:r>
            <a:endParaRPr lang="en-US" sz="1250" dirty="0"/>
          </a:p>
        </p:txBody>
      </p:sp>
      <p:sp>
        <p:nvSpPr>
          <p:cNvPr id="7" name="Text 5"/>
          <p:cNvSpPr/>
          <p:nvPr/>
        </p:nvSpPr>
        <p:spPr>
          <a:xfrm>
            <a:off x="5212080" y="1737360"/>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The official React docs. The hooks reference is the canonical source.</a:t>
            </a:r>
            <a:endParaRPr lang="en-US" sz="1150" dirty="0"/>
          </a:p>
        </p:txBody>
      </p:sp>
      <p:sp>
        <p:nvSpPr>
          <p:cNvPr id="8" name="Shape 6"/>
          <p:cNvSpPr/>
          <p:nvPr/>
        </p:nvSpPr>
        <p:spPr>
          <a:xfrm>
            <a:off x="777240" y="2404872"/>
            <a:ext cx="10607040" cy="603504"/>
          </a:xfrm>
          <a:prstGeom prst="rect">
            <a:avLst/>
          </a:prstGeom>
          <a:solidFill>
            <a:srgbClr val="FFFFFF"/>
          </a:solidFill>
          <a:ln w="12700">
            <a:solidFill>
              <a:srgbClr val="E2E8F0"/>
            </a:solidFill>
            <a:prstDash val="solid"/>
          </a:ln>
        </p:spPr>
        <p:txBody>
          <a:bodyPr/>
          <a:lstStyle/>
          <a:p>
            <a:endParaRPr lang="en-US"/>
          </a:p>
        </p:txBody>
      </p:sp>
      <p:sp>
        <p:nvSpPr>
          <p:cNvPr id="9" name="Text 7"/>
          <p:cNvSpPr/>
          <p:nvPr/>
        </p:nvSpPr>
        <p:spPr>
          <a:xfrm>
            <a:off x="960120" y="2450592"/>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Next.js docs (nextjs.org)</a:t>
            </a:r>
            <a:endParaRPr lang="en-US" sz="1250" dirty="0"/>
          </a:p>
        </p:txBody>
      </p:sp>
      <p:sp>
        <p:nvSpPr>
          <p:cNvPr id="10" name="Text 8"/>
          <p:cNvSpPr/>
          <p:nvPr/>
        </p:nvSpPr>
        <p:spPr>
          <a:xfrm>
            <a:off x="5212080" y="2450592"/>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Best place to deepen RSC and Server Actions practice.</a:t>
            </a:r>
            <a:endParaRPr lang="en-US" sz="1150" dirty="0"/>
          </a:p>
        </p:txBody>
      </p:sp>
      <p:sp>
        <p:nvSpPr>
          <p:cNvPr id="11" name="Shape 9"/>
          <p:cNvSpPr/>
          <p:nvPr/>
        </p:nvSpPr>
        <p:spPr>
          <a:xfrm>
            <a:off x="777240" y="3118104"/>
            <a:ext cx="10607040" cy="603504"/>
          </a:xfrm>
          <a:prstGeom prst="rect">
            <a:avLst/>
          </a:prstGeom>
          <a:solidFill>
            <a:srgbClr val="FFFFFF"/>
          </a:solidFill>
          <a:ln w="12700">
            <a:solidFill>
              <a:srgbClr val="E2E8F0"/>
            </a:solidFill>
            <a:prstDash val="solid"/>
          </a:ln>
        </p:spPr>
        <p:txBody>
          <a:bodyPr/>
          <a:lstStyle/>
          <a:p>
            <a:endParaRPr lang="en-US"/>
          </a:p>
        </p:txBody>
      </p:sp>
      <p:sp>
        <p:nvSpPr>
          <p:cNvPr id="12" name="Text 10"/>
          <p:cNvSpPr/>
          <p:nvPr/>
        </p:nvSpPr>
        <p:spPr>
          <a:xfrm>
            <a:off x="960120" y="3163824"/>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TanStack docs (tanstack.com)</a:t>
            </a:r>
            <a:endParaRPr lang="en-US" sz="1250" dirty="0"/>
          </a:p>
        </p:txBody>
      </p:sp>
      <p:sp>
        <p:nvSpPr>
          <p:cNvPr id="13" name="Text 11"/>
          <p:cNvSpPr/>
          <p:nvPr/>
        </p:nvSpPr>
        <p:spPr>
          <a:xfrm>
            <a:off x="5212080" y="3163824"/>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Query, Router, Table, Virtual — all share a sensibility worth learning.</a:t>
            </a:r>
            <a:endParaRPr lang="en-US" sz="1150" dirty="0"/>
          </a:p>
        </p:txBody>
      </p:sp>
      <p:sp>
        <p:nvSpPr>
          <p:cNvPr id="14" name="Shape 12"/>
          <p:cNvSpPr/>
          <p:nvPr/>
        </p:nvSpPr>
        <p:spPr>
          <a:xfrm>
            <a:off x="777240" y="3831336"/>
            <a:ext cx="10607040" cy="603504"/>
          </a:xfrm>
          <a:prstGeom prst="rect">
            <a:avLst/>
          </a:prstGeom>
          <a:solidFill>
            <a:srgbClr val="FFFFFF"/>
          </a:solidFill>
          <a:ln w="12700">
            <a:solidFill>
              <a:srgbClr val="E2E8F0"/>
            </a:solidFill>
            <a:prstDash val="solid"/>
          </a:ln>
        </p:spPr>
        <p:txBody>
          <a:bodyPr/>
          <a:lstStyle/>
          <a:p>
            <a:endParaRPr lang="en-US"/>
          </a:p>
        </p:txBody>
      </p:sp>
      <p:sp>
        <p:nvSpPr>
          <p:cNvPr id="15" name="Text 13"/>
          <p:cNvSpPr/>
          <p:nvPr/>
        </p:nvSpPr>
        <p:spPr>
          <a:xfrm>
            <a:off x="960120" y="3877056"/>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react-router.com</a:t>
            </a:r>
            <a:endParaRPr lang="en-US" sz="1250" dirty="0"/>
          </a:p>
        </p:txBody>
      </p:sp>
      <p:sp>
        <p:nvSpPr>
          <p:cNvPr id="16" name="Text 14"/>
          <p:cNvSpPr/>
          <p:nvPr/>
        </p:nvSpPr>
        <p:spPr>
          <a:xfrm>
            <a:off x="5212080" y="3877056"/>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Framework mode is well-documented; the migration guide from v6 is solid.</a:t>
            </a:r>
            <a:endParaRPr lang="en-US" sz="1150" dirty="0"/>
          </a:p>
        </p:txBody>
      </p:sp>
      <p:sp>
        <p:nvSpPr>
          <p:cNvPr id="17" name="Shape 15"/>
          <p:cNvSpPr/>
          <p:nvPr/>
        </p:nvSpPr>
        <p:spPr>
          <a:xfrm>
            <a:off x="777240" y="4544568"/>
            <a:ext cx="10607040" cy="603504"/>
          </a:xfrm>
          <a:prstGeom prst="rect">
            <a:avLst/>
          </a:prstGeom>
          <a:solidFill>
            <a:srgbClr val="FFFFFF"/>
          </a:solidFill>
          <a:ln w="12700">
            <a:solidFill>
              <a:srgbClr val="E2E8F0"/>
            </a:solidFill>
            <a:prstDash val="solid"/>
          </a:ln>
        </p:spPr>
        <p:txBody>
          <a:bodyPr/>
          <a:lstStyle/>
          <a:p>
            <a:endParaRPr lang="en-US"/>
          </a:p>
        </p:txBody>
      </p:sp>
      <p:sp>
        <p:nvSpPr>
          <p:cNvPr id="18" name="Text 16"/>
          <p:cNvSpPr/>
          <p:nvPr/>
        </p:nvSpPr>
        <p:spPr>
          <a:xfrm>
            <a:off x="960120" y="4590288"/>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Kent C. Dodds blog (kentcdodds.com)</a:t>
            </a:r>
            <a:endParaRPr lang="en-US" sz="1250" dirty="0"/>
          </a:p>
        </p:txBody>
      </p:sp>
      <p:sp>
        <p:nvSpPr>
          <p:cNvPr id="19" name="Text 17"/>
          <p:cNvSpPr/>
          <p:nvPr/>
        </p:nvSpPr>
        <p:spPr>
          <a:xfrm>
            <a:off x="5212080" y="4590288"/>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RTL, hook patterns, common mistakes. Especially the testing posts.</a:t>
            </a:r>
            <a:endParaRPr lang="en-US" sz="1150" dirty="0"/>
          </a:p>
        </p:txBody>
      </p:sp>
      <p:sp>
        <p:nvSpPr>
          <p:cNvPr id="20" name="Shape 18"/>
          <p:cNvSpPr/>
          <p:nvPr/>
        </p:nvSpPr>
        <p:spPr>
          <a:xfrm>
            <a:off x="777240" y="5257800"/>
            <a:ext cx="10607040" cy="603504"/>
          </a:xfrm>
          <a:prstGeom prst="rect">
            <a:avLst/>
          </a:prstGeom>
          <a:solidFill>
            <a:srgbClr val="FFFFFF"/>
          </a:solidFill>
          <a:ln w="12700">
            <a:solidFill>
              <a:srgbClr val="E2E8F0"/>
            </a:solidFill>
            <a:prstDash val="solid"/>
          </a:ln>
        </p:spPr>
        <p:txBody>
          <a:bodyPr/>
          <a:lstStyle/>
          <a:p>
            <a:endParaRPr lang="en-US"/>
          </a:p>
        </p:txBody>
      </p:sp>
      <p:sp>
        <p:nvSpPr>
          <p:cNvPr id="21" name="Text 19"/>
          <p:cNvSpPr/>
          <p:nvPr/>
        </p:nvSpPr>
        <p:spPr>
          <a:xfrm>
            <a:off x="960120" y="5303520"/>
            <a:ext cx="4114800" cy="502920"/>
          </a:xfrm>
          <a:prstGeom prst="rect">
            <a:avLst/>
          </a:prstGeom>
          <a:noFill/>
          <a:ln/>
        </p:spPr>
        <p:txBody>
          <a:bodyPr wrap="square" lIns="0" tIns="0" rIns="0" bIns="0" rtlCol="0" anchor="ctr"/>
          <a:lstStyle/>
          <a:p>
            <a:pPr marL="0" indent="0">
              <a:buNone/>
            </a:pPr>
            <a:r>
              <a:rPr lang="en-US" sz="1250" b="1" dirty="0">
                <a:solidFill>
                  <a:srgbClr val="00B8D9"/>
                </a:solidFill>
                <a:latin typeface="Courier New" pitchFamily="34" charset="0"/>
                <a:ea typeface="Courier New" pitchFamily="34" charset="-122"/>
                <a:cs typeface="Courier New" pitchFamily="34" charset="-120"/>
              </a:rPr>
              <a:t>react.dev Blog</a:t>
            </a:r>
            <a:endParaRPr lang="en-US" sz="1250" dirty="0"/>
          </a:p>
        </p:txBody>
      </p:sp>
      <p:sp>
        <p:nvSpPr>
          <p:cNvPr id="22" name="Text 20"/>
          <p:cNvSpPr/>
          <p:nvPr/>
        </p:nvSpPr>
        <p:spPr>
          <a:xfrm>
            <a:off x="5212080" y="5303520"/>
            <a:ext cx="6126480" cy="502920"/>
          </a:xfrm>
          <a:prstGeom prst="rect">
            <a:avLst/>
          </a:prstGeom>
          <a:noFill/>
          <a:ln/>
        </p:spPr>
        <p:txBody>
          <a:bodyPr wrap="square" lIns="0" tIns="0" rIns="0" bIns="0" rtlCol="0" anchor="ctr"/>
          <a:lstStyle/>
          <a:p>
            <a:pPr marL="0" indent="0">
              <a:buNone/>
            </a:pPr>
            <a:r>
              <a:rPr lang="en-US" sz="1150" dirty="0">
                <a:solidFill>
                  <a:srgbClr val="475569"/>
                </a:solidFill>
                <a:latin typeface="Arial" pitchFamily="34" charset="0"/>
                <a:ea typeface="Arial" pitchFamily="34" charset="-122"/>
                <a:cs typeface="Arial" pitchFamily="34" charset="-120"/>
              </a:rPr>
              <a:t>Where the React team announces the things you'll use next year.</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17 / 21</a:t>
            </a:r>
            <a:endParaRPr lang="en-US" sz="9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Keep the lab repo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It's yours to use. Reference, fork, extend.</a:t>
            </a:r>
            <a:endParaRPr lang="en-US" sz="1400" dirty="0"/>
          </a:p>
        </p:txBody>
      </p:sp>
      <p:sp>
        <p:nvSpPr>
          <p:cNvPr id="5" name="Shape 3"/>
          <p:cNvSpPr/>
          <p:nvPr/>
        </p:nvSpPr>
        <p:spPr>
          <a:xfrm>
            <a:off x="777240" y="1691640"/>
            <a:ext cx="10607040" cy="4206240"/>
          </a:xfrm>
          <a:prstGeom prst="rect">
            <a:avLst/>
          </a:prstGeom>
          <a:solidFill>
            <a:srgbClr val="1E2A47"/>
          </a:solidFill>
          <a:ln w="12700">
            <a:solidFill>
              <a:srgbClr val="1E2A47"/>
            </a:solidFill>
            <a:prstDash val="solid"/>
          </a:ln>
        </p:spPr>
        <p:txBody>
          <a:bodyPr/>
          <a:lstStyle/>
          <a:p>
            <a:endParaRPr lang="en-US"/>
          </a:p>
        </p:txBody>
      </p:sp>
      <p:sp>
        <p:nvSpPr>
          <p:cNvPr id="6" name="Text 4"/>
          <p:cNvSpPr/>
          <p:nvPr/>
        </p:nvSpPr>
        <p:spPr>
          <a:xfrm>
            <a:off x="960120" y="2011680"/>
            <a:ext cx="10241280" cy="548640"/>
          </a:xfrm>
          <a:prstGeom prst="rect">
            <a:avLst/>
          </a:prstGeom>
          <a:noFill/>
          <a:ln/>
        </p:spPr>
        <p:txBody>
          <a:bodyPr wrap="square" lIns="0" tIns="0" rIns="0" bIns="0" rtlCol="0" anchor="ctr"/>
          <a:lstStyle/>
          <a:p>
            <a:pPr marL="0" indent="0">
              <a:buNone/>
            </a:pPr>
            <a:r>
              <a:rPr lang="en-US" sz="2200" b="1" dirty="0">
                <a:solidFill>
                  <a:srgbClr val="00B8D9"/>
                </a:solidFill>
                <a:latin typeface="Courier New" pitchFamily="34" charset="0"/>
                <a:ea typeface="Courier New" pitchFamily="34" charset="-122"/>
                <a:cs typeface="Courier New" pitchFamily="34" charset="-120"/>
              </a:rPr>
              <a:t>github.com/chrisminnick/advanced-react</a:t>
            </a:r>
            <a:endParaRPr lang="en-US" sz="2200" dirty="0"/>
          </a:p>
        </p:txBody>
      </p:sp>
      <p:sp>
        <p:nvSpPr>
          <p:cNvPr id="7" name="Text 5"/>
          <p:cNvSpPr/>
          <p:nvPr/>
        </p:nvSpPr>
        <p:spPr>
          <a:xfrm>
            <a:off x="960120" y="2743200"/>
            <a:ext cx="10241280" cy="36576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What's in it:</a:t>
            </a:r>
            <a:endParaRPr lang="en-US" sz="1400" dirty="0"/>
          </a:p>
        </p:txBody>
      </p:sp>
      <p:sp>
        <p:nvSpPr>
          <p:cNvPr id="8" name="Text 6"/>
          <p:cNvSpPr/>
          <p:nvPr/>
        </p:nvSpPr>
        <p:spPr>
          <a:xfrm>
            <a:off x="960120" y="3108960"/>
            <a:ext cx="10241280" cy="21945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All starters from this week, under lab-files/lab-01 through lab-08</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Reference solutions for every lab, under solutions/lab-NN-*</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AGENTS.md / CLAUDE.md at the repo root — project context for AI assistants</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Backlog of feature ideas (the Lab 8 backlog and more)</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18 / 21</a:t>
            </a:r>
            <a:endParaRPr lang="en-US" sz="9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Questions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Anything from this week. Anything from your work. Open floor.</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Some prompts if you're not sure where to start:</a:t>
            </a:r>
            <a:endParaRPr lang="en-US" sz="1400" dirty="0"/>
          </a:p>
        </p:txBody>
      </p:sp>
      <p:sp>
        <p:nvSpPr>
          <p:cNvPr id="7" name="Text 5"/>
          <p:cNvSpPr/>
          <p:nvPr/>
        </p:nvSpPr>
        <p:spPr>
          <a:xfrm>
            <a:off x="1097280" y="2514600"/>
            <a:ext cx="10058400" cy="32004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What's the biggest blocker for adopting React 19 at your company?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Where would Server Components save the most time in your current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Which AI mistake category bites your team most often?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What's the one decision from this week you're least sure about?</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19 / 21</a:t>
            </a:r>
            <a:endParaRPr lang="en-US" sz="9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640080" y="2286000"/>
            <a:ext cx="548640" cy="7315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640080" y="2468880"/>
            <a:ext cx="10972800" cy="1280160"/>
          </a:xfrm>
          <a:prstGeom prst="rect">
            <a:avLst/>
          </a:prstGeom>
          <a:noFill/>
          <a:ln/>
        </p:spPr>
        <p:txBody>
          <a:bodyPr wrap="square" lIns="0" tIns="0" rIns="0" bIns="0" rtlCol="0" anchor="ctr"/>
          <a:lstStyle/>
          <a:p>
            <a:pPr marL="0" indent="0">
              <a:buNone/>
            </a:pPr>
            <a:r>
              <a:rPr lang="en-US" sz="6400" b="1" dirty="0">
                <a:solidFill>
                  <a:srgbClr val="FFFFFF"/>
                </a:solidFill>
                <a:latin typeface="Trebuchet MS" pitchFamily="34" charset="0"/>
                <a:ea typeface="Trebuchet MS" pitchFamily="34" charset="-122"/>
                <a:cs typeface="Trebuchet MS" pitchFamily="34" charset="-120"/>
              </a:rPr>
              <a:t>Thank you</a:t>
            </a:r>
            <a:endParaRPr lang="en-US" sz="6400" dirty="0"/>
          </a:p>
        </p:txBody>
      </p:sp>
      <p:sp>
        <p:nvSpPr>
          <p:cNvPr id="4" name="Text 2"/>
          <p:cNvSpPr/>
          <p:nvPr/>
        </p:nvSpPr>
        <p:spPr>
          <a:xfrm>
            <a:off x="640080" y="3749040"/>
            <a:ext cx="10972800" cy="548640"/>
          </a:xfrm>
          <a:prstGeom prst="rect">
            <a:avLst/>
          </a:prstGeom>
          <a:noFill/>
          <a:ln/>
        </p:spPr>
        <p:txBody>
          <a:bodyPr wrap="square" lIns="0" tIns="0" rIns="0" bIns="0" rtlCol="0" anchor="ctr"/>
          <a:lstStyle/>
          <a:p>
            <a:pPr marL="0" indent="0">
              <a:buNone/>
            </a:pPr>
            <a:r>
              <a:rPr lang="en-US" sz="2200" i="1" dirty="0">
                <a:solidFill>
                  <a:srgbClr val="CBF1F6"/>
                </a:solidFill>
                <a:latin typeface="Arial" pitchFamily="34" charset="0"/>
                <a:ea typeface="Arial" pitchFamily="34" charset="-122"/>
                <a:cs typeface="Arial" pitchFamily="34" charset="-120"/>
              </a:rPr>
              <a:t>for spending three days with me.</a:t>
            </a:r>
            <a:endParaRPr lang="en-US" sz="2200" dirty="0"/>
          </a:p>
        </p:txBody>
      </p:sp>
      <p:sp>
        <p:nvSpPr>
          <p:cNvPr id="5" name="Text 3"/>
          <p:cNvSpPr/>
          <p:nvPr/>
        </p:nvSpPr>
        <p:spPr>
          <a:xfrm>
            <a:off x="640080" y="5029200"/>
            <a:ext cx="10972800" cy="1280160"/>
          </a:xfrm>
          <a:prstGeom prst="rect">
            <a:avLst/>
          </a:prstGeom>
          <a:noFill/>
          <a:ln/>
        </p:spPr>
        <p:txBody>
          <a:bodyPr wrap="square" lIns="0" tIns="0" rIns="0" bIns="0" rtlCol="0" anchor="ctr"/>
          <a:lstStyle/>
          <a:p>
            <a:pPr marL="0" indent="0">
              <a:buNone/>
            </a:pPr>
            <a:r>
              <a:rPr lang="en-US" sz="1400" b="1" dirty="0">
                <a:solidFill>
                  <a:srgbClr val="00B8D9"/>
                </a:solidFill>
                <a:latin typeface="Arial" pitchFamily="34" charset="0"/>
                <a:ea typeface="Arial" pitchFamily="34" charset="-122"/>
                <a:cs typeface="Arial" pitchFamily="34" charset="-120"/>
              </a:rPr>
              <a:t>Chris Minnick</a:t>
            </a:r>
            <a:endParaRPr lang="en-US" sz="1400" dirty="0"/>
          </a:p>
          <a:p>
            <a:pPr marL="0" indent="0">
              <a:buNone/>
            </a:pPr>
            <a:r>
              <a:rPr lang="en-US" sz="1300" dirty="0">
                <a:solidFill>
                  <a:srgbClr val="94A3B8"/>
                </a:solidFill>
                <a:latin typeface="Arial" pitchFamily="34" charset="0"/>
                <a:ea typeface="Arial" pitchFamily="34" charset="-122"/>
                <a:cs typeface="Arial" pitchFamily="34" charset="-120"/>
              </a:rPr>
              <a:t>chris@minnick.com</a:t>
            </a:r>
            <a:endParaRPr lang="en-US" sz="1400" dirty="0"/>
          </a:p>
          <a:p>
            <a:pPr marL="0" indent="0">
              <a:buNone/>
            </a:pPr>
            <a:r>
              <a:rPr lang="en-US" sz="1300" dirty="0">
                <a:solidFill>
                  <a:srgbClr val="94A3B8"/>
                </a:solidFill>
                <a:latin typeface="Arial" pitchFamily="34" charset="0"/>
                <a:ea typeface="Arial" pitchFamily="34" charset="-122"/>
                <a:cs typeface="Arial" pitchFamily="34" charset="-120"/>
              </a:rPr>
              <a:t>watzthis.com</a:t>
            </a:r>
            <a:endParaRPr lang="en-US" sz="1400" dirty="0"/>
          </a:p>
        </p:txBody>
      </p:sp>
      <p:pic>
        <p:nvPicPr>
          <p:cNvPr id="6" name="Image 0" descr="preencoded.png"/>
          <p:cNvPicPr>
            <a:picLocks noChangeAspect="1"/>
          </p:cNvPicPr>
          <p:nvPr/>
        </p:nvPicPr>
        <p:blipFill>
          <a:blip r:embed="rId3">
            <a:alphaModFix amt="75000"/>
          </a:blip>
          <a:stretch>
            <a:fillRect/>
          </a:stretch>
        </p:blipFill>
        <p:spPr>
          <a:xfrm>
            <a:off x="10728655" y="4663440"/>
            <a:ext cx="914400" cy="914400"/>
          </a:xfrm>
          <a:prstGeom prst="rect">
            <a:avLst/>
          </a:prstGeom>
        </p:spPr>
      </p:pic>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txBody>
          <a:bodyPr/>
          <a:lstStyle/>
          <a:p>
            <a:endParaRPr lang="en-US"/>
          </a:p>
        </p:txBody>
      </p:sp>
      <p:sp>
        <p:nvSpPr>
          <p:cNvPr id="3" name="Text 1"/>
          <p:cNvSpPr/>
          <p:nvPr/>
        </p:nvSpPr>
        <p:spPr>
          <a:xfrm>
            <a:off x="777240" y="292608"/>
            <a:ext cx="10972800" cy="640080"/>
          </a:xfrm>
          <a:prstGeom prst="rect">
            <a:avLst/>
          </a:prstGeom>
          <a:noFill/>
          <a:ln/>
        </p:spPr>
        <p:txBody>
          <a:bodyPr wrap="square" lIns="0" tIns="0" rIns="0" bIns="0" rtlCol="0" anchor="ctr"/>
          <a:lstStyle/>
          <a:p>
            <a:pPr marL="0" indent="0">
              <a:buNone/>
            </a:pPr>
            <a:r>
              <a:rPr lang="en-US" sz="2800" b="1" dirty="0">
                <a:solidFill>
                  <a:srgbClr val="0F172A"/>
                </a:solidFill>
                <a:latin typeface="Trebuchet MS" pitchFamily="34" charset="0"/>
                <a:ea typeface="Trebuchet MS" pitchFamily="34" charset="-122"/>
                <a:cs typeface="Trebuchet MS" pitchFamily="34" charset="-120"/>
              </a:rPr>
              <a:t>Course feedback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marL="0" indent="0">
              <a:buNone/>
            </a:pPr>
            <a:r>
              <a:rPr lang="en-US" sz="1400" i="1" dirty="0">
                <a:solidFill>
                  <a:srgbClr val="475569"/>
                </a:solidFill>
                <a:latin typeface="Arial" pitchFamily="34" charset="0"/>
                <a:ea typeface="Arial" pitchFamily="34" charset="-122"/>
                <a:cs typeface="Arial" pitchFamily="34" charset="-120"/>
              </a:rPr>
              <a:t>If you have a minute — what worked, what didn't, what would you change?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txBody>
          <a:bodyPr/>
          <a:lstStyle/>
          <a:p>
            <a:endParaRPr lang="en-US"/>
          </a:p>
        </p:txBody>
      </p:sp>
      <p:sp>
        <p:nvSpPr>
          <p:cNvPr id="6" name="Text 4"/>
          <p:cNvSpPr/>
          <p:nvPr/>
        </p:nvSpPr>
        <p:spPr>
          <a:xfrm>
            <a:off x="1097280" y="2011680"/>
            <a:ext cx="10058400" cy="457200"/>
          </a:xfrm>
          <a:prstGeom prst="rect">
            <a:avLst/>
          </a:prstGeom>
          <a:noFill/>
          <a:ln/>
        </p:spPr>
        <p:txBody>
          <a:bodyPr wrap="square" lIns="0" tIns="0" rIns="0" bIns="0" rtlCol="0" anchor="ctr"/>
          <a:lstStyle/>
          <a:p>
            <a:pPr marL="0" indent="0">
              <a:buNone/>
            </a:pPr>
            <a:r>
              <a:rPr lang="en-US" sz="1400" b="1" dirty="0">
                <a:solidFill>
                  <a:srgbClr val="0F172A"/>
                </a:solidFill>
                <a:latin typeface="Trebuchet MS" pitchFamily="34" charset="0"/>
                <a:ea typeface="Trebuchet MS" pitchFamily="34" charset="-122"/>
                <a:cs typeface="Trebuchet MS" pitchFamily="34" charset="-120"/>
              </a:rPr>
              <a:t>Three things to think about as you fill in feedback:</a:t>
            </a:r>
            <a:endParaRPr lang="en-US" sz="1400" dirty="0"/>
          </a:p>
        </p:txBody>
      </p:sp>
      <p:sp>
        <p:nvSpPr>
          <p:cNvPr id="7" name="Text 5"/>
          <p:cNvSpPr/>
          <p:nvPr/>
        </p:nvSpPr>
        <p:spPr>
          <a:xfrm>
            <a:off x="1097280" y="2514600"/>
            <a:ext cx="10058400" cy="32004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Pace — too fast, too slow, or about right?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Lab time — was 50% the right balance? More? Less?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AI thread — useful, distracting, or about right?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you wish we'd covered?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we covered too much?</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marL="0" indent="0">
              <a:buNone/>
            </a:pPr>
            <a:r>
              <a:rPr lang="en-US" sz="900" dirty="0">
                <a:solidFill>
                  <a:srgbClr val="94A3B8"/>
                </a:solidFill>
                <a:latin typeface="Arial" pitchFamily="34" charset="0"/>
                <a:ea typeface="Arial" pitchFamily="34" charset="-122"/>
                <a:cs typeface="Arial" pitchFamily="34" charset="-120"/>
              </a:rPr>
              <a:t>Advanced React Development  v2.0  Module 10 — Production &amp; Wrap-up</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marL="0" indent="0" algn="r">
              <a:buNone/>
            </a:pPr>
            <a:r>
              <a:rPr lang="en-US" sz="900" dirty="0">
                <a:solidFill>
                  <a:srgbClr val="94A3B8"/>
                </a:solidFill>
                <a:latin typeface="Arial" pitchFamily="34" charset="0"/>
                <a:ea typeface="Arial" pitchFamily="34" charset="-122"/>
                <a:cs typeface="Arial"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392</TotalTime>
  <Words>36331</Words>
  <Application>Microsoft Macintosh PowerPoint</Application>
  <PresentationFormat>Widescreen</PresentationFormat>
  <Paragraphs>4351</Paragraphs>
  <Slides>279</Slides>
  <Notes>279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279</vt:i4>
      </vt:variant>
    </vt:vector>
  </HeadingPairs>
  <TitlesOfParts>
    <vt:vector size="283" baseType="lpstr">
      <vt:lpstr>Arial</vt:lpstr>
      <vt:lpstr>Courier New</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WatzThis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React — Module 1: Welcome + 2026 Landscape</dc:title>
  <dc:subject>PptxGenJS Presentation</dc:subject>
  <dc:creator>Chris Minnick</dc:creator>
  <cp:lastModifiedBy>Chris Minnick</cp:lastModifiedBy>
  <cp:revision>46</cp:revision>
  <dcterms:created xsi:type="dcterms:W3CDTF">2026-05-14T16:48:20Z</dcterms:created>
  <dcterms:modified xsi:type="dcterms:W3CDTF">2026-05-16T23:34:02Z</dcterms:modified>
</cp:coreProperties>
</file>